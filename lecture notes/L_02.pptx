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353" r:id="rId2"/>
    <p:sldId id="256" r:id="rId3"/>
    <p:sldId id="327" r:id="rId4"/>
    <p:sldId id="328" r:id="rId5"/>
    <p:sldId id="329" r:id="rId6"/>
    <p:sldId id="332" r:id="rId7"/>
    <p:sldId id="331" r:id="rId8"/>
    <p:sldId id="333" r:id="rId9"/>
    <p:sldId id="354" r:id="rId10"/>
    <p:sldId id="334" r:id="rId11"/>
    <p:sldId id="335" r:id="rId12"/>
    <p:sldId id="336" r:id="rId13"/>
    <p:sldId id="337" r:id="rId14"/>
    <p:sldId id="338" r:id="rId15"/>
    <p:sldId id="340" r:id="rId16"/>
    <p:sldId id="341" r:id="rId17"/>
    <p:sldId id="342" r:id="rId18"/>
    <p:sldId id="343" r:id="rId19"/>
    <p:sldId id="344" r:id="rId20"/>
    <p:sldId id="346" r:id="rId21"/>
    <p:sldId id="345" r:id="rId22"/>
    <p:sldId id="347" r:id="rId23"/>
    <p:sldId id="348" r:id="rId24"/>
    <p:sldId id="349" r:id="rId25"/>
    <p:sldId id="355" r:id="rId26"/>
    <p:sldId id="356"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CC"/>
    <a:srgbClr val="0099FF"/>
    <a:srgbClr val="FFCCFF"/>
    <a:srgbClr val="FF3399"/>
    <a:srgbClr val="007A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51C203-9A39-465C-89B4-68E9B77EBB7C}" v="342" dt="2026-07-24T02:57:24.3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168" autoAdjust="0"/>
    <p:restoredTop sz="92789"/>
  </p:normalViewPr>
  <p:slideViewPr>
    <p:cSldViewPr snapToGrid="0" snapToObjects="1">
      <p:cViewPr varScale="1">
        <p:scale>
          <a:sx n="66" d="100"/>
          <a:sy n="66" d="100"/>
        </p:scale>
        <p:origin x="24" y="141"/>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parelli, Enrica" userId="e6d7b4aa-a798-4692-bd7e-df2e77cda6e3" providerId="ADAL" clId="{AED95555-86AE-4DAC-9C4C-6A607A963546}"/>
    <pc:docChg chg="undo custSel addSld delSld modSld sldOrd">
      <pc:chgData name="Viparelli, Enrica" userId="e6d7b4aa-a798-4692-bd7e-df2e77cda6e3" providerId="ADAL" clId="{AED95555-86AE-4DAC-9C4C-6A607A963546}" dt="2026-07-24T03:01:36.545" v="2453" actId="22"/>
      <pc:docMkLst>
        <pc:docMk/>
      </pc:docMkLst>
      <pc:sldChg chg="modSp">
        <pc:chgData name="Viparelli, Enrica" userId="e6d7b4aa-a798-4692-bd7e-df2e77cda6e3" providerId="ADAL" clId="{AED95555-86AE-4DAC-9C4C-6A607A963546}" dt="2026-07-24T01:44:02.545" v="519"/>
        <pc:sldMkLst>
          <pc:docMk/>
          <pc:sldMk cId="1839310099" sldId="338"/>
        </pc:sldMkLst>
        <pc:spChg chg="mod">
          <ac:chgData name="Viparelli, Enrica" userId="e6d7b4aa-a798-4692-bd7e-df2e77cda6e3" providerId="ADAL" clId="{AED95555-86AE-4DAC-9C4C-6A607A963546}" dt="2026-07-24T01:44:02.545" v="519"/>
          <ac:spMkLst>
            <pc:docMk/>
            <pc:sldMk cId="1839310099" sldId="338"/>
            <ac:spMk id="14" creationId="{13F5AF24-5B67-BD47-A366-843EDE64C288}"/>
          </ac:spMkLst>
        </pc:spChg>
      </pc:sldChg>
      <pc:sldChg chg="modSp">
        <pc:chgData name="Viparelli, Enrica" userId="e6d7b4aa-a798-4692-bd7e-df2e77cda6e3" providerId="ADAL" clId="{AED95555-86AE-4DAC-9C4C-6A607A963546}" dt="2026-07-24T01:44:11.093" v="520"/>
        <pc:sldMkLst>
          <pc:docMk/>
          <pc:sldMk cId="3141703033" sldId="340"/>
        </pc:sldMkLst>
        <pc:spChg chg="mod">
          <ac:chgData name="Viparelli, Enrica" userId="e6d7b4aa-a798-4692-bd7e-df2e77cda6e3" providerId="ADAL" clId="{AED95555-86AE-4DAC-9C4C-6A607A963546}" dt="2026-07-24T01:44:11.093" v="520"/>
          <ac:spMkLst>
            <pc:docMk/>
            <pc:sldMk cId="3141703033" sldId="340"/>
            <ac:spMk id="14" creationId="{13F5AF24-5B67-BD47-A366-843EDE64C288}"/>
          </ac:spMkLst>
        </pc:spChg>
      </pc:sldChg>
      <pc:sldChg chg="modSp">
        <pc:chgData name="Viparelli, Enrica" userId="e6d7b4aa-a798-4692-bd7e-df2e77cda6e3" providerId="ADAL" clId="{AED95555-86AE-4DAC-9C4C-6A607A963546}" dt="2026-07-24T01:44:18.219" v="521"/>
        <pc:sldMkLst>
          <pc:docMk/>
          <pc:sldMk cId="3231934760" sldId="341"/>
        </pc:sldMkLst>
        <pc:spChg chg="mod">
          <ac:chgData name="Viparelli, Enrica" userId="e6d7b4aa-a798-4692-bd7e-df2e77cda6e3" providerId="ADAL" clId="{AED95555-86AE-4DAC-9C4C-6A607A963546}" dt="2026-07-24T01:44:18.219" v="521"/>
          <ac:spMkLst>
            <pc:docMk/>
            <pc:sldMk cId="3231934760" sldId="341"/>
            <ac:spMk id="14" creationId="{13F5AF24-5B67-BD47-A366-843EDE64C288}"/>
          </ac:spMkLst>
        </pc:spChg>
      </pc:sldChg>
      <pc:sldChg chg="modSp">
        <pc:chgData name="Viparelli, Enrica" userId="e6d7b4aa-a798-4692-bd7e-df2e77cda6e3" providerId="ADAL" clId="{AED95555-86AE-4DAC-9C4C-6A607A963546}" dt="2026-07-24T01:44:22.741" v="522"/>
        <pc:sldMkLst>
          <pc:docMk/>
          <pc:sldMk cId="4159862193" sldId="342"/>
        </pc:sldMkLst>
        <pc:spChg chg="mod">
          <ac:chgData name="Viparelli, Enrica" userId="e6d7b4aa-a798-4692-bd7e-df2e77cda6e3" providerId="ADAL" clId="{AED95555-86AE-4DAC-9C4C-6A607A963546}" dt="2026-07-24T01:44:22.741" v="522"/>
          <ac:spMkLst>
            <pc:docMk/>
            <pc:sldMk cId="4159862193" sldId="342"/>
            <ac:spMk id="14" creationId="{13F5AF24-5B67-BD47-A366-843EDE64C288}"/>
          </ac:spMkLst>
        </pc:spChg>
      </pc:sldChg>
      <pc:sldChg chg="del">
        <pc:chgData name="Viparelli, Enrica" userId="e6d7b4aa-a798-4692-bd7e-df2e77cda6e3" providerId="ADAL" clId="{AED95555-86AE-4DAC-9C4C-6A607A963546}" dt="2026-07-24T02:36:40.806" v="1724" actId="47"/>
        <pc:sldMkLst>
          <pc:docMk/>
          <pc:sldMk cId="1706798218" sldId="351"/>
        </pc:sldMkLst>
      </pc:sldChg>
      <pc:sldChg chg="del">
        <pc:chgData name="Viparelli, Enrica" userId="e6d7b4aa-a798-4692-bd7e-df2e77cda6e3" providerId="ADAL" clId="{AED95555-86AE-4DAC-9C4C-6A607A963546}" dt="2026-07-24T02:36:43.601" v="1725" actId="47"/>
        <pc:sldMkLst>
          <pc:docMk/>
          <pc:sldMk cId="769486771" sldId="352"/>
        </pc:sldMkLst>
      </pc:sldChg>
      <pc:sldChg chg="addSp modSp new mod ord">
        <pc:chgData name="Viparelli, Enrica" userId="e6d7b4aa-a798-4692-bd7e-df2e77cda6e3" providerId="ADAL" clId="{AED95555-86AE-4DAC-9C4C-6A607A963546}" dt="2026-07-24T03:00:02.434" v="2410" actId="207"/>
        <pc:sldMkLst>
          <pc:docMk/>
          <pc:sldMk cId="311038584" sldId="353"/>
        </pc:sldMkLst>
        <pc:spChg chg="add mod">
          <ac:chgData name="Viparelli, Enrica" userId="e6d7b4aa-a798-4692-bd7e-df2e77cda6e3" providerId="ADAL" clId="{AED95555-86AE-4DAC-9C4C-6A607A963546}" dt="2026-07-24T01:41:09.297" v="494" actId="207"/>
          <ac:spMkLst>
            <pc:docMk/>
            <pc:sldMk cId="311038584" sldId="353"/>
            <ac:spMk id="4" creationId="{CCD30784-94DD-8F74-11B1-F012874D34D6}"/>
          </ac:spMkLst>
        </pc:spChg>
        <pc:spChg chg="add mod">
          <ac:chgData name="Viparelli, Enrica" userId="e6d7b4aa-a798-4692-bd7e-df2e77cda6e3" providerId="ADAL" clId="{AED95555-86AE-4DAC-9C4C-6A607A963546}" dt="2026-07-24T03:00:02.434" v="2410" actId="207"/>
          <ac:spMkLst>
            <pc:docMk/>
            <pc:sldMk cId="311038584" sldId="353"/>
            <ac:spMk id="5" creationId="{69B9526B-7E5D-DDDF-FF9C-6C83153F588D}"/>
          </ac:spMkLst>
        </pc:spChg>
      </pc:sldChg>
      <pc:sldChg chg="addSp delSp modSp add mod">
        <pc:chgData name="Viparelli, Enrica" userId="e6d7b4aa-a798-4692-bd7e-df2e77cda6e3" providerId="ADAL" clId="{AED95555-86AE-4DAC-9C4C-6A607A963546}" dt="2026-07-24T02:24:08.036" v="1630" actId="478"/>
        <pc:sldMkLst>
          <pc:docMk/>
          <pc:sldMk cId="695090825" sldId="354"/>
        </pc:sldMkLst>
        <pc:spChg chg="add mod">
          <ac:chgData name="Viparelli, Enrica" userId="e6d7b4aa-a798-4692-bd7e-df2e77cda6e3" providerId="ADAL" clId="{AED95555-86AE-4DAC-9C4C-6A607A963546}" dt="2026-07-24T02:23:26.901" v="1562" actId="16959"/>
          <ac:spMkLst>
            <pc:docMk/>
            <pc:sldMk cId="695090825" sldId="354"/>
            <ac:spMk id="2" creationId="{2AEA5A9A-5409-F887-B186-7E2C02F1F5D1}"/>
          </ac:spMkLst>
        </pc:spChg>
        <pc:spChg chg="mod">
          <ac:chgData name="Viparelli, Enrica" userId="e6d7b4aa-a798-4692-bd7e-df2e77cda6e3" providerId="ADAL" clId="{AED95555-86AE-4DAC-9C4C-6A607A963546}" dt="2026-07-24T02:11:28.873" v="542" actId="20577"/>
          <ac:spMkLst>
            <pc:docMk/>
            <pc:sldMk cId="695090825" sldId="354"/>
            <ac:spMk id="5" creationId="{0F5503CD-C419-11B5-CD0D-3ADC1FACCD8A}"/>
          </ac:spMkLst>
        </pc:spChg>
        <pc:spChg chg="add del mod">
          <ac:chgData name="Viparelli, Enrica" userId="e6d7b4aa-a798-4692-bd7e-df2e77cda6e3" providerId="ADAL" clId="{AED95555-86AE-4DAC-9C4C-6A607A963546}" dt="2026-07-24T02:13:59.004" v="919" actId="22"/>
          <ac:spMkLst>
            <pc:docMk/>
            <pc:sldMk cId="695090825" sldId="354"/>
            <ac:spMk id="6" creationId="{1C725EE9-F688-A59D-1E7A-0ADC4C2D8159}"/>
          </ac:spMkLst>
        </pc:spChg>
        <pc:spChg chg="del">
          <ac:chgData name="Viparelli, Enrica" userId="e6d7b4aa-a798-4692-bd7e-df2e77cda6e3" providerId="ADAL" clId="{AED95555-86AE-4DAC-9C4C-6A607A963546}" dt="2026-07-24T02:13:46.319" v="911" actId="478"/>
          <ac:spMkLst>
            <pc:docMk/>
            <pc:sldMk cId="695090825" sldId="354"/>
            <ac:spMk id="8" creationId="{DF21901B-639E-9CCD-1867-35ECE01B17A6}"/>
          </ac:spMkLst>
        </pc:spChg>
        <pc:spChg chg="add mod">
          <ac:chgData name="Viparelli, Enrica" userId="e6d7b4aa-a798-4692-bd7e-df2e77cda6e3" providerId="ADAL" clId="{AED95555-86AE-4DAC-9C4C-6A607A963546}" dt="2026-07-24T02:22:58.552" v="1561" actId="14100"/>
          <ac:spMkLst>
            <pc:docMk/>
            <pc:sldMk cId="695090825" sldId="354"/>
            <ac:spMk id="9" creationId="{5B387EE9-989E-F9D7-9087-CF087F4E89C8}"/>
          </ac:spMkLst>
        </pc:spChg>
        <pc:spChg chg="mod">
          <ac:chgData name="Viparelli, Enrica" userId="e6d7b4aa-a798-4692-bd7e-df2e77cda6e3" providerId="ADAL" clId="{AED95555-86AE-4DAC-9C4C-6A607A963546}" dt="2026-07-24T02:17:23.547" v="1137" actId="14100"/>
          <ac:spMkLst>
            <pc:docMk/>
            <pc:sldMk cId="695090825" sldId="354"/>
            <ac:spMk id="10" creationId="{2C5C2C34-84C3-AEEA-0A11-232B21B179C0}"/>
          </ac:spMkLst>
        </pc:spChg>
        <pc:spChg chg="mod">
          <ac:chgData name="Viparelli, Enrica" userId="e6d7b4aa-a798-4692-bd7e-df2e77cda6e3" providerId="ADAL" clId="{AED95555-86AE-4DAC-9C4C-6A607A963546}" dt="2026-07-24T02:16:56.335" v="1078" actId="20577"/>
          <ac:spMkLst>
            <pc:docMk/>
            <pc:sldMk cId="695090825" sldId="354"/>
            <ac:spMk id="12" creationId="{9A186D76-FE96-CB34-54B3-0332724EAC9C}"/>
          </ac:spMkLst>
        </pc:spChg>
        <pc:spChg chg="del">
          <ac:chgData name="Viparelli, Enrica" userId="e6d7b4aa-a798-4692-bd7e-df2e77cda6e3" providerId="ADAL" clId="{AED95555-86AE-4DAC-9C4C-6A607A963546}" dt="2026-07-24T02:17:46.049" v="1139" actId="478"/>
          <ac:spMkLst>
            <pc:docMk/>
            <pc:sldMk cId="695090825" sldId="354"/>
            <ac:spMk id="13" creationId="{F8C78B12-C9E5-7906-1EB0-C0C401C94ECC}"/>
          </ac:spMkLst>
        </pc:spChg>
        <pc:spChg chg="del">
          <ac:chgData name="Viparelli, Enrica" userId="e6d7b4aa-a798-4692-bd7e-df2e77cda6e3" providerId="ADAL" clId="{AED95555-86AE-4DAC-9C4C-6A607A963546}" dt="2026-07-24T02:17:43.117" v="1138" actId="478"/>
          <ac:spMkLst>
            <pc:docMk/>
            <pc:sldMk cId="695090825" sldId="354"/>
            <ac:spMk id="14" creationId="{FA2E9334-03CC-5767-2248-6D4225EFAD6C}"/>
          </ac:spMkLst>
        </pc:spChg>
        <pc:spChg chg="add del mod">
          <ac:chgData name="Viparelli, Enrica" userId="e6d7b4aa-a798-4692-bd7e-df2e77cda6e3" providerId="ADAL" clId="{AED95555-86AE-4DAC-9C4C-6A607A963546}" dt="2026-07-24T02:24:08.036" v="1630" actId="478"/>
          <ac:spMkLst>
            <pc:docMk/>
            <pc:sldMk cId="695090825" sldId="354"/>
            <ac:spMk id="15" creationId="{8AB881D9-010A-AE9D-A7FE-27F884E54CC4}"/>
          </ac:spMkLst>
        </pc:spChg>
        <pc:spChg chg="del">
          <ac:chgData name="Viparelli, Enrica" userId="e6d7b4aa-a798-4692-bd7e-df2e77cda6e3" providerId="ADAL" clId="{AED95555-86AE-4DAC-9C4C-6A607A963546}" dt="2026-07-24T02:17:49.771" v="1140" actId="478"/>
          <ac:spMkLst>
            <pc:docMk/>
            <pc:sldMk cId="695090825" sldId="354"/>
            <ac:spMk id="18" creationId="{DF09F332-E477-19C5-3410-72742A90E961}"/>
          </ac:spMkLst>
        </pc:spChg>
        <pc:spChg chg="del">
          <ac:chgData name="Viparelli, Enrica" userId="e6d7b4aa-a798-4692-bd7e-df2e77cda6e3" providerId="ADAL" clId="{AED95555-86AE-4DAC-9C4C-6A607A963546}" dt="2026-07-24T02:17:46.049" v="1139" actId="478"/>
          <ac:spMkLst>
            <pc:docMk/>
            <pc:sldMk cId="695090825" sldId="354"/>
            <ac:spMk id="19" creationId="{2E66AF82-AC44-6051-0754-741AE922F06E}"/>
          </ac:spMkLst>
        </pc:spChg>
        <pc:spChg chg="del">
          <ac:chgData name="Viparelli, Enrica" userId="e6d7b4aa-a798-4692-bd7e-df2e77cda6e3" providerId="ADAL" clId="{AED95555-86AE-4DAC-9C4C-6A607A963546}" dt="2026-07-24T02:17:46.049" v="1139" actId="478"/>
          <ac:spMkLst>
            <pc:docMk/>
            <pc:sldMk cId="695090825" sldId="354"/>
            <ac:spMk id="20" creationId="{293CAD88-D244-3CD3-87B5-85EF181AA455}"/>
          </ac:spMkLst>
        </pc:spChg>
      </pc:sldChg>
      <pc:sldChg chg="addSp delSp modSp add mod">
        <pc:chgData name="Viparelli, Enrica" userId="e6d7b4aa-a798-4692-bd7e-df2e77cda6e3" providerId="ADAL" clId="{AED95555-86AE-4DAC-9C4C-6A607A963546}" dt="2026-07-24T03:01:00.555" v="2449" actId="255"/>
        <pc:sldMkLst>
          <pc:docMk/>
          <pc:sldMk cId="2512958949" sldId="355"/>
        </pc:sldMkLst>
        <pc:spChg chg="del">
          <ac:chgData name="Viparelli, Enrica" userId="e6d7b4aa-a798-4692-bd7e-df2e77cda6e3" providerId="ADAL" clId="{AED95555-86AE-4DAC-9C4C-6A607A963546}" dt="2026-07-24T02:35:23.951" v="1668" actId="478"/>
          <ac:spMkLst>
            <pc:docMk/>
            <pc:sldMk cId="2512958949" sldId="355"/>
            <ac:spMk id="2" creationId="{CCEEFBA1-36BD-2675-6E66-E422AC193F7E}"/>
          </ac:spMkLst>
        </pc:spChg>
        <pc:spChg chg="add mod">
          <ac:chgData name="Viparelli, Enrica" userId="e6d7b4aa-a798-4692-bd7e-df2e77cda6e3" providerId="ADAL" clId="{AED95555-86AE-4DAC-9C4C-6A607A963546}" dt="2026-07-24T02:35:56.552" v="1705" actId="1076"/>
          <ac:spMkLst>
            <pc:docMk/>
            <pc:sldMk cId="2512958949" sldId="355"/>
            <ac:spMk id="4" creationId="{71350E0C-E055-27E7-7378-CB768A18C36D}"/>
          </ac:spMkLst>
        </pc:spChg>
        <pc:spChg chg="mod">
          <ac:chgData name="Viparelli, Enrica" userId="e6d7b4aa-a798-4692-bd7e-df2e77cda6e3" providerId="ADAL" clId="{AED95555-86AE-4DAC-9C4C-6A607A963546}" dt="2026-07-24T03:00:47.841" v="2447" actId="20577"/>
          <ac:spMkLst>
            <pc:docMk/>
            <pc:sldMk cId="2512958949" sldId="355"/>
            <ac:spMk id="5" creationId="{51E099A7-D82B-89B9-AF7F-5AB776F95CC3}"/>
          </ac:spMkLst>
        </pc:spChg>
        <pc:spChg chg="add mod">
          <ac:chgData name="Viparelli, Enrica" userId="e6d7b4aa-a798-4692-bd7e-df2e77cda6e3" providerId="ADAL" clId="{AED95555-86AE-4DAC-9C4C-6A607A963546}" dt="2026-07-24T02:37:39.982" v="1770" actId="20577"/>
          <ac:spMkLst>
            <pc:docMk/>
            <pc:sldMk cId="2512958949" sldId="355"/>
            <ac:spMk id="7" creationId="{6BD8D4B0-95C7-3229-45E5-E5010092611A}"/>
          </ac:spMkLst>
        </pc:spChg>
        <pc:spChg chg="add mod">
          <ac:chgData name="Viparelli, Enrica" userId="e6d7b4aa-a798-4692-bd7e-df2e77cda6e3" providerId="ADAL" clId="{AED95555-86AE-4DAC-9C4C-6A607A963546}" dt="2026-07-24T02:37:22.201" v="1732" actId="1076"/>
          <ac:spMkLst>
            <pc:docMk/>
            <pc:sldMk cId="2512958949" sldId="355"/>
            <ac:spMk id="9" creationId="{678D40D7-B93F-AFE2-B21A-A22A01031822}"/>
          </ac:spMkLst>
        </pc:spChg>
        <pc:spChg chg="add mod">
          <ac:chgData name="Viparelli, Enrica" userId="e6d7b4aa-a798-4692-bd7e-df2e77cda6e3" providerId="ADAL" clId="{AED95555-86AE-4DAC-9C4C-6A607A963546}" dt="2026-07-24T02:38:54.941" v="1794" actId="1036"/>
          <ac:spMkLst>
            <pc:docMk/>
            <pc:sldMk cId="2512958949" sldId="355"/>
            <ac:spMk id="10" creationId="{F0327B08-558B-55F2-A057-ED4B59F3EC22}"/>
          </ac:spMkLst>
        </pc:spChg>
        <pc:spChg chg="add mod">
          <ac:chgData name="Viparelli, Enrica" userId="e6d7b4aa-a798-4692-bd7e-df2e77cda6e3" providerId="ADAL" clId="{AED95555-86AE-4DAC-9C4C-6A607A963546}" dt="2026-07-24T02:39:40.369" v="1937" actId="20577"/>
          <ac:spMkLst>
            <pc:docMk/>
            <pc:sldMk cId="2512958949" sldId="355"/>
            <ac:spMk id="12" creationId="{3012FFA5-5864-1526-8FD3-584A62C638C2}"/>
          </ac:spMkLst>
        </pc:spChg>
        <pc:spChg chg="add mod">
          <ac:chgData name="Viparelli, Enrica" userId="e6d7b4aa-a798-4692-bd7e-df2e77cda6e3" providerId="ADAL" clId="{AED95555-86AE-4DAC-9C4C-6A607A963546}" dt="2026-07-24T02:41:41.596" v="1969" actId="1076"/>
          <ac:spMkLst>
            <pc:docMk/>
            <pc:sldMk cId="2512958949" sldId="355"/>
            <ac:spMk id="14" creationId="{94D46981-A4DA-532F-E9C9-CA5148C45E70}"/>
          </ac:spMkLst>
        </pc:spChg>
        <pc:spChg chg="mod">
          <ac:chgData name="Viparelli, Enrica" userId="e6d7b4aa-a798-4692-bd7e-df2e77cda6e3" providerId="ADAL" clId="{AED95555-86AE-4DAC-9C4C-6A607A963546}" dt="2026-07-24T02:35:36.071" v="1703" actId="20577"/>
          <ac:spMkLst>
            <pc:docMk/>
            <pc:sldMk cId="2512958949" sldId="355"/>
            <ac:spMk id="15" creationId="{5556314E-602B-D9F6-13AD-355D49DB3418}"/>
          </ac:spMkLst>
        </pc:spChg>
        <pc:spChg chg="del">
          <ac:chgData name="Viparelli, Enrica" userId="e6d7b4aa-a798-4692-bd7e-df2e77cda6e3" providerId="ADAL" clId="{AED95555-86AE-4DAC-9C4C-6A607A963546}" dt="2026-07-24T02:35:23.951" v="1668" actId="478"/>
          <ac:spMkLst>
            <pc:docMk/>
            <pc:sldMk cId="2512958949" sldId="355"/>
            <ac:spMk id="17" creationId="{B8B826B8-BB78-427A-9825-3929F063DD09}"/>
          </ac:spMkLst>
        </pc:spChg>
        <pc:spChg chg="add mod">
          <ac:chgData name="Viparelli, Enrica" userId="e6d7b4aa-a798-4692-bd7e-df2e77cda6e3" providerId="ADAL" clId="{AED95555-86AE-4DAC-9C4C-6A607A963546}" dt="2026-07-24T03:01:00.555" v="2449" actId="255"/>
          <ac:spMkLst>
            <pc:docMk/>
            <pc:sldMk cId="2512958949" sldId="355"/>
            <ac:spMk id="18" creationId="{20A34FD2-B1B4-6E76-AF9A-111A8B415693}"/>
          </ac:spMkLst>
        </pc:spChg>
        <pc:spChg chg="del mod">
          <ac:chgData name="Viparelli, Enrica" userId="e6d7b4aa-a798-4692-bd7e-df2e77cda6e3" providerId="ADAL" clId="{AED95555-86AE-4DAC-9C4C-6A607A963546}" dt="2026-07-24T02:35:20.938" v="1667" actId="478"/>
          <ac:spMkLst>
            <pc:docMk/>
            <pc:sldMk cId="2512958949" sldId="355"/>
            <ac:spMk id="19" creationId="{7B8A7BDD-6421-192A-ED77-CAF85DB88930}"/>
          </ac:spMkLst>
        </pc:spChg>
        <pc:spChg chg="add mod">
          <ac:chgData name="Viparelli, Enrica" userId="e6d7b4aa-a798-4692-bd7e-df2e77cda6e3" providerId="ADAL" clId="{AED95555-86AE-4DAC-9C4C-6A607A963546}" dt="2026-07-24T02:44:54.554" v="2132" actId="1076"/>
          <ac:spMkLst>
            <pc:docMk/>
            <pc:sldMk cId="2512958949" sldId="355"/>
            <ac:spMk id="21" creationId="{D12DA4AF-1AF7-D71C-A967-3EE24F2559FF}"/>
          </ac:spMkLst>
        </pc:spChg>
        <pc:spChg chg="add del mod">
          <ac:chgData name="Viparelli, Enrica" userId="e6d7b4aa-a798-4692-bd7e-df2e77cda6e3" providerId="ADAL" clId="{AED95555-86AE-4DAC-9C4C-6A607A963546}" dt="2026-07-24T02:56:51.048" v="2350" actId="478"/>
          <ac:spMkLst>
            <pc:docMk/>
            <pc:sldMk cId="2512958949" sldId="355"/>
            <ac:spMk id="23" creationId="{E39623FC-FFD9-970D-425A-89845E320DA8}"/>
          </ac:spMkLst>
        </pc:spChg>
        <pc:spChg chg="add del mod">
          <ac:chgData name="Viparelli, Enrica" userId="e6d7b4aa-a798-4692-bd7e-df2e77cda6e3" providerId="ADAL" clId="{AED95555-86AE-4DAC-9C4C-6A607A963546}" dt="2026-07-24T02:56:52.511" v="2351" actId="478"/>
          <ac:spMkLst>
            <pc:docMk/>
            <pc:sldMk cId="2512958949" sldId="355"/>
            <ac:spMk id="25" creationId="{002F565D-A9ED-864E-2A94-BA608CF3459D}"/>
          </ac:spMkLst>
        </pc:spChg>
        <pc:spChg chg="add del mod">
          <ac:chgData name="Viparelli, Enrica" userId="e6d7b4aa-a798-4692-bd7e-df2e77cda6e3" providerId="ADAL" clId="{AED95555-86AE-4DAC-9C4C-6A607A963546}" dt="2026-07-24T02:56:55.623" v="2353" actId="478"/>
          <ac:spMkLst>
            <pc:docMk/>
            <pc:sldMk cId="2512958949" sldId="355"/>
            <ac:spMk id="27" creationId="{E06B2955-4B00-5575-9F39-137C31312E54}"/>
          </ac:spMkLst>
        </pc:spChg>
        <pc:spChg chg="del">
          <ac:chgData name="Viparelli, Enrica" userId="e6d7b4aa-a798-4692-bd7e-df2e77cda6e3" providerId="ADAL" clId="{AED95555-86AE-4DAC-9C4C-6A607A963546}" dt="2026-07-24T02:35:23.951" v="1668" actId="478"/>
          <ac:spMkLst>
            <pc:docMk/>
            <pc:sldMk cId="2512958949" sldId="355"/>
            <ac:spMk id="29" creationId="{74EFB73D-EC86-EB1C-2C95-C14B8C3B1255}"/>
          </ac:spMkLst>
        </pc:spChg>
        <pc:spChg chg="add del mod">
          <ac:chgData name="Viparelli, Enrica" userId="e6d7b4aa-a798-4692-bd7e-df2e77cda6e3" providerId="ADAL" clId="{AED95555-86AE-4DAC-9C4C-6A607A963546}" dt="2026-07-24T02:51:48.406" v="2197" actId="478"/>
          <ac:spMkLst>
            <pc:docMk/>
            <pc:sldMk cId="2512958949" sldId="355"/>
            <ac:spMk id="30" creationId="{6E6604E9-83EA-BAA4-40D1-42111F4652D7}"/>
          </ac:spMkLst>
        </pc:spChg>
        <pc:spChg chg="add del mod">
          <ac:chgData name="Viparelli, Enrica" userId="e6d7b4aa-a798-4692-bd7e-df2e77cda6e3" providerId="ADAL" clId="{AED95555-86AE-4DAC-9C4C-6A607A963546}" dt="2026-07-24T02:56:54.106" v="2352" actId="478"/>
          <ac:spMkLst>
            <pc:docMk/>
            <pc:sldMk cId="2512958949" sldId="355"/>
            <ac:spMk id="32" creationId="{0B9D0AF6-2B23-DB9D-BAAA-EBE3C1FA6AC7}"/>
          </ac:spMkLst>
        </pc:spChg>
        <pc:spChg chg="add del mod ord">
          <ac:chgData name="Viparelli, Enrica" userId="e6d7b4aa-a798-4692-bd7e-df2e77cda6e3" providerId="ADAL" clId="{AED95555-86AE-4DAC-9C4C-6A607A963546}" dt="2026-07-24T02:56:49.547" v="2349" actId="478"/>
          <ac:spMkLst>
            <pc:docMk/>
            <pc:sldMk cId="2512958949" sldId="355"/>
            <ac:spMk id="33" creationId="{923CC974-BFCA-A149-2D4A-556837E118A1}"/>
          </ac:spMkLst>
        </pc:spChg>
        <pc:spChg chg="del">
          <ac:chgData name="Viparelli, Enrica" userId="e6d7b4aa-a798-4692-bd7e-df2e77cda6e3" providerId="ADAL" clId="{AED95555-86AE-4DAC-9C4C-6A607A963546}" dt="2026-07-24T02:35:23.951" v="1668" actId="478"/>
          <ac:spMkLst>
            <pc:docMk/>
            <pc:sldMk cId="2512958949" sldId="355"/>
            <ac:spMk id="38" creationId="{1F186E21-B3B6-0235-B43F-92FA6C33F820}"/>
          </ac:spMkLst>
        </pc:spChg>
      </pc:sldChg>
      <pc:sldChg chg="addSp delSp modSp add mod">
        <pc:chgData name="Viparelli, Enrica" userId="e6d7b4aa-a798-4692-bd7e-df2e77cda6e3" providerId="ADAL" clId="{AED95555-86AE-4DAC-9C4C-6A607A963546}" dt="2026-07-24T03:01:36.545" v="2453" actId="22"/>
        <pc:sldMkLst>
          <pc:docMk/>
          <pc:sldMk cId="1657758466" sldId="356"/>
        </pc:sldMkLst>
        <pc:spChg chg="add mod">
          <ac:chgData name="Viparelli, Enrica" userId="e6d7b4aa-a798-4692-bd7e-df2e77cda6e3" providerId="ADAL" clId="{AED95555-86AE-4DAC-9C4C-6A607A963546}" dt="2026-07-24T02:57:56.749" v="2376" actId="207"/>
          <ac:spMkLst>
            <pc:docMk/>
            <pc:sldMk cId="1657758466" sldId="356"/>
            <ac:spMk id="2" creationId="{C6827D44-DCA2-24EA-4DA1-950888753587}"/>
          </ac:spMkLst>
        </pc:spChg>
        <pc:spChg chg="del">
          <ac:chgData name="Viparelli, Enrica" userId="e6d7b4aa-a798-4692-bd7e-df2e77cda6e3" providerId="ADAL" clId="{AED95555-86AE-4DAC-9C4C-6A607A963546}" dt="2026-07-24T03:01:35.922" v="2452" actId="478"/>
          <ac:spMkLst>
            <pc:docMk/>
            <pc:sldMk cId="1657758466" sldId="356"/>
            <ac:spMk id="5" creationId="{4A7AEBE2-B3F6-0D23-2229-F46F626AC172}"/>
          </ac:spMkLst>
        </pc:spChg>
        <pc:spChg chg="add">
          <ac:chgData name="Viparelli, Enrica" userId="e6d7b4aa-a798-4692-bd7e-df2e77cda6e3" providerId="ADAL" clId="{AED95555-86AE-4DAC-9C4C-6A607A963546}" dt="2026-07-24T03:01:16.463" v="2451" actId="22"/>
          <ac:spMkLst>
            <pc:docMk/>
            <pc:sldMk cId="1657758466" sldId="356"/>
            <ac:spMk id="6" creationId="{81385C74-1069-F69F-4418-708C2A29C8D4}"/>
          </ac:spMkLst>
        </pc:spChg>
        <pc:spChg chg="add">
          <ac:chgData name="Viparelli, Enrica" userId="e6d7b4aa-a798-4692-bd7e-df2e77cda6e3" providerId="ADAL" clId="{AED95555-86AE-4DAC-9C4C-6A607A963546}" dt="2026-07-24T03:01:36.545" v="2453" actId="22"/>
          <ac:spMkLst>
            <pc:docMk/>
            <pc:sldMk cId="1657758466" sldId="356"/>
            <ac:spMk id="11" creationId="{2CFADC5F-8C3A-C48C-2A65-51D0B080F9F3}"/>
          </ac:spMkLst>
        </pc:spChg>
        <pc:spChg chg="del">
          <ac:chgData name="Viparelli, Enrica" userId="e6d7b4aa-a798-4692-bd7e-df2e77cda6e3" providerId="ADAL" clId="{AED95555-86AE-4DAC-9C4C-6A607A963546}" dt="2026-07-24T03:01:11.815" v="2450" actId="478"/>
          <ac:spMkLst>
            <pc:docMk/>
            <pc:sldMk cId="1657758466" sldId="356"/>
            <ac:spMk id="18" creationId="{23AC41C8-5557-44E3-0A69-BCCC88707B99}"/>
          </ac:spMkLst>
        </pc:spChg>
        <pc:spChg chg="mod">
          <ac:chgData name="Viparelli, Enrica" userId="e6d7b4aa-a798-4692-bd7e-df2e77cda6e3" providerId="ADAL" clId="{AED95555-86AE-4DAC-9C4C-6A607A963546}" dt="2026-07-24T02:57:14.041" v="2355" actId="1076"/>
          <ac:spMkLst>
            <pc:docMk/>
            <pc:sldMk cId="1657758466" sldId="356"/>
            <ac:spMk id="32" creationId="{C03F94FA-65DF-A103-5D0F-DD110AE06C20}"/>
          </ac:spMkLst>
        </pc:spChg>
        <pc:spChg chg="add del mod">
          <ac:chgData name="Viparelli, Enrica" userId="e6d7b4aa-a798-4692-bd7e-df2e77cda6e3" providerId="ADAL" clId="{AED95555-86AE-4DAC-9C4C-6A607A963546}" dt="2026-07-24T02:58:17.919" v="2377" actId="14100"/>
          <ac:spMkLst>
            <pc:docMk/>
            <pc:sldMk cId="1657758466" sldId="356"/>
            <ac:spMk id="33" creationId="{34767C7D-B9CE-B346-F204-F9808DE7A7ED}"/>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Users\viparell\Google%20Drive\Hokkaido_21\Congaree_geometry_2.txt"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oleObject" Target="file:///\\Users\viparell\Google%20Drive\Hokkaido_21\Congaree_geometry_2.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Users\viparell\Google%20Drive\Hokkaido_21\Congaree_geometry_2.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973284286719274"/>
          <c:y val="3.0811250757116899E-2"/>
          <c:w val="0.76306586542128951"/>
          <c:h val="0.83536265899454876"/>
        </c:manualLayout>
      </c:layout>
      <c:scatterChart>
        <c:scatterStyle val="lineMarker"/>
        <c:varyColors val="0"/>
        <c:ser>
          <c:idx val="0"/>
          <c:order val="0"/>
          <c:spPr>
            <a:ln w="19050" cap="rnd">
              <a:noFill/>
              <a:round/>
            </a:ln>
            <a:effectLst/>
          </c:spPr>
          <c:marker>
            <c:symbol val="circle"/>
            <c:size val="8"/>
            <c:spPr>
              <a:solidFill>
                <a:srgbClr val="FFFF00"/>
              </a:solidFill>
              <a:ln w="25400">
                <a:solidFill>
                  <a:srgbClr val="00B050"/>
                </a:solidFill>
              </a:ln>
              <a:effectLst/>
            </c:spPr>
          </c:marker>
          <c:xVal>
            <c:numRef>
              <c:f>Congaree_geometry_2!$J$34:$J$49</c:f>
              <c:numCache>
                <c:formatCode>General</c:formatCode>
                <c:ptCount val="16"/>
                <c:pt idx="0">
                  <c:v>93.728762219520007</c:v>
                </c:pt>
                <c:pt idx="1">
                  <c:v>93.445593753600008</c:v>
                </c:pt>
                <c:pt idx="2">
                  <c:v>85.516876707840012</c:v>
                </c:pt>
                <c:pt idx="3">
                  <c:v>84.384202844160015</c:v>
                </c:pt>
                <c:pt idx="4">
                  <c:v>202.74862159872004</c:v>
                </c:pt>
                <c:pt idx="5">
                  <c:v>201.04961080320004</c:v>
                </c:pt>
                <c:pt idx="6">
                  <c:v>311.48531251200006</c:v>
                </c:pt>
                <c:pt idx="7">
                  <c:v>314.31699717120006</c:v>
                </c:pt>
                <c:pt idx="8">
                  <c:v>1713.1692188160002</c:v>
                </c:pt>
                <c:pt idx="9">
                  <c:v>1713.1692188160002</c:v>
                </c:pt>
                <c:pt idx="10">
                  <c:v>1713.1692188160002</c:v>
                </c:pt>
                <c:pt idx="11">
                  <c:v>305.82194319360002</c:v>
                </c:pt>
                <c:pt idx="12">
                  <c:v>297.32688921600004</c:v>
                </c:pt>
                <c:pt idx="13">
                  <c:v>194.81990455296003</c:v>
                </c:pt>
                <c:pt idx="14">
                  <c:v>233.89715284992005</c:v>
                </c:pt>
                <c:pt idx="15">
                  <c:v>314.31699717120006</c:v>
                </c:pt>
              </c:numCache>
            </c:numRef>
          </c:xVal>
          <c:yVal>
            <c:numRef>
              <c:f>Congaree_geometry_2!$I$34:$I$49</c:f>
              <c:numCache>
                <c:formatCode>General</c:formatCode>
                <c:ptCount val="16"/>
                <c:pt idx="0">
                  <c:v>23.006304000000004</c:v>
                </c:pt>
                <c:pt idx="1">
                  <c:v>23.006304000000004</c:v>
                </c:pt>
                <c:pt idx="2">
                  <c:v>22.539960000000001</c:v>
                </c:pt>
                <c:pt idx="3">
                  <c:v>22.543008</c:v>
                </c:pt>
                <c:pt idx="4">
                  <c:v>23.734776000000004</c:v>
                </c:pt>
                <c:pt idx="5">
                  <c:v>23.734776000000004</c:v>
                </c:pt>
                <c:pt idx="6">
                  <c:v>24.597360000000002</c:v>
                </c:pt>
                <c:pt idx="7">
                  <c:v>24.600407999999998</c:v>
                </c:pt>
                <c:pt idx="8">
                  <c:v>26.337768000000001</c:v>
                </c:pt>
                <c:pt idx="9">
                  <c:v>26.337768000000001</c:v>
                </c:pt>
                <c:pt idx="10">
                  <c:v>26.337768000000001</c:v>
                </c:pt>
                <c:pt idx="11">
                  <c:v>24.429720000000003</c:v>
                </c:pt>
                <c:pt idx="12">
                  <c:v>24.417528000000001</c:v>
                </c:pt>
                <c:pt idx="13">
                  <c:v>23.835360000000001</c:v>
                </c:pt>
                <c:pt idx="14">
                  <c:v>24.158448000000003</c:v>
                </c:pt>
                <c:pt idx="15">
                  <c:v>24.560784000000002</c:v>
                </c:pt>
              </c:numCache>
            </c:numRef>
          </c:yVal>
          <c:smooth val="0"/>
          <c:extLst>
            <c:ext xmlns:c16="http://schemas.microsoft.com/office/drawing/2014/chart" uri="{C3380CC4-5D6E-409C-BE32-E72D297353CC}">
              <c16:uniqueId val="{00000000-4A88-DA42-9875-1C89F8A9F83F}"/>
            </c:ext>
          </c:extLst>
        </c:ser>
        <c:dLbls>
          <c:showLegendKey val="0"/>
          <c:showVal val="0"/>
          <c:showCatName val="0"/>
          <c:showSerName val="0"/>
          <c:showPercent val="0"/>
          <c:showBubbleSize val="0"/>
        </c:dLbls>
        <c:axId val="1105505936"/>
        <c:axId val="1105364304"/>
      </c:scatterChart>
      <c:valAx>
        <c:axId val="1105505936"/>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a:t>Q (m</a:t>
                </a:r>
                <a:r>
                  <a:rPr lang="en-US" baseline="30000"/>
                  <a:t>3</a:t>
                </a:r>
                <a:r>
                  <a:rPr lang="en-US"/>
                  <a:t>/s)</a:t>
                </a:r>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1105364304"/>
        <c:crosses val="autoZero"/>
        <c:crossBetween val="midCat"/>
        <c:majorUnit val="250"/>
      </c:valAx>
      <c:valAx>
        <c:axId val="1105364304"/>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sz="1500" baseline="0">
                    <a:latin typeface="Symbol" pitchFamily="2" charset="2"/>
                  </a:rPr>
                  <a:t>x</a:t>
                </a:r>
                <a:r>
                  <a:rPr lang="en-US"/>
                  <a:t> (m)</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1105505936"/>
        <c:crosses val="autoZero"/>
        <c:crossBetween val="midCat"/>
        <c:majorUnit val="1"/>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latin typeface="Arial" panose="020B0604020202020204" pitchFamily="34" charset="0"/>
          <a:cs typeface="Arial" panose="020B0604020202020204"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19050" cap="rnd">
              <a:noFill/>
              <a:round/>
            </a:ln>
            <a:effectLst/>
          </c:spPr>
          <c:marker>
            <c:symbol val="circle"/>
            <c:size val="8"/>
            <c:spPr>
              <a:solidFill>
                <a:srgbClr val="FFFF00"/>
              </a:solidFill>
              <a:ln w="25400">
                <a:solidFill>
                  <a:srgbClr val="00B050"/>
                </a:solidFill>
              </a:ln>
              <a:effectLst/>
            </c:spPr>
          </c:marker>
          <c:xVal>
            <c:numRef>
              <c:f>Congaree_geometry_2!$U$34:$U$49</c:f>
              <c:numCache>
                <c:formatCode>General</c:formatCode>
                <c:ptCount val="16"/>
                <c:pt idx="0">
                  <c:v>93.728762219520007</c:v>
                </c:pt>
                <c:pt idx="1">
                  <c:v>93.445593753600008</c:v>
                </c:pt>
                <c:pt idx="2">
                  <c:v>85.516876707840012</c:v>
                </c:pt>
                <c:pt idx="3">
                  <c:v>84.384202844160015</c:v>
                </c:pt>
                <c:pt idx="4">
                  <c:v>202.74862159872004</c:v>
                </c:pt>
                <c:pt idx="5">
                  <c:v>201.04961080320004</c:v>
                </c:pt>
                <c:pt idx="6">
                  <c:v>311.48531251200006</c:v>
                </c:pt>
                <c:pt idx="7">
                  <c:v>314.31699717120006</c:v>
                </c:pt>
                <c:pt idx="8">
                  <c:v>971.26783810560016</c:v>
                </c:pt>
                <c:pt idx="9">
                  <c:v>206.42981165568003</c:v>
                </c:pt>
                <c:pt idx="10">
                  <c:v>535.18840058880005</c:v>
                </c:pt>
                <c:pt idx="11">
                  <c:v>305.82194319360002</c:v>
                </c:pt>
                <c:pt idx="12">
                  <c:v>297.32688921600004</c:v>
                </c:pt>
                <c:pt idx="13">
                  <c:v>194.81990455296003</c:v>
                </c:pt>
                <c:pt idx="14">
                  <c:v>233.89715284992005</c:v>
                </c:pt>
                <c:pt idx="15">
                  <c:v>314.31699717120006</c:v>
                </c:pt>
              </c:numCache>
            </c:numRef>
          </c:xVal>
          <c:yVal>
            <c:numRef>
              <c:f>Congaree_geometry_2!$V$34:$V$49</c:f>
              <c:numCache>
                <c:formatCode>General</c:formatCode>
                <c:ptCount val="16"/>
                <c:pt idx="0">
                  <c:v>101.1936</c:v>
                </c:pt>
                <c:pt idx="1">
                  <c:v>100.8888</c:v>
                </c:pt>
                <c:pt idx="2">
                  <c:v>96.316800000000001</c:v>
                </c:pt>
                <c:pt idx="3">
                  <c:v>96.012</c:v>
                </c:pt>
                <c:pt idx="4">
                  <c:v>110.94720000000001</c:v>
                </c:pt>
                <c:pt idx="5">
                  <c:v>109.42320000000001</c:v>
                </c:pt>
                <c:pt idx="6">
                  <c:v>112.77600000000001</c:v>
                </c:pt>
                <c:pt idx="7">
                  <c:v>111.55680000000001</c:v>
                </c:pt>
                <c:pt idx="8">
                  <c:v>438.91200000000003</c:v>
                </c:pt>
                <c:pt idx="9">
                  <c:v>167.03040000000001</c:v>
                </c:pt>
                <c:pt idx="10">
                  <c:v>533.4</c:v>
                </c:pt>
                <c:pt idx="11">
                  <c:v>108.50880000000001</c:v>
                </c:pt>
                <c:pt idx="12">
                  <c:v>109.72800000000001</c:v>
                </c:pt>
                <c:pt idx="13">
                  <c:v>103.63200000000001</c:v>
                </c:pt>
                <c:pt idx="14">
                  <c:v>123.1392</c:v>
                </c:pt>
                <c:pt idx="15">
                  <c:v>125.8824</c:v>
                </c:pt>
              </c:numCache>
            </c:numRef>
          </c:yVal>
          <c:smooth val="0"/>
          <c:extLst>
            <c:ext xmlns:c16="http://schemas.microsoft.com/office/drawing/2014/chart" uri="{C3380CC4-5D6E-409C-BE32-E72D297353CC}">
              <c16:uniqueId val="{00000000-46C5-2C41-84F8-317B7676D8FC}"/>
            </c:ext>
          </c:extLst>
        </c:ser>
        <c:dLbls>
          <c:showLegendKey val="0"/>
          <c:showVal val="0"/>
          <c:showCatName val="0"/>
          <c:showSerName val="0"/>
          <c:showPercent val="0"/>
          <c:showBubbleSize val="0"/>
        </c:dLbls>
        <c:axId val="335905872"/>
        <c:axId val="335840176"/>
      </c:scatterChart>
      <c:valAx>
        <c:axId val="335905872"/>
        <c:scaling>
          <c:orientation val="minMax"/>
        </c:scaling>
        <c:delete val="0"/>
        <c:axPos val="b"/>
        <c:majorGridlines>
          <c:spPr>
            <a:ln w="9525" cap="flat" cmpd="sng" algn="ctr">
              <a:solidFill>
                <a:schemeClr val="tx1">
                  <a:lumMod val="15000"/>
                  <a:lumOff val="85000"/>
                </a:schemeClr>
              </a:solidFill>
              <a:round/>
            </a:ln>
            <a:effectLst/>
          </c:spPr>
        </c:majorGridlines>
        <c:minorGridlines>
          <c:spPr>
            <a:ln>
              <a:solidFill>
                <a:schemeClr val="bg2">
                  <a:lumMod val="90000"/>
                </a:schemeClr>
              </a:solidFill>
            </a:ln>
          </c:spPr>
        </c:minorGridlines>
        <c:title>
          <c:tx>
            <c:rich>
              <a:bodyPr rot="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a:t>Q (m</a:t>
                </a:r>
                <a:r>
                  <a:rPr lang="en-US" baseline="30000"/>
                  <a:t>3</a:t>
                </a:r>
                <a:r>
                  <a:rPr lang="en-US"/>
                  <a:t>/s)</a:t>
                </a:r>
              </a:p>
            </c:rich>
          </c:tx>
          <c:overlay val="0"/>
          <c:spPr>
            <a:noFill/>
            <a:ln>
              <a:noFill/>
            </a:ln>
            <a:effectLst/>
          </c:sp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335840176"/>
        <c:crosses val="autoZero"/>
        <c:crossBetween val="midCat"/>
        <c:majorUnit val="250"/>
      </c:valAx>
      <c:valAx>
        <c:axId val="335840176"/>
        <c:scaling>
          <c:orientation val="minMax"/>
        </c:scaling>
        <c:delete val="0"/>
        <c:axPos val="l"/>
        <c:majorGridlines>
          <c:spPr>
            <a:ln w="9525" cap="flat" cmpd="sng" algn="ctr">
              <a:solidFill>
                <a:schemeClr val="tx1">
                  <a:lumMod val="15000"/>
                  <a:lumOff val="85000"/>
                </a:schemeClr>
              </a:solidFill>
              <a:round/>
            </a:ln>
            <a:effectLst/>
          </c:spPr>
        </c:majorGridlines>
        <c:min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sz="1400" baseline="0">
                    <a:latin typeface="Arial" panose="020B0604020202020204" pitchFamily="34" charset="0"/>
                    <a:cs typeface="Arial" panose="020B0604020202020204" pitchFamily="34" charset="0"/>
                  </a:rPr>
                  <a:t>B</a:t>
                </a:r>
                <a:r>
                  <a:rPr lang="en-US"/>
                  <a:t> (m)</a:t>
                </a:r>
              </a:p>
            </c:rich>
          </c:tx>
          <c:overlay val="0"/>
          <c:spPr>
            <a:noFill/>
            <a:ln>
              <a:noFill/>
            </a:ln>
            <a:effectLst/>
          </c:sp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335905872"/>
        <c:crosses val="autoZero"/>
        <c:crossBetween val="midCat"/>
      </c:valAx>
    </c:plotArea>
    <c:plotVisOnly val="1"/>
    <c:dispBlanksAs val="gap"/>
    <c:showDLblsOverMax val="0"/>
    <c:extLst/>
  </c:chart>
  <c:spPr>
    <a:noFill/>
    <a:ln w="25400" cap="flat" cmpd="sng" algn="ctr">
      <a:noFill/>
      <a:round/>
    </a:ln>
    <a:effectLst/>
  </c:spPr>
  <c:txPr>
    <a:bodyPr/>
    <a:lstStyle/>
    <a:p>
      <a:pPr>
        <a:defRPr sz="1400">
          <a:latin typeface="Arial" panose="020B0604020202020204" pitchFamily="34" charset="0"/>
          <a:cs typeface="Arial" panose="020B0604020202020204" pitchFamily="34" charset="0"/>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19050" cap="rnd">
              <a:noFill/>
              <a:round/>
            </a:ln>
            <a:effectLst/>
          </c:spPr>
          <c:marker>
            <c:symbol val="circle"/>
            <c:size val="8"/>
            <c:spPr>
              <a:solidFill>
                <a:srgbClr val="FFFF00"/>
              </a:solidFill>
              <a:ln w="25400">
                <a:solidFill>
                  <a:srgbClr val="00B050"/>
                </a:solidFill>
              </a:ln>
              <a:effectLst/>
            </c:spPr>
          </c:marker>
          <c:xVal>
            <c:numRef>
              <c:f>Congaree_geometry_2!$U$34:$U$49</c:f>
              <c:numCache>
                <c:formatCode>General</c:formatCode>
                <c:ptCount val="16"/>
                <c:pt idx="0">
                  <c:v>93.728762219520007</c:v>
                </c:pt>
                <c:pt idx="1">
                  <c:v>93.445593753600008</c:v>
                </c:pt>
                <c:pt idx="2">
                  <c:v>85.516876707840012</c:v>
                </c:pt>
                <c:pt idx="3">
                  <c:v>84.384202844160015</c:v>
                </c:pt>
                <c:pt idx="4">
                  <c:v>202.74862159872004</c:v>
                </c:pt>
                <c:pt idx="5">
                  <c:v>201.04961080320004</c:v>
                </c:pt>
                <c:pt idx="6">
                  <c:v>311.48531251200006</c:v>
                </c:pt>
                <c:pt idx="7">
                  <c:v>314.31699717120006</c:v>
                </c:pt>
                <c:pt idx="8">
                  <c:v>971.26783810560016</c:v>
                </c:pt>
                <c:pt idx="9">
                  <c:v>206.42981165568003</c:v>
                </c:pt>
                <c:pt idx="10">
                  <c:v>535.18840058880005</c:v>
                </c:pt>
                <c:pt idx="11">
                  <c:v>305.82194319360002</c:v>
                </c:pt>
                <c:pt idx="12">
                  <c:v>297.32688921600004</c:v>
                </c:pt>
                <c:pt idx="13">
                  <c:v>194.81990455296003</c:v>
                </c:pt>
                <c:pt idx="14">
                  <c:v>233.89715284992005</c:v>
                </c:pt>
                <c:pt idx="15">
                  <c:v>314.31699717120006</c:v>
                </c:pt>
              </c:numCache>
            </c:numRef>
          </c:xVal>
          <c:yVal>
            <c:numRef>
              <c:f>Congaree_geometry_2!$W$34:$W$49</c:f>
              <c:numCache>
                <c:formatCode>General</c:formatCode>
                <c:ptCount val="16"/>
                <c:pt idx="0">
                  <c:v>307.5090624</c:v>
                </c:pt>
                <c:pt idx="1">
                  <c:v>305.65100160000003</c:v>
                </c:pt>
                <c:pt idx="2">
                  <c:v>244.33499520000001</c:v>
                </c:pt>
                <c:pt idx="3">
                  <c:v>236.90275200000002</c:v>
                </c:pt>
                <c:pt idx="4">
                  <c:v>370.68312960000003</c:v>
                </c:pt>
                <c:pt idx="5">
                  <c:v>366.96700800000002</c:v>
                </c:pt>
                <c:pt idx="6">
                  <c:v>454.29586560000001</c:v>
                </c:pt>
                <c:pt idx="7">
                  <c:v>461.72810880000003</c:v>
                </c:pt>
                <c:pt idx="8">
                  <c:v>1021.93344</c:v>
                </c:pt>
                <c:pt idx="9">
                  <c:v>419.92174080000001</c:v>
                </c:pt>
                <c:pt idx="10">
                  <c:v>1300.64256</c:v>
                </c:pt>
                <c:pt idx="11">
                  <c:v>465.44423040000004</c:v>
                </c:pt>
                <c:pt idx="12">
                  <c:v>469.16035200000005</c:v>
                </c:pt>
                <c:pt idx="13">
                  <c:v>404.12822400000005</c:v>
                </c:pt>
                <c:pt idx="14">
                  <c:v>418.06368000000003</c:v>
                </c:pt>
                <c:pt idx="15">
                  <c:v>475.66356480000002</c:v>
                </c:pt>
              </c:numCache>
            </c:numRef>
          </c:yVal>
          <c:smooth val="0"/>
          <c:extLst>
            <c:ext xmlns:c16="http://schemas.microsoft.com/office/drawing/2014/chart" uri="{C3380CC4-5D6E-409C-BE32-E72D297353CC}">
              <c16:uniqueId val="{00000000-BD90-AE4B-AAF0-002118FB9CBD}"/>
            </c:ext>
          </c:extLst>
        </c:ser>
        <c:dLbls>
          <c:showLegendKey val="0"/>
          <c:showVal val="0"/>
          <c:showCatName val="0"/>
          <c:showSerName val="0"/>
          <c:showPercent val="0"/>
          <c:showBubbleSize val="0"/>
        </c:dLbls>
        <c:axId val="335905872"/>
        <c:axId val="335840176"/>
      </c:scatterChart>
      <c:valAx>
        <c:axId val="335905872"/>
        <c:scaling>
          <c:orientation val="minMax"/>
        </c:scaling>
        <c:delete val="0"/>
        <c:axPos val="b"/>
        <c:majorGridlines>
          <c:spPr>
            <a:ln w="9525" cap="flat" cmpd="sng" algn="ctr">
              <a:solidFill>
                <a:schemeClr val="tx1">
                  <a:lumMod val="15000"/>
                  <a:lumOff val="85000"/>
                </a:schemeClr>
              </a:solidFill>
              <a:round/>
            </a:ln>
            <a:effectLst/>
          </c:spPr>
        </c:majorGridlines>
        <c:minorGridlines/>
        <c:title>
          <c:tx>
            <c:rich>
              <a:bodyPr rot="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a:t>Q (m</a:t>
                </a:r>
                <a:r>
                  <a:rPr lang="en-US" baseline="30000"/>
                  <a:t>3</a:t>
                </a:r>
                <a:r>
                  <a:rPr lang="en-US"/>
                  <a:t>/s)</a:t>
                </a:r>
              </a:p>
            </c:rich>
          </c:tx>
          <c:overlay val="0"/>
          <c:spPr>
            <a:noFill/>
            <a:ln>
              <a:noFill/>
            </a:ln>
            <a:effectLst/>
          </c:sp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335840176"/>
        <c:crosses val="autoZero"/>
        <c:crossBetween val="midCat"/>
        <c:majorUnit val="250"/>
      </c:valAx>
      <c:valAx>
        <c:axId val="335840176"/>
        <c:scaling>
          <c:orientation val="minMax"/>
        </c:scaling>
        <c:delete val="0"/>
        <c:axPos val="l"/>
        <c:majorGridlines>
          <c:spPr>
            <a:ln w="9525" cap="flat" cmpd="sng" algn="ctr">
              <a:solidFill>
                <a:schemeClr val="tx1">
                  <a:lumMod val="15000"/>
                  <a:lumOff val="85000"/>
                </a:schemeClr>
              </a:solidFill>
              <a:round/>
            </a:ln>
            <a:effectLst/>
          </c:spPr>
        </c:majorGridlines>
        <c:min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sz="1400" baseline="0">
                    <a:latin typeface="Arial" panose="020B0604020202020204" pitchFamily="34" charset="0"/>
                    <a:cs typeface="Arial" panose="020B0604020202020204" pitchFamily="34" charset="0"/>
                  </a:rPr>
                  <a:t>A</a:t>
                </a:r>
                <a:r>
                  <a:rPr lang="en-US"/>
                  <a:t> (m</a:t>
                </a:r>
                <a:r>
                  <a:rPr lang="en-US" baseline="30000"/>
                  <a:t>2</a:t>
                </a:r>
                <a:r>
                  <a:rPr lang="en-US"/>
                  <a:t>)</a:t>
                </a:r>
              </a:p>
            </c:rich>
          </c:tx>
          <c:overlay val="0"/>
          <c:spPr>
            <a:noFill/>
            <a:ln>
              <a:noFill/>
            </a:ln>
            <a:effectLst/>
          </c:sp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335905872"/>
        <c:crosses val="autoZero"/>
        <c:crossBetween val="midCat"/>
      </c:valAx>
    </c:plotArea>
    <c:plotVisOnly val="1"/>
    <c:dispBlanksAs val="gap"/>
    <c:showDLblsOverMax val="0"/>
    <c:extLst/>
  </c:chart>
  <c:spPr>
    <a:noFill/>
    <a:ln w="25400" cap="flat" cmpd="sng" algn="ctr">
      <a:noFill/>
      <a:round/>
    </a:ln>
    <a:effectLst/>
  </c:spPr>
  <c:txPr>
    <a:bodyPr/>
    <a:lstStyle/>
    <a:p>
      <a:pPr>
        <a:defRPr sz="1400">
          <a:latin typeface="Arial" panose="020B0604020202020204" pitchFamily="34" charset="0"/>
          <a:cs typeface="Arial" panose="020B0604020202020204" pitchFamily="34" charset="0"/>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364E3B-2BD9-864E-AEBF-C16A4A7C077A}" type="datetimeFigureOut">
              <a:rPr lang="en-US" smtClean="0"/>
              <a:t>7/23/2026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83F09F-D818-3049-9A05-0F1DC139FC7C}" type="slidenum">
              <a:rPr lang="en-US" smtClean="0"/>
              <a:t>‹#›</a:t>
            </a:fld>
            <a:endParaRPr lang="en-US"/>
          </a:p>
        </p:txBody>
      </p:sp>
    </p:spTree>
    <p:extLst>
      <p:ext uri="{BB962C8B-B14F-4D97-AF65-F5344CB8AC3E}">
        <p14:creationId xmlns:p14="http://schemas.microsoft.com/office/powerpoint/2010/main" val="3269747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7</a:t>
            </a:fld>
            <a:endParaRPr lang="en-US"/>
          </a:p>
        </p:txBody>
      </p:sp>
    </p:spTree>
    <p:extLst>
      <p:ext uri="{BB962C8B-B14F-4D97-AF65-F5344CB8AC3E}">
        <p14:creationId xmlns:p14="http://schemas.microsoft.com/office/powerpoint/2010/main" val="659550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8</a:t>
            </a:fld>
            <a:endParaRPr lang="en-US"/>
          </a:p>
        </p:txBody>
      </p:sp>
    </p:spTree>
    <p:extLst>
      <p:ext uri="{BB962C8B-B14F-4D97-AF65-F5344CB8AC3E}">
        <p14:creationId xmlns:p14="http://schemas.microsoft.com/office/powerpoint/2010/main" val="6074439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2D681-7BD4-7E45-FAB3-921FBFB529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31058D-7DB3-8924-A684-D262131522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9B3324-5780-2F46-2E5F-70B8B330B8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FC57B1-FDFF-3243-0152-05195A6E5CCF}"/>
              </a:ext>
            </a:extLst>
          </p:cNvPr>
          <p:cNvSpPr>
            <a:spLocks noGrp="1"/>
          </p:cNvSpPr>
          <p:nvPr>
            <p:ph type="sldNum" sz="quarter" idx="5"/>
          </p:nvPr>
        </p:nvSpPr>
        <p:spPr/>
        <p:txBody>
          <a:bodyPr/>
          <a:lstStyle/>
          <a:p>
            <a:fld id="{0883F09F-D818-3049-9A05-0F1DC139FC7C}" type="slidenum">
              <a:rPr lang="en-US" smtClean="0"/>
              <a:t>9</a:t>
            </a:fld>
            <a:endParaRPr lang="en-US"/>
          </a:p>
        </p:txBody>
      </p:sp>
    </p:spTree>
    <p:extLst>
      <p:ext uri="{BB962C8B-B14F-4D97-AF65-F5344CB8AC3E}">
        <p14:creationId xmlns:p14="http://schemas.microsoft.com/office/powerpoint/2010/main" val="1512393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10</a:t>
            </a:fld>
            <a:endParaRPr lang="en-US"/>
          </a:p>
        </p:txBody>
      </p:sp>
    </p:spTree>
    <p:extLst>
      <p:ext uri="{BB962C8B-B14F-4D97-AF65-F5344CB8AC3E}">
        <p14:creationId xmlns:p14="http://schemas.microsoft.com/office/powerpoint/2010/main" val="19665363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11</a:t>
            </a:fld>
            <a:endParaRPr lang="en-US"/>
          </a:p>
        </p:txBody>
      </p:sp>
    </p:spTree>
    <p:extLst>
      <p:ext uri="{BB962C8B-B14F-4D97-AF65-F5344CB8AC3E}">
        <p14:creationId xmlns:p14="http://schemas.microsoft.com/office/powerpoint/2010/main" val="40186333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12</a:t>
            </a:fld>
            <a:endParaRPr lang="en-US"/>
          </a:p>
        </p:txBody>
      </p:sp>
    </p:spTree>
    <p:extLst>
      <p:ext uri="{BB962C8B-B14F-4D97-AF65-F5344CB8AC3E}">
        <p14:creationId xmlns:p14="http://schemas.microsoft.com/office/powerpoint/2010/main" val="19331556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13</a:t>
            </a:fld>
            <a:endParaRPr lang="en-US"/>
          </a:p>
        </p:txBody>
      </p:sp>
    </p:spTree>
    <p:extLst>
      <p:ext uri="{BB962C8B-B14F-4D97-AF65-F5344CB8AC3E}">
        <p14:creationId xmlns:p14="http://schemas.microsoft.com/office/powerpoint/2010/main" val="22295890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14</a:t>
            </a:fld>
            <a:endParaRPr lang="en-US"/>
          </a:p>
        </p:txBody>
      </p:sp>
    </p:spTree>
    <p:extLst>
      <p:ext uri="{BB962C8B-B14F-4D97-AF65-F5344CB8AC3E}">
        <p14:creationId xmlns:p14="http://schemas.microsoft.com/office/powerpoint/2010/main" val="17261990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15</a:t>
            </a:fld>
            <a:endParaRPr lang="en-US"/>
          </a:p>
        </p:txBody>
      </p:sp>
    </p:spTree>
    <p:extLst>
      <p:ext uri="{BB962C8B-B14F-4D97-AF65-F5344CB8AC3E}">
        <p14:creationId xmlns:p14="http://schemas.microsoft.com/office/powerpoint/2010/main" val="23475885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16</a:t>
            </a:fld>
            <a:endParaRPr lang="en-US"/>
          </a:p>
        </p:txBody>
      </p:sp>
    </p:spTree>
    <p:extLst>
      <p:ext uri="{BB962C8B-B14F-4D97-AF65-F5344CB8AC3E}">
        <p14:creationId xmlns:p14="http://schemas.microsoft.com/office/powerpoint/2010/main" val="31079571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17</a:t>
            </a:fld>
            <a:endParaRPr lang="en-US"/>
          </a:p>
        </p:txBody>
      </p:sp>
    </p:spTree>
    <p:extLst>
      <p:ext uri="{BB962C8B-B14F-4D97-AF65-F5344CB8AC3E}">
        <p14:creationId xmlns:p14="http://schemas.microsoft.com/office/powerpoint/2010/main" val="29622212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18</a:t>
            </a:fld>
            <a:endParaRPr lang="en-US"/>
          </a:p>
        </p:txBody>
      </p:sp>
    </p:spTree>
    <p:extLst>
      <p:ext uri="{BB962C8B-B14F-4D97-AF65-F5344CB8AC3E}">
        <p14:creationId xmlns:p14="http://schemas.microsoft.com/office/powerpoint/2010/main" val="28927720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19</a:t>
            </a:fld>
            <a:endParaRPr lang="en-US"/>
          </a:p>
        </p:txBody>
      </p:sp>
    </p:spTree>
    <p:extLst>
      <p:ext uri="{BB962C8B-B14F-4D97-AF65-F5344CB8AC3E}">
        <p14:creationId xmlns:p14="http://schemas.microsoft.com/office/powerpoint/2010/main" val="11651006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20</a:t>
            </a:fld>
            <a:endParaRPr lang="en-US"/>
          </a:p>
        </p:txBody>
      </p:sp>
    </p:spTree>
    <p:extLst>
      <p:ext uri="{BB962C8B-B14F-4D97-AF65-F5344CB8AC3E}">
        <p14:creationId xmlns:p14="http://schemas.microsoft.com/office/powerpoint/2010/main" val="9591617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21</a:t>
            </a:fld>
            <a:endParaRPr lang="en-US"/>
          </a:p>
        </p:txBody>
      </p:sp>
    </p:spTree>
    <p:extLst>
      <p:ext uri="{BB962C8B-B14F-4D97-AF65-F5344CB8AC3E}">
        <p14:creationId xmlns:p14="http://schemas.microsoft.com/office/powerpoint/2010/main" val="16689817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22</a:t>
            </a:fld>
            <a:endParaRPr lang="en-US"/>
          </a:p>
        </p:txBody>
      </p:sp>
    </p:spTree>
    <p:extLst>
      <p:ext uri="{BB962C8B-B14F-4D97-AF65-F5344CB8AC3E}">
        <p14:creationId xmlns:p14="http://schemas.microsoft.com/office/powerpoint/2010/main" val="15128332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23</a:t>
            </a:fld>
            <a:endParaRPr lang="en-US"/>
          </a:p>
        </p:txBody>
      </p:sp>
    </p:spTree>
    <p:extLst>
      <p:ext uri="{BB962C8B-B14F-4D97-AF65-F5344CB8AC3E}">
        <p14:creationId xmlns:p14="http://schemas.microsoft.com/office/powerpoint/2010/main" val="25299683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24</a:t>
            </a:fld>
            <a:endParaRPr lang="en-US"/>
          </a:p>
        </p:txBody>
      </p:sp>
    </p:spTree>
    <p:extLst>
      <p:ext uri="{BB962C8B-B14F-4D97-AF65-F5344CB8AC3E}">
        <p14:creationId xmlns:p14="http://schemas.microsoft.com/office/powerpoint/2010/main" val="27175603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A89D7-3667-1D55-E27A-67EC56B0D7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895073-4C06-4C04-193C-64B57D377E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3C053F-FACD-394F-C3A8-8463A490BE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5C4BAE-17E5-AF26-7CD6-C661631FCFBE}"/>
              </a:ext>
            </a:extLst>
          </p:cNvPr>
          <p:cNvSpPr>
            <a:spLocks noGrp="1"/>
          </p:cNvSpPr>
          <p:nvPr>
            <p:ph type="sldNum" sz="quarter" idx="5"/>
          </p:nvPr>
        </p:nvSpPr>
        <p:spPr/>
        <p:txBody>
          <a:bodyPr/>
          <a:lstStyle/>
          <a:p>
            <a:fld id="{0883F09F-D818-3049-9A05-0F1DC139FC7C}" type="slidenum">
              <a:rPr lang="en-US" smtClean="0"/>
              <a:t>25</a:t>
            </a:fld>
            <a:endParaRPr lang="en-US"/>
          </a:p>
        </p:txBody>
      </p:sp>
    </p:spTree>
    <p:extLst>
      <p:ext uri="{BB962C8B-B14F-4D97-AF65-F5344CB8AC3E}">
        <p14:creationId xmlns:p14="http://schemas.microsoft.com/office/powerpoint/2010/main" val="21323488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BEDE4-4D30-8265-6225-F2EE065A31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16CC88-78F1-D3BE-74AE-06B9B56CC2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0BD41C-8A64-B11B-2542-D68F084884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7C9A26-51A4-6361-F83D-F1842ECA9AC1}"/>
              </a:ext>
            </a:extLst>
          </p:cNvPr>
          <p:cNvSpPr>
            <a:spLocks noGrp="1"/>
          </p:cNvSpPr>
          <p:nvPr>
            <p:ph type="sldNum" sz="quarter" idx="5"/>
          </p:nvPr>
        </p:nvSpPr>
        <p:spPr/>
        <p:txBody>
          <a:bodyPr/>
          <a:lstStyle/>
          <a:p>
            <a:fld id="{0883F09F-D818-3049-9A05-0F1DC139FC7C}" type="slidenum">
              <a:rPr lang="en-US" smtClean="0"/>
              <a:t>26</a:t>
            </a:fld>
            <a:endParaRPr lang="en-US"/>
          </a:p>
        </p:txBody>
      </p:sp>
    </p:spTree>
    <p:extLst>
      <p:ext uri="{BB962C8B-B14F-4D97-AF65-F5344CB8AC3E}">
        <p14:creationId xmlns:p14="http://schemas.microsoft.com/office/powerpoint/2010/main" val="33062098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E8994-0DAE-BA4A-8C5F-86004274DF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247246A-AE36-5847-8679-85EF93546A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EE9708-7D64-9D40-9BA1-ED83FEBE5D2F}"/>
              </a:ext>
            </a:extLst>
          </p:cNvPr>
          <p:cNvSpPr>
            <a:spLocks noGrp="1"/>
          </p:cNvSpPr>
          <p:nvPr>
            <p:ph type="dt" sz="half" idx="10"/>
          </p:nvPr>
        </p:nvSpPr>
        <p:spPr/>
        <p:txBody>
          <a:bodyPr/>
          <a:lstStyle/>
          <a:p>
            <a:fld id="{8A37238B-29DE-EB4E-9020-BE375A8A0F26}" type="datetime1">
              <a:rPr lang="en-US" smtClean="0"/>
              <a:t>7/23/2026</a:t>
            </a:fld>
            <a:endParaRPr lang="en-US"/>
          </a:p>
        </p:txBody>
      </p:sp>
      <p:sp>
        <p:nvSpPr>
          <p:cNvPr id="5" name="Footer Placeholder 4">
            <a:extLst>
              <a:ext uri="{FF2B5EF4-FFF2-40B4-BE49-F238E27FC236}">
                <a16:creationId xmlns:a16="http://schemas.microsoft.com/office/drawing/2014/main" id="{CDDFCB2B-A583-0249-8BD1-6592C1796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C1B40A-AC48-1947-9F50-AB6A64155F3C}"/>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4074541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6B3A4-B62D-9241-8974-F5261E837B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42ACE9-D07C-5249-A7E9-354344B800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7501A1-3D3D-A74F-94B2-51EE1B5377B0}"/>
              </a:ext>
            </a:extLst>
          </p:cNvPr>
          <p:cNvSpPr>
            <a:spLocks noGrp="1"/>
          </p:cNvSpPr>
          <p:nvPr>
            <p:ph type="dt" sz="half" idx="10"/>
          </p:nvPr>
        </p:nvSpPr>
        <p:spPr/>
        <p:txBody>
          <a:bodyPr/>
          <a:lstStyle/>
          <a:p>
            <a:fld id="{75E58A9D-BD02-9643-A672-D987A03D5C72}" type="datetime1">
              <a:rPr lang="en-US" smtClean="0"/>
              <a:t>7/23/2026</a:t>
            </a:fld>
            <a:endParaRPr lang="en-US"/>
          </a:p>
        </p:txBody>
      </p:sp>
      <p:sp>
        <p:nvSpPr>
          <p:cNvPr id="5" name="Footer Placeholder 4">
            <a:extLst>
              <a:ext uri="{FF2B5EF4-FFF2-40B4-BE49-F238E27FC236}">
                <a16:creationId xmlns:a16="http://schemas.microsoft.com/office/drawing/2014/main" id="{D7933242-79FF-9A43-83D5-008BB1175A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3767A8-E0B3-FA48-B9CD-3265054B2BBA}"/>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798452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27466-BFD9-334B-ACCB-7AB1B4FBD4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81FD474-FFC4-F947-912C-8C3A62B0754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33BEE4-0BA4-334D-888B-751ABF383DA2}"/>
              </a:ext>
            </a:extLst>
          </p:cNvPr>
          <p:cNvSpPr>
            <a:spLocks noGrp="1"/>
          </p:cNvSpPr>
          <p:nvPr>
            <p:ph type="dt" sz="half" idx="10"/>
          </p:nvPr>
        </p:nvSpPr>
        <p:spPr/>
        <p:txBody>
          <a:bodyPr/>
          <a:lstStyle/>
          <a:p>
            <a:fld id="{A9F582B2-23B9-D74E-AF1E-23FE314EE57C}" type="datetime1">
              <a:rPr lang="en-US" smtClean="0"/>
              <a:t>7/23/2026</a:t>
            </a:fld>
            <a:endParaRPr lang="en-US"/>
          </a:p>
        </p:txBody>
      </p:sp>
      <p:sp>
        <p:nvSpPr>
          <p:cNvPr id="5" name="Footer Placeholder 4">
            <a:extLst>
              <a:ext uri="{FF2B5EF4-FFF2-40B4-BE49-F238E27FC236}">
                <a16:creationId xmlns:a16="http://schemas.microsoft.com/office/drawing/2014/main" id="{C37732D5-CFCB-464B-B406-E6F58E8C88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8D58E7-9E61-3644-822F-14C8AA657D41}"/>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2582330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B4BC6-D29B-1F4F-938F-07E9F8E6CE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5784D0-6CC0-AC43-BB44-2AEE77C32F9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38E12C2-99E7-0F46-B4EB-C64AC10E215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AA25515-4688-0F44-B939-B8AA309B47EF}"/>
              </a:ext>
            </a:extLst>
          </p:cNvPr>
          <p:cNvSpPr>
            <a:spLocks noGrp="1"/>
          </p:cNvSpPr>
          <p:nvPr>
            <p:ph type="dt" sz="half" idx="10"/>
          </p:nvPr>
        </p:nvSpPr>
        <p:spPr/>
        <p:txBody>
          <a:bodyPr/>
          <a:lstStyle/>
          <a:p>
            <a:fld id="{30046F22-E104-EA49-A6E4-3FA4D6AC1D65}" type="datetime1">
              <a:rPr lang="en-US" smtClean="0"/>
              <a:t>7/23/2026</a:t>
            </a:fld>
            <a:endParaRPr lang="en-US"/>
          </a:p>
        </p:txBody>
      </p:sp>
      <p:sp>
        <p:nvSpPr>
          <p:cNvPr id="6" name="Footer Placeholder 5">
            <a:extLst>
              <a:ext uri="{FF2B5EF4-FFF2-40B4-BE49-F238E27FC236}">
                <a16:creationId xmlns:a16="http://schemas.microsoft.com/office/drawing/2014/main" id="{0D2B21F8-84DD-7B4B-9D24-A91D89CE98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E6C87B-C3BC-5A41-846A-A31318112337}"/>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1202003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5F0F5-8358-9741-98DA-949BAC1AA4F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CE32334-11D4-1F4B-A8C2-2E3156A51F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99C116-4A36-C748-BD11-9226FA84995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9937EE1-3285-3C4B-953D-B6AC9DA5AD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B6637E0-FA89-3D4A-9B4B-EBFDCBBC6A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8EC8A58-E296-DF4E-9A7C-61F091D5BCFB}"/>
              </a:ext>
            </a:extLst>
          </p:cNvPr>
          <p:cNvSpPr>
            <a:spLocks noGrp="1"/>
          </p:cNvSpPr>
          <p:nvPr>
            <p:ph type="dt" sz="half" idx="10"/>
          </p:nvPr>
        </p:nvSpPr>
        <p:spPr/>
        <p:txBody>
          <a:bodyPr/>
          <a:lstStyle/>
          <a:p>
            <a:fld id="{503513B9-56A2-894E-84AC-78DB7954EA7D}" type="datetime1">
              <a:rPr lang="en-US" smtClean="0"/>
              <a:t>7/23/2026</a:t>
            </a:fld>
            <a:endParaRPr lang="en-US"/>
          </a:p>
        </p:txBody>
      </p:sp>
      <p:sp>
        <p:nvSpPr>
          <p:cNvPr id="8" name="Footer Placeholder 7">
            <a:extLst>
              <a:ext uri="{FF2B5EF4-FFF2-40B4-BE49-F238E27FC236}">
                <a16:creationId xmlns:a16="http://schemas.microsoft.com/office/drawing/2014/main" id="{E8610E29-4C91-BF45-813E-7733F7ED382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33D1DBF-548B-C44B-A9CA-A4AA75DE6CB2}"/>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11861871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C4A0C-1B4A-A148-83BE-FBC36C4E7E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2A99E5A-BC58-684A-854A-986712C603E8}"/>
              </a:ext>
            </a:extLst>
          </p:cNvPr>
          <p:cNvSpPr>
            <a:spLocks noGrp="1"/>
          </p:cNvSpPr>
          <p:nvPr>
            <p:ph type="dt" sz="half" idx="10"/>
          </p:nvPr>
        </p:nvSpPr>
        <p:spPr/>
        <p:txBody>
          <a:bodyPr/>
          <a:lstStyle/>
          <a:p>
            <a:fld id="{EED52E1C-DAC7-2845-A34C-154E7BA2B192}" type="datetime1">
              <a:rPr lang="en-US" smtClean="0"/>
              <a:t>7/23/2026</a:t>
            </a:fld>
            <a:endParaRPr lang="en-US"/>
          </a:p>
        </p:txBody>
      </p:sp>
      <p:sp>
        <p:nvSpPr>
          <p:cNvPr id="4" name="Footer Placeholder 3">
            <a:extLst>
              <a:ext uri="{FF2B5EF4-FFF2-40B4-BE49-F238E27FC236}">
                <a16:creationId xmlns:a16="http://schemas.microsoft.com/office/drawing/2014/main" id="{78365D2C-58DF-8546-9A33-9471F565375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0F503D0-879B-B745-9E62-78E679ADCCC3}"/>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3069295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4E2FDA-EE2D-8E4E-99B0-9FE6349507C2}"/>
              </a:ext>
            </a:extLst>
          </p:cNvPr>
          <p:cNvSpPr>
            <a:spLocks noGrp="1"/>
          </p:cNvSpPr>
          <p:nvPr>
            <p:ph type="dt" sz="half" idx="10"/>
          </p:nvPr>
        </p:nvSpPr>
        <p:spPr/>
        <p:txBody>
          <a:bodyPr/>
          <a:lstStyle/>
          <a:p>
            <a:fld id="{1F7A6845-556B-7F47-8826-F6A7D696CD17}" type="datetime1">
              <a:rPr lang="en-US" smtClean="0"/>
              <a:t>7/23/2026</a:t>
            </a:fld>
            <a:endParaRPr lang="en-US"/>
          </a:p>
        </p:txBody>
      </p:sp>
      <p:sp>
        <p:nvSpPr>
          <p:cNvPr id="3" name="Footer Placeholder 2">
            <a:extLst>
              <a:ext uri="{FF2B5EF4-FFF2-40B4-BE49-F238E27FC236}">
                <a16:creationId xmlns:a16="http://schemas.microsoft.com/office/drawing/2014/main" id="{47B317BC-A40C-4D45-9279-7698A6E5A5A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667FDD1-E6FF-404D-96BA-26CA56C45F2A}"/>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36810218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CB305-4ED0-8848-857A-E423B37ED2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F7600C4-68D3-C94C-9AF4-CA9B3E94F4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6F295DC-F288-604F-BD95-93F79EE389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E19FFC-BF69-4146-8145-D535568DCA5A}"/>
              </a:ext>
            </a:extLst>
          </p:cNvPr>
          <p:cNvSpPr>
            <a:spLocks noGrp="1"/>
          </p:cNvSpPr>
          <p:nvPr>
            <p:ph type="dt" sz="half" idx="10"/>
          </p:nvPr>
        </p:nvSpPr>
        <p:spPr/>
        <p:txBody>
          <a:bodyPr/>
          <a:lstStyle/>
          <a:p>
            <a:fld id="{B77A45C0-1509-8147-9A5F-C30BF7F14D05}" type="datetime1">
              <a:rPr lang="en-US" smtClean="0"/>
              <a:t>7/23/2026</a:t>
            </a:fld>
            <a:endParaRPr lang="en-US"/>
          </a:p>
        </p:txBody>
      </p:sp>
      <p:sp>
        <p:nvSpPr>
          <p:cNvPr id="6" name="Footer Placeholder 5">
            <a:extLst>
              <a:ext uri="{FF2B5EF4-FFF2-40B4-BE49-F238E27FC236}">
                <a16:creationId xmlns:a16="http://schemas.microsoft.com/office/drawing/2014/main" id="{AA608AC6-8B2A-FA4E-9882-5B496E5BE2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034A4A-F50E-544A-9F28-D3EB594478BD}"/>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33411833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E3E71-AC1E-C546-8205-BBC894B6B5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2264831-E62D-F44C-B453-47BECFAC00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47F079C-96D8-5949-95F5-AA24C7FC97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002139-6EFA-9D40-B25C-BFE15F955ABE}"/>
              </a:ext>
            </a:extLst>
          </p:cNvPr>
          <p:cNvSpPr>
            <a:spLocks noGrp="1"/>
          </p:cNvSpPr>
          <p:nvPr>
            <p:ph type="dt" sz="half" idx="10"/>
          </p:nvPr>
        </p:nvSpPr>
        <p:spPr/>
        <p:txBody>
          <a:bodyPr/>
          <a:lstStyle/>
          <a:p>
            <a:fld id="{01E656B4-90FD-0A4F-8DBE-B85ABF5FC91C}" type="datetime1">
              <a:rPr lang="en-US" smtClean="0"/>
              <a:t>7/23/2026</a:t>
            </a:fld>
            <a:endParaRPr lang="en-US"/>
          </a:p>
        </p:txBody>
      </p:sp>
      <p:sp>
        <p:nvSpPr>
          <p:cNvPr id="6" name="Footer Placeholder 5">
            <a:extLst>
              <a:ext uri="{FF2B5EF4-FFF2-40B4-BE49-F238E27FC236}">
                <a16:creationId xmlns:a16="http://schemas.microsoft.com/office/drawing/2014/main" id="{8B9DA5C2-E09C-884C-8DA8-222389B101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50D65F-F9D2-914F-8503-61B3B469FB65}"/>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3207716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6541B-E467-E148-88CE-8DAF5AC34E0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217E00B-38A8-A443-8739-DCF9048A7E4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29A2A1-58B2-0948-BE4A-3BCD5AAA9792}"/>
              </a:ext>
            </a:extLst>
          </p:cNvPr>
          <p:cNvSpPr>
            <a:spLocks noGrp="1"/>
          </p:cNvSpPr>
          <p:nvPr>
            <p:ph type="dt" sz="half" idx="10"/>
          </p:nvPr>
        </p:nvSpPr>
        <p:spPr/>
        <p:txBody>
          <a:bodyPr/>
          <a:lstStyle/>
          <a:p>
            <a:fld id="{EDB61274-1F15-EA40-93D3-4BC61ECCB93D}" type="datetime1">
              <a:rPr lang="en-US" smtClean="0"/>
              <a:t>7/23/2026</a:t>
            </a:fld>
            <a:endParaRPr lang="en-US"/>
          </a:p>
        </p:txBody>
      </p:sp>
      <p:sp>
        <p:nvSpPr>
          <p:cNvPr id="5" name="Footer Placeholder 4">
            <a:extLst>
              <a:ext uri="{FF2B5EF4-FFF2-40B4-BE49-F238E27FC236}">
                <a16:creationId xmlns:a16="http://schemas.microsoft.com/office/drawing/2014/main" id="{664DAC2D-4814-8D4C-8DF1-29C266D11B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F63EDF-3CAD-AA43-A340-424306E5BE4F}"/>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1731734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7AA97A-3649-AD44-919F-132E8CBC257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A1188B4-4FD1-094D-B953-2B345E4F71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0AA260-2036-114D-8F21-44E761C2D0AF}"/>
              </a:ext>
            </a:extLst>
          </p:cNvPr>
          <p:cNvSpPr>
            <a:spLocks noGrp="1"/>
          </p:cNvSpPr>
          <p:nvPr>
            <p:ph type="dt" sz="half" idx="10"/>
          </p:nvPr>
        </p:nvSpPr>
        <p:spPr/>
        <p:txBody>
          <a:bodyPr/>
          <a:lstStyle/>
          <a:p>
            <a:fld id="{C8C284A1-19A6-034D-814C-A159F760189F}" type="datetime1">
              <a:rPr lang="en-US" smtClean="0"/>
              <a:t>7/23/2026</a:t>
            </a:fld>
            <a:endParaRPr lang="en-US"/>
          </a:p>
        </p:txBody>
      </p:sp>
      <p:sp>
        <p:nvSpPr>
          <p:cNvPr id="5" name="Footer Placeholder 4">
            <a:extLst>
              <a:ext uri="{FF2B5EF4-FFF2-40B4-BE49-F238E27FC236}">
                <a16:creationId xmlns:a16="http://schemas.microsoft.com/office/drawing/2014/main" id="{4771FDA6-C06A-9640-8812-E6BC491E97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FE6085-E504-6947-9DE8-BBE0BA9131D2}"/>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161687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3EA77F-5A2B-ED45-AF55-19811C2AC1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572D507-DDC9-E940-8AC6-87B8A768B5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9D1271-3A6D-4F47-9F42-BEBA65019C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91252B-53CD-FD48-8F41-AFAB0984D5BF}" type="datetime1">
              <a:rPr lang="en-US" smtClean="0"/>
              <a:t>7/23/2026</a:t>
            </a:fld>
            <a:endParaRPr lang="en-US"/>
          </a:p>
        </p:txBody>
      </p:sp>
      <p:sp>
        <p:nvSpPr>
          <p:cNvPr id="5" name="Footer Placeholder 4">
            <a:extLst>
              <a:ext uri="{FF2B5EF4-FFF2-40B4-BE49-F238E27FC236}">
                <a16:creationId xmlns:a16="http://schemas.microsoft.com/office/drawing/2014/main" id="{7C9A1370-B33E-034B-8489-5ABBEE195F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B5240A2-DA22-7343-AC6E-1C3776139F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86C454-E1BD-5A43-901A-CA4ACC7380B7}" type="slidenum">
              <a:rPr lang="en-US" smtClean="0"/>
              <a:t>‹#›</a:t>
            </a:fld>
            <a:endParaRPr lang="en-US"/>
          </a:p>
        </p:txBody>
      </p:sp>
    </p:spTree>
    <p:extLst>
      <p:ext uri="{BB962C8B-B14F-4D97-AF65-F5344CB8AC3E}">
        <p14:creationId xmlns:p14="http://schemas.microsoft.com/office/powerpoint/2010/main" val="31029226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vipenrica/HSI" TargetMode="Externa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0.pn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0.png"/><Relationship Id="rId7"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1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0.png"/><Relationship Id="rId7"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4.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51.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6.png"/><Relationship Id="rId7" Type="http://schemas.openxmlformats.org/officeDocument/2006/relationships/image" Target="../media/image51.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50.png"/><Relationship Id="rId11" Type="http://schemas.openxmlformats.org/officeDocument/2006/relationships/image" Target="../media/image55.png"/><Relationship Id="rId5" Type="http://schemas.openxmlformats.org/officeDocument/2006/relationships/image" Target="../media/image49.png"/><Relationship Id="rId10" Type="http://schemas.openxmlformats.org/officeDocument/2006/relationships/image" Target="../media/image54.png"/><Relationship Id="rId4" Type="http://schemas.openxmlformats.org/officeDocument/2006/relationships/image" Target="../media/image10.png"/><Relationship Id="rId9"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9983260-86CF-993A-0BDF-62957C01D82B}"/>
              </a:ext>
            </a:extLst>
          </p:cNvPr>
          <p:cNvSpPr>
            <a:spLocks noGrp="1"/>
          </p:cNvSpPr>
          <p:nvPr>
            <p:ph type="sldNum" sz="quarter" idx="12"/>
          </p:nvPr>
        </p:nvSpPr>
        <p:spPr/>
        <p:txBody>
          <a:bodyPr/>
          <a:lstStyle/>
          <a:p>
            <a:fld id="{2386C454-E1BD-5A43-901A-CA4ACC7380B7}" type="slidenum">
              <a:rPr lang="en-US" smtClean="0"/>
              <a:t>1</a:t>
            </a:fld>
            <a:endParaRPr lang="en-US"/>
          </a:p>
        </p:txBody>
      </p:sp>
      <p:sp>
        <p:nvSpPr>
          <p:cNvPr id="4" name="TextBox 3">
            <a:extLst>
              <a:ext uri="{FF2B5EF4-FFF2-40B4-BE49-F238E27FC236}">
                <a16:creationId xmlns:a16="http://schemas.microsoft.com/office/drawing/2014/main" id="{CCD30784-94DD-8F74-11B1-F012874D34D6}"/>
              </a:ext>
            </a:extLst>
          </p:cNvPr>
          <p:cNvSpPr txBox="1"/>
          <p:nvPr/>
        </p:nvSpPr>
        <p:spPr>
          <a:xfrm>
            <a:off x="866898" y="136525"/>
            <a:ext cx="10497783" cy="707886"/>
          </a:xfrm>
          <a:prstGeom prst="rect">
            <a:avLst/>
          </a:prstGeom>
          <a:noFill/>
        </p:spPr>
        <p:txBody>
          <a:bodyPr wrap="square" rtlCol="0">
            <a:spAutoFit/>
          </a:bodyPr>
          <a:lstStyle/>
          <a:p>
            <a:pPr algn="ctr"/>
            <a:r>
              <a:rPr lang="en-US" sz="4000" b="1" dirty="0">
                <a:gradFill>
                  <a:gsLst>
                    <a:gs pos="0">
                      <a:srgbClr val="007AF3"/>
                    </a:gs>
                    <a:gs pos="37000">
                      <a:srgbClr val="0099FF"/>
                    </a:gs>
                    <a:gs pos="69000">
                      <a:srgbClr val="0099CC"/>
                    </a:gs>
                    <a:gs pos="100000">
                      <a:schemeClr val="accent5">
                        <a:lumMod val="50000"/>
                      </a:schemeClr>
                    </a:gs>
                  </a:gsLst>
                  <a:lin ang="0" scaled="0"/>
                </a:gradFill>
                <a:latin typeface="Arial" panose="020B0604020202020204" pitchFamily="34" charset="0"/>
                <a:cs typeface="Arial" panose="020B0604020202020204" pitchFamily="34" charset="0"/>
              </a:rPr>
              <a:t>Announcements</a:t>
            </a:r>
          </a:p>
        </p:txBody>
      </p:sp>
      <p:sp>
        <p:nvSpPr>
          <p:cNvPr id="5" name="TextBox 4">
            <a:extLst>
              <a:ext uri="{FF2B5EF4-FFF2-40B4-BE49-F238E27FC236}">
                <a16:creationId xmlns:a16="http://schemas.microsoft.com/office/drawing/2014/main" id="{69B9526B-7E5D-DDDF-FF9C-6C83153F588D}"/>
              </a:ext>
            </a:extLst>
          </p:cNvPr>
          <p:cNvSpPr txBox="1"/>
          <p:nvPr/>
        </p:nvSpPr>
        <p:spPr>
          <a:xfrm>
            <a:off x="930876" y="1622854"/>
            <a:ext cx="10761393" cy="1938992"/>
          </a:xfrm>
          <a:prstGeom prst="rect">
            <a:avLst/>
          </a:prstGeom>
          <a:noFill/>
        </p:spPr>
        <p:txBody>
          <a:bodyPr wrap="square" rtlCol="0">
            <a:spAutoFit/>
          </a:bodyPr>
          <a:lstStyle/>
          <a:p>
            <a:pPr marL="457200" indent="-457200">
              <a:buAutoNum type="arabicParenR"/>
            </a:pPr>
            <a:r>
              <a:rPr lang="en-US" sz="2400" dirty="0">
                <a:solidFill>
                  <a:srgbClr val="0099CC"/>
                </a:solidFill>
                <a:latin typeface="Arial" panose="020B0604020202020204" pitchFamily="34" charset="0"/>
                <a:cs typeface="Arial" panose="020B0604020202020204" pitchFamily="34" charset="0"/>
              </a:rPr>
              <a:t>Videos and all class material is posted in the </a:t>
            </a:r>
            <a:r>
              <a:rPr lang="en-US" sz="2400" dirty="0" err="1">
                <a:solidFill>
                  <a:srgbClr val="0099CC"/>
                </a:solidFill>
                <a:latin typeface="Arial" panose="020B0604020202020204" pitchFamily="34" charset="0"/>
                <a:cs typeface="Arial" panose="020B0604020202020204" pitchFamily="34" charset="0"/>
              </a:rPr>
              <a:t>github</a:t>
            </a:r>
            <a:r>
              <a:rPr lang="en-US" sz="2400" dirty="0">
                <a:solidFill>
                  <a:srgbClr val="0099CC"/>
                </a:solidFill>
                <a:latin typeface="Arial" panose="020B0604020202020204" pitchFamily="34" charset="0"/>
                <a:cs typeface="Arial" panose="020B0604020202020204" pitchFamily="34" charset="0"/>
              </a:rPr>
              <a:t> repository </a:t>
            </a:r>
            <a:r>
              <a:rPr lang="en-US" sz="2400" dirty="0">
                <a:solidFill>
                  <a:srgbClr val="0563C1"/>
                </a:solidFill>
                <a:latin typeface="Arial" panose="020B060402020202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https://github.com/vipenrica/</a:t>
            </a:r>
            <a:r>
              <a:rPr lang="en-US" sz="2400" dirty="0">
                <a:solidFill>
                  <a:srgbClr val="0099CC"/>
                </a:solidFill>
                <a:latin typeface="Arial" panose="020B060402020202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HSI</a:t>
            </a:r>
            <a:r>
              <a:rPr lang="en-US" sz="2400" dirty="0">
                <a:solidFill>
                  <a:srgbClr val="0099CC"/>
                </a:solidFill>
                <a:latin typeface="Arial" panose="020B0604020202020204" pitchFamily="34" charset="0"/>
                <a:cs typeface="Arial" panose="020B0604020202020204" pitchFamily="34" charset="0"/>
              </a:rPr>
              <a:t>. Here I will post the slides before class</a:t>
            </a:r>
          </a:p>
          <a:p>
            <a:pPr marL="457200" indent="-457200">
              <a:buAutoNum type="arabicParenR"/>
            </a:pPr>
            <a:endParaRPr lang="en-US" sz="2400" dirty="0">
              <a:solidFill>
                <a:srgbClr val="0099CC"/>
              </a:solidFill>
              <a:latin typeface="Arial" panose="020B0604020202020204" pitchFamily="34" charset="0"/>
              <a:cs typeface="Arial" panose="020B0604020202020204" pitchFamily="34" charset="0"/>
            </a:endParaRPr>
          </a:p>
          <a:p>
            <a:pPr marL="457200" indent="-457200">
              <a:buAutoNum type="arabicParenR"/>
            </a:pPr>
            <a:r>
              <a:rPr lang="en-US" sz="2400" dirty="0">
                <a:solidFill>
                  <a:srgbClr val="0099CC"/>
                </a:solidFill>
                <a:latin typeface="Arial" panose="020B0604020202020204" pitchFamily="34" charset="0"/>
                <a:cs typeface="Arial" panose="020B0604020202020204" pitchFamily="34" charset="0"/>
              </a:rPr>
              <a:t>I will assign one or two homework problems and one class project this year. You can always work in groups if you would like to  </a:t>
            </a:r>
          </a:p>
        </p:txBody>
      </p:sp>
    </p:spTree>
    <p:extLst>
      <p:ext uri="{BB962C8B-B14F-4D97-AF65-F5344CB8AC3E}">
        <p14:creationId xmlns:p14="http://schemas.microsoft.com/office/powerpoint/2010/main" val="3110385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z="1400" smtClean="0"/>
              <a:t>2</a:t>
            </a:fld>
            <a:endParaRPr lang="en-US" sz="1400"/>
          </a:p>
        </p:txBody>
      </p:sp>
      <p:sp>
        <p:nvSpPr>
          <p:cNvPr id="5" name="TextBox 4">
            <a:extLst>
              <a:ext uri="{FF2B5EF4-FFF2-40B4-BE49-F238E27FC236}">
                <a16:creationId xmlns:a16="http://schemas.microsoft.com/office/drawing/2014/main" id="{FE26F3B4-9DA8-7245-8E6E-F1D070C26EBA}"/>
              </a:ext>
            </a:extLst>
          </p:cNvPr>
          <p:cNvSpPr txBox="1"/>
          <p:nvPr/>
        </p:nvSpPr>
        <p:spPr>
          <a:xfrm>
            <a:off x="866898" y="136525"/>
            <a:ext cx="10497783" cy="1323439"/>
          </a:xfrm>
          <a:prstGeom prst="rect">
            <a:avLst/>
          </a:prstGeom>
          <a:noFill/>
        </p:spPr>
        <p:txBody>
          <a:bodyPr wrap="square" rtlCol="0">
            <a:spAutoFit/>
          </a:bodyPr>
          <a:lstStyle/>
          <a:p>
            <a:pPr algn="ctr"/>
            <a:r>
              <a:rPr lang="en-US" sz="4000" b="1" dirty="0">
                <a:latin typeface="Arial" panose="020B0604020202020204" pitchFamily="34" charset="0"/>
                <a:cs typeface="Arial" panose="020B0604020202020204" pitchFamily="34" charset="0"/>
              </a:rPr>
              <a:t>Open Channel Flow-</a:t>
            </a:r>
          </a:p>
          <a:p>
            <a:pPr algn="ctr"/>
            <a:r>
              <a:rPr lang="en-US" sz="4000" b="1" dirty="0">
                <a:latin typeface="Arial" panose="020B0604020202020204" pitchFamily="34" charset="0"/>
                <a:cs typeface="Arial" panose="020B0604020202020204" pitchFamily="34" charset="0"/>
              </a:rPr>
              <a:t>Review</a:t>
            </a:r>
          </a:p>
        </p:txBody>
      </p:sp>
    </p:spTree>
    <p:extLst>
      <p:ext uri="{BB962C8B-B14F-4D97-AF65-F5344CB8AC3E}">
        <p14:creationId xmlns:p14="http://schemas.microsoft.com/office/powerpoint/2010/main" val="2741948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3</a:t>
            </a:fld>
            <a:endParaRPr lang="en-US"/>
          </a:p>
        </p:txBody>
      </p:sp>
      <p:sp>
        <p:nvSpPr>
          <p:cNvPr id="5" name="TextBox 4">
            <a:extLst>
              <a:ext uri="{FF2B5EF4-FFF2-40B4-BE49-F238E27FC236}">
                <a16:creationId xmlns:a16="http://schemas.microsoft.com/office/drawing/2014/main" id="{FE26F3B4-9DA8-7245-8E6E-F1D070C26EBA}"/>
              </a:ext>
            </a:extLst>
          </p:cNvPr>
          <p:cNvSpPr txBox="1"/>
          <p:nvPr/>
        </p:nvSpPr>
        <p:spPr>
          <a:xfrm>
            <a:off x="1472541" y="136525"/>
            <a:ext cx="929837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Cross sectional geometry</a:t>
            </a:r>
          </a:p>
        </p:txBody>
      </p:sp>
      <p:sp>
        <p:nvSpPr>
          <p:cNvPr id="24" name="TextBox 23">
            <a:extLst>
              <a:ext uri="{FF2B5EF4-FFF2-40B4-BE49-F238E27FC236}">
                <a16:creationId xmlns:a16="http://schemas.microsoft.com/office/drawing/2014/main" id="{974FD763-C9F2-F34A-A70B-502115AE228A}"/>
              </a:ext>
            </a:extLst>
          </p:cNvPr>
          <p:cNvSpPr txBox="1"/>
          <p:nvPr/>
        </p:nvSpPr>
        <p:spPr>
          <a:xfrm>
            <a:off x="463138" y="751888"/>
            <a:ext cx="11435937"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Cross sections of river channels have complex geometries</a:t>
            </a:r>
          </a:p>
        </p:txBody>
      </p:sp>
      <p:sp>
        <p:nvSpPr>
          <p:cNvPr id="25" name="Freeform 24">
            <a:extLst>
              <a:ext uri="{FF2B5EF4-FFF2-40B4-BE49-F238E27FC236}">
                <a16:creationId xmlns:a16="http://schemas.microsoft.com/office/drawing/2014/main" id="{8521196E-0C06-9447-B4BB-622178492E13}"/>
              </a:ext>
            </a:extLst>
          </p:cNvPr>
          <p:cNvSpPr/>
          <p:nvPr/>
        </p:nvSpPr>
        <p:spPr>
          <a:xfrm>
            <a:off x="1282535" y="1563360"/>
            <a:ext cx="7956467" cy="569178"/>
          </a:xfrm>
          <a:custGeom>
            <a:avLst/>
            <a:gdLst>
              <a:gd name="connsiteX0" fmla="*/ 0 w 6056415"/>
              <a:gd name="connsiteY0" fmla="*/ 171104 h 669868"/>
              <a:gd name="connsiteX1" fmla="*/ 83127 w 6056415"/>
              <a:gd name="connsiteY1" fmla="*/ 182980 h 669868"/>
              <a:gd name="connsiteX2" fmla="*/ 118753 w 6056415"/>
              <a:gd name="connsiteY2" fmla="*/ 171104 h 669868"/>
              <a:gd name="connsiteX3" fmla="*/ 273132 w 6056415"/>
              <a:gd name="connsiteY3" fmla="*/ 159229 h 669868"/>
              <a:gd name="connsiteX4" fmla="*/ 641267 w 6056415"/>
              <a:gd name="connsiteY4" fmla="*/ 135478 h 669868"/>
              <a:gd name="connsiteX5" fmla="*/ 688768 w 6056415"/>
              <a:gd name="connsiteY5" fmla="*/ 123603 h 669868"/>
              <a:gd name="connsiteX6" fmla="*/ 843148 w 6056415"/>
              <a:gd name="connsiteY6" fmla="*/ 99852 h 669868"/>
              <a:gd name="connsiteX7" fmla="*/ 890649 w 6056415"/>
              <a:gd name="connsiteY7" fmla="*/ 87977 h 669868"/>
              <a:gd name="connsiteX8" fmla="*/ 1009402 w 6056415"/>
              <a:gd name="connsiteY8" fmla="*/ 64226 h 669868"/>
              <a:gd name="connsiteX9" fmla="*/ 1104405 w 6056415"/>
              <a:gd name="connsiteY9" fmla="*/ 40476 h 669868"/>
              <a:gd name="connsiteX10" fmla="*/ 1235033 w 6056415"/>
              <a:gd name="connsiteY10" fmla="*/ 28600 h 669868"/>
              <a:gd name="connsiteX11" fmla="*/ 1615044 w 6056415"/>
              <a:gd name="connsiteY11" fmla="*/ 16725 h 669868"/>
              <a:gd name="connsiteX12" fmla="*/ 1757548 w 6056415"/>
              <a:gd name="connsiteY12" fmla="*/ 87977 h 669868"/>
              <a:gd name="connsiteX13" fmla="*/ 1793174 w 6056415"/>
              <a:gd name="connsiteY13" fmla="*/ 111728 h 669868"/>
              <a:gd name="connsiteX14" fmla="*/ 1828800 w 6056415"/>
              <a:gd name="connsiteY14" fmla="*/ 182980 h 669868"/>
              <a:gd name="connsiteX15" fmla="*/ 1852550 w 6056415"/>
              <a:gd name="connsiteY15" fmla="*/ 218606 h 669868"/>
              <a:gd name="connsiteX16" fmla="*/ 1864426 w 6056415"/>
              <a:gd name="connsiteY16" fmla="*/ 254232 h 669868"/>
              <a:gd name="connsiteX17" fmla="*/ 1911927 w 6056415"/>
              <a:gd name="connsiteY17" fmla="*/ 325484 h 669868"/>
              <a:gd name="connsiteX18" fmla="*/ 1959428 w 6056415"/>
              <a:gd name="connsiteY18" fmla="*/ 396736 h 669868"/>
              <a:gd name="connsiteX19" fmla="*/ 1995054 w 6056415"/>
              <a:gd name="connsiteY19" fmla="*/ 408611 h 669868"/>
              <a:gd name="connsiteX20" fmla="*/ 2066306 w 6056415"/>
              <a:gd name="connsiteY20" fmla="*/ 467987 h 669868"/>
              <a:gd name="connsiteX21" fmla="*/ 2101932 w 6056415"/>
              <a:gd name="connsiteY21" fmla="*/ 539239 h 669868"/>
              <a:gd name="connsiteX22" fmla="*/ 2137558 w 6056415"/>
              <a:gd name="connsiteY22" fmla="*/ 551115 h 669868"/>
              <a:gd name="connsiteX23" fmla="*/ 2244436 w 6056415"/>
              <a:gd name="connsiteY23" fmla="*/ 610491 h 669868"/>
              <a:gd name="connsiteX24" fmla="*/ 2351314 w 6056415"/>
              <a:gd name="connsiteY24" fmla="*/ 657993 h 669868"/>
              <a:gd name="connsiteX25" fmla="*/ 2386940 w 6056415"/>
              <a:gd name="connsiteY25" fmla="*/ 669868 h 669868"/>
              <a:gd name="connsiteX26" fmla="*/ 2612571 w 6056415"/>
              <a:gd name="connsiteY26" fmla="*/ 657993 h 669868"/>
              <a:gd name="connsiteX27" fmla="*/ 2648197 w 6056415"/>
              <a:gd name="connsiteY27" fmla="*/ 646117 h 669868"/>
              <a:gd name="connsiteX28" fmla="*/ 2719449 w 6056415"/>
              <a:gd name="connsiteY28" fmla="*/ 586741 h 669868"/>
              <a:gd name="connsiteX29" fmla="*/ 2826327 w 6056415"/>
              <a:gd name="connsiteY29" fmla="*/ 539239 h 669868"/>
              <a:gd name="connsiteX30" fmla="*/ 2921329 w 6056415"/>
              <a:gd name="connsiteY30" fmla="*/ 527364 h 669868"/>
              <a:gd name="connsiteX31" fmla="*/ 2980706 w 6056415"/>
              <a:gd name="connsiteY31" fmla="*/ 515489 h 669868"/>
              <a:gd name="connsiteX32" fmla="*/ 3158836 w 6056415"/>
              <a:gd name="connsiteY32" fmla="*/ 503613 h 669868"/>
              <a:gd name="connsiteX33" fmla="*/ 3325090 w 6056415"/>
              <a:gd name="connsiteY33" fmla="*/ 467987 h 669868"/>
              <a:gd name="connsiteX34" fmla="*/ 3431968 w 6056415"/>
              <a:gd name="connsiteY34" fmla="*/ 420486 h 669868"/>
              <a:gd name="connsiteX35" fmla="*/ 3467594 w 6056415"/>
              <a:gd name="connsiteY35" fmla="*/ 408611 h 669868"/>
              <a:gd name="connsiteX36" fmla="*/ 3550722 w 6056415"/>
              <a:gd name="connsiteY36" fmla="*/ 384860 h 669868"/>
              <a:gd name="connsiteX37" fmla="*/ 3633849 w 6056415"/>
              <a:gd name="connsiteY37" fmla="*/ 372985 h 669868"/>
              <a:gd name="connsiteX38" fmla="*/ 3705101 w 6056415"/>
              <a:gd name="connsiteY38" fmla="*/ 349234 h 669868"/>
              <a:gd name="connsiteX39" fmla="*/ 3740727 w 6056415"/>
              <a:gd name="connsiteY39" fmla="*/ 325484 h 669868"/>
              <a:gd name="connsiteX40" fmla="*/ 3811979 w 6056415"/>
              <a:gd name="connsiteY40" fmla="*/ 301733 h 669868"/>
              <a:gd name="connsiteX41" fmla="*/ 3883231 w 6056415"/>
              <a:gd name="connsiteY41" fmla="*/ 266107 h 669868"/>
              <a:gd name="connsiteX42" fmla="*/ 3918857 w 6056415"/>
              <a:gd name="connsiteY42" fmla="*/ 242356 h 669868"/>
              <a:gd name="connsiteX43" fmla="*/ 3990109 w 6056415"/>
              <a:gd name="connsiteY43" fmla="*/ 218606 h 669868"/>
              <a:gd name="connsiteX44" fmla="*/ 4061361 w 6056415"/>
              <a:gd name="connsiteY44" fmla="*/ 194855 h 669868"/>
              <a:gd name="connsiteX45" fmla="*/ 4132613 w 6056415"/>
              <a:gd name="connsiteY45" fmla="*/ 171104 h 669868"/>
              <a:gd name="connsiteX46" fmla="*/ 4168239 w 6056415"/>
              <a:gd name="connsiteY46" fmla="*/ 159229 h 669868"/>
              <a:gd name="connsiteX47" fmla="*/ 4215740 w 6056415"/>
              <a:gd name="connsiteY47" fmla="*/ 147354 h 669868"/>
              <a:gd name="connsiteX48" fmla="*/ 4275116 w 6056415"/>
              <a:gd name="connsiteY48" fmla="*/ 135478 h 669868"/>
              <a:gd name="connsiteX49" fmla="*/ 4310742 w 6056415"/>
              <a:gd name="connsiteY49" fmla="*/ 123603 h 669868"/>
              <a:gd name="connsiteX50" fmla="*/ 4429496 w 6056415"/>
              <a:gd name="connsiteY50" fmla="*/ 99852 h 669868"/>
              <a:gd name="connsiteX51" fmla="*/ 4524498 w 6056415"/>
              <a:gd name="connsiteY51" fmla="*/ 76102 h 669868"/>
              <a:gd name="connsiteX52" fmla="*/ 4726379 w 6056415"/>
              <a:gd name="connsiteY52" fmla="*/ 64226 h 669868"/>
              <a:gd name="connsiteX53" fmla="*/ 4833257 w 6056415"/>
              <a:gd name="connsiteY53" fmla="*/ 76102 h 669868"/>
              <a:gd name="connsiteX54" fmla="*/ 4868883 w 6056415"/>
              <a:gd name="connsiteY54" fmla="*/ 87977 h 669868"/>
              <a:gd name="connsiteX55" fmla="*/ 5272644 w 6056415"/>
              <a:gd name="connsiteY55" fmla="*/ 99852 h 669868"/>
              <a:gd name="connsiteX56" fmla="*/ 5605153 w 6056415"/>
              <a:gd name="connsiteY56" fmla="*/ 76102 h 669868"/>
              <a:gd name="connsiteX57" fmla="*/ 5712031 w 6056415"/>
              <a:gd name="connsiteY57" fmla="*/ 64226 h 669868"/>
              <a:gd name="connsiteX58" fmla="*/ 5854535 w 6056415"/>
              <a:gd name="connsiteY58" fmla="*/ 76102 h 669868"/>
              <a:gd name="connsiteX59" fmla="*/ 5961413 w 6056415"/>
              <a:gd name="connsiteY59" fmla="*/ 87977 h 669868"/>
              <a:gd name="connsiteX60" fmla="*/ 6056415 w 6056415"/>
              <a:gd name="connsiteY60" fmla="*/ 87977 h 669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056415" h="669868">
                <a:moveTo>
                  <a:pt x="0" y="171104"/>
                </a:moveTo>
                <a:cubicBezTo>
                  <a:pt x="27709" y="175063"/>
                  <a:pt x="55137" y="182980"/>
                  <a:pt x="83127" y="182980"/>
                </a:cubicBezTo>
                <a:cubicBezTo>
                  <a:pt x="95645" y="182980"/>
                  <a:pt x="106332" y="172657"/>
                  <a:pt x="118753" y="171104"/>
                </a:cubicBezTo>
                <a:cubicBezTo>
                  <a:pt x="169966" y="164702"/>
                  <a:pt x="221672" y="163187"/>
                  <a:pt x="273132" y="159229"/>
                </a:cubicBezTo>
                <a:cubicBezTo>
                  <a:pt x="417825" y="110999"/>
                  <a:pt x="262126" y="159175"/>
                  <a:pt x="641267" y="135478"/>
                </a:cubicBezTo>
                <a:cubicBezTo>
                  <a:pt x="657556" y="134460"/>
                  <a:pt x="672710" y="126522"/>
                  <a:pt x="688768" y="123603"/>
                </a:cubicBezTo>
                <a:cubicBezTo>
                  <a:pt x="814272" y="100785"/>
                  <a:pt x="728338" y="122814"/>
                  <a:pt x="843148" y="99852"/>
                </a:cubicBezTo>
                <a:cubicBezTo>
                  <a:pt x="859152" y="96651"/>
                  <a:pt x="874690" y="91397"/>
                  <a:pt x="890649" y="87977"/>
                </a:cubicBezTo>
                <a:cubicBezTo>
                  <a:pt x="930121" y="79519"/>
                  <a:pt x="971105" y="76991"/>
                  <a:pt x="1009402" y="64226"/>
                </a:cubicBezTo>
                <a:cubicBezTo>
                  <a:pt x="1048181" y="51300"/>
                  <a:pt x="1058546" y="46208"/>
                  <a:pt x="1104405" y="40476"/>
                </a:cubicBezTo>
                <a:cubicBezTo>
                  <a:pt x="1147790" y="35053"/>
                  <a:pt x="1191490" y="32559"/>
                  <a:pt x="1235033" y="28600"/>
                </a:cubicBezTo>
                <a:cubicBezTo>
                  <a:pt x="1422282" y="-18211"/>
                  <a:pt x="1297422" y="3491"/>
                  <a:pt x="1615044" y="16725"/>
                </a:cubicBezTo>
                <a:cubicBezTo>
                  <a:pt x="1713375" y="49502"/>
                  <a:pt x="1665467" y="26589"/>
                  <a:pt x="1757548" y="87977"/>
                </a:cubicBezTo>
                <a:lnTo>
                  <a:pt x="1793174" y="111728"/>
                </a:lnTo>
                <a:cubicBezTo>
                  <a:pt x="1861238" y="213826"/>
                  <a:pt x="1779634" y="84648"/>
                  <a:pt x="1828800" y="182980"/>
                </a:cubicBezTo>
                <a:cubicBezTo>
                  <a:pt x="1835183" y="195745"/>
                  <a:pt x="1846167" y="205841"/>
                  <a:pt x="1852550" y="218606"/>
                </a:cubicBezTo>
                <a:cubicBezTo>
                  <a:pt x="1858148" y="229802"/>
                  <a:pt x="1858347" y="243290"/>
                  <a:pt x="1864426" y="254232"/>
                </a:cubicBezTo>
                <a:cubicBezTo>
                  <a:pt x="1878289" y="279185"/>
                  <a:pt x="1896093" y="301733"/>
                  <a:pt x="1911927" y="325484"/>
                </a:cubicBezTo>
                <a:cubicBezTo>
                  <a:pt x="1911928" y="325485"/>
                  <a:pt x="1959426" y="396735"/>
                  <a:pt x="1959428" y="396736"/>
                </a:cubicBezTo>
                <a:cubicBezTo>
                  <a:pt x="1971303" y="400694"/>
                  <a:pt x="1983858" y="403013"/>
                  <a:pt x="1995054" y="408611"/>
                </a:cubicBezTo>
                <a:cubicBezTo>
                  <a:pt x="2028121" y="425144"/>
                  <a:pt x="2040042" y="441723"/>
                  <a:pt x="2066306" y="467987"/>
                </a:cubicBezTo>
                <a:cubicBezTo>
                  <a:pt x="2074129" y="491457"/>
                  <a:pt x="2081003" y="522496"/>
                  <a:pt x="2101932" y="539239"/>
                </a:cubicBezTo>
                <a:cubicBezTo>
                  <a:pt x="2111707" y="547059"/>
                  <a:pt x="2126616" y="545036"/>
                  <a:pt x="2137558" y="551115"/>
                </a:cubicBezTo>
                <a:cubicBezTo>
                  <a:pt x="2260054" y="619169"/>
                  <a:pt x="2163826" y="583622"/>
                  <a:pt x="2244436" y="610491"/>
                </a:cubicBezTo>
                <a:cubicBezTo>
                  <a:pt x="2300892" y="648129"/>
                  <a:pt x="2266523" y="629729"/>
                  <a:pt x="2351314" y="657993"/>
                </a:cubicBezTo>
                <a:lnTo>
                  <a:pt x="2386940" y="669868"/>
                </a:lnTo>
                <a:cubicBezTo>
                  <a:pt x="2462150" y="665910"/>
                  <a:pt x="2537566" y="664812"/>
                  <a:pt x="2612571" y="657993"/>
                </a:cubicBezTo>
                <a:cubicBezTo>
                  <a:pt x="2625037" y="656860"/>
                  <a:pt x="2637001" y="651715"/>
                  <a:pt x="2648197" y="646117"/>
                </a:cubicBezTo>
                <a:cubicBezTo>
                  <a:pt x="2692425" y="624003"/>
                  <a:pt x="2680051" y="619572"/>
                  <a:pt x="2719449" y="586741"/>
                </a:cubicBezTo>
                <a:cubicBezTo>
                  <a:pt x="2748405" y="562611"/>
                  <a:pt x="2789775" y="543808"/>
                  <a:pt x="2826327" y="539239"/>
                </a:cubicBezTo>
                <a:cubicBezTo>
                  <a:pt x="2857994" y="535281"/>
                  <a:pt x="2889786" y="532217"/>
                  <a:pt x="2921329" y="527364"/>
                </a:cubicBezTo>
                <a:cubicBezTo>
                  <a:pt x="2941279" y="524295"/>
                  <a:pt x="2960622" y="517497"/>
                  <a:pt x="2980706" y="515489"/>
                </a:cubicBezTo>
                <a:cubicBezTo>
                  <a:pt x="3039919" y="509568"/>
                  <a:pt x="3099459" y="507572"/>
                  <a:pt x="3158836" y="503613"/>
                </a:cubicBezTo>
                <a:cubicBezTo>
                  <a:pt x="3293593" y="476662"/>
                  <a:pt x="3238426" y="489654"/>
                  <a:pt x="3325090" y="467987"/>
                </a:cubicBezTo>
                <a:cubicBezTo>
                  <a:pt x="3381546" y="430351"/>
                  <a:pt x="3347177" y="448750"/>
                  <a:pt x="3431968" y="420486"/>
                </a:cubicBezTo>
                <a:lnTo>
                  <a:pt x="3467594" y="408611"/>
                </a:lnTo>
                <a:cubicBezTo>
                  <a:pt x="3498114" y="398438"/>
                  <a:pt x="3517922" y="390824"/>
                  <a:pt x="3550722" y="384860"/>
                </a:cubicBezTo>
                <a:cubicBezTo>
                  <a:pt x="3578261" y="379853"/>
                  <a:pt x="3606140" y="376943"/>
                  <a:pt x="3633849" y="372985"/>
                </a:cubicBezTo>
                <a:cubicBezTo>
                  <a:pt x="3657600" y="365068"/>
                  <a:pt x="3684270" y="363121"/>
                  <a:pt x="3705101" y="349234"/>
                </a:cubicBezTo>
                <a:cubicBezTo>
                  <a:pt x="3716976" y="341317"/>
                  <a:pt x="3727685" y="331280"/>
                  <a:pt x="3740727" y="325484"/>
                </a:cubicBezTo>
                <a:cubicBezTo>
                  <a:pt x="3763605" y="315316"/>
                  <a:pt x="3811979" y="301733"/>
                  <a:pt x="3811979" y="301733"/>
                </a:cubicBezTo>
                <a:cubicBezTo>
                  <a:pt x="3914079" y="233666"/>
                  <a:pt x="3784899" y="315273"/>
                  <a:pt x="3883231" y="266107"/>
                </a:cubicBezTo>
                <a:cubicBezTo>
                  <a:pt x="3895997" y="259724"/>
                  <a:pt x="3905815" y="248153"/>
                  <a:pt x="3918857" y="242356"/>
                </a:cubicBezTo>
                <a:cubicBezTo>
                  <a:pt x="3941735" y="232188"/>
                  <a:pt x="3966358" y="226523"/>
                  <a:pt x="3990109" y="218606"/>
                </a:cubicBezTo>
                <a:lnTo>
                  <a:pt x="4061361" y="194855"/>
                </a:lnTo>
                <a:lnTo>
                  <a:pt x="4132613" y="171104"/>
                </a:lnTo>
                <a:cubicBezTo>
                  <a:pt x="4144488" y="167146"/>
                  <a:pt x="4156095" y="162265"/>
                  <a:pt x="4168239" y="159229"/>
                </a:cubicBezTo>
                <a:cubicBezTo>
                  <a:pt x="4184073" y="155271"/>
                  <a:pt x="4199808" y="150895"/>
                  <a:pt x="4215740" y="147354"/>
                </a:cubicBezTo>
                <a:cubicBezTo>
                  <a:pt x="4235443" y="142975"/>
                  <a:pt x="4255535" y="140373"/>
                  <a:pt x="4275116" y="135478"/>
                </a:cubicBezTo>
                <a:cubicBezTo>
                  <a:pt x="4287260" y="132442"/>
                  <a:pt x="4298545" y="126418"/>
                  <a:pt x="4310742" y="123603"/>
                </a:cubicBezTo>
                <a:cubicBezTo>
                  <a:pt x="4350077" y="114526"/>
                  <a:pt x="4391199" y="112617"/>
                  <a:pt x="4429496" y="99852"/>
                </a:cubicBezTo>
                <a:cubicBezTo>
                  <a:pt x="4464274" y="88260"/>
                  <a:pt x="4485090" y="79685"/>
                  <a:pt x="4524498" y="76102"/>
                </a:cubicBezTo>
                <a:cubicBezTo>
                  <a:pt x="4591631" y="69999"/>
                  <a:pt x="4659085" y="68185"/>
                  <a:pt x="4726379" y="64226"/>
                </a:cubicBezTo>
                <a:cubicBezTo>
                  <a:pt x="4762005" y="68185"/>
                  <a:pt x="4797899" y="70209"/>
                  <a:pt x="4833257" y="76102"/>
                </a:cubicBezTo>
                <a:cubicBezTo>
                  <a:pt x="4845604" y="78160"/>
                  <a:pt x="4856384" y="87301"/>
                  <a:pt x="4868883" y="87977"/>
                </a:cubicBezTo>
                <a:cubicBezTo>
                  <a:pt x="5003332" y="95244"/>
                  <a:pt x="5138057" y="95894"/>
                  <a:pt x="5272644" y="99852"/>
                </a:cubicBezTo>
                <a:cubicBezTo>
                  <a:pt x="5461480" y="72876"/>
                  <a:pt x="5258465" y="99215"/>
                  <a:pt x="5605153" y="76102"/>
                </a:cubicBezTo>
                <a:cubicBezTo>
                  <a:pt x="5640919" y="73718"/>
                  <a:pt x="5676405" y="68185"/>
                  <a:pt x="5712031" y="64226"/>
                </a:cubicBezTo>
                <a:lnTo>
                  <a:pt x="5854535" y="76102"/>
                </a:lnTo>
                <a:cubicBezTo>
                  <a:pt x="5890219" y="79501"/>
                  <a:pt x="5925630" y="85872"/>
                  <a:pt x="5961413" y="87977"/>
                </a:cubicBezTo>
                <a:cubicBezTo>
                  <a:pt x="5993026" y="89837"/>
                  <a:pt x="6024748" y="87977"/>
                  <a:pt x="6056415" y="87977"/>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DFF6F1DD-B126-514E-A631-A08298DA9DBB}"/>
              </a:ext>
            </a:extLst>
          </p:cNvPr>
          <p:cNvSpPr txBox="1"/>
          <p:nvPr/>
        </p:nvSpPr>
        <p:spPr>
          <a:xfrm>
            <a:off x="1472540" y="1200075"/>
            <a:ext cx="1235033"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floodplain</a:t>
            </a:r>
          </a:p>
        </p:txBody>
      </p:sp>
      <p:sp>
        <p:nvSpPr>
          <p:cNvPr id="27" name="TextBox 26">
            <a:extLst>
              <a:ext uri="{FF2B5EF4-FFF2-40B4-BE49-F238E27FC236}">
                <a16:creationId xmlns:a16="http://schemas.microsoft.com/office/drawing/2014/main" id="{15C05478-5B3C-C544-8D7F-576D4E8ED2B6}"/>
              </a:ext>
            </a:extLst>
          </p:cNvPr>
          <p:cNvSpPr txBox="1"/>
          <p:nvPr/>
        </p:nvSpPr>
        <p:spPr>
          <a:xfrm>
            <a:off x="7586353" y="1217639"/>
            <a:ext cx="1235033"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floodplain</a:t>
            </a:r>
          </a:p>
        </p:txBody>
      </p:sp>
      <p:cxnSp>
        <p:nvCxnSpPr>
          <p:cNvPr id="28" name="Straight Connector 27">
            <a:extLst>
              <a:ext uri="{FF2B5EF4-FFF2-40B4-BE49-F238E27FC236}">
                <a16:creationId xmlns:a16="http://schemas.microsoft.com/office/drawing/2014/main" id="{87C1BF9F-A9F8-DA4D-88B4-9FB9D1E5A0FD}"/>
              </a:ext>
            </a:extLst>
          </p:cNvPr>
          <p:cNvCxnSpPr>
            <a:cxnSpLocks/>
            <a:stCxn id="25" idx="14"/>
            <a:endCxn id="25" idx="45"/>
          </p:cNvCxnSpPr>
          <p:nvPr/>
        </p:nvCxnSpPr>
        <p:spPr>
          <a:xfrm flipV="1">
            <a:off x="3685076" y="1708745"/>
            <a:ext cx="3026578" cy="10091"/>
          </a:xfrm>
          <a:prstGeom prst="line">
            <a:avLst/>
          </a:prstGeom>
          <a:ln w="41275">
            <a:solidFill>
              <a:srgbClr val="00B0F0"/>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E7E754AE-89A4-FF40-AA1E-2FB3A3FF1681}"/>
              </a:ext>
            </a:extLst>
          </p:cNvPr>
          <p:cNvSpPr txBox="1"/>
          <p:nvPr/>
        </p:nvSpPr>
        <p:spPr>
          <a:xfrm>
            <a:off x="4306784" y="1285736"/>
            <a:ext cx="1235033"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channel</a:t>
            </a:r>
          </a:p>
        </p:txBody>
      </p:sp>
      <p:sp>
        <p:nvSpPr>
          <p:cNvPr id="30" name="Freeform 29">
            <a:extLst>
              <a:ext uri="{FF2B5EF4-FFF2-40B4-BE49-F238E27FC236}">
                <a16:creationId xmlns:a16="http://schemas.microsoft.com/office/drawing/2014/main" id="{7A2A42EC-BAE2-F843-ABEF-47345D45B054}"/>
              </a:ext>
            </a:extLst>
          </p:cNvPr>
          <p:cNvSpPr/>
          <p:nvPr/>
        </p:nvSpPr>
        <p:spPr>
          <a:xfrm>
            <a:off x="1140031" y="2565745"/>
            <a:ext cx="5890161" cy="522737"/>
          </a:xfrm>
          <a:custGeom>
            <a:avLst/>
            <a:gdLst>
              <a:gd name="connsiteX0" fmla="*/ 0 w 5890161"/>
              <a:gd name="connsiteY0" fmla="*/ 0 h 522737"/>
              <a:gd name="connsiteX1" fmla="*/ 95003 w 5890161"/>
              <a:gd name="connsiteY1" fmla="*/ 11875 h 522737"/>
              <a:gd name="connsiteX2" fmla="*/ 142504 w 5890161"/>
              <a:gd name="connsiteY2" fmla="*/ 23751 h 522737"/>
              <a:gd name="connsiteX3" fmla="*/ 225631 w 5890161"/>
              <a:gd name="connsiteY3" fmla="*/ 35626 h 522737"/>
              <a:gd name="connsiteX4" fmla="*/ 510639 w 5890161"/>
              <a:gd name="connsiteY4" fmla="*/ 23751 h 522737"/>
              <a:gd name="connsiteX5" fmla="*/ 546265 w 5890161"/>
              <a:gd name="connsiteY5" fmla="*/ 11875 h 522737"/>
              <a:gd name="connsiteX6" fmla="*/ 593766 w 5890161"/>
              <a:gd name="connsiteY6" fmla="*/ 0 h 522737"/>
              <a:gd name="connsiteX7" fmla="*/ 1769424 w 5890161"/>
              <a:gd name="connsiteY7" fmla="*/ 11875 h 522737"/>
              <a:gd name="connsiteX8" fmla="*/ 1888177 w 5890161"/>
              <a:gd name="connsiteY8" fmla="*/ 47501 h 522737"/>
              <a:gd name="connsiteX9" fmla="*/ 2030681 w 5890161"/>
              <a:gd name="connsiteY9" fmla="*/ 95003 h 522737"/>
              <a:gd name="connsiteX10" fmla="*/ 2137559 w 5890161"/>
              <a:gd name="connsiteY10" fmla="*/ 130629 h 522737"/>
              <a:gd name="connsiteX11" fmla="*/ 2173185 w 5890161"/>
              <a:gd name="connsiteY11" fmla="*/ 142504 h 522737"/>
              <a:gd name="connsiteX12" fmla="*/ 2232561 w 5890161"/>
              <a:gd name="connsiteY12" fmla="*/ 190005 h 522737"/>
              <a:gd name="connsiteX13" fmla="*/ 2303813 w 5890161"/>
              <a:gd name="connsiteY13" fmla="*/ 237506 h 522737"/>
              <a:gd name="connsiteX14" fmla="*/ 2339439 w 5890161"/>
              <a:gd name="connsiteY14" fmla="*/ 261257 h 522737"/>
              <a:gd name="connsiteX15" fmla="*/ 2375065 w 5890161"/>
              <a:gd name="connsiteY15" fmla="*/ 296883 h 522737"/>
              <a:gd name="connsiteX16" fmla="*/ 2458192 w 5890161"/>
              <a:gd name="connsiteY16" fmla="*/ 380010 h 522737"/>
              <a:gd name="connsiteX17" fmla="*/ 2529444 w 5890161"/>
              <a:gd name="connsiteY17" fmla="*/ 403761 h 522737"/>
              <a:gd name="connsiteX18" fmla="*/ 2565070 w 5890161"/>
              <a:gd name="connsiteY18" fmla="*/ 415636 h 522737"/>
              <a:gd name="connsiteX19" fmla="*/ 2600696 w 5890161"/>
              <a:gd name="connsiteY19" fmla="*/ 439387 h 522737"/>
              <a:gd name="connsiteX20" fmla="*/ 2624447 w 5890161"/>
              <a:gd name="connsiteY20" fmla="*/ 475013 h 522737"/>
              <a:gd name="connsiteX21" fmla="*/ 2695699 w 5890161"/>
              <a:gd name="connsiteY21" fmla="*/ 522514 h 522737"/>
              <a:gd name="connsiteX22" fmla="*/ 3051959 w 5890161"/>
              <a:gd name="connsiteY22" fmla="*/ 510639 h 522737"/>
              <a:gd name="connsiteX23" fmla="*/ 3194463 w 5890161"/>
              <a:gd name="connsiteY23" fmla="*/ 498764 h 522737"/>
              <a:gd name="connsiteX24" fmla="*/ 3218213 w 5890161"/>
              <a:gd name="connsiteY24" fmla="*/ 463138 h 522737"/>
              <a:gd name="connsiteX25" fmla="*/ 3253839 w 5890161"/>
              <a:gd name="connsiteY25" fmla="*/ 427512 h 522737"/>
              <a:gd name="connsiteX26" fmla="*/ 3360717 w 5890161"/>
              <a:gd name="connsiteY26" fmla="*/ 391886 h 522737"/>
              <a:gd name="connsiteX27" fmla="*/ 3396343 w 5890161"/>
              <a:gd name="connsiteY27" fmla="*/ 380010 h 522737"/>
              <a:gd name="connsiteX28" fmla="*/ 3420094 w 5890161"/>
              <a:gd name="connsiteY28" fmla="*/ 344384 h 522737"/>
              <a:gd name="connsiteX29" fmla="*/ 3455720 w 5890161"/>
              <a:gd name="connsiteY29" fmla="*/ 308758 h 522737"/>
              <a:gd name="connsiteX30" fmla="*/ 3479470 w 5890161"/>
              <a:gd name="connsiteY30" fmla="*/ 237506 h 522737"/>
              <a:gd name="connsiteX31" fmla="*/ 3586348 w 5890161"/>
              <a:gd name="connsiteY31" fmla="*/ 166254 h 522737"/>
              <a:gd name="connsiteX32" fmla="*/ 3621974 w 5890161"/>
              <a:gd name="connsiteY32" fmla="*/ 142504 h 522737"/>
              <a:gd name="connsiteX33" fmla="*/ 3657600 w 5890161"/>
              <a:gd name="connsiteY33" fmla="*/ 106878 h 522737"/>
              <a:gd name="connsiteX34" fmla="*/ 3776353 w 5890161"/>
              <a:gd name="connsiteY34" fmla="*/ 118753 h 522737"/>
              <a:gd name="connsiteX35" fmla="*/ 3847605 w 5890161"/>
              <a:gd name="connsiteY35" fmla="*/ 142504 h 522737"/>
              <a:gd name="connsiteX36" fmla="*/ 3871356 w 5890161"/>
              <a:gd name="connsiteY36" fmla="*/ 178130 h 522737"/>
              <a:gd name="connsiteX37" fmla="*/ 3883231 w 5890161"/>
              <a:gd name="connsiteY37" fmla="*/ 213756 h 522737"/>
              <a:gd name="connsiteX38" fmla="*/ 3918857 w 5890161"/>
              <a:gd name="connsiteY38" fmla="*/ 249382 h 522737"/>
              <a:gd name="connsiteX39" fmla="*/ 3942608 w 5890161"/>
              <a:gd name="connsiteY39" fmla="*/ 285008 h 522737"/>
              <a:gd name="connsiteX40" fmla="*/ 3978234 w 5890161"/>
              <a:gd name="connsiteY40" fmla="*/ 296883 h 522737"/>
              <a:gd name="connsiteX41" fmla="*/ 4085112 w 5890161"/>
              <a:gd name="connsiteY41" fmla="*/ 344384 h 522737"/>
              <a:gd name="connsiteX42" fmla="*/ 4120738 w 5890161"/>
              <a:gd name="connsiteY42" fmla="*/ 356260 h 522737"/>
              <a:gd name="connsiteX43" fmla="*/ 4156364 w 5890161"/>
              <a:gd name="connsiteY43" fmla="*/ 368135 h 522737"/>
              <a:gd name="connsiteX44" fmla="*/ 4191990 w 5890161"/>
              <a:gd name="connsiteY44" fmla="*/ 403761 h 522737"/>
              <a:gd name="connsiteX45" fmla="*/ 4227616 w 5890161"/>
              <a:gd name="connsiteY45" fmla="*/ 427512 h 522737"/>
              <a:gd name="connsiteX46" fmla="*/ 4251366 w 5890161"/>
              <a:gd name="connsiteY46" fmla="*/ 463138 h 522737"/>
              <a:gd name="connsiteX47" fmla="*/ 4465122 w 5890161"/>
              <a:gd name="connsiteY47" fmla="*/ 498764 h 522737"/>
              <a:gd name="connsiteX48" fmla="*/ 4595751 w 5890161"/>
              <a:gd name="connsiteY48" fmla="*/ 522514 h 522737"/>
              <a:gd name="connsiteX49" fmla="*/ 4714504 w 5890161"/>
              <a:gd name="connsiteY49" fmla="*/ 510639 h 522737"/>
              <a:gd name="connsiteX50" fmla="*/ 5094514 w 5890161"/>
              <a:gd name="connsiteY50" fmla="*/ 510639 h 522737"/>
              <a:gd name="connsiteX51" fmla="*/ 5165766 w 5890161"/>
              <a:gd name="connsiteY51" fmla="*/ 486888 h 522737"/>
              <a:gd name="connsiteX52" fmla="*/ 5201392 w 5890161"/>
              <a:gd name="connsiteY52" fmla="*/ 475013 h 522737"/>
              <a:gd name="connsiteX53" fmla="*/ 5272644 w 5890161"/>
              <a:gd name="connsiteY53" fmla="*/ 439387 h 522737"/>
              <a:gd name="connsiteX54" fmla="*/ 5343896 w 5890161"/>
              <a:gd name="connsiteY54" fmla="*/ 403761 h 522737"/>
              <a:gd name="connsiteX55" fmla="*/ 5403273 w 5890161"/>
              <a:gd name="connsiteY55" fmla="*/ 344384 h 522737"/>
              <a:gd name="connsiteX56" fmla="*/ 5462650 w 5890161"/>
              <a:gd name="connsiteY56" fmla="*/ 285008 h 522737"/>
              <a:gd name="connsiteX57" fmla="*/ 5522026 w 5890161"/>
              <a:gd name="connsiteY57" fmla="*/ 225631 h 522737"/>
              <a:gd name="connsiteX58" fmla="*/ 5593278 w 5890161"/>
              <a:gd name="connsiteY58" fmla="*/ 201880 h 522737"/>
              <a:gd name="connsiteX59" fmla="*/ 5628904 w 5890161"/>
              <a:gd name="connsiteY59" fmla="*/ 178130 h 522737"/>
              <a:gd name="connsiteX60" fmla="*/ 5735782 w 5890161"/>
              <a:gd name="connsiteY60" fmla="*/ 142504 h 522737"/>
              <a:gd name="connsiteX61" fmla="*/ 5771408 w 5890161"/>
              <a:gd name="connsiteY61" fmla="*/ 130629 h 522737"/>
              <a:gd name="connsiteX62" fmla="*/ 5807034 w 5890161"/>
              <a:gd name="connsiteY62" fmla="*/ 106878 h 522737"/>
              <a:gd name="connsiteX63" fmla="*/ 5890161 w 5890161"/>
              <a:gd name="connsiteY63" fmla="*/ 71252 h 522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5890161" h="522737">
                <a:moveTo>
                  <a:pt x="0" y="0"/>
                </a:moveTo>
                <a:cubicBezTo>
                  <a:pt x="31668" y="3958"/>
                  <a:pt x="63523" y="6628"/>
                  <a:pt x="95003" y="11875"/>
                </a:cubicBezTo>
                <a:cubicBezTo>
                  <a:pt x="111102" y="14558"/>
                  <a:pt x="126446" y="20831"/>
                  <a:pt x="142504" y="23751"/>
                </a:cubicBezTo>
                <a:cubicBezTo>
                  <a:pt x="170043" y="28758"/>
                  <a:pt x="197922" y="31668"/>
                  <a:pt x="225631" y="35626"/>
                </a:cubicBezTo>
                <a:cubicBezTo>
                  <a:pt x="320634" y="31668"/>
                  <a:pt x="415814" y="30775"/>
                  <a:pt x="510639" y="23751"/>
                </a:cubicBezTo>
                <a:cubicBezTo>
                  <a:pt x="523123" y="22826"/>
                  <a:pt x="534229" y="15314"/>
                  <a:pt x="546265" y="11875"/>
                </a:cubicBezTo>
                <a:cubicBezTo>
                  <a:pt x="561958" y="7391"/>
                  <a:pt x="577932" y="3958"/>
                  <a:pt x="593766" y="0"/>
                </a:cubicBezTo>
                <a:lnTo>
                  <a:pt x="1769424" y="11875"/>
                </a:lnTo>
                <a:cubicBezTo>
                  <a:pt x="1788476" y="12245"/>
                  <a:pt x="1882336" y="45554"/>
                  <a:pt x="1888177" y="47501"/>
                </a:cubicBezTo>
                <a:lnTo>
                  <a:pt x="2030681" y="95003"/>
                </a:lnTo>
                <a:lnTo>
                  <a:pt x="2137559" y="130629"/>
                </a:lnTo>
                <a:lnTo>
                  <a:pt x="2173185" y="142504"/>
                </a:lnTo>
                <a:cubicBezTo>
                  <a:pt x="2217068" y="208330"/>
                  <a:pt x="2171827" y="156264"/>
                  <a:pt x="2232561" y="190005"/>
                </a:cubicBezTo>
                <a:cubicBezTo>
                  <a:pt x="2257514" y="203867"/>
                  <a:pt x="2280062" y="221672"/>
                  <a:pt x="2303813" y="237506"/>
                </a:cubicBezTo>
                <a:cubicBezTo>
                  <a:pt x="2315688" y="245423"/>
                  <a:pt x="2329347" y="251165"/>
                  <a:pt x="2339439" y="261257"/>
                </a:cubicBezTo>
                <a:lnTo>
                  <a:pt x="2375065" y="296883"/>
                </a:lnTo>
                <a:cubicBezTo>
                  <a:pt x="2391490" y="346159"/>
                  <a:pt x="2386732" y="356190"/>
                  <a:pt x="2458192" y="380010"/>
                </a:cubicBezTo>
                <a:lnTo>
                  <a:pt x="2529444" y="403761"/>
                </a:lnTo>
                <a:lnTo>
                  <a:pt x="2565070" y="415636"/>
                </a:lnTo>
                <a:cubicBezTo>
                  <a:pt x="2576945" y="423553"/>
                  <a:pt x="2590604" y="429295"/>
                  <a:pt x="2600696" y="439387"/>
                </a:cubicBezTo>
                <a:cubicBezTo>
                  <a:pt x="2610788" y="449479"/>
                  <a:pt x="2613706" y="465615"/>
                  <a:pt x="2624447" y="475013"/>
                </a:cubicBezTo>
                <a:cubicBezTo>
                  <a:pt x="2645929" y="493810"/>
                  <a:pt x="2695699" y="522514"/>
                  <a:pt x="2695699" y="522514"/>
                </a:cubicBezTo>
                <a:lnTo>
                  <a:pt x="3051959" y="510639"/>
                </a:lnTo>
                <a:cubicBezTo>
                  <a:pt x="3099571" y="508372"/>
                  <a:pt x="3148631" y="511859"/>
                  <a:pt x="3194463" y="498764"/>
                </a:cubicBezTo>
                <a:cubicBezTo>
                  <a:pt x="3208186" y="494843"/>
                  <a:pt x="3209076" y="474102"/>
                  <a:pt x="3218213" y="463138"/>
                </a:cubicBezTo>
                <a:cubicBezTo>
                  <a:pt x="3228964" y="450236"/>
                  <a:pt x="3239158" y="435668"/>
                  <a:pt x="3253839" y="427512"/>
                </a:cubicBezTo>
                <a:cubicBezTo>
                  <a:pt x="3253847" y="427508"/>
                  <a:pt x="3342900" y="397825"/>
                  <a:pt x="3360717" y="391886"/>
                </a:cubicBezTo>
                <a:lnTo>
                  <a:pt x="3396343" y="380010"/>
                </a:lnTo>
                <a:cubicBezTo>
                  <a:pt x="3404260" y="368135"/>
                  <a:pt x="3410957" y="355348"/>
                  <a:pt x="3420094" y="344384"/>
                </a:cubicBezTo>
                <a:cubicBezTo>
                  <a:pt x="3430845" y="331482"/>
                  <a:pt x="3447564" y="323439"/>
                  <a:pt x="3455720" y="308758"/>
                </a:cubicBezTo>
                <a:cubicBezTo>
                  <a:pt x="3467878" y="286873"/>
                  <a:pt x="3458639" y="251393"/>
                  <a:pt x="3479470" y="237506"/>
                </a:cubicBezTo>
                <a:lnTo>
                  <a:pt x="3586348" y="166254"/>
                </a:lnTo>
                <a:cubicBezTo>
                  <a:pt x="3598223" y="158337"/>
                  <a:pt x="3611882" y="152596"/>
                  <a:pt x="3621974" y="142504"/>
                </a:cubicBezTo>
                <a:lnTo>
                  <a:pt x="3657600" y="106878"/>
                </a:lnTo>
                <a:cubicBezTo>
                  <a:pt x="3697184" y="110836"/>
                  <a:pt x="3737253" y="111422"/>
                  <a:pt x="3776353" y="118753"/>
                </a:cubicBezTo>
                <a:cubicBezTo>
                  <a:pt x="3800960" y="123367"/>
                  <a:pt x="3847605" y="142504"/>
                  <a:pt x="3847605" y="142504"/>
                </a:cubicBezTo>
                <a:cubicBezTo>
                  <a:pt x="3855522" y="154379"/>
                  <a:pt x="3864973" y="165364"/>
                  <a:pt x="3871356" y="178130"/>
                </a:cubicBezTo>
                <a:cubicBezTo>
                  <a:pt x="3876954" y="189326"/>
                  <a:pt x="3876287" y="203341"/>
                  <a:pt x="3883231" y="213756"/>
                </a:cubicBezTo>
                <a:cubicBezTo>
                  <a:pt x="3892547" y="227730"/>
                  <a:pt x="3908106" y="236480"/>
                  <a:pt x="3918857" y="249382"/>
                </a:cubicBezTo>
                <a:cubicBezTo>
                  <a:pt x="3927994" y="260346"/>
                  <a:pt x="3931463" y="276092"/>
                  <a:pt x="3942608" y="285008"/>
                </a:cubicBezTo>
                <a:cubicBezTo>
                  <a:pt x="3952383" y="292828"/>
                  <a:pt x="3966359" y="292925"/>
                  <a:pt x="3978234" y="296883"/>
                </a:cubicBezTo>
                <a:cubicBezTo>
                  <a:pt x="4034692" y="334522"/>
                  <a:pt x="4000318" y="316119"/>
                  <a:pt x="4085112" y="344384"/>
                </a:cubicBezTo>
                <a:lnTo>
                  <a:pt x="4120738" y="356260"/>
                </a:lnTo>
                <a:lnTo>
                  <a:pt x="4156364" y="368135"/>
                </a:lnTo>
                <a:cubicBezTo>
                  <a:pt x="4168239" y="380010"/>
                  <a:pt x="4179088" y="393010"/>
                  <a:pt x="4191990" y="403761"/>
                </a:cubicBezTo>
                <a:cubicBezTo>
                  <a:pt x="4202954" y="412898"/>
                  <a:pt x="4217524" y="417420"/>
                  <a:pt x="4227616" y="427512"/>
                </a:cubicBezTo>
                <a:cubicBezTo>
                  <a:pt x="4237708" y="437604"/>
                  <a:pt x="4239263" y="455574"/>
                  <a:pt x="4251366" y="463138"/>
                </a:cubicBezTo>
                <a:cubicBezTo>
                  <a:pt x="4306185" y="497399"/>
                  <a:pt x="4415054" y="493494"/>
                  <a:pt x="4465122" y="498764"/>
                </a:cubicBezTo>
                <a:cubicBezTo>
                  <a:pt x="4538622" y="506501"/>
                  <a:pt x="4536130" y="507609"/>
                  <a:pt x="4595751" y="522514"/>
                </a:cubicBezTo>
                <a:cubicBezTo>
                  <a:pt x="4635335" y="518556"/>
                  <a:pt x="4674722" y="510639"/>
                  <a:pt x="4714504" y="510639"/>
                </a:cubicBezTo>
                <a:cubicBezTo>
                  <a:pt x="5144338" y="510639"/>
                  <a:pt x="4849514" y="537861"/>
                  <a:pt x="5094514" y="510639"/>
                </a:cubicBezTo>
                <a:lnTo>
                  <a:pt x="5165766" y="486888"/>
                </a:lnTo>
                <a:lnTo>
                  <a:pt x="5201392" y="475013"/>
                </a:lnTo>
                <a:cubicBezTo>
                  <a:pt x="5303492" y="406946"/>
                  <a:pt x="5174312" y="488553"/>
                  <a:pt x="5272644" y="439387"/>
                </a:cubicBezTo>
                <a:cubicBezTo>
                  <a:pt x="5364727" y="393346"/>
                  <a:pt x="5254349" y="433609"/>
                  <a:pt x="5343896" y="403761"/>
                </a:cubicBezTo>
                <a:cubicBezTo>
                  <a:pt x="5407232" y="308758"/>
                  <a:pt x="5324104" y="423553"/>
                  <a:pt x="5403273" y="344384"/>
                </a:cubicBezTo>
                <a:cubicBezTo>
                  <a:pt x="5482438" y="265219"/>
                  <a:pt x="5367652" y="348338"/>
                  <a:pt x="5462650" y="285008"/>
                </a:cubicBezTo>
                <a:cubicBezTo>
                  <a:pt x="5484317" y="252507"/>
                  <a:pt x="5484525" y="242298"/>
                  <a:pt x="5522026" y="225631"/>
                </a:cubicBezTo>
                <a:cubicBezTo>
                  <a:pt x="5544904" y="215463"/>
                  <a:pt x="5572447" y="215767"/>
                  <a:pt x="5593278" y="201880"/>
                </a:cubicBezTo>
                <a:cubicBezTo>
                  <a:pt x="5605153" y="193963"/>
                  <a:pt x="5615862" y="183926"/>
                  <a:pt x="5628904" y="178130"/>
                </a:cubicBezTo>
                <a:cubicBezTo>
                  <a:pt x="5628914" y="178125"/>
                  <a:pt x="5717963" y="148443"/>
                  <a:pt x="5735782" y="142504"/>
                </a:cubicBezTo>
                <a:lnTo>
                  <a:pt x="5771408" y="130629"/>
                </a:lnTo>
                <a:cubicBezTo>
                  <a:pt x="5783283" y="122712"/>
                  <a:pt x="5793992" y="112675"/>
                  <a:pt x="5807034" y="106878"/>
                </a:cubicBezTo>
                <a:cubicBezTo>
                  <a:pt x="5898910" y="66044"/>
                  <a:pt x="5857159" y="104254"/>
                  <a:pt x="5890161" y="71252"/>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a:extLst>
              <a:ext uri="{FF2B5EF4-FFF2-40B4-BE49-F238E27FC236}">
                <a16:creationId xmlns:a16="http://schemas.microsoft.com/office/drawing/2014/main" id="{A9673FFE-1965-474D-BB51-EBE28C8D9FE5}"/>
              </a:ext>
            </a:extLst>
          </p:cNvPr>
          <p:cNvSpPr/>
          <p:nvPr/>
        </p:nvSpPr>
        <p:spPr>
          <a:xfrm>
            <a:off x="6982691" y="2328239"/>
            <a:ext cx="3004457" cy="332887"/>
          </a:xfrm>
          <a:custGeom>
            <a:avLst/>
            <a:gdLst>
              <a:gd name="connsiteX0" fmla="*/ 0 w 3004457"/>
              <a:gd name="connsiteY0" fmla="*/ 320634 h 332887"/>
              <a:gd name="connsiteX1" fmla="*/ 118753 w 3004457"/>
              <a:gd name="connsiteY1" fmla="*/ 332510 h 332887"/>
              <a:gd name="connsiteX2" fmla="*/ 190005 w 3004457"/>
              <a:gd name="connsiteY2" fmla="*/ 308759 h 332887"/>
              <a:gd name="connsiteX3" fmla="*/ 225631 w 3004457"/>
              <a:gd name="connsiteY3" fmla="*/ 296884 h 332887"/>
              <a:gd name="connsiteX4" fmla="*/ 308758 w 3004457"/>
              <a:gd name="connsiteY4" fmla="*/ 273133 h 332887"/>
              <a:gd name="connsiteX5" fmla="*/ 380010 w 3004457"/>
              <a:gd name="connsiteY5" fmla="*/ 249382 h 332887"/>
              <a:gd name="connsiteX6" fmla="*/ 415636 w 3004457"/>
              <a:gd name="connsiteY6" fmla="*/ 237507 h 332887"/>
              <a:gd name="connsiteX7" fmla="*/ 486888 w 3004457"/>
              <a:gd name="connsiteY7" fmla="*/ 213756 h 332887"/>
              <a:gd name="connsiteX8" fmla="*/ 522514 w 3004457"/>
              <a:gd name="connsiteY8" fmla="*/ 201881 h 332887"/>
              <a:gd name="connsiteX9" fmla="*/ 581891 w 3004457"/>
              <a:gd name="connsiteY9" fmla="*/ 190006 h 332887"/>
              <a:gd name="connsiteX10" fmla="*/ 653143 w 3004457"/>
              <a:gd name="connsiteY10" fmla="*/ 166255 h 332887"/>
              <a:gd name="connsiteX11" fmla="*/ 688769 w 3004457"/>
              <a:gd name="connsiteY11" fmla="*/ 154380 h 332887"/>
              <a:gd name="connsiteX12" fmla="*/ 736270 w 3004457"/>
              <a:gd name="connsiteY12" fmla="*/ 142504 h 332887"/>
              <a:gd name="connsiteX13" fmla="*/ 807522 w 3004457"/>
              <a:gd name="connsiteY13" fmla="*/ 118754 h 332887"/>
              <a:gd name="connsiteX14" fmla="*/ 855023 w 3004457"/>
              <a:gd name="connsiteY14" fmla="*/ 106878 h 332887"/>
              <a:gd name="connsiteX15" fmla="*/ 890649 w 3004457"/>
              <a:gd name="connsiteY15" fmla="*/ 95003 h 332887"/>
              <a:gd name="connsiteX16" fmla="*/ 1021278 w 3004457"/>
              <a:gd name="connsiteY16" fmla="*/ 71252 h 332887"/>
              <a:gd name="connsiteX17" fmla="*/ 1092530 w 3004457"/>
              <a:gd name="connsiteY17" fmla="*/ 59377 h 332887"/>
              <a:gd name="connsiteX18" fmla="*/ 1128156 w 3004457"/>
              <a:gd name="connsiteY18" fmla="*/ 47502 h 332887"/>
              <a:gd name="connsiteX19" fmla="*/ 1258784 w 3004457"/>
              <a:gd name="connsiteY19" fmla="*/ 35626 h 332887"/>
              <a:gd name="connsiteX20" fmla="*/ 2398815 w 3004457"/>
              <a:gd name="connsiteY20" fmla="*/ 47502 h 332887"/>
              <a:gd name="connsiteX21" fmla="*/ 2470067 w 3004457"/>
              <a:gd name="connsiteY21" fmla="*/ 71252 h 332887"/>
              <a:gd name="connsiteX22" fmla="*/ 2505693 w 3004457"/>
              <a:gd name="connsiteY22" fmla="*/ 83128 h 332887"/>
              <a:gd name="connsiteX23" fmla="*/ 2802577 w 3004457"/>
              <a:gd name="connsiteY23" fmla="*/ 71252 h 332887"/>
              <a:gd name="connsiteX24" fmla="*/ 2873828 w 3004457"/>
              <a:gd name="connsiteY24" fmla="*/ 47502 h 332887"/>
              <a:gd name="connsiteX25" fmla="*/ 2945080 w 3004457"/>
              <a:gd name="connsiteY25" fmla="*/ 23751 h 332887"/>
              <a:gd name="connsiteX26" fmla="*/ 2980706 w 3004457"/>
              <a:gd name="connsiteY26" fmla="*/ 11876 h 332887"/>
              <a:gd name="connsiteX27" fmla="*/ 3004457 w 3004457"/>
              <a:gd name="connsiteY27" fmla="*/ 0 h 332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004457" h="332887">
                <a:moveTo>
                  <a:pt x="0" y="320634"/>
                </a:moveTo>
                <a:cubicBezTo>
                  <a:pt x="39584" y="324593"/>
                  <a:pt x="79049" y="334991"/>
                  <a:pt x="118753" y="332510"/>
                </a:cubicBezTo>
                <a:cubicBezTo>
                  <a:pt x="143740" y="330948"/>
                  <a:pt x="166254" y="316676"/>
                  <a:pt x="190005" y="308759"/>
                </a:cubicBezTo>
                <a:lnTo>
                  <a:pt x="225631" y="296884"/>
                </a:lnTo>
                <a:cubicBezTo>
                  <a:pt x="345382" y="256967"/>
                  <a:pt x="159617" y="317876"/>
                  <a:pt x="308758" y="273133"/>
                </a:cubicBezTo>
                <a:cubicBezTo>
                  <a:pt x="332738" y="265939"/>
                  <a:pt x="356259" y="257299"/>
                  <a:pt x="380010" y="249382"/>
                </a:cubicBezTo>
                <a:lnTo>
                  <a:pt x="415636" y="237507"/>
                </a:lnTo>
                <a:lnTo>
                  <a:pt x="486888" y="213756"/>
                </a:lnTo>
                <a:cubicBezTo>
                  <a:pt x="498763" y="209798"/>
                  <a:pt x="510239" y="204336"/>
                  <a:pt x="522514" y="201881"/>
                </a:cubicBezTo>
                <a:cubicBezTo>
                  <a:pt x="542306" y="197923"/>
                  <a:pt x="562418" y="195317"/>
                  <a:pt x="581891" y="190006"/>
                </a:cubicBezTo>
                <a:cubicBezTo>
                  <a:pt x="606044" y="183419"/>
                  <a:pt x="629392" y="174172"/>
                  <a:pt x="653143" y="166255"/>
                </a:cubicBezTo>
                <a:cubicBezTo>
                  <a:pt x="665018" y="162297"/>
                  <a:pt x="676625" y="157416"/>
                  <a:pt x="688769" y="154380"/>
                </a:cubicBezTo>
                <a:cubicBezTo>
                  <a:pt x="704603" y="150421"/>
                  <a:pt x="720637" y="147194"/>
                  <a:pt x="736270" y="142504"/>
                </a:cubicBezTo>
                <a:cubicBezTo>
                  <a:pt x="760249" y="135310"/>
                  <a:pt x="783234" y="124826"/>
                  <a:pt x="807522" y="118754"/>
                </a:cubicBezTo>
                <a:cubicBezTo>
                  <a:pt x="823356" y="114795"/>
                  <a:pt x="839330" y="111362"/>
                  <a:pt x="855023" y="106878"/>
                </a:cubicBezTo>
                <a:cubicBezTo>
                  <a:pt x="867059" y="103439"/>
                  <a:pt x="878613" y="98442"/>
                  <a:pt x="890649" y="95003"/>
                </a:cubicBezTo>
                <a:cubicBezTo>
                  <a:pt x="949906" y="78073"/>
                  <a:pt x="948403" y="82464"/>
                  <a:pt x="1021278" y="71252"/>
                </a:cubicBezTo>
                <a:cubicBezTo>
                  <a:pt x="1045076" y="67591"/>
                  <a:pt x="1069025" y="64600"/>
                  <a:pt x="1092530" y="59377"/>
                </a:cubicBezTo>
                <a:cubicBezTo>
                  <a:pt x="1104750" y="56662"/>
                  <a:pt x="1115764" y="49272"/>
                  <a:pt x="1128156" y="47502"/>
                </a:cubicBezTo>
                <a:cubicBezTo>
                  <a:pt x="1171439" y="41319"/>
                  <a:pt x="1215241" y="39585"/>
                  <a:pt x="1258784" y="35626"/>
                </a:cubicBezTo>
                <a:lnTo>
                  <a:pt x="2398815" y="47502"/>
                </a:lnTo>
                <a:cubicBezTo>
                  <a:pt x="2423840" y="48238"/>
                  <a:pt x="2446316" y="63335"/>
                  <a:pt x="2470067" y="71252"/>
                </a:cubicBezTo>
                <a:lnTo>
                  <a:pt x="2505693" y="83128"/>
                </a:lnTo>
                <a:cubicBezTo>
                  <a:pt x="2604654" y="79169"/>
                  <a:pt x="2703997" y="80792"/>
                  <a:pt x="2802577" y="71252"/>
                </a:cubicBezTo>
                <a:cubicBezTo>
                  <a:pt x="2827496" y="68841"/>
                  <a:pt x="2850078" y="55419"/>
                  <a:pt x="2873828" y="47502"/>
                </a:cubicBezTo>
                <a:lnTo>
                  <a:pt x="2945080" y="23751"/>
                </a:lnTo>
                <a:cubicBezTo>
                  <a:pt x="2956955" y="19793"/>
                  <a:pt x="2969510" y="17474"/>
                  <a:pt x="2980706" y="11876"/>
                </a:cubicBezTo>
                <a:lnTo>
                  <a:pt x="3004457" y="0"/>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33B35D18-BD82-5F44-8F47-949BE00B1CB9}"/>
              </a:ext>
            </a:extLst>
          </p:cNvPr>
          <p:cNvCxnSpPr>
            <a:cxnSpLocks/>
            <a:stCxn id="30" idx="14"/>
            <a:endCxn id="30" idx="30"/>
          </p:cNvCxnSpPr>
          <p:nvPr/>
        </p:nvCxnSpPr>
        <p:spPr>
          <a:xfrm flipV="1">
            <a:off x="3479470" y="2803251"/>
            <a:ext cx="1140031" cy="0"/>
          </a:xfrm>
          <a:prstGeom prst="line">
            <a:avLst/>
          </a:prstGeom>
          <a:ln w="412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881F5DB-8673-8447-9C99-66D98E097F05}"/>
              </a:ext>
            </a:extLst>
          </p:cNvPr>
          <p:cNvCxnSpPr>
            <a:cxnSpLocks/>
            <a:endCxn id="30" idx="58"/>
          </p:cNvCxnSpPr>
          <p:nvPr/>
        </p:nvCxnSpPr>
        <p:spPr>
          <a:xfrm flipV="1">
            <a:off x="5041075" y="2767625"/>
            <a:ext cx="1692234" cy="0"/>
          </a:xfrm>
          <a:prstGeom prst="line">
            <a:avLst/>
          </a:prstGeom>
          <a:ln w="41275">
            <a:solidFill>
              <a:srgbClr val="00B0F0"/>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A8A97E20-EDE2-454D-A9F5-1439F84342F7}"/>
              </a:ext>
            </a:extLst>
          </p:cNvPr>
          <p:cNvSpPr txBox="1"/>
          <p:nvPr/>
        </p:nvSpPr>
        <p:spPr>
          <a:xfrm>
            <a:off x="1589314" y="2007383"/>
            <a:ext cx="1235033"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floodplain</a:t>
            </a:r>
          </a:p>
        </p:txBody>
      </p:sp>
      <p:sp>
        <p:nvSpPr>
          <p:cNvPr id="35" name="TextBox 34">
            <a:extLst>
              <a:ext uri="{FF2B5EF4-FFF2-40B4-BE49-F238E27FC236}">
                <a16:creationId xmlns:a16="http://schemas.microsoft.com/office/drawing/2014/main" id="{B85B4474-A812-FE42-90C3-EDBB1FE6B59A}"/>
              </a:ext>
            </a:extLst>
          </p:cNvPr>
          <p:cNvSpPr txBox="1"/>
          <p:nvPr/>
        </p:nvSpPr>
        <p:spPr>
          <a:xfrm>
            <a:off x="7703127" y="2024947"/>
            <a:ext cx="1235033"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floodplain</a:t>
            </a:r>
          </a:p>
        </p:txBody>
      </p:sp>
      <p:sp>
        <p:nvSpPr>
          <p:cNvPr id="36" name="TextBox 35">
            <a:extLst>
              <a:ext uri="{FF2B5EF4-FFF2-40B4-BE49-F238E27FC236}">
                <a16:creationId xmlns:a16="http://schemas.microsoft.com/office/drawing/2014/main" id="{5C2612AD-34B5-B344-9990-016E94F23E42}"/>
              </a:ext>
            </a:extLst>
          </p:cNvPr>
          <p:cNvSpPr txBox="1"/>
          <p:nvPr/>
        </p:nvSpPr>
        <p:spPr>
          <a:xfrm>
            <a:off x="3544783" y="2376715"/>
            <a:ext cx="1235033"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channel</a:t>
            </a:r>
          </a:p>
        </p:txBody>
      </p:sp>
      <p:sp>
        <p:nvSpPr>
          <p:cNvPr id="37" name="TextBox 36">
            <a:extLst>
              <a:ext uri="{FF2B5EF4-FFF2-40B4-BE49-F238E27FC236}">
                <a16:creationId xmlns:a16="http://schemas.microsoft.com/office/drawing/2014/main" id="{289B771D-A163-1846-A8B2-16F09C967334}"/>
              </a:ext>
            </a:extLst>
          </p:cNvPr>
          <p:cNvSpPr txBox="1"/>
          <p:nvPr/>
        </p:nvSpPr>
        <p:spPr>
          <a:xfrm>
            <a:off x="5287487" y="2389915"/>
            <a:ext cx="1235033"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channel</a:t>
            </a:r>
          </a:p>
        </p:txBody>
      </p:sp>
    </p:spTree>
    <p:extLst>
      <p:ext uri="{BB962C8B-B14F-4D97-AF65-F5344CB8AC3E}">
        <p14:creationId xmlns:p14="http://schemas.microsoft.com/office/powerpoint/2010/main" val="42934369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4</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1472541" y="136525"/>
            <a:ext cx="929837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1D cross sectional geometry</a:t>
            </a:r>
          </a:p>
        </p:txBody>
      </p:sp>
      <p:sp>
        <p:nvSpPr>
          <p:cNvPr id="3" name="TextBox 2">
            <a:extLst>
              <a:ext uri="{FF2B5EF4-FFF2-40B4-BE49-F238E27FC236}">
                <a16:creationId xmlns:a16="http://schemas.microsoft.com/office/drawing/2014/main" id="{6CE32606-BFC2-6C48-AF0A-3BBAC7B1E53E}"/>
              </a:ext>
            </a:extLst>
          </p:cNvPr>
          <p:cNvSpPr txBox="1"/>
          <p:nvPr/>
        </p:nvSpPr>
        <p:spPr>
          <a:xfrm>
            <a:off x="463138" y="751888"/>
            <a:ext cx="11435937"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Cross sections of river channels have complex geometries</a:t>
            </a:r>
          </a:p>
        </p:txBody>
      </p:sp>
      <p:sp>
        <p:nvSpPr>
          <p:cNvPr id="7" name="Freeform 6">
            <a:extLst>
              <a:ext uri="{FF2B5EF4-FFF2-40B4-BE49-F238E27FC236}">
                <a16:creationId xmlns:a16="http://schemas.microsoft.com/office/drawing/2014/main" id="{5DBF273C-7019-5A4A-8964-CC8C70F3382E}"/>
              </a:ext>
            </a:extLst>
          </p:cNvPr>
          <p:cNvSpPr/>
          <p:nvPr/>
        </p:nvSpPr>
        <p:spPr>
          <a:xfrm>
            <a:off x="1282535" y="1563360"/>
            <a:ext cx="7956467" cy="569178"/>
          </a:xfrm>
          <a:custGeom>
            <a:avLst/>
            <a:gdLst>
              <a:gd name="connsiteX0" fmla="*/ 0 w 6056415"/>
              <a:gd name="connsiteY0" fmla="*/ 171104 h 669868"/>
              <a:gd name="connsiteX1" fmla="*/ 83127 w 6056415"/>
              <a:gd name="connsiteY1" fmla="*/ 182980 h 669868"/>
              <a:gd name="connsiteX2" fmla="*/ 118753 w 6056415"/>
              <a:gd name="connsiteY2" fmla="*/ 171104 h 669868"/>
              <a:gd name="connsiteX3" fmla="*/ 273132 w 6056415"/>
              <a:gd name="connsiteY3" fmla="*/ 159229 h 669868"/>
              <a:gd name="connsiteX4" fmla="*/ 641267 w 6056415"/>
              <a:gd name="connsiteY4" fmla="*/ 135478 h 669868"/>
              <a:gd name="connsiteX5" fmla="*/ 688768 w 6056415"/>
              <a:gd name="connsiteY5" fmla="*/ 123603 h 669868"/>
              <a:gd name="connsiteX6" fmla="*/ 843148 w 6056415"/>
              <a:gd name="connsiteY6" fmla="*/ 99852 h 669868"/>
              <a:gd name="connsiteX7" fmla="*/ 890649 w 6056415"/>
              <a:gd name="connsiteY7" fmla="*/ 87977 h 669868"/>
              <a:gd name="connsiteX8" fmla="*/ 1009402 w 6056415"/>
              <a:gd name="connsiteY8" fmla="*/ 64226 h 669868"/>
              <a:gd name="connsiteX9" fmla="*/ 1104405 w 6056415"/>
              <a:gd name="connsiteY9" fmla="*/ 40476 h 669868"/>
              <a:gd name="connsiteX10" fmla="*/ 1235033 w 6056415"/>
              <a:gd name="connsiteY10" fmla="*/ 28600 h 669868"/>
              <a:gd name="connsiteX11" fmla="*/ 1615044 w 6056415"/>
              <a:gd name="connsiteY11" fmla="*/ 16725 h 669868"/>
              <a:gd name="connsiteX12" fmla="*/ 1757548 w 6056415"/>
              <a:gd name="connsiteY12" fmla="*/ 87977 h 669868"/>
              <a:gd name="connsiteX13" fmla="*/ 1793174 w 6056415"/>
              <a:gd name="connsiteY13" fmla="*/ 111728 h 669868"/>
              <a:gd name="connsiteX14" fmla="*/ 1828800 w 6056415"/>
              <a:gd name="connsiteY14" fmla="*/ 182980 h 669868"/>
              <a:gd name="connsiteX15" fmla="*/ 1852550 w 6056415"/>
              <a:gd name="connsiteY15" fmla="*/ 218606 h 669868"/>
              <a:gd name="connsiteX16" fmla="*/ 1864426 w 6056415"/>
              <a:gd name="connsiteY16" fmla="*/ 254232 h 669868"/>
              <a:gd name="connsiteX17" fmla="*/ 1911927 w 6056415"/>
              <a:gd name="connsiteY17" fmla="*/ 325484 h 669868"/>
              <a:gd name="connsiteX18" fmla="*/ 1959428 w 6056415"/>
              <a:gd name="connsiteY18" fmla="*/ 396736 h 669868"/>
              <a:gd name="connsiteX19" fmla="*/ 1995054 w 6056415"/>
              <a:gd name="connsiteY19" fmla="*/ 408611 h 669868"/>
              <a:gd name="connsiteX20" fmla="*/ 2066306 w 6056415"/>
              <a:gd name="connsiteY20" fmla="*/ 467987 h 669868"/>
              <a:gd name="connsiteX21" fmla="*/ 2101932 w 6056415"/>
              <a:gd name="connsiteY21" fmla="*/ 539239 h 669868"/>
              <a:gd name="connsiteX22" fmla="*/ 2137558 w 6056415"/>
              <a:gd name="connsiteY22" fmla="*/ 551115 h 669868"/>
              <a:gd name="connsiteX23" fmla="*/ 2244436 w 6056415"/>
              <a:gd name="connsiteY23" fmla="*/ 610491 h 669868"/>
              <a:gd name="connsiteX24" fmla="*/ 2351314 w 6056415"/>
              <a:gd name="connsiteY24" fmla="*/ 657993 h 669868"/>
              <a:gd name="connsiteX25" fmla="*/ 2386940 w 6056415"/>
              <a:gd name="connsiteY25" fmla="*/ 669868 h 669868"/>
              <a:gd name="connsiteX26" fmla="*/ 2612571 w 6056415"/>
              <a:gd name="connsiteY26" fmla="*/ 657993 h 669868"/>
              <a:gd name="connsiteX27" fmla="*/ 2648197 w 6056415"/>
              <a:gd name="connsiteY27" fmla="*/ 646117 h 669868"/>
              <a:gd name="connsiteX28" fmla="*/ 2719449 w 6056415"/>
              <a:gd name="connsiteY28" fmla="*/ 586741 h 669868"/>
              <a:gd name="connsiteX29" fmla="*/ 2826327 w 6056415"/>
              <a:gd name="connsiteY29" fmla="*/ 539239 h 669868"/>
              <a:gd name="connsiteX30" fmla="*/ 2921329 w 6056415"/>
              <a:gd name="connsiteY30" fmla="*/ 527364 h 669868"/>
              <a:gd name="connsiteX31" fmla="*/ 2980706 w 6056415"/>
              <a:gd name="connsiteY31" fmla="*/ 515489 h 669868"/>
              <a:gd name="connsiteX32" fmla="*/ 3158836 w 6056415"/>
              <a:gd name="connsiteY32" fmla="*/ 503613 h 669868"/>
              <a:gd name="connsiteX33" fmla="*/ 3325090 w 6056415"/>
              <a:gd name="connsiteY33" fmla="*/ 467987 h 669868"/>
              <a:gd name="connsiteX34" fmla="*/ 3431968 w 6056415"/>
              <a:gd name="connsiteY34" fmla="*/ 420486 h 669868"/>
              <a:gd name="connsiteX35" fmla="*/ 3467594 w 6056415"/>
              <a:gd name="connsiteY35" fmla="*/ 408611 h 669868"/>
              <a:gd name="connsiteX36" fmla="*/ 3550722 w 6056415"/>
              <a:gd name="connsiteY36" fmla="*/ 384860 h 669868"/>
              <a:gd name="connsiteX37" fmla="*/ 3633849 w 6056415"/>
              <a:gd name="connsiteY37" fmla="*/ 372985 h 669868"/>
              <a:gd name="connsiteX38" fmla="*/ 3705101 w 6056415"/>
              <a:gd name="connsiteY38" fmla="*/ 349234 h 669868"/>
              <a:gd name="connsiteX39" fmla="*/ 3740727 w 6056415"/>
              <a:gd name="connsiteY39" fmla="*/ 325484 h 669868"/>
              <a:gd name="connsiteX40" fmla="*/ 3811979 w 6056415"/>
              <a:gd name="connsiteY40" fmla="*/ 301733 h 669868"/>
              <a:gd name="connsiteX41" fmla="*/ 3883231 w 6056415"/>
              <a:gd name="connsiteY41" fmla="*/ 266107 h 669868"/>
              <a:gd name="connsiteX42" fmla="*/ 3918857 w 6056415"/>
              <a:gd name="connsiteY42" fmla="*/ 242356 h 669868"/>
              <a:gd name="connsiteX43" fmla="*/ 3990109 w 6056415"/>
              <a:gd name="connsiteY43" fmla="*/ 218606 h 669868"/>
              <a:gd name="connsiteX44" fmla="*/ 4061361 w 6056415"/>
              <a:gd name="connsiteY44" fmla="*/ 194855 h 669868"/>
              <a:gd name="connsiteX45" fmla="*/ 4132613 w 6056415"/>
              <a:gd name="connsiteY45" fmla="*/ 171104 h 669868"/>
              <a:gd name="connsiteX46" fmla="*/ 4168239 w 6056415"/>
              <a:gd name="connsiteY46" fmla="*/ 159229 h 669868"/>
              <a:gd name="connsiteX47" fmla="*/ 4215740 w 6056415"/>
              <a:gd name="connsiteY47" fmla="*/ 147354 h 669868"/>
              <a:gd name="connsiteX48" fmla="*/ 4275116 w 6056415"/>
              <a:gd name="connsiteY48" fmla="*/ 135478 h 669868"/>
              <a:gd name="connsiteX49" fmla="*/ 4310742 w 6056415"/>
              <a:gd name="connsiteY49" fmla="*/ 123603 h 669868"/>
              <a:gd name="connsiteX50" fmla="*/ 4429496 w 6056415"/>
              <a:gd name="connsiteY50" fmla="*/ 99852 h 669868"/>
              <a:gd name="connsiteX51" fmla="*/ 4524498 w 6056415"/>
              <a:gd name="connsiteY51" fmla="*/ 76102 h 669868"/>
              <a:gd name="connsiteX52" fmla="*/ 4726379 w 6056415"/>
              <a:gd name="connsiteY52" fmla="*/ 64226 h 669868"/>
              <a:gd name="connsiteX53" fmla="*/ 4833257 w 6056415"/>
              <a:gd name="connsiteY53" fmla="*/ 76102 h 669868"/>
              <a:gd name="connsiteX54" fmla="*/ 4868883 w 6056415"/>
              <a:gd name="connsiteY54" fmla="*/ 87977 h 669868"/>
              <a:gd name="connsiteX55" fmla="*/ 5272644 w 6056415"/>
              <a:gd name="connsiteY55" fmla="*/ 99852 h 669868"/>
              <a:gd name="connsiteX56" fmla="*/ 5605153 w 6056415"/>
              <a:gd name="connsiteY56" fmla="*/ 76102 h 669868"/>
              <a:gd name="connsiteX57" fmla="*/ 5712031 w 6056415"/>
              <a:gd name="connsiteY57" fmla="*/ 64226 h 669868"/>
              <a:gd name="connsiteX58" fmla="*/ 5854535 w 6056415"/>
              <a:gd name="connsiteY58" fmla="*/ 76102 h 669868"/>
              <a:gd name="connsiteX59" fmla="*/ 5961413 w 6056415"/>
              <a:gd name="connsiteY59" fmla="*/ 87977 h 669868"/>
              <a:gd name="connsiteX60" fmla="*/ 6056415 w 6056415"/>
              <a:gd name="connsiteY60" fmla="*/ 87977 h 669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056415" h="669868">
                <a:moveTo>
                  <a:pt x="0" y="171104"/>
                </a:moveTo>
                <a:cubicBezTo>
                  <a:pt x="27709" y="175063"/>
                  <a:pt x="55137" y="182980"/>
                  <a:pt x="83127" y="182980"/>
                </a:cubicBezTo>
                <a:cubicBezTo>
                  <a:pt x="95645" y="182980"/>
                  <a:pt x="106332" y="172657"/>
                  <a:pt x="118753" y="171104"/>
                </a:cubicBezTo>
                <a:cubicBezTo>
                  <a:pt x="169966" y="164702"/>
                  <a:pt x="221672" y="163187"/>
                  <a:pt x="273132" y="159229"/>
                </a:cubicBezTo>
                <a:cubicBezTo>
                  <a:pt x="417825" y="110999"/>
                  <a:pt x="262126" y="159175"/>
                  <a:pt x="641267" y="135478"/>
                </a:cubicBezTo>
                <a:cubicBezTo>
                  <a:pt x="657556" y="134460"/>
                  <a:pt x="672710" y="126522"/>
                  <a:pt x="688768" y="123603"/>
                </a:cubicBezTo>
                <a:cubicBezTo>
                  <a:pt x="814272" y="100785"/>
                  <a:pt x="728338" y="122814"/>
                  <a:pt x="843148" y="99852"/>
                </a:cubicBezTo>
                <a:cubicBezTo>
                  <a:pt x="859152" y="96651"/>
                  <a:pt x="874690" y="91397"/>
                  <a:pt x="890649" y="87977"/>
                </a:cubicBezTo>
                <a:cubicBezTo>
                  <a:pt x="930121" y="79519"/>
                  <a:pt x="971105" y="76991"/>
                  <a:pt x="1009402" y="64226"/>
                </a:cubicBezTo>
                <a:cubicBezTo>
                  <a:pt x="1048181" y="51300"/>
                  <a:pt x="1058546" y="46208"/>
                  <a:pt x="1104405" y="40476"/>
                </a:cubicBezTo>
                <a:cubicBezTo>
                  <a:pt x="1147790" y="35053"/>
                  <a:pt x="1191490" y="32559"/>
                  <a:pt x="1235033" y="28600"/>
                </a:cubicBezTo>
                <a:cubicBezTo>
                  <a:pt x="1422282" y="-18211"/>
                  <a:pt x="1297422" y="3491"/>
                  <a:pt x="1615044" y="16725"/>
                </a:cubicBezTo>
                <a:cubicBezTo>
                  <a:pt x="1713375" y="49502"/>
                  <a:pt x="1665467" y="26589"/>
                  <a:pt x="1757548" y="87977"/>
                </a:cubicBezTo>
                <a:lnTo>
                  <a:pt x="1793174" y="111728"/>
                </a:lnTo>
                <a:cubicBezTo>
                  <a:pt x="1861238" y="213826"/>
                  <a:pt x="1779634" y="84648"/>
                  <a:pt x="1828800" y="182980"/>
                </a:cubicBezTo>
                <a:cubicBezTo>
                  <a:pt x="1835183" y="195745"/>
                  <a:pt x="1846167" y="205841"/>
                  <a:pt x="1852550" y="218606"/>
                </a:cubicBezTo>
                <a:cubicBezTo>
                  <a:pt x="1858148" y="229802"/>
                  <a:pt x="1858347" y="243290"/>
                  <a:pt x="1864426" y="254232"/>
                </a:cubicBezTo>
                <a:cubicBezTo>
                  <a:pt x="1878289" y="279185"/>
                  <a:pt x="1896093" y="301733"/>
                  <a:pt x="1911927" y="325484"/>
                </a:cubicBezTo>
                <a:cubicBezTo>
                  <a:pt x="1911928" y="325485"/>
                  <a:pt x="1959426" y="396735"/>
                  <a:pt x="1959428" y="396736"/>
                </a:cubicBezTo>
                <a:cubicBezTo>
                  <a:pt x="1971303" y="400694"/>
                  <a:pt x="1983858" y="403013"/>
                  <a:pt x="1995054" y="408611"/>
                </a:cubicBezTo>
                <a:cubicBezTo>
                  <a:pt x="2028121" y="425144"/>
                  <a:pt x="2040042" y="441723"/>
                  <a:pt x="2066306" y="467987"/>
                </a:cubicBezTo>
                <a:cubicBezTo>
                  <a:pt x="2074129" y="491457"/>
                  <a:pt x="2081003" y="522496"/>
                  <a:pt x="2101932" y="539239"/>
                </a:cubicBezTo>
                <a:cubicBezTo>
                  <a:pt x="2111707" y="547059"/>
                  <a:pt x="2126616" y="545036"/>
                  <a:pt x="2137558" y="551115"/>
                </a:cubicBezTo>
                <a:cubicBezTo>
                  <a:pt x="2260054" y="619169"/>
                  <a:pt x="2163826" y="583622"/>
                  <a:pt x="2244436" y="610491"/>
                </a:cubicBezTo>
                <a:cubicBezTo>
                  <a:pt x="2300892" y="648129"/>
                  <a:pt x="2266523" y="629729"/>
                  <a:pt x="2351314" y="657993"/>
                </a:cubicBezTo>
                <a:lnTo>
                  <a:pt x="2386940" y="669868"/>
                </a:lnTo>
                <a:cubicBezTo>
                  <a:pt x="2462150" y="665910"/>
                  <a:pt x="2537566" y="664812"/>
                  <a:pt x="2612571" y="657993"/>
                </a:cubicBezTo>
                <a:cubicBezTo>
                  <a:pt x="2625037" y="656860"/>
                  <a:pt x="2637001" y="651715"/>
                  <a:pt x="2648197" y="646117"/>
                </a:cubicBezTo>
                <a:cubicBezTo>
                  <a:pt x="2692425" y="624003"/>
                  <a:pt x="2680051" y="619572"/>
                  <a:pt x="2719449" y="586741"/>
                </a:cubicBezTo>
                <a:cubicBezTo>
                  <a:pt x="2748405" y="562611"/>
                  <a:pt x="2789775" y="543808"/>
                  <a:pt x="2826327" y="539239"/>
                </a:cubicBezTo>
                <a:cubicBezTo>
                  <a:pt x="2857994" y="535281"/>
                  <a:pt x="2889786" y="532217"/>
                  <a:pt x="2921329" y="527364"/>
                </a:cubicBezTo>
                <a:cubicBezTo>
                  <a:pt x="2941279" y="524295"/>
                  <a:pt x="2960622" y="517497"/>
                  <a:pt x="2980706" y="515489"/>
                </a:cubicBezTo>
                <a:cubicBezTo>
                  <a:pt x="3039919" y="509568"/>
                  <a:pt x="3099459" y="507572"/>
                  <a:pt x="3158836" y="503613"/>
                </a:cubicBezTo>
                <a:cubicBezTo>
                  <a:pt x="3293593" y="476662"/>
                  <a:pt x="3238426" y="489654"/>
                  <a:pt x="3325090" y="467987"/>
                </a:cubicBezTo>
                <a:cubicBezTo>
                  <a:pt x="3381546" y="430351"/>
                  <a:pt x="3347177" y="448750"/>
                  <a:pt x="3431968" y="420486"/>
                </a:cubicBezTo>
                <a:lnTo>
                  <a:pt x="3467594" y="408611"/>
                </a:lnTo>
                <a:cubicBezTo>
                  <a:pt x="3498114" y="398438"/>
                  <a:pt x="3517922" y="390824"/>
                  <a:pt x="3550722" y="384860"/>
                </a:cubicBezTo>
                <a:cubicBezTo>
                  <a:pt x="3578261" y="379853"/>
                  <a:pt x="3606140" y="376943"/>
                  <a:pt x="3633849" y="372985"/>
                </a:cubicBezTo>
                <a:cubicBezTo>
                  <a:pt x="3657600" y="365068"/>
                  <a:pt x="3684270" y="363121"/>
                  <a:pt x="3705101" y="349234"/>
                </a:cubicBezTo>
                <a:cubicBezTo>
                  <a:pt x="3716976" y="341317"/>
                  <a:pt x="3727685" y="331280"/>
                  <a:pt x="3740727" y="325484"/>
                </a:cubicBezTo>
                <a:cubicBezTo>
                  <a:pt x="3763605" y="315316"/>
                  <a:pt x="3811979" y="301733"/>
                  <a:pt x="3811979" y="301733"/>
                </a:cubicBezTo>
                <a:cubicBezTo>
                  <a:pt x="3914079" y="233666"/>
                  <a:pt x="3784899" y="315273"/>
                  <a:pt x="3883231" y="266107"/>
                </a:cubicBezTo>
                <a:cubicBezTo>
                  <a:pt x="3895997" y="259724"/>
                  <a:pt x="3905815" y="248153"/>
                  <a:pt x="3918857" y="242356"/>
                </a:cubicBezTo>
                <a:cubicBezTo>
                  <a:pt x="3941735" y="232188"/>
                  <a:pt x="3966358" y="226523"/>
                  <a:pt x="3990109" y="218606"/>
                </a:cubicBezTo>
                <a:lnTo>
                  <a:pt x="4061361" y="194855"/>
                </a:lnTo>
                <a:lnTo>
                  <a:pt x="4132613" y="171104"/>
                </a:lnTo>
                <a:cubicBezTo>
                  <a:pt x="4144488" y="167146"/>
                  <a:pt x="4156095" y="162265"/>
                  <a:pt x="4168239" y="159229"/>
                </a:cubicBezTo>
                <a:cubicBezTo>
                  <a:pt x="4184073" y="155271"/>
                  <a:pt x="4199808" y="150895"/>
                  <a:pt x="4215740" y="147354"/>
                </a:cubicBezTo>
                <a:cubicBezTo>
                  <a:pt x="4235443" y="142975"/>
                  <a:pt x="4255535" y="140373"/>
                  <a:pt x="4275116" y="135478"/>
                </a:cubicBezTo>
                <a:cubicBezTo>
                  <a:pt x="4287260" y="132442"/>
                  <a:pt x="4298545" y="126418"/>
                  <a:pt x="4310742" y="123603"/>
                </a:cubicBezTo>
                <a:cubicBezTo>
                  <a:pt x="4350077" y="114526"/>
                  <a:pt x="4391199" y="112617"/>
                  <a:pt x="4429496" y="99852"/>
                </a:cubicBezTo>
                <a:cubicBezTo>
                  <a:pt x="4464274" y="88260"/>
                  <a:pt x="4485090" y="79685"/>
                  <a:pt x="4524498" y="76102"/>
                </a:cubicBezTo>
                <a:cubicBezTo>
                  <a:pt x="4591631" y="69999"/>
                  <a:pt x="4659085" y="68185"/>
                  <a:pt x="4726379" y="64226"/>
                </a:cubicBezTo>
                <a:cubicBezTo>
                  <a:pt x="4762005" y="68185"/>
                  <a:pt x="4797899" y="70209"/>
                  <a:pt x="4833257" y="76102"/>
                </a:cubicBezTo>
                <a:cubicBezTo>
                  <a:pt x="4845604" y="78160"/>
                  <a:pt x="4856384" y="87301"/>
                  <a:pt x="4868883" y="87977"/>
                </a:cubicBezTo>
                <a:cubicBezTo>
                  <a:pt x="5003332" y="95244"/>
                  <a:pt x="5138057" y="95894"/>
                  <a:pt x="5272644" y="99852"/>
                </a:cubicBezTo>
                <a:cubicBezTo>
                  <a:pt x="5461480" y="72876"/>
                  <a:pt x="5258465" y="99215"/>
                  <a:pt x="5605153" y="76102"/>
                </a:cubicBezTo>
                <a:cubicBezTo>
                  <a:pt x="5640919" y="73718"/>
                  <a:pt x="5676405" y="68185"/>
                  <a:pt x="5712031" y="64226"/>
                </a:cubicBezTo>
                <a:lnTo>
                  <a:pt x="5854535" y="76102"/>
                </a:lnTo>
                <a:cubicBezTo>
                  <a:pt x="5890219" y="79501"/>
                  <a:pt x="5925630" y="85872"/>
                  <a:pt x="5961413" y="87977"/>
                </a:cubicBezTo>
                <a:cubicBezTo>
                  <a:pt x="5993026" y="89837"/>
                  <a:pt x="6024748" y="87977"/>
                  <a:pt x="6056415" y="87977"/>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5F26E25-BF4E-6C4E-BDD4-5A558CDBA378}"/>
              </a:ext>
            </a:extLst>
          </p:cNvPr>
          <p:cNvSpPr txBox="1"/>
          <p:nvPr/>
        </p:nvSpPr>
        <p:spPr>
          <a:xfrm>
            <a:off x="1472540" y="1200075"/>
            <a:ext cx="1235033"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floodplain</a:t>
            </a:r>
          </a:p>
        </p:txBody>
      </p:sp>
      <p:sp>
        <p:nvSpPr>
          <p:cNvPr id="9" name="TextBox 8">
            <a:extLst>
              <a:ext uri="{FF2B5EF4-FFF2-40B4-BE49-F238E27FC236}">
                <a16:creationId xmlns:a16="http://schemas.microsoft.com/office/drawing/2014/main" id="{1052ED05-DCAE-C248-8304-9E9E6609DD96}"/>
              </a:ext>
            </a:extLst>
          </p:cNvPr>
          <p:cNvSpPr txBox="1"/>
          <p:nvPr/>
        </p:nvSpPr>
        <p:spPr>
          <a:xfrm>
            <a:off x="7586353" y="1217639"/>
            <a:ext cx="1235033"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floodplain</a:t>
            </a:r>
          </a:p>
        </p:txBody>
      </p:sp>
      <p:cxnSp>
        <p:nvCxnSpPr>
          <p:cNvPr id="11" name="Straight Connector 10">
            <a:extLst>
              <a:ext uri="{FF2B5EF4-FFF2-40B4-BE49-F238E27FC236}">
                <a16:creationId xmlns:a16="http://schemas.microsoft.com/office/drawing/2014/main" id="{DFA38B4E-D53B-0245-9FAD-B238BFDB3ABD}"/>
              </a:ext>
            </a:extLst>
          </p:cNvPr>
          <p:cNvCxnSpPr>
            <a:cxnSpLocks/>
            <a:stCxn id="7" idx="14"/>
            <a:endCxn id="7" idx="45"/>
          </p:cNvCxnSpPr>
          <p:nvPr/>
        </p:nvCxnSpPr>
        <p:spPr>
          <a:xfrm flipV="1">
            <a:off x="3685076" y="1708745"/>
            <a:ext cx="3026578" cy="10091"/>
          </a:xfrm>
          <a:prstGeom prst="line">
            <a:avLst/>
          </a:prstGeom>
          <a:ln w="41275">
            <a:solidFill>
              <a:srgbClr val="00B0F0"/>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618385A-BFDD-C34E-A4B8-1E478386B5B3}"/>
              </a:ext>
            </a:extLst>
          </p:cNvPr>
          <p:cNvSpPr txBox="1"/>
          <p:nvPr/>
        </p:nvSpPr>
        <p:spPr>
          <a:xfrm>
            <a:off x="4306784" y="1285736"/>
            <a:ext cx="1235033"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channel</a:t>
            </a:r>
          </a:p>
        </p:txBody>
      </p:sp>
      <p:sp>
        <p:nvSpPr>
          <p:cNvPr id="13" name="Freeform 12">
            <a:extLst>
              <a:ext uri="{FF2B5EF4-FFF2-40B4-BE49-F238E27FC236}">
                <a16:creationId xmlns:a16="http://schemas.microsoft.com/office/drawing/2014/main" id="{15C8712E-25CA-8B4A-9DF5-A0130194FD9E}"/>
              </a:ext>
            </a:extLst>
          </p:cNvPr>
          <p:cNvSpPr/>
          <p:nvPr/>
        </p:nvSpPr>
        <p:spPr>
          <a:xfrm>
            <a:off x="1140031" y="2565745"/>
            <a:ext cx="5890161" cy="522737"/>
          </a:xfrm>
          <a:custGeom>
            <a:avLst/>
            <a:gdLst>
              <a:gd name="connsiteX0" fmla="*/ 0 w 5890161"/>
              <a:gd name="connsiteY0" fmla="*/ 0 h 522737"/>
              <a:gd name="connsiteX1" fmla="*/ 95003 w 5890161"/>
              <a:gd name="connsiteY1" fmla="*/ 11875 h 522737"/>
              <a:gd name="connsiteX2" fmla="*/ 142504 w 5890161"/>
              <a:gd name="connsiteY2" fmla="*/ 23751 h 522737"/>
              <a:gd name="connsiteX3" fmla="*/ 225631 w 5890161"/>
              <a:gd name="connsiteY3" fmla="*/ 35626 h 522737"/>
              <a:gd name="connsiteX4" fmla="*/ 510639 w 5890161"/>
              <a:gd name="connsiteY4" fmla="*/ 23751 h 522737"/>
              <a:gd name="connsiteX5" fmla="*/ 546265 w 5890161"/>
              <a:gd name="connsiteY5" fmla="*/ 11875 h 522737"/>
              <a:gd name="connsiteX6" fmla="*/ 593766 w 5890161"/>
              <a:gd name="connsiteY6" fmla="*/ 0 h 522737"/>
              <a:gd name="connsiteX7" fmla="*/ 1769424 w 5890161"/>
              <a:gd name="connsiteY7" fmla="*/ 11875 h 522737"/>
              <a:gd name="connsiteX8" fmla="*/ 1888177 w 5890161"/>
              <a:gd name="connsiteY8" fmla="*/ 47501 h 522737"/>
              <a:gd name="connsiteX9" fmla="*/ 2030681 w 5890161"/>
              <a:gd name="connsiteY9" fmla="*/ 95003 h 522737"/>
              <a:gd name="connsiteX10" fmla="*/ 2137559 w 5890161"/>
              <a:gd name="connsiteY10" fmla="*/ 130629 h 522737"/>
              <a:gd name="connsiteX11" fmla="*/ 2173185 w 5890161"/>
              <a:gd name="connsiteY11" fmla="*/ 142504 h 522737"/>
              <a:gd name="connsiteX12" fmla="*/ 2232561 w 5890161"/>
              <a:gd name="connsiteY12" fmla="*/ 190005 h 522737"/>
              <a:gd name="connsiteX13" fmla="*/ 2303813 w 5890161"/>
              <a:gd name="connsiteY13" fmla="*/ 237506 h 522737"/>
              <a:gd name="connsiteX14" fmla="*/ 2339439 w 5890161"/>
              <a:gd name="connsiteY14" fmla="*/ 261257 h 522737"/>
              <a:gd name="connsiteX15" fmla="*/ 2375065 w 5890161"/>
              <a:gd name="connsiteY15" fmla="*/ 296883 h 522737"/>
              <a:gd name="connsiteX16" fmla="*/ 2458192 w 5890161"/>
              <a:gd name="connsiteY16" fmla="*/ 380010 h 522737"/>
              <a:gd name="connsiteX17" fmla="*/ 2529444 w 5890161"/>
              <a:gd name="connsiteY17" fmla="*/ 403761 h 522737"/>
              <a:gd name="connsiteX18" fmla="*/ 2565070 w 5890161"/>
              <a:gd name="connsiteY18" fmla="*/ 415636 h 522737"/>
              <a:gd name="connsiteX19" fmla="*/ 2600696 w 5890161"/>
              <a:gd name="connsiteY19" fmla="*/ 439387 h 522737"/>
              <a:gd name="connsiteX20" fmla="*/ 2624447 w 5890161"/>
              <a:gd name="connsiteY20" fmla="*/ 475013 h 522737"/>
              <a:gd name="connsiteX21" fmla="*/ 2695699 w 5890161"/>
              <a:gd name="connsiteY21" fmla="*/ 522514 h 522737"/>
              <a:gd name="connsiteX22" fmla="*/ 3051959 w 5890161"/>
              <a:gd name="connsiteY22" fmla="*/ 510639 h 522737"/>
              <a:gd name="connsiteX23" fmla="*/ 3194463 w 5890161"/>
              <a:gd name="connsiteY23" fmla="*/ 498764 h 522737"/>
              <a:gd name="connsiteX24" fmla="*/ 3218213 w 5890161"/>
              <a:gd name="connsiteY24" fmla="*/ 463138 h 522737"/>
              <a:gd name="connsiteX25" fmla="*/ 3253839 w 5890161"/>
              <a:gd name="connsiteY25" fmla="*/ 427512 h 522737"/>
              <a:gd name="connsiteX26" fmla="*/ 3360717 w 5890161"/>
              <a:gd name="connsiteY26" fmla="*/ 391886 h 522737"/>
              <a:gd name="connsiteX27" fmla="*/ 3396343 w 5890161"/>
              <a:gd name="connsiteY27" fmla="*/ 380010 h 522737"/>
              <a:gd name="connsiteX28" fmla="*/ 3420094 w 5890161"/>
              <a:gd name="connsiteY28" fmla="*/ 344384 h 522737"/>
              <a:gd name="connsiteX29" fmla="*/ 3455720 w 5890161"/>
              <a:gd name="connsiteY29" fmla="*/ 308758 h 522737"/>
              <a:gd name="connsiteX30" fmla="*/ 3479470 w 5890161"/>
              <a:gd name="connsiteY30" fmla="*/ 237506 h 522737"/>
              <a:gd name="connsiteX31" fmla="*/ 3586348 w 5890161"/>
              <a:gd name="connsiteY31" fmla="*/ 166254 h 522737"/>
              <a:gd name="connsiteX32" fmla="*/ 3621974 w 5890161"/>
              <a:gd name="connsiteY32" fmla="*/ 142504 h 522737"/>
              <a:gd name="connsiteX33" fmla="*/ 3657600 w 5890161"/>
              <a:gd name="connsiteY33" fmla="*/ 106878 h 522737"/>
              <a:gd name="connsiteX34" fmla="*/ 3776353 w 5890161"/>
              <a:gd name="connsiteY34" fmla="*/ 118753 h 522737"/>
              <a:gd name="connsiteX35" fmla="*/ 3847605 w 5890161"/>
              <a:gd name="connsiteY35" fmla="*/ 142504 h 522737"/>
              <a:gd name="connsiteX36" fmla="*/ 3871356 w 5890161"/>
              <a:gd name="connsiteY36" fmla="*/ 178130 h 522737"/>
              <a:gd name="connsiteX37" fmla="*/ 3883231 w 5890161"/>
              <a:gd name="connsiteY37" fmla="*/ 213756 h 522737"/>
              <a:gd name="connsiteX38" fmla="*/ 3918857 w 5890161"/>
              <a:gd name="connsiteY38" fmla="*/ 249382 h 522737"/>
              <a:gd name="connsiteX39" fmla="*/ 3942608 w 5890161"/>
              <a:gd name="connsiteY39" fmla="*/ 285008 h 522737"/>
              <a:gd name="connsiteX40" fmla="*/ 3978234 w 5890161"/>
              <a:gd name="connsiteY40" fmla="*/ 296883 h 522737"/>
              <a:gd name="connsiteX41" fmla="*/ 4085112 w 5890161"/>
              <a:gd name="connsiteY41" fmla="*/ 344384 h 522737"/>
              <a:gd name="connsiteX42" fmla="*/ 4120738 w 5890161"/>
              <a:gd name="connsiteY42" fmla="*/ 356260 h 522737"/>
              <a:gd name="connsiteX43" fmla="*/ 4156364 w 5890161"/>
              <a:gd name="connsiteY43" fmla="*/ 368135 h 522737"/>
              <a:gd name="connsiteX44" fmla="*/ 4191990 w 5890161"/>
              <a:gd name="connsiteY44" fmla="*/ 403761 h 522737"/>
              <a:gd name="connsiteX45" fmla="*/ 4227616 w 5890161"/>
              <a:gd name="connsiteY45" fmla="*/ 427512 h 522737"/>
              <a:gd name="connsiteX46" fmla="*/ 4251366 w 5890161"/>
              <a:gd name="connsiteY46" fmla="*/ 463138 h 522737"/>
              <a:gd name="connsiteX47" fmla="*/ 4465122 w 5890161"/>
              <a:gd name="connsiteY47" fmla="*/ 498764 h 522737"/>
              <a:gd name="connsiteX48" fmla="*/ 4595751 w 5890161"/>
              <a:gd name="connsiteY48" fmla="*/ 522514 h 522737"/>
              <a:gd name="connsiteX49" fmla="*/ 4714504 w 5890161"/>
              <a:gd name="connsiteY49" fmla="*/ 510639 h 522737"/>
              <a:gd name="connsiteX50" fmla="*/ 5094514 w 5890161"/>
              <a:gd name="connsiteY50" fmla="*/ 510639 h 522737"/>
              <a:gd name="connsiteX51" fmla="*/ 5165766 w 5890161"/>
              <a:gd name="connsiteY51" fmla="*/ 486888 h 522737"/>
              <a:gd name="connsiteX52" fmla="*/ 5201392 w 5890161"/>
              <a:gd name="connsiteY52" fmla="*/ 475013 h 522737"/>
              <a:gd name="connsiteX53" fmla="*/ 5272644 w 5890161"/>
              <a:gd name="connsiteY53" fmla="*/ 439387 h 522737"/>
              <a:gd name="connsiteX54" fmla="*/ 5343896 w 5890161"/>
              <a:gd name="connsiteY54" fmla="*/ 403761 h 522737"/>
              <a:gd name="connsiteX55" fmla="*/ 5403273 w 5890161"/>
              <a:gd name="connsiteY55" fmla="*/ 344384 h 522737"/>
              <a:gd name="connsiteX56" fmla="*/ 5462650 w 5890161"/>
              <a:gd name="connsiteY56" fmla="*/ 285008 h 522737"/>
              <a:gd name="connsiteX57" fmla="*/ 5522026 w 5890161"/>
              <a:gd name="connsiteY57" fmla="*/ 225631 h 522737"/>
              <a:gd name="connsiteX58" fmla="*/ 5593278 w 5890161"/>
              <a:gd name="connsiteY58" fmla="*/ 201880 h 522737"/>
              <a:gd name="connsiteX59" fmla="*/ 5628904 w 5890161"/>
              <a:gd name="connsiteY59" fmla="*/ 178130 h 522737"/>
              <a:gd name="connsiteX60" fmla="*/ 5735782 w 5890161"/>
              <a:gd name="connsiteY60" fmla="*/ 142504 h 522737"/>
              <a:gd name="connsiteX61" fmla="*/ 5771408 w 5890161"/>
              <a:gd name="connsiteY61" fmla="*/ 130629 h 522737"/>
              <a:gd name="connsiteX62" fmla="*/ 5807034 w 5890161"/>
              <a:gd name="connsiteY62" fmla="*/ 106878 h 522737"/>
              <a:gd name="connsiteX63" fmla="*/ 5890161 w 5890161"/>
              <a:gd name="connsiteY63" fmla="*/ 71252 h 522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5890161" h="522737">
                <a:moveTo>
                  <a:pt x="0" y="0"/>
                </a:moveTo>
                <a:cubicBezTo>
                  <a:pt x="31668" y="3958"/>
                  <a:pt x="63523" y="6628"/>
                  <a:pt x="95003" y="11875"/>
                </a:cubicBezTo>
                <a:cubicBezTo>
                  <a:pt x="111102" y="14558"/>
                  <a:pt x="126446" y="20831"/>
                  <a:pt x="142504" y="23751"/>
                </a:cubicBezTo>
                <a:cubicBezTo>
                  <a:pt x="170043" y="28758"/>
                  <a:pt x="197922" y="31668"/>
                  <a:pt x="225631" y="35626"/>
                </a:cubicBezTo>
                <a:cubicBezTo>
                  <a:pt x="320634" y="31668"/>
                  <a:pt x="415814" y="30775"/>
                  <a:pt x="510639" y="23751"/>
                </a:cubicBezTo>
                <a:cubicBezTo>
                  <a:pt x="523123" y="22826"/>
                  <a:pt x="534229" y="15314"/>
                  <a:pt x="546265" y="11875"/>
                </a:cubicBezTo>
                <a:cubicBezTo>
                  <a:pt x="561958" y="7391"/>
                  <a:pt x="577932" y="3958"/>
                  <a:pt x="593766" y="0"/>
                </a:cubicBezTo>
                <a:lnTo>
                  <a:pt x="1769424" y="11875"/>
                </a:lnTo>
                <a:cubicBezTo>
                  <a:pt x="1788476" y="12245"/>
                  <a:pt x="1882336" y="45554"/>
                  <a:pt x="1888177" y="47501"/>
                </a:cubicBezTo>
                <a:lnTo>
                  <a:pt x="2030681" y="95003"/>
                </a:lnTo>
                <a:lnTo>
                  <a:pt x="2137559" y="130629"/>
                </a:lnTo>
                <a:lnTo>
                  <a:pt x="2173185" y="142504"/>
                </a:lnTo>
                <a:cubicBezTo>
                  <a:pt x="2217068" y="208330"/>
                  <a:pt x="2171827" y="156264"/>
                  <a:pt x="2232561" y="190005"/>
                </a:cubicBezTo>
                <a:cubicBezTo>
                  <a:pt x="2257514" y="203867"/>
                  <a:pt x="2280062" y="221672"/>
                  <a:pt x="2303813" y="237506"/>
                </a:cubicBezTo>
                <a:cubicBezTo>
                  <a:pt x="2315688" y="245423"/>
                  <a:pt x="2329347" y="251165"/>
                  <a:pt x="2339439" y="261257"/>
                </a:cubicBezTo>
                <a:lnTo>
                  <a:pt x="2375065" y="296883"/>
                </a:lnTo>
                <a:cubicBezTo>
                  <a:pt x="2391490" y="346159"/>
                  <a:pt x="2386732" y="356190"/>
                  <a:pt x="2458192" y="380010"/>
                </a:cubicBezTo>
                <a:lnTo>
                  <a:pt x="2529444" y="403761"/>
                </a:lnTo>
                <a:lnTo>
                  <a:pt x="2565070" y="415636"/>
                </a:lnTo>
                <a:cubicBezTo>
                  <a:pt x="2576945" y="423553"/>
                  <a:pt x="2590604" y="429295"/>
                  <a:pt x="2600696" y="439387"/>
                </a:cubicBezTo>
                <a:cubicBezTo>
                  <a:pt x="2610788" y="449479"/>
                  <a:pt x="2613706" y="465615"/>
                  <a:pt x="2624447" y="475013"/>
                </a:cubicBezTo>
                <a:cubicBezTo>
                  <a:pt x="2645929" y="493810"/>
                  <a:pt x="2695699" y="522514"/>
                  <a:pt x="2695699" y="522514"/>
                </a:cubicBezTo>
                <a:lnTo>
                  <a:pt x="3051959" y="510639"/>
                </a:lnTo>
                <a:cubicBezTo>
                  <a:pt x="3099571" y="508372"/>
                  <a:pt x="3148631" y="511859"/>
                  <a:pt x="3194463" y="498764"/>
                </a:cubicBezTo>
                <a:cubicBezTo>
                  <a:pt x="3208186" y="494843"/>
                  <a:pt x="3209076" y="474102"/>
                  <a:pt x="3218213" y="463138"/>
                </a:cubicBezTo>
                <a:cubicBezTo>
                  <a:pt x="3228964" y="450236"/>
                  <a:pt x="3239158" y="435668"/>
                  <a:pt x="3253839" y="427512"/>
                </a:cubicBezTo>
                <a:cubicBezTo>
                  <a:pt x="3253847" y="427508"/>
                  <a:pt x="3342900" y="397825"/>
                  <a:pt x="3360717" y="391886"/>
                </a:cubicBezTo>
                <a:lnTo>
                  <a:pt x="3396343" y="380010"/>
                </a:lnTo>
                <a:cubicBezTo>
                  <a:pt x="3404260" y="368135"/>
                  <a:pt x="3410957" y="355348"/>
                  <a:pt x="3420094" y="344384"/>
                </a:cubicBezTo>
                <a:cubicBezTo>
                  <a:pt x="3430845" y="331482"/>
                  <a:pt x="3447564" y="323439"/>
                  <a:pt x="3455720" y="308758"/>
                </a:cubicBezTo>
                <a:cubicBezTo>
                  <a:pt x="3467878" y="286873"/>
                  <a:pt x="3458639" y="251393"/>
                  <a:pt x="3479470" y="237506"/>
                </a:cubicBezTo>
                <a:lnTo>
                  <a:pt x="3586348" y="166254"/>
                </a:lnTo>
                <a:cubicBezTo>
                  <a:pt x="3598223" y="158337"/>
                  <a:pt x="3611882" y="152596"/>
                  <a:pt x="3621974" y="142504"/>
                </a:cubicBezTo>
                <a:lnTo>
                  <a:pt x="3657600" y="106878"/>
                </a:lnTo>
                <a:cubicBezTo>
                  <a:pt x="3697184" y="110836"/>
                  <a:pt x="3737253" y="111422"/>
                  <a:pt x="3776353" y="118753"/>
                </a:cubicBezTo>
                <a:cubicBezTo>
                  <a:pt x="3800960" y="123367"/>
                  <a:pt x="3847605" y="142504"/>
                  <a:pt x="3847605" y="142504"/>
                </a:cubicBezTo>
                <a:cubicBezTo>
                  <a:pt x="3855522" y="154379"/>
                  <a:pt x="3864973" y="165364"/>
                  <a:pt x="3871356" y="178130"/>
                </a:cubicBezTo>
                <a:cubicBezTo>
                  <a:pt x="3876954" y="189326"/>
                  <a:pt x="3876287" y="203341"/>
                  <a:pt x="3883231" y="213756"/>
                </a:cubicBezTo>
                <a:cubicBezTo>
                  <a:pt x="3892547" y="227730"/>
                  <a:pt x="3908106" y="236480"/>
                  <a:pt x="3918857" y="249382"/>
                </a:cubicBezTo>
                <a:cubicBezTo>
                  <a:pt x="3927994" y="260346"/>
                  <a:pt x="3931463" y="276092"/>
                  <a:pt x="3942608" y="285008"/>
                </a:cubicBezTo>
                <a:cubicBezTo>
                  <a:pt x="3952383" y="292828"/>
                  <a:pt x="3966359" y="292925"/>
                  <a:pt x="3978234" y="296883"/>
                </a:cubicBezTo>
                <a:cubicBezTo>
                  <a:pt x="4034692" y="334522"/>
                  <a:pt x="4000318" y="316119"/>
                  <a:pt x="4085112" y="344384"/>
                </a:cubicBezTo>
                <a:lnTo>
                  <a:pt x="4120738" y="356260"/>
                </a:lnTo>
                <a:lnTo>
                  <a:pt x="4156364" y="368135"/>
                </a:lnTo>
                <a:cubicBezTo>
                  <a:pt x="4168239" y="380010"/>
                  <a:pt x="4179088" y="393010"/>
                  <a:pt x="4191990" y="403761"/>
                </a:cubicBezTo>
                <a:cubicBezTo>
                  <a:pt x="4202954" y="412898"/>
                  <a:pt x="4217524" y="417420"/>
                  <a:pt x="4227616" y="427512"/>
                </a:cubicBezTo>
                <a:cubicBezTo>
                  <a:pt x="4237708" y="437604"/>
                  <a:pt x="4239263" y="455574"/>
                  <a:pt x="4251366" y="463138"/>
                </a:cubicBezTo>
                <a:cubicBezTo>
                  <a:pt x="4306185" y="497399"/>
                  <a:pt x="4415054" y="493494"/>
                  <a:pt x="4465122" y="498764"/>
                </a:cubicBezTo>
                <a:cubicBezTo>
                  <a:pt x="4538622" y="506501"/>
                  <a:pt x="4536130" y="507609"/>
                  <a:pt x="4595751" y="522514"/>
                </a:cubicBezTo>
                <a:cubicBezTo>
                  <a:pt x="4635335" y="518556"/>
                  <a:pt x="4674722" y="510639"/>
                  <a:pt x="4714504" y="510639"/>
                </a:cubicBezTo>
                <a:cubicBezTo>
                  <a:pt x="5144338" y="510639"/>
                  <a:pt x="4849514" y="537861"/>
                  <a:pt x="5094514" y="510639"/>
                </a:cubicBezTo>
                <a:lnTo>
                  <a:pt x="5165766" y="486888"/>
                </a:lnTo>
                <a:lnTo>
                  <a:pt x="5201392" y="475013"/>
                </a:lnTo>
                <a:cubicBezTo>
                  <a:pt x="5303492" y="406946"/>
                  <a:pt x="5174312" y="488553"/>
                  <a:pt x="5272644" y="439387"/>
                </a:cubicBezTo>
                <a:cubicBezTo>
                  <a:pt x="5364727" y="393346"/>
                  <a:pt x="5254349" y="433609"/>
                  <a:pt x="5343896" y="403761"/>
                </a:cubicBezTo>
                <a:cubicBezTo>
                  <a:pt x="5407232" y="308758"/>
                  <a:pt x="5324104" y="423553"/>
                  <a:pt x="5403273" y="344384"/>
                </a:cubicBezTo>
                <a:cubicBezTo>
                  <a:pt x="5482438" y="265219"/>
                  <a:pt x="5367652" y="348338"/>
                  <a:pt x="5462650" y="285008"/>
                </a:cubicBezTo>
                <a:cubicBezTo>
                  <a:pt x="5484317" y="252507"/>
                  <a:pt x="5484525" y="242298"/>
                  <a:pt x="5522026" y="225631"/>
                </a:cubicBezTo>
                <a:cubicBezTo>
                  <a:pt x="5544904" y="215463"/>
                  <a:pt x="5572447" y="215767"/>
                  <a:pt x="5593278" y="201880"/>
                </a:cubicBezTo>
                <a:cubicBezTo>
                  <a:pt x="5605153" y="193963"/>
                  <a:pt x="5615862" y="183926"/>
                  <a:pt x="5628904" y="178130"/>
                </a:cubicBezTo>
                <a:cubicBezTo>
                  <a:pt x="5628914" y="178125"/>
                  <a:pt x="5717963" y="148443"/>
                  <a:pt x="5735782" y="142504"/>
                </a:cubicBezTo>
                <a:lnTo>
                  <a:pt x="5771408" y="130629"/>
                </a:lnTo>
                <a:cubicBezTo>
                  <a:pt x="5783283" y="122712"/>
                  <a:pt x="5793992" y="112675"/>
                  <a:pt x="5807034" y="106878"/>
                </a:cubicBezTo>
                <a:cubicBezTo>
                  <a:pt x="5898910" y="66044"/>
                  <a:pt x="5857159" y="104254"/>
                  <a:pt x="5890161" y="71252"/>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90ED8C5B-10B6-0542-BDD5-BD5FBBB4F57D}"/>
              </a:ext>
            </a:extLst>
          </p:cNvPr>
          <p:cNvSpPr/>
          <p:nvPr/>
        </p:nvSpPr>
        <p:spPr>
          <a:xfrm>
            <a:off x="6982691" y="2328239"/>
            <a:ext cx="3004457" cy="332887"/>
          </a:xfrm>
          <a:custGeom>
            <a:avLst/>
            <a:gdLst>
              <a:gd name="connsiteX0" fmla="*/ 0 w 3004457"/>
              <a:gd name="connsiteY0" fmla="*/ 320634 h 332887"/>
              <a:gd name="connsiteX1" fmla="*/ 118753 w 3004457"/>
              <a:gd name="connsiteY1" fmla="*/ 332510 h 332887"/>
              <a:gd name="connsiteX2" fmla="*/ 190005 w 3004457"/>
              <a:gd name="connsiteY2" fmla="*/ 308759 h 332887"/>
              <a:gd name="connsiteX3" fmla="*/ 225631 w 3004457"/>
              <a:gd name="connsiteY3" fmla="*/ 296884 h 332887"/>
              <a:gd name="connsiteX4" fmla="*/ 308758 w 3004457"/>
              <a:gd name="connsiteY4" fmla="*/ 273133 h 332887"/>
              <a:gd name="connsiteX5" fmla="*/ 380010 w 3004457"/>
              <a:gd name="connsiteY5" fmla="*/ 249382 h 332887"/>
              <a:gd name="connsiteX6" fmla="*/ 415636 w 3004457"/>
              <a:gd name="connsiteY6" fmla="*/ 237507 h 332887"/>
              <a:gd name="connsiteX7" fmla="*/ 486888 w 3004457"/>
              <a:gd name="connsiteY7" fmla="*/ 213756 h 332887"/>
              <a:gd name="connsiteX8" fmla="*/ 522514 w 3004457"/>
              <a:gd name="connsiteY8" fmla="*/ 201881 h 332887"/>
              <a:gd name="connsiteX9" fmla="*/ 581891 w 3004457"/>
              <a:gd name="connsiteY9" fmla="*/ 190006 h 332887"/>
              <a:gd name="connsiteX10" fmla="*/ 653143 w 3004457"/>
              <a:gd name="connsiteY10" fmla="*/ 166255 h 332887"/>
              <a:gd name="connsiteX11" fmla="*/ 688769 w 3004457"/>
              <a:gd name="connsiteY11" fmla="*/ 154380 h 332887"/>
              <a:gd name="connsiteX12" fmla="*/ 736270 w 3004457"/>
              <a:gd name="connsiteY12" fmla="*/ 142504 h 332887"/>
              <a:gd name="connsiteX13" fmla="*/ 807522 w 3004457"/>
              <a:gd name="connsiteY13" fmla="*/ 118754 h 332887"/>
              <a:gd name="connsiteX14" fmla="*/ 855023 w 3004457"/>
              <a:gd name="connsiteY14" fmla="*/ 106878 h 332887"/>
              <a:gd name="connsiteX15" fmla="*/ 890649 w 3004457"/>
              <a:gd name="connsiteY15" fmla="*/ 95003 h 332887"/>
              <a:gd name="connsiteX16" fmla="*/ 1021278 w 3004457"/>
              <a:gd name="connsiteY16" fmla="*/ 71252 h 332887"/>
              <a:gd name="connsiteX17" fmla="*/ 1092530 w 3004457"/>
              <a:gd name="connsiteY17" fmla="*/ 59377 h 332887"/>
              <a:gd name="connsiteX18" fmla="*/ 1128156 w 3004457"/>
              <a:gd name="connsiteY18" fmla="*/ 47502 h 332887"/>
              <a:gd name="connsiteX19" fmla="*/ 1258784 w 3004457"/>
              <a:gd name="connsiteY19" fmla="*/ 35626 h 332887"/>
              <a:gd name="connsiteX20" fmla="*/ 2398815 w 3004457"/>
              <a:gd name="connsiteY20" fmla="*/ 47502 h 332887"/>
              <a:gd name="connsiteX21" fmla="*/ 2470067 w 3004457"/>
              <a:gd name="connsiteY21" fmla="*/ 71252 h 332887"/>
              <a:gd name="connsiteX22" fmla="*/ 2505693 w 3004457"/>
              <a:gd name="connsiteY22" fmla="*/ 83128 h 332887"/>
              <a:gd name="connsiteX23" fmla="*/ 2802577 w 3004457"/>
              <a:gd name="connsiteY23" fmla="*/ 71252 h 332887"/>
              <a:gd name="connsiteX24" fmla="*/ 2873828 w 3004457"/>
              <a:gd name="connsiteY24" fmla="*/ 47502 h 332887"/>
              <a:gd name="connsiteX25" fmla="*/ 2945080 w 3004457"/>
              <a:gd name="connsiteY25" fmla="*/ 23751 h 332887"/>
              <a:gd name="connsiteX26" fmla="*/ 2980706 w 3004457"/>
              <a:gd name="connsiteY26" fmla="*/ 11876 h 332887"/>
              <a:gd name="connsiteX27" fmla="*/ 3004457 w 3004457"/>
              <a:gd name="connsiteY27" fmla="*/ 0 h 332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004457" h="332887">
                <a:moveTo>
                  <a:pt x="0" y="320634"/>
                </a:moveTo>
                <a:cubicBezTo>
                  <a:pt x="39584" y="324593"/>
                  <a:pt x="79049" y="334991"/>
                  <a:pt x="118753" y="332510"/>
                </a:cubicBezTo>
                <a:cubicBezTo>
                  <a:pt x="143740" y="330948"/>
                  <a:pt x="166254" y="316676"/>
                  <a:pt x="190005" y="308759"/>
                </a:cubicBezTo>
                <a:lnTo>
                  <a:pt x="225631" y="296884"/>
                </a:lnTo>
                <a:cubicBezTo>
                  <a:pt x="345382" y="256967"/>
                  <a:pt x="159617" y="317876"/>
                  <a:pt x="308758" y="273133"/>
                </a:cubicBezTo>
                <a:cubicBezTo>
                  <a:pt x="332738" y="265939"/>
                  <a:pt x="356259" y="257299"/>
                  <a:pt x="380010" y="249382"/>
                </a:cubicBezTo>
                <a:lnTo>
                  <a:pt x="415636" y="237507"/>
                </a:lnTo>
                <a:lnTo>
                  <a:pt x="486888" y="213756"/>
                </a:lnTo>
                <a:cubicBezTo>
                  <a:pt x="498763" y="209798"/>
                  <a:pt x="510239" y="204336"/>
                  <a:pt x="522514" y="201881"/>
                </a:cubicBezTo>
                <a:cubicBezTo>
                  <a:pt x="542306" y="197923"/>
                  <a:pt x="562418" y="195317"/>
                  <a:pt x="581891" y="190006"/>
                </a:cubicBezTo>
                <a:cubicBezTo>
                  <a:pt x="606044" y="183419"/>
                  <a:pt x="629392" y="174172"/>
                  <a:pt x="653143" y="166255"/>
                </a:cubicBezTo>
                <a:cubicBezTo>
                  <a:pt x="665018" y="162297"/>
                  <a:pt x="676625" y="157416"/>
                  <a:pt x="688769" y="154380"/>
                </a:cubicBezTo>
                <a:cubicBezTo>
                  <a:pt x="704603" y="150421"/>
                  <a:pt x="720637" y="147194"/>
                  <a:pt x="736270" y="142504"/>
                </a:cubicBezTo>
                <a:cubicBezTo>
                  <a:pt x="760249" y="135310"/>
                  <a:pt x="783234" y="124826"/>
                  <a:pt x="807522" y="118754"/>
                </a:cubicBezTo>
                <a:cubicBezTo>
                  <a:pt x="823356" y="114795"/>
                  <a:pt x="839330" y="111362"/>
                  <a:pt x="855023" y="106878"/>
                </a:cubicBezTo>
                <a:cubicBezTo>
                  <a:pt x="867059" y="103439"/>
                  <a:pt x="878613" y="98442"/>
                  <a:pt x="890649" y="95003"/>
                </a:cubicBezTo>
                <a:cubicBezTo>
                  <a:pt x="949906" y="78073"/>
                  <a:pt x="948403" y="82464"/>
                  <a:pt x="1021278" y="71252"/>
                </a:cubicBezTo>
                <a:cubicBezTo>
                  <a:pt x="1045076" y="67591"/>
                  <a:pt x="1069025" y="64600"/>
                  <a:pt x="1092530" y="59377"/>
                </a:cubicBezTo>
                <a:cubicBezTo>
                  <a:pt x="1104750" y="56662"/>
                  <a:pt x="1115764" y="49272"/>
                  <a:pt x="1128156" y="47502"/>
                </a:cubicBezTo>
                <a:cubicBezTo>
                  <a:pt x="1171439" y="41319"/>
                  <a:pt x="1215241" y="39585"/>
                  <a:pt x="1258784" y="35626"/>
                </a:cubicBezTo>
                <a:lnTo>
                  <a:pt x="2398815" y="47502"/>
                </a:lnTo>
                <a:cubicBezTo>
                  <a:pt x="2423840" y="48238"/>
                  <a:pt x="2446316" y="63335"/>
                  <a:pt x="2470067" y="71252"/>
                </a:cubicBezTo>
                <a:lnTo>
                  <a:pt x="2505693" y="83128"/>
                </a:lnTo>
                <a:cubicBezTo>
                  <a:pt x="2604654" y="79169"/>
                  <a:pt x="2703997" y="80792"/>
                  <a:pt x="2802577" y="71252"/>
                </a:cubicBezTo>
                <a:cubicBezTo>
                  <a:pt x="2827496" y="68841"/>
                  <a:pt x="2850078" y="55419"/>
                  <a:pt x="2873828" y="47502"/>
                </a:cubicBezTo>
                <a:lnTo>
                  <a:pt x="2945080" y="23751"/>
                </a:lnTo>
                <a:cubicBezTo>
                  <a:pt x="2956955" y="19793"/>
                  <a:pt x="2969510" y="17474"/>
                  <a:pt x="2980706" y="11876"/>
                </a:cubicBezTo>
                <a:lnTo>
                  <a:pt x="3004457" y="0"/>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D1CE7D30-6C64-2948-A61F-0A7642A86D88}"/>
              </a:ext>
            </a:extLst>
          </p:cNvPr>
          <p:cNvCxnSpPr>
            <a:cxnSpLocks/>
            <a:stCxn id="13" idx="14"/>
            <a:endCxn id="13" idx="30"/>
          </p:cNvCxnSpPr>
          <p:nvPr/>
        </p:nvCxnSpPr>
        <p:spPr>
          <a:xfrm flipV="1">
            <a:off x="3479470" y="2803251"/>
            <a:ext cx="1140031" cy="0"/>
          </a:xfrm>
          <a:prstGeom prst="line">
            <a:avLst/>
          </a:prstGeom>
          <a:ln w="412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4458C18-7D73-CC45-B7AD-41C243D61883}"/>
              </a:ext>
            </a:extLst>
          </p:cNvPr>
          <p:cNvCxnSpPr>
            <a:cxnSpLocks/>
            <a:endCxn id="13" idx="58"/>
          </p:cNvCxnSpPr>
          <p:nvPr/>
        </p:nvCxnSpPr>
        <p:spPr>
          <a:xfrm flipV="1">
            <a:off x="5041075" y="2767625"/>
            <a:ext cx="1692234" cy="0"/>
          </a:xfrm>
          <a:prstGeom prst="line">
            <a:avLst/>
          </a:prstGeom>
          <a:ln w="41275">
            <a:solidFill>
              <a:srgbClr val="00B0F0"/>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7EA93F3D-0B7D-D34D-9A8B-636B135A325C}"/>
              </a:ext>
            </a:extLst>
          </p:cNvPr>
          <p:cNvSpPr txBox="1"/>
          <p:nvPr/>
        </p:nvSpPr>
        <p:spPr>
          <a:xfrm>
            <a:off x="1589314" y="2007383"/>
            <a:ext cx="1235033"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floodplain</a:t>
            </a:r>
          </a:p>
        </p:txBody>
      </p:sp>
      <p:sp>
        <p:nvSpPr>
          <p:cNvPr id="21" name="TextBox 20">
            <a:extLst>
              <a:ext uri="{FF2B5EF4-FFF2-40B4-BE49-F238E27FC236}">
                <a16:creationId xmlns:a16="http://schemas.microsoft.com/office/drawing/2014/main" id="{76795535-4AD6-CA43-9151-FBD27426F746}"/>
              </a:ext>
            </a:extLst>
          </p:cNvPr>
          <p:cNvSpPr txBox="1"/>
          <p:nvPr/>
        </p:nvSpPr>
        <p:spPr>
          <a:xfrm>
            <a:off x="7703127" y="2024947"/>
            <a:ext cx="1235033"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floodplain</a:t>
            </a:r>
          </a:p>
        </p:txBody>
      </p:sp>
      <p:sp>
        <p:nvSpPr>
          <p:cNvPr id="22" name="TextBox 21">
            <a:extLst>
              <a:ext uri="{FF2B5EF4-FFF2-40B4-BE49-F238E27FC236}">
                <a16:creationId xmlns:a16="http://schemas.microsoft.com/office/drawing/2014/main" id="{708380EE-8688-C846-9666-F2F5926E331C}"/>
              </a:ext>
            </a:extLst>
          </p:cNvPr>
          <p:cNvSpPr txBox="1"/>
          <p:nvPr/>
        </p:nvSpPr>
        <p:spPr>
          <a:xfrm>
            <a:off x="3544783" y="2376715"/>
            <a:ext cx="1235033"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channel</a:t>
            </a:r>
          </a:p>
        </p:txBody>
      </p:sp>
      <p:sp>
        <p:nvSpPr>
          <p:cNvPr id="23" name="TextBox 22">
            <a:extLst>
              <a:ext uri="{FF2B5EF4-FFF2-40B4-BE49-F238E27FC236}">
                <a16:creationId xmlns:a16="http://schemas.microsoft.com/office/drawing/2014/main" id="{7BD48B8C-02A9-0545-84C4-FEE375790E80}"/>
              </a:ext>
            </a:extLst>
          </p:cNvPr>
          <p:cNvSpPr txBox="1"/>
          <p:nvPr/>
        </p:nvSpPr>
        <p:spPr>
          <a:xfrm>
            <a:off x="5287487" y="2389915"/>
            <a:ext cx="1235033"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channel</a:t>
            </a:r>
          </a:p>
        </p:txBody>
      </p:sp>
      <p:sp>
        <p:nvSpPr>
          <p:cNvPr id="19" name="TextBox 18">
            <a:extLst>
              <a:ext uri="{FF2B5EF4-FFF2-40B4-BE49-F238E27FC236}">
                <a16:creationId xmlns:a16="http://schemas.microsoft.com/office/drawing/2014/main" id="{570BFD7A-3990-2E4B-8AB5-272626EFED73}"/>
              </a:ext>
            </a:extLst>
          </p:cNvPr>
          <p:cNvSpPr txBox="1"/>
          <p:nvPr/>
        </p:nvSpPr>
        <p:spPr>
          <a:xfrm>
            <a:off x="443345" y="3410457"/>
            <a:ext cx="11305309"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In a one-dimensional analysis these complex cross sections are approximated as rectangular with width B and depth H (cross sectionally averaged depth of the actual cross section). </a:t>
            </a:r>
          </a:p>
        </p:txBody>
      </p:sp>
      <p:cxnSp>
        <p:nvCxnSpPr>
          <p:cNvPr id="16" name="Straight Connector 15">
            <a:extLst>
              <a:ext uri="{FF2B5EF4-FFF2-40B4-BE49-F238E27FC236}">
                <a16:creationId xmlns:a16="http://schemas.microsoft.com/office/drawing/2014/main" id="{4F3D76B6-3ABB-044F-9E04-C34796130E14}"/>
              </a:ext>
            </a:extLst>
          </p:cNvPr>
          <p:cNvCxnSpPr/>
          <p:nvPr/>
        </p:nvCxnSpPr>
        <p:spPr>
          <a:xfrm>
            <a:off x="807522" y="4457132"/>
            <a:ext cx="28775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F27B9CF-8AA8-D54B-AD8D-8682BDAED4BD}"/>
              </a:ext>
            </a:extLst>
          </p:cNvPr>
          <p:cNvCxnSpPr/>
          <p:nvPr/>
        </p:nvCxnSpPr>
        <p:spPr>
          <a:xfrm>
            <a:off x="3685076" y="4457132"/>
            <a:ext cx="0" cy="38001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CBFDE09-636E-454C-864B-82C25F7F213D}"/>
              </a:ext>
            </a:extLst>
          </p:cNvPr>
          <p:cNvCxnSpPr/>
          <p:nvPr/>
        </p:nvCxnSpPr>
        <p:spPr>
          <a:xfrm>
            <a:off x="3685076" y="4849018"/>
            <a:ext cx="366575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527C094-CEED-EB41-93F4-72DECE404836}"/>
              </a:ext>
            </a:extLst>
          </p:cNvPr>
          <p:cNvCxnSpPr/>
          <p:nvPr/>
        </p:nvCxnSpPr>
        <p:spPr>
          <a:xfrm>
            <a:off x="7364447" y="4480883"/>
            <a:ext cx="0" cy="38001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04CAC20-B719-9843-8D0E-5E782BF5CCAA}"/>
              </a:ext>
            </a:extLst>
          </p:cNvPr>
          <p:cNvCxnSpPr/>
          <p:nvPr/>
        </p:nvCxnSpPr>
        <p:spPr>
          <a:xfrm>
            <a:off x="7364447" y="4480883"/>
            <a:ext cx="28775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A587AF4-EFF5-3848-B5B0-F8FA00E72630}"/>
              </a:ext>
            </a:extLst>
          </p:cNvPr>
          <p:cNvCxnSpPr>
            <a:cxnSpLocks/>
          </p:cNvCxnSpPr>
          <p:nvPr/>
        </p:nvCxnSpPr>
        <p:spPr>
          <a:xfrm flipV="1">
            <a:off x="3685076" y="4552320"/>
            <a:ext cx="3679371" cy="1"/>
          </a:xfrm>
          <a:prstGeom prst="line">
            <a:avLst/>
          </a:prstGeom>
          <a:ln w="412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5EA5EFC-27D0-5543-ADC8-D108DECBE982}"/>
              </a:ext>
            </a:extLst>
          </p:cNvPr>
          <p:cNvCxnSpPr/>
          <p:nvPr/>
        </p:nvCxnSpPr>
        <p:spPr>
          <a:xfrm>
            <a:off x="3685076" y="4334040"/>
            <a:ext cx="3679371" cy="0"/>
          </a:xfrm>
          <a:prstGeom prst="straightConnector1">
            <a:avLst/>
          </a:prstGeom>
          <a:ln w="19050">
            <a:solidFill>
              <a:schemeClr val="tx1"/>
            </a:solidFill>
            <a:headEnd type="arrow" w="lg" len="lg"/>
            <a:tailEnd type="arrow" w="lg" len="lg"/>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E2CEB0A0-D9F5-3F47-BD53-BD40A17C2108}"/>
              </a:ext>
            </a:extLst>
          </p:cNvPr>
          <p:cNvSpPr txBox="1"/>
          <p:nvPr/>
        </p:nvSpPr>
        <p:spPr>
          <a:xfrm>
            <a:off x="5198365" y="3975561"/>
            <a:ext cx="525102"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B</a:t>
            </a:r>
          </a:p>
        </p:txBody>
      </p:sp>
      <p:cxnSp>
        <p:nvCxnSpPr>
          <p:cNvPr id="36" name="Straight Arrow Connector 35">
            <a:extLst>
              <a:ext uri="{FF2B5EF4-FFF2-40B4-BE49-F238E27FC236}">
                <a16:creationId xmlns:a16="http://schemas.microsoft.com/office/drawing/2014/main" id="{5993E603-934D-B440-B13C-B34EDD1685AA}"/>
              </a:ext>
            </a:extLst>
          </p:cNvPr>
          <p:cNvCxnSpPr/>
          <p:nvPr/>
        </p:nvCxnSpPr>
        <p:spPr>
          <a:xfrm>
            <a:off x="3485187" y="4564195"/>
            <a:ext cx="0" cy="296698"/>
          </a:xfrm>
          <a:prstGeom prst="straightConnector1">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993418D0-272F-0F42-B2A6-8994D151C88B}"/>
              </a:ext>
            </a:extLst>
          </p:cNvPr>
          <p:cNvSpPr txBox="1"/>
          <p:nvPr/>
        </p:nvSpPr>
        <p:spPr>
          <a:xfrm>
            <a:off x="3109610" y="4517018"/>
            <a:ext cx="351378" cy="369332"/>
          </a:xfrm>
          <a:prstGeom prst="rect">
            <a:avLst/>
          </a:prstGeom>
          <a:noFill/>
        </p:spPr>
        <p:txBody>
          <a:bodyPr wrap="none" rtlCol="0">
            <a:spAutoFit/>
          </a:bodyPr>
          <a:lstStyle/>
          <a:p>
            <a:pPr algn="l"/>
            <a:r>
              <a:rPr lang="en-US" dirty="0">
                <a:latin typeface="Arial" panose="020B0604020202020204" pitchFamily="34" charset="0"/>
                <a:cs typeface="Arial" panose="020B0604020202020204" pitchFamily="34" charset="0"/>
              </a:rPr>
              <a:t>H</a:t>
            </a:r>
          </a:p>
        </p:txBody>
      </p:sp>
      <p:sp>
        <p:nvSpPr>
          <p:cNvPr id="38" name="TextBox 37">
            <a:extLst>
              <a:ext uri="{FF2B5EF4-FFF2-40B4-BE49-F238E27FC236}">
                <a16:creationId xmlns:a16="http://schemas.microsoft.com/office/drawing/2014/main" id="{BF03D51C-9E77-7F49-833C-1FD5A79487FB}"/>
              </a:ext>
            </a:extLst>
          </p:cNvPr>
          <p:cNvSpPr txBox="1"/>
          <p:nvPr/>
        </p:nvSpPr>
        <p:spPr>
          <a:xfrm>
            <a:off x="234537" y="5102814"/>
            <a:ext cx="11305309" cy="120032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These channels are generally wide, </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so that the hydraulic radius R</a:t>
            </a:r>
            <a:r>
              <a:rPr lang="en-US" baseline="-25000" dirty="0">
                <a:latin typeface="Arial" panose="020B0604020202020204" pitchFamily="34" charset="0"/>
                <a:cs typeface="Arial" panose="020B0604020202020204" pitchFamily="34" charset="0"/>
              </a:rPr>
              <a:t>h</a:t>
            </a:r>
            <a:r>
              <a:rPr lang="en-US" dirty="0">
                <a:latin typeface="Arial" panose="020B0604020202020204" pitchFamily="34" charset="0"/>
                <a:cs typeface="Arial" panose="020B0604020202020204" pitchFamily="34" charset="0"/>
              </a:rPr>
              <a:t> can be approximated with the flow depth</a:t>
            </a: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7979E746-1DB1-164A-8427-1DFBE4335E65}"/>
                  </a:ext>
                </a:extLst>
              </p:cNvPr>
              <p:cNvSpPr txBox="1"/>
              <p:nvPr/>
            </p:nvSpPr>
            <p:spPr>
              <a:xfrm>
                <a:off x="4690658" y="5065483"/>
                <a:ext cx="700833" cy="516745"/>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𝐻</m:t>
                          </m:r>
                        </m:num>
                        <m:den>
                          <m:r>
                            <a:rPr lang="en-US" b="0" i="1" smtClean="0">
                              <a:latin typeface="Cambria Math" panose="02040503050406030204" pitchFamily="18" charset="0"/>
                              <a:cs typeface="Arial" panose="020B0604020202020204" pitchFamily="34" charset="0"/>
                            </a:rPr>
                            <m:t>𝐵</m:t>
                          </m:r>
                        </m:den>
                      </m:f>
                      <m:r>
                        <a:rPr lang="en-US" b="0" i="1" smtClean="0">
                          <a:latin typeface="Cambria Math" panose="02040503050406030204" pitchFamily="18" charset="0"/>
                          <a:cs typeface="Arial" panose="020B0604020202020204" pitchFamily="34" charset="0"/>
                        </a:rPr>
                        <m:t>≪1</m:t>
                      </m:r>
                    </m:oMath>
                  </m:oMathPara>
                </a14:m>
                <a:endParaRPr lang="en-US" dirty="0">
                  <a:latin typeface="Arial" panose="020B0604020202020204" pitchFamily="34" charset="0"/>
                  <a:cs typeface="Arial" panose="020B0604020202020204" pitchFamily="34" charset="0"/>
                </a:endParaRPr>
              </a:p>
            </p:txBody>
          </p:sp>
        </mc:Choice>
        <mc:Fallback xmlns="">
          <p:sp>
            <p:nvSpPr>
              <p:cNvPr id="39" name="TextBox 38">
                <a:extLst>
                  <a:ext uri="{FF2B5EF4-FFF2-40B4-BE49-F238E27FC236}">
                    <a16:creationId xmlns:a16="http://schemas.microsoft.com/office/drawing/2014/main" id="{7979E746-1DB1-164A-8427-1DFBE4335E65}"/>
                  </a:ext>
                </a:extLst>
              </p:cNvPr>
              <p:cNvSpPr txBox="1">
                <a:spLocks noRot="1" noChangeAspect="1" noMove="1" noResize="1" noEditPoints="1" noAdjustHandles="1" noChangeArrowheads="1" noChangeShapeType="1" noTextEdit="1"/>
              </p:cNvSpPr>
              <p:nvPr/>
            </p:nvSpPr>
            <p:spPr>
              <a:xfrm>
                <a:off x="4690658" y="5065483"/>
                <a:ext cx="700833" cy="516745"/>
              </a:xfrm>
              <a:prstGeom prst="rect">
                <a:avLst/>
              </a:prstGeom>
              <a:blipFill>
                <a:blip r:embed="rId2"/>
                <a:stretch>
                  <a:fillRect l="-7143" t="-2381" r="-7143" b="-119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Rectangle 42">
                <a:extLst>
                  <a:ext uri="{FF2B5EF4-FFF2-40B4-BE49-F238E27FC236}">
                    <a16:creationId xmlns:a16="http://schemas.microsoft.com/office/drawing/2014/main" id="{2F3452E9-15DF-A642-9DA2-C67DE4F925E8}"/>
                  </a:ext>
                </a:extLst>
              </p:cNvPr>
              <p:cNvSpPr/>
              <p:nvPr/>
            </p:nvSpPr>
            <p:spPr>
              <a:xfrm>
                <a:off x="7815477" y="5798367"/>
                <a:ext cx="2640979" cy="6154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𝑅</m:t>
                          </m:r>
                        </m:e>
                        <m:sub>
                          <m:r>
                            <a:rPr lang="en-US" b="0" i="1" smtClean="0">
                              <a:latin typeface="Cambria Math" panose="02040503050406030204" pitchFamily="18" charset="0"/>
                              <a:cs typeface="Arial" panose="020B0604020202020204" pitchFamily="34" charset="0"/>
                            </a:rPr>
                            <m:t>h</m:t>
                          </m:r>
                        </m:sub>
                      </m:sSub>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𝐻𝐵</m:t>
                          </m:r>
                        </m:num>
                        <m:den>
                          <m:r>
                            <a:rPr lang="en-US" b="0" i="1" smtClean="0">
                              <a:latin typeface="Cambria Math" panose="02040503050406030204" pitchFamily="18" charset="0"/>
                              <a:cs typeface="Arial" panose="020B0604020202020204" pitchFamily="34" charset="0"/>
                            </a:rPr>
                            <m:t>𝐵</m:t>
                          </m:r>
                          <m:r>
                            <a:rPr lang="en-US" b="0" i="1" smtClean="0">
                              <a:latin typeface="Cambria Math" panose="02040503050406030204" pitchFamily="18" charset="0"/>
                              <a:cs typeface="Arial" panose="020B0604020202020204" pitchFamily="34" charset="0"/>
                            </a:rPr>
                            <m:t>+2</m:t>
                          </m:r>
                          <m:r>
                            <a:rPr lang="en-US" b="0" i="1" smtClean="0">
                              <a:latin typeface="Cambria Math" panose="02040503050406030204" pitchFamily="18" charset="0"/>
                              <a:cs typeface="Arial" panose="020B0604020202020204" pitchFamily="34" charset="0"/>
                            </a:rPr>
                            <m:t>𝐻</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smtClean="0">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𝐻𝐵</m:t>
                          </m:r>
                        </m:num>
                        <m:den>
                          <m:r>
                            <a:rPr lang="en-US" i="1">
                              <a:latin typeface="Cambria Math" panose="02040503050406030204" pitchFamily="18" charset="0"/>
                              <a:cs typeface="Arial" panose="020B0604020202020204" pitchFamily="34" charset="0"/>
                            </a:rPr>
                            <m:t>𝐵</m:t>
                          </m:r>
                        </m:den>
                      </m:f>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𝐻</m:t>
                      </m:r>
                    </m:oMath>
                  </m:oMathPara>
                </a14:m>
                <a:endParaRPr lang="en-US" dirty="0"/>
              </a:p>
            </p:txBody>
          </p:sp>
        </mc:Choice>
        <mc:Fallback xmlns="">
          <p:sp>
            <p:nvSpPr>
              <p:cNvPr id="43" name="Rectangle 42">
                <a:extLst>
                  <a:ext uri="{FF2B5EF4-FFF2-40B4-BE49-F238E27FC236}">
                    <a16:creationId xmlns:a16="http://schemas.microsoft.com/office/drawing/2014/main" id="{2F3452E9-15DF-A642-9DA2-C67DE4F925E8}"/>
                  </a:ext>
                </a:extLst>
              </p:cNvPr>
              <p:cNvSpPr>
                <a:spLocks noRot="1" noChangeAspect="1" noMove="1" noResize="1" noEditPoints="1" noAdjustHandles="1" noChangeArrowheads="1" noChangeShapeType="1" noTextEdit="1"/>
              </p:cNvSpPr>
              <p:nvPr/>
            </p:nvSpPr>
            <p:spPr>
              <a:xfrm>
                <a:off x="7815477" y="5798367"/>
                <a:ext cx="2640979" cy="615490"/>
              </a:xfrm>
              <a:prstGeom prst="rect">
                <a:avLst/>
              </a:prstGeom>
              <a:blipFill>
                <a:blip r:embed="rId3"/>
                <a:stretch>
                  <a:fillRect b="-4082"/>
                </a:stretch>
              </a:blipFill>
            </p:spPr>
            <p:txBody>
              <a:bodyPr/>
              <a:lstStyle/>
              <a:p>
                <a:r>
                  <a:rPr lang="en-US">
                    <a:noFill/>
                  </a:rPr>
                  <a:t> </a:t>
                </a:r>
              </a:p>
            </p:txBody>
          </p:sp>
        </mc:Fallback>
      </mc:AlternateContent>
    </p:spTree>
    <p:extLst>
      <p:ext uri="{BB962C8B-B14F-4D97-AF65-F5344CB8AC3E}">
        <p14:creationId xmlns:p14="http://schemas.microsoft.com/office/powerpoint/2010/main" val="10464491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5</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1472541" y="136525"/>
            <a:ext cx="929837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Stage-discharge relations</a:t>
            </a:r>
          </a:p>
        </p:txBody>
      </p:sp>
      <p:sp>
        <p:nvSpPr>
          <p:cNvPr id="3" name="TextBox 2">
            <a:extLst>
              <a:ext uri="{FF2B5EF4-FFF2-40B4-BE49-F238E27FC236}">
                <a16:creationId xmlns:a16="http://schemas.microsoft.com/office/drawing/2014/main" id="{6CE32606-BFC2-6C48-AF0A-3BBAC7B1E53E}"/>
              </a:ext>
            </a:extLst>
          </p:cNvPr>
          <p:cNvSpPr txBox="1"/>
          <p:nvPr/>
        </p:nvSpPr>
        <p:spPr>
          <a:xfrm>
            <a:off x="463138" y="751888"/>
            <a:ext cx="11435937" cy="1261884"/>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Let’s </a:t>
            </a:r>
            <a:r>
              <a:rPr lang="en-US" sz="2000" dirty="0">
                <a:latin typeface="Symbol" pitchFamily="2" charset="2"/>
                <a:cs typeface="Arial" panose="020B0604020202020204" pitchFamily="34" charset="0"/>
              </a:rPr>
              <a:t>x</a:t>
            </a:r>
            <a:r>
              <a:rPr lang="en-US" dirty="0">
                <a:latin typeface="Arial" panose="020B0604020202020204" pitchFamily="34" charset="0"/>
                <a:cs typeface="Arial" panose="020B0604020202020204" pitchFamily="34" charset="0"/>
              </a:rPr>
              <a:t> denote the water surface elevation (stage) and Q the water discharge.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In rivers with floodplains </a:t>
            </a:r>
            <a:r>
              <a:rPr lang="en-US" sz="2000" dirty="0">
                <a:latin typeface="Symbol" pitchFamily="2" charset="2"/>
                <a:cs typeface="Arial" panose="020B0604020202020204" pitchFamily="34" charset="0"/>
              </a:rPr>
              <a:t>x</a:t>
            </a:r>
            <a:r>
              <a:rPr lang="en-US" dirty="0">
                <a:latin typeface="Arial" panose="020B0604020202020204" pitchFamily="34" charset="0"/>
                <a:cs typeface="Arial" panose="020B0604020202020204" pitchFamily="34" charset="0"/>
              </a:rPr>
              <a:t> tends to rapidly increase with Q when the flow is confined to the channel, and it increases much less rapidly when the flow spills on the floodplain.  </a:t>
            </a:r>
          </a:p>
        </p:txBody>
      </p:sp>
      <p:cxnSp>
        <p:nvCxnSpPr>
          <p:cNvPr id="32" name="Straight Connector 31">
            <a:extLst>
              <a:ext uri="{FF2B5EF4-FFF2-40B4-BE49-F238E27FC236}">
                <a16:creationId xmlns:a16="http://schemas.microsoft.com/office/drawing/2014/main" id="{4E1D25B9-1C2B-064A-94FB-E53D4B8B6D57}"/>
              </a:ext>
            </a:extLst>
          </p:cNvPr>
          <p:cNvCxnSpPr/>
          <p:nvPr/>
        </p:nvCxnSpPr>
        <p:spPr>
          <a:xfrm>
            <a:off x="736270" y="2586583"/>
            <a:ext cx="28775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AC1DAA1-1DAA-2D4E-A3B5-7A6B092B6323}"/>
              </a:ext>
            </a:extLst>
          </p:cNvPr>
          <p:cNvCxnSpPr/>
          <p:nvPr/>
        </p:nvCxnSpPr>
        <p:spPr>
          <a:xfrm>
            <a:off x="3613824" y="2586583"/>
            <a:ext cx="0" cy="38001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D2199BC-FD1A-8F4D-A64F-23DCCCE5BD55}"/>
              </a:ext>
            </a:extLst>
          </p:cNvPr>
          <p:cNvCxnSpPr/>
          <p:nvPr/>
        </p:nvCxnSpPr>
        <p:spPr>
          <a:xfrm>
            <a:off x="3613824" y="2978469"/>
            <a:ext cx="366575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5B7A9BCD-D4B8-A24F-854D-180A2222229F}"/>
              </a:ext>
            </a:extLst>
          </p:cNvPr>
          <p:cNvCxnSpPr/>
          <p:nvPr/>
        </p:nvCxnSpPr>
        <p:spPr>
          <a:xfrm>
            <a:off x="7293195" y="2610334"/>
            <a:ext cx="0" cy="38001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E0E7D409-F36A-FA4E-BB80-6C809019A80A}"/>
              </a:ext>
            </a:extLst>
          </p:cNvPr>
          <p:cNvCxnSpPr/>
          <p:nvPr/>
        </p:nvCxnSpPr>
        <p:spPr>
          <a:xfrm>
            <a:off x="7293195" y="2610334"/>
            <a:ext cx="28775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EB148DF6-DCA6-AC47-8DB7-AC8286913E35}"/>
              </a:ext>
            </a:extLst>
          </p:cNvPr>
          <p:cNvSpPr txBox="1"/>
          <p:nvPr/>
        </p:nvSpPr>
        <p:spPr>
          <a:xfrm>
            <a:off x="4914406" y="2621012"/>
            <a:ext cx="1235033"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channel</a:t>
            </a:r>
          </a:p>
        </p:txBody>
      </p:sp>
      <p:cxnSp>
        <p:nvCxnSpPr>
          <p:cNvPr id="17" name="Straight Connector 16">
            <a:extLst>
              <a:ext uri="{FF2B5EF4-FFF2-40B4-BE49-F238E27FC236}">
                <a16:creationId xmlns:a16="http://schemas.microsoft.com/office/drawing/2014/main" id="{C014F54D-9650-1D40-BD44-FA5AA52B2080}"/>
              </a:ext>
            </a:extLst>
          </p:cNvPr>
          <p:cNvCxnSpPr/>
          <p:nvPr/>
        </p:nvCxnSpPr>
        <p:spPr>
          <a:xfrm>
            <a:off x="332509" y="3277590"/>
            <a:ext cx="1102129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D1A57CBF-3BB7-DC4F-8A5E-BAEA9E9F5CDE}"/>
              </a:ext>
            </a:extLst>
          </p:cNvPr>
          <p:cNvSpPr txBox="1"/>
          <p:nvPr/>
        </p:nvSpPr>
        <p:spPr>
          <a:xfrm>
            <a:off x="8536125" y="2908258"/>
            <a:ext cx="1235033"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datum</a:t>
            </a:r>
          </a:p>
        </p:txBody>
      </p:sp>
      <p:sp>
        <p:nvSpPr>
          <p:cNvPr id="50" name="TextBox 49">
            <a:extLst>
              <a:ext uri="{FF2B5EF4-FFF2-40B4-BE49-F238E27FC236}">
                <a16:creationId xmlns:a16="http://schemas.microsoft.com/office/drawing/2014/main" id="{D9198C92-19DD-3B44-B789-06F14AAF0BF1}"/>
              </a:ext>
            </a:extLst>
          </p:cNvPr>
          <p:cNvSpPr txBox="1"/>
          <p:nvPr/>
        </p:nvSpPr>
        <p:spPr>
          <a:xfrm>
            <a:off x="8114455" y="1955437"/>
            <a:ext cx="1235033"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floodplain</a:t>
            </a:r>
          </a:p>
        </p:txBody>
      </p:sp>
      <p:cxnSp>
        <p:nvCxnSpPr>
          <p:cNvPr id="28" name="Straight Arrow Connector 27">
            <a:extLst>
              <a:ext uri="{FF2B5EF4-FFF2-40B4-BE49-F238E27FC236}">
                <a16:creationId xmlns:a16="http://schemas.microsoft.com/office/drawing/2014/main" id="{74B96D09-AA58-1441-A657-4AB495631106}"/>
              </a:ext>
            </a:extLst>
          </p:cNvPr>
          <p:cNvCxnSpPr>
            <a:cxnSpLocks/>
          </p:cNvCxnSpPr>
          <p:nvPr/>
        </p:nvCxnSpPr>
        <p:spPr>
          <a:xfrm flipV="1">
            <a:off x="2992582" y="2431086"/>
            <a:ext cx="0" cy="846504"/>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F5F82112-8B9B-A44D-843F-FDAE2F6AE291}"/>
              </a:ext>
            </a:extLst>
          </p:cNvPr>
          <p:cNvSpPr txBox="1"/>
          <p:nvPr/>
        </p:nvSpPr>
        <p:spPr>
          <a:xfrm>
            <a:off x="2961905" y="2640304"/>
            <a:ext cx="225632" cy="369332"/>
          </a:xfrm>
          <a:prstGeom prst="rect">
            <a:avLst/>
          </a:prstGeom>
          <a:noFill/>
        </p:spPr>
        <p:txBody>
          <a:bodyPr wrap="square" rtlCol="0">
            <a:spAutoFit/>
          </a:bodyPr>
          <a:lstStyle/>
          <a:p>
            <a:pPr algn="l"/>
            <a:r>
              <a:rPr lang="en-US" u="sng" dirty="0">
                <a:latin typeface="Symbol" pitchFamily="2" charset="2"/>
                <a:cs typeface="Arial" panose="020B0604020202020204" pitchFamily="34" charset="0"/>
              </a:rPr>
              <a:t>x</a:t>
            </a:r>
          </a:p>
        </p:txBody>
      </p:sp>
      <p:cxnSp>
        <p:nvCxnSpPr>
          <p:cNvPr id="51" name="Straight Connector 50">
            <a:extLst>
              <a:ext uri="{FF2B5EF4-FFF2-40B4-BE49-F238E27FC236}">
                <a16:creationId xmlns:a16="http://schemas.microsoft.com/office/drawing/2014/main" id="{AC442791-11AD-7E40-8DE3-66F1EF0FEAA3}"/>
              </a:ext>
            </a:extLst>
          </p:cNvPr>
          <p:cNvCxnSpPr>
            <a:cxnSpLocks/>
          </p:cNvCxnSpPr>
          <p:nvPr/>
        </p:nvCxnSpPr>
        <p:spPr>
          <a:xfrm>
            <a:off x="741860" y="2431085"/>
            <a:ext cx="9428889" cy="24553"/>
          </a:xfrm>
          <a:prstGeom prst="line">
            <a:avLst/>
          </a:prstGeom>
          <a:ln w="41275">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8772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6</a:t>
            </a:fld>
            <a:endParaRPr lang="en-US" dirty="0"/>
          </a:p>
        </p:txBody>
      </p:sp>
      <p:sp>
        <p:nvSpPr>
          <p:cNvPr id="3" name="TextBox 2">
            <a:extLst>
              <a:ext uri="{FF2B5EF4-FFF2-40B4-BE49-F238E27FC236}">
                <a16:creationId xmlns:a16="http://schemas.microsoft.com/office/drawing/2014/main" id="{6CE32606-BFC2-6C48-AF0A-3BBAC7B1E53E}"/>
              </a:ext>
            </a:extLst>
          </p:cNvPr>
          <p:cNvSpPr txBox="1"/>
          <p:nvPr/>
        </p:nvSpPr>
        <p:spPr>
          <a:xfrm>
            <a:off x="463138" y="751888"/>
            <a:ext cx="11435937" cy="1261884"/>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Let’s </a:t>
            </a:r>
            <a:r>
              <a:rPr lang="en-US" sz="2000" dirty="0">
                <a:latin typeface="Symbol" pitchFamily="2" charset="2"/>
                <a:cs typeface="Arial" panose="020B0604020202020204" pitchFamily="34" charset="0"/>
              </a:rPr>
              <a:t>x</a:t>
            </a:r>
            <a:r>
              <a:rPr lang="en-US" dirty="0">
                <a:latin typeface="Arial" panose="020B0604020202020204" pitchFamily="34" charset="0"/>
                <a:cs typeface="Arial" panose="020B0604020202020204" pitchFamily="34" charset="0"/>
              </a:rPr>
              <a:t> denote the water surface elevation (stage) and Q the water discharge.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In rivers with floodplains </a:t>
            </a:r>
            <a:r>
              <a:rPr lang="en-US" sz="2000" dirty="0">
                <a:latin typeface="Symbol" pitchFamily="2" charset="2"/>
                <a:cs typeface="Arial" panose="020B0604020202020204" pitchFamily="34" charset="0"/>
              </a:rPr>
              <a:t>x</a:t>
            </a:r>
            <a:r>
              <a:rPr lang="en-US" dirty="0">
                <a:latin typeface="Arial" panose="020B0604020202020204" pitchFamily="34" charset="0"/>
                <a:cs typeface="Arial" panose="020B0604020202020204" pitchFamily="34" charset="0"/>
              </a:rPr>
              <a:t> tends to rapidly increase with Q when the flow is confined to the channel, and it increases much less rapidly when the flow spills on the floodplain.  </a:t>
            </a:r>
          </a:p>
        </p:txBody>
      </p:sp>
      <p:sp>
        <p:nvSpPr>
          <p:cNvPr id="7" name="Rectangle 6">
            <a:extLst>
              <a:ext uri="{FF2B5EF4-FFF2-40B4-BE49-F238E27FC236}">
                <a16:creationId xmlns:a16="http://schemas.microsoft.com/office/drawing/2014/main" id="{BE5E7574-2090-FB44-B363-AAA75897CE27}"/>
              </a:ext>
            </a:extLst>
          </p:cNvPr>
          <p:cNvSpPr/>
          <p:nvPr/>
        </p:nvSpPr>
        <p:spPr>
          <a:xfrm>
            <a:off x="343394" y="2105915"/>
            <a:ext cx="4917371" cy="646331"/>
          </a:xfrm>
          <a:prstGeom prst="rect">
            <a:avLst/>
          </a:prstGeom>
        </p:spPr>
        <p:txBody>
          <a:bodyPr wrap="square">
            <a:spAutoFit/>
          </a:bodyPr>
          <a:lstStyle/>
          <a:p>
            <a:r>
              <a:rPr lang="en-US" dirty="0">
                <a:latin typeface="Arial" panose="020B0604020202020204" pitchFamily="34" charset="0"/>
                <a:cs typeface="Arial" panose="020B0604020202020204" pitchFamily="34" charset="0"/>
              </a:rPr>
              <a:t>USGS (United States Geological Survey) station Congaree River at Highway 601</a:t>
            </a:r>
          </a:p>
        </p:txBody>
      </p:sp>
      <p:pic>
        <p:nvPicPr>
          <p:cNvPr id="11" name="Picture 10" descr="A picture containing tree, outdoor, mountain, river&#10;&#10;Description automatically generated">
            <a:extLst>
              <a:ext uri="{FF2B5EF4-FFF2-40B4-BE49-F238E27FC236}">
                <a16:creationId xmlns:a16="http://schemas.microsoft.com/office/drawing/2014/main" id="{6C3D5BC2-DA61-414F-B0E7-CFCA9527C34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43394" y="2888713"/>
            <a:ext cx="4664208" cy="3604161"/>
          </a:xfrm>
          <a:prstGeom prst="rect">
            <a:avLst/>
          </a:prstGeom>
        </p:spPr>
      </p:pic>
      <p:sp>
        <p:nvSpPr>
          <p:cNvPr id="12" name="TextBox 11">
            <a:extLst>
              <a:ext uri="{FF2B5EF4-FFF2-40B4-BE49-F238E27FC236}">
                <a16:creationId xmlns:a16="http://schemas.microsoft.com/office/drawing/2014/main" id="{22FA4616-D0CA-404B-A869-3008E61F594C}"/>
              </a:ext>
            </a:extLst>
          </p:cNvPr>
          <p:cNvSpPr txBox="1"/>
          <p:nvPr/>
        </p:nvSpPr>
        <p:spPr>
          <a:xfrm>
            <a:off x="1472541" y="136525"/>
            <a:ext cx="929837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Stage-discharge relations</a:t>
            </a:r>
          </a:p>
        </p:txBody>
      </p:sp>
      <p:sp>
        <p:nvSpPr>
          <p:cNvPr id="2" name="Rectangle 1">
            <a:extLst>
              <a:ext uri="{FF2B5EF4-FFF2-40B4-BE49-F238E27FC236}">
                <a16:creationId xmlns:a16="http://schemas.microsoft.com/office/drawing/2014/main" id="{966BEBF4-4C9C-644E-8C93-943A329611B1}"/>
              </a:ext>
            </a:extLst>
          </p:cNvPr>
          <p:cNvSpPr/>
          <p:nvPr/>
        </p:nvSpPr>
        <p:spPr>
          <a:xfrm>
            <a:off x="6896746" y="2425486"/>
            <a:ext cx="302217" cy="3494868"/>
          </a:xfrm>
          <a:prstGeom prst="rect">
            <a:avLst/>
          </a:prstGeom>
          <a:solidFill>
            <a:schemeClr val="accent5">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14">
            <a:extLst>
              <a:ext uri="{FF2B5EF4-FFF2-40B4-BE49-F238E27FC236}">
                <a16:creationId xmlns:a16="http://schemas.microsoft.com/office/drawing/2014/main" id="{C2893ECD-A283-AD43-94EA-9D14F8FD1E5E}"/>
              </a:ext>
            </a:extLst>
          </p:cNvPr>
          <p:cNvSpPr/>
          <p:nvPr/>
        </p:nvSpPr>
        <p:spPr>
          <a:xfrm>
            <a:off x="6383867" y="2810933"/>
            <a:ext cx="3691466" cy="2641600"/>
          </a:xfrm>
          <a:custGeom>
            <a:avLst/>
            <a:gdLst>
              <a:gd name="connsiteX0" fmla="*/ 0 w 3691466"/>
              <a:gd name="connsiteY0" fmla="*/ 2641600 h 2641600"/>
              <a:gd name="connsiteX1" fmla="*/ 152400 w 3691466"/>
              <a:gd name="connsiteY1" fmla="*/ 2218267 h 2641600"/>
              <a:gd name="connsiteX2" fmla="*/ 338666 w 3691466"/>
              <a:gd name="connsiteY2" fmla="*/ 1727200 h 2641600"/>
              <a:gd name="connsiteX3" fmla="*/ 558800 w 3691466"/>
              <a:gd name="connsiteY3" fmla="*/ 1303867 h 2641600"/>
              <a:gd name="connsiteX4" fmla="*/ 880533 w 3691466"/>
              <a:gd name="connsiteY4" fmla="*/ 1016000 h 2641600"/>
              <a:gd name="connsiteX5" fmla="*/ 1354666 w 3691466"/>
              <a:gd name="connsiteY5" fmla="*/ 812800 h 2641600"/>
              <a:gd name="connsiteX6" fmla="*/ 3691466 w 3691466"/>
              <a:gd name="connsiteY6" fmla="*/ 0 h 264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91466" h="2641600">
                <a:moveTo>
                  <a:pt x="0" y="2641600"/>
                </a:moveTo>
                <a:cubicBezTo>
                  <a:pt x="47978" y="2506133"/>
                  <a:pt x="95956" y="2370667"/>
                  <a:pt x="152400" y="2218267"/>
                </a:cubicBezTo>
                <a:cubicBezTo>
                  <a:pt x="208844" y="2065867"/>
                  <a:pt x="270933" y="1879600"/>
                  <a:pt x="338666" y="1727200"/>
                </a:cubicBezTo>
                <a:cubicBezTo>
                  <a:pt x="406399" y="1574800"/>
                  <a:pt x="468489" y="1422400"/>
                  <a:pt x="558800" y="1303867"/>
                </a:cubicBezTo>
                <a:cubicBezTo>
                  <a:pt x="649111" y="1185334"/>
                  <a:pt x="747889" y="1097844"/>
                  <a:pt x="880533" y="1016000"/>
                </a:cubicBezTo>
                <a:cubicBezTo>
                  <a:pt x="1013177" y="934156"/>
                  <a:pt x="886177" y="982133"/>
                  <a:pt x="1354666" y="812800"/>
                </a:cubicBezTo>
                <a:cubicBezTo>
                  <a:pt x="1823155" y="643467"/>
                  <a:pt x="2757310" y="321733"/>
                  <a:pt x="3691466" y="0"/>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6" name="Chart 25">
            <a:extLst>
              <a:ext uri="{FF2B5EF4-FFF2-40B4-BE49-F238E27FC236}">
                <a16:creationId xmlns:a16="http://schemas.microsoft.com/office/drawing/2014/main" id="{6052CF12-1BC6-054E-9E05-0FAC65B7EBE4}"/>
              </a:ext>
            </a:extLst>
          </p:cNvPr>
          <p:cNvGraphicFramePr>
            <a:graphicFrameLocks/>
          </p:cNvGraphicFramePr>
          <p:nvPr>
            <p:extLst>
              <p:ext uri="{D42A27DB-BD31-4B8C-83A1-F6EECF244321}">
                <p14:modId xmlns:p14="http://schemas.microsoft.com/office/powerpoint/2010/main" val="2229688571"/>
              </p:ext>
            </p:extLst>
          </p:nvPr>
        </p:nvGraphicFramePr>
        <p:xfrm>
          <a:off x="5260765" y="2291938"/>
          <a:ext cx="5510155" cy="4200936"/>
        </p:xfrm>
        <a:graphic>
          <a:graphicData uri="http://schemas.openxmlformats.org/drawingml/2006/chart">
            <c:chart xmlns:c="http://schemas.openxmlformats.org/drawingml/2006/chart" xmlns:r="http://schemas.openxmlformats.org/officeDocument/2006/relationships" r:id="rId3"/>
          </a:graphicData>
        </a:graphic>
      </p:graphicFrame>
      <p:sp>
        <p:nvSpPr>
          <p:cNvPr id="30" name="Rectangle 29">
            <a:extLst>
              <a:ext uri="{FF2B5EF4-FFF2-40B4-BE49-F238E27FC236}">
                <a16:creationId xmlns:a16="http://schemas.microsoft.com/office/drawing/2014/main" id="{2269CAA3-E844-5C47-A0AF-550E772FBF8D}"/>
              </a:ext>
            </a:extLst>
          </p:cNvPr>
          <p:cNvSpPr/>
          <p:nvPr/>
        </p:nvSpPr>
        <p:spPr>
          <a:xfrm>
            <a:off x="7265720" y="3954812"/>
            <a:ext cx="4814568" cy="369332"/>
          </a:xfrm>
          <a:prstGeom prst="rect">
            <a:avLst/>
          </a:prstGeom>
        </p:spPr>
        <p:txBody>
          <a:bodyPr wrap="square">
            <a:spAutoFit/>
          </a:bodyPr>
          <a:lstStyle/>
          <a:p>
            <a:r>
              <a:rPr lang="en-US" dirty="0">
                <a:latin typeface="Arial" panose="020B0604020202020204" pitchFamily="34" charset="0"/>
                <a:cs typeface="Arial" panose="020B0604020202020204" pitchFamily="34" charset="0"/>
              </a:rPr>
              <a:t>Rollover in the curve = bankfull discharge </a:t>
            </a:r>
            <a:r>
              <a:rPr lang="en-US" dirty="0" err="1">
                <a:latin typeface="Arial" panose="020B0604020202020204" pitchFamily="34" charset="0"/>
                <a:cs typeface="Arial" panose="020B0604020202020204" pitchFamily="34" charset="0"/>
              </a:rPr>
              <a:t>Q</a:t>
            </a:r>
            <a:r>
              <a:rPr lang="en-US" baseline="-25000" dirty="0" err="1">
                <a:latin typeface="Arial" panose="020B0604020202020204" pitchFamily="34" charset="0"/>
                <a:cs typeface="Arial" panose="020B0604020202020204" pitchFamily="34" charset="0"/>
              </a:rPr>
              <a:t>bf</a:t>
            </a:r>
            <a:endParaRPr lang="en-US" baseline="-25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163361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62AC2A6-5EC0-E440-A8BB-1ECAC968EF17}"/>
              </a:ext>
            </a:extLst>
          </p:cNvPr>
          <p:cNvSpPr/>
          <p:nvPr/>
        </p:nvSpPr>
        <p:spPr>
          <a:xfrm>
            <a:off x="7688835" y="1852048"/>
            <a:ext cx="387458" cy="3332136"/>
          </a:xfrm>
          <a:prstGeom prst="rect">
            <a:avLst/>
          </a:prstGeom>
          <a:solidFill>
            <a:schemeClr val="accent5">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47C512E-77E7-AD46-921B-2D0045757ED1}"/>
              </a:ext>
            </a:extLst>
          </p:cNvPr>
          <p:cNvSpPr/>
          <p:nvPr/>
        </p:nvSpPr>
        <p:spPr>
          <a:xfrm>
            <a:off x="2394488" y="1852047"/>
            <a:ext cx="387458" cy="3332136"/>
          </a:xfrm>
          <a:prstGeom prst="rect">
            <a:avLst/>
          </a:prstGeom>
          <a:solidFill>
            <a:schemeClr val="accent5">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7</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1472541" y="136525"/>
            <a:ext cx="929837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Bankfull depth and width</a:t>
            </a:r>
          </a:p>
        </p:txBody>
      </p:sp>
      <p:sp>
        <p:nvSpPr>
          <p:cNvPr id="7" name="Rectangle 6">
            <a:extLst>
              <a:ext uri="{FF2B5EF4-FFF2-40B4-BE49-F238E27FC236}">
                <a16:creationId xmlns:a16="http://schemas.microsoft.com/office/drawing/2014/main" id="{BE5E7574-2090-FB44-B363-AAA75897CE27}"/>
              </a:ext>
            </a:extLst>
          </p:cNvPr>
          <p:cNvSpPr/>
          <p:nvPr/>
        </p:nvSpPr>
        <p:spPr>
          <a:xfrm>
            <a:off x="1742269" y="778727"/>
            <a:ext cx="8775205" cy="369332"/>
          </a:xfrm>
          <a:prstGeom prst="rect">
            <a:avLst/>
          </a:prstGeom>
        </p:spPr>
        <p:txBody>
          <a:bodyPr wrap="square">
            <a:spAutoFit/>
          </a:bodyPr>
          <a:lstStyle/>
          <a:p>
            <a:r>
              <a:rPr lang="en-US" dirty="0">
                <a:latin typeface="Arial" panose="020B0604020202020204" pitchFamily="34" charset="0"/>
                <a:cs typeface="Arial" panose="020B0604020202020204" pitchFamily="34" charset="0"/>
              </a:rPr>
              <a:t>USGS (United States Geological Survey) station Congaree River at Highway 601</a:t>
            </a:r>
          </a:p>
        </p:txBody>
      </p:sp>
      <p:graphicFrame>
        <p:nvGraphicFramePr>
          <p:cNvPr id="6" name="Chart 5">
            <a:extLst>
              <a:ext uri="{FF2B5EF4-FFF2-40B4-BE49-F238E27FC236}">
                <a16:creationId xmlns:a16="http://schemas.microsoft.com/office/drawing/2014/main" id="{2E482FB8-71BB-A94C-BC49-ADC095124E34}"/>
              </a:ext>
            </a:extLst>
          </p:cNvPr>
          <p:cNvGraphicFramePr>
            <a:graphicFrameLocks/>
          </p:cNvGraphicFramePr>
          <p:nvPr>
            <p:extLst>
              <p:ext uri="{D42A27DB-BD31-4B8C-83A1-F6EECF244321}">
                <p14:modId xmlns:p14="http://schemas.microsoft.com/office/powerpoint/2010/main" val="2450654175"/>
              </p:ext>
            </p:extLst>
          </p:nvPr>
        </p:nvGraphicFramePr>
        <p:xfrm>
          <a:off x="766355" y="1675482"/>
          <a:ext cx="4458788" cy="4229371"/>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id="{4347A287-2B25-B849-BBD2-393456D2F087}"/>
              </a:ext>
            </a:extLst>
          </p:cNvPr>
          <p:cNvSpPr txBox="1"/>
          <p:nvPr/>
        </p:nvSpPr>
        <p:spPr>
          <a:xfrm>
            <a:off x="2200759" y="5904853"/>
            <a:ext cx="1782305" cy="369332"/>
          </a:xfrm>
          <a:prstGeom prst="rect">
            <a:avLst/>
          </a:prstGeom>
          <a:noFill/>
        </p:spPr>
        <p:txBody>
          <a:bodyPr wrap="square" rtlCol="0">
            <a:spAutoFit/>
          </a:bodyPr>
          <a:lstStyle/>
          <a:p>
            <a:pPr algn="l"/>
            <a:r>
              <a:rPr lang="en-US" dirty="0" err="1">
                <a:latin typeface="Arial" panose="020B0604020202020204" pitchFamily="34" charset="0"/>
                <a:cs typeface="Arial" panose="020B0604020202020204" pitchFamily="34" charset="0"/>
              </a:rPr>
              <a:t>B</a:t>
            </a:r>
            <a:r>
              <a:rPr lang="en-US" baseline="-25000" dirty="0" err="1">
                <a:latin typeface="Arial" panose="020B0604020202020204" pitchFamily="34" charset="0"/>
                <a:cs typeface="Arial" panose="020B0604020202020204" pitchFamily="34" charset="0"/>
              </a:rPr>
              <a:t>bf</a:t>
            </a:r>
            <a:r>
              <a:rPr lang="en-US" dirty="0">
                <a:latin typeface="Arial" panose="020B0604020202020204" pitchFamily="34" charset="0"/>
                <a:cs typeface="Arial" panose="020B0604020202020204" pitchFamily="34" charset="0"/>
              </a:rPr>
              <a:t> = 125 m</a:t>
            </a:r>
          </a:p>
        </p:txBody>
      </p:sp>
      <p:graphicFrame>
        <p:nvGraphicFramePr>
          <p:cNvPr id="9" name="Chart 8">
            <a:extLst>
              <a:ext uri="{FF2B5EF4-FFF2-40B4-BE49-F238E27FC236}">
                <a16:creationId xmlns:a16="http://schemas.microsoft.com/office/drawing/2014/main" id="{7ED009D0-0804-8640-A8EF-C4C8873C4FA5}"/>
              </a:ext>
            </a:extLst>
          </p:cNvPr>
          <p:cNvGraphicFramePr>
            <a:graphicFrameLocks/>
          </p:cNvGraphicFramePr>
          <p:nvPr>
            <p:extLst>
              <p:ext uri="{D42A27DB-BD31-4B8C-83A1-F6EECF244321}">
                <p14:modId xmlns:p14="http://schemas.microsoft.com/office/powerpoint/2010/main" val="2702761159"/>
              </p:ext>
            </p:extLst>
          </p:nvPr>
        </p:nvGraphicFramePr>
        <p:xfrm>
          <a:off x="5945474" y="1675482"/>
          <a:ext cx="4572000" cy="4229371"/>
        </p:xfrm>
        <a:graphic>
          <a:graphicData uri="http://schemas.openxmlformats.org/drawingml/2006/chart">
            <c:chart xmlns:c="http://schemas.openxmlformats.org/drawingml/2006/chart" xmlns:r="http://schemas.openxmlformats.org/officeDocument/2006/relationships" r:id="rId4"/>
          </a:graphicData>
        </a:graphic>
      </p:graphicFrame>
      <p:sp>
        <p:nvSpPr>
          <p:cNvPr id="16" name="TextBox 15">
            <a:extLst>
              <a:ext uri="{FF2B5EF4-FFF2-40B4-BE49-F238E27FC236}">
                <a16:creationId xmlns:a16="http://schemas.microsoft.com/office/drawing/2014/main" id="{D3263202-13E1-5C48-A058-3CB9353D1CCA}"/>
              </a:ext>
            </a:extLst>
          </p:cNvPr>
          <p:cNvSpPr txBox="1"/>
          <p:nvPr/>
        </p:nvSpPr>
        <p:spPr>
          <a:xfrm>
            <a:off x="6991411" y="5868036"/>
            <a:ext cx="1782305" cy="369332"/>
          </a:xfrm>
          <a:prstGeom prst="rect">
            <a:avLst/>
          </a:prstGeom>
          <a:noFill/>
        </p:spPr>
        <p:txBody>
          <a:bodyPr wrap="square" rtlCol="0">
            <a:spAutoFit/>
          </a:bodyPr>
          <a:lstStyle/>
          <a:p>
            <a:pPr algn="l"/>
            <a:r>
              <a:rPr lang="en-US" dirty="0" err="1">
                <a:latin typeface="Arial" panose="020B0604020202020204" pitchFamily="34" charset="0"/>
                <a:cs typeface="Arial" panose="020B0604020202020204" pitchFamily="34" charset="0"/>
              </a:rPr>
              <a:t>A</a:t>
            </a:r>
            <a:r>
              <a:rPr lang="en-US" baseline="-25000" dirty="0" err="1">
                <a:latin typeface="Arial" panose="020B0604020202020204" pitchFamily="34" charset="0"/>
                <a:cs typeface="Arial" panose="020B0604020202020204" pitchFamily="34" charset="0"/>
              </a:rPr>
              <a:t>bf</a:t>
            </a:r>
            <a:r>
              <a:rPr lang="en-US" dirty="0">
                <a:latin typeface="Arial" panose="020B0604020202020204" pitchFamily="34" charset="0"/>
                <a:cs typeface="Arial" panose="020B0604020202020204" pitchFamily="34" charset="0"/>
              </a:rPr>
              <a:t> = 500 m</a:t>
            </a:r>
            <a:r>
              <a:rPr lang="en-US" baseline="30000" dirty="0">
                <a:latin typeface="Arial" panose="020B0604020202020204" pitchFamily="34" charset="0"/>
                <a:cs typeface="Arial" panose="020B0604020202020204" pitchFamily="34" charset="0"/>
              </a:rPr>
              <a:t>2</a:t>
            </a:r>
          </a:p>
        </p:txBody>
      </p:sp>
      <p:sp>
        <p:nvSpPr>
          <p:cNvPr id="17" name="TextBox 16">
            <a:extLst>
              <a:ext uri="{FF2B5EF4-FFF2-40B4-BE49-F238E27FC236}">
                <a16:creationId xmlns:a16="http://schemas.microsoft.com/office/drawing/2014/main" id="{43AA3DD8-343C-D649-B865-52A04AD42AC9}"/>
              </a:ext>
            </a:extLst>
          </p:cNvPr>
          <p:cNvSpPr txBox="1"/>
          <p:nvPr/>
        </p:nvSpPr>
        <p:spPr>
          <a:xfrm>
            <a:off x="7025374" y="6313183"/>
            <a:ext cx="3007626" cy="369332"/>
          </a:xfrm>
          <a:prstGeom prst="rect">
            <a:avLst/>
          </a:prstGeom>
          <a:noFill/>
        </p:spPr>
        <p:txBody>
          <a:bodyPr wrap="square" rtlCol="0">
            <a:spAutoFit/>
          </a:bodyPr>
          <a:lstStyle/>
          <a:p>
            <a:pPr algn="l"/>
            <a:r>
              <a:rPr lang="en-US" dirty="0" err="1">
                <a:latin typeface="Arial" panose="020B0604020202020204" pitchFamily="34" charset="0"/>
                <a:cs typeface="Arial" panose="020B0604020202020204" pitchFamily="34" charset="0"/>
              </a:rPr>
              <a:t>H</a:t>
            </a:r>
            <a:r>
              <a:rPr lang="en-US" baseline="-25000" dirty="0" err="1">
                <a:latin typeface="Arial" panose="020B0604020202020204" pitchFamily="34" charset="0"/>
                <a:cs typeface="Arial" panose="020B0604020202020204" pitchFamily="34" charset="0"/>
              </a:rPr>
              <a:t>bf</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A</a:t>
            </a:r>
            <a:r>
              <a:rPr lang="en-US" baseline="-25000" dirty="0" err="1">
                <a:latin typeface="Arial" panose="020B0604020202020204" pitchFamily="34" charset="0"/>
                <a:cs typeface="Arial" panose="020B0604020202020204" pitchFamily="34" charset="0"/>
              </a:rPr>
              <a:t>bf</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B</a:t>
            </a:r>
            <a:r>
              <a:rPr lang="en-US" baseline="-25000" dirty="0" err="1">
                <a:latin typeface="Arial" panose="020B0604020202020204" pitchFamily="34" charset="0"/>
                <a:cs typeface="Arial" panose="020B0604020202020204" pitchFamily="34" charset="0"/>
              </a:rPr>
              <a:t>bf</a:t>
            </a:r>
            <a:r>
              <a:rPr lang="en-US" dirty="0">
                <a:latin typeface="Arial" panose="020B0604020202020204" pitchFamily="34" charset="0"/>
                <a:cs typeface="Arial" panose="020B0604020202020204" pitchFamily="34" charset="0"/>
              </a:rPr>
              <a:t> = 4 m</a:t>
            </a:r>
            <a:endParaRPr lang="en-US" baseline="30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29577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8</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1155370" y="136525"/>
            <a:ext cx="988125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The bed shear stress (1D)</a:t>
            </a:r>
          </a:p>
        </p:txBody>
      </p:sp>
      <p:sp>
        <p:nvSpPr>
          <p:cNvPr id="12" name="TextBox 11">
            <a:extLst>
              <a:ext uri="{FF2B5EF4-FFF2-40B4-BE49-F238E27FC236}">
                <a16:creationId xmlns:a16="http://schemas.microsoft.com/office/drawing/2014/main" id="{BCE0686D-67F8-9344-B021-4BFD51939801}"/>
              </a:ext>
            </a:extLst>
          </p:cNvPr>
          <p:cNvSpPr txBox="1"/>
          <p:nvPr/>
        </p:nvSpPr>
        <p:spPr>
          <a:xfrm>
            <a:off x="463138" y="751888"/>
            <a:ext cx="11435937" cy="954107"/>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bed shear stress </a:t>
            </a:r>
            <a:r>
              <a:rPr lang="en-US" sz="2000" dirty="0">
                <a:latin typeface="Symbol" pitchFamily="2" charset="2"/>
                <a:cs typeface="Arial" panose="020B0604020202020204" pitchFamily="34" charset="0"/>
              </a:rPr>
              <a:t>t</a:t>
            </a:r>
            <a:r>
              <a:rPr lang="en-US" baseline="-25000" dirty="0">
                <a:latin typeface="Arial" panose="020B0604020202020204" pitchFamily="34" charset="0"/>
                <a:cs typeface="Arial" panose="020B0604020202020204" pitchFamily="34" charset="0"/>
              </a:rPr>
              <a:t>b</a:t>
            </a:r>
            <a:r>
              <a:rPr lang="en-US" dirty="0">
                <a:latin typeface="Arial" panose="020B0604020202020204" pitchFamily="34" charset="0"/>
                <a:cs typeface="Arial" panose="020B0604020202020204" pitchFamily="34" charset="0"/>
              </a:rPr>
              <a:t> is used to quantify sediment transport and mobility.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To quantify the bed shear stress, we need to estimate the cross-sectionally averaged flow velocity U.</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DCB3FB7-AD1E-944E-9606-5A9B32B2F10B}"/>
                  </a:ext>
                </a:extLst>
              </p:cNvPr>
              <p:cNvSpPr txBox="1"/>
              <p:nvPr/>
            </p:nvSpPr>
            <p:spPr>
              <a:xfrm>
                <a:off x="558800" y="2062413"/>
                <a:ext cx="3244863" cy="526619"/>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cs typeface="Arial" panose="020B0604020202020204" pitchFamily="34" charset="0"/>
                        </a:rPr>
                        <m:t>U</m:t>
                      </m:r>
                      <m:r>
                        <a:rPr lang="en-US" b="0" i="0"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𝑄</m:t>
                          </m:r>
                        </m:num>
                        <m:den>
                          <m:r>
                            <a:rPr lang="en-US" b="0" i="1" smtClean="0">
                              <a:latin typeface="Cambria Math" panose="02040503050406030204" pitchFamily="18" charset="0"/>
                              <a:cs typeface="Arial" panose="020B0604020202020204" pitchFamily="34" charset="0"/>
                            </a:rPr>
                            <m:t>𝐵𝐻</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𝑓𝑙𝑜𝑤</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𝑟𝑎𝑡𝑒</m:t>
                          </m:r>
                        </m:num>
                        <m:den>
                          <m:r>
                            <a:rPr lang="en-US" b="0" i="1" smtClean="0">
                              <a:latin typeface="Cambria Math" panose="02040503050406030204" pitchFamily="18" charset="0"/>
                              <a:cs typeface="Arial" panose="020B0604020202020204" pitchFamily="34" charset="0"/>
                            </a:rPr>
                            <m:t>𝑐𝑟𝑜𝑠𝑠</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𝑠𝑒𝑐𝑡𝑖𝑜𝑛𝑎𝑙</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𝑎𝑟𝑒𝑎</m:t>
                          </m:r>
                        </m:den>
                      </m:f>
                    </m:oMath>
                  </m:oMathPara>
                </a14:m>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EDCB3FB7-AD1E-944E-9606-5A9B32B2F10B}"/>
                  </a:ext>
                </a:extLst>
              </p:cNvPr>
              <p:cNvSpPr txBox="1">
                <a:spLocks noRot="1" noChangeAspect="1" noMove="1" noResize="1" noEditPoints="1" noAdjustHandles="1" noChangeArrowheads="1" noChangeShapeType="1" noTextEdit="1"/>
              </p:cNvSpPr>
              <p:nvPr/>
            </p:nvSpPr>
            <p:spPr>
              <a:xfrm>
                <a:off x="558800" y="2062413"/>
                <a:ext cx="3244863" cy="526619"/>
              </a:xfrm>
              <a:prstGeom prst="rect">
                <a:avLst/>
              </a:prstGeom>
              <a:blipFill>
                <a:blip r:embed="rId3"/>
                <a:stretch>
                  <a:fillRect l="-1172" t="-9302" b="-279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D359E56-1C6C-9441-9733-C44F8249D774}"/>
                  </a:ext>
                </a:extLst>
              </p:cNvPr>
              <p:cNvSpPr txBox="1"/>
              <p:nvPr/>
            </p:nvSpPr>
            <p:spPr>
              <a:xfrm>
                <a:off x="545908" y="3393512"/>
                <a:ext cx="1218923" cy="304763"/>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𝐶</m:t>
                          </m:r>
                        </m:e>
                        <m:sub>
                          <m:r>
                            <a:rPr lang="en-US" b="0" i="1" smtClean="0">
                              <a:latin typeface="Cambria Math" panose="02040503050406030204" pitchFamily="18" charset="0"/>
                              <a:ea typeface="Cambria Math" panose="02040503050406030204" pitchFamily="18" charset="0"/>
                              <a:cs typeface="Arial" panose="020B0604020202020204" pitchFamily="34" charset="0"/>
                            </a:rPr>
                            <m:t>𝑓</m:t>
                          </m:r>
                        </m:sub>
                      </m:sSub>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𝑈</m:t>
                          </m:r>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oMath>
                  </m:oMathPara>
                </a14:m>
                <a:endParaRPr lang="en-US" dirty="0">
                  <a:latin typeface="Arial" panose="020B0604020202020204" pitchFamily="34" charset="0"/>
                  <a:cs typeface="Arial" panose="020B0604020202020204" pitchFamily="34" charset="0"/>
                </a:endParaRPr>
              </a:p>
            </p:txBody>
          </p:sp>
        </mc:Choice>
        <mc:Fallback xmlns="">
          <p:sp>
            <p:nvSpPr>
              <p:cNvPr id="14" name="TextBox 13">
                <a:extLst>
                  <a:ext uri="{FF2B5EF4-FFF2-40B4-BE49-F238E27FC236}">
                    <a16:creationId xmlns:a16="http://schemas.microsoft.com/office/drawing/2014/main" id="{DD359E56-1C6C-9441-9733-C44F8249D774}"/>
                  </a:ext>
                </a:extLst>
              </p:cNvPr>
              <p:cNvSpPr txBox="1">
                <a:spLocks noRot="1" noChangeAspect="1" noMove="1" noResize="1" noEditPoints="1" noAdjustHandles="1" noChangeArrowheads="1" noChangeShapeType="1" noTextEdit="1"/>
              </p:cNvSpPr>
              <p:nvPr/>
            </p:nvSpPr>
            <p:spPr>
              <a:xfrm>
                <a:off x="545908" y="3393512"/>
                <a:ext cx="1218923" cy="304763"/>
              </a:xfrm>
              <a:prstGeom prst="rect">
                <a:avLst/>
              </a:prstGeom>
              <a:blipFill>
                <a:blip r:embed="rId4"/>
                <a:stretch>
                  <a:fillRect l="-2062" r="-1031" b="-28000"/>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DB3705BB-8C40-5448-8566-CEFE86A96E98}"/>
              </a:ext>
            </a:extLst>
          </p:cNvPr>
          <p:cNvSpPr/>
          <p:nvPr/>
        </p:nvSpPr>
        <p:spPr>
          <a:xfrm>
            <a:off x="463138" y="2940038"/>
            <a:ext cx="6096000" cy="369332"/>
          </a:xfrm>
          <a:prstGeom prst="rect">
            <a:avLst/>
          </a:prstGeom>
        </p:spPr>
        <p:txBody>
          <a:bodyPr>
            <a:spAutoFit/>
          </a:bodyPr>
          <a:lstStyle/>
          <a:p>
            <a:r>
              <a:rPr lang="en-US" dirty="0">
                <a:latin typeface="Arial" panose="020B0604020202020204" pitchFamily="34" charset="0"/>
                <a:cs typeface="Arial" panose="020B0604020202020204" pitchFamily="34" charset="0"/>
              </a:rPr>
              <a:t>The bed shear stress is computed as </a:t>
            </a:r>
          </a:p>
        </p:txBody>
      </p:sp>
      <p:sp>
        <p:nvSpPr>
          <p:cNvPr id="18" name="Rectangle 17">
            <a:extLst>
              <a:ext uri="{FF2B5EF4-FFF2-40B4-BE49-F238E27FC236}">
                <a16:creationId xmlns:a16="http://schemas.microsoft.com/office/drawing/2014/main" id="{B9DE03D2-3F9E-8C4B-A32B-7B97138EB345}"/>
              </a:ext>
            </a:extLst>
          </p:cNvPr>
          <p:cNvSpPr/>
          <p:nvPr/>
        </p:nvSpPr>
        <p:spPr>
          <a:xfrm>
            <a:off x="463138" y="3846506"/>
            <a:ext cx="11195462" cy="1200329"/>
          </a:xfrm>
          <a:prstGeom prst="rect">
            <a:avLst/>
          </a:prstGeom>
        </p:spPr>
        <p:txBody>
          <a:bodyPr wrap="square">
            <a:spAutoFit/>
          </a:bodyPr>
          <a:lstStyle/>
          <a:p>
            <a:r>
              <a:rPr lang="en-US" dirty="0">
                <a:latin typeface="Arial" panose="020B0604020202020204" pitchFamily="34" charset="0"/>
                <a:cs typeface="Arial" panose="020B0604020202020204" pitchFamily="34" charset="0"/>
              </a:rPr>
              <a:t>where C</a:t>
            </a:r>
            <a:r>
              <a:rPr lang="en-US" baseline="-25000" dirty="0">
                <a:latin typeface="Arial" panose="020B0604020202020204" pitchFamily="34" charset="0"/>
                <a:cs typeface="Arial" panose="020B0604020202020204" pitchFamily="34" charset="0"/>
              </a:rPr>
              <a:t>f</a:t>
            </a:r>
            <a:r>
              <a:rPr lang="en-US" dirty="0">
                <a:latin typeface="Arial" panose="020B0604020202020204" pitchFamily="34" charset="0"/>
                <a:cs typeface="Arial" panose="020B0604020202020204" pitchFamily="34" charset="0"/>
              </a:rPr>
              <a:t> is a non-dimensional friction coefficient that we determine with resistance relations for hydraulically rough flows or from field/lab data.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C</a:t>
            </a:r>
            <a:r>
              <a:rPr lang="en-US" baseline="-25000" dirty="0">
                <a:latin typeface="Arial" panose="020B0604020202020204" pitchFamily="34" charset="0"/>
                <a:cs typeface="Arial" panose="020B0604020202020204" pitchFamily="34" charset="0"/>
              </a:rPr>
              <a:t>f</a:t>
            </a:r>
            <a:r>
              <a:rPr lang="en-US" dirty="0">
                <a:latin typeface="Arial" panose="020B0604020202020204" pitchFamily="34" charset="0"/>
                <a:cs typeface="Arial" panose="020B0604020202020204" pitchFamily="34" charset="0"/>
              </a:rPr>
              <a:t> is related to the non-dimensional </a:t>
            </a:r>
            <a:r>
              <a:rPr lang="en-US" dirty="0" err="1">
                <a:latin typeface="Arial" panose="020B0604020202020204" pitchFamily="34" charset="0"/>
                <a:cs typeface="Arial" panose="020B0604020202020204" pitchFamily="34" charset="0"/>
              </a:rPr>
              <a:t>Chezy</a:t>
            </a:r>
            <a:r>
              <a:rPr lang="en-US" dirty="0">
                <a:latin typeface="Arial" panose="020B0604020202020204" pitchFamily="34" charset="0"/>
                <a:cs typeface="Arial" panose="020B0604020202020204" pitchFamily="34" charset="0"/>
              </a:rPr>
              <a:t> resistance coefficient </a:t>
            </a:r>
            <a:r>
              <a:rPr lang="en-US" dirty="0" err="1">
                <a:latin typeface="Arial" panose="020B0604020202020204" pitchFamily="34" charset="0"/>
                <a:cs typeface="Arial" panose="020B0604020202020204" pitchFamily="34" charset="0"/>
              </a:rPr>
              <a:t>Cz</a:t>
            </a:r>
            <a:r>
              <a:rPr lang="en-US" dirty="0">
                <a:latin typeface="Arial" panose="020B0604020202020204" pitchFamily="34" charset="0"/>
                <a:cs typeface="Arial" panose="020B0604020202020204" pitchFamily="34" charset="0"/>
              </a:rPr>
              <a:t> as</a:t>
            </a: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EA467E5A-72C2-A045-BBF3-BD5855514E1D}"/>
                  </a:ext>
                </a:extLst>
              </p:cNvPr>
              <p:cNvSpPr/>
              <p:nvPr/>
            </p:nvSpPr>
            <p:spPr>
              <a:xfrm>
                <a:off x="463138" y="5195066"/>
                <a:ext cx="1880387" cy="6562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𝐶𝑧</m:t>
                      </m:r>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𝑈</m:t>
                          </m:r>
                        </m:num>
                        <m:den>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m:t>
                              </m:r>
                            </m:sub>
                          </m:sSub>
                        </m:den>
                      </m:f>
                      <m:r>
                        <a:rPr lang="en-US" b="0" i="1" smtClean="0">
                          <a:latin typeface="Cambria Math" panose="02040503050406030204" pitchFamily="18" charset="0"/>
                          <a:cs typeface="Arial" panose="020B0604020202020204" pitchFamily="34" charset="0"/>
                        </a:rPr>
                        <m:t>=</m:t>
                      </m:r>
                      <m:sSubSup>
                        <m:sSubSupPr>
                          <m:ctrlPr>
                            <a:rPr lang="en-US" b="0"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𝐶</m:t>
                          </m:r>
                        </m:e>
                        <m:sub>
                          <m:r>
                            <a:rPr lang="en-US" b="0" i="1" smtClean="0">
                              <a:latin typeface="Cambria Math" panose="02040503050406030204" pitchFamily="18" charset="0"/>
                              <a:cs typeface="Arial" panose="020B0604020202020204" pitchFamily="34" charset="0"/>
                            </a:rPr>
                            <m:t>𝑓</m:t>
                          </m:r>
                        </m:sub>
                        <m:sup>
                          <m:r>
                            <a:rPr lang="en-US" b="0" i="1" smtClean="0">
                              <a:latin typeface="Cambria Math" panose="02040503050406030204" pitchFamily="18" charset="0"/>
                              <a:cs typeface="Arial" panose="020B0604020202020204" pitchFamily="34" charset="0"/>
                            </a:rPr>
                            <m:t>−1/2</m:t>
                          </m:r>
                        </m:sup>
                      </m:sSubSup>
                    </m:oMath>
                  </m:oMathPara>
                </a14:m>
                <a:endParaRPr lang="en-US" dirty="0"/>
              </a:p>
            </p:txBody>
          </p:sp>
        </mc:Choice>
        <mc:Fallback xmlns="">
          <p:sp>
            <p:nvSpPr>
              <p:cNvPr id="13" name="Rectangle 12">
                <a:extLst>
                  <a:ext uri="{FF2B5EF4-FFF2-40B4-BE49-F238E27FC236}">
                    <a16:creationId xmlns:a16="http://schemas.microsoft.com/office/drawing/2014/main" id="{EA467E5A-72C2-A045-BBF3-BD5855514E1D}"/>
                  </a:ext>
                </a:extLst>
              </p:cNvPr>
              <p:cNvSpPr>
                <a:spLocks noRot="1" noChangeAspect="1" noMove="1" noResize="1" noEditPoints="1" noAdjustHandles="1" noChangeArrowheads="1" noChangeShapeType="1" noTextEdit="1"/>
              </p:cNvSpPr>
              <p:nvPr/>
            </p:nvSpPr>
            <p:spPr>
              <a:xfrm>
                <a:off x="463138" y="5195066"/>
                <a:ext cx="1880387" cy="656205"/>
              </a:xfrm>
              <a:prstGeom prst="rect">
                <a:avLst/>
              </a:prstGeom>
              <a:blipFill>
                <a:blip r:embed="rId5"/>
                <a:stretch>
                  <a:fillRect/>
                </a:stretch>
              </a:blipFill>
            </p:spPr>
            <p:txBody>
              <a:bodyPr/>
              <a:lstStyle/>
              <a:p>
                <a:r>
                  <a:rPr lang="en-US">
                    <a:noFill/>
                  </a:rPr>
                  <a:t> </a:t>
                </a:r>
              </a:p>
            </p:txBody>
          </p:sp>
        </mc:Fallback>
      </mc:AlternateContent>
      <p:sp>
        <p:nvSpPr>
          <p:cNvPr id="19" name="Rectangle 18">
            <a:extLst>
              <a:ext uri="{FF2B5EF4-FFF2-40B4-BE49-F238E27FC236}">
                <a16:creationId xmlns:a16="http://schemas.microsoft.com/office/drawing/2014/main" id="{E6C51D9B-8BC6-4E41-BC5B-D4487BFF7B3C}"/>
              </a:ext>
            </a:extLst>
          </p:cNvPr>
          <p:cNvSpPr/>
          <p:nvPr/>
        </p:nvSpPr>
        <p:spPr>
          <a:xfrm>
            <a:off x="533401" y="5999502"/>
            <a:ext cx="6096000" cy="369332"/>
          </a:xfrm>
          <a:prstGeom prst="rect">
            <a:avLst/>
          </a:prstGeom>
        </p:spPr>
        <p:txBody>
          <a:bodyPr>
            <a:spAutoFit/>
          </a:bodyPr>
          <a:lstStyle/>
          <a:p>
            <a:r>
              <a:rPr lang="en-US" dirty="0">
                <a:latin typeface="Arial" panose="020B0604020202020204" pitchFamily="34" charset="0"/>
                <a:cs typeface="Arial" panose="020B0604020202020204" pitchFamily="34" charset="0"/>
              </a:rPr>
              <a:t>where u</a:t>
            </a:r>
            <a:r>
              <a:rPr lang="en-US" baseline="-25000"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is the shear velocity defined as </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C7D73E9-9B47-D241-98AA-6AC41F70A238}"/>
                  </a:ext>
                </a:extLst>
              </p:cNvPr>
              <p:cNvSpPr txBox="1"/>
              <p:nvPr/>
            </p:nvSpPr>
            <p:spPr>
              <a:xfrm>
                <a:off x="4920264" y="5771346"/>
                <a:ext cx="987193" cy="818366"/>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m:t>
                          </m:r>
                        </m:sub>
                      </m:sSub>
                      <m:r>
                        <a:rPr lang="en-US" b="0" i="1" smtClean="0">
                          <a:latin typeface="Cambria Math" panose="02040503050406030204" pitchFamily="18" charset="0"/>
                          <a:cs typeface="Arial" panose="020B0604020202020204" pitchFamily="34" charset="0"/>
                        </a:rPr>
                        <m:t>=</m:t>
                      </m:r>
                      <m:rad>
                        <m:radPr>
                          <m:degHide m:val="on"/>
                          <m:ctrlPr>
                            <a:rPr lang="en-US" b="0" i="1" smtClean="0">
                              <a:latin typeface="Cambria Math" panose="02040503050406030204" pitchFamily="18" charset="0"/>
                              <a:cs typeface="Arial" panose="020B0604020202020204" pitchFamily="34" charset="0"/>
                            </a:rPr>
                          </m:ctrlPr>
                        </m:radPr>
                        <m:deg/>
                        <m:e>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m:t>
                                  </m:r>
                                </m:sub>
                              </m:sSub>
                            </m:num>
                            <m:den>
                              <m:r>
                                <a:rPr lang="en-US" b="0" i="1" smtClean="0">
                                  <a:latin typeface="Cambria Math" panose="02040503050406030204" pitchFamily="18" charset="0"/>
                                  <a:ea typeface="Cambria Math" panose="02040503050406030204" pitchFamily="18" charset="0"/>
                                  <a:cs typeface="Arial" panose="020B0604020202020204" pitchFamily="34" charset="0"/>
                                </a:rPr>
                                <m:t>𝜌</m:t>
                              </m:r>
                            </m:den>
                          </m:f>
                        </m:e>
                      </m:rad>
                    </m:oMath>
                  </m:oMathPara>
                </a14:m>
                <a:endParaRPr lang="en-US" dirty="0">
                  <a:latin typeface="Arial" panose="020B0604020202020204" pitchFamily="34" charset="0"/>
                  <a:cs typeface="Arial" panose="020B0604020202020204" pitchFamily="34" charset="0"/>
                </a:endParaRPr>
              </a:p>
            </p:txBody>
          </p:sp>
        </mc:Choice>
        <mc:Fallback xmlns="">
          <p:sp>
            <p:nvSpPr>
              <p:cNvPr id="20" name="TextBox 19">
                <a:extLst>
                  <a:ext uri="{FF2B5EF4-FFF2-40B4-BE49-F238E27FC236}">
                    <a16:creationId xmlns:a16="http://schemas.microsoft.com/office/drawing/2014/main" id="{3C7D73E9-9B47-D241-98AA-6AC41F70A238}"/>
                  </a:ext>
                </a:extLst>
              </p:cNvPr>
              <p:cNvSpPr txBox="1">
                <a:spLocks noRot="1" noChangeAspect="1" noMove="1" noResize="1" noEditPoints="1" noAdjustHandles="1" noChangeArrowheads="1" noChangeShapeType="1" noTextEdit="1"/>
              </p:cNvSpPr>
              <p:nvPr/>
            </p:nvSpPr>
            <p:spPr>
              <a:xfrm>
                <a:off x="4920264" y="5771346"/>
                <a:ext cx="987193" cy="818366"/>
              </a:xfrm>
              <a:prstGeom prst="rect">
                <a:avLst/>
              </a:prstGeom>
              <a:blipFill>
                <a:blip r:embed="rId6"/>
                <a:stretch>
                  <a:fillRect l="-2532" r="-1266"/>
                </a:stretch>
              </a:blipFill>
            </p:spPr>
            <p:txBody>
              <a:bodyPr/>
              <a:lstStyle/>
              <a:p>
                <a:r>
                  <a:rPr lang="en-US">
                    <a:noFill/>
                  </a:rPr>
                  <a:t> </a:t>
                </a:r>
              </a:p>
            </p:txBody>
          </p:sp>
        </mc:Fallback>
      </mc:AlternateContent>
    </p:spTree>
    <p:extLst>
      <p:ext uri="{BB962C8B-B14F-4D97-AF65-F5344CB8AC3E}">
        <p14:creationId xmlns:p14="http://schemas.microsoft.com/office/powerpoint/2010/main" val="26207763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92040-513D-030A-87A2-B87AFC70A93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CB62072-E15A-0250-BFAA-B723AC435E44}"/>
              </a:ext>
            </a:extLst>
          </p:cNvPr>
          <p:cNvSpPr>
            <a:spLocks noGrp="1"/>
          </p:cNvSpPr>
          <p:nvPr>
            <p:ph type="sldNum" sz="quarter" idx="12"/>
          </p:nvPr>
        </p:nvSpPr>
        <p:spPr/>
        <p:txBody>
          <a:bodyPr/>
          <a:lstStyle/>
          <a:p>
            <a:fld id="{2386C454-E1BD-5A43-901A-CA4ACC7380B7}" type="slidenum">
              <a:rPr lang="en-US" smtClean="0"/>
              <a:t>9</a:t>
            </a:fld>
            <a:endParaRPr lang="en-US" dirty="0"/>
          </a:p>
        </p:txBody>
      </p:sp>
      <p:sp>
        <p:nvSpPr>
          <p:cNvPr id="5" name="TextBox 4">
            <a:extLst>
              <a:ext uri="{FF2B5EF4-FFF2-40B4-BE49-F238E27FC236}">
                <a16:creationId xmlns:a16="http://schemas.microsoft.com/office/drawing/2014/main" id="{0F5503CD-C419-11B5-CD0D-3ADC1FACCD8A}"/>
              </a:ext>
            </a:extLst>
          </p:cNvPr>
          <p:cNvSpPr txBox="1"/>
          <p:nvPr/>
        </p:nvSpPr>
        <p:spPr>
          <a:xfrm>
            <a:off x="1155370" y="136525"/>
            <a:ext cx="988125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The unit stream power (1D)</a:t>
            </a:r>
          </a:p>
        </p:txBody>
      </p:sp>
      <p:sp>
        <p:nvSpPr>
          <p:cNvPr id="12" name="TextBox 11">
            <a:extLst>
              <a:ext uri="{FF2B5EF4-FFF2-40B4-BE49-F238E27FC236}">
                <a16:creationId xmlns:a16="http://schemas.microsoft.com/office/drawing/2014/main" id="{9A186D76-FE96-CB34-54B3-0332724EAC9C}"/>
              </a:ext>
            </a:extLst>
          </p:cNvPr>
          <p:cNvSpPr txBox="1"/>
          <p:nvPr/>
        </p:nvSpPr>
        <p:spPr>
          <a:xfrm>
            <a:off x="463138" y="751888"/>
            <a:ext cx="11435937" cy="954107"/>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unit stream power </a:t>
            </a:r>
            <a:r>
              <a:rPr lang="en-US" sz="2000" dirty="0">
                <a:latin typeface="Symbol" pitchFamily="2" charset="2"/>
                <a:cs typeface="Arial" panose="020B0604020202020204" pitchFamily="34" charset="0"/>
              </a:rPr>
              <a:t>w</a:t>
            </a:r>
            <a:r>
              <a:rPr lang="en-US" dirty="0">
                <a:latin typeface="Arial" panose="020B0604020202020204" pitchFamily="34" charset="0"/>
                <a:cs typeface="Arial" panose="020B0604020202020204" pitchFamily="34" charset="0"/>
              </a:rPr>
              <a:t> is used to model bedload transport and sediment mobility as it quantifies the rare of loss of potential energy as water flows downhill and thus the power available for performing geomorphic flow (Ferguson 2005)</a:t>
            </a:r>
          </a:p>
        </p:txBody>
      </p:sp>
      <p:sp>
        <p:nvSpPr>
          <p:cNvPr id="10" name="Rectangle 9">
            <a:extLst>
              <a:ext uri="{FF2B5EF4-FFF2-40B4-BE49-F238E27FC236}">
                <a16:creationId xmlns:a16="http://schemas.microsoft.com/office/drawing/2014/main" id="{2C5C2C34-84C3-AEEA-0A11-232B21B179C0}"/>
              </a:ext>
            </a:extLst>
          </p:cNvPr>
          <p:cNvSpPr/>
          <p:nvPr/>
        </p:nvSpPr>
        <p:spPr>
          <a:xfrm>
            <a:off x="463137" y="2545558"/>
            <a:ext cx="9529359" cy="369332"/>
          </a:xfrm>
          <a:prstGeom prst="rect">
            <a:avLst/>
          </a:prstGeom>
        </p:spPr>
        <p:txBody>
          <a:bodyPr wrap="square">
            <a:spAutoFit/>
          </a:bodyPr>
          <a:lstStyle/>
          <a:p>
            <a:r>
              <a:rPr lang="en-US" dirty="0">
                <a:latin typeface="Arial" panose="020B0604020202020204" pitchFamily="34" charset="0"/>
                <a:cs typeface="Arial" panose="020B0604020202020204" pitchFamily="34" charset="0"/>
              </a:rPr>
              <a:t>Typically, the discharge used in bedload transport studies is the peak discharge</a:t>
            </a: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2AEA5A9A-5409-F887-B186-7E2C02F1F5D1}"/>
                  </a:ext>
                </a:extLst>
              </p:cNvPr>
              <p:cNvSpPr txBox="1"/>
              <p:nvPr/>
            </p:nvSpPr>
            <p:spPr>
              <a:xfrm>
                <a:off x="601564" y="1855450"/>
                <a:ext cx="7045455" cy="52475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𝜔</m:t>
                      </m:r>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ea typeface="Cambria Math" panose="02040503050406030204" pitchFamily="18" charset="0"/>
                              <a:cs typeface="Arial" panose="020B0604020202020204" pitchFamily="34" charset="0"/>
                            </a:rPr>
                            <m:t>𝑔𝑄𝑆</m:t>
                          </m:r>
                        </m:num>
                        <m:den>
                          <m:r>
                            <a:rPr lang="en-US" b="0" i="1" smtClean="0">
                              <a:latin typeface="Cambria Math" panose="02040503050406030204" pitchFamily="18" charset="0"/>
                              <a:ea typeface="Cambria Math" panose="02040503050406030204" pitchFamily="18" charset="0"/>
                              <a:cs typeface="Arial" panose="020B0604020202020204" pitchFamily="34" charset="0"/>
                            </a:rPr>
                            <m:t>𝐵</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𝑤𝑎𝑡𝑒𝑟</m:t>
                          </m:r>
                          <m:r>
                            <a:rPr lang="en-US" i="1">
                              <a:latin typeface="Cambria Math" panose="02040503050406030204" pitchFamily="18" charset="0"/>
                              <a:ea typeface="Cambria Math" panose="02040503050406030204" pitchFamily="18" charset="0"/>
                              <a:cs typeface="Arial" panose="020B0604020202020204" pitchFamily="34" charset="0"/>
                            </a:rPr>
                            <m:t> </m:t>
                          </m:r>
                          <m:r>
                            <a:rPr lang="en-US" i="1">
                              <a:latin typeface="Cambria Math" panose="02040503050406030204" pitchFamily="18" charset="0"/>
                              <a:ea typeface="Cambria Math" panose="02040503050406030204" pitchFamily="18" charset="0"/>
                              <a:cs typeface="Arial" panose="020B0604020202020204" pitchFamily="34" charset="0"/>
                            </a:rPr>
                            <m:t>𝑑𝑒𝑛𝑠𝑖𝑡𝑦</m:t>
                          </m:r>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𝑔𝑟𝑎𝑣𝑖𝑡𝑦</m:t>
                          </m:r>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𝑓𝑙𝑜𝑤</m:t>
                          </m:r>
                          <m:r>
                            <a:rPr lang="en-US" i="1">
                              <a:latin typeface="Cambria Math" panose="02040503050406030204" pitchFamily="18" charset="0"/>
                              <a:ea typeface="Cambria Math" panose="02040503050406030204" pitchFamily="18" charset="0"/>
                              <a:cs typeface="Arial" panose="020B0604020202020204" pitchFamily="34" charset="0"/>
                            </a:rPr>
                            <m:t> </m:t>
                          </m:r>
                          <m:r>
                            <a:rPr lang="en-US" i="1">
                              <a:latin typeface="Cambria Math" panose="02040503050406030204" pitchFamily="18" charset="0"/>
                              <a:ea typeface="Cambria Math" panose="02040503050406030204" pitchFamily="18" charset="0"/>
                              <a:cs typeface="Arial" panose="020B0604020202020204" pitchFamily="34" charset="0"/>
                            </a:rPr>
                            <m:t>𝑑𝑖𝑠𝑐h𝑎𝑟𝑔𝑒</m:t>
                          </m:r>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𝑏𝑒𝑑</m:t>
                          </m:r>
                          <m:r>
                            <a:rPr lang="en-US" i="1">
                              <a:latin typeface="Cambria Math" panose="02040503050406030204" pitchFamily="18" charset="0"/>
                              <a:ea typeface="Cambria Math" panose="02040503050406030204" pitchFamily="18" charset="0"/>
                              <a:cs typeface="Arial" panose="020B0604020202020204" pitchFamily="34" charset="0"/>
                            </a:rPr>
                            <m:t> </m:t>
                          </m:r>
                          <m:r>
                            <a:rPr lang="en-US" i="1">
                              <a:latin typeface="Cambria Math" panose="02040503050406030204" pitchFamily="18" charset="0"/>
                              <a:ea typeface="Cambria Math" panose="02040503050406030204" pitchFamily="18" charset="0"/>
                              <a:cs typeface="Arial" panose="020B0604020202020204" pitchFamily="34" charset="0"/>
                            </a:rPr>
                            <m:t>𝑠𝑙𝑜𝑝𝑒</m:t>
                          </m:r>
                        </m:num>
                        <m:den>
                          <m:r>
                            <a:rPr lang="en-US" b="0" i="1" smtClean="0">
                              <a:latin typeface="Cambria Math" panose="02040503050406030204" pitchFamily="18" charset="0"/>
                              <a:ea typeface="Cambria Math" panose="02040503050406030204" pitchFamily="18" charset="0"/>
                              <a:cs typeface="Arial" panose="020B0604020202020204" pitchFamily="34" charset="0"/>
                            </a:rPr>
                            <m:t>𝑤𝑖𝑑𝑡h</m:t>
                          </m:r>
                        </m:den>
                      </m:f>
                    </m:oMath>
                  </m:oMathPara>
                </a14:m>
                <a:endParaRPr lang="en-US" dirty="0">
                  <a:latin typeface="Arial" panose="020B0604020202020204" pitchFamily="34" charset="0"/>
                  <a:cs typeface="Arial" panose="020B0604020202020204" pitchFamily="34" charset="0"/>
                </a:endParaRPr>
              </a:p>
            </p:txBody>
          </p:sp>
        </mc:Choice>
        <mc:Fallback>
          <p:sp>
            <p:nvSpPr>
              <p:cNvPr id="2" name="TextBox 1">
                <a:extLst>
                  <a:ext uri="{FF2B5EF4-FFF2-40B4-BE49-F238E27FC236}">
                    <a16:creationId xmlns:a16="http://schemas.microsoft.com/office/drawing/2014/main" id="{2AEA5A9A-5409-F887-B186-7E2C02F1F5D1}"/>
                  </a:ext>
                </a:extLst>
              </p:cNvPr>
              <p:cNvSpPr txBox="1">
                <a:spLocks noRot="1" noChangeAspect="1" noMove="1" noResize="1" noEditPoints="1" noAdjustHandles="1" noChangeArrowheads="1" noChangeShapeType="1" noTextEdit="1"/>
              </p:cNvSpPr>
              <p:nvPr/>
            </p:nvSpPr>
            <p:spPr>
              <a:xfrm>
                <a:off x="601564" y="1855450"/>
                <a:ext cx="7045455" cy="524759"/>
              </a:xfrm>
              <a:prstGeom prst="rect">
                <a:avLst/>
              </a:prstGeom>
              <a:blipFill>
                <a:blip r:embed="rId3"/>
                <a:stretch>
                  <a:fillRect/>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5B387EE9-989E-F9D7-9087-CF087F4E89C8}"/>
              </a:ext>
            </a:extLst>
          </p:cNvPr>
          <p:cNvSpPr/>
          <p:nvPr/>
        </p:nvSpPr>
        <p:spPr>
          <a:xfrm>
            <a:off x="463138" y="3103933"/>
            <a:ext cx="11104748" cy="923330"/>
          </a:xfrm>
          <a:prstGeom prst="rect">
            <a:avLst/>
          </a:prstGeom>
        </p:spPr>
        <p:txBody>
          <a:bodyPr wrap="square">
            <a:spAutoFit/>
          </a:bodyPr>
          <a:lstStyle/>
          <a:p>
            <a:r>
              <a:rPr lang="en-US" dirty="0">
                <a:latin typeface="Arial" panose="020B0604020202020204" pitchFamily="34" charset="0"/>
                <a:cs typeface="Arial" panose="020B0604020202020204" pitchFamily="34" charset="0"/>
              </a:rPr>
              <a:t>The unit stream power is widely used particularly in field studies because it is calculated from gross channel properties (width and slope), together with discharge, without needing to know within-channel flow properties such as depth and velocity</a:t>
            </a:r>
          </a:p>
        </p:txBody>
      </p:sp>
    </p:spTree>
    <p:extLst>
      <p:ext uri="{BB962C8B-B14F-4D97-AF65-F5344CB8AC3E}">
        <p14:creationId xmlns:p14="http://schemas.microsoft.com/office/powerpoint/2010/main" val="695090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10</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1155370" y="136525"/>
            <a:ext cx="988125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Resistance relations for hydraulically rough flow</a:t>
            </a:r>
          </a:p>
        </p:txBody>
      </p:sp>
      <p:sp>
        <p:nvSpPr>
          <p:cNvPr id="12" name="TextBox 11">
            <a:extLst>
              <a:ext uri="{FF2B5EF4-FFF2-40B4-BE49-F238E27FC236}">
                <a16:creationId xmlns:a16="http://schemas.microsoft.com/office/drawing/2014/main" id="{BCE0686D-67F8-9344-B021-4BFD51939801}"/>
              </a:ext>
            </a:extLst>
          </p:cNvPr>
          <p:cNvSpPr txBox="1"/>
          <p:nvPr/>
        </p:nvSpPr>
        <p:spPr>
          <a:xfrm>
            <a:off x="378030" y="825868"/>
            <a:ext cx="11435937" cy="369332"/>
          </a:xfrm>
          <a:prstGeom prst="rect">
            <a:avLst/>
          </a:prstGeom>
          <a:noFill/>
        </p:spPr>
        <p:txBody>
          <a:bodyPr wrap="square" rtlCol="0">
            <a:spAutoFit/>
          </a:bodyPr>
          <a:lstStyle/>
          <a:p>
            <a:r>
              <a:rPr lang="en-US" dirty="0" err="1">
                <a:latin typeface="Arial" panose="020B0604020202020204" pitchFamily="34" charset="0"/>
                <a:cs typeface="Arial" panose="020B0604020202020204" pitchFamily="34" charset="0"/>
              </a:rPr>
              <a:t>Keulegan</a:t>
            </a:r>
            <a:r>
              <a:rPr lang="en-US" dirty="0">
                <a:latin typeface="Arial" panose="020B0604020202020204" pitchFamily="34" charset="0"/>
                <a:cs typeface="Arial" panose="020B0604020202020204" pitchFamily="34" charset="0"/>
              </a:rPr>
              <a:t> formulation (1938)</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B13EF1D-2926-444D-9918-343CFDA21A9F}"/>
                  </a:ext>
                </a:extLst>
              </p:cNvPr>
              <p:cNvSpPr txBox="1"/>
              <p:nvPr/>
            </p:nvSpPr>
            <p:spPr>
              <a:xfrm>
                <a:off x="549875" y="1390135"/>
                <a:ext cx="3057247" cy="636713"/>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𝐶𝑧</m:t>
                      </m:r>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1</m:t>
                          </m:r>
                        </m:num>
                        <m:den>
                          <m:rad>
                            <m:radPr>
                              <m:degHide m:val="on"/>
                              <m:ctrlPr>
                                <a:rPr lang="en-US" b="0" i="1" smtClean="0">
                                  <a:latin typeface="Cambria Math" panose="02040503050406030204" pitchFamily="18" charset="0"/>
                                  <a:cs typeface="Arial" panose="020B0604020202020204" pitchFamily="34" charset="0"/>
                                </a:rPr>
                              </m:ctrlPr>
                            </m:radPr>
                            <m:deg/>
                            <m:e>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𝐶</m:t>
                                  </m:r>
                                </m:e>
                                <m:sub>
                                  <m:r>
                                    <a:rPr lang="en-US" b="0" i="1" smtClean="0">
                                      <a:latin typeface="Cambria Math" panose="02040503050406030204" pitchFamily="18" charset="0"/>
                                      <a:cs typeface="Arial" panose="020B0604020202020204" pitchFamily="34" charset="0"/>
                                    </a:rPr>
                                    <m:t>𝑓</m:t>
                                  </m:r>
                                </m:sub>
                              </m:sSub>
                            </m:e>
                          </m:rad>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𝑈</m:t>
                          </m:r>
                        </m:num>
                        <m:den>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m:t>
                              </m:r>
                            </m:sub>
                          </m:sSub>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1</m:t>
                          </m:r>
                        </m:num>
                        <m:den>
                          <m:r>
                            <a:rPr lang="en-US" b="0" i="1" smtClean="0">
                              <a:latin typeface="Cambria Math" panose="02040503050406030204" pitchFamily="18" charset="0"/>
                              <a:ea typeface="Cambria Math" panose="02040503050406030204" pitchFamily="18" charset="0"/>
                              <a:cs typeface="Arial" panose="020B0604020202020204" pitchFamily="34" charset="0"/>
                            </a:rPr>
                            <m:t>𝜅</m:t>
                          </m:r>
                        </m:den>
                      </m:f>
                      <m:r>
                        <m:rPr>
                          <m:sty m:val="p"/>
                        </m:rPr>
                        <a:rPr lang="en-US" b="0" i="0" smtClean="0">
                          <a:latin typeface="Cambria Math" panose="02040503050406030204" pitchFamily="18" charset="0"/>
                          <a:cs typeface="Arial" panose="020B0604020202020204" pitchFamily="34" charset="0"/>
                        </a:rPr>
                        <m:t>ln</m:t>
                      </m:r>
                      <m:d>
                        <m:dPr>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11</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𝐻</m:t>
                              </m:r>
                            </m:num>
                            <m:den>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𝑘</m:t>
                                  </m:r>
                                </m:e>
                                <m:sub>
                                  <m:r>
                                    <a:rPr lang="en-US" b="0" i="1" smtClean="0">
                                      <a:latin typeface="Cambria Math" panose="02040503050406030204" pitchFamily="18" charset="0"/>
                                      <a:cs typeface="Arial" panose="020B0604020202020204" pitchFamily="34" charset="0"/>
                                    </a:rPr>
                                    <m:t>𝑐</m:t>
                                  </m:r>
                                </m:sub>
                              </m:sSub>
                            </m:den>
                          </m:f>
                        </m:e>
                      </m:d>
                    </m:oMath>
                  </m:oMathPara>
                </a14:m>
                <a:endParaRPr lang="en-US" dirty="0">
                  <a:latin typeface="Arial" panose="020B0604020202020204" pitchFamily="34" charset="0"/>
                  <a:cs typeface="Arial" panose="020B0604020202020204" pitchFamily="34" charset="0"/>
                </a:endParaRPr>
              </a:p>
            </p:txBody>
          </p:sp>
        </mc:Choice>
        <mc:Fallback xmlns="">
          <p:sp>
            <p:nvSpPr>
              <p:cNvPr id="2" name="TextBox 1">
                <a:extLst>
                  <a:ext uri="{FF2B5EF4-FFF2-40B4-BE49-F238E27FC236}">
                    <a16:creationId xmlns:a16="http://schemas.microsoft.com/office/drawing/2014/main" id="{0B13EF1D-2926-444D-9918-343CFDA21A9F}"/>
                  </a:ext>
                </a:extLst>
              </p:cNvPr>
              <p:cNvSpPr txBox="1">
                <a:spLocks noRot="1" noChangeAspect="1" noMove="1" noResize="1" noEditPoints="1" noAdjustHandles="1" noChangeArrowheads="1" noChangeShapeType="1" noTextEdit="1"/>
              </p:cNvSpPr>
              <p:nvPr/>
            </p:nvSpPr>
            <p:spPr>
              <a:xfrm>
                <a:off x="549875" y="1390135"/>
                <a:ext cx="3057247" cy="636713"/>
              </a:xfrm>
              <a:prstGeom prst="rect">
                <a:avLst/>
              </a:prstGeom>
              <a:blipFill>
                <a:blip r:embed="rId3"/>
                <a:stretch>
                  <a:fillRect t="-3922" b="-9804"/>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2108A540-ECE3-5D4A-A60F-02068EDD8940}"/>
              </a:ext>
            </a:extLst>
          </p:cNvPr>
          <p:cNvSpPr txBox="1"/>
          <p:nvPr/>
        </p:nvSpPr>
        <p:spPr>
          <a:xfrm>
            <a:off x="378030" y="2221783"/>
            <a:ext cx="11435937" cy="1231106"/>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where</a:t>
            </a:r>
          </a:p>
          <a:p>
            <a:r>
              <a:rPr lang="en-US" sz="2000" dirty="0">
                <a:latin typeface="Symbol" pitchFamily="2" charset="2"/>
                <a:cs typeface="Arial" panose="020B0604020202020204" pitchFamily="34" charset="0"/>
              </a:rPr>
              <a:t>k</a:t>
            </a:r>
            <a:r>
              <a:rPr lang="en-US" dirty="0">
                <a:latin typeface="Arial" panose="020B0604020202020204" pitchFamily="34" charset="0"/>
                <a:cs typeface="Arial" panose="020B0604020202020204" pitchFamily="34" charset="0"/>
              </a:rPr>
              <a:t> = von Karman constant ~0.4</a:t>
            </a:r>
          </a:p>
          <a:p>
            <a:r>
              <a:rPr lang="en-US" dirty="0">
                <a:latin typeface="Arial" panose="020B0604020202020204" pitchFamily="34" charset="0"/>
                <a:cs typeface="Arial" panose="020B0604020202020204" pitchFamily="34" charset="0"/>
              </a:rPr>
              <a:t>k</a:t>
            </a:r>
            <a:r>
              <a:rPr lang="en-US" baseline="-25000" dirty="0">
                <a:latin typeface="Arial" panose="020B0604020202020204" pitchFamily="34" charset="0"/>
                <a:cs typeface="Arial" panose="020B0604020202020204" pitchFamily="34" charset="0"/>
              </a:rPr>
              <a:t>c</a:t>
            </a:r>
            <a:r>
              <a:rPr lang="en-US" dirty="0">
                <a:latin typeface="Arial" panose="020B0604020202020204" pitchFamily="34" charset="0"/>
                <a:cs typeface="Arial" panose="020B0604020202020204" pitchFamily="34" charset="0"/>
              </a:rPr>
              <a:t> = roughness height, i.e. a measure of the bumpiness of the bed. The subscript c denotes composite, i.e. due to more than one thing. </a:t>
            </a:r>
          </a:p>
        </p:txBody>
      </p:sp>
    </p:spTree>
    <p:extLst>
      <p:ext uri="{BB962C8B-B14F-4D97-AF65-F5344CB8AC3E}">
        <p14:creationId xmlns:p14="http://schemas.microsoft.com/office/powerpoint/2010/main" val="41157626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11</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1155370" y="136525"/>
            <a:ext cx="988125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Resistance relations for hydraulically rough flow</a:t>
            </a:r>
          </a:p>
        </p:txBody>
      </p:sp>
      <p:sp>
        <p:nvSpPr>
          <p:cNvPr id="12" name="TextBox 11">
            <a:extLst>
              <a:ext uri="{FF2B5EF4-FFF2-40B4-BE49-F238E27FC236}">
                <a16:creationId xmlns:a16="http://schemas.microsoft.com/office/drawing/2014/main" id="{BCE0686D-67F8-9344-B021-4BFD51939801}"/>
              </a:ext>
            </a:extLst>
          </p:cNvPr>
          <p:cNvSpPr txBox="1"/>
          <p:nvPr/>
        </p:nvSpPr>
        <p:spPr>
          <a:xfrm>
            <a:off x="378030" y="825868"/>
            <a:ext cx="11435937" cy="369332"/>
          </a:xfrm>
          <a:prstGeom prst="rect">
            <a:avLst/>
          </a:prstGeom>
          <a:noFill/>
        </p:spPr>
        <p:txBody>
          <a:bodyPr wrap="square" rtlCol="0">
            <a:spAutoFit/>
          </a:bodyPr>
          <a:lstStyle/>
          <a:p>
            <a:r>
              <a:rPr lang="en-US" dirty="0" err="1">
                <a:latin typeface="Arial" panose="020B0604020202020204" pitchFamily="34" charset="0"/>
                <a:cs typeface="Arial" panose="020B0604020202020204" pitchFamily="34" charset="0"/>
              </a:rPr>
              <a:t>Keulegan</a:t>
            </a:r>
            <a:r>
              <a:rPr lang="en-US" dirty="0">
                <a:latin typeface="Arial" panose="020B0604020202020204" pitchFamily="34" charset="0"/>
                <a:cs typeface="Arial" panose="020B0604020202020204" pitchFamily="34" charset="0"/>
              </a:rPr>
              <a:t> formulation (1938)</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B13EF1D-2926-444D-9918-343CFDA21A9F}"/>
                  </a:ext>
                </a:extLst>
              </p:cNvPr>
              <p:cNvSpPr txBox="1"/>
              <p:nvPr/>
            </p:nvSpPr>
            <p:spPr>
              <a:xfrm>
                <a:off x="549875" y="1390135"/>
                <a:ext cx="3057247" cy="636713"/>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𝐶𝑧</m:t>
                      </m:r>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1</m:t>
                          </m:r>
                        </m:num>
                        <m:den>
                          <m:rad>
                            <m:radPr>
                              <m:degHide m:val="on"/>
                              <m:ctrlPr>
                                <a:rPr lang="en-US" b="0" i="1" smtClean="0">
                                  <a:latin typeface="Cambria Math" panose="02040503050406030204" pitchFamily="18" charset="0"/>
                                  <a:cs typeface="Arial" panose="020B0604020202020204" pitchFamily="34" charset="0"/>
                                </a:rPr>
                              </m:ctrlPr>
                            </m:radPr>
                            <m:deg/>
                            <m:e>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𝐶</m:t>
                                  </m:r>
                                </m:e>
                                <m:sub>
                                  <m:r>
                                    <a:rPr lang="en-US" b="0" i="1" smtClean="0">
                                      <a:latin typeface="Cambria Math" panose="02040503050406030204" pitchFamily="18" charset="0"/>
                                      <a:cs typeface="Arial" panose="020B0604020202020204" pitchFamily="34" charset="0"/>
                                    </a:rPr>
                                    <m:t>𝑓</m:t>
                                  </m:r>
                                </m:sub>
                              </m:sSub>
                            </m:e>
                          </m:rad>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𝑈</m:t>
                          </m:r>
                        </m:num>
                        <m:den>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m:t>
                              </m:r>
                            </m:sub>
                          </m:sSub>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1</m:t>
                          </m:r>
                        </m:num>
                        <m:den>
                          <m:r>
                            <a:rPr lang="en-US" b="0" i="1" smtClean="0">
                              <a:latin typeface="Cambria Math" panose="02040503050406030204" pitchFamily="18" charset="0"/>
                              <a:ea typeface="Cambria Math" panose="02040503050406030204" pitchFamily="18" charset="0"/>
                              <a:cs typeface="Arial" panose="020B0604020202020204" pitchFamily="34" charset="0"/>
                            </a:rPr>
                            <m:t>𝜅</m:t>
                          </m:r>
                        </m:den>
                      </m:f>
                      <m:r>
                        <m:rPr>
                          <m:sty m:val="p"/>
                        </m:rPr>
                        <a:rPr lang="en-US" b="0" i="0" smtClean="0">
                          <a:latin typeface="Cambria Math" panose="02040503050406030204" pitchFamily="18" charset="0"/>
                          <a:cs typeface="Arial" panose="020B0604020202020204" pitchFamily="34" charset="0"/>
                        </a:rPr>
                        <m:t>ln</m:t>
                      </m:r>
                      <m:d>
                        <m:dPr>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11</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𝐻</m:t>
                              </m:r>
                            </m:num>
                            <m:den>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𝑘</m:t>
                                  </m:r>
                                </m:e>
                                <m:sub>
                                  <m:r>
                                    <a:rPr lang="en-US" b="0" i="1" smtClean="0">
                                      <a:latin typeface="Cambria Math" panose="02040503050406030204" pitchFamily="18" charset="0"/>
                                      <a:cs typeface="Arial" panose="020B0604020202020204" pitchFamily="34" charset="0"/>
                                    </a:rPr>
                                    <m:t>𝑐</m:t>
                                  </m:r>
                                </m:sub>
                              </m:sSub>
                            </m:den>
                          </m:f>
                        </m:e>
                      </m:d>
                    </m:oMath>
                  </m:oMathPara>
                </a14:m>
                <a:endParaRPr lang="en-US" dirty="0">
                  <a:latin typeface="Arial" panose="020B0604020202020204" pitchFamily="34" charset="0"/>
                  <a:cs typeface="Arial" panose="020B0604020202020204" pitchFamily="34" charset="0"/>
                </a:endParaRPr>
              </a:p>
            </p:txBody>
          </p:sp>
        </mc:Choice>
        <mc:Fallback xmlns="">
          <p:sp>
            <p:nvSpPr>
              <p:cNvPr id="2" name="TextBox 1">
                <a:extLst>
                  <a:ext uri="{FF2B5EF4-FFF2-40B4-BE49-F238E27FC236}">
                    <a16:creationId xmlns:a16="http://schemas.microsoft.com/office/drawing/2014/main" id="{0B13EF1D-2926-444D-9918-343CFDA21A9F}"/>
                  </a:ext>
                </a:extLst>
              </p:cNvPr>
              <p:cNvSpPr txBox="1">
                <a:spLocks noRot="1" noChangeAspect="1" noMove="1" noResize="1" noEditPoints="1" noAdjustHandles="1" noChangeArrowheads="1" noChangeShapeType="1" noTextEdit="1"/>
              </p:cNvSpPr>
              <p:nvPr/>
            </p:nvSpPr>
            <p:spPr>
              <a:xfrm>
                <a:off x="549875" y="1390135"/>
                <a:ext cx="3057247" cy="636713"/>
              </a:xfrm>
              <a:prstGeom prst="rect">
                <a:avLst/>
              </a:prstGeom>
              <a:blipFill>
                <a:blip r:embed="rId3"/>
                <a:stretch>
                  <a:fillRect t="-3922" b="-9804"/>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E5F0BAF7-5842-1D4E-8422-309CC8110C5D}"/>
              </a:ext>
            </a:extLst>
          </p:cNvPr>
          <p:cNvSpPr txBox="1"/>
          <p:nvPr/>
        </p:nvSpPr>
        <p:spPr>
          <a:xfrm>
            <a:off x="378030" y="2221783"/>
            <a:ext cx="11435937" cy="1231106"/>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where</a:t>
            </a:r>
          </a:p>
          <a:p>
            <a:r>
              <a:rPr lang="en-US" sz="2000" dirty="0">
                <a:latin typeface="Symbol" pitchFamily="2" charset="2"/>
                <a:cs typeface="Arial" panose="020B0604020202020204" pitchFamily="34" charset="0"/>
              </a:rPr>
              <a:t>k</a:t>
            </a:r>
            <a:r>
              <a:rPr lang="en-US" dirty="0">
                <a:latin typeface="Arial" panose="020B0604020202020204" pitchFamily="34" charset="0"/>
                <a:cs typeface="Arial" panose="020B0604020202020204" pitchFamily="34" charset="0"/>
              </a:rPr>
              <a:t> = von Karman constant ~0.4</a:t>
            </a:r>
          </a:p>
          <a:p>
            <a:r>
              <a:rPr lang="en-US" dirty="0">
                <a:latin typeface="Arial" panose="020B0604020202020204" pitchFamily="34" charset="0"/>
                <a:cs typeface="Arial" panose="020B0604020202020204" pitchFamily="34" charset="0"/>
              </a:rPr>
              <a:t>k</a:t>
            </a:r>
            <a:r>
              <a:rPr lang="en-US" baseline="-25000" dirty="0">
                <a:latin typeface="Arial" panose="020B0604020202020204" pitchFamily="34" charset="0"/>
                <a:cs typeface="Arial" panose="020B0604020202020204" pitchFamily="34" charset="0"/>
              </a:rPr>
              <a:t>c</a:t>
            </a:r>
            <a:r>
              <a:rPr lang="en-US" dirty="0">
                <a:latin typeface="Arial" panose="020B0604020202020204" pitchFamily="34" charset="0"/>
                <a:cs typeface="Arial" panose="020B0604020202020204" pitchFamily="34" charset="0"/>
              </a:rPr>
              <a:t> = roughness height, i.e. a measure of the bumpiness of the bed. The subscript c denotes composite, i.e. due to more than one thing. </a:t>
            </a:r>
          </a:p>
        </p:txBody>
      </p:sp>
      <p:sp>
        <p:nvSpPr>
          <p:cNvPr id="7" name="TextBox 6">
            <a:extLst>
              <a:ext uri="{FF2B5EF4-FFF2-40B4-BE49-F238E27FC236}">
                <a16:creationId xmlns:a16="http://schemas.microsoft.com/office/drawing/2014/main" id="{B5C85DE1-2303-634E-90DC-8B78A3B9D561}"/>
              </a:ext>
            </a:extLst>
          </p:cNvPr>
          <p:cNvSpPr txBox="1"/>
          <p:nvPr/>
        </p:nvSpPr>
        <p:spPr>
          <a:xfrm>
            <a:off x="378029" y="3656168"/>
            <a:ext cx="11435937"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Manning-Strickler formulation</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46AB96D-919A-3446-97C0-685FA5DA638D}"/>
                  </a:ext>
                </a:extLst>
              </p:cNvPr>
              <p:cNvSpPr txBox="1"/>
              <p:nvPr/>
            </p:nvSpPr>
            <p:spPr>
              <a:xfrm>
                <a:off x="549874" y="4197591"/>
                <a:ext cx="2862643" cy="700705"/>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𝐶𝑧</m:t>
                      </m:r>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1</m:t>
                          </m:r>
                        </m:num>
                        <m:den>
                          <m:rad>
                            <m:radPr>
                              <m:degHide m:val="on"/>
                              <m:ctrlPr>
                                <a:rPr lang="en-US" b="0" i="1" smtClean="0">
                                  <a:latin typeface="Cambria Math" panose="02040503050406030204" pitchFamily="18" charset="0"/>
                                  <a:cs typeface="Arial" panose="020B0604020202020204" pitchFamily="34" charset="0"/>
                                </a:rPr>
                              </m:ctrlPr>
                            </m:radPr>
                            <m:deg/>
                            <m:e>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𝐶</m:t>
                                  </m:r>
                                </m:e>
                                <m:sub>
                                  <m:r>
                                    <a:rPr lang="en-US" b="0" i="1" smtClean="0">
                                      <a:latin typeface="Cambria Math" panose="02040503050406030204" pitchFamily="18" charset="0"/>
                                      <a:cs typeface="Arial" panose="020B0604020202020204" pitchFamily="34" charset="0"/>
                                    </a:rPr>
                                    <m:t>𝑓</m:t>
                                  </m:r>
                                </m:sub>
                              </m:sSub>
                            </m:e>
                          </m:rad>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𝑈</m:t>
                          </m:r>
                        </m:num>
                        <m:den>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m:t>
                              </m:r>
                            </m:sub>
                          </m:sSub>
                        </m:den>
                      </m:f>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𝛼</m:t>
                          </m:r>
                        </m:e>
                        <m:sub>
                          <m:r>
                            <a:rPr lang="en-US" b="0" i="1" smtClean="0">
                              <a:latin typeface="Cambria Math" panose="02040503050406030204" pitchFamily="18" charset="0"/>
                              <a:cs typeface="Arial" panose="020B0604020202020204" pitchFamily="34" charset="0"/>
                            </a:rPr>
                            <m:t>𝑟</m:t>
                          </m:r>
                        </m:sub>
                      </m:sSub>
                      <m:sSup>
                        <m:sSupPr>
                          <m:ctrlPr>
                            <a:rPr lang="en-US" b="0" i="1" smtClean="0">
                              <a:latin typeface="Cambria Math" panose="02040503050406030204" pitchFamily="18" charset="0"/>
                              <a:cs typeface="Arial" panose="020B0604020202020204" pitchFamily="34" charset="0"/>
                            </a:rPr>
                          </m:ctrlPr>
                        </m:sSupPr>
                        <m:e>
                          <m:d>
                            <m:dPr>
                              <m:ctrlPr>
                                <a:rPr lang="en-US" b="0" i="1" smtClean="0">
                                  <a:latin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𝐻</m:t>
                                  </m:r>
                                </m:num>
                                <m:den>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𝑘</m:t>
                                      </m:r>
                                    </m:e>
                                    <m:sub>
                                      <m:r>
                                        <a:rPr lang="en-US" b="0" i="1" smtClean="0">
                                          <a:latin typeface="Cambria Math" panose="02040503050406030204" pitchFamily="18" charset="0"/>
                                          <a:cs typeface="Arial" panose="020B0604020202020204" pitchFamily="34" charset="0"/>
                                        </a:rPr>
                                        <m:t>𝑐</m:t>
                                      </m:r>
                                    </m:sub>
                                  </m:sSub>
                                </m:den>
                              </m:f>
                            </m:e>
                          </m:d>
                        </m:e>
                        <m:sup>
                          <m:r>
                            <a:rPr lang="en-US" b="0" i="1" smtClean="0">
                              <a:latin typeface="Cambria Math" panose="02040503050406030204" pitchFamily="18" charset="0"/>
                              <a:cs typeface="Arial" panose="020B0604020202020204" pitchFamily="34" charset="0"/>
                            </a:rPr>
                            <m:t>1/6</m:t>
                          </m:r>
                        </m:sup>
                      </m:sSup>
                    </m:oMath>
                  </m:oMathPara>
                </a14:m>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E46AB96D-919A-3446-97C0-685FA5DA638D}"/>
                  </a:ext>
                </a:extLst>
              </p:cNvPr>
              <p:cNvSpPr txBox="1">
                <a:spLocks noRot="1" noChangeAspect="1" noMove="1" noResize="1" noEditPoints="1" noAdjustHandles="1" noChangeArrowheads="1" noChangeShapeType="1" noTextEdit="1"/>
              </p:cNvSpPr>
              <p:nvPr/>
            </p:nvSpPr>
            <p:spPr>
              <a:xfrm>
                <a:off x="549874" y="4197591"/>
                <a:ext cx="2862643" cy="700705"/>
              </a:xfrm>
              <a:prstGeom prst="rect">
                <a:avLst/>
              </a:prstGeom>
              <a:blipFill>
                <a:blip r:embed="rId4"/>
                <a:stretch>
                  <a:fillRect l="-1327" t="-3571" r="-442" b="-8929"/>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ECB31048-FD78-414F-983A-67FC3E52C024}"/>
              </a:ext>
            </a:extLst>
          </p:cNvPr>
          <p:cNvSpPr txBox="1"/>
          <p:nvPr/>
        </p:nvSpPr>
        <p:spPr>
          <a:xfrm>
            <a:off x="4645741" y="4173030"/>
            <a:ext cx="6885293" cy="707886"/>
          </a:xfrm>
          <a:prstGeom prst="rect">
            <a:avLst/>
          </a:prstGeom>
          <a:noFill/>
        </p:spPr>
        <p:txBody>
          <a:bodyPr wrap="square" rtlCol="0">
            <a:spAutoFit/>
          </a:bodyPr>
          <a:lstStyle/>
          <a:p>
            <a:r>
              <a:rPr lang="en-US" sz="2000" dirty="0" err="1">
                <a:latin typeface="Symbol" pitchFamily="2" charset="2"/>
                <a:cs typeface="Arial" panose="020B0604020202020204" pitchFamily="34" charset="0"/>
              </a:rPr>
              <a:t>a</a:t>
            </a:r>
            <a:r>
              <a:rPr lang="en-US" baseline="-25000" dirty="0" err="1">
                <a:latin typeface="Arial" panose="020B0604020202020204" pitchFamily="34" charset="0"/>
                <a:cs typeface="Arial" panose="020B0604020202020204" pitchFamily="34" charset="0"/>
              </a:rPr>
              <a:t>r</a:t>
            </a:r>
            <a:r>
              <a:rPr lang="en-US" dirty="0">
                <a:latin typeface="Arial" panose="020B0604020202020204" pitchFamily="34" charset="0"/>
                <a:cs typeface="Arial" panose="020B0604020202020204" pitchFamily="34" charset="0"/>
              </a:rPr>
              <a:t> = 8 - 9</a:t>
            </a:r>
          </a:p>
          <a:p>
            <a:r>
              <a:rPr lang="en-US" dirty="0">
                <a:latin typeface="Arial" panose="020B0604020202020204" pitchFamily="34" charset="0"/>
                <a:cs typeface="Arial" panose="020B0604020202020204" pitchFamily="34" charset="0"/>
              </a:rPr>
              <a:t>Parker (1991) found </a:t>
            </a:r>
            <a:r>
              <a:rPr lang="en-US" sz="2000" dirty="0" err="1">
                <a:latin typeface="Symbol" pitchFamily="2" charset="2"/>
                <a:cs typeface="Arial" panose="020B0604020202020204" pitchFamily="34" charset="0"/>
              </a:rPr>
              <a:t>a</a:t>
            </a:r>
            <a:r>
              <a:rPr lang="en-US" baseline="-25000" dirty="0" err="1">
                <a:latin typeface="Arial" panose="020B0604020202020204" pitchFamily="34" charset="0"/>
                <a:cs typeface="Arial" panose="020B0604020202020204" pitchFamily="34" charset="0"/>
              </a:rPr>
              <a:t>r</a:t>
            </a:r>
            <a:r>
              <a:rPr lang="en-US" dirty="0">
                <a:latin typeface="Arial" panose="020B0604020202020204" pitchFamily="34" charset="0"/>
                <a:cs typeface="Arial" panose="020B0604020202020204" pitchFamily="34" charset="0"/>
              </a:rPr>
              <a:t> = 8.1 for gravel bed rivers </a:t>
            </a:r>
          </a:p>
        </p:txBody>
      </p:sp>
      <p:sp>
        <p:nvSpPr>
          <p:cNvPr id="3" name="TextBox 2">
            <a:extLst>
              <a:ext uri="{FF2B5EF4-FFF2-40B4-BE49-F238E27FC236}">
                <a16:creationId xmlns:a16="http://schemas.microsoft.com/office/drawing/2014/main" id="{0024883D-CFA3-B94C-9B88-698660D7BA0F}"/>
              </a:ext>
            </a:extLst>
          </p:cNvPr>
          <p:cNvSpPr txBox="1"/>
          <p:nvPr/>
        </p:nvSpPr>
        <p:spPr>
          <a:xfrm>
            <a:off x="715108" y="5312648"/>
            <a:ext cx="10638692" cy="923330"/>
          </a:xfrm>
          <a:prstGeom prst="rect">
            <a:avLst/>
          </a:prstGeom>
          <a:solidFill>
            <a:srgbClr val="FFFF00"/>
          </a:solidFill>
          <a:ln w="38100">
            <a:solidFill>
              <a:srgbClr val="C00000"/>
            </a:solidFill>
          </a:ln>
        </p:spPr>
        <p:txBody>
          <a:bodyPr wrap="square" rtlCol="0">
            <a:spAutoFit/>
          </a:bodyPr>
          <a:lstStyle/>
          <a:p>
            <a:pPr algn="l"/>
            <a:r>
              <a:rPr lang="en-US" dirty="0">
                <a:latin typeface="Arial" panose="020B0604020202020204" pitchFamily="34" charset="0"/>
                <a:cs typeface="Arial" panose="020B0604020202020204" pitchFamily="34" charset="0"/>
              </a:rPr>
              <a:t>NOTE:</a:t>
            </a:r>
          </a:p>
          <a:p>
            <a:pPr algn="l"/>
            <a:r>
              <a:rPr lang="en-US" dirty="0" err="1">
                <a:latin typeface="Arial" panose="020B0604020202020204" pitchFamily="34" charset="0"/>
                <a:cs typeface="Arial" panose="020B0604020202020204" pitchFamily="34" charset="0"/>
              </a:rPr>
              <a:t>Cz</a:t>
            </a:r>
            <a:r>
              <a:rPr lang="en-US" dirty="0">
                <a:latin typeface="Arial" panose="020B0604020202020204" pitchFamily="34" charset="0"/>
                <a:cs typeface="Arial" panose="020B0604020202020204" pitchFamily="34" charset="0"/>
              </a:rPr>
              <a:t> and C</a:t>
            </a:r>
            <a:r>
              <a:rPr lang="en-US" baseline="-25000" dirty="0">
                <a:latin typeface="Arial" panose="020B0604020202020204" pitchFamily="34" charset="0"/>
                <a:cs typeface="Arial" panose="020B0604020202020204" pitchFamily="34" charset="0"/>
              </a:rPr>
              <a:t>f</a:t>
            </a:r>
            <a:r>
              <a:rPr lang="en-US" dirty="0">
                <a:latin typeface="Arial" panose="020B0604020202020204" pitchFamily="34" charset="0"/>
                <a:cs typeface="Arial" panose="020B0604020202020204" pitchFamily="34" charset="0"/>
              </a:rPr>
              <a:t> do not vary strongly with water depth H. Thus, they are often approximated as constants in calculations that do not look into the fine details of the flow, such as those that we do here. </a:t>
            </a:r>
          </a:p>
        </p:txBody>
      </p:sp>
    </p:spTree>
    <p:extLst>
      <p:ext uri="{BB962C8B-B14F-4D97-AF65-F5344CB8AC3E}">
        <p14:creationId xmlns:p14="http://schemas.microsoft.com/office/powerpoint/2010/main" val="15759470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12</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1155370" y="136525"/>
            <a:ext cx="988125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Resistance relations for hydraulically rough flow</a:t>
            </a:r>
          </a:p>
        </p:txBody>
      </p:sp>
      <p:sp>
        <p:nvSpPr>
          <p:cNvPr id="12" name="TextBox 11">
            <a:extLst>
              <a:ext uri="{FF2B5EF4-FFF2-40B4-BE49-F238E27FC236}">
                <a16:creationId xmlns:a16="http://schemas.microsoft.com/office/drawing/2014/main" id="{BCE0686D-67F8-9344-B021-4BFD51939801}"/>
              </a:ext>
            </a:extLst>
          </p:cNvPr>
          <p:cNvSpPr txBox="1"/>
          <p:nvPr/>
        </p:nvSpPr>
        <p:spPr>
          <a:xfrm>
            <a:off x="378030" y="825868"/>
            <a:ext cx="11435937" cy="369332"/>
          </a:xfrm>
          <a:prstGeom prst="rect">
            <a:avLst/>
          </a:prstGeom>
          <a:noFill/>
        </p:spPr>
        <p:txBody>
          <a:bodyPr wrap="square" rtlCol="0">
            <a:spAutoFit/>
          </a:bodyPr>
          <a:lstStyle/>
          <a:p>
            <a:r>
              <a:rPr lang="en-US" dirty="0" err="1">
                <a:latin typeface="Arial" panose="020B0604020202020204" pitchFamily="34" charset="0"/>
                <a:cs typeface="Arial" panose="020B0604020202020204" pitchFamily="34" charset="0"/>
              </a:rPr>
              <a:t>Keulegan</a:t>
            </a:r>
            <a:r>
              <a:rPr lang="en-US" dirty="0">
                <a:latin typeface="Arial" panose="020B0604020202020204" pitchFamily="34" charset="0"/>
                <a:cs typeface="Arial" panose="020B0604020202020204" pitchFamily="34" charset="0"/>
              </a:rPr>
              <a:t> formulation (1938)</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B13EF1D-2926-444D-9918-343CFDA21A9F}"/>
                  </a:ext>
                </a:extLst>
              </p:cNvPr>
              <p:cNvSpPr txBox="1"/>
              <p:nvPr/>
            </p:nvSpPr>
            <p:spPr>
              <a:xfrm>
                <a:off x="549875" y="1390135"/>
                <a:ext cx="3057247" cy="636713"/>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𝐶𝑧</m:t>
                      </m:r>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1</m:t>
                          </m:r>
                        </m:num>
                        <m:den>
                          <m:rad>
                            <m:radPr>
                              <m:degHide m:val="on"/>
                              <m:ctrlPr>
                                <a:rPr lang="en-US" b="0" i="1" smtClean="0">
                                  <a:latin typeface="Cambria Math" panose="02040503050406030204" pitchFamily="18" charset="0"/>
                                  <a:cs typeface="Arial" panose="020B0604020202020204" pitchFamily="34" charset="0"/>
                                </a:rPr>
                              </m:ctrlPr>
                            </m:radPr>
                            <m:deg/>
                            <m:e>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𝐶</m:t>
                                  </m:r>
                                </m:e>
                                <m:sub>
                                  <m:r>
                                    <a:rPr lang="en-US" b="0" i="1" smtClean="0">
                                      <a:latin typeface="Cambria Math" panose="02040503050406030204" pitchFamily="18" charset="0"/>
                                      <a:cs typeface="Arial" panose="020B0604020202020204" pitchFamily="34" charset="0"/>
                                    </a:rPr>
                                    <m:t>𝑓</m:t>
                                  </m:r>
                                </m:sub>
                              </m:sSub>
                            </m:e>
                          </m:rad>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𝑈</m:t>
                          </m:r>
                        </m:num>
                        <m:den>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m:t>
                              </m:r>
                            </m:sub>
                          </m:sSub>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1</m:t>
                          </m:r>
                        </m:num>
                        <m:den>
                          <m:r>
                            <a:rPr lang="en-US" b="0" i="1" smtClean="0">
                              <a:latin typeface="Cambria Math" panose="02040503050406030204" pitchFamily="18" charset="0"/>
                              <a:ea typeface="Cambria Math" panose="02040503050406030204" pitchFamily="18" charset="0"/>
                              <a:cs typeface="Arial" panose="020B0604020202020204" pitchFamily="34" charset="0"/>
                            </a:rPr>
                            <m:t>𝜅</m:t>
                          </m:r>
                        </m:den>
                      </m:f>
                      <m:r>
                        <m:rPr>
                          <m:sty m:val="p"/>
                        </m:rPr>
                        <a:rPr lang="en-US" b="0" i="0" smtClean="0">
                          <a:latin typeface="Cambria Math" panose="02040503050406030204" pitchFamily="18" charset="0"/>
                          <a:cs typeface="Arial" panose="020B0604020202020204" pitchFamily="34" charset="0"/>
                        </a:rPr>
                        <m:t>ln</m:t>
                      </m:r>
                      <m:d>
                        <m:dPr>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11</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𝐻</m:t>
                              </m:r>
                            </m:num>
                            <m:den>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𝑘</m:t>
                                  </m:r>
                                </m:e>
                                <m:sub>
                                  <m:r>
                                    <a:rPr lang="en-US" b="0" i="1" smtClean="0">
                                      <a:latin typeface="Cambria Math" panose="02040503050406030204" pitchFamily="18" charset="0"/>
                                      <a:cs typeface="Arial" panose="020B0604020202020204" pitchFamily="34" charset="0"/>
                                    </a:rPr>
                                    <m:t>𝑐</m:t>
                                  </m:r>
                                </m:sub>
                              </m:sSub>
                            </m:den>
                          </m:f>
                        </m:e>
                      </m:d>
                    </m:oMath>
                  </m:oMathPara>
                </a14:m>
                <a:endParaRPr lang="en-US" dirty="0">
                  <a:latin typeface="Arial" panose="020B0604020202020204" pitchFamily="34" charset="0"/>
                  <a:cs typeface="Arial" panose="020B0604020202020204" pitchFamily="34" charset="0"/>
                </a:endParaRPr>
              </a:p>
            </p:txBody>
          </p:sp>
        </mc:Choice>
        <mc:Fallback xmlns="">
          <p:sp>
            <p:nvSpPr>
              <p:cNvPr id="2" name="TextBox 1">
                <a:extLst>
                  <a:ext uri="{FF2B5EF4-FFF2-40B4-BE49-F238E27FC236}">
                    <a16:creationId xmlns:a16="http://schemas.microsoft.com/office/drawing/2014/main" id="{0B13EF1D-2926-444D-9918-343CFDA21A9F}"/>
                  </a:ext>
                </a:extLst>
              </p:cNvPr>
              <p:cNvSpPr txBox="1">
                <a:spLocks noRot="1" noChangeAspect="1" noMove="1" noResize="1" noEditPoints="1" noAdjustHandles="1" noChangeArrowheads="1" noChangeShapeType="1" noTextEdit="1"/>
              </p:cNvSpPr>
              <p:nvPr/>
            </p:nvSpPr>
            <p:spPr>
              <a:xfrm>
                <a:off x="549875" y="1390135"/>
                <a:ext cx="3057247" cy="636713"/>
              </a:xfrm>
              <a:prstGeom prst="rect">
                <a:avLst/>
              </a:prstGeom>
              <a:blipFill>
                <a:blip r:embed="rId3"/>
                <a:stretch>
                  <a:fillRect t="-3922" b="-9804"/>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E5F0BAF7-5842-1D4E-8422-309CC8110C5D}"/>
              </a:ext>
            </a:extLst>
          </p:cNvPr>
          <p:cNvSpPr txBox="1"/>
          <p:nvPr/>
        </p:nvSpPr>
        <p:spPr>
          <a:xfrm>
            <a:off x="378030" y="2221783"/>
            <a:ext cx="11435937" cy="1231106"/>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where</a:t>
            </a:r>
          </a:p>
          <a:p>
            <a:r>
              <a:rPr lang="en-US" sz="2000" dirty="0">
                <a:latin typeface="Symbol" pitchFamily="2" charset="2"/>
                <a:cs typeface="Arial" panose="020B0604020202020204" pitchFamily="34" charset="0"/>
              </a:rPr>
              <a:t>k</a:t>
            </a:r>
            <a:r>
              <a:rPr lang="en-US" dirty="0">
                <a:latin typeface="Arial" panose="020B0604020202020204" pitchFamily="34" charset="0"/>
                <a:cs typeface="Arial" panose="020B0604020202020204" pitchFamily="34" charset="0"/>
              </a:rPr>
              <a:t> = von Karman constant ~0.4</a:t>
            </a:r>
          </a:p>
          <a:p>
            <a:r>
              <a:rPr lang="en-US" dirty="0">
                <a:latin typeface="Arial" panose="020B0604020202020204" pitchFamily="34" charset="0"/>
                <a:cs typeface="Arial" panose="020B0604020202020204" pitchFamily="34" charset="0"/>
              </a:rPr>
              <a:t>k</a:t>
            </a:r>
            <a:r>
              <a:rPr lang="en-US" baseline="-25000" dirty="0">
                <a:latin typeface="Arial" panose="020B0604020202020204" pitchFamily="34" charset="0"/>
                <a:cs typeface="Arial" panose="020B0604020202020204" pitchFamily="34" charset="0"/>
              </a:rPr>
              <a:t>c</a:t>
            </a:r>
            <a:r>
              <a:rPr lang="en-US" dirty="0">
                <a:latin typeface="Arial" panose="020B0604020202020204" pitchFamily="34" charset="0"/>
                <a:cs typeface="Arial" panose="020B0604020202020204" pitchFamily="34" charset="0"/>
              </a:rPr>
              <a:t> = roughness height, i.e. a measure of the bumpiness of the bed. The subscript c denotes composite, i.e. due to more than one thing. </a:t>
            </a:r>
          </a:p>
        </p:txBody>
      </p:sp>
      <p:sp>
        <p:nvSpPr>
          <p:cNvPr id="7" name="TextBox 6">
            <a:extLst>
              <a:ext uri="{FF2B5EF4-FFF2-40B4-BE49-F238E27FC236}">
                <a16:creationId xmlns:a16="http://schemas.microsoft.com/office/drawing/2014/main" id="{B5C85DE1-2303-634E-90DC-8B78A3B9D561}"/>
              </a:ext>
            </a:extLst>
          </p:cNvPr>
          <p:cNvSpPr txBox="1"/>
          <p:nvPr/>
        </p:nvSpPr>
        <p:spPr>
          <a:xfrm>
            <a:off x="378029" y="3656168"/>
            <a:ext cx="11435937"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Manning-Strickler formulation</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46AB96D-919A-3446-97C0-685FA5DA638D}"/>
                  </a:ext>
                </a:extLst>
              </p:cNvPr>
              <p:cNvSpPr txBox="1"/>
              <p:nvPr/>
            </p:nvSpPr>
            <p:spPr>
              <a:xfrm>
                <a:off x="549874" y="4197591"/>
                <a:ext cx="2862643" cy="700705"/>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𝐶𝑧</m:t>
                      </m:r>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1</m:t>
                          </m:r>
                        </m:num>
                        <m:den>
                          <m:rad>
                            <m:radPr>
                              <m:degHide m:val="on"/>
                              <m:ctrlPr>
                                <a:rPr lang="en-US" b="0" i="1" smtClean="0">
                                  <a:latin typeface="Cambria Math" panose="02040503050406030204" pitchFamily="18" charset="0"/>
                                  <a:cs typeface="Arial" panose="020B0604020202020204" pitchFamily="34" charset="0"/>
                                </a:rPr>
                              </m:ctrlPr>
                            </m:radPr>
                            <m:deg/>
                            <m:e>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𝐶</m:t>
                                  </m:r>
                                </m:e>
                                <m:sub>
                                  <m:r>
                                    <a:rPr lang="en-US" b="0" i="1" smtClean="0">
                                      <a:latin typeface="Cambria Math" panose="02040503050406030204" pitchFamily="18" charset="0"/>
                                      <a:cs typeface="Arial" panose="020B0604020202020204" pitchFamily="34" charset="0"/>
                                    </a:rPr>
                                    <m:t>𝑓</m:t>
                                  </m:r>
                                </m:sub>
                              </m:sSub>
                            </m:e>
                          </m:rad>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𝑈</m:t>
                          </m:r>
                        </m:num>
                        <m:den>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m:t>
                              </m:r>
                            </m:sub>
                          </m:sSub>
                        </m:den>
                      </m:f>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𝛼</m:t>
                          </m:r>
                        </m:e>
                        <m:sub>
                          <m:r>
                            <a:rPr lang="en-US" b="0" i="1" smtClean="0">
                              <a:latin typeface="Cambria Math" panose="02040503050406030204" pitchFamily="18" charset="0"/>
                              <a:cs typeface="Arial" panose="020B0604020202020204" pitchFamily="34" charset="0"/>
                            </a:rPr>
                            <m:t>𝑟</m:t>
                          </m:r>
                        </m:sub>
                      </m:sSub>
                      <m:sSup>
                        <m:sSupPr>
                          <m:ctrlPr>
                            <a:rPr lang="en-US" b="0" i="1" smtClean="0">
                              <a:latin typeface="Cambria Math" panose="02040503050406030204" pitchFamily="18" charset="0"/>
                              <a:cs typeface="Arial" panose="020B0604020202020204" pitchFamily="34" charset="0"/>
                            </a:rPr>
                          </m:ctrlPr>
                        </m:sSupPr>
                        <m:e>
                          <m:d>
                            <m:dPr>
                              <m:ctrlPr>
                                <a:rPr lang="en-US" b="0" i="1" smtClean="0">
                                  <a:latin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𝐻</m:t>
                                  </m:r>
                                </m:num>
                                <m:den>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𝑘</m:t>
                                      </m:r>
                                    </m:e>
                                    <m:sub>
                                      <m:r>
                                        <a:rPr lang="en-US" b="0" i="1" smtClean="0">
                                          <a:latin typeface="Cambria Math" panose="02040503050406030204" pitchFamily="18" charset="0"/>
                                          <a:cs typeface="Arial" panose="020B0604020202020204" pitchFamily="34" charset="0"/>
                                        </a:rPr>
                                        <m:t>𝑐</m:t>
                                      </m:r>
                                    </m:sub>
                                  </m:sSub>
                                </m:den>
                              </m:f>
                            </m:e>
                          </m:d>
                        </m:e>
                        <m:sup>
                          <m:r>
                            <a:rPr lang="en-US" b="0" i="1" smtClean="0">
                              <a:latin typeface="Cambria Math" panose="02040503050406030204" pitchFamily="18" charset="0"/>
                              <a:cs typeface="Arial" panose="020B0604020202020204" pitchFamily="34" charset="0"/>
                            </a:rPr>
                            <m:t>1/6</m:t>
                          </m:r>
                        </m:sup>
                      </m:sSup>
                    </m:oMath>
                  </m:oMathPara>
                </a14:m>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E46AB96D-919A-3446-97C0-685FA5DA638D}"/>
                  </a:ext>
                </a:extLst>
              </p:cNvPr>
              <p:cNvSpPr txBox="1">
                <a:spLocks noRot="1" noChangeAspect="1" noMove="1" noResize="1" noEditPoints="1" noAdjustHandles="1" noChangeArrowheads="1" noChangeShapeType="1" noTextEdit="1"/>
              </p:cNvSpPr>
              <p:nvPr/>
            </p:nvSpPr>
            <p:spPr>
              <a:xfrm>
                <a:off x="549874" y="4197591"/>
                <a:ext cx="2862643" cy="700705"/>
              </a:xfrm>
              <a:prstGeom prst="rect">
                <a:avLst/>
              </a:prstGeom>
              <a:blipFill>
                <a:blip r:embed="rId4"/>
                <a:stretch>
                  <a:fillRect l="-1327" t="-3571" r="-442" b="-8929"/>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ECB31048-FD78-414F-983A-67FC3E52C024}"/>
              </a:ext>
            </a:extLst>
          </p:cNvPr>
          <p:cNvSpPr txBox="1"/>
          <p:nvPr/>
        </p:nvSpPr>
        <p:spPr>
          <a:xfrm>
            <a:off x="4645741" y="4173030"/>
            <a:ext cx="6885293" cy="707886"/>
          </a:xfrm>
          <a:prstGeom prst="rect">
            <a:avLst/>
          </a:prstGeom>
          <a:noFill/>
        </p:spPr>
        <p:txBody>
          <a:bodyPr wrap="square" rtlCol="0">
            <a:spAutoFit/>
          </a:bodyPr>
          <a:lstStyle/>
          <a:p>
            <a:r>
              <a:rPr lang="en-US" sz="2000" dirty="0" err="1">
                <a:latin typeface="Symbol" pitchFamily="2" charset="2"/>
                <a:cs typeface="Arial" panose="020B0604020202020204" pitchFamily="34" charset="0"/>
              </a:rPr>
              <a:t>a</a:t>
            </a:r>
            <a:r>
              <a:rPr lang="en-US" baseline="-25000" dirty="0" err="1">
                <a:latin typeface="Arial" panose="020B0604020202020204" pitchFamily="34" charset="0"/>
                <a:cs typeface="Arial" panose="020B0604020202020204" pitchFamily="34" charset="0"/>
              </a:rPr>
              <a:t>r</a:t>
            </a:r>
            <a:r>
              <a:rPr lang="en-US" dirty="0">
                <a:latin typeface="Arial" panose="020B0604020202020204" pitchFamily="34" charset="0"/>
                <a:cs typeface="Arial" panose="020B0604020202020204" pitchFamily="34" charset="0"/>
              </a:rPr>
              <a:t> = 8 - 9</a:t>
            </a:r>
          </a:p>
          <a:p>
            <a:r>
              <a:rPr lang="en-US" dirty="0">
                <a:latin typeface="Arial" panose="020B0604020202020204" pitchFamily="34" charset="0"/>
                <a:cs typeface="Arial" panose="020B0604020202020204" pitchFamily="34" charset="0"/>
              </a:rPr>
              <a:t>Parker (1991) found </a:t>
            </a:r>
            <a:r>
              <a:rPr lang="en-US" sz="2000" dirty="0" err="1">
                <a:latin typeface="Symbol" pitchFamily="2" charset="2"/>
                <a:cs typeface="Arial" panose="020B0604020202020204" pitchFamily="34" charset="0"/>
              </a:rPr>
              <a:t>a</a:t>
            </a:r>
            <a:r>
              <a:rPr lang="en-US" baseline="-25000" dirty="0" err="1">
                <a:latin typeface="Arial" panose="020B0604020202020204" pitchFamily="34" charset="0"/>
                <a:cs typeface="Arial" panose="020B0604020202020204" pitchFamily="34" charset="0"/>
              </a:rPr>
              <a:t>r</a:t>
            </a:r>
            <a:r>
              <a:rPr lang="en-US" dirty="0">
                <a:latin typeface="Arial" panose="020B0604020202020204" pitchFamily="34" charset="0"/>
                <a:cs typeface="Arial" panose="020B0604020202020204" pitchFamily="34" charset="0"/>
              </a:rPr>
              <a:t> = 8.1 for gravel bed rivers </a:t>
            </a:r>
          </a:p>
        </p:txBody>
      </p:sp>
      <p:sp>
        <p:nvSpPr>
          <p:cNvPr id="10" name="TextBox 9">
            <a:extLst>
              <a:ext uri="{FF2B5EF4-FFF2-40B4-BE49-F238E27FC236}">
                <a16:creationId xmlns:a16="http://schemas.microsoft.com/office/drawing/2014/main" id="{72BCD17A-9F02-114F-8ECE-4E5412233576}"/>
              </a:ext>
            </a:extLst>
          </p:cNvPr>
          <p:cNvSpPr txBox="1"/>
          <p:nvPr/>
        </p:nvSpPr>
        <p:spPr>
          <a:xfrm>
            <a:off x="378028" y="5283199"/>
            <a:ext cx="11813972"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Roughness height on a plane bed is commonly expressed as a function of D</a:t>
            </a:r>
            <a:r>
              <a:rPr lang="en-US" baseline="-25000" dirty="0">
                <a:latin typeface="Arial" panose="020B0604020202020204" pitchFamily="34" charset="0"/>
                <a:cs typeface="Arial" panose="020B0604020202020204" pitchFamily="34" charset="0"/>
              </a:rPr>
              <a:t>90</a:t>
            </a:r>
            <a:r>
              <a:rPr lang="en-US" dirty="0">
                <a:latin typeface="Arial" panose="020B0604020202020204" pitchFamily="34" charset="0"/>
                <a:cs typeface="Arial" panose="020B0604020202020204" pitchFamily="34" charset="0"/>
              </a:rPr>
              <a:t> of the bed surface sediment (D</a:t>
            </a:r>
            <a:r>
              <a:rPr lang="en-US" baseline="-25000" dirty="0">
                <a:latin typeface="Arial" panose="020B0604020202020204" pitchFamily="34" charset="0"/>
                <a:cs typeface="Arial" panose="020B0604020202020204" pitchFamily="34" charset="0"/>
              </a:rPr>
              <a:t>s90</a:t>
            </a:r>
            <a:r>
              <a:rPr lang="en-US" dirty="0">
                <a:latin typeface="Arial" panose="020B0604020202020204" pitchFamily="34" charset="0"/>
                <a:cs typeface="Arial" panose="020B0604020202020204" pitchFamily="34" charset="0"/>
              </a:rPr>
              <a:t>)</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FA7851B-8E3F-884A-B50F-6E87ACFABFB9}"/>
                  </a:ext>
                </a:extLst>
              </p:cNvPr>
              <p:cNvSpPr txBox="1"/>
              <p:nvPr/>
            </p:nvSpPr>
            <p:spPr>
              <a:xfrm>
                <a:off x="678395" y="5976347"/>
                <a:ext cx="1265859" cy="276999"/>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𝑘</m:t>
                          </m:r>
                        </m:e>
                        <m:sub>
                          <m:r>
                            <a:rPr lang="en-US" b="0" i="1" smtClean="0">
                              <a:latin typeface="Cambria Math" panose="02040503050406030204" pitchFamily="18" charset="0"/>
                              <a:cs typeface="Arial" panose="020B0604020202020204" pitchFamily="34" charset="0"/>
                            </a:rPr>
                            <m:t>𝑠</m:t>
                          </m:r>
                        </m:sub>
                      </m:sSub>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𝑛</m:t>
                          </m:r>
                        </m:e>
                        <m:sub>
                          <m:r>
                            <a:rPr lang="en-US" b="0" i="1" smtClean="0">
                              <a:latin typeface="Cambria Math" panose="02040503050406030204" pitchFamily="18" charset="0"/>
                              <a:cs typeface="Arial" panose="020B0604020202020204" pitchFamily="34" charset="0"/>
                            </a:rPr>
                            <m:t>𝑘</m:t>
                          </m:r>
                        </m:sub>
                      </m:sSub>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𝐷</m:t>
                          </m:r>
                        </m:e>
                        <m:sub>
                          <m:r>
                            <a:rPr lang="en-US" b="0" i="1" smtClean="0">
                              <a:latin typeface="Cambria Math" panose="02040503050406030204" pitchFamily="18" charset="0"/>
                              <a:cs typeface="Arial" panose="020B0604020202020204" pitchFamily="34" charset="0"/>
                            </a:rPr>
                            <m:t>𝑠</m:t>
                          </m:r>
                          <m:r>
                            <a:rPr lang="en-US" b="0" i="1" smtClean="0">
                              <a:latin typeface="Cambria Math" panose="02040503050406030204" pitchFamily="18" charset="0"/>
                              <a:cs typeface="Arial" panose="020B0604020202020204" pitchFamily="34" charset="0"/>
                            </a:rPr>
                            <m:t>90</m:t>
                          </m:r>
                        </m:sub>
                      </m:sSub>
                    </m:oMath>
                  </m:oMathPara>
                </a14:m>
                <a:endParaRPr lang="en-US" dirty="0">
                  <a:latin typeface="Arial" panose="020B0604020202020204" pitchFamily="34" charset="0"/>
                  <a:cs typeface="Arial" panose="020B0604020202020204" pitchFamily="34" charset="0"/>
                </a:endParaRPr>
              </a:p>
            </p:txBody>
          </p:sp>
        </mc:Choice>
        <mc:Fallback xmlns="">
          <p:sp>
            <p:nvSpPr>
              <p:cNvPr id="11" name="TextBox 10">
                <a:extLst>
                  <a:ext uri="{FF2B5EF4-FFF2-40B4-BE49-F238E27FC236}">
                    <a16:creationId xmlns:a16="http://schemas.microsoft.com/office/drawing/2014/main" id="{8FA7851B-8E3F-884A-B50F-6E87ACFABFB9}"/>
                  </a:ext>
                </a:extLst>
              </p:cNvPr>
              <p:cNvSpPr txBox="1">
                <a:spLocks noRot="1" noChangeAspect="1" noMove="1" noResize="1" noEditPoints="1" noAdjustHandles="1" noChangeArrowheads="1" noChangeShapeType="1" noTextEdit="1"/>
              </p:cNvSpPr>
              <p:nvPr/>
            </p:nvSpPr>
            <p:spPr>
              <a:xfrm>
                <a:off x="678395" y="5976347"/>
                <a:ext cx="1265859" cy="276999"/>
              </a:xfrm>
              <a:prstGeom prst="rect">
                <a:avLst/>
              </a:prstGeom>
              <a:blipFill>
                <a:blip r:embed="rId5"/>
                <a:stretch>
                  <a:fillRect l="-3960" b="-17391"/>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4AC79664-C2F0-BB42-AB7E-63EA9735F326}"/>
              </a:ext>
            </a:extLst>
          </p:cNvPr>
          <p:cNvSpPr txBox="1"/>
          <p:nvPr/>
        </p:nvSpPr>
        <p:spPr>
          <a:xfrm>
            <a:off x="2652305" y="5725900"/>
            <a:ext cx="6679264"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where </a:t>
            </a:r>
            <a:r>
              <a:rPr lang="en-US" dirty="0" err="1">
                <a:latin typeface="Arial" panose="020B0604020202020204" pitchFamily="34" charset="0"/>
                <a:cs typeface="Arial" panose="020B0604020202020204" pitchFamily="34" charset="0"/>
              </a:rPr>
              <a:t>n</a:t>
            </a:r>
            <a:r>
              <a:rPr lang="en-US" baseline="-25000" dirty="0" err="1">
                <a:latin typeface="Arial" panose="020B0604020202020204" pitchFamily="34" charset="0"/>
                <a:cs typeface="Arial" panose="020B0604020202020204" pitchFamily="34" charset="0"/>
              </a:rPr>
              <a:t>k</a:t>
            </a:r>
            <a:r>
              <a:rPr lang="en-US" dirty="0">
                <a:latin typeface="Arial" panose="020B0604020202020204" pitchFamily="34" charset="0"/>
                <a:cs typeface="Arial" panose="020B0604020202020204" pitchFamily="34" charset="0"/>
              </a:rPr>
              <a:t> = 1 – 3 and </a:t>
            </a:r>
          </a:p>
          <a:p>
            <a:r>
              <a:rPr lang="en-US" dirty="0">
                <a:latin typeface="Arial" panose="020B0604020202020204" pitchFamily="34" charset="0"/>
                <a:cs typeface="Arial" panose="020B0604020202020204" pitchFamily="34" charset="0"/>
              </a:rPr>
              <a:t>the subscript </a:t>
            </a:r>
            <a:r>
              <a:rPr lang="en-US" b="1" i="1" dirty="0">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of </a:t>
            </a:r>
            <a:r>
              <a:rPr lang="en-US" dirty="0" err="1">
                <a:latin typeface="Arial" panose="020B0604020202020204" pitchFamily="34" charset="0"/>
                <a:cs typeface="Arial" panose="020B0604020202020204" pitchFamily="34" charset="0"/>
              </a:rPr>
              <a:t>k</a:t>
            </a:r>
            <a:r>
              <a:rPr lang="en-US" baseline="-25000" dirty="0" err="1">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indicates that the roughness is associated with the presence of a granular bed (skin friction)</a:t>
            </a:r>
          </a:p>
        </p:txBody>
      </p:sp>
    </p:spTree>
    <p:extLst>
      <p:ext uri="{BB962C8B-B14F-4D97-AF65-F5344CB8AC3E}">
        <p14:creationId xmlns:p14="http://schemas.microsoft.com/office/powerpoint/2010/main" val="26708630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13</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1155370" y="136525"/>
            <a:ext cx="988125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Normal (steady and uniform) flow</a:t>
            </a:r>
          </a:p>
        </p:txBody>
      </p:sp>
      <p:sp>
        <p:nvSpPr>
          <p:cNvPr id="14" name="TextBox 13">
            <a:extLst>
              <a:ext uri="{FF2B5EF4-FFF2-40B4-BE49-F238E27FC236}">
                <a16:creationId xmlns:a16="http://schemas.microsoft.com/office/drawing/2014/main" id="{13F5AF24-5B67-BD47-A366-843EDE64C288}"/>
              </a:ext>
            </a:extLst>
          </p:cNvPr>
          <p:cNvSpPr txBox="1"/>
          <p:nvPr/>
        </p:nvSpPr>
        <p:spPr>
          <a:xfrm>
            <a:off x="378030" y="825868"/>
            <a:ext cx="11435937"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Normal flow refers to an equilibrium state in which the downstream pull of gravity is perfectly balanced by the resistive bed force. </a:t>
            </a:r>
          </a:p>
          <a:p>
            <a:r>
              <a:rPr lang="en-US" dirty="0">
                <a:latin typeface="Arial" panose="020B0604020202020204" pitchFamily="34" charset="0"/>
                <a:cs typeface="Arial" panose="020B0604020202020204" pitchFamily="34" charset="0"/>
              </a:rPr>
              <a:t>The resulting flow is constant in time and does not vary in the streamwise (or flow) direction x. </a:t>
            </a:r>
          </a:p>
        </p:txBody>
      </p:sp>
    </p:spTree>
    <p:extLst>
      <p:ext uri="{BB962C8B-B14F-4D97-AF65-F5344CB8AC3E}">
        <p14:creationId xmlns:p14="http://schemas.microsoft.com/office/powerpoint/2010/main" val="41294321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Freeform 68">
            <a:extLst>
              <a:ext uri="{FF2B5EF4-FFF2-40B4-BE49-F238E27FC236}">
                <a16:creationId xmlns:a16="http://schemas.microsoft.com/office/drawing/2014/main" id="{3DA5D7DD-2914-0540-9DDE-020E02B1C2E4}"/>
              </a:ext>
            </a:extLst>
          </p:cNvPr>
          <p:cNvSpPr/>
          <p:nvPr/>
        </p:nvSpPr>
        <p:spPr>
          <a:xfrm>
            <a:off x="8049986" y="2792186"/>
            <a:ext cx="2890157" cy="1910443"/>
          </a:xfrm>
          <a:custGeom>
            <a:avLst/>
            <a:gdLst>
              <a:gd name="connsiteX0" fmla="*/ 996043 w 2890157"/>
              <a:gd name="connsiteY0" fmla="*/ 0 h 1910443"/>
              <a:gd name="connsiteX1" fmla="*/ 0 w 2890157"/>
              <a:gd name="connsiteY1" fmla="*/ 881743 h 1910443"/>
              <a:gd name="connsiteX2" fmla="*/ 1959428 w 2890157"/>
              <a:gd name="connsiteY2" fmla="*/ 1910443 h 1910443"/>
              <a:gd name="connsiteX3" fmla="*/ 2890157 w 2890157"/>
              <a:gd name="connsiteY3" fmla="*/ 1061357 h 1910443"/>
              <a:gd name="connsiteX4" fmla="*/ 996043 w 2890157"/>
              <a:gd name="connsiteY4" fmla="*/ 0 h 1910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157" h="1910443">
                <a:moveTo>
                  <a:pt x="996043" y="0"/>
                </a:moveTo>
                <a:lnTo>
                  <a:pt x="0" y="881743"/>
                </a:lnTo>
                <a:lnTo>
                  <a:pt x="1959428" y="1910443"/>
                </a:lnTo>
                <a:lnTo>
                  <a:pt x="2890157" y="1061357"/>
                </a:lnTo>
                <a:lnTo>
                  <a:pt x="996043" y="0"/>
                </a:lnTo>
                <a:close/>
              </a:path>
            </a:pathLst>
          </a:custGeom>
          <a:solidFill>
            <a:schemeClr val="accent4">
              <a:lumMod val="50000"/>
              <a:alpha val="54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14</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1155370" y="136525"/>
            <a:ext cx="988125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Normal (steady and uniform) flow</a:t>
            </a:r>
          </a:p>
        </p:txBody>
      </p:sp>
      <p:sp>
        <p:nvSpPr>
          <p:cNvPr id="14" name="TextBox 13">
            <a:extLst>
              <a:ext uri="{FF2B5EF4-FFF2-40B4-BE49-F238E27FC236}">
                <a16:creationId xmlns:a16="http://schemas.microsoft.com/office/drawing/2014/main" id="{13F5AF24-5B67-BD47-A366-843EDE64C288}"/>
              </a:ext>
            </a:extLst>
          </p:cNvPr>
          <p:cNvSpPr txBox="1"/>
          <p:nvPr/>
        </p:nvSpPr>
        <p:spPr>
          <a:xfrm>
            <a:off x="378030" y="825868"/>
            <a:ext cx="11435937"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Normal flow refers to an equilibrium state in which the downstream pull of gravity is perfectly balanced by the resistive bed force. </a:t>
            </a:r>
          </a:p>
          <a:p>
            <a:r>
              <a:rPr lang="en-US" dirty="0">
                <a:latin typeface="Arial" panose="020B0604020202020204" pitchFamily="34" charset="0"/>
                <a:cs typeface="Arial" panose="020B0604020202020204" pitchFamily="34" charset="0"/>
              </a:rPr>
              <a:t>The resulting flow is constant in time and does not vary in the streamwise (or flow) direction x. </a:t>
            </a:r>
          </a:p>
        </p:txBody>
      </p:sp>
      <p:cxnSp>
        <p:nvCxnSpPr>
          <p:cNvPr id="21" name="Straight Connector 20">
            <a:extLst>
              <a:ext uri="{FF2B5EF4-FFF2-40B4-BE49-F238E27FC236}">
                <a16:creationId xmlns:a16="http://schemas.microsoft.com/office/drawing/2014/main" id="{3CD28224-B631-2F48-99E4-92473D86ED56}"/>
              </a:ext>
            </a:extLst>
          </p:cNvPr>
          <p:cNvCxnSpPr>
            <a:cxnSpLocks/>
          </p:cNvCxnSpPr>
          <p:nvPr/>
        </p:nvCxnSpPr>
        <p:spPr>
          <a:xfrm>
            <a:off x="8033236" y="3692191"/>
            <a:ext cx="1948964" cy="1028927"/>
          </a:xfrm>
          <a:prstGeom prst="line">
            <a:avLst/>
          </a:prstGeom>
          <a:ln w="317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AB49106-A922-F849-B26A-9837B7101F8E}"/>
              </a:ext>
            </a:extLst>
          </p:cNvPr>
          <p:cNvCxnSpPr>
            <a:cxnSpLocks/>
          </p:cNvCxnSpPr>
          <p:nvPr/>
        </p:nvCxnSpPr>
        <p:spPr>
          <a:xfrm flipV="1">
            <a:off x="9982200" y="3833688"/>
            <a:ext cx="1008184" cy="887431"/>
          </a:xfrm>
          <a:prstGeom prst="line">
            <a:avLst/>
          </a:prstGeom>
          <a:ln w="317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518899-DBFC-974B-B968-3E41E62B50B2}"/>
              </a:ext>
            </a:extLst>
          </p:cNvPr>
          <p:cNvCxnSpPr>
            <a:cxnSpLocks/>
          </p:cNvCxnSpPr>
          <p:nvPr/>
        </p:nvCxnSpPr>
        <p:spPr>
          <a:xfrm flipH="1">
            <a:off x="8661108" y="4458081"/>
            <a:ext cx="7922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0B3B184-B457-CD4B-9C57-684DC6B26848}"/>
              </a:ext>
            </a:extLst>
          </p:cNvPr>
          <p:cNvCxnSpPr>
            <a:cxnSpLocks/>
          </p:cNvCxnSpPr>
          <p:nvPr/>
        </p:nvCxnSpPr>
        <p:spPr>
          <a:xfrm>
            <a:off x="9041420" y="2804761"/>
            <a:ext cx="1948964" cy="1028927"/>
          </a:xfrm>
          <a:prstGeom prst="line">
            <a:avLst/>
          </a:prstGeom>
          <a:ln w="31750">
            <a:solidFill>
              <a:schemeClr val="accent4">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E6249D3-FE44-244F-8874-469C3E12628D}"/>
              </a:ext>
            </a:extLst>
          </p:cNvPr>
          <p:cNvCxnSpPr>
            <a:cxnSpLocks/>
          </p:cNvCxnSpPr>
          <p:nvPr/>
        </p:nvCxnSpPr>
        <p:spPr>
          <a:xfrm flipV="1">
            <a:off x="8033236" y="2814738"/>
            <a:ext cx="1008184" cy="887431"/>
          </a:xfrm>
          <a:prstGeom prst="line">
            <a:avLst/>
          </a:prstGeom>
          <a:ln w="31750">
            <a:solidFill>
              <a:schemeClr val="accent4">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45A48D4-8DE5-6041-AEE6-33A58E38591C}"/>
              </a:ext>
            </a:extLst>
          </p:cNvPr>
          <p:cNvCxnSpPr/>
          <p:nvPr/>
        </p:nvCxnSpPr>
        <p:spPr>
          <a:xfrm flipV="1">
            <a:off x="8033236" y="3389973"/>
            <a:ext cx="0" cy="302217"/>
          </a:xfrm>
          <a:prstGeom prst="line">
            <a:avLst/>
          </a:prstGeom>
          <a:ln w="317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EF2A486-BCCF-2D45-926A-DAADF979B1BB}"/>
              </a:ext>
            </a:extLst>
          </p:cNvPr>
          <p:cNvCxnSpPr/>
          <p:nvPr/>
        </p:nvCxnSpPr>
        <p:spPr>
          <a:xfrm flipV="1">
            <a:off x="9041420" y="2502544"/>
            <a:ext cx="0" cy="302217"/>
          </a:xfrm>
          <a:prstGeom prst="line">
            <a:avLst/>
          </a:prstGeom>
          <a:ln w="31750">
            <a:solidFill>
              <a:schemeClr val="accent4">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A1F5FC4-AD62-CF41-9E20-0A4F9FBADDE4}"/>
              </a:ext>
            </a:extLst>
          </p:cNvPr>
          <p:cNvCxnSpPr/>
          <p:nvPr/>
        </p:nvCxnSpPr>
        <p:spPr>
          <a:xfrm flipV="1">
            <a:off x="9983175" y="4418901"/>
            <a:ext cx="0" cy="302217"/>
          </a:xfrm>
          <a:prstGeom prst="line">
            <a:avLst/>
          </a:prstGeom>
          <a:ln w="317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30F1368-72BA-2448-9CAE-155975146BA2}"/>
              </a:ext>
            </a:extLst>
          </p:cNvPr>
          <p:cNvCxnSpPr/>
          <p:nvPr/>
        </p:nvCxnSpPr>
        <p:spPr>
          <a:xfrm flipV="1">
            <a:off x="10990384" y="3541081"/>
            <a:ext cx="0" cy="302217"/>
          </a:xfrm>
          <a:prstGeom prst="line">
            <a:avLst/>
          </a:prstGeom>
          <a:ln w="317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EB959FA-FC29-C14D-A513-AA671CF6EF87}"/>
              </a:ext>
            </a:extLst>
          </p:cNvPr>
          <p:cNvCxnSpPr>
            <a:cxnSpLocks/>
          </p:cNvCxnSpPr>
          <p:nvPr/>
        </p:nvCxnSpPr>
        <p:spPr>
          <a:xfrm>
            <a:off x="9041419" y="2512153"/>
            <a:ext cx="1948964" cy="102892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8AD837B-9C39-E843-AA2D-EC59B7CC9303}"/>
              </a:ext>
            </a:extLst>
          </p:cNvPr>
          <p:cNvCxnSpPr>
            <a:cxnSpLocks/>
          </p:cNvCxnSpPr>
          <p:nvPr/>
        </p:nvCxnSpPr>
        <p:spPr>
          <a:xfrm>
            <a:off x="8033235" y="3384984"/>
            <a:ext cx="1948964" cy="102892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1D905140-1390-2245-8076-245832CD59D7}"/>
              </a:ext>
            </a:extLst>
          </p:cNvPr>
          <p:cNvCxnSpPr>
            <a:cxnSpLocks/>
          </p:cNvCxnSpPr>
          <p:nvPr/>
        </p:nvCxnSpPr>
        <p:spPr>
          <a:xfrm flipV="1">
            <a:off x="9982198" y="3541080"/>
            <a:ext cx="1008184" cy="887431"/>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D0A59B9-8911-0C4F-BA4C-A91CDBE79877}"/>
              </a:ext>
            </a:extLst>
          </p:cNvPr>
          <p:cNvCxnSpPr>
            <a:cxnSpLocks/>
          </p:cNvCxnSpPr>
          <p:nvPr/>
        </p:nvCxnSpPr>
        <p:spPr>
          <a:xfrm flipV="1">
            <a:off x="8033234" y="2524626"/>
            <a:ext cx="1008184" cy="887431"/>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FF7D386-B758-094A-9569-A9A5DDA40BCA}"/>
              </a:ext>
            </a:extLst>
          </p:cNvPr>
          <p:cNvCxnSpPr>
            <a:cxnSpLocks/>
          </p:cNvCxnSpPr>
          <p:nvPr/>
        </p:nvCxnSpPr>
        <p:spPr>
          <a:xfrm>
            <a:off x="7484315" y="3963596"/>
            <a:ext cx="2496908" cy="1303301"/>
          </a:xfrm>
          <a:prstGeom prst="line">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5" name="Arc 44">
            <a:extLst>
              <a:ext uri="{FF2B5EF4-FFF2-40B4-BE49-F238E27FC236}">
                <a16:creationId xmlns:a16="http://schemas.microsoft.com/office/drawing/2014/main" id="{CF1D6932-F34F-354B-8791-0C7FDE01B21C}"/>
              </a:ext>
            </a:extLst>
          </p:cNvPr>
          <p:cNvSpPr/>
          <p:nvPr/>
        </p:nvSpPr>
        <p:spPr>
          <a:xfrm rot="16368810">
            <a:off x="8928277" y="3998415"/>
            <a:ext cx="829756" cy="863987"/>
          </a:xfrm>
          <a:prstGeom prst="arc">
            <a:avLst>
              <a:gd name="adj1" fmla="val 15769630"/>
              <a:gd name="adj2" fmla="val 18021566"/>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TextBox 45">
            <a:extLst>
              <a:ext uri="{FF2B5EF4-FFF2-40B4-BE49-F238E27FC236}">
                <a16:creationId xmlns:a16="http://schemas.microsoft.com/office/drawing/2014/main" id="{160863F2-57F7-7849-9145-D978BB28EDE6}"/>
              </a:ext>
            </a:extLst>
          </p:cNvPr>
          <p:cNvSpPr txBox="1"/>
          <p:nvPr/>
        </p:nvSpPr>
        <p:spPr>
          <a:xfrm>
            <a:off x="8661108" y="4117794"/>
            <a:ext cx="312906" cy="369332"/>
          </a:xfrm>
          <a:prstGeom prst="rect">
            <a:avLst/>
          </a:prstGeom>
          <a:noFill/>
        </p:spPr>
        <p:txBody>
          <a:bodyPr wrap="none" rtlCol="0">
            <a:spAutoFit/>
          </a:bodyPr>
          <a:lstStyle/>
          <a:p>
            <a:pPr algn="l"/>
            <a:r>
              <a:rPr lang="en-US" dirty="0">
                <a:latin typeface="Symbol" pitchFamily="2" charset="2"/>
                <a:cs typeface="Arial" panose="020B0604020202020204" pitchFamily="34" charset="0"/>
              </a:rPr>
              <a:t>q</a:t>
            </a:r>
          </a:p>
        </p:txBody>
      </p:sp>
      <p:sp>
        <p:nvSpPr>
          <p:cNvPr id="48" name="TextBox 47">
            <a:extLst>
              <a:ext uri="{FF2B5EF4-FFF2-40B4-BE49-F238E27FC236}">
                <a16:creationId xmlns:a16="http://schemas.microsoft.com/office/drawing/2014/main" id="{56D352EA-E2B1-394C-800C-DF75B7EC89D4}"/>
              </a:ext>
            </a:extLst>
          </p:cNvPr>
          <p:cNvSpPr txBox="1"/>
          <p:nvPr/>
        </p:nvSpPr>
        <p:spPr>
          <a:xfrm>
            <a:off x="9531588" y="5147782"/>
            <a:ext cx="300082" cy="369332"/>
          </a:xfrm>
          <a:prstGeom prst="rect">
            <a:avLst/>
          </a:prstGeom>
          <a:noFill/>
        </p:spPr>
        <p:txBody>
          <a:bodyPr wrap="none" rtlCol="0">
            <a:spAutoFit/>
          </a:bodyPr>
          <a:lstStyle/>
          <a:p>
            <a:pPr algn="l"/>
            <a:r>
              <a:rPr lang="en-US" dirty="0">
                <a:latin typeface="Arial" panose="020B0604020202020204" pitchFamily="34" charset="0"/>
                <a:cs typeface="Arial" panose="020B0604020202020204" pitchFamily="34" charset="0"/>
              </a:rPr>
              <a:t>x</a:t>
            </a:r>
          </a:p>
        </p:txBody>
      </p:sp>
      <p:cxnSp>
        <p:nvCxnSpPr>
          <p:cNvPr id="56" name="Straight Connector 55">
            <a:extLst>
              <a:ext uri="{FF2B5EF4-FFF2-40B4-BE49-F238E27FC236}">
                <a16:creationId xmlns:a16="http://schemas.microsoft.com/office/drawing/2014/main" id="{612D0B01-7994-764B-B6C9-59934E333062}"/>
              </a:ext>
            </a:extLst>
          </p:cNvPr>
          <p:cNvCxnSpPr>
            <a:cxnSpLocks/>
          </p:cNvCxnSpPr>
          <p:nvPr/>
        </p:nvCxnSpPr>
        <p:spPr>
          <a:xfrm>
            <a:off x="9092058" y="2289492"/>
            <a:ext cx="1948964" cy="1028927"/>
          </a:xfrm>
          <a:prstGeom prst="line">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EB7A0A5-DBE6-A24B-8FB4-95394D4EC756}"/>
              </a:ext>
            </a:extLst>
          </p:cNvPr>
          <p:cNvCxnSpPr>
            <a:cxnSpLocks/>
          </p:cNvCxnSpPr>
          <p:nvPr/>
        </p:nvCxnSpPr>
        <p:spPr>
          <a:xfrm flipV="1">
            <a:off x="10134600" y="3986088"/>
            <a:ext cx="1008184" cy="887431"/>
          </a:xfrm>
          <a:prstGeom prst="line">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AAB01418-E1C7-3146-B049-7DDCF637AB21}"/>
              </a:ext>
            </a:extLst>
          </p:cNvPr>
          <p:cNvCxnSpPr/>
          <p:nvPr/>
        </p:nvCxnSpPr>
        <p:spPr>
          <a:xfrm flipV="1">
            <a:off x="10162789" y="4262802"/>
            <a:ext cx="0" cy="302217"/>
          </a:xfrm>
          <a:prstGeom prst="line">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3116FAA5-84F2-534C-8F69-8963D99186FF}"/>
              </a:ext>
            </a:extLst>
          </p:cNvPr>
          <p:cNvSpPr txBox="1"/>
          <p:nvPr/>
        </p:nvSpPr>
        <p:spPr>
          <a:xfrm>
            <a:off x="10560326" y="4373982"/>
            <a:ext cx="338554" cy="369332"/>
          </a:xfrm>
          <a:prstGeom prst="rect">
            <a:avLst/>
          </a:prstGeom>
          <a:noFill/>
        </p:spPr>
        <p:txBody>
          <a:bodyPr wrap="none" rtlCol="0">
            <a:spAutoFit/>
          </a:bodyPr>
          <a:lstStyle/>
          <a:p>
            <a:pPr algn="l"/>
            <a:r>
              <a:rPr lang="en-US" dirty="0">
                <a:latin typeface="Arial" panose="020B0604020202020204" pitchFamily="34" charset="0"/>
                <a:cs typeface="Arial" panose="020B0604020202020204" pitchFamily="34" charset="0"/>
              </a:rPr>
              <a:t>B</a:t>
            </a:r>
          </a:p>
        </p:txBody>
      </p:sp>
      <p:sp>
        <p:nvSpPr>
          <p:cNvPr id="60" name="TextBox 59">
            <a:extLst>
              <a:ext uri="{FF2B5EF4-FFF2-40B4-BE49-F238E27FC236}">
                <a16:creationId xmlns:a16="http://schemas.microsoft.com/office/drawing/2014/main" id="{96867F62-B62A-AB4D-9EAD-2FD514E24B04}"/>
              </a:ext>
            </a:extLst>
          </p:cNvPr>
          <p:cNvSpPr txBox="1"/>
          <p:nvPr/>
        </p:nvSpPr>
        <p:spPr>
          <a:xfrm>
            <a:off x="10151158" y="4127433"/>
            <a:ext cx="351378" cy="369332"/>
          </a:xfrm>
          <a:prstGeom prst="rect">
            <a:avLst/>
          </a:prstGeom>
          <a:noFill/>
        </p:spPr>
        <p:txBody>
          <a:bodyPr wrap="none" rtlCol="0">
            <a:spAutoFit/>
          </a:bodyPr>
          <a:lstStyle/>
          <a:p>
            <a:pPr algn="l"/>
            <a:r>
              <a:rPr lang="en-US" dirty="0">
                <a:latin typeface="Arial" panose="020B0604020202020204" pitchFamily="34" charset="0"/>
                <a:cs typeface="Arial" panose="020B0604020202020204" pitchFamily="34" charset="0"/>
              </a:rPr>
              <a:t>H</a:t>
            </a:r>
          </a:p>
        </p:txBody>
      </p:sp>
      <p:sp>
        <p:nvSpPr>
          <p:cNvPr id="61" name="TextBox 60">
            <a:extLst>
              <a:ext uri="{FF2B5EF4-FFF2-40B4-BE49-F238E27FC236}">
                <a16:creationId xmlns:a16="http://schemas.microsoft.com/office/drawing/2014/main" id="{01DC72D8-B65C-2141-AB96-5F7F457292D4}"/>
              </a:ext>
            </a:extLst>
          </p:cNvPr>
          <p:cNvSpPr txBox="1"/>
          <p:nvPr/>
        </p:nvSpPr>
        <p:spPr>
          <a:xfrm>
            <a:off x="10055955" y="2367745"/>
            <a:ext cx="441146" cy="369332"/>
          </a:xfrm>
          <a:prstGeom prst="rect">
            <a:avLst/>
          </a:prstGeom>
          <a:noFill/>
        </p:spPr>
        <p:txBody>
          <a:bodyPr wrap="none" rtlCol="0">
            <a:spAutoFit/>
          </a:bodyPr>
          <a:lstStyle/>
          <a:p>
            <a:pPr algn="l"/>
            <a:r>
              <a:rPr lang="en-US" dirty="0">
                <a:latin typeface="Symbol" pitchFamily="2" charset="2"/>
                <a:cs typeface="Arial" panose="020B0604020202020204" pitchFamily="34" charset="0"/>
              </a:rPr>
              <a:t>D</a:t>
            </a:r>
            <a:r>
              <a:rPr lang="en-US" dirty="0">
                <a:latin typeface="Arial" panose="020B0604020202020204" pitchFamily="34" charset="0"/>
                <a:cs typeface="Arial" panose="020B0604020202020204" pitchFamily="34" charset="0"/>
              </a:rPr>
              <a:t>x</a:t>
            </a:r>
          </a:p>
        </p:txBody>
      </p:sp>
      <p:sp>
        <p:nvSpPr>
          <p:cNvPr id="66" name="TextBox 65">
            <a:extLst>
              <a:ext uri="{FF2B5EF4-FFF2-40B4-BE49-F238E27FC236}">
                <a16:creationId xmlns:a16="http://schemas.microsoft.com/office/drawing/2014/main" id="{030FEBAA-AE9C-5340-BA5D-BD6524B402D5}"/>
              </a:ext>
            </a:extLst>
          </p:cNvPr>
          <p:cNvSpPr txBox="1"/>
          <p:nvPr/>
        </p:nvSpPr>
        <p:spPr>
          <a:xfrm>
            <a:off x="378030" y="2013093"/>
            <a:ext cx="3857146" cy="400110"/>
          </a:xfrm>
          <a:prstGeom prst="rect">
            <a:avLst/>
          </a:prstGeom>
          <a:noFill/>
        </p:spPr>
        <p:txBody>
          <a:bodyPr wrap="none" rtlCol="0">
            <a:spAutoFit/>
          </a:bodyPr>
          <a:lstStyle/>
          <a:p>
            <a:pPr algn="l"/>
            <a:r>
              <a:rPr lang="en-US" dirty="0">
                <a:latin typeface="Arial" panose="020B0604020202020204" pitchFamily="34" charset="0"/>
                <a:cs typeface="Arial" panose="020B0604020202020204" pitchFamily="34" charset="0"/>
              </a:rPr>
              <a:t>In rivers </a:t>
            </a:r>
            <a:r>
              <a:rPr lang="en-US" sz="2000" dirty="0">
                <a:latin typeface="Symbol" pitchFamily="2" charset="2"/>
                <a:cs typeface="Arial" panose="020B0604020202020204" pitchFamily="34" charset="0"/>
              </a:rPr>
              <a:t>q</a:t>
            </a:r>
            <a:r>
              <a:rPr lang="en-US" dirty="0">
                <a:latin typeface="Arial" panose="020B0604020202020204" pitchFamily="34" charset="0"/>
                <a:cs typeface="Arial" panose="020B0604020202020204" pitchFamily="34" charset="0"/>
              </a:rPr>
              <a:t> is generally small so that </a:t>
            </a: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9D92C9F5-995D-FD44-91FB-03B47A2B6FEC}"/>
                  </a:ext>
                </a:extLst>
              </p:cNvPr>
              <p:cNvSpPr txBox="1"/>
              <p:nvPr/>
            </p:nvSpPr>
            <p:spPr>
              <a:xfrm>
                <a:off x="4591643" y="2074648"/>
                <a:ext cx="2956643" cy="276999"/>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𝑠𝑖𝑛</m:t>
                      </m:r>
                      <m:r>
                        <a:rPr lang="en-US" b="0" i="1" smtClean="0">
                          <a:latin typeface="Cambria Math" panose="02040503050406030204" pitchFamily="18" charset="0"/>
                          <a:ea typeface="Cambria Math" panose="02040503050406030204" pitchFamily="18" charset="0"/>
                          <a:cs typeface="Arial" panose="020B0604020202020204" pitchFamily="34" charset="0"/>
                        </a:rPr>
                        <m:t>𝜃</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𝑡𝑎𝑛</m:t>
                      </m:r>
                      <m:r>
                        <a:rPr lang="en-US" b="0" i="1" smtClean="0">
                          <a:latin typeface="Cambria Math" panose="02040503050406030204" pitchFamily="18" charset="0"/>
                          <a:ea typeface="Cambria Math" panose="02040503050406030204" pitchFamily="18" charset="0"/>
                          <a:cs typeface="Arial" panose="020B0604020202020204" pitchFamily="34" charset="0"/>
                        </a:rPr>
                        <m:t>𝜃</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𝑆</m:t>
                      </m:r>
                      <m:r>
                        <a:rPr lang="en-US" b="0" i="1" smtClean="0">
                          <a:latin typeface="Cambria Math" panose="02040503050406030204" pitchFamily="18" charset="0"/>
                          <a:ea typeface="Cambria Math" panose="02040503050406030204" pitchFamily="18" charset="0"/>
                          <a:cs typeface="Arial" panose="020B0604020202020204" pitchFamily="34" charset="0"/>
                        </a:rPr>
                        <m:t> </m:t>
                      </m:r>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r>
                            <a:rPr lang="en-US" b="0" i="1" smtClean="0">
                              <a:latin typeface="Cambria Math" panose="02040503050406030204" pitchFamily="18" charset="0"/>
                              <a:ea typeface="Cambria Math" panose="02040503050406030204" pitchFamily="18" charset="0"/>
                              <a:cs typeface="Arial" panose="020B0604020202020204" pitchFamily="34" charset="0"/>
                            </a:rPr>
                            <m:t>𝑏𝑒𝑑</m:t>
                          </m:r>
                          <m:r>
                            <a:rPr lang="en-US" b="0" i="1" smtClean="0">
                              <a:latin typeface="Cambria Math" panose="02040503050406030204" pitchFamily="18" charset="0"/>
                              <a:ea typeface="Cambria Math" panose="02040503050406030204" pitchFamily="18" charset="0"/>
                              <a:cs typeface="Arial" panose="020B0604020202020204" pitchFamily="34" charset="0"/>
                            </a:rPr>
                            <m:t> </m:t>
                          </m:r>
                          <m:r>
                            <a:rPr lang="en-US" b="0" i="1" smtClean="0">
                              <a:latin typeface="Cambria Math" panose="02040503050406030204" pitchFamily="18" charset="0"/>
                              <a:ea typeface="Cambria Math" panose="02040503050406030204" pitchFamily="18" charset="0"/>
                              <a:cs typeface="Arial" panose="020B0604020202020204" pitchFamily="34" charset="0"/>
                            </a:rPr>
                            <m:t>𝑠𝑙𝑜𝑝𝑒</m:t>
                          </m:r>
                        </m:e>
                      </m:d>
                    </m:oMath>
                  </m:oMathPara>
                </a14:m>
                <a:endParaRPr lang="en-US" b="0" dirty="0">
                  <a:latin typeface="Arial" panose="020B0604020202020204" pitchFamily="34" charset="0"/>
                  <a:ea typeface="Cambria Math" panose="02040503050406030204" pitchFamily="18" charset="0"/>
                  <a:cs typeface="Arial" panose="020B0604020202020204" pitchFamily="34" charset="0"/>
                </a:endParaRPr>
              </a:p>
            </p:txBody>
          </p:sp>
        </mc:Choice>
        <mc:Fallback xmlns="">
          <p:sp>
            <p:nvSpPr>
              <p:cNvPr id="67" name="TextBox 66">
                <a:extLst>
                  <a:ext uri="{FF2B5EF4-FFF2-40B4-BE49-F238E27FC236}">
                    <a16:creationId xmlns:a16="http://schemas.microsoft.com/office/drawing/2014/main" id="{9D92C9F5-995D-FD44-91FB-03B47A2B6FEC}"/>
                  </a:ext>
                </a:extLst>
              </p:cNvPr>
              <p:cNvSpPr txBox="1">
                <a:spLocks noRot="1" noChangeAspect="1" noMove="1" noResize="1" noEditPoints="1" noAdjustHandles="1" noChangeArrowheads="1" noChangeShapeType="1" noTextEdit="1"/>
              </p:cNvSpPr>
              <p:nvPr/>
            </p:nvSpPr>
            <p:spPr>
              <a:xfrm>
                <a:off x="4591643" y="2074648"/>
                <a:ext cx="2956643" cy="276999"/>
              </a:xfrm>
              <a:prstGeom prst="rect">
                <a:avLst/>
              </a:prstGeom>
              <a:blipFill>
                <a:blip r:embed="rId3"/>
                <a:stretch>
                  <a:fillRect l="-855" t="-4348" b="-391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E0AEC2F5-322F-1546-A5CA-20D30E493BD3}"/>
                  </a:ext>
                </a:extLst>
              </p:cNvPr>
              <p:cNvSpPr txBox="1"/>
              <p:nvPr/>
            </p:nvSpPr>
            <p:spPr>
              <a:xfrm>
                <a:off x="4617676" y="2474574"/>
                <a:ext cx="873637" cy="276999"/>
              </a:xfrm>
              <a:prstGeom prst="rect">
                <a:avLst/>
              </a:prstGeom>
              <a:noFill/>
            </p:spPr>
            <p:txBody>
              <a:bodyPr wrap="none" lIns="0" tIns="0" rIns="0" bIns="0" rtlCol="0">
                <a:spAutoFit/>
              </a:bodyPr>
              <a:lstStyle/>
              <a:p>
                <a:pPr algn="l"/>
                <a:r>
                  <a:rPr lang="en-US" b="0" dirty="0">
                    <a:ea typeface="Cambria Math" panose="02040503050406030204" pitchFamily="18" charset="0"/>
                    <a:cs typeface="Arial" panose="020B0604020202020204" pitchFamily="34" charset="0"/>
                  </a:rPr>
                  <a:t>cos</a:t>
                </a:r>
                <a14:m>
                  <m:oMath xmlns:m="http://schemas.openxmlformats.org/officeDocument/2006/math">
                    <m:r>
                      <a:rPr lang="en-US" b="0" i="1" smtClean="0">
                        <a:latin typeface="Cambria Math" panose="02040503050406030204" pitchFamily="18" charset="0"/>
                        <a:ea typeface="Cambria Math" panose="02040503050406030204" pitchFamily="18" charset="0"/>
                        <a:cs typeface="Arial" panose="020B0604020202020204" pitchFamily="34" charset="0"/>
                      </a:rPr>
                      <m:t>𝜃</m:t>
                    </m:r>
                    <m:r>
                      <a:rPr lang="en-US" b="0" i="1" smtClean="0">
                        <a:latin typeface="Cambria Math" panose="02040503050406030204" pitchFamily="18" charset="0"/>
                        <a:ea typeface="Cambria Math" panose="02040503050406030204" pitchFamily="18" charset="0"/>
                        <a:cs typeface="Arial" panose="020B0604020202020204" pitchFamily="34" charset="0"/>
                      </a:rPr>
                      <m:t>≅1</m:t>
                    </m:r>
                  </m:oMath>
                </a14:m>
                <a:endParaRPr lang="en-US" b="0" dirty="0">
                  <a:latin typeface="Arial" panose="020B0604020202020204" pitchFamily="34" charset="0"/>
                  <a:ea typeface="Cambria Math" panose="02040503050406030204" pitchFamily="18" charset="0"/>
                  <a:cs typeface="Arial" panose="020B0604020202020204" pitchFamily="34" charset="0"/>
                </a:endParaRPr>
              </a:p>
            </p:txBody>
          </p:sp>
        </mc:Choice>
        <mc:Fallback xmlns="">
          <p:sp>
            <p:nvSpPr>
              <p:cNvPr id="68" name="TextBox 67">
                <a:extLst>
                  <a:ext uri="{FF2B5EF4-FFF2-40B4-BE49-F238E27FC236}">
                    <a16:creationId xmlns:a16="http://schemas.microsoft.com/office/drawing/2014/main" id="{E0AEC2F5-322F-1546-A5CA-20D30E493BD3}"/>
                  </a:ext>
                </a:extLst>
              </p:cNvPr>
              <p:cNvSpPr txBox="1">
                <a:spLocks noRot="1" noChangeAspect="1" noMove="1" noResize="1" noEditPoints="1" noAdjustHandles="1" noChangeArrowheads="1" noChangeShapeType="1" noTextEdit="1"/>
              </p:cNvSpPr>
              <p:nvPr/>
            </p:nvSpPr>
            <p:spPr>
              <a:xfrm>
                <a:off x="4617676" y="2474574"/>
                <a:ext cx="873637" cy="276999"/>
              </a:xfrm>
              <a:prstGeom prst="rect">
                <a:avLst/>
              </a:prstGeom>
              <a:blipFill>
                <a:blip r:embed="rId4"/>
                <a:stretch>
                  <a:fillRect l="-15714" t="-21739" r="-7143" b="-52174"/>
                </a:stretch>
              </a:blipFill>
            </p:spPr>
            <p:txBody>
              <a:bodyPr/>
              <a:lstStyle/>
              <a:p>
                <a:r>
                  <a:rPr lang="en-US">
                    <a:noFill/>
                  </a:rPr>
                  <a:t> </a:t>
                </a:r>
              </a:p>
            </p:txBody>
          </p:sp>
        </mc:Fallback>
      </mc:AlternateContent>
    </p:spTree>
    <p:extLst>
      <p:ext uri="{BB962C8B-B14F-4D97-AF65-F5344CB8AC3E}">
        <p14:creationId xmlns:p14="http://schemas.microsoft.com/office/powerpoint/2010/main" val="18393100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Freeform 68">
            <a:extLst>
              <a:ext uri="{FF2B5EF4-FFF2-40B4-BE49-F238E27FC236}">
                <a16:creationId xmlns:a16="http://schemas.microsoft.com/office/drawing/2014/main" id="{3DA5D7DD-2914-0540-9DDE-020E02B1C2E4}"/>
              </a:ext>
            </a:extLst>
          </p:cNvPr>
          <p:cNvSpPr/>
          <p:nvPr/>
        </p:nvSpPr>
        <p:spPr>
          <a:xfrm>
            <a:off x="8049986" y="2792186"/>
            <a:ext cx="2890157" cy="1910443"/>
          </a:xfrm>
          <a:custGeom>
            <a:avLst/>
            <a:gdLst>
              <a:gd name="connsiteX0" fmla="*/ 996043 w 2890157"/>
              <a:gd name="connsiteY0" fmla="*/ 0 h 1910443"/>
              <a:gd name="connsiteX1" fmla="*/ 0 w 2890157"/>
              <a:gd name="connsiteY1" fmla="*/ 881743 h 1910443"/>
              <a:gd name="connsiteX2" fmla="*/ 1959428 w 2890157"/>
              <a:gd name="connsiteY2" fmla="*/ 1910443 h 1910443"/>
              <a:gd name="connsiteX3" fmla="*/ 2890157 w 2890157"/>
              <a:gd name="connsiteY3" fmla="*/ 1061357 h 1910443"/>
              <a:gd name="connsiteX4" fmla="*/ 996043 w 2890157"/>
              <a:gd name="connsiteY4" fmla="*/ 0 h 1910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157" h="1910443">
                <a:moveTo>
                  <a:pt x="996043" y="0"/>
                </a:moveTo>
                <a:lnTo>
                  <a:pt x="0" y="881743"/>
                </a:lnTo>
                <a:lnTo>
                  <a:pt x="1959428" y="1910443"/>
                </a:lnTo>
                <a:lnTo>
                  <a:pt x="2890157" y="1061357"/>
                </a:lnTo>
                <a:lnTo>
                  <a:pt x="996043" y="0"/>
                </a:lnTo>
                <a:close/>
              </a:path>
            </a:pathLst>
          </a:custGeom>
          <a:solidFill>
            <a:schemeClr val="accent4">
              <a:lumMod val="50000"/>
              <a:alpha val="54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E26F3B4-9DA8-7245-8E6E-F1D070C26EBA}"/>
              </a:ext>
            </a:extLst>
          </p:cNvPr>
          <p:cNvSpPr txBox="1"/>
          <p:nvPr/>
        </p:nvSpPr>
        <p:spPr>
          <a:xfrm>
            <a:off x="1155370" y="136525"/>
            <a:ext cx="988125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Normal (steady and uniform) flow</a:t>
            </a:r>
          </a:p>
        </p:txBody>
      </p:sp>
      <p:sp>
        <p:nvSpPr>
          <p:cNvPr id="14" name="TextBox 13">
            <a:extLst>
              <a:ext uri="{FF2B5EF4-FFF2-40B4-BE49-F238E27FC236}">
                <a16:creationId xmlns:a16="http://schemas.microsoft.com/office/drawing/2014/main" id="{13F5AF24-5B67-BD47-A366-843EDE64C288}"/>
              </a:ext>
            </a:extLst>
          </p:cNvPr>
          <p:cNvSpPr txBox="1"/>
          <p:nvPr/>
        </p:nvSpPr>
        <p:spPr>
          <a:xfrm>
            <a:off x="378030" y="825868"/>
            <a:ext cx="11435937" cy="923330"/>
          </a:xfrm>
          <a:prstGeom prst="rect">
            <a:avLst/>
          </a:prstGeom>
          <a:noFill/>
        </p:spPr>
        <p:txBody>
          <a:bodyPr wrap="square" rtlCol="0">
            <a:spAutoFit/>
          </a:bodyPr>
          <a:lstStyle/>
          <a:p>
            <a:r>
              <a:rPr lang="en-US">
                <a:latin typeface="Arial" panose="020B0604020202020204" pitchFamily="34" charset="0"/>
                <a:cs typeface="Arial" panose="020B0604020202020204" pitchFamily="34" charset="0"/>
              </a:rPr>
              <a:t>Normal flow refers to an equilibrium state in which the downstream pull of gravity is perfectly balanced by the resistive bed force. </a:t>
            </a:r>
          </a:p>
          <a:p>
            <a:r>
              <a:rPr lang="en-US">
                <a:latin typeface="Arial" panose="020B0604020202020204" pitchFamily="34" charset="0"/>
                <a:cs typeface="Arial" panose="020B0604020202020204" pitchFamily="34" charset="0"/>
              </a:rPr>
              <a:t>The resulting flow is constant in time and does not vary in the streamwise (or flow) direction x. </a:t>
            </a:r>
            <a:endParaRPr lang="en-US" dirty="0">
              <a:latin typeface="Arial" panose="020B0604020202020204" pitchFamily="34" charset="0"/>
              <a:cs typeface="Arial" panose="020B0604020202020204" pitchFamily="34" charset="0"/>
            </a:endParaRPr>
          </a:p>
        </p:txBody>
      </p:sp>
      <p:cxnSp>
        <p:nvCxnSpPr>
          <p:cNvPr id="21" name="Straight Connector 20">
            <a:extLst>
              <a:ext uri="{FF2B5EF4-FFF2-40B4-BE49-F238E27FC236}">
                <a16:creationId xmlns:a16="http://schemas.microsoft.com/office/drawing/2014/main" id="{3CD28224-B631-2F48-99E4-92473D86ED56}"/>
              </a:ext>
            </a:extLst>
          </p:cNvPr>
          <p:cNvCxnSpPr>
            <a:cxnSpLocks/>
          </p:cNvCxnSpPr>
          <p:nvPr/>
        </p:nvCxnSpPr>
        <p:spPr>
          <a:xfrm>
            <a:off x="8033236" y="3692191"/>
            <a:ext cx="1948964" cy="1028927"/>
          </a:xfrm>
          <a:prstGeom prst="line">
            <a:avLst/>
          </a:prstGeom>
          <a:ln w="317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AB49106-A922-F849-B26A-9837B7101F8E}"/>
              </a:ext>
            </a:extLst>
          </p:cNvPr>
          <p:cNvCxnSpPr>
            <a:cxnSpLocks/>
          </p:cNvCxnSpPr>
          <p:nvPr/>
        </p:nvCxnSpPr>
        <p:spPr>
          <a:xfrm flipV="1">
            <a:off x="9982200" y="3833688"/>
            <a:ext cx="1008184" cy="887431"/>
          </a:xfrm>
          <a:prstGeom prst="line">
            <a:avLst/>
          </a:prstGeom>
          <a:ln w="317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518899-DBFC-974B-B968-3E41E62B50B2}"/>
              </a:ext>
            </a:extLst>
          </p:cNvPr>
          <p:cNvCxnSpPr>
            <a:cxnSpLocks/>
          </p:cNvCxnSpPr>
          <p:nvPr/>
        </p:nvCxnSpPr>
        <p:spPr>
          <a:xfrm flipH="1">
            <a:off x="8661108" y="4458081"/>
            <a:ext cx="7922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0B3B184-B457-CD4B-9C57-684DC6B26848}"/>
              </a:ext>
            </a:extLst>
          </p:cNvPr>
          <p:cNvCxnSpPr>
            <a:cxnSpLocks/>
          </p:cNvCxnSpPr>
          <p:nvPr/>
        </p:nvCxnSpPr>
        <p:spPr>
          <a:xfrm>
            <a:off x="9041420" y="2804761"/>
            <a:ext cx="1948964" cy="1028927"/>
          </a:xfrm>
          <a:prstGeom prst="line">
            <a:avLst/>
          </a:prstGeom>
          <a:ln w="31750">
            <a:solidFill>
              <a:schemeClr val="accent4">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E6249D3-FE44-244F-8874-469C3E12628D}"/>
              </a:ext>
            </a:extLst>
          </p:cNvPr>
          <p:cNvCxnSpPr>
            <a:cxnSpLocks/>
          </p:cNvCxnSpPr>
          <p:nvPr/>
        </p:nvCxnSpPr>
        <p:spPr>
          <a:xfrm flipV="1">
            <a:off x="8033236" y="2814738"/>
            <a:ext cx="1008184" cy="887431"/>
          </a:xfrm>
          <a:prstGeom prst="line">
            <a:avLst/>
          </a:prstGeom>
          <a:ln w="31750">
            <a:solidFill>
              <a:schemeClr val="accent4">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45A48D4-8DE5-6041-AEE6-33A58E38591C}"/>
              </a:ext>
            </a:extLst>
          </p:cNvPr>
          <p:cNvCxnSpPr/>
          <p:nvPr/>
        </p:nvCxnSpPr>
        <p:spPr>
          <a:xfrm flipV="1">
            <a:off x="8033236" y="3389973"/>
            <a:ext cx="0" cy="302217"/>
          </a:xfrm>
          <a:prstGeom prst="line">
            <a:avLst/>
          </a:prstGeom>
          <a:ln w="317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EF2A486-BCCF-2D45-926A-DAADF979B1BB}"/>
              </a:ext>
            </a:extLst>
          </p:cNvPr>
          <p:cNvCxnSpPr/>
          <p:nvPr/>
        </p:nvCxnSpPr>
        <p:spPr>
          <a:xfrm flipV="1">
            <a:off x="9041420" y="2502544"/>
            <a:ext cx="0" cy="302217"/>
          </a:xfrm>
          <a:prstGeom prst="line">
            <a:avLst/>
          </a:prstGeom>
          <a:ln w="31750">
            <a:solidFill>
              <a:schemeClr val="accent4">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A1F5FC4-AD62-CF41-9E20-0A4F9FBADDE4}"/>
              </a:ext>
            </a:extLst>
          </p:cNvPr>
          <p:cNvCxnSpPr/>
          <p:nvPr/>
        </p:nvCxnSpPr>
        <p:spPr>
          <a:xfrm flipV="1">
            <a:off x="9983175" y="4418901"/>
            <a:ext cx="0" cy="302217"/>
          </a:xfrm>
          <a:prstGeom prst="line">
            <a:avLst/>
          </a:prstGeom>
          <a:ln w="317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30F1368-72BA-2448-9CAE-155975146BA2}"/>
              </a:ext>
            </a:extLst>
          </p:cNvPr>
          <p:cNvCxnSpPr/>
          <p:nvPr/>
        </p:nvCxnSpPr>
        <p:spPr>
          <a:xfrm flipV="1">
            <a:off x="10990384" y="3541081"/>
            <a:ext cx="0" cy="302217"/>
          </a:xfrm>
          <a:prstGeom prst="line">
            <a:avLst/>
          </a:prstGeom>
          <a:ln w="317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EB959FA-FC29-C14D-A513-AA671CF6EF87}"/>
              </a:ext>
            </a:extLst>
          </p:cNvPr>
          <p:cNvCxnSpPr>
            <a:cxnSpLocks/>
          </p:cNvCxnSpPr>
          <p:nvPr/>
        </p:nvCxnSpPr>
        <p:spPr>
          <a:xfrm>
            <a:off x="9041419" y="2512153"/>
            <a:ext cx="1948964" cy="102892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8AD837B-9C39-E843-AA2D-EC59B7CC9303}"/>
              </a:ext>
            </a:extLst>
          </p:cNvPr>
          <p:cNvCxnSpPr>
            <a:cxnSpLocks/>
          </p:cNvCxnSpPr>
          <p:nvPr/>
        </p:nvCxnSpPr>
        <p:spPr>
          <a:xfrm>
            <a:off x="8033235" y="3384984"/>
            <a:ext cx="1948964" cy="102892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1D905140-1390-2245-8076-245832CD59D7}"/>
              </a:ext>
            </a:extLst>
          </p:cNvPr>
          <p:cNvCxnSpPr>
            <a:cxnSpLocks/>
          </p:cNvCxnSpPr>
          <p:nvPr/>
        </p:nvCxnSpPr>
        <p:spPr>
          <a:xfrm flipV="1">
            <a:off x="9982198" y="3541080"/>
            <a:ext cx="1008184" cy="887431"/>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D0A59B9-8911-0C4F-BA4C-A91CDBE79877}"/>
              </a:ext>
            </a:extLst>
          </p:cNvPr>
          <p:cNvCxnSpPr>
            <a:cxnSpLocks/>
          </p:cNvCxnSpPr>
          <p:nvPr/>
        </p:nvCxnSpPr>
        <p:spPr>
          <a:xfrm flipV="1">
            <a:off x="8033234" y="2524626"/>
            <a:ext cx="1008184" cy="887431"/>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FF7D386-B758-094A-9569-A9A5DDA40BCA}"/>
              </a:ext>
            </a:extLst>
          </p:cNvPr>
          <p:cNvCxnSpPr>
            <a:cxnSpLocks/>
          </p:cNvCxnSpPr>
          <p:nvPr/>
        </p:nvCxnSpPr>
        <p:spPr>
          <a:xfrm>
            <a:off x="7484315" y="3963596"/>
            <a:ext cx="2496908" cy="1303301"/>
          </a:xfrm>
          <a:prstGeom prst="line">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5" name="Arc 44">
            <a:extLst>
              <a:ext uri="{FF2B5EF4-FFF2-40B4-BE49-F238E27FC236}">
                <a16:creationId xmlns:a16="http://schemas.microsoft.com/office/drawing/2014/main" id="{CF1D6932-F34F-354B-8791-0C7FDE01B21C}"/>
              </a:ext>
            </a:extLst>
          </p:cNvPr>
          <p:cNvSpPr/>
          <p:nvPr/>
        </p:nvSpPr>
        <p:spPr>
          <a:xfrm rot="16368810">
            <a:off x="8928277" y="3998415"/>
            <a:ext cx="829756" cy="863987"/>
          </a:xfrm>
          <a:prstGeom prst="arc">
            <a:avLst>
              <a:gd name="adj1" fmla="val 15769630"/>
              <a:gd name="adj2" fmla="val 18021566"/>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TextBox 45">
            <a:extLst>
              <a:ext uri="{FF2B5EF4-FFF2-40B4-BE49-F238E27FC236}">
                <a16:creationId xmlns:a16="http://schemas.microsoft.com/office/drawing/2014/main" id="{160863F2-57F7-7849-9145-D978BB28EDE6}"/>
              </a:ext>
            </a:extLst>
          </p:cNvPr>
          <p:cNvSpPr txBox="1"/>
          <p:nvPr/>
        </p:nvSpPr>
        <p:spPr>
          <a:xfrm>
            <a:off x="8661108" y="4117794"/>
            <a:ext cx="312906" cy="369332"/>
          </a:xfrm>
          <a:prstGeom prst="rect">
            <a:avLst/>
          </a:prstGeom>
          <a:noFill/>
        </p:spPr>
        <p:txBody>
          <a:bodyPr wrap="none" rtlCol="0">
            <a:spAutoFit/>
          </a:bodyPr>
          <a:lstStyle/>
          <a:p>
            <a:pPr algn="l"/>
            <a:r>
              <a:rPr lang="en-US" dirty="0">
                <a:latin typeface="Symbol" pitchFamily="2" charset="2"/>
                <a:cs typeface="Arial" panose="020B0604020202020204" pitchFamily="34" charset="0"/>
              </a:rPr>
              <a:t>q</a:t>
            </a:r>
          </a:p>
        </p:txBody>
      </p:sp>
      <p:sp>
        <p:nvSpPr>
          <p:cNvPr id="48" name="TextBox 47">
            <a:extLst>
              <a:ext uri="{FF2B5EF4-FFF2-40B4-BE49-F238E27FC236}">
                <a16:creationId xmlns:a16="http://schemas.microsoft.com/office/drawing/2014/main" id="{56D352EA-E2B1-394C-800C-DF75B7EC89D4}"/>
              </a:ext>
            </a:extLst>
          </p:cNvPr>
          <p:cNvSpPr txBox="1"/>
          <p:nvPr/>
        </p:nvSpPr>
        <p:spPr>
          <a:xfrm>
            <a:off x="9531588" y="5147782"/>
            <a:ext cx="300082" cy="369332"/>
          </a:xfrm>
          <a:prstGeom prst="rect">
            <a:avLst/>
          </a:prstGeom>
          <a:noFill/>
        </p:spPr>
        <p:txBody>
          <a:bodyPr wrap="none" rtlCol="0">
            <a:spAutoFit/>
          </a:bodyPr>
          <a:lstStyle/>
          <a:p>
            <a:pPr algn="l"/>
            <a:r>
              <a:rPr lang="en-US" dirty="0">
                <a:latin typeface="Arial" panose="020B0604020202020204" pitchFamily="34" charset="0"/>
                <a:cs typeface="Arial" panose="020B0604020202020204" pitchFamily="34" charset="0"/>
              </a:rPr>
              <a:t>x</a:t>
            </a:r>
          </a:p>
        </p:txBody>
      </p:sp>
      <p:cxnSp>
        <p:nvCxnSpPr>
          <p:cNvPr id="56" name="Straight Connector 55">
            <a:extLst>
              <a:ext uri="{FF2B5EF4-FFF2-40B4-BE49-F238E27FC236}">
                <a16:creationId xmlns:a16="http://schemas.microsoft.com/office/drawing/2014/main" id="{612D0B01-7994-764B-B6C9-59934E333062}"/>
              </a:ext>
            </a:extLst>
          </p:cNvPr>
          <p:cNvCxnSpPr>
            <a:cxnSpLocks/>
          </p:cNvCxnSpPr>
          <p:nvPr/>
        </p:nvCxnSpPr>
        <p:spPr>
          <a:xfrm>
            <a:off x="9092058" y="2289492"/>
            <a:ext cx="1948964" cy="1028927"/>
          </a:xfrm>
          <a:prstGeom prst="line">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EB7A0A5-DBE6-A24B-8FB4-95394D4EC756}"/>
              </a:ext>
            </a:extLst>
          </p:cNvPr>
          <p:cNvCxnSpPr>
            <a:cxnSpLocks/>
          </p:cNvCxnSpPr>
          <p:nvPr/>
        </p:nvCxnSpPr>
        <p:spPr>
          <a:xfrm flipV="1">
            <a:off x="10134600" y="3986088"/>
            <a:ext cx="1008184" cy="887431"/>
          </a:xfrm>
          <a:prstGeom prst="line">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AAB01418-E1C7-3146-B049-7DDCF637AB21}"/>
              </a:ext>
            </a:extLst>
          </p:cNvPr>
          <p:cNvCxnSpPr/>
          <p:nvPr/>
        </p:nvCxnSpPr>
        <p:spPr>
          <a:xfrm flipV="1">
            <a:off x="10162789" y="4262802"/>
            <a:ext cx="0" cy="302217"/>
          </a:xfrm>
          <a:prstGeom prst="line">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3116FAA5-84F2-534C-8F69-8963D99186FF}"/>
              </a:ext>
            </a:extLst>
          </p:cNvPr>
          <p:cNvSpPr txBox="1"/>
          <p:nvPr/>
        </p:nvSpPr>
        <p:spPr>
          <a:xfrm>
            <a:off x="10560326" y="4373982"/>
            <a:ext cx="338554" cy="369332"/>
          </a:xfrm>
          <a:prstGeom prst="rect">
            <a:avLst/>
          </a:prstGeom>
          <a:noFill/>
        </p:spPr>
        <p:txBody>
          <a:bodyPr wrap="none" rtlCol="0">
            <a:spAutoFit/>
          </a:bodyPr>
          <a:lstStyle/>
          <a:p>
            <a:pPr algn="l"/>
            <a:r>
              <a:rPr lang="en-US" dirty="0">
                <a:latin typeface="Arial" panose="020B0604020202020204" pitchFamily="34" charset="0"/>
                <a:cs typeface="Arial" panose="020B0604020202020204" pitchFamily="34" charset="0"/>
              </a:rPr>
              <a:t>B</a:t>
            </a:r>
          </a:p>
        </p:txBody>
      </p:sp>
      <p:sp>
        <p:nvSpPr>
          <p:cNvPr id="60" name="TextBox 59">
            <a:extLst>
              <a:ext uri="{FF2B5EF4-FFF2-40B4-BE49-F238E27FC236}">
                <a16:creationId xmlns:a16="http://schemas.microsoft.com/office/drawing/2014/main" id="{96867F62-B62A-AB4D-9EAD-2FD514E24B04}"/>
              </a:ext>
            </a:extLst>
          </p:cNvPr>
          <p:cNvSpPr txBox="1"/>
          <p:nvPr/>
        </p:nvSpPr>
        <p:spPr>
          <a:xfrm>
            <a:off x="10151158" y="4127433"/>
            <a:ext cx="351378" cy="369332"/>
          </a:xfrm>
          <a:prstGeom prst="rect">
            <a:avLst/>
          </a:prstGeom>
          <a:noFill/>
        </p:spPr>
        <p:txBody>
          <a:bodyPr wrap="none" rtlCol="0">
            <a:spAutoFit/>
          </a:bodyPr>
          <a:lstStyle/>
          <a:p>
            <a:pPr algn="l"/>
            <a:r>
              <a:rPr lang="en-US" dirty="0">
                <a:latin typeface="Arial" panose="020B0604020202020204" pitchFamily="34" charset="0"/>
                <a:cs typeface="Arial" panose="020B0604020202020204" pitchFamily="34" charset="0"/>
              </a:rPr>
              <a:t>H</a:t>
            </a:r>
          </a:p>
        </p:txBody>
      </p:sp>
      <p:sp>
        <p:nvSpPr>
          <p:cNvPr id="61" name="TextBox 60">
            <a:extLst>
              <a:ext uri="{FF2B5EF4-FFF2-40B4-BE49-F238E27FC236}">
                <a16:creationId xmlns:a16="http://schemas.microsoft.com/office/drawing/2014/main" id="{01DC72D8-B65C-2141-AB96-5F7F457292D4}"/>
              </a:ext>
            </a:extLst>
          </p:cNvPr>
          <p:cNvSpPr txBox="1"/>
          <p:nvPr/>
        </p:nvSpPr>
        <p:spPr>
          <a:xfrm>
            <a:off x="10055955" y="2367745"/>
            <a:ext cx="441146" cy="369332"/>
          </a:xfrm>
          <a:prstGeom prst="rect">
            <a:avLst/>
          </a:prstGeom>
          <a:noFill/>
        </p:spPr>
        <p:txBody>
          <a:bodyPr wrap="none" rtlCol="0">
            <a:spAutoFit/>
          </a:bodyPr>
          <a:lstStyle/>
          <a:p>
            <a:pPr algn="l"/>
            <a:r>
              <a:rPr lang="en-US" dirty="0">
                <a:latin typeface="Symbol" pitchFamily="2" charset="2"/>
                <a:cs typeface="Arial" panose="020B0604020202020204" pitchFamily="34" charset="0"/>
              </a:rPr>
              <a:t>D</a:t>
            </a:r>
            <a:r>
              <a:rPr lang="en-US" dirty="0">
                <a:latin typeface="Arial" panose="020B0604020202020204" pitchFamily="34" charset="0"/>
                <a:cs typeface="Arial" panose="020B0604020202020204" pitchFamily="34" charset="0"/>
              </a:rPr>
              <a:t>x</a:t>
            </a:r>
          </a:p>
        </p:txBody>
      </p:sp>
      <p:sp>
        <p:nvSpPr>
          <p:cNvPr id="66" name="TextBox 65">
            <a:extLst>
              <a:ext uri="{FF2B5EF4-FFF2-40B4-BE49-F238E27FC236}">
                <a16:creationId xmlns:a16="http://schemas.microsoft.com/office/drawing/2014/main" id="{030FEBAA-AE9C-5340-BA5D-BD6524B402D5}"/>
              </a:ext>
            </a:extLst>
          </p:cNvPr>
          <p:cNvSpPr txBox="1"/>
          <p:nvPr/>
        </p:nvSpPr>
        <p:spPr>
          <a:xfrm>
            <a:off x="378030" y="2013093"/>
            <a:ext cx="3857146" cy="400110"/>
          </a:xfrm>
          <a:prstGeom prst="rect">
            <a:avLst/>
          </a:prstGeom>
          <a:noFill/>
        </p:spPr>
        <p:txBody>
          <a:bodyPr wrap="none" rtlCol="0">
            <a:spAutoFit/>
          </a:bodyPr>
          <a:lstStyle/>
          <a:p>
            <a:pPr algn="l"/>
            <a:r>
              <a:rPr lang="en-US" dirty="0">
                <a:latin typeface="Arial" panose="020B0604020202020204" pitchFamily="34" charset="0"/>
                <a:cs typeface="Arial" panose="020B0604020202020204" pitchFamily="34" charset="0"/>
              </a:rPr>
              <a:t>In rivers </a:t>
            </a:r>
            <a:r>
              <a:rPr lang="en-US" sz="2000" dirty="0">
                <a:latin typeface="Symbol" pitchFamily="2" charset="2"/>
                <a:cs typeface="Arial" panose="020B0604020202020204" pitchFamily="34" charset="0"/>
              </a:rPr>
              <a:t>q</a:t>
            </a:r>
            <a:r>
              <a:rPr lang="en-US" dirty="0">
                <a:latin typeface="Arial" panose="020B0604020202020204" pitchFamily="34" charset="0"/>
                <a:cs typeface="Arial" panose="020B0604020202020204" pitchFamily="34" charset="0"/>
              </a:rPr>
              <a:t> is generally small so that </a:t>
            </a: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9D92C9F5-995D-FD44-91FB-03B47A2B6FEC}"/>
                  </a:ext>
                </a:extLst>
              </p:cNvPr>
              <p:cNvSpPr txBox="1"/>
              <p:nvPr/>
            </p:nvSpPr>
            <p:spPr>
              <a:xfrm>
                <a:off x="4591643" y="2074648"/>
                <a:ext cx="2956643" cy="276999"/>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𝑠𝑖𝑛</m:t>
                      </m:r>
                      <m:r>
                        <a:rPr lang="en-US" b="0" i="1" smtClean="0">
                          <a:latin typeface="Cambria Math" panose="02040503050406030204" pitchFamily="18" charset="0"/>
                          <a:ea typeface="Cambria Math" panose="02040503050406030204" pitchFamily="18" charset="0"/>
                          <a:cs typeface="Arial" panose="020B0604020202020204" pitchFamily="34" charset="0"/>
                        </a:rPr>
                        <m:t>𝜃</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𝑡𝑎𝑛</m:t>
                      </m:r>
                      <m:r>
                        <a:rPr lang="en-US" b="0" i="1" smtClean="0">
                          <a:latin typeface="Cambria Math" panose="02040503050406030204" pitchFamily="18" charset="0"/>
                          <a:ea typeface="Cambria Math" panose="02040503050406030204" pitchFamily="18" charset="0"/>
                          <a:cs typeface="Arial" panose="020B0604020202020204" pitchFamily="34" charset="0"/>
                        </a:rPr>
                        <m:t>𝜃</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𝑆</m:t>
                      </m:r>
                      <m:r>
                        <a:rPr lang="en-US" b="0" i="1" smtClean="0">
                          <a:latin typeface="Cambria Math" panose="02040503050406030204" pitchFamily="18" charset="0"/>
                          <a:ea typeface="Cambria Math" panose="02040503050406030204" pitchFamily="18" charset="0"/>
                          <a:cs typeface="Arial" panose="020B0604020202020204" pitchFamily="34" charset="0"/>
                        </a:rPr>
                        <m:t> </m:t>
                      </m:r>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r>
                            <a:rPr lang="en-US" b="0" i="1" smtClean="0">
                              <a:latin typeface="Cambria Math" panose="02040503050406030204" pitchFamily="18" charset="0"/>
                              <a:ea typeface="Cambria Math" panose="02040503050406030204" pitchFamily="18" charset="0"/>
                              <a:cs typeface="Arial" panose="020B0604020202020204" pitchFamily="34" charset="0"/>
                            </a:rPr>
                            <m:t>𝑏𝑒𝑑</m:t>
                          </m:r>
                          <m:r>
                            <a:rPr lang="en-US" b="0" i="1" smtClean="0">
                              <a:latin typeface="Cambria Math" panose="02040503050406030204" pitchFamily="18" charset="0"/>
                              <a:ea typeface="Cambria Math" panose="02040503050406030204" pitchFamily="18" charset="0"/>
                              <a:cs typeface="Arial" panose="020B0604020202020204" pitchFamily="34" charset="0"/>
                            </a:rPr>
                            <m:t> </m:t>
                          </m:r>
                          <m:r>
                            <a:rPr lang="en-US" b="0" i="1" smtClean="0">
                              <a:latin typeface="Cambria Math" panose="02040503050406030204" pitchFamily="18" charset="0"/>
                              <a:ea typeface="Cambria Math" panose="02040503050406030204" pitchFamily="18" charset="0"/>
                              <a:cs typeface="Arial" panose="020B0604020202020204" pitchFamily="34" charset="0"/>
                            </a:rPr>
                            <m:t>𝑠𝑙𝑜𝑝𝑒</m:t>
                          </m:r>
                        </m:e>
                      </m:d>
                    </m:oMath>
                  </m:oMathPara>
                </a14:m>
                <a:endParaRPr lang="en-US" b="0" dirty="0">
                  <a:latin typeface="Arial" panose="020B0604020202020204" pitchFamily="34" charset="0"/>
                  <a:ea typeface="Cambria Math" panose="02040503050406030204" pitchFamily="18" charset="0"/>
                  <a:cs typeface="Arial" panose="020B0604020202020204" pitchFamily="34" charset="0"/>
                </a:endParaRPr>
              </a:p>
            </p:txBody>
          </p:sp>
        </mc:Choice>
        <mc:Fallback xmlns="">
          <p:sp>
            <p:nvSpPr>
              <p:cNvPr id="67" name="TextBox 66">
                <a:extLst>
                  <a:ext uri="{FF2B5EF4-FFF2-40B4-BE49-F238E27FC236}">
                    <a16:creationId xmlns:a16="http://schemas.microsoft.com/office/drawing/2014/main" id="{9D92C9F5-995D-FD44-91FB-03B47A2B6FEC}"/>
                  </a:ext>
                </a:extLst>
              </p:cNvPr>
              <p:cNvSpPr txBox="1">
                <a:spLocks noRot="1" noChangeAspect="1" noMove="1" noResize="1" noEditPoints="1" noAdjustHandles="1" noChangeArrowheads="1" noChangeShapeType="1" noTextEdit="1"/>
              </p:cNvSpPr>
              <p:nvPr/>
            </p:nvSpPr>
            <p:spPr>
              <a:xfrm>
                <a:off x="4591643" y="2074648"/>
                <a:ext cx="2956643" cy="276999"/>
              </a:xfrm>
              <a:prstGeom prst="rect">
                <a:avLst/>
              </a:prstGeom>
              <a:blipFill>
                <a:blip r:embed="rId3"/>
                <a:stretch>
                  <a:fillRect l="-855" t="-4348" b="-391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E0AEC2F5-322F-1546-A5CA-20D30E493BD3}"/>
                  </a:ext>
                </a:extLst>
              </p:cNvPr>
              <p:cNvSpPr txBox="1"/>
              <p:nvPr/>
            </p:nvSpPr>
            <p:spPr>
              <a:xfrm>
                <a:off x="4617676" y="2474574"/>
                <a:ext cx="873637" cy="276999"/>
              </a:xfrm>
              <a:prstGeom prst="rect">
                <a:avLst/>
              </a:prstGeom>
              <a:noFill/>
            </p:spPr>
            <p:txBody>
              <a:bodyPr wrap="none" lIns="0" tIns="0" rIns="0" bIns="0" rtlCol="0">
                <a:spAutoFit/>
              </a:bodyPr>
              <a:lstStyle/>
              <a:p>
                <a:pPr algn="l"/>
                <a:r>
                  <a:rPr lang="en-US" b="0" dirty="0">
                    <a:ea typeface="Cambria Math" panose="02040503050406030204" pitchFamily="18" charset="0"/>
                    <a:cs typeface="Arial" panose="020B0604020202020204" pitchFamily="34" charset="0"/>
                  </a:rPr>
                  <a:t>cos</a:t>
                </a:r>
                <a14:m>
                  <m:oMath xmlns:m="http://schemas.openxmlformats.org/officeDocument/2006/math">
                    <m:r>
                      <a:rPr lang="en-US" b="0" i="1" smtClean="0">
                        <a:latin typeface="Cambria Math" panose="02040503050406030204" pitchFamily="18" charset="0"/>
                        <a:ea typeface="Cambria Math" panose="02040503050406030204" pitchFamily="18" charset="0"/>
                        <a:cs typeface="Arial" panose="020B0604020202020204" pitchFamily="34" charset="0"/>
                      </a:rPr>
                      <m:t>𝜃</m:t>
                    </m:r>
                    <m:r>
                      <a:rPr lang="en-US" b="0" i="1" smtClean="0">
                        <a:latin typeface="Cambria Math" panose="02040503050406030204" pitchFamily="18" charset="0"/>
                        <a:ea typeface="Cambria Math" panose="02040503050406030204" pitchFamily="18" charset="0"/>
                        <a:cs typeface="Arial" panose="020B0604020202020204" pitchFamily="34" charset="0"/>
                      </a:rPr>
                      <m:t>≅1</m:t>
                    </m:r>
                  </m:oMath>
                </a14:m>
                <a:endParaRPr lang="en-US" b="0" dirty="0">
                  <a:latin typeface="Arial" panose="020B0604020202020204" pitchFamily="34" charset="0"/>
                  <a:ea typeface="Cambria Math" panose="02040503050406030204" pitchFamily="18" charset="0"/>
                  <a:cs typeface="Arial" panose="020B0604020202020204" pitchFamily="34" charset="0"/>
                </a:endParaRPr>
              </a:p>
            </p:txBody>
          </p:sp>
        </mc:Choice>
        <mc:Fallback xmlns="">
          <p:sp>
            <p:nvSpPr>
              <p:cNvPr id="68" name="TextBox 67">
                <a:extLst>
                  <a:ext uri="{FF2B5EF4-FFF2-40B4-BE49-F238E27FC236}">
                    <a16:creationId xmlns:a16="http://schemas.microsoft.com/office/drawing/2014/main" id="{E0AEC2F5-322F-1546-A5CA-20D30E493BD3}"/>
                  </a:ext>
                </a:extLst>
              </p:cNvPr>
              <p:cNvSpPr txBox="1">
                <a:spLocks noRot="1" noChangeAspect="1" noMove="1" noResize="1" noEditPoints="1" noAdjustHandles="1" noChangeArrowheads="1" noChangeShapeType="1" noTextEdit="1"/>
              </p:cNvSpPr>
              <p:nvPr/>
            </p:nvSpPr>
            <p:spPr>
              <a:xfrm>
                <a:off x="4617676" y="2474574"/>
                <a:ext cx="873637" cy="276999"/>
              </a:xfrm>
              <a:prstGeom prst="rect">
                <a:avLst/>
              </a:prstGeom>
              <a:blipFill>
                <a:blip r:embed="rId4"/>
                <a:stretch>
                  <a:fillRect l="-15714" t="-21739" r="-7143" b="-52174"/>
                </a:stretch>
              </a:blipFill>
            </p:spPr>
            <p:txBody>
              <a:bodyPr/>
              <a:lstStyle/>
              <a:p>
                <a:r>
                  <a:rPr lang="en-US">
                    <a:noFill/>
                  </a:rPr>
                  <a:t> </a:t>
                </a:r>
              </a:p>
            </p:txBody>
          </p:sp>
        </mc:Fallback>
      </mc:AlternateContent>
      <p:cxnSp>
        <p:nvCxnSpPr>
          <p:cNvPr id="3" name="Straight Arrow Connector 2">
            <a:extLst>
              <a:ext uri="{FF2B5EF4-FFF2-40B4-BE49-F238E27FC236}">
                <a16:creationId xmlns:a16="http://schemas.microsoft.com/office/drawing/2014/main" id="{F97A1F6A-F364-0645-9678-B5D1B300444E}"/>
              </a:ext>
            </a:extLst>
          </p:cNvPr>
          <p:cNvCxnSpPr/>
          <p:nvPr/>
        </p:nvCxnSpPr>
        <p:spPr>
          <a:xfrm>
            <a:off x="10442567" y="4053790"/>
            <a:ext cx="793474" cy="447225"/>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6CBF7D12-2BAC-2145-BD47-9AB5BB7E7785}"/>
              </a:ext>
            </a:extLst>
          </p:cNvPr>
          <p:cNvCxnSpPr>
            <a:cxnSpLocks/>
          </p:cNvCxnSpPr>
          <p:nvPr/>
        </p:nvCxnSpPr>
        <p:spPr>
          <a:xfrm flipH="1" flipV="1">
            <a:off x="8049985" y="2737077"/>
            <a:ext cx="818204" cy="506403"/>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766B5DCB-5D77-D341-8AFF-41052947B667}"/>
              </a:ext>
            </a:extLst>
          </p:cNvPr>
          <p:cNvSpPr txBox="1"/>
          <p:nvPr/>
        </p:nvSpPr>
        <p:spPr>
          <a:xfrm>
            <a:off x="342267" y="2894135"/>
            <a:ext cx="6613703"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Downstream impelling force </a:t>
            </a:r>
          </a:p>
          <a:p>
            <a:pPr algn="l">
              <a:lnSpc>
                <a:spcPct val="114000"/>
              </a:lnSpc>
            </a:pPr>
            <a:r>
              <a:rPr lang="en-US" dirty="0">
                <a:latin typeface="Arial" panose="020B0604020202020204" pitchFamily="34" charset="0"/>
                <a:cs typeface="Arial" panose="020B0604020202020204" pitchFamily="34" charset="0"/>
              </a:rPr>
              <a:t>(component of the weight of water in the x direction)</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8EA223B-7CAD-D247-AC78-2BF62560551E}"/>
                  </a:ext>
                </a:extLst>
              </p:cNvPr>
              <p:cNvSpPr txBox="1"/>
              <p:nvPr/>
            </p:nvSpPr>
            <p:spPr>
              <a:xfrm>
                <a:off x="3368918" y="2903540"/>
                <a:ext cx="1048364" cy="276999"/>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𝑔𝐵𝐻</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𝑥𝑆</m:t>
                      </m:r>
                    </m:oMath>
                  </m:oMathPara>
                </a14:m>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F8EA223B-7CAD-D247-AC78-2BF62560551E}"/>
                  </a:ext>
                </a:extLst>
              </p:cNvPr>
              <p:cNvSpPr txBox="1">
                <a:spLocks noRot="1" noChangeAspect="1" noMove="1" noResize="1" noEditPoints="1" noAdjustHandles="1" noChangeArrowheads="1" noChangeShapeType="1" noTextEdit="1"/>
              </p:cNvSpPr>
              <p:nvPr/>
            </p:nvSpPr>
            <p:spPr>
              <a:xfrm>
                <a:off x="3368918" y="2903540"/>
                <a:ext cx="1048364" cy="276999"/>
              </a:xfrm>
              <a:prstGeom prst="rect">
                <a:avLst/>
              </a:prstGeom>
              <a:blipFill>
                <a:blip r:embed="rId5"/>
                <a:stretch>
                  <a:fillRect l="-4819" r="-3614" b="-34783"/>
                </a:stretch>
              </a:blipFill>
            </p:spPr>
            <p:txBody>
              <a:bodyPr/>
              <a:lstStyle/>
              <a:p>
                <a:r>
                  <a:rPr lang="en-US">
                    <a:noFill/>
                  </a:rPr>
                  <a:t> </a:t>
                </a:r>
              </a:p>
            </p:txBody>
          </p:sp>
        </mc:Fallback>
      </mc:AlternateContent>
      <p:sp>
        <p:nvSpPr>
          <p:cNvPr id="47" name="TextBox 46">
            <a:extLst>
              <a:ext uri="{FF2B5EF4-FFF2-40B4-BE49-F238E27FC236}">
                <a16:creationId xmlns:a16="http://schemas.microsoft.com/office/drawing/2014/main" id="{55D31992-7935-D541-997C-C33BAF7AD8C3}"/>
              </a:ext>
            </a:extLst>
          </p:cNvPr>
          <p:cNvSpPr txBox="1"/>
          <p:nvPr/>
        </p:nvSpPr>
        <p:spPr>
          <a:xfrm>
            <a:off x="342267" y="3778930"/>
            <a:ext cx="2146742" cy="369332"/>
          </a:xfrm>
          <a:prstGeom prst="rect">
            <a:avLst/>
          </a:prstGeom>
          <a:noFill/>
        </p:spPr>
        <p:txBody>
          <a:bodyPr wrap="none" rtlCol="0">
            <a:spAutoFit/>
          </a:bodyPr>
          <a:lstStyle/>
          <a:p>
            <a:pPr algn="l"/>
            <a:r>
              <a:rPr lang="en-US" dirty="0">
                <a:latin typeface="Arial" panose="020B0604020202020204" pitchFamily="34" charset="0"/>
                <a:cs typeface="Arial" panose="020B0604020202020204" pitchFamily="34" charset="0"/>
              </a:rPr>
              <a:t>Resistive bed force</a:t>
            </a:r>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2FEF52CA-9324-9E47-A158-5F4C9340AEF1}"/>
                  </a:ext>
                </a:extLst>
              </p:cNvPr>
              <p:cNvSpPr txBox="1"/>
              <p:nvPr/>
            </p:nvSpPr>
            <p:spPr>
              <a:xfrm>
                <a:off x="2505758" y="3823626"/>
                <a:ext cx="711733" cy="276999"/>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ea typeface="Cambria Math" panose="02040503050406030204" pitchFamily="18" charset="0"/>
                          <a:cs typeface="Arial" panose="020B0604020202020204" pitchFamily="34" charset="0"/>
                        </a:rPr>
                        <m:t>𝐵</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oMath>
                  </m:oMathPara>
                </a14:m>
                <a:endParaRPr lang="en-US" dirty="0">
                  <a:latin typeface="Arial" panose="020B0604020202020204" pitchFamily="34" charset="0"/>
                  <a:cs typeface="Arial" panose="020B0604020202020204" pitchFamily="34" charset="0"/>
                </a:endParaRPr>
              </a:p>
            </p:txBody>
          </p:sp>
        </mc:Choice>
        <mc:Fallback xmlns="">
          <p:sp>
            <p:nvSpPr>
              <p:cNvPr id="49" name="TextBox 48">
                <a:extLst>
                  <a:ext uri="{FF2B5EF4-FFF2-40B4-BE49-F238E27FC236}">
                    <a16:creationId xmlns:a16="http://schemas.microsoft.com/office/drawing/2014/main" id="{2FEF52CA-9324-9E47-A158-5F4C9340AEF1}"/>
                  </a:ext>
                </a:extLst>
              </p:cNvPr>
              <p:cNvSpPr txBox="1">
                <a:spLocks noRot="1" noChangeAspect="1" noMove="1" noResize="1" noEditPoints="1" noAdjustHandles="1" noChangeArrowheads="1" noChangeShapeType="1" noTextEdit="1"/>
              </p:cNvSpPr>
              <p:nvPr/>
            </p:nvSpPr>
            <p:spPr>
              <a:xfrm>
                <a:off x="2505758" y="3823626"/>
                <a:ext cx="711733" cy="276999"/>
              </a:xfrm>
              <a:prstGeom prst="rect">
                <a:avLst/>
              </a:prstGeom>
              <a:blipFill>
                <a:blip r:embed="rId6"/>
                <a:stretch>
                  <a:fillRect l="-3509" r="-1754" b="-1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0D7BF9F0-658F-1D49-92CF-DA87A28F0367}"/>
                  </a:ext>
                </a:extLst>
              </p:cNvPr>
              <p:cNvSpPr txBox="1"/>
              <p:nvPr/>
            </p:nvSpPr>
            <p:spPr>
              <a:xfrm>
                <a:off x="7862609" y="2346479"/>
                <a:ext cx="711733" cy="276999"/>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ea typeface="Cambria Math" panose="02040503050406030204" pitchFamily="18" charset="0"/>
                          <a:cs typeface="Arial" panose="020B0604020202020204" pitchFamily="34" charset="0"/>
                        </a:rPr>
                        <m:t>𝐵</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oMath>
                  </m:oMathPara>
                </a14:m>
                <a:endParaRPr lang="en-US" dirty="0">
                  <a:latin typeface="Arial" panose="020B0604020202020204" pitchFamily="34" charset="0"/>
                  <a:cs typeface="Arial" panose="020B0604020202020204" pitchFamily="34" charset="0"/>
                </a:endParaRPr>
              </a:p>
            </p:txBody>
          </p:sp>
        </mc:Choice>
        <mc:Fallback xmlns="">
          <p:sp>
            <p:nvSpPr>
              <p:cNvPr id="50" name="TextBox 49">
                <a:extLst>
                  <a:ext uri="{FF2B5EF4-FFF2-40B4-BE49-F238E27FC236}">
                    <a16:creationId xmlns:a16="http://schemas.microsoft.com/office/drawing/2014/main" id="{0D7BF9F0-658F-1D49-92CF-DA87A28F0367}"/>
                  </a:ext>
                </a:extLst>
              </p:cNvPr>
              <p:cNvSpPr txBox="1">
                <a:spLocks noRot="1" noChangeAspect="1" noMove="1" noResize="1" noEditPoints="1" noAdjustHandles="1" noChangeArrowheads="1" noChangeShapeType="1" noTextEdit="1"/>
              </p:cNvSpPr>
              <p:nvPr/>
            </p:nvSpPr>
            <p:spPr>
              <a:xfrm>
                <a:off x="7862609" y="2346479"/>
                <a:ext cx="711733" cy="276999"/>
              </a:xfrm>
              <a:prstGeom prst="rect">
                <a:avLst/>
              </a:prstGeom>
              <a:blipFill>
                <a:blip r:embed="rId7"/>
                <a:stretch>
                  <a:fillRect l="-3509" r="-1754" b="-173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C16AB6BF-3450-1A47-91A1-8D6113494B12}"/>
                  </a:ext>
                </a:extLst>
              </p:cNvPr>
              <p:cNvSpPr txBox="1"/>
              <p:nvPr/>
            </p:nvSpPr>
            <p:spPr>
              <a:xfrm>
                <a:off x="11075221" y="4039570"/>
                <a:ext cx="1048364" cy="276999"/>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𝑔𝐵𝐻</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𝑥𝑆</m:t>
                      </m:r>
                    </m:oMath>
                  </m:oMathPara>
                </a14:m>
                <a:endParaRPr lang="en-US" dirty="0">
                  <a:latin typeface="Arial" panose="020B0604020202020204" pitchFamily="34" charset="0"/>
                  <a:cs typeface="Arial" panose="020B0604020202020204" pitchFamily="34" charset="0"/>
                </a:endParaRPr>
              </a:p>
            </p:txBody>
          </p:sp>
        </mc:Choice>
        <mc:Fallback xmlns="">
          <p:sp>
            <p:nvSpPr>
              <p:cNvPr id="51" name="TextBox 50">
                <a:extLst>
                  <a:ext uri="{FF2B5EF4-FFF2-40B4-BE49-F238E27FC236}">
                    <a16:creationId xmlns:a16="http://schemas.microsoft.com/office/drawing/2014/main" id="{C16AB6BF-3450-1A47-91A1-8D6113494B12}"/>
                  </a:ext>
                </a:extLst>
              </p:cNvPr>
              <p:cNvSpPr txBox="1">
                <a:spLocks noRot="1" noChangeAspect="1" noMove="1" noResize="1" noEditPoints="1" noAdjustHandles="1" noChangeArrowheads="1" noChangeShapeType="1" noTextEdit="1"/>
              </p:cNvSpPr>
              <p:nvPr/>
            </p:nvSpPr>
            <p:spPr>
              <a:xfrm>
                <a:off x="11075221" y="4039570"/>
                <a:ext cx="1048364" cy="276999"/>
              </a:xfrm>
              <a:prstGeom prst="rect">
                <a:avLst/>
              </a:prstGeom>
              <a:blipFill>
                <a:blip r:embed="rId8"/>
                <a:stretch>
                  <a:fillRect l="-4819" r="-3614" b="-40909"/>
                </a:stretch>
              </a:blipFill>
            </p:spPr>
            <p:txBody>
              <a:bodyPr/>
              <a:lstStyle/>
              <a:p>
                <a:r>
                  <a:rPr lang="en-US">
                    <a:noFill/>
                  </a:rPr>
                  <a:t> </a:t>
                </a:r>
              </a:p>
            </p:txBody>
          </p:sp>
        </mc:Fallback>
      </mc:AlternateContent>
      <p:sp>
        <p:nvSpPr>
          <p:cNvPr id="53" name="Slide Number Placeholder 3">
            <a:extLst>
              <a:ext uri="{FF2B5EF4-FFF2-40B4-BE49-F238E27FC236}">
                <a16:creationId xmlns:a16="http://schemas.microsoft.com/office/drawing/2014/main" id="{81C2C0D0-EA1D-7D46-AAE6-2CD15F85AE3B}"/>
              </a:ext>
            </a:extLst>
          </p:cNvPr>
          <p:cNvSpPr>
            <a:spLocks noGrp="1"/>
          </p:cNvSpPr>
          <p:nvPr>
            <p:ph type="sldNum" sz="quarter" idx="12"/>
          </p:nvPr>
        </p:nvSpPr>
        <p:spPr>
          <a:xfrm>
            <a:off x="8610600" y="6356350"/>
            <a:ext cx="2743200" cy="365125"/>
          </a:xfrm>
        </p:spPr>
        <p:txBody>
          <a:bodyPr/>
          <a:lstStyle/>
          <a:p>
            <a:fld id="{2386C454-E1BD-5A43-901A-CA4ACC7380B7}" type="slidenum">
              <a:rPr lang="en-US" smtClean="0"/>
              <a:t>15</a:t>
            </a:fld>
            <a:endParaRPr lang="en-US" dirty="0"/>
          </a:p>
        </p:txBody>
      </p:sp>
    </p:spTree>
    <p:extLst>
      <p:ext uri="{BB962C8B-B14F-4D97-AF65-F5344CB8AC3E}">
        <p14:creationId xmlns:p14="http://schemas.microsoft.com/office/powerpoint/2010/main" val="31417030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Freeform 68">
            <a:extLst>
              <a:ext uri="{FF2B5EF4-FFF2-40B4-BE49-F238E27FC236}">
                <a16:creationId xmlns:a16="http://schemas.microsoft.com/office/drawing/2014/main" id="{3DA5D7DD-2914-0540-9DDE-020E02B1C2E4}"/>
              </a:ext>
            </a:extLst>
          </p:cNvPr>
          <p:cNvSpPr/>
          <p:nvPr/>
        </p:nvSpPr>
        <p:spPr>
          <a:xfrm>
            <a:off x="8049986" y="2792186"/>
            <a:ext cx="2890157" cy="1910443"/>
          </a:xfrm>
          <a:custGeom>
            <a:avLst/>
            <a:gdLst>
              <a:gd name="connsiteX0" fmla="*/ 996043 w 2890157"/>
              <a:gd name="connsiteY0" fmla="*/ 0 h 1910443"/>
              <a:gd name="connsiteX1" fmla="*/ 0 w 2890157"/>
              <a:gd name="connsiteY1" fmla="*/ 881743 h 1910443"/>
              <a:gd name="connsiteX2" fmla="*/ 1959428 w 2890157"/>
              <a:gd name="connsiteY2" fmla="*/ 1910443 h 1910443"/>
              <a:gd name="connsiteX3" fmla="*/ 2890157 w 2890157"/>
              <a:gd name="connsiteY3" fmla="*/ 1061357 h 1910443"/>
              <a:gd name="connsiteX4" fmla="*/ 996043 w 2890157"/>
              <a:gd name="connsiteY4" fmla="*/ 0 h 1910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157" h="1910443">
                <a:moveTo>
                  <a:pt x="996043" y="0"/>
                </a:moveTo>
                <a:lnTo>
                  <a:pt x="0" y="881743"/>
                </a:lnTo>
                <a:lnTo>
                  <a:pt x="1959428" y="1910443"/>
                </a:lnTo>
                <a:lnTo>
                  <a:pt x="2890157" y="1061357"/>
                </a:lnTo>
                <a:lnTo>
                  <a:pt x="996043" y="0"/>
                </a:lnTo>
                <a:close/>
              </a:path>
            </a:pathLst>
          </a:custGeom>
          <a:solidFill>
            <a:schemeClr val="accent4">
              <a:lumMod val="50000"/>
              <a:alpha val="54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E26F3B4-9DA8-7245-8E6E-F1D070C26EBA}"/>
              </a:ext>
            </a:extLst>
          </p:cNvPr>
          <p:cNvSpPr txBox="1"/>
          <p:nvPr/>
        </p:nvSpPr>
        <p:spPr>
          <a:xfrm>
            <a:off x="1155370" y="136525"/>
            <a:ext cx="988125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Normal (steady and uniform) flow</a:t>
            </a:r>
          </a:p>
        </p:txBody>
      </p:sp>
      <p:sp>
        <p:nvSpPr>
          <p:cNvPr id="14" name="TextBox 13">
            <a:extLst>
              <a:ext uri="{FF2B5EF4-FFF2-40B4-BE49-F238E27FC236}">
                <a16:creationId xmlns:a16="http://schemas.microsoft.com/office/drawing/2014/main" id="{13F5AF24-5B67-BD47-A366-843EDE64C288}"/>
              </a:ext>
            </a:extLst>
          </p:cNvPr>
          <p:cNvSpPr txBox="1"/>
          <p:nvPr/>
        </p:nvSpPr>
        <p:spPr>
          <a:xfrm>
            <a:off x="378030" y="825868"/>
            <a:ext cx="11435937" cy="923330"/>
          </a:xfrm>
          <a:prstGeom prst="rect">
            <a:avLst/>
          </a:prstGeom>
          <a:noFill/>
        </p:spPr>
        <p:txBody>
          <a:bodyPr wrap="square" rtlCol="0">
            <a:spAutoFit/>
          </a:bodyPr>
          <a:lstStyle/>
          <a:p>
            <a:r>
              <a:rPr lang="en-US">
                <a:latin typeface="Arial" panose="020B0604020202020204" pitchFamily="34" charset="0"/>
                <a:cs typeface="Arial" panose="020B0604020202020204" pitchFamily="34" charset="0"/>
              </a:rPr>
              <a:t>Normal flow refers to an equilibrium state in which the downstream pull of gravity is perfectly balanced by the resistive bed force. </a:t>
            </a:r>
          </a:p>
          <a:p>
            <a:r>
              <a:rPr lang="en-US">
                <a:latin typeface="Arial" panose="020B0604020202020204" pitchFamily="34" charset="0"/>
                <a:cs typeface="Arial" panose="020B0604020202020204" pitchFamily="34" charset="0"/>
              </a:rPr>
              <a:t>The resulting flow is constant in time and does not vary in the streamwise (or flow) direction x. </a:t>
            </a:r>
            <a:endParaRPr lang="en-US" dirty="0">
              <a:latin typeface="Arial" panose="020B0604020202020204" pitchFamily="34" charset="0"/>
              <a:cs typeface="Arial" panose="020B0604020202020204" pitchFamily="34" charset="0"/>
            </a:endParaRPr>
          </a:p>
        </p:txBody>
      </p:sp>
      <p:cxnSp>
        <p:nvCxnSpPr>
          <p:cNvPr id="21" name="Straight Connector 20">
            <a:extLst>
              <a:ext uri="{FF2B5EF4-FFF2-40B4-BE49-F238E27FC236}">
                <a16:creationId xmlns:a16="http://schemas.microsoft.com/office/drawing/2014/main" id="{3CD28224-B631-2F48-99E4-92473D86ED56}"/>
              </a:ext>
            </a:extLst>
          </p:cNvPr>
          <p:cNvCxnSpPr>
            <a:cxnSpLocks/>
          </p:cNvCxnSpPr>
          <p:nvPr/>
        </p:nvCxnSpPr>
        <p:spPr>
          <a:xfrm>
            <a:off x="8033236" y="3692191"/>
            <a:ext cx="1948964" cy="1028927"/>
          </a:xfrm>
          <a:prstGeom prst="line">
            <a:avLst/>
          </a:prstGeom>
          <a:ln w="317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AB49106-A922-F849-B26A-9837B7101F8E}"/>
              </a:ext>
            </a:extLst>
          </p:cNvPr>
          <p:cNvCxnSpPr>
            <a:cxnSpLocks/>
          </p:cNvCxnSpPr>
          <p:nvPr/>
        </p:nvCxnSpPr>
        <p:spPr>
          <a:xfrm flipV="1">
            <a:off x="9982200" y="3833688"/>
            <a:ext cx="1008184" cy="887431"/>
          </a:xfrm>
          <a:prstGeom prst="line">
            <a:avLst/>
          </a:prstGeom>
          <a:ln w="317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518899-DBFC-974B-B968-3E41E62B50B2}"/>
              </a:ext>
            </a:extLst>
          </p:cNvPr>
          <p:cNvCxnSpPr>
            <a:cxnSpLocks/>
          </p:cNvCxnSpPr>
          <p:nvPr/>
        </p:nvCxnSpPr>
        <p:spPr>
          <a:xfrm flipH="1">
            <a:off x="8661108" y="4458081"/>
            <a:ext cx="7922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0B3B184-B457-CD4B-9C57-684DC6B26848}"/>
              </a:ext>
            </a:extLst>
          </p:cNvPr>
          <p:cNvCxnSpPr>
            <a:cxnSpLocks/>
          </p:cNvCxnSpPr>
          <p:nvPr/>
        </p:nvCxnSpPr>
        <p:spPr>
          <a:xfrm>
            <a:off x="9041420" y="2804761"/>
            <a:ext cx="1948964" cy="1028927"/>
          </a:xfrm>
          <a:prstGeom prst="line">
            <a:avLst/>
          </a:prstGeom>
          <a:ln w="31750">
            <a:solidFill>
              <a:schemeClr val="accent4">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E6249D3-FE44-244F-8874-469C3E12628D}"/>
              </a:ext>
            </a:extLst>
          </p:cNvPr>
          <p:cNvCxnSpPr>
            <a:cxnSpLocks/>
          </p:cNvCxnSpPr>
          <p:nvPr/>
        </p:nvCxnSpPr>
        <p:spPr>
          <a:xfrm flipV="1">
            <a:off x="8033236" y="2814738"/>
            <a:ext cx="1008184" cy="887431"/>
          </a:xfrm>
          <a:prstGeom prst="line">
            <a:avLst/>
          </a:prstGeom>
          <a:ln w="31750">
            <a:solidFill>
              <a:schemeClr val="accent4">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45A48D4-8DE5-6041-AEE6-33A58E38591C}"/>
              </a:ext>
            </a:extLst>
          </p:cNvPr>
          <p:cNvCxnSpPr/>
          <p:nvPr/>
        </p:nvCxnSpPr>
        <p:spPr>
          <a:xfrm flipV="1">
            <a:off x="8033236" y="3389973"/>
            <a:ext cx="0" cy="302217"/>
          </a:xfrm>
          <a:prstGeom prst="line">
            <a:avLst/>
          </a:prstGeom>
          <a:ln w="317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EF2A486-BCCF-2D45-926A-DAADF979B1BB}"/>
              </a:ext>
            </a:extLst>
          </p:cNvPr>
          <p:cNvCxnSpPr/>
          <p:nvPr/>
        </p:nvCxnSpPr>
        <p:spPr>
          <a:xfrm flipV="1">
            <a:off x="9041420" y="2502544"/>
            <a:ext cx="0" cy="302217"/>
          </a:xfrm>
          <a:prstGeom prst="line">
            <a:avLst/>
          </a:prstGeom>
          <a:ln w="31750">
            <a:solidFill>
              <a:schemeClr val="accent4">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A1F5FC4-AD62-CF41-9E20-0A4F9FBADDE4}"/>
              </a:ext>
            </a:extLst>
          </p:cNvPr>
          <p:cNvCxnSpPr/>
          <p:nvPr/>
        </p:nvCxnSpPr>
        <p:spPr>
          <a:xfrm flipV="1">
            <a:off x="9983175" y="4418901"/>
            <a:ext cx="0" cy="302217"/>
          </a:xfrm>
          <a:prstGeom prst="line">
            <a:avLst/>
          </a:prstGeom>
          <a:ln w="317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30F1368-72BA-2448-9CAE-155975146BA2}"/>
              </a:ext>
            </a:extLst>
          </p:cNvPr>
          <p:cNvCxnSpPr/>
          <p:nvPr/>
        </p:nvCxnSpPr>
        <p:spPr>
          <a:xfrm flipV="1">
            <a:off x="10990384" y="3541081"/>
            <a:ext cx="0" cy="302217"/>
          </a:xfrm>
          <a:prstGeom prst="line">
            <a:avLst/>
          </a:prstGeom>
          <a:ln w="317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EB959FA-FC29-C14D-A513-AA671CF6EF87}"/>
              </a:ext>
            </a:extLst>
          </p:cNvPr>
          <p:cNvCxnSpPr>
            <a:cxnSpLocks/>
          </p:cNvCxnSpPr>
          <p:nvPr/>
        </p:nvCxnSpPr>
        <p:spPr>
          <a:xfrm>
            <a:off x="9041419" y="2512153"/>
            <a:ext cx="1948964" cy="102892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8AD837B-9C39-E843-AA2D-EC59B7CC9303}"/>
              </a:ext>
            </a:extLst>
          </p:cNvPr>
          <p:cNvCxnSpPr>
            <a:cxnSpLocks/>
          </p:cNvCxnSpPr>
          <p:nvPr/>
        </p:nvCxnSpPr>
        <p:spPr>
          <a:xfrm>
            <a:off x="8033235" y="3384984"/>
            <a:ext cx="1948964" cy="102892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1D905140-1390-2245-8076-245832CD59D7}"/>
              </a:ext>
            </a:extLst>
          </p:cNvPr>
          <p:cNvCxnSpPr>
            <a:cxnSpLocks/>
          </p:cNvCxnSpPr>
          <p:nvPr/>
        </p:nvCxnSpPr>
        <p:spPr>
          <a:xfrm flipV="1">
            <a:off x="9982198" y="3541080"/>
            <a:ext cx="1008184" cy="887431"/>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D0A59B9-8911-0C4F-BA4C-A91CDBE79877}"/>
              </a:ext>
            </a:extLst>
          </p:cNvPr>
          <p:cNvCxnSpPr>
            <a:cxnSpLocks/>
          </p:cNvCxnSpPr>
          <p:nvPr/>
        </p:nvCxnSpPr>
        <p:spPr>
          <a:xfrm flipV="1">
            <a:off x="8033234" y="2524626"/>
            <a:ext cx="1008184" cy="887431"/>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FF7D386-B758-094A-9569-A9A5DDA40BCA}"/>
              </a:ext>
            </a:extLst>
          </p:cNvPr>
          <p:cNvCxnSpPr>
            <a:cxnSpLocks/>
          </p:cNvCxnSpPr>
          <p:nvPr/>
        </p:nvCxnSpPr>
        <p:spPr>
          <a:xfrm>
            <a:off x="7484315" y="3963596"/>
            <a:ext cx="2496908" cy="1303301"/>
          </a:xfrm>
          <a:prstGeom prst="line">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5" name="Arc 44">
            <a:extLst>
              <a:ext uri="{FF2B5EF4-FFF2-40B4-BE49-F238E27FC236}">
                <a16:creationId xmlns:a16="http://schemas.microsoft.com/office/drawing/2014/main" id="{CF1D6932-F34F-354B-8791-0C7FDE01B21C}"/>
              </a:ext>
            </a:extLst>
          </p:cNvPr>
          <p:cNvSpPr/>
          <p:nvPr/>
        </p:nvSpPr>
        <p:spPr>
          <a:xfrm rot="16368810">
            <a:off x="8928277" y="3998415"/>
            <a:ext cx="829756" cy="863987"/>
          </a:xfrm>
          <a:prstGeom prst="arc">
            <a:avLst>
              <a:gd name="adj1" fmla="val 15769630"/>
              <a:gd name="adj2" fmla="val 18021566"/>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TextBox 45">
            <a:extLst>
              <a:ext uri="{FF2B5EF4-FFF2-40B4-BE49-F238E27FC236}">
                <a16:creationId xmlns:a16="http://schemas.microsoft.com/office/drawing/2014/main" id="{160863F2-57F7-7849-9145-D978BB28EDE6}"/>
              </a:ext>
            </a:extLst>
          </p:cNvPr>
          <p:cNvSpPr txBox="1"/>
          <p:nvPr/>
        </p:nvSpPr>
        <p:spPr>
          <a:xfrm>
            <a:off x="8661108" y="4117794"/>
            <a:ext cx="312906" cy="369332"/>
          </a:xfrm>
          <a:prstGeom prst="rect">
            <a:avLst/>
          </a:prstGeom>
          <a:noFill/>
        </p:spPr>
        <p:txBody>
          <a:bodyPr wrap="none" rtlCol="0">
            <a:spAutoFit/>
          </a:bodyPr>
          <a:lstStyle/>
          <a:p>
            <a:pPr algn="l"/>
            <a:r>
              <a:rPr lang="en-US" dirty="0">
                <a:latin typeface="Symbol" pitchFamily="2" charset="2"/>
                <a:cs typeface="Arial" panose="020B0604020202020204" pitchFamily="34" charset="0"/>
              </a:rPr>
              <a:t>q</a:t>
            </a:r>
          </a:p>
        </p:txBody>
      </p:sp>
      <p:sp>
        <p:nvSpPr>
          <p:cNvPr id="48" name="TextBox 47">
            <a:extLst>
              <a:ext uri="{FF2B5EF4-FFF2-40B4-BE49-F238E27FC236}">
                <a16:creationId xmlns:a16="http://schemas.microsoft.com/office/drawing/2014/main" id="{56D352EA-E2B1-394C-800C-DF75B7EC89D4}"/>
              </a:ext>
            </a:extLst>
          </p:cNvPr>
          <p:cNvSpPr txBox="1"/>
          <p:nvPr/>
        </p:nvSpPr>
        <p:spPr>
          <a:xfrm>
            <a:off x="9531588" y="5147782"/>
            <a:ext cx="300082" cy="369332"/>
          </a:xfrm>
          <a:prstGeom prst="rect">
            <a:avLst/>
          </a:prstGeom>
          <a:noFill/>
        </p:spPr>
        <p:txBody>
          <a:bodyPr wrap="none" rtlCol="0">
            <a:spAutoFit/>
          </a:bodyPr>
          <a:lstStyle/>
          <a:p>
            <a:pPr algn="l"/>
            <a:r>
              <a:rPr lang="en-US" dirty="0">
                <a:latin typeface="Arial" panose="020B0604020202020204" pitchFamily="34" charset="0"/>
                <a:cs typeface="Arial" panose="020B0604020202020204" pitchFamily="34" charset="0"/>
              </a:rPr>
              <a:t>x</a:t>
            </a:r>
          </a:p>
        </p:txBody>
      </p:sp>
      <p:cxnSp>
        <p:nvCxnSpPr>
          <p:cNvPr id="56" name="Straight Connector 55">
            <a:extLst>
              <a:ext uri="{FF2B5EF4-FFF2-40B4-BE49-F238E27FC236}">
                <a16:creationId xmlns:a16="http://schemas.microsoft.com/office/drawing/2014/main" id="{612D0B01-7994-764B-B6C9-59934E333062}"/>
              </a:ext>
            </a:extLst>
          </p:cNvPr>
          <p:cNvCxnSpPr>
            <a:cxnSpLocks/>
          </p:cNvCxnSpPr>
          <p:nvPr/>
        </p:nvCxnSpPr>
        <p:spPr>
          <a:xfrm>
            <a:off x="9092058" y="2289492"/>
            <a:ext cx="1948964" cy="1028927"/>
          </a:xfrm>
          <a:prstGeom prst="line">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EB7A0A5-DBE6-A24B-8FB4-95394D4EC756}"/>
              </a:ext>
            </a:extLst>
          </p:cNvPr>
          <p:cNvCxnSpPr>
            <a:cxnSpLocks/>
          </p:cNvCxnSpPr>
          <p:nvPr/>
        </p:nvCxnSpPr>
        <p:spPr>
          <a:xfrm flipV="1">
            <a:off x="10134600" y="3986088"/>
            <a:ext cx="1008184" cy="887431"/>
          </a:xfrm>
          <a:prstGeom prst="line">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AAB01418-E1C7-3146-B049-7DDCF637AB21}"/>
              </a:ext>
            </a:extLst>
          </p:cNvPr>
          <p:cNvCxnSpPr/>
          <p:nvPr/>
        </p:nvCxnSpPr>
        <p:spPr>
          <a:xfrm flipV="1">
            <a:off x="10162789" y="4262802"/>
            <a:ext cx="0" cy="302217"/>
          </a:xfrm>
          <a:prstGeom prst="line">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3116FAA5-84F2-534C-8F69-8963D99186FF}"/>
              </a:ext>
            </a:extLst>
          </p:cNvPr>
          <p:cNvSpPr txBox="1"/>
          <p:nvPr/>
        </p:nvSpPr>
        <p:spPr>
          <a:xfrm>
            <a:off x="10560326" y="4373982"/>
            <a:ext cx="338554" cy="369332"/>
          </a:xfrm>
          <a:prstGeom prst="rect">
            <a:avLst/>
          </a:prstGeom>
          <a:noFill/>
        </p:spPr>
        <p:txBody>
          <a:bodyPr wrap="none" rtlCol="0">
            <a:spAutoFit/>
          </a:bodyPr>
          <a:lstStyle/>
          <a:p>
            <a:pPr algn="l"/>
            <a:r>
              <a:rPr lang="en-US" dirty="0">
                <a:latin typeface="Arial" panose="020B0604020202020204" pitchFamily="34" charset="0"/>
                <a:cs typeface="Arial" panose="020B0604020202020204" pitchFamily="34" charset="0"/>
              </a:rPr>
              <a:t>B</a:t>
            </a:r>
          </a:p>
        </p:txBody>
      </p:sp>
      <p:sp>
        <p:nvSpPr>
          <p:cNvPr id="60" name="TextBox 59">
            <a:extLst>
              <a:ext uri="{FF2B5EF4-FFF2-40B4-BE49-F238E27FC236}">
                <a16:creationId xmlns:a16="http://schemas.microsoft.com/office/drawing/2014/main" id="{96867F62-B62A-AB4D-9EAD-2FD514E24B04}"/>
              </a:ext>
            </a:extLst>
          </p:cNvPr>
          <p:cNvSpPr txBox="1"/>
          <p:nvPr/>
        </p:nvSpPr>
        <p:spPr>
          <a:xfrm>
            <a:off x="10151158" y="4127433"/>
            <a:ext cx="351378" cy="369332"/>
          </a:xfrm>
          <a:prstGeom prst="rect">
            <a:avLst/>
          </a:prstGeom>
          <a:noFill/>
        </p:spPr>
        <p:txBody>
          <a:bodyPr wrap="none" rtlCol="0">
            <a:spAutoFit/>
          </a:bodyPr>
          <a:lstStyle/>
          <a:p>
            <a:pPr algn="l"/>
            <a:r>
              <a:rPr lang="en-US" dirty="0">
                <a:latin typeface="Arial" panose="020B0604020202020204" pitchFamily="34" charset="0"/>
                <a:cs typeface="Arial" panose="020B0604020202020204" pitchFamily="34" charset="0"/>
              </a:rPr>
              <a:t>H</a:t>
            </a:r>
          </a:p>
        </p:txBody>
      </p:sp>
      <p:sp>
        <p:nvSpPr>
          <p:cNvPr id="61" name="TextBox 60">
            <a:extLst>
              <a:ext uri="{FF2B5EF4-FFF2-40B4-BE49-F238E27FC236}">
                <a16:creationId xmlns:a16="http://schemas.microsoft.com/office/drawing/2014/main" id="{01DC72D8-B65C-2141-AB96-5F7F457292D4}"/>
              </a:ext>
            </a:extLst>
          </p:cNvPr>
          <p:cNvSpPr txBox="1"/>
          <p:nvPr/>
        </p:nvSpPr>
        <p:spPr>
          <a:xfrm>
            <a:off x="10055955" y="2367745"/>
            <a:ext cx="441146" cy="369332"/>
          </a:xfrm>
          <a:prstGeom prst="rect">
            <a:avLst/>
          </a:prstGeom>
          <a:noFill/>
        </p:spPr>
        <p:txBody>
          <a:bodyPr wrap="none" rtlCol="0">
            <a:spAutoFit/>
          </a:bodyPr>
          <a:lstStyle/>
          <a:p>
            <a:pPr algn="l"/>
            <a:r>
              <a:rPr lang="en-US" dirty="0">
                <a:latin typeface="Symbol" pitchFamily="2" charset="2"/>
                <a:cs typeface="Arial" panose="020B0604020202020204" pitchFamily="34" charset="0"/>
              </a:rPr>
              <a:t>D</a:t>
            </a:r>
            <a:r>
              <a:rPr lang="en-US" dirty="0">
                <a:latin typeface="Arial" panose="020B0604020202020204" pitchFamily="34" charset="0"/>
                <a:cs typeface="Arial" panose="020B0604020202020204" pitchFamily="34" charset="0"/>
              </a:rPr>
              <a:t>x</a:t>
            </a:r>
          </a:p>
        </p:txBody>
      </p:sp>
      <p:sp>
        <p:nvSpPr>
          <p:cNvPr id="66" name="TextBox 65">
            <a:extLst>
              <a:ext uri="{FF2B5EF4-FFF2-40B4-BE49-F238E27FC236}">
                <a16:creationId xmlns:a16="http://schemas.microsoft.com/office/drawing/2014/main" id="{030FEBAA-AE9C-5340-BA5D-BD6524B402D5}"/>
              </a:ext>
            </a:extLst>
          </p:cNvPr>
          <p:cNvSpPr txBox="1"/>
          <p:nvPr/>
        </p:nvSpPr>
        <p:spPr>
          <a:xfrm>
            <a:off x="378030" y="2013093"/>
            <a:ext cx="3857146" cy="400110"/>
          </a:xfrm>
          <a:prstGeom prst="rect">
            <a:avLst/>
          </a:prstGeom>
          <a:noFill/>
        </p:spPr>
        <p:txBody>
          <a:bodyPr wrap="none" rtlCol="0">
            <a:spAutoFit/>
          </a:bodyPr>
          <a:lstStyle/>
          <a:p>
            <a:pPr algn="l"/>
            <a:r>
              <a:rPr lang="en-US" dirty="0">
                <a:latin typeface="Arial" panose="020B0604020202020204" pitchFamily="34" charset="0"/>
                <a:cs typeface="Arial" panose="020B0604020202020204" pitchFamily="34" charset="0"/>
              </a:rPr>
              <a:t>In rivers </a:t>
            </a:r>
            <a:r>
              <a:rPr lang="en-US" sz="2000" dirty="0">
                <a:latin typeface="Symbol" pitchFamily="2" charset="2"/>
                <a:cs typeface="Arial" panose="020B0604020202020204" pitchFamily="34" charset="0"/>
              </a:rPr>
              <a:t>q</a:t>
            </a:r>
            <a:r>
              <a:rPr lang="en-US" dirty="0">
                <a:latin typeface="Arial" panose="020B0604020202020204" pitchFamily="34" charset="0"/>
                <a:cs typeface="Arial" panose="020B0604020202020204" pitchFamily="34" charset="0"/>
              </a:rPr>
              <a:t> is generally small so that </a:t>
            </a: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9D92C9F5-995D-FD44-91FB-03B47A2B6FEC}"/>
                  </a:ext>
                </a:extLst>
              </p:cNvPr>
              <p:cNvSpPr txBox="1"/>
              <p:nvPr/>
            </p:nvSpPr>
            <p:spPr>
              <a:xfrm>
                <a:off x="4591643" y="2074648"/>
                <a:ext cx="2956643" cy="276999"/>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𝑠𝑖𝑛</m:t>
                      </m:r>
                      <m:r>
                        <a:rPr lang="en-US" b="0" i="1" smtClean="0">
                          <a:latin typeface="Cambria Math" panose="02040503050406030204" pitchFamily="18" charset="0"/>
                          <a:ea typeface="Cambria Math" panose="02040503050406030204" pitchFamily="18" charset="0"/>
                          <a:cs typeface="Arial" panose="020B0604020202020204" pitchFamily="34" charset="0"/>
                        </a:rPr>
                        <m:t>𝜃</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𝑡𝑎𝑛</m:t>
                      </m:r>
                      <m:r>
                        <a:rPr lang="en-US" b="0" i="1" smtClean="0">
                          <a:latin typeface="Cambria Math" panose="02040503050406030204" pitchFamily="18" charset="0"/>
                          <a:ea typeface="Cambria Math" panose="02040503050406030204" pitchFamily="18" charset="0"/>
                          <a:cs typeface="Arial" panose="020B0604020202020204" pitchFamily="34" charset="0"/>
                        </a:rPr>
                        <m:t>𝜃</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𝑆</m:t>
                      </m:r>
                      <m:r>
                        <a:rPr lang="en-US" b="0" i="1" smtClean="0">
                          <a:latin typeface="Cambria Math" panose="02040503050406030204" pitchFamily="18" charset="0"/>
                          <a:ea typeface="Cambria Math" panose="02040503050406030204" pitchFamily="18" charset="0"/>
                          <a:cs typeface="Arial" panose="020B0604020202020204" pitchFamily="34" charset="0"/>
                        </a:rPr>
                        <m:t> </m:t>
                      </m:r>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r>
                            <a:rPr lang="en-US" b="0" i="1" smtClean="0">
                              <a:latin typeface="Cambria Math" panose="02040503050406030204" pitchFamily="18" charset="0"/>
                              <a:ea typeface="Cambria Math" panose="02040503050406030204" pitchFamily="18" charset="0"/>
                              <a:cs typeface="Arial" panose="020B0604020202020204" pitchFamily="34" charset="0"/>
                            </a:rPr>
                            <m:t>𝑏𝑒𝑑</m:t>
                          </m:r>
                          <m:r>
                            <a:rPr lang="en-US" b="0" i="1" smtClean="0">
                              <a:latin typeface="Cambria Math" panose="02040503050406030204" pitchFamily="18" charset="0"/>
                              <a:ea typeface="Cambria Math" panose="02040503050406030204" pitchFamily="18" charset="0"/>
                              <a:cs typeface="Arial" panose="020B0604020202020204" pitchFamily="34" charset="0"/>
                            </a:rPr>
                            <m:t> </m:t>
                          </m:r>
                          <m:r>
                            <a:rPr lang="en-US" b="0" i="1" smtClean="0">
                              <a:latin typeface="Cambria Math" panose="02040503050406030204" pitchFamily="18" charset="0"/>
                              <a:ea typeface="Cambria Math" panose="02040503050406030204" pitchFamily="18" charset="0"/>
                              <a:cs typeface="Arial" panose="020B0604020202020204" pitchFamily="34" charset="0"/>
                            </a:rPr>
                            <m:t>𝑠𝑙𝑜𝑝𝑒</m:t>
                          </m:r>
                        </m:e>
                      </m:d>
                    </m:oMath>
                  </m:oMathPara>
                </a14:m>
                <a:endParaRPr lang="en-US" b="0" dirty="0">
                  <a:latin typeface="Arial" panose="020B0604020202020204" pitchFamily="34" charset="0"/>
                  <a:ea typeface="Cambria Math" panose="02040503050406030204" pitchFamily="18" charset="0"/>
                  <a:cs typeface="Arial" panose="020B0604020202020204" pitchFamily="34" charset="0"/>
                </a:endParaRPr>
              </a:p>
            </p:txBody>
          </p:sp>
        </mc:Choice>
        <mc:Fallback xmlns="">
          <p:sp>
            <p:nvSpPr>
              <p:cNvPr id="67" name="TextBox 66">
                <a:extLst>
                  <a:ext uri="{FF2B5EF4-FFF2-40B4-BE49-F238E27FC236}">
                    <a16:creationId xmlns:a16="http://schemas.microsoft.com/office/drawing/2014/main" id="{9D92C9F5-995D-FD44-91FB-03B47A2B6FEC}"/>
                  </a:ext>
                </a:extLst>
              </p:cNvPr>
              <p:cNvSpPr txBox="1">
                <a:spLocks noRot="1" noChangeAspect="1" noMove="1" noResize="1" noEditPoints="1" noAdjustHandles="1" noChangeArrowheads="1" noChangeShapeType="1" noTextEdit="1"/>
              </p:cNvSpPr>
              <p:nvPr/>
            </p:nvSpPr>
            <p:spPr>
              <a:xfrm>
                <a:off x="4591643" y="2074648"/>
                <a:ext cx="2956643" cy="276999"/>
              </a:xfrm>
              <a:prstGeom prst="rect">
                <a:avLst/>
              </a:prstGeom>
              <a:blipFill>
                <a:blip r:embed="rId3"/>
                <a:stretch>
                  <a:fillRect l="-855" t="-4348" b="-391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E0AEC2F5-322F-1546-A5CA-20D30E493BD3}"/>
                  </a:ext>
                </a:extLst>
              </p:cNvPr>
              <p:cNvSpPr txBox="1"/>
              <p:nvPr/>
            </p:nvSpPr>
            <p:spPr>
              <a:xfrm>
                <a:off x="4617676" y="2474574"/>
                <a:ext cx="873637" cy="276999"/>
              </a:xfrm>
              <a:prstGeom prst="rect">
                <a:avLst/>
              </a:prstGeom>
              <a:noFill/>
            </p:spPr>
            <p:txBody>
              <a:bodyPr wrap="none" lIns="0" tIns="0" rIns="0" bIns="0" rtlCol="0">
                <a:spAutoFit/>
              </a:bodyPr>
              <a:lstStyle/>
              <a:p>
                <a:pPr algn="l"/>
                <a:r>
                  <a:rPr lang="en-US" b="0" dirty="0">
                    <a:ea typeface="Cambria Math" panose="02040503050406030204" pitchFamily="18" charset="0"/>
                    <a:cs typeface="Arial" panose="020B0604020202020204" pitchFamily="34" charset="0"/>
                  </a:rPr>
                  <a:t>cos</a:t>
                </a:r>
                <a14:m>
                  <m:oMath xmlns:m="http://schemas.openxmlformats.org/officeDocument/2006/math">
                    <m:r>
                      <a:rPr lang="en-US" b="0" i="1" smtClean="0">
                        <a:latin typeface="Cambria Math" panose="02040503050406030204" pitchFamily="18" charset="0"/>
                        <a:ea typeface="Cambria Math" panose="02040503050406030204" pitchFamily="18" charset="0"/>
                        <a:cs typeface="Arial" panose="020B0604020202020204" pitchFamily="34" charset="0"/>
                      </a:rPr>
                      <m:t>𝜃</m:t>
                    </m:r>
                    <m:r>
                      <a:rPr lang="en-US" b="0" i="1" smtClean="0">
                        <a:latin typeface="Cambria Math" panose="02040503050406030204" pitchFamily="18" charset="0"/>
                        <a:ea typeface="Cambria Math" panose="02040503050406030204" pitchFamily="18" charset="0"/>
                        <a:cs typeface="Arial" panose="020B0604020202020204" pitchFamily="34" charset="0"/>
                      </a:rPr>
                      <m:t>≅1</m:t>
                    </m:r>
                  </m:oMath>
                </a14:m>
                <a:endParaRPr lang="en-US" b="0" dirty="0">
                  <a:latin typeface="Arial" panose="020B0604020202020204" pitchFamily="34" charset="0"/>
                  <a:ea typeface="Cambria Math" panose="02040503050406030204" pitchFamily="18" charset="0"/>
                  <a:cs typeface="Arial" panose="020B0604020202020204" pitchFamily="34" charset="0"/>
                </a:endParaRPr>
              </a:p>
            </p:txBody>
          </p:sp>
        </mc:Choice>
        <mc:Fallback xmlns="">
          <p:sp>
            <p:nvSpPr>
              <p:cNvPr id="68" name="TextBox 67">
                <a:extLst>
                  <a:ext uri="{FF2B5EF4-FFF2-40B4-BE49-F238E27FC236}">
                    <a16:creationId xmlns:a16="http://schemas.microsoft.com/office/drawing/2014/main" id="{E0AEC2F5-322F-1546-A5CA-20D30E493BD3}"/>
                  </a:ext>
                </a:extLst>
              </p:cNvPr>
              <p:cNvSpPr txBox="1">
                <a:spLocks noRot="1" noChangeAspect="1" noMove="1" noResize="1" noEditPoints="1" noAdjustHandles="1" noChangeArrowheads="1" noChangeShapeType="1" noTextEdit="1"/>
              </p:cNvSpPr>
              <p:nvPr/>
            </p:nvSpPr>
            <p:spPr>
              <a:xfrm>
                <a:off x="4617676" y="2474574"/>
                <a:ext cx="873637" cy="276999"/>
              </a:xfrm>
              <a:prstGeom prst="rect">
                <a:avLst/>
              </a:prstGeom>
              <a:blipFill>
                <a:blip r:embed="rId4"/>
                <a:stretch>
                  <a:fillRect l="-15714" t="-21739" r="-7143" b="-52174"/>
                </a:stretch>
              </a:blipFill>
            </p:spPr>
            <p:txBody>
              <a:bodyPr/>
              <a:lstStyle/>
              <a:p>
                <a:r>
                  <a:rPr lang="en-US">
                    <a:noFill/>
                  </a:rPr>
                  <a:t> </a:t>
                </a:r>
              </a:p>
            </p:txBody>
          </p:sp>
        </mc:Fallback>
      </mc:AlternateContent>
      <p:cxnSp>
        <p:nvCxnSpPr>
          <p:cNvPr id="3" name="Straight Arrow Connector 2">
            <a:extLst>
              <a:ext uri="{FF2B5EF4-FFF2-40B4-BE49-F238E27FC236}">
                <a16:creationId xmlns:a16="http://schemas.microsoft.com/office/drawing/2014/main" id="{F97A1F6A-F364-0645-9678-B5D1B300444E}"/>
              </a:ext>
            </a:extLst>
          </p:cNvPr>
          <p:cNvCxnSpPr/>
          <p:nvPr/>
        </p:nvCxnSpPr>
        <p:spPr>
          <a:xfrm>
            <a:off x="10442567" y="4053790"/>
            <a:ext cx="793474" cy="447225"/>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6CBF7D12-2BAC-2145-BD47-9AB5BB7E7785}"/>
              </a:ext>
            </a:extLst>
          </p:cNvPr>
          <p:cNvCxnSpPr>
            <a:cxnSpLocks/>
          </p:cNvCxnSpPr>
          <p:nvPr/>
        </p:nvCxnSpPr>
        <p:spPr>
          <a:xfrm flipH="1" flipV="1">
            <a:off x="8049985" y="2737077"/>
            <a:ext cx="818204" cy="506403"/>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766B5DCB-5D77-D341-8AFF-41052947B667}"/>
              </a:ext>
            </a:extLst>
          </p:cNvPr>
          <p:cNvSpPr txBox="1"/>
          <p:nvPr/>
        </p:nvSpPr>
        <p:spPr>
          <a:xfrm>
            <a:off x="342267" y="2894135"/>
            <a:ext cx="6613703"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Downstream impelling force </a:t>
            </a:r>
          </a:p>
          <a:p>
            <a:pPr algn="l">
              <a:lnSpc>
                <a:spcPct val="114000"/>
              </a:lnSpc>
            </a:pPr>
            <a:r>
              <a:rPr lang="en-US" dirty="0">
                <a:latin typeface="Arial" panose="020B0604020202020204" pitchFamily="34" charset="0"/>
                <a:cs typeface="Arial" panose="020B0604020202020204" pitchFamily="34" charset="0"/>
              </a:rPr>
              <a:t>(component of the weight of water in the x direction)</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8EA223B-7CAD-D247-AC78-2BF62560551E}"/>
                  </a:ext>
                </a:extLst>
              </p:cNvPr>
              <p:cNvSpPr txBox="1"/>
              <p:nvPr/>
            </p:nvSpPr>
            <p:spPr>
              <a:xfrm>
                <a:off x="3368918" y="2903540"/>
                <a:ext cx="1048364" cy="276999"/>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𝑔𝐵𝐻</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𝑥𝑆</m:t>
                      </m:r>
                    </m:oMath>
                  </m:oMathPara>
                </a14:m>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F8EA223B-7CAD-D247-AC78-2BF62560551E}"/>
                  </a:ext>
                </a:extLst>
              </p:cNvPr>
              <p:cNvSpPr txBox="1">
                <a:spLocks noRot="1" noChangeAspect="1" noMove="1" noResize="1" noEditPoints="1" noAdjustHandles="1" noChangeArrowheads="1" noChangeShapeType="1" noTextEdit="1"/>
              </p:cNvSpPr>
              <p:nvPr/>
            </p:nvSpPr>
            <p:spPr>
              <a:xfrm>
                <a:off x="3368918" y="2903540"/>
                <a:ext cx="1048364" cy="276999"/>
              </a:xfrm>
              <a:prstGeom prst="rect">
                <a:avLst/>
              </a:prstGeom>
              <a:blipFill>
                <a:blip r:embed="rId5"/>
                <a:stretch>
                  <a:fillRect l="-4819" r="-3614" b="-34783"/>
                </a:stretch>
              </a:blipFill>
            </p:spPr>
            <p:txBody>
              <a:bodyPr/>
              <a:lstStyle/>
              <a:p>
                <a:r>
                  <a:rPr lang="en-US">
                    <a:noFill/>
                  </a:rPr>
                  <a:t> </a:t>
                </a:r>
              </a:p>
            </p:txBody>
          </p:sp>
        </mc:Fallback>
      </mc:AlternateContent>
      <p:sp>
        <p:nvSpPr>
          <p:cNvPr id="47" name="TextBox 46">
            <a:extLst>
              <a:ext uri="{FF2B5EF4-FFF2-40B4-BE49-F238E27FC236}">
                <a16:creationId xmlns:a16="http://schemas.microsoft.com/office/drawing/2014/main" id="{55D31992-7935-D541-997C-C33BAF7AD8C3}"/>
              </a:ext>
            </a:extLst>
          </p:cNvPr>
          <p:cNvSpPr txBox="1"/>
          <p:nvPr/>
        </p:nvSpPr>
        <p:spPr>
          <a:xfrm>
            <a:off x="342267" y="3778930"/>
            <a:ext cx="2146742" cy="369332"/>
          </a:xfrm>
          <a:prstGeom prst="rect">
            <a:avLst/>
          </a:prstGeom>
          <a:noFill/>
        </p:spPr>
        <p:txBody>
          <a:bodyPr wrap="none" rtlCol="0">
            <a:spAutoFit/>
          </a:bodyPr>
          <a:lstStyle/>
          <a:p>
            <a:pPr algn="l"/>
            <a:r>
              <a:rPr lang="en-US" dirty="0">
                <a:latin typeface="Arial" panose="020B0604020202020204" pitchFamily="34" charset="0"/>
                <a:cs typeface="Arial" panose="020B0604020202020204" pitchFamily="34" charset="0"/>
              </a:rPr>
              <a:t>Resistive bed force</a:t>
            </a:r>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2FEF52CA-9324-9E47-A158-5F4C9340AEF1}"/>
                  </a:ext>
                </a:extLst>
              </p:cNvPr>
              <p:cNvSpPr txBox="1"/>
              <p:nvPr/>
            </p:nvSpPr>
            <p:spPr>
              <a:xfrm>
                <a:off x="2505758" y="3823626"/>
                <a:ext cx="711733" cy="276999"/>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ea typeface="Cambria Math" panose="02040503050406030204" pitchFamily="18" charset="0"/>
                          <a:cs typeface="Arial" panose="020B0604020202020204" pitchFamily="34" charset="0"/>
                        </a:rPr>
                        <m:t>𝐵</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oMath>
                  </m:oMathPara>
                </a14:m>
                <a:endParaRPr lang="en-US" dirty="0">
                  <a:latin typeface="Arial" panose="020B0604020202020204" pitchFamily="34" charset="0"/>
                  <a:cs typeface="Arial" panose="020B0604020202020204" pitchFamily="34" charset="0"/>
                </a:endParaRPr>
              </a:p>
            </p:txBody>
          </p:sp>
        </mc:Choice>
        <mc:Fallback xmlns="">
          <p:sp>
            <p:nvSpPr>
              <p:cNvPr id="49" name="TextBox 48">
                <a:extLst>
                  <a:ext uri="{FF2B5EF4-FFF2-40B4-BE49-F238E27FC236}">
                    <a16:creationId xmlns:a16="http://schemas.microsoft.com/office/drawing/2014/main" id="{2FEF52CA-9324-9E47-A158-5F4C9340AEF1}"/>
                  </a:ext>
                </a:extLst>
              </p:cNvPr>
              <p:cNvSpPr txBox="1">
                <a:spLocks noRot="1" noChangeAspect="1" noMove="1" noResize="1" noEditPoints="1" noAdjustHandles="1" noChangeArrowheads="1" noChangeShapeType="1" noTextEdit="1"/>
              </p:cNvSpPr>
              <p:nvPr/>
            </p:nvSpPr>
            <p:spPr>
              <a:xfrm>
                <a:off x="2505758" y="3823626"/>
                <a:ext cx="711733" cy="276999"/>
              </a:xfrm>
              <a:prstGeom prst="rect">
                <a:avLst/>
              </a:prstGeom>
              <a:blipFill>
                <a:blip r:embed="rId6"/>
                <a:stretch>
                  <a:fillRect l="-3509" r="-1754" b="-1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0D7BF9F0-658F-1D49-92CF-DA87A28F0367}"/>
                  </a:ext>
                </a:extLst>
              </p:cNvPr>
              <p:cNvSpPr txBox="1"/>
              <p:nvPr/>
            </p:nvSpPr>
            <p:spPr>
              <a:xfrm>
                <a:off x="7862609" y="2346479"/>
                <a:ext cx="711733" cy="276999"/>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ea typeface="Cambria Math" panose="02040503050406030204" pitchFamily="18" charset="0"/>
                          <a:cs typeface="Arial" panose="020B0604020202020204" pitchFamily="34" charset="0"/>
                        </a:rPr>
                        <m:t>𝐵</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oMath>
                  </m:oMathPara>
                </a14:m>
                <a:endParaRPr lang="en-US" dirty="0">
                  <a:latin typeface="Arial" panose="020B0604020202020204" pitchFamily="34" charset="0"/>
                  <a:cs typeface="Arial" panose="020B0604020202020204" pitchFamily="34" charset="0"/>
                </a:endParaRPr>
              </a:p>
            </p:txBody>
          </p:sp>
        </mc:Choice>
        <mc:Fallback xmlns="">
          <p:sp>
            <p:nvSpPr>
              <p:cNvPr id="50" name="TextBox 49">
                <a:extLst>
                  <a:ext uri="{FF2B5EF4-FFF2-40B4-BE49-F238E27FC236}">
                    <a16:creationId xmlns:a16="http://schemas.microsoft.com/office/drawing/2014/main" id="{0D7BF9F0-658F-1D49-92CF-DA87A28F0367}"/>
                  </a:ext>
                </a:extLst>
              </p:cNvPr>
              <p:cNvSpPr txBox="1">
                <a:spLocks noRot="1" noChangeAspect="1" noMove="1" noResize="1" noEditPoints="1" noAdjustHandles="1" noChangeArrowheads="1" noChangeShapeType="1" noTextEdit="1"/>
              </p:cNvSpPr>
              <p:nvPr/>
            </p:nvSpPr>
            <p:spPr>
              <a:xfrm>
                <a:off x="7862609" y="2346479"/>
                <a:ext cx="711733" cy="276999"/>
              </a:xfrm>
              <a:prstGeom prst="rect">
                <a:avLst/>
              </a:prstGeom>
              <a:blipFill>
                <a:blip r:embed="rId7"/>
                <a:stretch>
                  <a:fillRect l="-3509" r="-1754" b="-173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C16AB6BF-3450-1A47-91A1-8D6113494B12}"/>
                  </a:ext>
                </a:extLst>
              </p:cNvPr>
              <p:cNvSpPr txBox="1"/>
              <p:nvPr/>
            </p:nvSpPr>
            <p:spPr>
              <a:xfrm>
                <a:off x="11075221" y="4039570"/>
                <a:ext cx="1048364" cy="276999"/>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𝑔𝐵𝐻</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𝑥𝑆</m:t>
                      </m:r>
                    </m:oMath>
                  </m:oMathPara>
                </a14:m>
                <a:endParaRPr lang="en-US" dirty="0">
                  <a:latin typeface="Arial" panose="020B0604020202020204" pitchFamily="34" charset="0"/>
                  <a:cs typeface="Arial" panose="020B0604020202020204" pitchFamily="34" charset="0"/>
                </a:endParaRPr>
              </a:p>
            </p:txBody>
          </p:sp>
        </mc:Choice>
        <mc:Fallback xmlns="">
          <p:sp>
            <p:nvSpPr>
              <p:cNvPr id="51" name="TextBox 50">
                <a:extLst>
                  <a:ext uri="{FF2B5EF4-FFF2-40B4-BE49-F238E27FC236}">
                    <a16:creationId xmlns:a16="http://schemas.microsoft.com/office/drawing/2014/main" id="{C16AB6BF-3450-1A47-91A1-8D6113494B12}"/>
                  </a:ext>
                </a:extLst>
              </p:cNvPr>
              <p:cNvSpPr txBox="1">
                <a:spLocks noRot="1" noChangeAspect="1" noMove="1" noResize="1" noEditPoints="1" noAdjustHandles="1" noChangeArrowheads="1" noChangeShapeType="1" noTextEdit="1"/>
              </p:cNvSpPr>
              <p:nvPr/>
            </p:nvSpPr>
            <p:spPr>
              <a:xfrm>
                <a:off x="11075221" y="4039570"/>
                <a:ext cx="1048364" cy="276999"/>
              </a:xfrm>
              <a:prstGeom prst="rect">
                <a:avLst/>
              </a:prstGeom>
              <a:blipFill>
                <a:blip r:embed="rId8"/>
                <a:stretch>
                  <a:fillRect l="-4819" r="-3614" b="-40909"/>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011276FE-15C6-7443-847D-3AAD30E4361E}"/>
              </a:ext>
            </a:extLst>
          </p:cNvPr>
          <p:cNvSpPr txBox="1"/>
          <p:nvPr/>
        </p:nvSpPr>
        <p:spPr>
          <a:xfrm>
            <a:off x="363483" y="4431283"/>
            <a:ext cx="3371436" cy="369332"/>
          </a:xfrm>
          <a:prstGeom prst="rect">
            <a:avLst/>
          </a:prstGeom>
          <a:noFill/>
        </p:spPr>
        <p:txBody>
          <a:bodyPr wrap="none" rtlCol="0">
            <a:spAutoFit/>
          </a:bodyPr>
          <a:lstStyle/>
          <a:p>
            <a:pPr algn="l"/>
            <a:r>
              <a:rPr lang="en-US" dirty="0">
                <a:latin typeface="Arial" panose="020B0604020202020204" pitchFamily="34" charset="0"/>
                <a:cs typeface="Arial" panose="020B0604020202020204" pitchFamily="34" charset="0"/>
              </a:rPr>
              <a:t>Impelling force = resistive force</a:t>
            </a:r>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98804847-C0B9-1247-BC3C-08FAA6792842}"/>
                  </a:ext>
                </a:extLst>
              </p:cNvPr>
              <p:cNvSpPr txBox="1"/>
              <p:nvPr/>
            </p:nvSpPr>
            <p:spPr>
              <a:xfrm>
                <a:off x="500532" y="4945136"/>
                <a:ext cx="199734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𝑔𝐵𝐻</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𝑥𝑆</m:t>
                      </m:r>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r>
                        <a:rPr lang="en-US" i="1">
                          <a:latin typeface="Cambria Math" panose="02040503050406030204" pitchFamily="18" charset="0"/>
                          <a:ea typeface="Cambria Math" panose="02040503050406030204" pitchFamily="18" charset="0"/>
                          <a:cs typeface="Arial" panose="020B0604020202020204" pitchFamily="34" charset="0"/>
                        </a:rPr>
                        <m:t>𝐵</m:t>
                      </m:r>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oMath>
                  </m:oMathPara>
                </a14:m>
                <a:endParaRPr lang="en-US" dirty="0">
                  <a:latin typeface="Arial" panose="020B0604020202020204" pitchFamily="34" charset="0"/>
                  <a:cs typeface="Arial" panose="020B0604020202020204" pitchFamily="34" charset="0"/>
                </a:endParaRPr>
              </a:p>
            </p:txBody>
          </p:sp>
        </mc:Choice>
        <mc:Fallback xmlns="">
          <p:sp>
            <p:nvSpPr>
              <p:cNvPr id="53" name="TextBox 52">
                <a:extLst>
                  <a:ext uri="{FF2B5EF4-FFF2-40B4-BE49-F238E27FC236}">
                    <a16:creationId xmlns:a16="http://schemas.microsoft.com/office/drawing/2014/main" id="{98804847-C0B9-1247-BC3C-08FAA6792842}"/>
                  </a:ext>
                </a:extLst>
              </p:cNvPr>
              <p:cNvSpPr txBox="1">
                <a:spLocks noRot="1" noChangeAspect="1" noMove="1" noResize="1" noEditPoints="1" noAdjustHandles="1" noChangeArrowheads="1" noChangeShapeType="1" noTextEdit="1"/>
              </p:cNvSpPr>
              <p:nvPr/>
            </p:nvSpPr>
            <p:spPr>
              <a:xfrm>
                <a:off x="500532" y="4945136"/>
                <a:ext cx="1997342" cy="276999"/>
              </a:xfrm>
              <a:prstGeom prst="rect">
                <a:avLst/>
              </a:prstGeom>
              <a:blipFill>
                <a:blip r:embed="rId9"/>
                <a:stretch>
                  <a:fillRect l="-1899" r="-633" b="-34783"/>
                </a:stretch>
              </a:blipFill>
            </p:spPr>
            <p:txBody>
              <a:bodyPr/>
              <a:lstStyle/>
              <a:p>
                <a:r>
                  <a:rPr lang="en-US">
                    <a:noFill/>
                  </a:rPr>
                  <a:t> </a:t>
                </a:r>
              </a:p>
            </p:txBody>
          </p:sp>
        </mc:Fallback>
      </mc:AlternateContent>
      <p:sp>
        <p:nvSpPr>
          <p:cNvPr id="55" name="Slide Number Placeholder 3">
            <a:extLst>
              <a:ext uri="{FF2B5EF4-FFF2-40B4-BE49-F238E27FC236}">
                <a16:creationId xmlns:a16="http://schemas.microsoft.com/office/drawing/2014/main" id="{07DA3905-2810-034F-98C0-88F40487A0FA}"/>
              </a:ext>
            </a:extLst>
          </p:cNvPr>
          <p:cNvSpPr>
            <a:spLocks noGrp="1"/>
          </p:cNvSpPr>
          <p:nvPr>
            <p:ph type="sldNum" sz="quarter" idx="12"/>
          </p:nvPr>
        </p:nvSpPr>
        <p:spPr>
          <a:xfrm>
            <a:off x="8610600" y="6356350"/>
            <a:ext cx="2743200" cy="365125"/>
          </a:xfrm>
        </p:spPr>
        <p:txBody>
          <a:bodyPr/>
          <a:lstStyle/>
          <a:p>
            <a:fld id="{2386C454-E1BD-5A43-901A-CA4ACC7380B7}" type="slidenum">
              <a:rPr lang="en-US" smtClean="0"/>
              <a:t>16</a:t>
            </a:fld>
            <a:endParaRPr lang="en-US" dirty="0"/>
          </a:p>
        </p:txBody>
      </p:sp>
    </p:spTree>
    <p:extLst>
      <p:ext uri="{BB962C8B-B14F-4D97-AF65-F5344CB8AC3E}">
        <p14:creationId xmlns:p14="http://schemas.microsoft.com/office/powerpoint/2010/main" val="32319347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Freeform 68">
            <a:extLst>
              <a:ext uri="{FF2B5EF4-FFF2-40B4-BE49-F238E27FC236}">
                <a16:creationId xmlns:a16="http://schemas.microsoft.com/office/drawing/2014/main" id="{3DA5D7DD-2914-0540-9DDE-020E02B1C2E4}"/>
              </a:ext>
            </a:extLst>
          </p:cNvPr>
          <p:cNvSpPr/>
          <p:nvPr/>
        </p:nvSpPr>
        <p:spPr>
          <a:xfrm>
            <a:off x="8049986" y="2792186"/>
            <a:ext cx="2890157" cy="1910443"/>
          </a:xfrm>
          <a:custGeom>
            <a:avLst/>
            <a:gdLst>
              <a:gd name="connsiteX0" fmla="*/ 996043 w 2890157"/>
              <a:gd name="connsiteY0" fmla="*/ 0 h 1910443"/>
              <a:gd name="connsiteX1" fmla="*/ 0 w 2890157"/>
              <a:gd name="connsiteY1" fmla="*/ 881743 h 1910443"/>
              <a:gd name="connsiteX2" fmla="*/ 1959428 w 2890157"/>
              <a:gd name="connsiteY2" fmla="*/ 1910443 h 1910443"/>
              <a:gd name="connsiteX3" fmla="*/ 2890157 w 2890157"/>
              <a:gd name="connsiteY3" fmla="*/ 1061357 h 1910443"/>
              <a:gd name="connsiteX4" fmla="*/ 996043 w 2890157"/>
              <a:gd name="connsiteY4" fmla="*/ 0 h 1910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157" h="1910443">
                <a:moveTo>
                  <a:pt x="996043" y="0"/>
                </a:moveTo>
                <a:lnTo>
                  <a:pt x="0" y="881743"/>
                </a:lnTo>
                <a:lnTo>
                  <a:pt x="1959428" y="1910443"/>
                </a:lnTo>
                <a:lnTo>
                  <a:pt x="2890157" y="1061357"/>
                </a:lnTo>
                <a:lnTo>
                  <a:pt x="996043" y="0"/>
                </a:lnTo>
                <a:close/>
              </a:path>
            </a:pathLst>
          </a:custGeom>
          <a:solidFill>
            <a:schemeClr val="accent4">
              <a:lumMod val="50000"/>
              <a:alpha val="54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E26F3B4-9DA8-7245-8E6E-F1D070C26EBA}"/>
              </a:ext>
            </a:extLst>
          </p:cNvPr>
          <p:cNvSpPr txBox="1"/>
          <p:nvPr/>
        </p:nvSpPr>
        <p:spPr>
          <a:xfrm>
            <a:off x="1155370" y="136525"/>
            <a:ext cx="988125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Normal (steady and uniform) flow</a:t>
            </a:r>
          </a:p>
        </p:txBody>
      </p:sp>
      <p:sp>
        <p:nvSpPr>
          <p:cNvPr id="14" name="TextBox 13">
            <a:extLst>
              <a:ext uri="{FF2B5EF4-FFF2-40B4-BE49-F238E27FC236}">
                <a16:creationId xmlns:a16="http://schemas.microsoft.com/office/drawing/2014/main" id="{13F5AF24-5B67-BD47-A366-843EDE64C288}"/>
              </a:ext>
            </a:extLst>
          </p:cNvPr>
          <p:cNvSpPr txBox="1"/>
          <p:nvPr/>
        </p:nvSpPr>
        <p:spPr>
          <a:xfrm>
            <a:off x="378030" y="825868"/>
            <a:ext cx="11435937" cy="923330"/>
          </a:xfrm>
          <a:prstGeom prst="rect">
            <a:avLst/>
          </a:prstGeom>
          <a:noFill/>
        </p:spPr>
        <p:txBody>
          <a:bodyPr wrap="square" rtlCol="0">
            <a:spAutoFit/>
          </a:bodyPr>
          <a:lstStyle/>
          <a:p>
            <a:r>
              <a:rPr lang="en-US">
                <a:latin typeface="Arial" panose="020B0604020202020204" pitchFamily="34" charset="0"/>
                <a:cs typeface="Arial" panose="020B0604020202020204" pitchFamily="34" charset="0"/>
              </a:rPr>
              <a:t>Normal flow refers to an equilibrium state in which the downstream pull of gravity is perfectly balanced by the resistive bed force. </a:t>
            </a:r>
          </a:p>
          <a:p>
            <a:r>
              <a:rPr lang="en-US">
                <a:latin typeface="Arial" panose="020B0604020202020204" pitchFamily="34" charset="0"/>
                <a:cs typeface="Arial" panose="020B0604020202020204" pitchFamily="34" charset="0"/>
              </a:rPr>
              <a:t>The resulting flow is constant in time and does not vary in the streamwise (or flow) direction x. </a:t>
            </a:r>
            <a:endParaRPr lang="en-US" dirty="0">
              <a:latin typeface="Arial" panose="020B0604020202020204" pitchFamily="34" charset="0"/>
              <a:cs typeface="Arial" panose="020B0604020202020204" pitchFamily="34" charset="0"/>
            </a:endParaRPr>
          </a:p>
        </p:txBody>
      </p:sp>
      <p:cxnSp>
        <p:nvCxnSpPr>
          <p:cNvPr id="21" name="Straight Connector 20">
            <a:extLst>
              <a:ext uri="{FF2B5EF4-FFF2-40B4-BE49-F238E27FC236}">
                <a16:creationId xmlns:a16="http://schemas.microsoft.com/office/drawing/2014/main" id="{3CD28224-B631-2F48-99E4-92473D86ED56}"/>
              </a:ext>
            </a:extLst>
          </p:cNvPr>
          <p:cNvCxnSpPr>
            <a:cxnSpLocks/>
          </p:cNvCxnSpPr>
          <p:nvPr/>
        </p:nvCxnSpPr>
        <p:spPr>
          <a:xfrm>
            <a:off x="8033236" y="3692191"/>
            <a:ext cx="1948964" cy="1028927"/>
          </a:xfrm>
          <a:prstGeom prst="line">
            <a:avLst/>
          </a:prstGeom>
          <a:ln w="317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AB49106-A922-F849-B26A-9837B7101F8E}"/>
              </a:ext>
            </a:extLst>
          </p:cNvPr>
          <p:cNvCxnSpPr>
            <a:cxnSpLocks/>
          </p:cNvCxnSpPr>
          <p:nvPr/>
        </p:nvCxnSpPr>
        <p:spPr>
          <a:xfrm flipV="1">
            <a:off x="9982200" y="3833688"/>
            <a:ext cx="1008184" cy="887431"/>
          </a:xfrm>
          <a:prstGeom prst="line">
            <a:avLst/>
          </a:prstGeom>
          <a:ln w="317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518899-DBFC-974B-B968-3E41E62B50B2}"/>
              </a:ext>
            </a:extLst>
          </p:cNvPr>
          <p:cNvCxnSpPr>
            <a:cxnSpLocks/>
          </p:cNvCxnSpPr>
          <p:nvPr/>
        </p:nvCxnSpPr>
        <p:spPr>
          <a:xfrm flipH="1">
            <a:off x="8661108" y="4458081"/>
            <a:ext cx="7922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0B3B184-B457-CD4B-9C57-684DC6B26848}"/>
              </a:ext>
            </a:extLst>
          </p:cNvPr>
          <p:cNvCxnSpPr>
            <a:cxnSpLocks/>
          </p:cNvCxnSpPr>
          <p:nvPr/>
        </p:nvCxnSpPr>
        <p:spPr>
          <a:xfrm>
            <a:off x="9041420" y="2804761"/>
            <a:ext cx="1948964" cy="1028927"/>
          </a:xfrm>
          <a:prstGeom prst="line">
            <a:avLst/>
          </a:prstGeom>
          <a:ln w="31750">
            <a:solidFill>
              <a:schemeClr val="accent4">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E6249D3-FE44-244F-8874-469C3E12628D}"/>
              </a:ext>
            </a:extLst>
          </p:cNvPr>
          <p:cNvCxnSpPr>
            <a:cxnSpLocks/>
          </p:cNvCxnSpPr>
          <p:nvPr/>
        </p:nvCxnSpPr>
        <p:spPr>
          <a:xfrm flipV="1">
            <a:off x="8033236" y="2814738"/>
            <a:ext cx="1008184" cy="887431"/>
          </a:xfrm>
          <a:prstGeom prst="line">
            <a:avLst/>
          </a:prstGeom>
          <a:ln w="31750">
            <a:solidFill>
              <a:schemeClr val="accent4">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45A48D4-8DE5-6041-AEE6-33A58E38591C}"/>
              </a:ext>
            </a:extLst>
          </p:cNvPr>
          <p:cNvCxnSpPr/>
          <p:nvPr/>
        </p:nvCxnSpPr>
        <p:spPr>
          <a:xfrm flipV="1">
            <a:off x="8033236" y="3389973"/>
            <a:ext cx="0" cy="302217"/>
          </a:xfrm>
          <a:prstGeom prst="line">
            <a:avLst/>
          </a:prstGeom>
          <a:ln w="317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EF2A486-BCCF-2D45-926A-DAADF979B1BB}"/>
              </a:ext>
            </a:extLst>
          </p:cNvPr>
          <p:cNvCxnSpPr/>
          <p:nvPr/>
        </p:nvCxnSpPr>
        <p:spPr>
          <a:xfrm flipV="1">
            <a:off x="9041420" y="2502544"/>
            <a:ext cx="0" cy="302217"/>
          </a:xfrm>
          <a:prstGeom prst="line">
            <a:avLst/>
          </a:prstGeom>
          <a:ln w="31750">
            <a:solidFill>
              <a:schemeClr val="accent4">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A1F5FC4-AD62-CF41-9E20-0A4F9FBADDE4}"/>
              </a:ext>
            </a:extLst>
          </p:cNvPr>
          <p:cNvCxnSpPr/>
          <p:nvPr/>
        </p:nvCxnSpPr>
        <p:spPr>
          <a:xfrm flipV="1">
            <a:off x="9983175" y="4418901"/>
            <a:ext cx="0" cy="302217"/>
          </a:xfrm>
          <a:prstGeom prst="line">
            <a:avLst/>
          </a:prstGeom>
          <a:ln w="317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30F1368-72BA-2448-9CAE-155975146BA2}"/>
              </a:ext>
            </a:extLst>
          </p:cNvPr>
          <p:cNvCxnSpPr/>
          <p:nvPr/>
        </p:nvCxnSpPr>
        <p:spPr>
          <a:xfrm flipV="1">
            <a:off x="10990384" y="3541081"/>
            <a:ext cx="0" cy="302217"/>
          </a:xfrm>
          <a:prstGeom prst="line">
            <a:avLst/>
          </a:prstGeom>
          <a:ln w="317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EB959FA-FC29-C14D-A513-AA671CF6EF87}"/>
              </a:ext>
            </a:extLst>
          </p:cNvPr>
          <p:cNvCxnSpPr>
            <a:cxnSpLocks/>
          </p:cNvCxnSpPr>
          <p:nvPr/>
        </p:nvCxnSpPr>
        <p:spPr>
          <a:xfrm>
            <a:off x="9041419" y="2512153"/>
            <a:ext cx="1948964" cy="102892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8AD837B-9C39-E843-AA2D-EC59B7CC9303}"/>
              </a:ext>
            </a:extLst>
          </p:cNvPr>
          <p:cNvCxnSpPr>
            <a:cxnSpLocks/>
          </p:cNvCxnSpPr>
          <p:nvPr/>
        </p:nvCxnSpPr>
        <p:spPr>
          <a:xfrm>
            <a:off x="8033235" y="3384984"/>
            <a:ext cx="1948964" cy="102892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1D905140-1390-2245-8076-245832CD59D7}"/>
              </a:ext>
            </a:extLst>
          </p:cNvPr>
          <p:cNvCxnSpPr>
            <a:cxnSpLocks/>
          </p:cNvCxnSpPr>
          <p:nvPr/>
        </p:nvCxnSpPr>
        <p:spPr>
          <a:xfrm flipV="1">
            <a:off x="9982198" y="3541080"/>
            <a:ext cx="1008184" cy="887431"/>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D0A59B9-8911-0C4F-BA4C-A91CDBE79877}"/>
              </a:ext>
            </a:extLst>
          </p:cNvPr>
          <p:cNvCxnSpPr>
            <a:cxnSpLocks/>
          </p:cNvCxnSpPr>
          <p:nvPr/>
        </p:nvCxnSpPr>
        <p:spPr>
          <a:xfrm flipV="1">
            <a:off x="8033234" y="2524626"/>
            <a:ext cx="1008184" cy="887431"/>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FF7D386-B758-094A-9569-A9A5DDA40BCA}"/>
              </a:ext>
            </a:extLst>
          </p:cNvPr>
          <p:cNvCxnSpPr>
            <a:cxnSpLocks/>
          </p:cNvCxnSpPr>
          <p:nvPr/>
        </p:nvCxnSpPr>
        <p:spPr>
          <a:xfrm>
            <a:off x="7484315" y="3963596"/>
            <a:ext cx="2496908" cy="1303301"/>
          </a:xfrm>
          <a:prstGeom prst="line">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5" name="Arc 44">
            <a:extLst>
              <a:ext uri="{FF2B5EF4-FFF2-40B4-BE49-F238E27FC236}">
                <a16:creationId xmlns:a16="http://schemas.microsoft.com/office/drawing/2014/main" id="{CF1D6932-F34F-354B-8791-0C7FDE01B21C}"/>
              </a:ext>
            </a:extLst>
          </p:cNvPr>
          <p:cNvSpPr/>
          <p:nvPr/>
        </p:nvSpPr>
        <p:spPr>
          <a:xfrm rot="16368810">
            <a:off x="8928277" y="3998415"/>
            <a:ext cx="829756" cy="863987"/>
          </a:xfrm>
          <a:prstGeom prst="arc">
            <a:avLst>
              <a:gd name="adj1" fmla="val 15769630"/>
              <a:gd name="adj2" fmla="val 18021566"/>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TextBox 45">
            <a:extLst>
              <a:ext uri="{FF2B5EF4-FFF2-40B4-BE49-F238E27FC236}">
                <a16:creationId xmlns:a16="http://schemas.microsoft.com/office/drawing/2014/main" id="{160863F2-57F7-7849-9145-D978BB28EDE6}"/>
              </a:ext>
            </a:extLst>
          </p:cNvPr>
          <p:cNvSpPr txBox="1"/>
          <p:nvPr/>
        </p:nvSpPr>
        <p:spPr>
          <a:xfrm>
            <a:off x="8661108" y="4117794"/>
            <a:ext cx="312906" cy="369332"/>
          </a:xfrm>
          <a:prstGeom prst="rect">
            <a:avLst/>
          </a:prstGeom>
          <a:noFill/>
        </p:spPr>
        <p:txBody>
          <a:bodyPr wrap="none" rtlCol="0">
            <a:spAutoFit/>
          </a:bodyPr>
          <a:lstStyle/>
          <a:p>
            <a:pPr algn="l"/>
            <a:r>
              <a:rPr lang="en-US" dirty="0">
                <a:latin typeface="Symbol" pitchFamily="2" charset="2"/>
                <a:cs typeface="Arial" panose="020B0604020202020204" pitchFamily="34" charset="0"/>
              </a:rPr>
              <a:t>q</a:t>
            </a:r>
          </a:p>
        </p:txBody>
      </p:sp>
      <p:sp>
        <p:nvSpPr>
          <p:cNvPr id="48" name="TextBox 47">
            <a:extLst>
              <a:ext uri="{FF2B5EF4-FFF2-40B4-BE49-F238E27FC236}">
                <a16:creationId xmlns:a16="http://schemas.microsoft.com/office/drawing/2014/main" id="{56D352EA-E2B1-394C-800C-DF75B7EC89D4}"/>
              </a:ext>
            </a:extLst>
          </p:cNvPr>
          <p:cNvSpPr txBox="1"/>
          <p:nvPr/>
        </p:nvSpPr>
        <p:spPr>
          <a:xfrm>
            <a:off x="9531588" y="5147782"/>
            <a:ext cx="300082" cy="369332"/>
          </a:xfrm>
          <a:prstGeom prst="rect">
            <a:avLst/>
          </a:prstGeom>
          <a:noFill/>
        </p:spPr>
        <p:txBody>
          <a:bodyPr wrap="none" rtlCol="0">
            <a:spAutoFit/>
          </a:bodyPr>
          <a:lstStyle/>
          <a:p>
            <a:pPr algn="l"/>
            <a:r>
              <a:rPr lang="en-US" dirty="0">
                <a:latin typeface="Arial" panose="020B0604020202020204" pitchFamily="34" charset="0"/>
                <a:cs typeface="Arial" panose="020B0604020202020204" pitchFamily="34" charset="0"/>
              </a:rPr>
              <a:t>x</a:t>
            </a:r>
          </a:p>
        </p:txBody>
      </p:sp>
      <p:cxnSp>
        <p:nvCxnSpPr>
          <p:cNvPr id="56" name="Straight Connector 55">
            <a:extLst>
              <a:ext uri="{FF2B5EF4-FFF2-40B4-BE49-F238E27FC236}">
                <a16:creationId xmlns:a16="http://schemas.microsoft.com/office/drawing/2014/main" id="{612D0B01-7994-764B-B6C9-59934E333062}"/>
              </a:ext>
            </a:extLst>
          </p:cNvPr>
          <p:cNvCxnSpPr>
            <a:cxnSpLocks/>
          </p:cNvCxnSpPr>
          <p:nvPr/>
        </p:nvCxnSpPr>
        <p:spPr>
          <a:xfrm>
            <a:off x="9092058" y="2289492"/>
            <a:ext cx="1948964" cy="1028927"/>
          </a:xfrm>
          <a:prstGeom prst="line">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EB7A0A5-DBE6-A24B-8FB4-95394D4EC756}"/>
              </a:ext>
            </a:extLst>
          </p:cNvPr>
          <p:cNvCxnSpPr>
            <a:cxnSpLocks/>
          </p:cNvCxnSpPr>
          <p:nvPr/>
        </p:nvCxnSpPr>
        <p:spPr>
          <a:xfrm flipV="1">
            <a:off x="10134600" y="3986088"/>
            <a:ext cx="1008184" cy="887431"/>
          </a:xfrm>
          <a:prstGeom prst="line">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AAB01418-E1C7-3146-B049-7DDCF637AB21}"/>
              </a:ext>
            </a:extLst>
          </p:cNvPr>
          <p:cNvCxnSpPr/>
          <p:nvPr/>
        </p:nvCxnSpPr>
        <p:spPr>
          <a:xfrm flipV="1">
            <a:off x="10162789" y="4262802"/>
            <a:ext cx="0" cy="302217"/>
          </a:xfrm>
          <a:prstGeom prst="line">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3116FAA5-84F2-534C-8F69-8963D99186FF}"/>
              </a:ext>
            </a:extLst>
          </p:cNvPr>
          <p:cNvSpPr txBox="1"/>
          <p:nvPr/>
        </p:nvSpPr>
        <p:spPr>
          <a:xfrm>
            <a:off x="10560326" y="4373982"/>
            <a:ext cx="338554" cy="369332"/>
          </a:xfrm>
          <a:prstGeom prst="rect">
            <a:avLst/>
          </a:prstGeom>
          <a:noFill/>
        </p:spPr>
        <p:txBody>
          <a:bodyPr wrap="none" rtlCol="0">
            <a:spAutoFit/>
          </a:bodyPr>
          <a:lstStyle/>
          <a:p>
            <a:pPr algn="l"/>
            <a:r>
              <a:rPr lang="en-US" dirty="0">
                <a:latin typeface="Arial" panose="020B0604020202020204" pitchFamily="34" charset="0"/>
                <a:cs typeface="Arial" panose="020B0604020202020204" pitchFamily="34" charset="0"/>
              </a:rPr>
              <a:t>B</a:t>
            </a:r>
          </a:p>
        </p:txBody>
      </p:sp>
      <p:sp>
        <p:nvSpPr>
          <p:cNvPr id="60" name="TextBox 59">
            <a:extLst>
              <a:ext uri="{FF2B5EF4-FFF2-40B4-BE49-F238E27FC236}">
                <a16:creationId xmlns:a16="http://schemas.microsoft.com/office/drawing/2014/main" id="{96867F62-B62A-AB4D-9EAD-2FD514E24B04}"/>
              </a:ext>
            </a:extLst>
          </p:cNvPr>
          <p:cNvSpPr txBox="1"/>
          <p:nvPr/>
        </p:nvSpPr>
        <p:spPr>
          <a:xfrm>
            <a:off x="10151158" y="4127433"/>
            <a:ext cx="351378" cy="369332"/>
          </a:xfrm>
          <a:prstGeom prst="rect">
            <a:avLst/>
          </a:prstGeom>
          <a:noFill/>
        </p:spPr>
        <p:txBody>
          <a:bodyPr wrap="none" rtlCol="0">
            <a:spAutoFit/>
          </a:bodyPr>
          <a:lstStyle/>
          <a:p>
            <a:pPr algn="l"/>
            <a:r>
              <a:rPr lang="en-US" dirty="0">
                <a:latin typeface="Arial" panose="020B0604020202020204" pitchFamily="34" charset="0"/>
                <a:cs typeface="Arial" panose="020B0604020202020204" pitchFamily="34" charset="0"/>
              </a:rPr>
              <a:t>H</a:t>
            </a:r>
          </a:p>
        </p:txBody>
      </p:sp>
      <p:sp>
        <p:nvSpPr>
          <p:cNvPr id="61" name="TextBox 60">
            <a:extLst>
              <a:ext uri="{FF2B5EF4-FFF2-40B4-BE49-F238E27FC236}">
                <a16:creationId xmlns:a16="http://schemas.microsoft.com/office/drawing/2014/main" id="{01DC72D8-B65C-2141-AB96-5F7F457292D4}"/>
              </a:ext>
            </a:extLst>
          </p:cNvPr>
          <p:cNvSpPr txBox="1"/>
          <p:nvPr/>
        </p:nvSpPr>
        <p:spPr>
          <a:xfrm>
            <a:off x="10055955" y="2367745"/>
            <a:ext cx="441146" cy="369332"/>
          </a:xfrm>
          <a:prstGeom prst="rect">
            <a:avLst/>
          </a:prstGeom>
          <a:noFill/>
        </p:spPr>
        <p:txBody>
          <a:bodyPr wrap="none" rtlCol="0">
            <a:spAutoFit/>
          </a:bodyPr>
          <a:lstStyle/>
          <a:p>
            <a:pPr algn="l"/>
            <a:r>
              <a:rPr lang="en-US" dirty="0">
                <a:latin typeface="Symbol" pitchFamily="2" charset="2"/>
                <a:cs typeface="Arial" panose="020B0604020202020204" pitchFamily="34" charset="0"/>
              </a:rPr>
              <a:t>D</a:t>
            </a:r>
            <a:r>
              <a:rPr lang="en-US" dirty="0">
                <a:latin typeface="Arial" panose="020B0604020202020204" pitchFamily="34" charset="0"/>
                <a:cs typeface="Arial" panose="020B0604020202020204" pitchFamily="34" charset="0"/>
              </a:rPr>
              <a:t>x</a:t>
            </a:r>
          </a:p>
        </p:txBody>
      </p:sp>
      <p:sp>
        <p:nvSpPr>
          <p:cNvPr id="66" name="TextBox 65">
            <a:extLst>
              <a:ext uri="{FF2B5EF4-FFF2-40B4-BE49-F238E27FC236}">
                <a16:creationId xmlns:a16="http://schemas.microsoft.com/office/drawing/2014/main" id="{030FEBAA-AE9C-5340-BA5D-BD6524B402D5}"/>
              </a:ext>
            </a:extLst>
          </p:cNvPr>
          <p:cNvSpPr txBox="1"/>
          <p:nvPr/>
        </p:nvSpPr>
        <p:spPr>
          <a:xfrm>
            <a:off x="378030" y="2013093"/>
            <a:ext cx="3857146" cy="400110"/>
          </a:xfrm>
          <a:prstGeom prst="rect">
            <a:avLst/>
          </a:prstGeom>
          <a:noFill/>
        </p:spPr>
        <p:txBody>
          <a:bodyPr wrap="none" rtlCol="0">
            <a:spAutoFit/>
          </a:bodyPr>
          <a:lstStyle/>
          <a:p>
            <a:pPr algn="l"/>
            <a:r>
              <a:rPr lang="en-US" dirty="0">
                <a:latin typeface="Arial" panose="020B0604020202020204" pitchFamily="34" charset="0"/>
                <a:cs typeface="Arial" panose="020B0604020202020204" pitchFamily="34" charset="0"/>
              </a:rPr>
              <a:t>In rivers </a:t>
            </a:r>
            <a:r>
              <a:rPr lang="en-US" sz="2000" dirty="0">
                <a:latin typeface="Symbol" pitchFamily="2" charset="2"/>
                <a:cs typeface="Arial" panose="020B0604020202020204" pitchFamily="34" charset="0"/>
              </a:rPr>
              <a:t>q</a:t>
            </a:r>
            <a:r>
              <a:rPr lang="en-US" dirty="0">
                <a:latin typeface="Arial" panose="020B0604020202020204" pitchFamily="34" charset="0"/>
                <a:cs typeface="Arial" panose="020B0604020202020204" pitchFamily="34" charset="0"/>
              </a:rPr>
              <a:t> is generally small so that </a:t>
            </a: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9D92C9F5-995D-FD44-91FB-03B47A2B6FEC}"/>
                  </a:ext>
                </a:extLst>
              </p:cNvPr>
              <p:cNvSpPr txBox="1"/>
              <p:nvPr/>
            </p:nvSpPr>
            <p:spPr>
              <a:xfrm>
                <a:off x="4591643" y="2074648"/>
                <a:ext cx="2956643" cy="276999"/>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𝑠𝑖𝑛</m:t>
                      </m:r>
                      <m:r>
                        <a:rPr lang="en-US" b="0" i="1" smtClean="0">
                          <a:latin typeface="Cambria Math" panose="02040503050406030204" pitchFamily="18" charset="0"/>
                          <a:ea typeface="Cambria Math" panose="02040503050406030204" pitchFamily="18" charset="0"/>
                          <a:cs typeface="Arial" panose="020B0604020202020204" pitchFamily="34" charset="0"/>
                        </a:rPr>
                        <m:t>𝜃</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𝑡𝑎𝑛</m:t>
                      </m:r>
                      <m:r>
                        <a:rPr lang="en-US" b="0" i="1" smtClean="0">
                          <a:latin typeface="Cambria Math" panose="02040503050406030204" pitchFamily="18" charset="0"/>
                          <a:ea typeface="Cambria Math" panose="02040503050406030204" pitchFamily="18" charset="0"/>
                          <a:cs typeface="Arial" panose="020B0604020202020204" pitchFamily="34" charset="0"/>
                        </a:rPr>
                        <m:t>𝜃</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𝑆</m:t>
                      </m:r>
                      <m:r>
                        <a:rPr lang="en-US" b="0" i="1" smtClean="0">
                          <a:latin typeface="Cambria Math" panose="02040503050406030204" pitchFamily="18" charset="0"/>
                          <a:ea typeface="Cambria Math" panose="02040503050406030204" pitchFamily="18" charset="0"/>
                          <a:cs typeface="Arial" panose="020B0604020202020204" pitchFamily="34" charset="0"/>
                        </a:rPr>
                        <m:t> </m:t>
                      </m:r>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r>
                            <a:rPr lang="en-US" b="0" i="1" smtClean="0">
                              <a:latin typeface="Cambria Math" panose="02040503050406030204" pitchFamily="18" charset="0"/>
                              <a:ea typeface="Cambria Math" panose="02040503050406030204" pitchFamily="18" charset="0"/>
                              <a:cs typeface="Arial" panose="020B0604020202020204" pitchFamily="34" charset="0"/>
                            </a:rPr>
                            <m:t>𝑏𝑒𝑑</m:t>
                          </m:r>
                          <m:r>
                            <a:rPr lang="en-US" b="0" i="1" smtClean="0">
                              <a:latin typeface="Cambria Math" panose="02040503050406030204" pitchFamily="18" charset="0"/>
                              <a:ea typeface="Cambria Math" panose="02040503050406030204" pitchFamily="18" charset="0"/>
                              <a:cs typeface="Arial" panose="020B0604020202020204" pitchFamily="34" charset="0"/>
                            </a:rPr>
                            <m:t> </m:t>
                          </m:r>
                          <m:r>
                            <a:rPr lang="en-US" b="0" i="1" smtClean="0">
                              <a:latin typeface="Cambria Math" panose="02040503050406030204" pitchFamily="18" charset="0"/>
                              <a:ea typeface="Cambria Math" panose="02040503050406030204" pitchFamily="18" charset="0"/>
                              <a:cs typeface="Arial" panose="020B0604020202020204" pitchFamily="34" charset="0"/>
                            </a:rPr>
                            <m:t>𝑠𝑙𝑜𝑝𝑒</m:t>
                          </m:r>
                        </m:e>
                      </m:d>
                    </m:oMath>
                  </m:oMathPara>
                </a14:m>
                <a:endParaRPr lang="en-US" b="0" dirty="0">
                  <a:latin typeface="Arial" panose="020B0604020202020204" pitchFamily="34" charset="0"/>
                  <a:ea typeface="Cambria Math" panose="02040503050406030204" pitchFamily="18" charset="0"/>
                  <a:cs typeface="Arial" panose="020B0604020202020204" pitchFamily="34" charset="0"/>
                </a:endParaRPr>
              </a:p>
            </p:txBody>
          </p:sp>
        </mc:Choice>
        <mc:Fallback xmlns="">
          <p:sp>
            <p:nvSpPr>
              <p:cNvPr id="67" name="TextBox 66">
                <a:extLst>
                  <a:ext uri="{FF2B5EF4-FFF2-40B4-BE49-F238E27FC236}">
                    <a16:creationId xmlns:a16="http://schemas.microsoft.com/office/drawing/2014/main" id="{9D92C9F5-995D-FD44-91FB-03B47A2B6FEC}"/>
                  </a:ext>
                </a:extLst>
              </p:cNvPr>
              <p:cNvSpPr txBox="1">
                <a:spLocks noRot="1" noChangeAspect="1" noMove="1" noResize="1" noEditPoints="1" noAdjustHandles="1" noChangeArrowheads="1" noChangeShapeType="1" noTextEdit="1"/>
              </p:cNvSpPr>
              <p:nvPr/>
            </p:nvSpPr>
            <p:spPr>
              <a:xfrm>
                <a:off x="4591643" y="2074648"/>
                <a:ext cx="2956643" cy="276999"/>
              </a:xfrm>
              <a:prstGeom prst="rect">
                <a:avLst/>
              </a:prstGeom>
              <a:blipFill>
                <a:blip r:embed="rId3"/>
                <a:stretch>
                  <a:fillRect l="-855" t="-4348" b="-391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E0AEC2F5-322F-1546-A5CA-20D30E493BD3}"/>
                  </a:ext>
                </a:extLst>
              </p:cNvPr>
              <p:cNvSpPr txBox="1"/>
              <p:nvPr/>
            </p:nvSpPr>
            <p:spPr>
              <a:xfrm>
                <a:off x="4617676" y="2474574"/>
                <a:ext cx="873637" cy="276999"/>
              </a:xfrm>
              <a:prstGeom prst="rect">
                <a:avLst/>
              </a:prstGeom>
              <a:noFill/>
            </p:spPr>
            <p:txBody>
              <a:bodyPr wrap="none" lIns="0" tIns="0" rIns="0" bIns="0" rtlCol="0">
                <a:spAutoFit/>
              </a:bodyPr>
              <a:lstStyle/>
              <a:p>
                <a:pPr algn="l"/>
                <a:r>
                  <a:rPr lang="en-US" b="0" dirty="0">
                    <a:ea typeface="Cambria Math" panose="02040503050406030204" pitchFamily="18" charset="0"/>
                    <a:cs typeface="Arial" panose="020B0604020202020204" pitchFamily="34" charset="0"/>
                  </a:rPr>
                  <a:t>cos</a:t>
                </a:r>
                <a14:m>
                  <m:oMath xmlns:m="http://schemas.openxmlformats.org/officeDocument/2006/math">
                    <m:r>
                      <a:rPr lang="en-US" b="0" i="1" smtClean="0">
                        <a:latin typeface="Cambria Math" panose="02040503050406030204" pitchFamily="18" charset="0"/>
                        <a:ea typeface="Cambria Math" panose="02040503050406030204" pitchFamily="18" charset="0"/>
                        <a:cs typeface="Arial" panose="020B0604020202020204" pitchFamily="34" charset="0"/>
                      </a:rPr>
                      <m:t>𝜃</m:t>
                    </m:r>
                    <m:r>
                      <a:rPr lang="en-US" b="0" i="1" smtClean="0">
                        <a:latin typeface="Cambria Math" panose="02040503050406030204" pitchFamily="18" charset="0"/>
                        <a:ea typeface="Cambria Math" panose="02040503050406030204" pitchFamily="18" charset="0"/>
                        <a:cs typeface="Arial" panose="020B0604020202020204" pitchFamily="34" charset="0"/>
                      </a:rPr>
                      <m:t>≅1</m:t>
                    </m:r>
                  </m:oMath>
                </a14:m>
                <a:endParaRPr lang="en-US" b="0" dirty="0">
                  <a:latin typeface="Arial" panose="020B0604020202020204" pitchFamily="34" charset="0"/>
                  <a:ea typeface="Cambria Math" panose="02040503050406030204" pitchFamily="18" charset="0"/>
                  <a:cs typeface="Arial" panose="020B0604020202020204" pitchFamily="34" charset="0"/>
                </a:endParaRPr>
              </a:p>
            </p:txBody>
          </p:sp>
        </mc:Choice>
        <mc:Fallback xmlns="">
          <p:sp>
            <p:nvSpPr>
              <p:cNvPr id="68" name="TextBox 67">
                <a:extLst>
                  <a:ext uri="{FF2B5EF4-FFF2-40B4-BE49-F238E27FC236}">
                    <a16:creationId xmlns:a16="http://schemas.microsoft.com/office/drawing/2014/main" id="{E0AEC2F5-322F-1546-A5CA-20D30E493BD3}"/>
                  </a:ext>
                </a:extLst>
              </p:cNvPr>
              <p:cNvSpPr txBox="1">
                <a:spLocks noRot="1" noChangeAspect="1" noMove="1" noResize="1" noEditPoints="1" noAdjustHandles="1" noChangeArrowheads="1" noChangeShapeType="1" noTextEdit="1"/>
              </p:cNvSpPr>
              <p:nvPr/>
            </p:nvSpPr>
            <p:spPr>
              <a:xfrm>
                <a:off x="4617676" y="2474574"/>
                <a:ext cx="873637" cy="276999"/>
              </a:xfrm>
              <a:prstGeom prst="rect">
                <a:avLst/>
              </a:prstGeom>
              <a:blipFill>
                <a:blip r:embed="rId4"/>
                <a:stretch>
                  <a:fillRect l="-15714" t="-21739" r="-7143" b="-52174"/>
                </a:stretch>
              </a:blipFill>
            </p:spPr>
            <p:txBody>
              <a:bodyPr/>
              <a:lstStyle/>
              <a:p>
                <a:r>
                  <a:rPr lang="en-US">
                    <a:noFill/>
                  </a:rPr>
                  <a:t> </a:t>
                </a:r>
              </a:p>
            </p:txBody>
          </p:sp>
        </mc:Fallback>
      </mc:AlternateContent>
      <p:cxnSp>
        <p:nvCxnSpPr>
          <p:cNvPr id="3" name="Straight Arrow Connector 2">
            <a:extLst>
              <a:ext uri="{FF2B5EF4-FFF2-40B4-BE49-F238E27FC236}">
                <a16:creationId xmlns:a16="http://schemas.microsoft.com/office/drawing/2014/main" id="{F97A1F6A-F364-0645-9678-B5D1B300444E}"/>
              </a:ext>
            </a:extLst>
          </p:cNvPr>
          <p:cNvCxnSpPr/>
          <p:nvPr/>
        </p:nvCxnSpPr>
        <p:spPr>
          <a:xfrm>
            <a:off x="10442567" y="4053790"/>
            <a:ext cx="793474" cy="447225"/>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6CBF7D12-2BAC-2145-BD47-9AB5BB7E7785}"/>
              </a:ext>
            </a:extLst>
          </p:cNvPr>
          <p:cNvCxnSpPr>
            <a:cxnSpLocks/>
          </p:cNvCxnSpPr>
          <p:nvPr/>
        </p:nvCxnSpPr>
        <p:spPr>
          <a:xfrm flipH="1" flipV="1">
            <a:off x="8049985" y="2737077"/>
            <a:ext cx="818204" cy="506403"/>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766B5DCB-5D77-D341-8AFF-41052947B667}"/>
              </a:ext>
            </a:extLst>
          </p:cNvPr>
          <p:cNvSpPr txBox="1"/>
          <p:nvPr/>
        </p:nvSpPr>
        <p:spPr>
          <a:xfrm>
            <a:off x="342267" y="2894135"/>
            <a:ext cx="6613703"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Downstream impelling force </a:t>
            </a:r>
          </a:p>
          <a:p>
            <a:pPr algn="l">
              <a:lnSpc>
                <a:spcPct val="114000"/>
              </a:lnSpc>
            </a:pPr>
            <a:r>
              <a:rPr lang="en-US" dirty="0">
                <a:latin typeface="Arial" panose="020B0604020202020204" pitchFamily="34" charset="0"/>
                <a:cs typeface="Arial" panose="020B0604020202020204" pitchFamily="34" charset="0"/>
              </a:rPr>
              <a:t>(component of the weight of water in the x direction)</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8EA223B-7CAD-D247-AC78-2BF62560551E}"/>
                  </a:ext>
                </a:extLst>
              </p:cNvPr>
              <p:cNvSpPr txBox="1"/>
              <p:nvPr/>
            </p:nvSpPr>
            <p:spPr>
              <a:xfrm>
                <a:off x="3368918" y="2903540"/>
                <a:ext cx="1048364" cy="276999"/>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𝑔𝐵𝐻</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𝑥𝑆</m:t>
                      </m:r>
                    </m:oMath>
                  </m:oMathPara>
                </a14:m>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F8EA223B-7CAD-D247-AC78-2BF62560551E}"/>
                  </a:ext>
                </a:extLst>
              </p:cNvPr>
              <p:cNvSpPr txBox="1">
                <a:spLocks noRot="1" noChangeAspect="1" noMove="1" noResize="1" noEditPoints="1" noAdjustHandles="1" noChangeArrowheads="1" noChangeShapeType="1" noTextEdit="1"/>
              </p:cNvSpPr>
              <p:nvPr/>
            </p:nvSpPr>
            <p:spPr>
              <a:xfrm>
                <a:off x="3368918" y="2903540"/>
                <a:ext cx="1048364" cy="276999"/>
              </a:xfrm>
              <a:prstGeom prst="rect">
                <a:avLst/>
              </a:prstGeom>
              <a:blipFill>
                <a:blip r:embed="rId5"/>
                <a:stretch>
                  <a:fillRect l="-4819" r="-3614" b="-34783"/>
                </a:stretch>
              </a:blipFill>
            </p:spPr>
            <p:txBody>
              <a:bodyPr/>
              <a:lstStyle/>
              <a:p>
                <a:r>
                  <a:rPr lang="en-US">
                    <a:noFill/>
                  </a:rPr>
                  <a:t> </a:t>
                </a:r>
              </a:p>
            </p:txBody>
          </p:sp>
        </mc:Fallback>
      </mc:AlternateContent>
      <p:sp>
        <p:nvSpPr>
          <p:cNvPr id="47" name="TextBox 46">
            <a:extLst>
              <a:ext uri="{FF2B5EF4-FFF2-40B4-BE49-F238E27FC236}">
                <a16:creationId xmlns:a16="http://schemas.microsoft.com/office/drawing/2014/main" id="{55D31992-7935-D541-997C-C33BAF7AD8C3}"/>
              </a:ext>
            </a:extLst>
          </p:cNvPr>
          <p:cNvSpPr txBox="1"/>
          <p:nvPr/>
        </p:nvSpPr>
        <p:spPr>
          <a:xfrm>
            <a:off x="342267" y="3778930"/>
            <a:ext cx="2146742" cy="369332"/>
          </a:xfrm>
          <a:prstGeom prst="rect">
            <a:avLst/>
          </a:prstGeom>
          <a:noFill/>
        </p:spPr>
        <p:txBody>
          <a:bodyPr wrap="none" rtlCol="0">
            <a:spAutoFit/>
          </a:bodyPr>
          <a:lstStyle/>
          <a:p>
            <a:pPr algn="l"/>
            <a:r>
              <a:rPr lang="en-US" dirty="0">
                <a:latin typeface="Arial" panose="020B0604020202020204" pitchFamily="34" charset="0"/>
                <a:cs typeface="Arial" panose="020B0604020202020204" pitchFamily="34" charset="0"/>
              </a:rPr>
              <a:t>Resistive bed force</a:t>
            </a:r>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2FEF52CA-9324-9E47-A158-5F4C9340AEF1}"/>
                  </a:ext>
                </a:extLst>
              </p:cNvPr>
              <p:cNvSpPr txBox="1"/>
              <p:nvPr/>
            </p:nvSpPr>
            <p:spPr>
              <a:xfrm>
                <a:off x="2505758" y="3823626"/>
                <a:ext cx="711733" cy="276999"/>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ea typeface="Cambria Math" panose="02040503050406030204" pitchFamily="18" charset="0"/>
                          <a:cs typeface="Arial" panose="020B0604020202020204" pitchFamily="34" charset="0"/>
                        </a:rPr>
                        <m:t>𝐵</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oMath>
                  </m:oMathPara>
                </a14:m>
                <a:endParaRPr lang="en-US" dirty="0">
                  <a:latin typeface="Arial" panose="020B0604020202020204" pitchFamily="34" charset="0"/>
                  <a:cs typeface="Arial" panose="020B0604020202020204" pitchFamily="34" charset="0"/>
                </a:endParaRPr>
              </a:p>
            </p:txBody>
          </p:sp>
        </mc:Choice>
        <mc:Fallback xmlns="">
          <p:sp>
            <p:nvSpPr>
              <p:cNvPr id="49" name="TextBox 48">
                <a:extLst>
                  <a:ext uri="{FF2B5EF4-FFF2-40B4-BE49-F238E27FC236}">
                    <a16:creationId xmlns:a16="http://schemas.microsoft.com/office/drawing/2014/main" id="{2FEF52CA-9324-9E47-A158-5F4C9340AEF1}"/>
                  </a:ext>
                </a:extLst>
              </p:cNvPr>
              <p:cNvSpPr txBox="1">
                <a:spLocks noRot="1" noChangeAspect="1" noMove="1" noResize="1" noEditPoints="1" noAdjustHandles="1" noChangeArrowheads="1" noChangeShapeType="1" noTextEdit="1"/>
              </p:cNvSpPr>
              <p:nvPr/>
            </p:nvSpPr>
            <p:spPr>
              <a:xfrm>
                <a:off x="2505758" y="3823626"/>
                <a:ext cx="711733" cy="276999"/>
              </a:xfrm>
              <a:prstGeom prst="rect">
                <a:avLst/>
              </a:prstGeom>
              <a:blipFill>
                <a:blip r:embed="rId6"/>
                <a:stretch>
                  <a:fillRect l="-3509" r="-1754" b="-1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0D7BF9F0-658F-1D49-92CF-DA87A28F0367}"/>
                  </a:ext>
                </a:extLst>
              </p:cNvPr>
              <p:cNvSpPr txBox="1"/>
              <p:nvPr/>
            </p:nvSpPr>
            <p:spPr>
              <a:xfrm>
                <a:off x="7862609" y="2346479"/>
                <a:ext cx="711733" cy="276999"/>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ea typeface="Cambria Math" panose="02040503050406030204" pitchFamily="18" charset="0"/>
                          <a:cs typeface="Arial" panose="020B0604020202020204" pitchFamily="34" charset="0"/>
                        </a:rPr>
                        <m:t>𝐵</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oMath>
                  </m:oMathPara>
                </a14:m>
                <a:endParaRPr lang="en-US" dirty="0">
                  <a:latin typeface="Arial" panose="020B0604020202020204" pitchFamily="34" charset="0"/>
                  <a:cs typeface="Arial" panose="020B0604020202020204" pitchFamily="34" charset="0"/>
                </a:endParaRPr>
              </a:p>
            </p:txBody>
          </p:sp>
        </mc:Choice>
        <mc:Fallback xmlns="">
          <p:sp>
            <p:nvSpPr>
              <p:cNvPr id="50" name="TextBox 49">
                <a:extLst>
                  <a:ext uri="{FF2B5EF4-FFF2-40B4-BE49-F238E27FC236}">
                    <a16:creationId xmlns:a16="http://schemas.microsoft.com/office/drawing/2014/main" id="{0D7BF9F0-658F-1D49-92CF-DA87A28F0367}"/>
                  </a:ext>
                </a:extLst>
              </p:cNvPr>
              <p:cNvSpPr txBox="1">
                <a:spLocks noRot="1" noChangeAspect="1" noMove="1" noResize="1" noEditPoints="1" noAdjustHandles="1" noChangeArrowheads="1" noChangeShapeType="1" noTextEdit="1"/>
              </p:cNvSpPr>
              <p:nvPr/>
            </p:nvSpPr>
            <p:spPr>
              <a:xfrm>
                <a:off x="7862609" y="2346479"/>
                <a:ext cx="711733" cy="276999"/>
              </a:xfrm>
              <a:prstGeom prst="rect">
                <a:avLst/>
              </a:prstGeom>
              <a:blipFill>
                <a:blip r:embed="rId7"/>
                <a:stretch>
                  <a:fillRect l="-3509" r="-1754" b="-173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C16AB6BF-3450-1A47-91A1-8D6113494B12}"/>
                  </a:ext>
                </a:extLst>
              </p:cNvPr>
              <p:cNvSpPr txBox="1"/>
              <p:nvPr/>
            </p:nvSpPr>
            <p:spPr>
              <a:xfrm>
                <a:off x="11075221" y="4039570"/>
                <a:ext cx="1048364" cy="276999"/>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𝑔𝐵𝐻</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𝑥𝑆</m:t>
                      </m:r>
                    </m:oMath>
                  </m:oMathPara>
                </a14:m>
                <a:endParaRPr lang="en-US" dirty="0">
                  <a:latin typeface="Arial" panose="020B0604020202020204" pitchFamily="34" charset="0"/>
                  <a:cs typeface="Arial" panose="020B0604020202020204" pitchFamily="34" charset="0"/>
                </a:endParaRPr>
              </a:p>
            </p:txBody>
          </p:sp>
        </mc:Choice>
        <mc:Fallback xmlns="">
          <p:sp>
            <p:nvSpPr>
              <p:cNvPr id="51" name="TextBox 50">
                <a:extLst>
                  <a:ext uri="{FF2B5EF4-FFF2-40B4-BE49-F238E27FC236}">
                    <a16:creationId xmlns:a16="http://schemas.microsoft.com/office/drawing/2014/main" id="{C16AB6BF-3450-1A47-91A1-8D6113494B12}"/>
                  </a:ext>
                </a:extLst>
              </p:cNvPr>
              <p:cNvSpPr txBox="1">
                <a:spLocks noRot="1" noChangeAspect="1" noMove="1" noResize="1" noEditPoints="1" noAdjustHandles="1" noChangeArrowheads="1" noChangeShapeType="1" noTextEdit="1"/>
              </p:cNvSpPr>
              <p:nvPr/>
            </p:nvSpPr>
            <p:spPr>
              <a:xfrm>
                <a:off x="11075221" y="4039570"/>
                <a:ext cx="1048364" cy="276999"/>
              </a:xfrm>
              <a:prstGeom prst="rect">
                <a:avLst/>
              </a:prstGeom>
              <a:blipFill>
                <a:blip r:embed="rId8"/>
                <a:stretch>
                  <a:fillRect l="-4819" r="-3614" b="-40909"/>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011276FE-15C6-7443-847D-3AAD30E4361E}"/>
              </a:ext>
            </a:extLst>
          </p:cNvPr>
          <p:cNvSpPr txBox="1"/>
          <p:nvPr/>
        </p:nvSpPr>
        <p:spPr>
          <a:xfrm>
            <a:off x="363483" y="4431283"/>
            <a:ext cx="3371436" cy="369332"/>
          </a:xfrm>
          <a:prstGeom prst="rect">
            <a:avLst/>
          </a:prstGeom>
          <a:noFill/>
        </p:spPr>
        <p:txBody>
          <a:bodyPr wrap="none" rtlCol="0">
            <a:spAutoFit/>
          </a:bodyPr>
          <a:lstStyle/>
          <a:p>
            <a:pPr algn="l"/>
            <a:r>
              <a:rPr lang="en-US" dirty="0">
                <a:latin typeface="Arial" panose="020B0604020202020204" pitchFamily="34" charset="0"/>
                <a:cs typeface="Arial" panose="020B0604020202020204" pitchFamily="34" charset="0"/>
              </a:rPr>
              <a:t>Impelling force = resistive force</a:t>
            </a:r>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98804847-C0B9-1247-BC3C-08FAA6792842}"/>
                  </a:ext>
                </a:extLst>
              </p:cNvPr>
              <p:cNvSpPr txBox="1"/>
              <p:nvPr/>
            </p:nvSpPr>
            <p:spPr>
              <a:xfrm>
                <a:off x="500532" y="4945136"/>
                <a:ext cx="199734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𝑔𝐵𝐻</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𝑥𝑆</m:t>
                      </m:r>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r>
                        <a:rPr lang="en-US" i="1">
                          <a:latin typeface="Cambria Math" panose="02040503050406030204" pitchFamily="18" charset="0"/>
                          <a:ea typeface="Cambria Math" panose="02040503050406030204" pitchFamily="18" charset="0"/>
                          <a:cs typeface="Arial" panose="020B0604020202020204" pitchFamily="34" charset="0"/>
                        </a:rPr>
                        <m:t>𝐵</m:t>
                      </m:r>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oMath>
                  </m:oMathPara>
                </a14:m>
                <a:endParaRPr lang="en-US" dirty="0">
                  <a:latin typeface="Arial" panose="020B0604020202020204" pitchFamily="34" charset="0"/>
                  <a:cs typeface="Arial" panose="020B0604020202020204" pitchFamily="34" charset="0"/>
                </a:endParaRPr>
              </a:p>
            </p:txBody>
          </p:sp>
        </mc:Choice>
        <mc:Fallback xmlns="">
          <p:sp>
            <p:nvSpPr>
              <p:cNvPr id="53" name="TextBox 52">
                <a:extLst>
                  <a:ext uri="{FF2B5EF4-FFF2-40B4-BE49-F238E27FC236}">
                    <a16:creationId xmlns:a16="http://schemas.microsoft.com/office/drawing/2014/main" id="{98804847-C0B9-1247-BC3C-08FAA6792842}"/>
                  </a:ext>
                </a:extLst>
              </p:cNvPr>
              <p:cNvSpPr txBox="1">
                <a:spLocks noRot="1" noChangeAspect="1" noMove="1" noResize="1" noEditPoints="1" noAdjustHandles="1" noChangeArrowheads="1" noChangeShapeType="1" noTextEdit="1"/>
              </p:cNvSpPr>
              <p:nvPr/>
            </p:nvSpPr>
            <p:spPr>
              <a:xfrm>
                <a:off x="500532" y="4945136"/>
                <a:ext cx="1997342" cy="276999"/>
              </a:xfrm>
              <a:prstGeom prst="rect">
                <a:avLst/>
              </a:prstGeom>
              <a:blipFill>
                <a:blip r:embed="rId9"/>
                <a:stretch>
                  <a:fillRect l="-1899" r="-633" b="-34783"/>
                </a:stretch>
              </a:blipFill>
            </p:spPr>
            <p:txBody>
              <a:bodyPr/>
              <a:lstStyle/>
              <a:p>
                <a:r>
                  <a:rPr lang="en-US">
                    <a:noFill/>
                  </a:rPr>
                  <a:t> </a:t>
                </a:r>
              </a:p>
            </p:txBody>
          </p:sp>
        </mc:Fallback>
      </mc:AlternateContent>
      <p:cxnSp>
        <p:nvCxnSpPr>
          <p:cNvPr id="6" name="Straight Connector 5">
            <a:extLst>
              <a:ext uri="{FF2B5EF4-FFF2-40B4-BE49-F238E27FC236}">
                <a16:creationId xmlns:a16="http://schemas.microsoft.com/office/drawing/2014/main" id="{86D33055-DA79-D949-BE4A-383D4E61F39B}"/>
              </a:ext>
            </a:extLst>
          </p:cNvPr>
          <p:cNvCxnSpPr/>
          <p:nvPr/>
        </p:nvCxnSpPr>
        <p:spPr>
          <a:xfrm>
            <a:off x="2023208" y="4945136"/>
            <a:ext cx="366295" cy="356144"/>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E9343C8-1884-6140-B23F-3C2C2167AC67}"/>
              </a:ext>
            </a:extLst>
          </p:cNvPr>
          <p:cNvCxnSpPr>
            <a:cxnSpLocks/>
          </p:cNvCxnSpPr>
          <p:nvPr/>
        </p:nvCxnSpPr>
        <p:spPr>
          <a:xfrm>
            <a:off x="820542" y="4933901"/>
            <a:ext cx="128954" cy="427761"/>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7235B49-8651-DF4D-AA38-28D7D025E933}"/>
              </a:ext>
            </a:extLst>
          </p:cNvPr>
          <p:cNvCxnSpPr>
            <a:cxnSpLocks/>
          </p:cNvCxnSpPr>
          <p:nvPr/>
        </p:nvCxnSpPr>
        <p:spPr>
          <a:xfrm>
            <a:off x="1175963" y="4907902"/>
            <a:ext cx="239675" cy="4245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1DC3AF77-1D08-8246-B8A8-ADF810E379FF}"/>
                  </a:ext>
                </a:extLst>
              </p:cNvPr>
              <p:cNvSpPr txBox="1"/>
              <p:nvPr/>
            </p:nvSpPr>
            <p:spPr>
              <a:xfrm>
                <a:off x="2792991" y="5537580"/>
                <a:ext cx="1151854" cy="276999"/>
              </a:xfrm>
              <a:prstGeom prst="rect">
                <a:avLst/>
              </a:prstGeom>
              <a:solidFill>
                <a:srgbClr val="FFFF00"/>
              </a:solidFill>
              <a:ln w="25400">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ea typeface="Cambria Math" panose="02040503050406030204" pitchFamily="18" charset="0"/>
                          <a:cs typeface="Arial" panose="020B0604020202020204" pitchFamily="34" charset="0"/>
                        </a:rPr>
                        <m:t>𝑔𝐻𝑆</m:t>
                      </m:r>
                    </m:oMath>
                  </m:oMathPara>
                </a14:m>
                <a:endParaRPr lang="en-US" dirty="0">
                  <a:latin typeface="Arial" panose="020B0604020202020204" pitchFamily="34" charset="0"/>
                  <a:cs typeface="Arial" panose="020B0604020202020204" pitchFamily="34" charset="0"/>
                </a:endParaRPr>
              </a:p>
            </p:txBody>
          </p:sp>
        </mc:Choice>
        <mc:Fallback xmlns="">
          <p:sp>
            <p:nvSpPr>
              <p:cNvPr id="55" name="TextBox 54">
                <a:extLst>
                  <a:ext uri="{FF2B5EF4-FFF2-40B4-BE49-F238E27FC236}">
                    <a16:creationId xmlns:a16="http://schemas.microsoft.com/office/drawing/2014/main" id="{1DC3AF77-1D08-8246-B8A8-ADF810E379FF}"/>
                  </a:ext>
                </a:extLst>
              </p:cNvPr>
              <p:cNvSpPr txBox="1">
                <a:spLocks noRot="1" noChangeAspect="1" noMove="1" noResize="1" noEditPoints="1" noAdjustHandles="1" noChangeArrowheads="1" noChangeShapeType="1" noTextEdit="1"/>
              </p:cNvSpPr>
              <p:nvPr/>
            </p:nvSpPr>
            <p:spPr>
              <a:xfrm>
                <a:off x="2792991" y="5537580"/>
                <a:ext cx="1151854" cy="276999"/>
              </a:xfrm>
              <a:prstGeom prst="rect">
                <a:avLst/>
              </a:prstGeom>
              <a:blipFill>
                <a:blip r:embed="rId10"/>
                <a:stretch>
                  <a:fillRect l="-1087" r="-5435" b="-39130"/>
                </a:stretch>
              </a:blipFill>
              <a:ln w="2540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46FED13C-D552-784D-A709-7275F4579401}"/>
                  </a:ext>
                </a:extLst>
              </p:cNvPr>
              <p:cNvSpPr txBox="1"/>
              <p:nvPr/>
            </p:nvSpPr>
            <p:spPr>
              <a:xfrm>
                <a:off x="4811427" y="5266897"/>
                <a:ext cx="1895712" cy="818366"/>
              </a:xfrm>
              <a:prstGeom prst="rect">
                <a:avLst/>
              </a:prstGeom>
              <a:solidFill>
                <a:srgbClr val="92D050"/>
              </a:solidFill>
              <a:ln w="25400">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b>
                          <m:r>
                            <a:rPr lang="en-US" b="0" i="1" smtClean="0">
                              <a:latin typeface="Cambria Math" panose="02040503050406030204" pitchFamily="18" charset="0"/>
                              <a:ea typeface="Cambria Math" panose="02040503050406030204" pitchFamily="18" charset="0"/>
                              <a:cs typeface="Arial" panose="020B0604020202020204" pitchFamily="34" charset="0"/>
                            </a:rPr>
                            <m:t>∗</m:t>
                          </m:r>
                        </m:sub>
                      </m:sSub>
                      <m:r>
                        <a:rPr lang="en-US" b="0" i="1" smtClean="0">
                          <a:latin typeface="Cambria Math" panose="02040503050406030204" pitchFamily="18" charset="0"/>
                          <a:ea typeface="Cambria Math" panose="02040503050406030204" pitchFamily="18" charset="0"/>
                          <a:cs typeface="Arial" panose="020B0604020202020204" pitchFamily="34" charset="0"/>
                        </a:rPr>
                        <m:t>=</m:t>
                      </m:r>
                      <m:rad>
                        <m:radPr>
                          <m:degHide m:val="on"/>
                          <m:ctrlPr>
                            <a:rPr lang="en-US" b="0" i="1" smtClean="0">
                              <a:latin typeface="Cambria Math" panose="02040503050406030204" pitchFamily="18" charset="0"/>
                              <a:ea typeface="Cambria Math" panose="02040503050406030204" pitchFamily="18" charset="0"/>
                              <a:cs typeface="Arial" panose="020B0604020202020204" pitchFamily="34" charset="0"/>
                            </a:rPr>
                          </m:ctrlPr>
                        </m:radPr>
                        <m:deg/>
                        <m:e>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sub>
                              </m:sSub>
                            </m:num>
                            <m:den>
                              <m:r>
                                <a:rPr lang="en-US" b="0" i="1" smtClean="0">
                                  <a:latin typeface="Cambria Math" panose="02040503050406030204" pitchFamily="18" charset="0"/>
                                  <a:ea typeface="Cambria Math" panose="02040503050406030204" pitchFamily="18" charset="0"/>
                                  <a:cs typeface="Arial" panose="020B0604020202020204" pitchFamily="34" charset="0"/>
                                </a:rPr>
                                <m:t>𝜌</m:t>
                              </m:r>
                            </m:den>
                          </m:f>
                        </m:e>
                      </m:rad>
                      <m:r>
                        <a:rPr lang="en-US" b="0" i="1" smtClean="0">
                          <a:latin typeface="Cambria Math" panose="02040503050406030204" pitchFamily="18" charset="0"/>
                          <a:ea typeface="Cambria Math" panose="02040503050406030204" pitchFamily="18" charset="0"/>
                          <a:cs typeface="Arial" panose="020B0604020202020204" pitchFamily="34" charset="0"/>
                        </a:rPr>
                        <m:t>=</m:t>
                      </m:r>
                      <m:rad>
                        <m:radPr>
                          <m:degHide m:val="on"/>
                          <m:ctrlPr>
                            <a:rPr lang="en-US" b="0" i="1" smtClean="0">
                              <a:latin typeface="Cambria Math" panose="02040503050406030204" pitchFamily="18" charset="0"/>
                              <a:ea typeface="Cambria Math" panose="02040503050406030204" pitchFamily="18" charset="0"/>
                              <a:cs typeface="Arial" panose="020B0604020202020204" pitchFamily="34" charset="0"/>
                            </a:rPr>
                          </m:ctrlPr>
                        </m:radPr>
                        <m:deg/>
                        <m:e>
                          <m:r>
                            <a:rPr lang="en-US" i="1">
                              <a:latin typeface="Cambria Math" panose="02040503050406030204" pitchFamily="18" charset="0"/>
                              <a:ea typeface="Cambria Math" panose="02040503050406030204" pitchFamily="18" charset="0"/>
                              <a:cs typeface="Arial" panose="020B0604020202020204" pitchFamily="34" charset="0"/>
                            </a:rPr>
                            <m:t>𝑔𝐻𝑆</m:t>
                          </m:r>
                        </m:e>
                      </m:rad>
                    </m:oMath>
                  </m:oMathPara>
                </a14:m>
                <a:endParaRPr lang="en-US" dirty="0">
                  <a:latin typeface="Arial" panose="020B0604020202020204" pitchFamily="34" charset="0"/>
                  <a:cs typeface="Arial" panose="020B0604020202020204" pitchFamily="34" charset="0"/>
                </a:endParaRPr>
              </a:p>
            </p:txBody>
          </p:sp>
        </mc:Choice>
        <mc:Fallback xmlns="">
          <p:sp>
            <p:nvSpPr>
              <p:cNvPr id="63" name="TextBox 62">
                <a:extLst>
                  <a:ext uri="{FF2B5EF4-FFF2-40B4-BE49-F238E27FC236}">
                    <a16:creationId xmlns:a16="http://schemas.microsoft.com/office/drawing/2014/main" id="{46FED13C-D552-784D-A709-7275F4579401}"/>
                  </a:ext>
                </a:extLst>
              </p:cNvPr>
              <p:cNvSpPr txBox="1">
                <a:spLocks noRot="1" noChangeAspect="1" noMove="1" noResize="1" noEditPoints="1" noAdjustHandles="1" noChangeArrowheads="1" noChangeShapeType="1" noTextEdit="1"/>
              </p:cNvSpPr>
              <p:nvPr/>
            </p:nvSpPr>
            <p:spPr>
              <a:xfrm>
                <a:off x="4811427" y="5266897"/>
                <a:ext cx="1895712" cy="818366"/>
              </a:xfrm>
              <a:prstGeom prst="rect">
                <a:avLst/>
              </a:prstGeom>
              <a:blipFill>
                <a:blip r:embed="rId11"/>
                <a:stretch>
                  <a:fillRect l="-667" r="-3333"/>
                </a:stretch>
              </a:blipFill>
              <a:ln w="25400">
                <a:noFill/>
              </a:ln>
            </p:spPr>
            <p:txBody>
              <a:bodyPr/>
              <a:lstStyle/>
              <a:p>
                <a:r>
                  <a:rPr lang="en-US">
                    <a:noFill/>
                  </a:rPr>
                  <a:t> </a:t>
                </a:r>
              </a:p>
            </p:txBody>
          </p:sp>
        </mc:Fallback>
      </mc:AlternateContent>
      <p:sp>
        <p:nvSpPr>
          <p:cNvPr id="64" name="Slide Number Placeholder 3">
            <a:extLst>
              <a:ext uri="{FF2B5EF4-FFF2-40B4-BE49-F238E27FC236}">
                <a16:creationId xmlns:a16="http://schemas.microsoft.com/office/drawing/2014/main" id="{8D3BDA59-59CE-814F-BFB3-6679FAD7D350}"/>
              </a:ext>
            </a:extLst>
          </p:cNvPr>
          <p:cNvSpPr>
            <a:spLocks noGrp="1"/>
          </p:cNvSpPr>
          <p:nvPr>
            <p:ph type="sldNum" sz="quarter" idx="12"/>
          </p:nvPr>
        </p:nvSpPr>
        <p:spPr>
          <a:xfrm>
            <a:off x="8610600" y="6356350"/>
            <a:ext cx="2743200" cy="365125"/>
          </a:xfrm>
        </p:spPr>
        <p:txBody>
          <a:bodyPr/>
          <a:lstStyle/>
          <a:p>
            <a:fld id="{2386C454-E1BD-5A43-901A-CA4ACC7380B7}" type="slidenum">
              <a:rPr lang="en-US" smtClean="0"/>
              <a:t>17</a:t>
            </a:fld>
            <a:endParaRPr lang="en-US" dirty="0"/>
          </a:p>
        </p:txBody>
      </p:sp>
    </p:spTree>
    <p:extLst>
      <p:ext uri="{BB962C8B-B14F-4D97-AF65-F5344CB8AC3E}">
        <p14:creationId xmlns:p14="http://schemas.microsoft.com/office/powerpoint/2010/main" val="41598621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1155370" y="136525"/>
            <a:ext cx="988125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Normal (steady and uniform) flow</a:t>
            </a:r>
          </a:p>
        </p:txBody>
      </p:sp>
      <p:sp>
        <p:nvSpPr>
          <p:cNvPr id="14" name="TextBox 13">
            <a:extLst>
              <a:ext uri="{FF2B5EF4-FFF2-40B4-BE49-F238E27FC236}">
                <a16:creationId xmlns:a16="http://schemas.microsoft.com/office/drawing/2014/main" id="{13F5AF24-5B67-BD47-A366-843EDE64C288}"/>
              </a:ext>
            </a:extLst>
          </p:cNvPr>
          <p:cNvSpPr txBox="1"/>
          <p:nvPr/>
        </p:nvSpPr>
        <p:spPr>
          <a:xfrm>
            <a:off x="378030" y="825868"/>
            <a:ext cx="11435937"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normal flow bed shear stress is equal to the product of the water depth, the bed slope, the acceleration of gravity and water density.  </a:t>
            </a:r>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1DC3AF77-1D08-8246-B8A8-ADF810E379FF}"/>
                  </a:ext>
                </a:extLst>
              </p:cNvPr>
              <p:cNvSpPr txBox="1"/>
              <p:nvPr/>
            </p:nvSpPr>
            <p:spPr>
              <a:xfrm>
                <a:off x="579443" y="1638322"/>
                <a:ext cx="1151854" cy="276999"/>
              </a:xfrm>
              <a:prstGeom prst="rect">
                <a:avLst/>
              </a:prstGeom>
              <a:noFill/>
              <a:ln w="25400">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ea typeface="Cambria Math" panose="02040503050406030204" pitchFamily="18" charset="0"/>
                          <a:cs typeface="Arial" panose="020B0604020202020204" pitchFamily="34" charset="0"/>
                        </a:rPr>
                        <m:t>𝑔𝐻𝑆</m:t>
                      </m:r>
                    </m:oMath>
                  </m:oMathPara>
                </a14:m>
                <a:endParaRPr lang="en-US" dirty="0">
                  <a:latin typeface="Arial" panose="020B0604020202020204" pitchFamily="34" charset="0"/>
                  <a:cs typeface="Arial" panose="020B0604020202020204" pitchFamily="34" charset="0"/>
                </a:endParaRPr>
              </a:p>
            </p:txBody>
          </p:sp>
        </mc:Choice>
        <mc:Fallback xmlns="">
          <p:sp>
            <p:nvSpPr>
              <p:cNvPr id="55" name="TextBox 54">
                <a:extLst>
                  <a:ext uri="{FF2B5EF4-FFF2-40B4-BE49-F238E27FC236}">
                    <a16:creationId xmlns:a16="http://schemas.microsoft.com/office/drawing/2014/main" id="{1DC3AF77-1D08-8246-B8A8-ADF810E379FF}"/>
                  </a:ext>
                </a:extLst>
              </p:cNvPr>
              <p:cNvSpPr txBox="1">
                <a:spLocks noRot="1" noChangeAspect="1" noMove="1" noResize="1" noEditPoints="1" noAdjustHandles="1" noChangeArrowheads="1" noChangeShapeType="1" noTextEdit="1"/>
              </p:cNvSpPr>
              <p:nvPr/>
            </p:nvSpPr>
            <p:spPr>
              <a:xfrm>
                <a:off x="579443" y="1638322"/>
                <a:ext cx="1151854" cy="276999"/>
              </a:xfrm>
              <a:prstGeom prst="rect">
                <a:avLst/>
              </a:prstGeom>
              <a:blipFill>
                <a:blip r:embed="rId3"/>
                <a:stretch>
                  <a:fillRect l="-1087" r="-5435" b="-40909"/>
                </a:stretch>
              </a:blipFill>
              <a:ln w="25400">
                <a:noFill/>
              </a:ln>
            </p:spPr>
            <p:txBody>
              <a:bodyPr/>
              <a:lstStyle/>
              <a:p>
                <a:r>
                  <a:rPr lang="en-US">
                    <a:noFill/>
                  </a:rPr>
                  <a:t> </a:t>
                </a:r>
              </a:p>
            </p:txBody>
          </p:sp>
        </mc:Fallback>
      </mc:AlternateContent>
      <p:sp>
        <p:nvSpPr>
          <p:cNvPr id="64" name="Slide Number Placeholder 3">
            <a:extLst>
              <a:ext uri="{FF2B5EF4-FFF2-40B4-BE49-F238E27FC236}">
                <a16:creationId xmlns:a16="http://schemas.microsoft.com/office/drawing/2014/main" id="{8D3BDA59-59CE-814F-BFB3-6679FAD7D350}"/>
              </a:ext>
            </a:extLst>
          </p:cNvPr>
          <p:cNvSpPr>
            <a:spLocks noGrp="1"/>
          </p:cNvSpPr>
          <p:nvPr>
            <p:ph type="sldNum" sz="quarter" idx="12"/>
          </p:nvPr>
        </p:nvSpPr>
        <p:spPr>
          <a:xfrm>
            <a:off x="8610600" y="6356350"/>
            <a:ext cx="2743200" cy="365125"/>
          </a:xfrm>
        </p:spPr>
        <p:txBody>
          <a:bodyPr/>
          <a:lstStyle/>
          <a:p>
            <a:fld id="{2386C454-E1BD-5A43-901A-CA4ACC7380B7}" type="slidenum">
              <a:rPr lang="en-US" smtClean="0"/>
              <a:t>18</a:t>
            </a:fld>
            <a:endParaRPr lang="en-US" dirty="0"/>
          </a:p>
        </p:txBody>
      </p:sp>
      <p:sp>
        <p:nvSpPr>
          <p:cNvPr id="62" name="TextBox 61">
            <a:extLst>
              <a:ext uri="{FF2B5EF4-FFF2-40B4-BE49-F238E27FC236}">
                <a16:creationId xmlns:a16="http://schemas.microsoft.com/office/drawing/2014/main" id="{A38BD275-D1C4-9A47-BE55-4A9BB02AC298}"/>
              </a:ext>
            </a:extLst>
          </p:cNvPr>
          <p:cNvSpPr txBox="1"/>
          <p:nvPr/>
        </p:nvSpPr>
        <p:spPr>
          <a:xfrm>
            <a:off x="378030" y="2141138"/>
            <a:ext cx="11435937"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On slide 7 defined the bed shear stress with a resistance relation as </a:t>
            </a:r>
          </a:p>
        </p:txBody>
      </p:sp>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DFAF8BC1-86AA-3F49-89EB-08ED1C019F2C}"/>
                  </a:ext>
                </a:extLst>
              </p:cNvPr>
              <p:cNvSpPr txBox="1"/>
              <p:nvPr/>
            </p:nvSpPr>
            <p:spPr>
              <a:xfrm>
                <a:off x="545908" y="2595983"/>
                <a:ext cx="1218923" cy="304763"/>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𝐶</m:t>
                          </m:r>
                        </m:e>
                        <m:sub>
                          <m:r>
                            <a:rPr lang="en-US" b="0" i="1" smtClean="0">
                              <a:latin typeface="Cambria Math" panose="02040503050406030204" pitchFamily="18" charset="0"/>
                              <a:ea typeface="Cambria Math" panose="02040503050406030204" pitchFamily="18" charset="0"/>
                              <a:cs typeface="Arial" panose="020B0604020202020204" pitchFamily="34" charset="0"/>
                            </a:rPr>
                            <m:t>𝑓</m:t>
                          </m:r>
                        </m:sub>
                      </m:sSub>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𝑈</m:t>
                          </m:r>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oMath>
                  </m:oMathPara>
                </a14:m>
                <a:endParaRPr lang="en-US" dirty="0">
                  <a:latin typeface="Arial" panose="020B0604020202020204" pitchFamily="34" charset="0"/>
                  <a:cs typeface="Arial" panose="020B0604020202020204" pitchFamily="34" charset="0"/>
                </a:endParaRPr>
              </a:p>
            </p:txBody>
          </p:sp>
        </mc:Choice>
        <mc:Fallback xmlns="">
          <p:sp>
            <p:nvSpPr>
              <p:cNvPr id="65" name="TextBox 64">
                <a:extLst>
                  <a:ext uri="{FF2B5EF4-FFF2-40B4-BE49-F238E27FC236}">
                    <a16:creationId xmlns:a16="http://schemas.microsoft.com/office/drawing/2014/main" id="{DFAF8BC1-86AA-3F49-89EB-08ED1C019F2C}"/>
                  </a:ext>
                </a:extLst>
              </p:cNvPr>
              <p:cNvSpPr txBox="1">
                <a:spLocks noRot="1" noChangeAspect="1" noMove="1" noResize="1" noEditPoints="1" noAdjustHandles="1" noChangeArrowheads="1" noChangeShapeType="1" noTextEdit="1"/>
              </p:cNvSpPr>
              <p:nvPr/>
            </p:nvSpPr>
            <p:spPr>
              <a:xfrm>
                <a:off x="545908" y="2595983"/>
                <a:ext cx="1218923" cy="304763"/>
              </a:xfrm>
              <a:prstGeom prst="rect">
                <a:avLst/>
              </a:prstGeom>
              <a:blipFill>
                <a:blip r:embed="rId4"/>
                <a:stretch>
                  <a:fillRect l="-2062" r="-1031" b="-28000"/>
                </a:stretch>
              </a:blipFill>
            </p:spPr>
            <p:txBody>
              <a:bodyPr/>
              <a:lstStyle/>
              <a:p>
                <a:r>
                  <a:rPr lang="en-US">
                    <a:noFill/>
                  </a:rPr>
                  <a:t> </a:t>
                </a:r>
              </a:p>
            </p:txBody>
          </p:sp>
        </mc:Fallback>
      </mc:AlternateContent>
      <p:sp>
        <p:nvSpPr>
          <p:cNvPr id="70" name="TextBox 69">
            <a:extLst>
              <a:ext uri="{FF2B5EF4-FFF2-40B4-BE49-F238E27FC236}">
                <a16:creationId xmlns:a16="http://schemas.microsoft.com/office/drawing/2014/main" id="{1531184F-BB38-2E4E-8C10-2F285A7BAF54}"/>
              </a:ext>
            </a:extLst>
          </p:cNvPr>
          <p:cNvSpPr txBox="1"/>
          <p:nvPr/>
        </p:nvSpPr>
        <p:spPr>
          <a:xfrm>
            <a:off x="460092" y="3123093"/>
            <a:ext cx="11435937"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We combine these two equations to derive the generalized form of the </a:t>
            </a:r>
            <a:r>
              <a:rPr lang="en-US" dirty="0" err="1">
                <a:latin typeface="Arial" panose="020B0604020202020204" pitchFamily="34" charset="0"/>
                <a:cs typeface="Arial" panose="020B0604020202020204" pitchFamily="34" charset="0"/>
              </a:rPr>
              <a:t>Chezy</a:t>
            </a:r>
            <a:r>
              <a:rPr lang="en-US" dirty="0">
                <a:latin typeface="Arial" panose="020B0604020202020204" pitchFamily="34" charset="0"/>
                <a:cs typeface="Arial" panose="020B0604020202020204" pitchFamily="34" charset="0"/>
              </a:rPr>
              <a:t> relation </a:t>
            </a:r>
          </a:p>
        </p:txBody>
      </p: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22475BCC-1BE5-4E49-8A04-9D927018DF26}"/>
                  </a:ext>
                </a:extLst>
              </p:cNvPr>
              <p:cNvSpPr txBox="1"/>
              <p:nvPr/>
            </p:nvSpPr>
            <p:spPr>
              <a:xfrm>
                <a:off x="609397" y="3637669"/>
                <a:ext cx="1563633" cy="3047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cs typeface="Arial" panose="020B0604020202020204" pitchFamily="34" charset="0"/>
                        </a:rPr>
                        <m:t>𝜌</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𝐶</m:t>
                          </m:r>
                        </m:e>
                        <m:sub>
                          <m:r>
                            <a:rPr lang="en-US" b="0" i="1" smtClean="0">
                              <a:latin typeface="Cambria Math" panose="02040503050406030204" pitchFamily="18" charset="0"/>
                              <a:ea typeface="Cambria Math" panose="02040503050406030204" pitchFamily="18" charset="0"/>
                              <a:cs typeface="Arial" panose="020B0604020202020204" pitchFamily="34" charset="0"/>
                            </a:rPr>
                            <m:t>𝑓</m:t>
                          </m:r>
                        </m:sub>
                      </m:sSub>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𝑈</m:t>
                          </m:r>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ea typeface="Cambria Math" panose="02040503050406030204" pitchFamily="18" charset="0"/>
                          <a:cs typeface="Arial" panose="020B0604020202020204" pitchFamily="34" charset="0"/>
                        </a:rPr>
                        <m:t>𝑔𝐻𝑆</m:t>
                      </m:r>
                    </m:oMath>
                  </m:oMathPara>
                </a14:m>
                <a:endParaRPr lang="en-US" dirty="0">
                  <a:latin typeface="Arial" panose="020B0604020202020204" pitchFamily="34" charset="0"/>
                  <a:cs typeface="Arial" panose="020B0604020202020204" pitchFamily="34" charset="0"/>
                </a:endParaRPr>
              </a:p>
            </p:txBody>
          </p:sp>
        </mc:Choice>
        <mc:Fallback xmlns="">
          <p:sp>
            <p:nvSpPr>
              <p:cNvPr id="71" name="TextBox 70">
                <a:extLst>
                  <a:ext uri="{FF2B5EF4-FFF2-40B4-BE49-F238E27FC236}">
                    <a16:creationId xmlns:a16="http://schemas.microsoft.com/office/drawing/2014/main" id="{22475BCC-1BE5-4E49-8A04-9D927018DF26}"/>
                  </a:ext>
                </a:extLst>
              </p:cNvPr>
              <p:cNvSpPr txBox="1">
                <a:spLocks noRot="1" noChangeAspect="1" noMove="1" noResize="1" noEditPoints="1" noAdjustHandles="1" noChangeArrowheads="1" noChangeShapeType="1" noTextEdit="1"/>
              </p:cNvSpPr>
              <p:nvPr/>
            </p:nvSpPr>
            <p:spPr>
              <a:xfrm>
                <a:off x="609397" y="3637669"/>
                <a:ext cx="1563633" cy="304763"/>
              </a:xfrm>
              <a:prstGeom prst="rect">
                <a:avLst/>
              </a:prstGeom>
              <a:blipFill>
                <a:blip r:embed="rId5"/>
                <a:stretch>
                  <a:fillRect l="-3252" r="-4065" b="-28000"/>
                </a:stretch>
              </a:blipFill>
            </p:spPr>
            <p:txBody>
              <a:bodyPr/>
              <a:lstStyle/>
              <a:p>
                <a:r>
                  <a:rPr lang="en-US">
                    <a:noFill/>
                  </a:rPr>
                  <a:t> </a:t>
                </a:r>
              </a:p>
            </p:txBody>
          </p:sp>
        </mc:Fallback>
      </mc:AlternateContent>
    </p:spTree>
    <p:extLst>
      <p:ext uri="{BB962C8B-B14F-4D97-AF65-F5344CB8AC3E}">
        <p14:creationId xmlns:p14="http://schemas.microsoft.com/office/powerpoint/2010/main" val="4721098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1155370" y="136525"/>
            <a:ext cx="988125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Normal (steady and uniform) flow</a:t>
            </a:r>
          </a:p>
        </p:txBody>
      </p:sp>
      <p:sp>
        <p:nvSpPr>
          <p:cNvPr id="14" name="TextBox 13">
            <a:extLst>
              <a:ext uri="{FF2B5EF4-FFF2-40B4-BE49-F238E27FC236}">
                <a16:creationId xmlns:a16="http://schemas.microsoft.com/office/drawing/2014/main" id="{13F5AF24-5B67-BD47-A366-843EDE64C288}"/>
              </a:ext>
            </a:extLst>
          </p:cNvPr>
          <p:cNvSpPr txBox="1"/>
          <p:nvPr/>
        </p:nvSpPr>
        <p:spPr>
          <a:xfrm>
            <a:off x="378030" y="825868"/>
            <a:ext cx="11435937"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normal flow bed shear stress is equal to the product of the water depth, the bed slope, the acceleration of gravity and water density.  </a:t>
            </a:r>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1DC3AF77-1D08-8246-B8A8-ADF810E379FF}"/>
                  </a:ext>
                </a:extLst>
              </p:cNvPr>
              <p:cNvSpPr txBox="1"/>
              <p:nvPr/>
            </p:nvSpPr>
            <p:spPr>
              <a:xfrm>
                <a:off x="579443" y="1638322"/>
                <a:ext cx="1151854" cy="276999"/>
              </a:xfrm>
              <a:prstGeom prst="rect">
                <a:avLst/>
              </a:prstGeom>
              <a:noFill/>
              <a:ln w="25400">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ea typeface="Cambria Math" panose="02040503050406030204" pitchFamily="18" charset="0"/>
                          <a:cs typeface="Arial" panose="020B0604020202020204" pitchFamily="34" charset="0"/>
                        </a:rPr>
                        <m:t>𝑔𝐻𝑆</m:t>
                      </m:r>
                    </m:oMath>
                  </m:oMathPara>
                </a14:m>
                <a:endParaRPr lang="en-US" dirty="0">
                  <a:latin typeface="Arial" panose="020B0604020202020204" pitchFamily="34" charset="0"/>
                  <a:cs typeface="Arial" panose="020B0604020202020204" pitchFamily="34" charset="0"/>
                </a:endParaRPr>
              </a:p>
            </p:txBody>
          </p:sp>
        </mc:Choice>
        <mc:Fallback xmlns="">
          <p:sp>
            <p:nvSpPr>
              <p:cNvPr id="55" name="TextBox 54">
                <a:extLst>
                  <a:ext uri="{FF2B5EF4-FFF2-40B4-BE49-F238E27FC236}">
                    <a16:creationId xmlns:a16="http://schemas.microsoft.com/office/drawing/2014/main" id="{1DC3AF77-1D08-8246-B8A8-ADF810E379FF}"/>
                  </a:ext>
                </a:extLst>
              </p:cNvPr>
              <p:cNvSpPr txBox="1">
                <a:spLocks noRot="1" noChangeAspect="1" noMove="1" noResize="1" noEditPoints="1" noAdjustHandles="1" noChangeArrowheads="1" noChangeShapeType="1" noTextEdit="1"/>
              </p:cNvSpPr>
              <p:nvPr/>
            </p:nvSpPr>
            <p:spPr>
              <a:xfrm>
                <a:off x="579443" y="1638322"/>
                <a:ext cx="1151854" cy="276999"/>
              </a:xfrm>
              <a:prstGeom prst="rect">
                <a:avLst/>
              </a:prstGeom>
              <a:blipFill>
                <a:blip r:embed="rId3"/>
                <a:stretch>
                  <a:fillRect l="-1087" r="-5435" b="-40909"/>
                </a:stretch>
              </a:blipFill>
              <a:ln w="25400">
                <a:noFill/>
              </a:ln>
            </p:spPr>
            <p:txBody>
              <a:bodyPr/>
              <a:lstStyle/>
              <a:p>
                <a:r>
                  <a:rPr lang="en-US">
                    <a:noFill/>
                  </a:rPr>
                  <a:t> </a:t>
                </a:r>
              </a:p>
            </p:txBody>
          </p:sp>
        </mc:Fallback>
      </mc:AlternateContent>
      <p:sp>
        <p:nvSpPr>
          <p:cNvPr id="64" name="Slide Number Placeholder 3">
            <a:extLst>
              <a:ext uri="{FF2B5EF4-FFF2-40B4-BE49-F238E27FC236}">
                <a16:creationId xmlns:a16="http://schemas.microsoft.com/office/drawing/2014/main" id="{8D3BDA59-59CE-814F-BFB3-6679FAD7D350}"/>
              </a:ext>
            </a:extLst>
          </p:cNvPr>
          <p:cNvSpPr>
            <a:spLocks noGrp="1"/>
          </p:cNvSpPr>
          <p:nvPr>
            <p:ph type="sldNum" sz="quarter" idx="12"/>
          </p:nvPr>
        </p:nvSpPr>
        <p:spPr>
          <a:xfrm>
            <a:off x="8610600" y="6356350"/>
            <a:ext cx="2743200" cy="365125"/>
          </a:xfrm>
        </p:spPr>
        <p:txBody>
          <a:bodyPr/>
          <a:lstStyle/>
          <a:p>
            <a:fld id="{2386C454-E1BD-5A43-901A-CA4ACC7380B7}" type="slidenum">
              <a:rPr lang="en-US" smtClean="0"/>
              <a:t>19</a:t>
            </a:fld>
            <a:endParaRPr lang="en-US" dirty="0"/>
          </a:p>
        </p:txBody>
      </p:sp>
      <p:sp>
        <p:nvSpPr>
          <p:cNvPr id="62" name="TextBox 61">
            <a:extLst>
              <a:ext uri="{FF2B5EF4-FFF2-40B4-BE49-F238E27FC236}">
                <a16:creationId xmlns:a16="http://schemas.microsoft.com/office/drawing/2014/main" id="{A38BD275-D1C4-9A47-BE55-4A9BB02AC298}"/>
              </a:ext>
            </a:extLst>
          </p:cNvPr>
          <p:cNvSpPr txBox="1"/>
          <p:nvPr/>
        </p:nvSpPr>
        <p:spPr>
          <a:xfrm>
            <a:off x="378030" y="2141138"/>
            <a:ext cx="11435937"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On slide 7 defined the bed shear stress with a resistance relation as </a:t>
            </a:r>
          </a:p>
        </p:txBody>
      </p:sp>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DFAF8BC1-86AA-3F49-89EB-08ED1C019F2C}"/>
                  </a:ext>
                </a:extLst>
              </p:cNvPr>
              <p:cNvSpPr txBox="1"/>
              <p:nvPr/>
            </p:nvSpPr>
            <p:spPr>
              <a:xfrm>
                <a:off x="545908" y="2595983"/>
                <a:ext cx="1218923" cy="304763"/>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𝐶</m:t>
                          </m:r>
                        </m:e>
                        <m:sub>
                          <m:r>
                            <a:rPr lang="en-US" b="0" i="1" smtClean="0">
                              <a:latin typeface="Cambria Math" panose="02040503050406030204" pitchFamily="18" charset="0"/>
                              <a:ea typeface="Cambria Math" panose="02040503050406030204" pitchFamily="18" charset="0"/>
                              <a:cs typeface="Arial" panose="020B0604020202020204" pitchFamily="34" charset="0"/>
                            </a:rPr>
                            <m:t>𝑓</m:t>
                          </m:r>
                        </m:sub>
                      </m:sSub>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𝑈</m:t>
                          </m:r>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oMath>
                  </m:oMathPara>
                </a14:m>
                <a:endParaRPr lang="en-US" dirty="0">
                  <a:latin typeface="Arial" panose="020B0604020202020204" pitchFamily="34" charset="0"/>
                  <a:cs typeface="Arial" panose="020B0604020202020204" pitchFamily="34" charset="0"/>
                </a:endParaRPr>
              </a:p>
            </p:txBody>
          </p:sp>
        </mc:Choice>
        <mc:Fallback xmlns="">
          <p:sp>
            <p:nvSpPr>
              <p:cNvPr id="65" name="TextBox 64">
                <a:extLst>
                  <a:ext uri="{FF2B5EF4-FFF2-40B4-BE49-F238E27FC236}">
                    <a16:creationId xmlns:a16="http://schemas.microsoft.com/office/drawing/2014/main" id="{DFAF8BC1-86AA-3F49-89EB-08ED1C019F2C}"/>
                  </a:ext>
                </a:extLst>
              </p:cNvPr>
              <p:cNvSpPr txBox="1">
                <a:spLocks noRot="1" noChangeAspect="1" noMove="1" noResize="1" noEditPoints="1" noAdjustHandles="1" noChangeArrowheads="1" noChangeShapeType="1" noTextEdit="1"/>
              </p:cNvSpPr>
              <p:nvPr/>
            </p:nvSpPr>
            <p:spPr>
              <a:xfrm>
                <a:off x="545908" y="2595983"/>
                <a:ext cx="1218923" cy="304763"/>
              </a:xfrm>
              <a:prstGeom prst="rect">
                <a:avLst/>
              </a:prstGeom>
              <a:blipFill>
                <a:blip r:embed="rId4"/>
                <a:stretch>
                  <a:fillRect l="-2062" r="-1031" b="-28000"/>
                </a:stretch>
              </a:blipFill>
            </p:spPr>
            <p:txBody>
              <a:bodyPr/>
              <a:lstStyle/>
              <a:p>
                <a:r>
                  <a:rPr lang="en-US">
                    <a:noFill/>
                  </a:rPr>
                  <a:t> </a:t>
                </a:r>
              </a:p>
            </p:txBody>
          </p:sp>
        </mc:Fallback>
      </mc:AlternateContent>
      <p:sp>
        <p:nvSpPr>
          <p:cNvPr id="70" name="TextBox 69">
            <a:extLst>
              <a:ext uri="{FF2B5EF4-FFF2-40B4-BE49-F238E27FC236}">
                <a16:creationId xmlns:a16="http://schemas.microsoft.com/office/drawing/2014/main" id="{1531184F-BB38-2E4E-8C10-2F285A7BAF54}"/>
              </a:ext>
            </a:extLst>
          </p:cNvPr>
          <p:cNvSpPr txBox="1"/>
          <p:nvPr/>
        </p:nvSpPr>
        <p:spPr>
          <a:xfrm>
            <a:off x="460092" y="3123093"/>
            <a:ext cx="11435937"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We combine these two equations to derive the generalized form of the </a:t>
            </a:r>
            <a:r>
              <a:rPr lang="en-US" dirty="0" err="1">
                <a:latin typeface="Arial" panose="020B0604020202020204" pitchFamily="34" charset="0"/>
                <a:cs typeface="Arial" panose="020B0604020202020204" pitchFamily="34" charset="0"/>
              </a:rPr>
              <a:t>Chezy</a:t>
            </a:r>
            <a:r>
              <a:rPr lang="en-US" dirty="0">
                <a:latin typeface="Arial" panose="020B0604020202020204" pitchFamily="34" charset="0"/>
                <a:cs typeface="Arial" panose="020B0604020202020204" pitchFamily="34" charset="0"/>
              </a:rPr>
              <a:t> relation </a:t>
            </a:r>
          </a:p>
        </p:txBody>
      </p: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22475BCC-1BE5-4E49-8A04-9D927018DF26}"/>
                  </a:ext>
                </a:extLst>
              </p:cNvPr>
              <p:cNvSpPr txBox="1"/>
              <p:nvPr/>
            </p:nvSpPr>
            <p:spPr>
              <a:xfrm>
                <a:off x="609397" y="3637669"/>
                <a:ext cx="1563633" cy="3047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cs typeface="Arial" panose="020B0604020202020204" pitchFamily="34" charset="0"/>
                        </a:rPr>
                        <m:t>𝜌</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𝐶</m:t>
                          </m:r>
                        </m:e>
                        <m:sub>
                          <m:r>
                            <a:rPr lang="en-US" b="0" i="1" smtClean="0">
                              <a:latin typeface="Cambria Math" panose="02040503050406030204" pitchFamily="18" charset="0"/>
                              <a:ea typeface="Cambria Math" panose="02040503050406030204" pitchFamily="18" charset="0"/>
                              <a:cs typeface="Arial" panose="020B0604020202020204" pitchFamily="34" charset="0"/>
                            </a:rPr>
                            <m:t>𝑓</m:t>
                          </m:r>
                        </m:sub>
                      </m:sSub>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𝑈</m:t>
                          </m:r>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ea typeface="Cambria Math" panose="02040503050406030204" pitchFamily="18" charset="0"/>
                          <a:cs typeface="Arial" panose="020B0604020202020204" pitchFamily="34" charset="0"/>
                        </a:rPr>
                        <m:t>𝑔𝐻𝑆</m:t>
                      </m:r>
                    </m:oMath>
                  </m:oMathPara>
                </a14:m>
                <a:endParaRPr lang="en-US" dirty="0">
                  <a:latin typeface="Arial" panose="020B0604020202020204" pitchFamily="34" charset="0"/>
                  <a:cs typeface="Arial" panose="020B0604020202020204" pitchFamily="34" charset="0"/>
                </a:endParaRPr>
              </a:p>
            </p:txBody>
          </p:sp>
        </mc:Choice>
        <mc:Fallback xmlns="">
          <p:sp>
            <p:nvSpPr>
              <p:cNvPr id="71" name="TextBox 70">
                <a:extLst>
                  <a:ext uri="{FF2B5EF4-FFF2-40B4-BE49-F238E27FC236}">
                    <a16:creationId xmlns:a16="http://schemas.microsoft.com/office/drawing/2014/main" id="{22475BCC-1BE5-4E49-8A04-9D927018DF26}"/>
                  </a:ext>
                </a:extLst>
              </p:cNvPr>
              <p:cNvSpPr txBox="1">
                <a:spLocks noRot="1" noChangeAspect="1" noMove="1" noResize="1" noEditPoints="1" noAdjustHandles="1" noChangeArrowheads="1" noChangeShapeType="1" noTextEdit="1"/>
              </p:cNvSpPr>
              <p:nvPr/>
            </p:nvSpPr>
            <p:spPr>
              <a:xfrm>
                <a:off x="609397" y="3637669"/>
                <a:ext cx="1563633" cy="304763"/>
              </a:xfrm>
              <a:prstGeom prst="rect">
                <a:avLst/>
              </a:prstGeom>
              <a:blipFill>
                <a:blip r:embed="rId5"/>
                <a:stretch>
                  <a:fillRect l="-3252" r="-4065" b="-28000"/>
                </a:stretch>
              </a:blipFill>
            </p:spPr>
            <p:txBody>
              <a:bodyPr/>
              <a:lstStyle/>
              <a:p>
                <a:r>
                  <a:rPr lang="en-US">
                    <a:noFill/>
                  </a:rPr>
                  <a:t> </a:t>
                </a:r>
              </a:p>
            </p:txBody>
          </p:sp>
        </mc:Fallback>
      </mc:AlternateContent>
      <p:cxnSp>
        <p:nvCxnSpPr>
          <p:cNvPr id="3" name="Straight Connector 2">
            <a:extLst>
              <a:ext uri="{FF2B5EF4-FFF2-40B4-BE49-F238E27FC236}">
                <a16:creationId xmlns:a16="http://schemas.microsoft.com/office/drawing/2014/main" id="{EE97545B-21BA-8640-9187-8B5FA24E99E1}"/>
              </a:ext>
            </a:extLst>
          </p:cNvPr>
          <p:cNvCxnSpPr/>
          <p:nvPr/>
        </p:nvCxnSpPr>
        <p:spPr>
          <a:xfrm>
            <a:off x="609397" y="3637669"/>
            <a:ext cx="152603" cy="304763"/>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004F938-F7E1-2446-B531-4AD9E5B0FAAE}"/>
              </a:ext>
            </a:extLst>
          </p:cNvPr>
          <p:cNvCxnSpPr>
            <a:cxnSpLocks/>
          </p:cNvCxnSpPr>
          <p:nvPr/>
        </p:nvCxnSpPr>
        <p:spPr>
          <a:xfrm>
            <a:off x="1570892" y="3637669"/>
            <a:ext cx="160405" cy="39506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B4ADE86-7A22-5245-8F28-68EEE58EDB94}"/>
                  </a:ext>
                </a:extLst>
              </p:cNvPr>
              <p:cNvSpPr txBox="1"/>
              <p:nvPr/>
            </p:nvSpPr>
            <p:spPr>
              <a:xfrm>
                <a:off x="609397" y="4246877"/>
                <a:ext cx="2426305" cy="818366"/>
              </a:xfrm>
              <a:prstGeom prst="rect">
                <a:avLst/>
              </a:prstGeom>
              <a:solidFill>
                <a:schemeClr val="accent4">
                  <a:lumMod val="20000"/>
                  <a:lumOff val="80000"/>
                </a:schemeClr>
              </a:solidFill>
              <a:ln w="28575">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cs typeface="Arial" panose="020B0604020202020204" pitchFamily="34" charset="0"/>
                        </a:rPr>
                        <m:t>𝑈</m:t>
                      </m:r>
                      <m:r>
                        <a:rPr lang="en-US" b="0" i="1" smtClean="0">
                          <a:latin typeface="Cambria Math" panose="02040503050406030204" pitchFamily="18" charset="0"/>
                          <a:ea typeface="Cambria Math" panose="02040503050406030204" pitchFamily="18" charset="0"/>
                          <a:cs typeface="Arial" panose="020B0604020202020204" pitchFamily="34" charset="0"/>
                        </a:rPr>
                        <m:t>=</m:t>
                      </m:r>
                      <m:rad>
                        <m:radPr>
                          <m:degHide m:val="on"/>
                          <m:ctrlPr>
                            <a:rPr lang="en-US" b="0" i="1" smtClean="0">
                              <a:latin typeface="Cambria Math" panose="02040503050406030204" pitchFamily="18" charset="0"/>
                              <a:ea typeface="Cambria Math" panose="02040503050406030204" pitchFamily="18" charset="0"/>
                              <a:cs typeface="Arial" panose="020B0604020202020204" pitchFamily="34" charset="0"/>
                            </a:rPr>
                          </m:ctrlPr>
                        </m:radPr>
                        <m:deg/>
                        <m:e>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𝑔</m:t>
                              </m:r>
                            </m:num>
                            <m:den>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𝐶</m:t>
                                  </m:r>
                                </m:e>
                                <m:sub>
                                  <m:r>
                                    <a:rPr lang="en-US" i="1">
                                      <a:latin typeface="Cambria Math" panose="02040503050406030204" pitchFamily="18" charset="0"/>
                                      <a:ea typeface="Cambria Math" panose="02040503050406030204" pitchFamily="18" charset="0"/>
                                      <a:cs typeface="Arial" panose="020B0604020202020204" pitchFamily="34" charset="0"/>
                                    </a:rPr>
                                    <m:t>𝑓</m:t>
                                  </m:r>
                                </m:sub>
                              </m:sSub>
                            </m:den>
                          </m:f>
                          <m:r>
                            <a:rPr lang="en-US" i="1">
                              <a:latin typeface="Cambria Math" panose="02040503050406030204" pitchFamily="18" charset="0"/>
                              <a:ea typeface="Cambria Math" panose="02040503050406030204" pitchFamily="18" charset="0"/>
                              <a:cs typeface="Arial" panose="020B0604020202020204" pitchFamily="34" charset="0"/>
                            </a:rPr>
                            <m:t>𝐻𝑆</m:t>
                          </m:r>
                        </m:e>
                      </m:rad>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𝐶𝑧</m:t>
                      </m:r>
                      <m:rad>
                        <m:radPr>
                          <m:degHide m:val="on"/>
                          <m:ctrlPr>
                            <a:rPr lang="en-US" i="1">
                              <a:latin typeface="Cambria Math" panose="02040503050406030204" pitchFamily="18" charset="0"/>
                              <a:ea typeface="Cambria Math" panose="02040503050406030204" pitchFamily="18" charset="0"/>
                              <a:cs typeface="Arial" panose="020B0604020202020204" pitchFamily="34" charset="0"/>
                            </a:rPr>
                          </m:ctrlPr>
                        </m:radPr>
                        <m:deg/>
                        <m:e>
                          <m:r>
                            <a:rPr lang="en-US" b="0" i="1" smtClean="0">
                              <a:latin typeface="Cambria Math" panose="02040503050406030204" pitchFamily="18" charset="0"/>
                              <a:ea typeface="Cambria Math" panose="02040503050406030204" pitchFamily="18" charset="0"/>
                              <a:cs typeface="Arial" panose="020B0604020202020204" pitchFamily="34" charset="0"/>
                            </a:rPr>
                            <m:t>𝑔</m:t>
                          </m:r>
                          <m:r>
                            <a:rPr lang="en-US" i="1">
                              <a:latin typeface="Cambria Math" panose="02040503050406030204" pitchFamily="18" charset="0"/>
                              <a:ea typeface="Cambria Math" panose="02040503050406030204" pitchFamily="18" charset="0"/>
                              <a:cs typeface="Arial" panose="020B0604020202020204" pitchFamily="34" charset="0"/>
                            </a:rPr>
                            <m:t>𝐻𝑆</m:t>
                          </m:r>
                        </m:e>
                      </m:rad>
                    </m:oMath>
                  </m:oMathPara>
                </a14:m>
                <a:endParaRPr lang="en-US" dirty="0">
                  <a:latin typeface="Arial" panose="020B0604020202020204" pitchFamily="34" charset="0"/>
                  <a:cs typeface="Arial" panose="020B0604020202020204" pitchFamily="34" charset="0"/>
                </a:endParaRPr>
              </a:p>
            </p:txBody>
          </p:sp>
        </mc:Choice>
        <mc:Fallback xmlns="">
          <p:sp>
            <p:nvSpPr>
              <p:cNvPr id="16" name="TextBox 15">
                <a:extLst>
                  <a:ext uri="{FF2B5EF4-FFF2-40B4-BE49-F238E27FC236}">
                    <a16:creationId xmlns:a16="http://schemas.microsoft.com/office/drawing/2014/main" id="{9B4ADE86-7A22-5245-8F28-68EEE58EDB94}"/>
                  </a:ext>
                </a:extLst>
              </p:cNvPr>
              <p:cNvSpPr txBox="1">
                <a:spLocks noRot="1" noChangeAspect="1" noMove="1" noResize="1" noEditPoints="1" noAdjustHandles="1" noChangeArrowheads="1" noChangeShapeType="1" noTextEdit="1"/>
              </p:cNvSpPr>
              <p:nvPr/>
            </p:nvSpPr>
            <p:spPr>
              <a:xfrm>
                <a:off x="609397" y="4246877"/>
                <a:ext cx="2426305" cy="818366"/>
              </a:xfrm>
              <a:prstGeom prst="rect">
                <a:avLst/>
              </a:prstGeom>
              <a:blipFill>
                <a:blip r:embed="rId6"/>
                <a:stretch>
                  <a:fillRect l="-1563" r="-1042"/>
                </a:stretch>
              </a:blipFill>
              <a:ln w="28575">
                <a:noFill/>
              </a:ln>
            </p:spPr>
            <p:txBody>
              <a:bodyPr/>
              <a:lstStyle/>
              <a:p>
                <a:r>
                  <a:rPr lang="en-US">
                    <a:noFill/>
                  </a:rPr>
                  <a:t> </a:t>
                </a:r>
              </a:p>
            </p:txBody>
          </p:sp>
        </mc:Fallback>
      </mc:AlternateContent>
      <p:sp>
        <p:nvSpPr>
          <p:cNvPr id="17" name="TextBox 16">
            <a:extLst>
              <a:ext uri="{FF2B5EF4-FFF2-40B4-BE49-F238E27FC236}">
                <a16:creationId xmlns:a16="http://schemas.microsoft.com/office/drawing/2014/main" id="{6863BFB0-FC42-C147-9935-2F0012A50131}"/>
              </a:ext>
            </a:extLst>
          </p:cNvPr>
          <p:cNvSpPr txBox="1"/>
          <p:nvPr/>
        </p:nvSpPr>
        <p:spPr>
          <a:xfrm>
            <a:off x="5826368" y="3637669"/>
            <a:ext cx="4487044"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Recall that </a:t>
            </a:r>
          </a:p>
        </p:txBody>
      </p:sp>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565B610F-2719-2444-A8E7-1C618A1ADE4F}"/>
                  </a:ext>
                </a:extLst>
              </p:cNvPr>
              <p:cNvSpPr/>
              <p:nvPr/>
            </p:nvSpPr>
            <p:spPr>
              <a:xfrm>
                <a:off x="7012466" y="3599369"/>
                <a:ext cx="1354666" cy="47166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𝐶𝑧</m:t>
                      </m:r>
                      <m:r>
                        <a:rPr lang="en-US" b="0" i="1" smtClean="0">
                          <a:latin typeface="Cambria Math" panose="02040503050406030204" pitchFamily="18" charset="0"/>
                          <a:cs typeface="Arial" panose="020B0604020202020204" pitchFamily="34" charset="0"/>
                        </a:rPr>
                        <m:t>=</m:t>
                      </m:r>
                      <m:sSubSup>
                        <m:sSubSupPr>
                          <m:ctrlPr>
                            <a:rPr lang="en-US" b="0"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𝐶</m:t>
                          </m:r>
                        </m:e>
                        <m:sub>
                          <m:r>
                            <a:rPr lang="en-US" b="0" i="1" smtClean="0">
                              <a:latin typeface="Cambria Math" panose="02040503050406030204" pitchFamily="18" charset="0"/>
                              <a:cs typeface="Arial" panose="020B0604020202020204" pitchFamily="34" charset="0"/>
                            </a:rPr>
                            <m:t>𝑓</m:t>
                          </m:r>
                        </m:sub>
                        <m:sup>
                          <m:r>
                            <a:rPr lang="en-US" b="0" i="1" smtClean="0">
                              <a:latin typeface="Cambria Math" panose="02040503050406030204" pitchFamily="18" charset="0"/>
                              <a:cs typeface="Arial" panose="020B0604020202020204" pitchFamily="34" charset="0"/>
                            </a:rPr>
                            <m:t>−1/2</m:t>
                          </m:r>
                        </m:sup>
                      </m:sSubSup>
                    </m:oMath>
                  </m:oMathPara>
                </a14:m>
                <a:endParaRPr lang="en-US" dirty="0"/>
              </a:p>
            </p:txBody>
          </p:sp>
        </mc:Choice>
        <mc:Fallback xmlns="">
          <p:sp>
            <p:nvSpPr>
              <p:cNvPr id="18" name="Rectangle 17">
                <a:extLst>
                  <a:ext uri="{FF2B5EF4-FFF2-40B4-BE49-F238E27FC236}">
                    <a16:creationId xmlns:a16="http://schemas.microsoft.com/office/drawing/2014/main" id="{565B610F-2719-2444-A8E7-1C618A1ADE4F}"/>
                  </a:ext>
                </a:extLst>
              </p:cNvPr>
              <p:cNvSpPr>
                <a:spLocks noRot="1" noChangeAspect="1" noMove="1" noResize="1" noEditPoints="1" noAdjustHandles="1" noChangeArrowheads="1" noChangeShapeType="1" noTextEdit="1"/>
              </p:cNvSpPr>
              <p:nvPr/>
            </p:nvSpPr>
            <p:spPr>
              <a:xfrm>
                <a:off x="7012466" y="3599369"/>
                <a:ext cx="1354666" cy="471668"/>
              </a:xfrm>
              <a:prstGeom prst="rect">
                <a:avLst/>
              </a:prstGeom>
              <a:blipFill>
                <a:blip r:embed="rId7"/>
                <a:stretch>
                  <a:fillRect b="-7895"/>
                </a:stretch>
              </a:blipFill>
            </p:spPr>
            <p:txBody>
              <a:bodyPr/>
              <a:lstStyle/>
              <a:p>
                <a:r>
                  <a:rPr lang="en-US">
                    <a:noFill/>
                  </a:rPr>
                  <a:t> </a:t>
                </a:r>
              </a:p>
            </p:txBody>
          </p:sp>
        </mc:Fallback>
      </mc:AlternateContent>
    </p:spTree>
    <p:extLst>
      <p:ext uri="{BB962C8B-B14F-4D97-AF65-F5344CB8AC3E}">
        <p14:creationId xmlns:p14="http://schemas.microsoft.com/office/powerpoint/2010/main" val="15745659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1155370" y="136525"/>
            <a:ext cx="988125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Generalized </a:t>
            </a:r>
            <a:r>
              <a:rPr lang="en-US" sz="2800" b="1" dirty="0" err="1">
                <a:latin typeface="Arial" panose="020B0604020202020204" pitchFamily="34" charset="0"/>
                <a:cs typeface="Arial" panose="020B0604020202020204" pitchFamily="34" charset="0"/>
              </a:rPr>
              <a:t>Chezy</a:t>
            </a:r>
            <a:r>
              <a:rPr lang="en-US" sz="2800" b="1" dirty="0">
                <a:latin typeface="Arial" panose="020B0604020202020204" pitchFamily="34" charset="0"/>
                <a:cs typeface="Arial" panose="020B0604020202020204" pitchFamily="34" charset="0"/>
              </a:rPr>
              <a:t> relation</a:t>
            </a:r>
          </a:p>
        </p:txBody>
      </p:sp>
      <p:sp>
        <p:nvSpPr>
          <p:cNvPr id="14" name="TextBox 13">
            <a:extLst>
              <a:ext uri="{FF2B5EF4-FFF2-40B4-BE49-F238E27FC236}">
                <a16:creationId xmlns:a16="http://schemas.microsoft.com/office/drawing/2014/main" id="{13F5AF24-5B67-BD47-A366-843EDE64C288}"/>
              </a:ext>
            </a:extLst>
          </p:cNvPr>
          <p:cNvSpPr txBox="1"/>
          <p:nvPr/>
        </p:nvSpPr>
        <p:spPr>
          <a:xfrm>
            <a:off x="378030" y="1806979"/>
            <a:ext cx="11435937" cy="120032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If we combine the generalized </a:t>
            </a:r>
            <a:r>
              <a:rPr lang="en-US" dirty="0" err="1">
                <a:latin typeface="Arial" panose="020B0604020202020204" pitchFamily="34" charset="0"/>
                <a:cs typeface="Arial" panose="020B0604020202020204" pitchFamily="34" charset="0"/>
              </a:rPr>
              <a:t>Chezy</a:t>
            </a:r>
            <a:r>
              <a:rPr lang="en-US" dirty="0">
                <a:latin typeface="Arial" panose="020B0604020202020204" pitchFamily="34" charset="0"/>
                <a:cs typeface="Arial" panose="020B0604020202020204" pitchFamily="34" charset="0"/>
              </a:rPr>
              <a:t> relation with the equation of mass conservation, we find relations linking the flow discharge Q, the bed slope S, channel width B and water depth H.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 equation of mass conservation takes the form </a:t>
            </a:r>
          </a:p>
        </p:txBody>
      </p:sp>
      <p:sp>
        <p:nvSpPr>
          <p:cNvPr id="64" name="Slide Number Placeholder 3">
            <a:extLst>
              <a:ext uri="{FF2B5EF4-FFF2-40B4-BE49-F238E27FC236}">
                <a16:creationId xmlns:a16="http://schemas.microsoft.com/office/drawing/2014/main" id="{8D3BDA59-59CE-814F-BFB3-6679FAD7D350}"/>
              </a:ext>
            </a:extLst>
          </p:cNvPr>
          <p:cNvSpPr>
            <a:spLocks noGrp="1"/>
          </p:cNvSpPr>
          <p:nvPr>
            <p:ph type="sldNum" sz="quarter" idx="12"/>
          </p:nvPr>
        </p:nvSpPr>
        <p:spPr>
          <a:xfrm>
            <a:off x="8610600" y="6356350"/>
            <a:ext cx="2743200" cy="365125"/>
          </a:xfrm>
        </p:spPr>
        <p:txBody>
          <a:bodyPr/>
          <a:lstStyle/>
          <a:p>
            <a:fld id="{2386C454-E1BD-5A43-901A-CA4ACC7380B7}" type="slidenum">
              <a:rPr lang="en-US" smtClean="0"/>
              <a:t>20</a:t>
            </a:fld>
            <a:endParaRPr lang="en-US" dirty="0"/>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B4ADE86-7A22-5245-8F28-68EEE58EDB94}"/>
                  </a:ext>
                </a:extLst>
              </p:cNvPr>
              <p:cNvSpPr txBox="1"/>
              <p:nvPr/>
            </p:nvSpPr>
            <p:spPr>
              <a:xfrm>
                <a:off x="4882845" y="824179"/>
                <a:ext cx="2426305" cy="818366"/>
              </a:xfrm>
              <a:prstGeom prst="rect">
                <a:avLst/>
              </a:prstGeom>
              <a:noFill/>
              <a:ln w="28575">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cs typeface="Arial" panose="020B0604020202020204" pitchFamily="34" charset="0"/>
                        </a:rPr>
                        <m:t>𝑈</m:t>
                      </m:r>
                      <m:r>
                        <a:rPr lang="en-US" b="0" i="1" smtClean="0">
                          <a:latin typeface="Cambria Math" panose="02040503050406030204" pitchFamily="18" charset="0"/>
                          <a:ea typeface="Cambria Math" panose="02040503050406030204" pitchFamily="18" charset="0"/>
                          <a:cs typeface="Arial" panose="020B0604020202020204" pitchFamily="34" charset="0"/>
                        </a:rPr>
                        <m:t>=</m:t>
                      </m:r>
                      <m:rad>
                        <m:radPr>
                          <m:degHide m:val="on"/>
                          <m:ctrlPr>
                            <a:rPr lang="en-US" b="0" i="1" smtClean="0">
                              <a:latin typeface="Cambria Math" panose="02040503050406030204" pitchFamily="18" charset="0"/>
                              <a:ea typeface="Cambria Math" panose="02040503050406030204" pitchFamily="18" charset="0"/>
                              <a:cs typeface="Arial" panose="020B0604020202020204" pitchFamily="34" charset="0"/>
                            </a:rPr>
                          </m:ctrlPr>
                        </m:radPr>
                        <m:deg/>
                        <m:e>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𝑔</m:t>
                              </m:r>
                            </m:num>
                            <m:den>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𝐶</m:t>
                                  </m:r>
                                </m:e>
                                <m:sub>
                                  <m:r>
                                    <a:rPr lang="en-US" i="1">
                                      <a:latin typeface="Cambria Math" panose="02040503050406030204" pitchFamily="18" charset="0"/>
                                      <a:ea typeface="Cambria Math" panose="02040503050406030204" pitchFamily="18" charset="0"/>
                                      <a:cs typeface="Arial" panose="020B0604020202020204" pitchFamily="34" charset="0"/>
                                    </a:rPr>
                                    <m:t>𝑓</m:t>
                                  </m:r>
                                </m:sub>
                              </m:sSub>
                            </m:den>
                          </m:f>
                          <m:r>
                            <a:rPr lang="en-US" i="1">
                              <a:latin typeface="Cambria Math" panose="02040503050406030204" pitchFamily="18" charset="0"/>
                              <a:ea typeface="Cambria Math" panose="02040503050406030204" pitchFamily="18" charset="0"/>
                              <a:cs typeface="Arial" panose="020B0604020202020204" pitchFamily="34" charset="0"/>
                            </a:rPr>
                            <m:t>𝐻𝑆</m:t>
                          </m:r>
                        </m:e>
                      </m:rad>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𝐶𝑧</m:t>
                      </m:r>
                      <m:rad>
                        <m:radPr>
                          <m:degHide m:val="on"/>
                          <m:ctrlPr>
                            <a:rPr lang="en-US" i="1">
                              <a:latin typeface="Cambria Math" panose="02040503050406030204" pitchFamily="18" charset="0"/>
                              <a:ea typeface="Cambria Math" panose="02040503050406030204" pitchFamily="18" charset="0"/>
                              <a:cs typeface="Arial" panose="020B0604020202020204" pitchFamily="34" charset="0"/>
                            </a:rPr>
                          </m:ctrlPr>
                        </m:radPr>
                        <m:deg/>
                        <m:e>
                          <m:r>
                            <a:rPr lang="en-US" b="0" i="1" smtClean="0">
                              <a:latin typeface="Cambria Math" panose="02040503050406030204" pitchFamily="18" charset="0"/>
                              <a:ea typeface="Cambria Math" panose="02040503050406030204" pitchFamily="18" charset="0"/>
                              <a:cs typeface="Arial" panose="020B0604020202020204" pitchFamily="34" charset="0"/>
                            </a:rPr>
                            <m:t>𝑔</m:t>
                          </m:r>
                          <m:r>
                            <a:rPr lang="en-US" i="1">
                              <a:latin typeface="Cambria Math" panose="02040503050406030204" pitchFamily="18" charset="0"/>
                              <a:ea typeface="Cambria Math" panose="02040503050406030204" pitchFamily="18" charset="0"/>
                              <a:cs typeface="Arial" panose="020B0604020202020204" pitchFamily="34" charset="0"/>
                            </a:rPr>
                            <m:t>𝐻𝑆</m:t>
                          </m:r>
                        </m:e>
                      </m:rad>
                    </m:oMath>
                  </m:oMathPara>
                </a14:m>
                <a:endParaRPr lang="en-US" dirty="0">
                  <a:latin typeface="Arial" panose="020B0604020202020204" pitchFamily="34" charset="0"/>
                  <a:cs typeface="Arial" panose="020B0604020202020204" pitchFamily="34" charset="0"/>
                </a:endParaRPr>
              </a:p>
            </p:txBody>
          </p:sp>
        </mc:Choice>
        <mc:Fallback xmlns="">
          <p:sp>
            <p:nvSpPr>
              <p:cNvPr id="16" name="TextBox 15">
                <a:extLst>
                  <a:ext uri="{FF2B5EF4-FFF2-40B4-BE49-F238E27FC236}">
                    <a16:creationId xmlns:a16="http://schemas.microsoft.com/office/drawing/2014/main" id="{9B4ADE86-7A22-5245-8F28-68EEE58EDB94}"/>
                  </a:ext>
                </a:extLst>
              </p:cNvPr>
              <p:cNvSpPr txBox="1">
                <a:spLocks noRot="1" noChangeAspect="1" noMove="1" noResize="1" noEditPoints="1" noAdjustHandles="1" noChangeArrowheads="1" noChangeShapeType="1" noTextEdit="1"/>
              </p:cNvSpPr>
              <p:nvPr/>
            </p:nvSpPr>
            <p:spPr>
              <a:xfrm>
                <a:off x="4882845" y="824179"/>
                <a:ext cx="2426305" cy="818366"/>
              </a:xfrm>
              <a:prstGeom prst="rect">
                <a:avLst/>
              </a:prstGeom>
              <a:blipFill>
                <a:blip r:embed="rId3"/>
                <a:stretch>
                  <a:fillRect l="-1563" r="-1042"/>
                </a:stretch>
              </a:blipFill>
              <a:ln w="2857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4251789-06AF-9C40-9B78-C8F7CD2A314F}"/>
                  </a:ext>
                </a:extLst>
              </p:cNvPr>
              <p:cNvSpPr txBox="1"/>
              <p:nvPr/>
            </p:nvSpPr>
            <p:spPr>
              <a:xfrm>
                <a:off x="468923" y="3033242"/>
                <a:ext cx="1762406" cy="276999"/>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𝑄</m:t>
                      </m:r>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𝑈𝐵𝐻</m:t>
                      </m:r>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𝑞</m:t>
                          </m:r>
                        </m:e>
                        <m:sub>
                          <m:r>
                            <a:rPr lang="en-US" b="0" i="1" smtClean="0">
                              <a:latin typeface="Cambria Math" panose="02040503050406030204" pitchFamily="18" charset="0"/>
                              <a:cs typeface="Arial" panose="020B0604020202020204" pitchFamily="34" charset="0"/>
                            </a:rPr>
                            <m:t>𝑤</m:t>
                          </m:r>
                        </m:sub>
                      </m:sSub>
                      <m:r>
                        <a:rPr lang="en-US" b="0" i="1" smtClean="0">
                          <a:latin typeface="Cambria Math" panose="02040503050406030204" pitchFamily="18" charset="0"/>
                          <a:cs typeface="Arial" panose="020B0604020202020204" pitchFamily="34" charset="0"/>
                        </a:rPr>
                        <m:t>𝐵</m:t>
                      </m:r>
                    </m:oMath>
                  </m:oMathPara>
                </a14:m>
                <a:endParaRPr lang="en-US" dirty="0">
                  <a:latin typeface="Arial" panose="020B0604020202020204" pitchFamily="34" charset="0"/>
                  <a:cs typeface="Arial" panose="020B0604020202020204" pitchFamily="34" charset="0"/>
                </a:endParaRPr>
              </a:p>
            </p:txBody>
          </p:sp>
        </mc:Choice>
        <mc:Fallback xmlns="">
          <p:sp>
            <p:nvSpPr>
              <p:cNvPr id="4" name="TextBox 3">
                <a:extLst>
                  <a:ext uri="{FF2B5EF4-FFF2-40B4-BE49-F238E27FC236}">
                    <a16:creationId xmlns:a16="http://schemas.microsoft.com/office/drawing/2014/main" id="{44251789-06AF-9C40-9B78-C8F7CD2A314F}"/>
                  </a:ext>
                </a:extLst>
              </p:cNvPr>
              <p:cNvSpPr txBox="1">
                <a:spLocks noRot="1" noChangeAspect="1" noMove="1" noResize="1" noEditPoints="1" noAdjustHandles="1" noChangeArrowheads="1" noChangeShapeType="1" noTextEdit="1"/>
              </p:cNvSpPr>
              <p:nvPr/>
            </p:nvSpPr>
            <p:spPr>
              <a:xfrm>
                <a:off x="468923" y="3033242"/>
                <a:ext cx="1762406" cy="276999"/>
              </a:xfrm>
              <a:prstGeom prst="rect">
                <a:avLst/>
              </a:prstGeom>
              <a:blipFill>
                <a:blip r:embed="rId4"/>
                <a:stretch>
                  <a:fillRect l="-2143" r="-1429" b="-31818"/>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95F7C099-E40D-9F46-9742-6168B88FAFB4}"/>
              </a:ext>
            </a:extLst>
          </p:cNvPr>
          <p:cNvSpPr/>
          <p:nvPr/>
        </p:nvSpPr>
        <p:spPr>
          <a:xfrm>
            <a:off x="4043721" y="3007308"/>
            <a:ext cx="389850" cy="369332"/>
          </a:xfrm>
          <a:prstGeom prst="rect">
            <a:avLst/>
          </a:prstGeom>
        </p:spPr>
        <p:txBody>
          <a:bodyPr wrap="none">
            <a:spAutoFit/>
          </a:bodyPr>
          <a:lstStyle/>
          <a:p>
            <a:r>
              <a:rPr lang="en-US" dirty="0">
                <a:latin typeface="Arial" panose="020B0604020202020204" pitchFamily="34" charset="0"/>
                <a:cs typeface="Arial" panose="020B0604020202020204" pitchFamily="34" charset="0"/>
              </a:rPr>
              <a:t>or</a:t>
            </a:r>
            <a:endParaRPr lang="en-US" dirty="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7F29418-58F3-D24F-A312-435CD6471A1D}"/>
                  </a:ext>
                </a:extLst>
              </p:cNvPr>
              <p:cNvSpPr txBox="1"/>
              <p:nvPr/>
            </p:nvSpPr>
            <p:spPr>
              <a:xfrm>
                <a:off x="5028601" y="2912439"/>
                <a:ext cx="1429622"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𝑈</m:t>
                      </m:r>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𝑄</m:t>
                          </m:r>
                        </m:num>
                        <m:den>
                          <m:r>
                            <a:rPr lang="en-US" i="1">
                              <a:latin typeface="Cambria Math" panose="02040503050406030204" pitchFamily="18" charset="0"/>
                              <a:cs typeface="Arial" panose="020B0604020202020204" pitchFamily="34" charset="0"/>
                            </a:rPr>
                            <m:t>𝐵𝐻</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𝑞</m:t>
                              </m:r>
                            </m:e>
                            <m:sub>
                              <m:r>
                                <a:rPr lang="en-US" i="1">
                                  <a:latin typeface="Cambria Math" panose="02040503050406030204" pitchFamily="18" charset="0"/>
                                  <a:cs typeface="Arial" panose="020B0604020202020204" pitchFamily="34" charset="0"/>
                                </a:rPr>
                                <m:t>𝑤</m:t>
                              </m:r>
                            </m:sub>
                          </m:sSub>
                        </m:num>
                        <m:den>
                          <m:r>
                            <a:rPr lang="en-US" b="0" i="1" smtClean="0">
                              <a:latin typeface="Cambria Math" panose="02040503050406030204" pitchFamily="18" charset="0"/>
                              <a:cs typeface="Arial" panose="020B0604020202020204" pitchFamily="34" charset="0"/>
                            </a:rPr>
                            <m:t>𝐻</m:t>
                          </m:r>
                        </m:den>
                      </m:f>
                    </m:oMath>
                  </m:oMathPara>
                </a14:m>
                <a:endParaRPr lang="en-US" dirty="0">
                  <a:latin typeface="Arial" panose="020B0604020202020204" pitchFamily="34" charset="0"/>
                  <a:cs typeface="Arial" panose="020B0604020202020204" pitchFamily="34" charset="0"/>
                </a:endParaRPr>
              </a:p>
            </p:txBody>
          </p:sp>
        </mc:Choice>
        <mc:Fallback xmlns="">
          <p:sp>
            <p:nvSpPr>
              <p:cNvPr id="20" name="TextBox 19">
                <a:extLst>
                  <a:ext uri="{FF2B5EF4-FFF2-40B4-BE49-F238E27FC236}">
                    <a16:creationId xmlns:a16="http://schemas.microsoft.com/office/drawing/2014/main" id="{E7F29418-58F3-D24F-A312-435CD6471A1D}"/>
                  </a:ext>
                </a:extLst>
              </p:cNvPr>
              <p:cNvSpPr txBox="1">
                <a:spLocks noRot="1" noChangeAspect="1" noMove="1" noResize="1" noEditPoints="1" noAdjustHandles="1" noChangeArrowheads="1" noChangeShapeType="1" noTextEdit="1"/>
              </p:cNvSpPr>
              <p:nvPr/>
            </p:nvSpPr>
            <p:spPr>
              <a:xfrm>
                <a:off x="5028601" y="2912439"/>
                <a:ext cx="1429622" cy="518604"/>
              </a:xfrm>
              <a:prstGeom prst="rect">
                <a:avLst/>
              </a:prstGeom>
              <a:blipFill>
                <a:blip r:embed="rId5"/>
                <a:stretch>
                  <a:fillRect l="-3540" t="-7143" b="-11905"/>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E29FB936-80D9-3543-8F7C-25D264E58D2C}"/>
              </a:ext>
            </a:extLst>
          </p:cNvPr>
          <p:cNvSpPr/>
          <p:nvPr/>
        </p:nvSpPr>
        <p:spPr>
          <a:xfrm>
            <a:off x="468923" y="3547760"/>
            <a:ext cx="9764211" cy="923330"/>
          </a:xfrm>
          <a:prstGeom prst="rect">
            <a:avLst/>
          </a:prstGeom>
        </p:spPr>
        <p:txBody>
          <a:bodyPr wrap="none">
            <a:spAutoFit/>
          </a:bodyPr>
          <a:lstStyle/>
          <a:p>
            <a:r>
              <a:rPr lang="en-US" dirty="0">
                <a:latin typeface="Arial" panose="020B0604020202020204" pitchFamily="34" charset="0"/>
                <a:cs typeface="Arial" panose="020B0604020202020204" pitchFamily="34" charset="0"/>
              </a:rPr>
              <a:t>with </a:t>
            </a:r>
            <a:r>
              <a:rPr lang="en-US" dirty="0" err="1">
                <a:latin typeface="Arial" panose="020B0604020202020204" pitchFamily="34" charset="0"/>
                <a:cs typeface="Arial" panose="020B0604020202020204" pitchFamily="34" charset="0"/>
              </a:rPr>
              <a:t>q</a:t>
            </a:r>
            <a:r>
              <a:rPr lang="en-US" baseline="-25000" dirty="0" err="1">
                <a:latin typeface="Arial" panose="020B0604020202020204" pitchFamily="34" charset="0"/>
                <a:cs typeface="Arial" panose="020B0604020202020204" pitchFamily="34" charset="0"/>
              </a:rPr>
              <a:t>w</a:t>
            </a:r>
            <a:r>
              <a:rPr lang="en-US" dirty="0">
                <a:latin typeface="Arial" panose="020B0604020202020204" pitchFamily="34" charset="0"/>
                <a:cs typeface="Arial" panose="020B0604020202020204" pitchFamily="34" charset="0"/>
              </a:rPr>
              <a:t> denoting the discharge per unit channel width.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With the aid of the equation of mass conservation the generalized </a:t>
            </a:r>
            <a:r>
              <a:rPr lang="en-US" dirty="0" err="1">
                <a:latin typeface="Arial" panose="020B0604020202020204" pitchFamily="34" charset="0"/>
                <a:cs typeface="Arial" panose="020B0604020202020204" pitchFamily="34" charset="0"/>
              </a:rPr>
              <a:t>Chezy</a:t>
            </a:r>
            <a:r>
              <a:rPr lang="en-US" dirty="0">
                <a:latin typeface="Arial" panose="020B0604020202020204" pitchFamily="34" charset="0"/>
                <a:cs typeface="Arial" panose="020B0604020202020204" pitchFamily="34" charset="0"/>
              </a:rPr>
              <a:t> relation is written as </a:t>
            </a:r>
            <a:endParaRPr lang="en-US" dirty="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359A7E4-27B1-224C-A521-C987F7E0FE4E}"/>
                  </a:ext>
                </a:extLst>
              </p:cNvPr>
              <p:cNvSpPr txBox="1"/>
              <p:nvPr/>
            </p:nvSpPr>
            <p:spPr>
              <a:xfrm>
                <a:off x="580475" y="4587807"/>
                <a:ext cx="3073277" cy="818366"/>
              </a:xfrm>
              <a:prstGeom prst="rect">
                <a:avLst/>
              </a:prstGeom>
              <a:noFill/>
              <a:ln w="28575">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cs typeface="Arial" panose="020B0604020202020204" pitchFamily="34" charset="0"/>
                        </a:rPr>
                        <m:t>𝑄</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𝐵𝐻</m:t>
                      </m:r>
                      <m:rad>
                        <m:radPr>
                          <m:degHide m:val="on"/>
                          <m:ctrlPr>
                            <a:rPr lang="en-US" b="0" i="1" smtClean="0">
                              <a:latin typeface="Cambria Math" panose="02040503050406030204" pitchFamily="18" charset="0"/>
                              <a:ea typeface="Cambria Math" panose="02040503050406030204" pitchFamily="18" charset="0"/>
                              <a:cs typeface="Arial" panose="020B0604020202020204" pitchFamily="34" charset="0"/>
                            </a:rPr>
                          </m:ctrlPr>
                        </m:radPr>
                        <m:deg/>
                        <m:e>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𝑔</m:t>
                              </m:r>
                            </m:num>
                            <m:den>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𝐶</m:t>
                                  </m:r>
                                </m:e>
                                <m:sub>
                                  <m:r>
                                    <a:rPr lang="en-US" i="1">
                                      <a:latin typeface="Cambria Math" panose="02040503050406030204" pitchFamily="18" charset="0"/>
                                      <a:ea typeface="Cambria Math" panose="02040503050406030204" pitchFamily="18" charset="0"/>
                                      <a:cs typeface="Arial" panose="020B0604020202020204" pitchFamily="34" charset="0"/>
                                    </a:rPr>
                                    <m:t>𝑓</m:t>
                                  </m:r>
                                </m:sub>
                              </m:sSub>
                            </m:den>
                          </m:f>
                          <m:r>
                            <a:rPr lang="en-US" i="1">
                              <a:latin typeface="Cambria Math" panose="02040503050406030204" pitchFamily="18" charset="0"/>
                              <a:ea typeface="Cambria Math" panose="02040503050406030204" pitchFamily="18" charset="0"/>
                              <a:cs typeface="Arial" panose="020B0604020202020204" pitchFamily="34" charset="0"/>
                            </a:rPr>
                            <m:t>𝐻𝑆</m:t>
                          </m:r>
                        </m:e>
                      </m:rad>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𝐵𝐻𝐶𝑧</m:t>
                      </m:r>
                      <m:rad>
                        <m:radPr>
                          <m:degHide m:val="on"/>
                          <m:ctrlPr>
                            <a:rPr lang="en-US" i="1">
                              <a:latin typeface="Cambria Math" panose="02040503050406030204" pitchFamily="18" charset="0"/>
                              <a:ea typeface="Cambria Math" panose="02040503050406030204" pitchFamily="18" charset="0"/>
                              <a:cs typeface="Arial" panose="020B0604020202020204" pitchFamily="34" charset="0"/>
                            </a:rPr>
                          </m:ctrlPr>
                        </m:radPr>
                        <m:deg/>
                        <m:e>
                          <m:r>
                            <a:rPr lang="en-US" i="1">
                              <a:latin typeface="Cambria Math" panose="02040503050406030204" pitchFamily="18" charset="0"/>
                              <a:ea typeface="Cambria Math" panose="02040503050406030204" pitchFamily="18" charset="0"/>
                              <a:cs typeface="Arial" panose="020B0604020202020204" pitchFamily="34" charset="0"/>
                            </a:rPr>
                            <m:t>𝑔𝐻𝑆</m:t>
                          </m:r>
                        </m:e>
                      </m:rad>
                    </m:oMath>
                  </m:oMathPara>
                </a14:m>
                <a:endParaRPr lang="en-US" dirty="0">
                  <a:latin typeface="Arial" panose="020B0604020202020204" pitchFamily="34" charset="0"/>
                  <a:cs typeface="Arial" panose="020B0604020202020204" pitchFamily="34" charset="0"/>
                </a:endParaRPr>
              </a:p>
            </p:txBody>
          </p:sp>
        </mc:Choice>
        <mc:Fallback xmlns="">
          <p:sp>
            <p:nvSpPr>
              <p:cNvPr id="22" name="TextBox 21">
                <a:extLst>
                  <a:ext uri="{FF2B5EF4-FFF2-40B4-BE49-F238E27FC236}">
                    <a16:creationId xmlns:a16="http://schemas.microsoft.com/office/drawing/2014/main" id="{9359A7E4-27B1-224C-A521-C987F7E0FE4E}"/>
                  </a:ext>
                </a:extLst>
              </p:cNvPr>
              <p:cNvSpPr txBox="1">
                <a:spLocks noRot="1" noChangeAspect="1" noMove="1" noResize="1" noEditPoints="1" noAdjustHandles="1" noChangeArrowheads="1" noChangeShapeType="1" noTextEdit="1"/>
              </p:cNvSpPr>
              <p:nvPr/>
            </p:nvSpPr>
            <p:spPr>
              <a:xfrm>
                <a:off x="580475" y="4587807"/>
                <a:ext cx="3073277" cy="818366"/>
              </a:xfrm>
              <a:prstGeom prst="rect">
                <a:avLst/>
              </a:prstGeom>
              <a:blipFill>
                <a:blip r:embed="rId6"/>
                <a:stretch>
                  <a:fillRect l="-1646" r="-1646"/>
                </a:stretch>
              </a:blipFill>
              <a:ln w="28575">
                <a:noFill/>
              </a:ln>
            </p:spPr>
            <p:txBody>
              <a:bodyPr/>
              <a:lstStyle/>
              <a:p>
                <a:r>
                  <a:rPr lang="en-US">
                    <a:noFill/>
                  </a:rPr>
                  <a:t> </a:t>
                </a:r>
              </a:p>
            </p:txBody>
          </p:sp>
        </mc:Fallback>
      </mc:AlternateContent>
      <p:sp>
        <p:nvSpPr>
          <p:cNvPr id="11" name="Rectangle 10">
            <a:extLst>
              <a:ext uri="{FF2B5EF4-FFF2-40B4-BE49-F238E27FC236}">
                <a16:creationId xmlns:a16="http://schemas.microsoft.com/office/drawing/2014/main" id="{C14E1450-03FD-4A43-B3CB-D8D13A013947}"/>
              </a:ext>
            </a:extLst>
          </p:cNvPr>
          <p:cNvSpPr/>
          <p:nvPr/>
        </p:nvSpPr>
        <p:spPr>
          <a:xfrm>
            <a:off x="468923" y="5628397"/>
            <a:ext cx="3467616" cy="369332"/>
          </a:xfrm>
          <a:prstGeom prst="rect">
            <a:avLst/>
          </a:prstGeom>
        </p:spPr>
        <p:txBody>
          <a:bodyPr wrap="none">
            <a:spAutoFit/>
          </a:bodyPr>
          <a:lstStyle/>
          <a:p>
            <a:r>
              <a:rPr lang="en-US" dirty="0">
                <a:latin typeface="Arial" panose="020B0604020202020204" pitchFamily="34" charset="0"/>
                <a:cs typeface="Arial" panose="020B0604020202020204" pitchFamily="34" charset="0"/>
              </a:rPr>
              <a:t>The water depth is thus equal to</a:t>
            </a:r>
            <a:endParaRPr lang="en-US"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7D3FD5C-AC7D-F64F-A478-3700D627E3B5}"/>
                  </a:ext>
                </a:extLst>
              </p:cNvPr>
              <p:cNvSpPr txBox="1"/>
              <p:nvPr/>
            </p:nvSpPr>
            <p:spPr>
              <a:xfrm>
                <a:off x="4433571" y="5406173"/>
                <a:ext cx="2994345" cy="72622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𝐻</m:t>
                      </m:r>
                      <m:r>
                        <a:rPr lang="en-US" b="0" i="1" smtClean="0">
                          <a:latin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cs typeface="Arial" panose="020B0604020202020204" pitchFamily="34" charset="0"/>
                            </a:rPr>
                          </m:ctrlPr>
                        </m:sSupPr>
                        <m:e>
                          <m:d>
                            <m:dPr>
                              <m:ctrlPr>
                                <a:rPr lang="en-US" b="0" i="1" smtClean="0">
                                  <a:latin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𝐶</m:t>
                                      </m:r>
                                    </m:e>
                                    <m:sub>
                                      <m:r>
                                        <a:rPr lang="en-US" b="0" i="1" smtClean="0">
                                          <a:latin typeface="Cambria Math" panose="02040503050406030204" pitchFamily="18" charset="0"/>
                                          <a:cs typeface="Arial" panose="020B0604020202020204" pitchFamily="34" charset="0"/>
                                        </a:rPr>
                                        <m:t>𝑓</m:t>
                                      </m:r>
                                    </m:sub>
                                  </m:sSub>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𝑄</m:t>
                                      </m:r>
                                    </m:e>
                                    <m:sup>
                                      <m:r>
                                        <a:rPr lang="en-US" b="0" i="1" smtClean="0">
                                          <a:latin typeface="Cambria Math" panose="02040503050406030204" pitchFamily="18" charset="0"/>
                                          <a:cs typeface="Arial" panose="020B0604020202020204" pitchFamily="34" charset="0"/>
                                        </a:rPr>
                                        <m:t>2</m:t>
                                      </m:r>
                                    </m:sup>
                                  </m:sSup>
                                </m:num>
                                <m:den>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𝐵</m:t>
                                      </m:r>
                                    </m:e>
                                    <m:sup>
                                      <m:r>
                                        <a:rPr lang="en-US" b="0" i="1" smtClean="0">
                                          <a:latin typeface="Cambria Math" panose="02040503050406030204" pitchFamily="18" charset="0"/>
                                          <a:cs typeface="Arial" panose="020B0604020202020204" pitchFamily="34" charset="0"/>
                                        </a:rPr>
                                        <m:t>2</m:t>
                                      </m:r>
                                    </m:sup>
                                  </m:sSup>
                                  <m:r>
                                    <a:rPr lang="en-US" b="0" i="1" smtClean="0">
                                      <a:latin typeface="Cambria Math" panose="02040503050406030204" pitchFamily="18" charset="0"/>
                                      <a:cs typeface="Arial" panose="020B0604020202020204" pitchFamily="34" charset="0"/>
                                    </a:rPr>
                                    <m:t>𝑔𝑆</m:t>
                                  </m:r>
                                </m:den>
                              </m:f>
                            </m:e>
                          </m:d>
                        </m:e>
                        <m:sup>
                          <m:r>
                            <a:rPr lang="en-US" b="0" i="1" smtClean="0">
                              <a:latin typeface="Cambria Math" panose="02040503050406030204" pitchFamily="18" charset="0"/>
                              <a:cs typeface="Arial" panose="020B0604020202020204" pitchFamily="34" charset="0"/>
                            </a:rPr>
                            <m:t>1/3</m:t>
                          </m:r>
                        </m:sup>
                      </m:sSup>
                      <m:r>
                        <a:rPr lang="en-US" b="0" i="1" smtClean="0">
                          <a:latin typeface="Cambria Math" panose="02040503050406030204" pitchFamily="18" charset="0"/>
                          <a:cs typeface="Arial" panose="020B0604020202020204" pitchFamily="34" charset="0"/>
                        </a:rPr>
                        <m:t>=</m:t>
                      </m:r>
                      <m:sSup>
                        <m:sSupPr>
                          <m:ctrlPr>
                            <a:rPr lang="en-US" i="1">
                              <a:latin typeface="Cambria Math" panose="02040503050406030204" pitchFamily="18" charset="0"/>
                              <a:cs typeface="Arial" panose="020B0604020202020204" pitchFamily="34" charset="0"/>
                            </a:rPr>
                          </m:ctrlPr>
                        </m:sSupPr>
                        <m:e>
                          <m:d>
                            <m:dPr>
                              <m:ctrlPr>
                                <a:rPr lang="en-US" i="1">
                                  <a:latin typeface="Cambria Math" panose="02040503050406030204" pitchFamily="18" charset="0"/>
                                  <a:cs typeface="Arial" panose="020B0604020202020204" pitchFamily="34" charset="0"/>
                                </a:rPr>
                              </m:ctrlPr>
                            </m:dPr>
                            <m:e>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𝐶</m:t>
                                      </m:r>
                                    </m:e>
                                    <m:sub>
                                      <m:r>
                                        <a:rPr lang="en-US" i="1">
                                          <a:latin typeface="Cambria Math" panose="02040503050406030204" pitchFamily="18" charset="0"/>
                                          <a:cs typeface="Arial" panose="020B0604020202020204" pitchFamily="34" charset="0"/>
                                        </a:rPr>
                                        <m:t>𝑓</m:t>
                                      </m:r>
                                    </m:sub>
                                  </m:sSub>
                                  <m:sSubSup>
                                    <m:sSubSupPr>
                                      <m:ctrlPr>
                                        <a:rPr lang="en-US"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𝑞</m:t>
                                      </m:r>
                                    </m:e>
                                    <m:sub>
                                      <m:r>
                                        <a:rPr lang="en-US" b="0" i="1" smtClean="0">
                                          <a:latin typeface="Cambria Math" panose="02040503050406030204" pitchFamily="18" charset="0"/>
                                          <a:cs typeface="Arial" panose="020B0604020202020204" pitchFamily="34" charset="0"/>
                                        </a:rPr>
                                        <m:t>𝑤</m:t>
                                      </m:r>
                                    </m:sub>
                                    <m:sup>
                                      <m:r>
                                        <a:rPr lang="en-US" b="0" i="1" smtClean="0">
                                          <a:latin typeface="Cambria Math" panose="02040503050406030204" pitchFamily="18" charset="0"/>
                                          <a:cs typeface="Arial" panose="020B0604020202020204" pitchFamily="34" charset="0"/>
                                        </a:rPr>
                                        <m:t>2</m:t>
                                      </m:r>
                                    </m:sup>
                                  </m:sSubSup>
                                </m:num>
                                <m:den>
                                  <m:r>
                                    <a:rPr lang="en-US" i="1">
                                      <a:latin typeface="Cambria Math" panose="02040503050406030204" pitchFamily="18" charset="0"/>
                                      <a:cs typeface="Arial" panose="020B0604020202020204" pitchFamily="34" charset="0"/>
                                    </a:rPr>
                                    <m:t>𝑔𝑆</m:t>
                                  </m:r>
                                </m:den>
                              </m:f>
                            </m:e>
                          </m:d>
                        </m:e>
                        <m:sup>
                          <m:r>
                            <a:rPr lang="en-US" i="1">
                              <a:latin typeface="Cambria Math" panose="02040503050406030204" pitchFamily="18" charset="0"/>
                              <a:cs typeface="Arial" panose="020B0604020202020204" pitchFamily="34" charset="0"/>
                            </a:rPr>
                            <m:t>1/3</m:t>
                          </m:r>
                        </m:sup>
                      </m:sSup>
                    </m:oMath>
                  </m:oMathPara>
                </a14:m>
                <a:endParaRPr lang="en-US" dirty="0">
                  <a:latin typeface="Arial" panose="020B0604020202020204" pitchFamily="34" charset="0"/>
                  <a:cs typeface="Arial" panose="020B0604020202020204" pitchFamily="34" charset="0"/>
                </a:endParaRPr>
              </a:p>
            </p:txBody>
          </p:sp>
        </mc:Choice>
        <mc:Fallback xmlns="">
          <p:sp>
            <p:nvSpPr>
              <p:cNvPr id="12" name="TextBox 11">
                <a:extLst>
                  <a:ext uri="{FF2B5EF4-FFF2-40B4-BE49-F238E27FC236}">
                    <a16:creationId xmlns:a16="http://schemas.microsoft.com/office/drawing/2014/main" id="{47D3FD5C-AC7D-F64F-A478-3700D627E3B5}"/>
                  </a:ext>
                </a:extLst>
              </p:cNvPr>
              <p:cNvSpPr txBox="1">
                <a:spLocks noRot="1" noChangeAspect="1" noMove="1" noResize="1" noEditPoints="1" noAdjustHandles="1" noChangeArrowheads="1" noChangeShapeType="1" noTextEdit="1"/>
              </p:cNvSpPr>
              <p:nvPr/>
            </p:nvSpPr>
            <p:spPr>
              <a:xfrm>
                <a:off x="4433571" y="5406173"/>
                <a:ext cx="2994345" cy="726224"/>
              </a:xfrm>
              <a:prstGeom prst="rect">
                <a:avLst/>
              </a:prstGeom>
              <a:blipFill>
                <a:blip r:embed="rId7"/>
                <a:stretch>
                  <a:fillRect l="-422" b="-8621"/>
                </a:stretch>
              </a:blipFill>
            </p:spPr>
            <p:txBody>
              <a:bodyPr/>
              <a:lstStyle/>
              <a:p>
                <a:r>
                  <a:rPr lang="en-US">
                    <a:noFill/>
                  </a:rPr>
                  <a:t> </a:t>
                </a:r>
              </a:p>
            </p:txBody>
          </p:sp>
        </mc:Fallback>
      </mc:AlternateContent>
    </p:spTree>
    <p:extLst>
      <p:ext uri="{BB962C8B-B14F-4D97-AF65-F5344CB8AC3E}">
        <p14:creationId xmlns:p14="http://schemas.microsoft.com/office/powerpoint/2010/main" val="24830682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1D7ED22-DD54-C44D-BFDF-DFB30798EF7E}"/>
              </a:ext>
            </a:extLst>
          </p:cNvPr>
          <p:cNvSpPr/>
          <p:nvPr/>
        </p:nvSpPr>
        <p:spPr>
          <a:xfrm>
            <a:off x="265267" y="5322777"/>
            <a:ext cx="2513102" cy="1398698"/>
          </a:xfrm>
          <a:prstGeom prst="rect">
            <a:avLst/>
          </a:prstGeom>
          <a:solidFill>
            <a:schemeClr val="accent3">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E26F3B4-9DA8-7245-8E6E-F1D070C26EBA}"/>
              </a:ext>
            </a:extLst>
          </p:cNvPr>
          <p:cNvSpPr txBox="1"/>
          <p:nvPr/>
        </p:nvSpPr>
        <p:spPr>
          <a:xfrm>
            <a:off x="1155370" y="136525"/>
            <a:ext cx="9881259" cy="523220"/>
          </a:xfrm>
          <a:prstGeom prst="rect">
            <a:avLst/>
          </a:prstGeom>
          <a:noFill/>
        </p:spPr>
        <p:txBody>
          <a:bodyPr wrap="square" rtlCol="0">
            <a:spAutoFit/>
          </a:bodyPr>
          <a:lstStyle/>
          <a:p>
            <a:pPr algn="ctr"/>
            <a:r>
              <a:rPr lang="en-US" sz="2800" b="1" dirty="0" err="1">
                <a:latin typeface="Arial" panose="020B0604020202020204" pitchFamily="34" charset="0"/>
                <a:cs typeface="Arial" panose="020B0604020202020204" pitchFamily="34" charset="0"/>
              </a:rPr>
              <a:t>Chezy</a:t>
            </a:r>
            <a:r>
              <a:rPr lang="en-US" sz="2800" b="1" dirty="0">
                <a:latin typeface="Arial" panose="020B0604020202020204" pitchFamily="34" charset="0"/>
                <a:cs typeface="Arial" panose="020B0604020202020204" pitchFamily="34" charset="0"/>
              </a:rPr>
              <a:t> and Manning-Strickler formulations</a:t>
            </a:r>
          </a:p>
        </p:txBody>
      </p:sp>
      <p:sp>
        <p:nvSpPr>
          <p:cNvPr id="64" name="Slide Number Placeholder 3">
            <a:extLst>
              <a:ext uri="{FF2B5EF4-FFF2-40B4-BE49-F238E27FC236}">
                <a16:creationId xmlns:a16="http://schemas.microsoft.com/office/drawing/2014/main" id="{8D3BDA59-59CE-814F-BFB3-6679FAD7D350}"/>
              </a:ext>
            </a:extLst>
          </p:cNvPr>
          <p:cNvSpPr>
            <a:spLocks noGrp="1"/>
          </p:cNvSpPr>
          <p:nvPr>
            <p:ph type="sldNum" sz="quarter" idx="12"/>
          </p:nvPr>
        </p:nvSpPr>
        <p:spPr>
          <a:xfrm>
            <a:off x="8610600" y="6356350"/>
            <a:ext cx="2743200" cy="365125"/>
          </a:xfrm>
        </p:spPr>
        <p:txBody>
          <a:bodyPr/>
          <a:lstStyle/>
          <a:p>
            <a:fld id="{2386C454-E1BD-5A43-901A-CA4ACC7380B7}" type="slidenum">
              <a:rPr lang="en-US" smtClean="0"/>
              <a:t>21</a:t>
            </a:fld>
            <a:endParaRPr lang="en-US" dirty="0"/>
          </a:p>
        </p:txBody>
      </p:sp>
      <p:sp>
        <p:nvSpPr>
          <p:cNvPr id="15" name="TextBox 14">
            <a:extLst>
              <a:ext uri="{FF2B5EF4-FFF2-40B4-BE49-F238E27FC236}">
                <a16:creationId xmlns:a16="http://schemas.microsoft.com/office/drawing/2014/main" id="{B447CD7A-0A17-6E42-9807-D2947603E52A}"/>
              </a:ext>
            </a:extLst>
          </p:cNvPr>
          <p:cNvSpPr txBox="1"/>
          <p:nvPr/>
        </p:nvSpPr>
        <p:spPr>
          <a:xfrm>
            <a:off x="379968" y="845935"/>
            <a:ext cx="11435937"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How does our generalized </a:t>
            </a:r>
            <a:r>
              <a:rPr lang="en-US" dirty="0" err="1">
                <a:latin typeface="Arial" panose="020B0604020202020204" pitchFamily="34" charset="0"/>
                <a:cs typeface="Arial" panose="020B0604020202020204" pitchFamily="34" charset="0"/>
              </a:rPr>
              <a:t>Chezy</a:t>
            </a:r>
            <a:r>
              <a:rPr lang="en-US" dirty="0">
                <a:latin typeface="Arial" panose="020B0604020202020204" pitchFamily="34" charset="0"/>
                <a:cs typeface="Arial" panose="020B0604020202020204" pitchFamily="34" charset="0"/>
              </a:rPr>
              <a:t> relation change if we express the friction coefficient C</a:t>
            </a:r>
            <a:r>
              <a:rPr lang="en-US" baseline="-25000" dirty="0">
                <a:latin typeface="Arial" panose="020B0604020202020204" pitchFamily="34" charset="0"/>
                <a:cs typeface="Arial" panose="020B0604020202020204" pitchFamily="34" charset="0"/>
              </a:rPr>
              <a:t>f</a:t>
            </a:r>
            <a:r>
              <a:rPr lang="en-US" dirty="0">
                <a:latin typeface="Arial" panose="020B0604020202020204" pitchFamily="34" charset="0"/>
                <a:cs typeface="Arial" panose="020B0604020202020204" pitchFamily="34" charset="0"/>
              </a:rPr>
              <a:t> as a function of the water depth and roughness height (slide 9)?</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0D5E05BC-46B7-C048-B1B9-49A41440D8FA}"/>
                  </a:ext>
                </a:extLst>
              </p:cNvPr>
              <p:cNvSpPr txBox="1"/>
              <p:nvPr/>
            </p:nvSpPr>
            <p:spPr>
              <a:xfrm>
                <a:off x="526428" y="1678456"/>
                <a:ext cx="2336922" cy="700705"/>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𝐶𝑧</m:t>
                      </m:r>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1</m:t>
                          </m:r>
                        </m:num>
                        <m:den>
                          <m:rad>
                            <m:radPr>
                              <m:degHide m:val="on"/>
                              <m:ctrlPr>
                                <a:rPr lang="en-US" b="0" i="1" smtClean="0">
                                  <a:latin typeface="Cambria Math" panose="02040503050406030204" pitchFamily="18" charset="0"/>
                                  <a:cs typeface="Arial" panose="020B0604020202020204" pitchFamily="34" charset="0"/>
                                </a:rPr>
                              </m:ctrlPr>
                            </m:radPr>
                            <m:deg/>
                            <m:e>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𝐶</m:t>
                                  </m:r>
                                </m:e>
                                <m:sub>
                                  <m:r>
                                    <a:rPr lang="en-US" b="0" i="1" smtClean="0">
                                      <a:latin typeface="Cambria Math" panose="02040503050406030204" pitchFamily="18" charset="0"/>
                                      <a:cs typeface="Arial" panose="020B0604020202020204" pitchFamily="34" charset="0"/>
                                    </a:rPr>
                                    <m:t>𝑓</m:t>
                                  </m:r>
                                </m:sub>
                              </m:sSub>
                            </m:e>
                          </m:rad>
                        </m:den>
                      </m:f>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𝛼</m:t>
                          </m:r>
                        </m:e>
                        <m:sub>
                          <m:r>
                            <a:rPr lang="en-US" b="0" i="1" smtClean="0">
                              <a:latin typeface="Cambria Math" panose="02040503050406030204" pitchFamily="18" charset="0"/>
                              <a:cs typeface="Arial" panose="020B0604020202020204" pitchFamily="34" charset="0"/>
                            </a:rPr>
                            <m:t>𝑟</m:t>
                          </m:r>
                        </m:sub>
                      </m:sSub>
                      <m:sSup>
                        <m:sSupPr>
                          <m:ctrlPr>
                            <a:rPr lang="en-US" b="0" i="1" smtClean="0">
                              <a:latin typeface="Cambria Math" panose="02040503050406030204" pitchFamily="18" charset="0"/>
                              <a:cs typeface="Arial" panose="020B0604020202020204" pitchFamily="34" charset="0"/>
                            </a:rPr>
                          </m:ctrlPr>
                        </m:sSupPr>
                        <m:e>
                          <m:d>
                            <m:dPr>
                              <m:ctrlPr>
                                <a:rPr lang="en-US" b="0" i="1" smtClean="0">
                                  <a:latin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𝐻</m:t>
                                  </m:r>
                                </m:num>
                                <m:den>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𝑘</m:t>
                                      </m:r>
                                    </m:e>
                                    <m:sub>
                                      <m:r>
                                        <a:rPr lang="en-US" b="0" i="1" smtClean="0">
                                          <a:latin typeface="Cambria Math" panose="02040503050406030204" pitchFamily="18" charset="0"/>
                                          <a:cs typeface="Arial" panose="020B0604020202020204" pitchFamily="34" charset="0"/>
                                        </a:rPr>
                                        <m:t>𝑐</m:t>
                                      </m:r>
                                    </m:sub>
                                  </m:sSub>
                                </m:den>
                              </m:f>
                            </m:e>
                          </m:d>
                        </m:e>
                        <m:sup>
                          <m:r>
                            <a:rPr lang="en-US" b="0" i="1" smtClean="0">
                              <a:latin typeface="Cambria Math" panose="02040503050406030204" pitchFamily="18" charset="0"/>
                              <a:cs typeface="Arial" panose="020B0604020202020204" pitchFamily="34" charset="0"/>
                            </a:rPr>
                            <m:t>1/6</m:t>
                          </m:r>
                        </m:sup>
                      </m:sSup>
                    </m:oMath>
                  </m:oMathPara>
                </a14:m>
                <a:endParaRPr lang="en-US" dirty="0">
                  <a:latin typeface="Arial" panose="020B0604020202020204" pitchFamily="34" charset="0"/>
                  <a:cs typeface="Arial" panose="020B0604020202020204" pitchFamily="34" charset="0"/>
                </a:endParaRPr>
              </a:p>
            </p:txBody>
          </p:sp>
        </mc:Choice>
        <mc:Fallback xmlns="">
          <p:sp>
            <p:nvSpPr>
              <p:cNvPr id="24" name="TextBox 23">
                <a:extLst>
                  <a:ext uri="{FF2B5EF4-FFF2-40B4-BE49-F238E27FC236}">
                    <a16:creationId xmlns:a16="http://schemas.microsoft.com/office/drawing/2014/main" id="{0D5E05BC-46B7-C048-B1B9-49A41440D8FA}"/>
                  </a:ext>
                </a:extLst>
              </p:cNvPr>
              <p:cNvSpPr txBox="1">
                <a:spLocks noRot="1" noChangeAspect="1" noMove="1" noResize="1" noEditPoints="1" noAdjustHandles="1" noChangeArrowheads="1" noChangeShapeType="1" noTextEdit="1"/>
              </p:cNvSpPr>
              <p:nvPr/>
            </p:nvSpPr>
            <p:spPr>
              <a:xfrm>
                <a:off x="526428" y="1678456"/>
                <a:ext cx="2336922" cy="700705"/>
              </a:xfrm>
              <a:prstGeom prst="rect">
                <a:avLst/>
              </a:prstGeom>
              <a:blipFill>
                <a:blip r:embed="rId3"/>
                <a:stretch>
                  <a:fillRect l="-1622" t="-3571" r="-541" b="-8929"/>
                </a:stretch>
              </a:blipFill>
            </p:spPr>
            <p:txBody>
              <a:bodyPr/>
              <a:lstStyle/>
              <a:p>
                <a:r>
                  <a:rPr lang="en-US">
                    <a:noFill/>
                  </a:rPr>
                  <a:t> </a:t>
                </a:r>
              </a:p>
            </p:txBody>
          </p:sp>
        </mc:Fallback>
      </mc:AlternateContent>
      <p:sp>
        <p:nvSpPr>
          <p:cNvPr id="26" name="TextBox 25">
            <a:extLst>
              <a:ext uri="{FF2B5EF4-FFF2-40B4-BE49-F238E27FC236}">
                <a16:creationId xmlns:a16="http://schemas.microsoft.com/office/drawing/2014/main" id="{EBD8D27D-CE47-DC4C-884F-D9F02DF69773}"/>
              </a:ext>
            </a:extLst>
          </p:cNvPr>
          <p:cNvSpPr txBox="1"/>
          <p:nvPr/>
        </p:nvSpPr>
        <p:spPr>
          <a:xfrm>
            <a:off x="526428" y="2649468"/>
            <a:ext cx="11435937"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Substituting the above equation in the generalized </a:t>
            </a:r>
            <a:r>
              <a:rPr lang="en-US" dirty="0" err="1">
                <a:latin typeface="Arial" panose="020B0604020202020204" pitchFamily="34" charset="0"/>
                <a:cs typeface="Arial" panose="020B0604020202020204" pitchFamily="34" charset="0"/>
              </a:rPr>
              <a:t>Chezy</a:t>
            </a:r>
            <a:r>
              <a:rPr lang="en-US" dirty="0">
                <a:latin typeface="Arial" panose="020B0604020202020204" pitchFamily="34" charset="0"/>
                <a:cs typeface="Arial" panose="020B0604020202020204" pitchFamily="34" charset="0"/>
              </a:rPr>
              <a:t> formulation</a:t>
            </a:r>
          </a:p>
          <a:p>
            <a:r>
              <a:rPr lang="en-US" dirty="0">
                <a:latin typeface="Arial" panose="020B0604020202020204" pitchFamily="34" charset="0"/>
                <a:cs typeface="Arial" panose="020B0604020202020204" pitchFamily="34" charset="0"/>
              </a:rPr>
              <a:t>it is found that </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AF14361A-033E-2A4A-8437-5D7A8835D4A0}"/>
                  </a:ext>
                </a:extLst>
              </p:cNvPr>
              <p:cNvSpPr txBox="1"/>
              <p:nvPr/>
            </p:nvSpPr>
            <p:spPr>
              <a:xfrm>
                <a:off x="8001184" y="2424951"/>
                <a:ext cx="2426305" cy="818366"/>
              </a:xfrm>
              <a:prstGeom prst="rect">
                <a:avLst/>
              </a:prstGeom>
              <a:noFill/>
              <a:ln w="28575">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cs typeface="Arial" panose="020B0604020202020204" pitchFamily="34" charset="0"/>
                        </a:rPr>
                        <m:t>𝑈</m:t>
                      </m:r>
                      <m:r>
                        <a:rPr lang="en-US" b="0" i="1" smtClean="0">
                          <a:latin typeface="Cambria Math" panose="02040503050406030204" pitchFamily="18" charset="0"/>
                          <a:ea typeface="Cambria Math" panose="02040503050406030204" pitchFamily="18" charset="0"/>
                          <a:cs typeface="Arial" panose="020B0604020202020204" pitchFamily="34" charset="0"/>
                        </a:rPr>
                        <m:t>=</m:t>
                      </m:r>
                      <m:rad>
                        <m:radPr>
                          <m:degHide m:val="on"/>
                          <m:ctrlPr>
                            <a:rPr lang="en-US" b="0" i="1" smtClean="0">
                              <a:latin typeface="Cambria Math" panose="02040503050406030204" pitchFamily="18" charset="0"/>
                              <a:ea typeface="Cambria Math" panose="02040503050406030204" pitchFamily="18" charset="0"/>
                              <a:cs typeface="Arial" panose="020B0604020202020204" pitchFamily="34" charset="0"/>
                            </a:rPr>
                          </m:ctrlPr>
                        </m:radPr>
                        <m:deg/>
                        <m:e>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𝑔</m:t>
                              </m:r>
                            </m:num>
                            <m:den>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𝐶</m:t>
                                  </m:r>
                                </m:e>
                                <m:sub>
                                  <m:r>
                                    <a:rPr lang="en-US" i="1">
                                      <a:latin typeface="Cambria Math" panose="02040503050406030204" pitchFamily="18" charset="0"/>
                                      <a:ea typeface="Cambria Math" panose="02040503050406030204" pitchFamily="18" charset="0"/>
                                      <a:cs typeface="Arial" panose="020B0604020202020204" pitchFamily="34" charset="0"/>
                                    </a:rPr>
                                    <m:t>𝑓</m:t>
                                  </m:r>
                                </m:sub>
                              </m:sSub>
                            </m:den>
                          </m:f>
                          <m:r>
                            <a:rPr lang="en-US" i="1">
                              <a:latin typeface="Cambria Math" panose="02040503050406030204" pitchFamily="18" charset="0"/>
                              <a:ea typeface="Cambria Math" panose="02040503050406030204" pitchFamily="18" charset="0"/>
                              <a:cs typeface="Arial" panose="020B0604020202020204" pitchFamily="34" charset="0"/>
                            </a:rPr>
                            <m:t>𝐻𝑆</m:t>
                          </m:r>
                        </m:e>
                      </m:rad>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𝐶𝑧</m:t>
                      </m:r>
                      <m:rad>
                        <m:radPr>
                          <m:degHide m:val="on"/>
                          <m:ctrlPr>
                            <a:rPr lang="en-US" i="1">
                              <a:latin typeface="Cambria Math" panose="02040503050406030204" pitchFamily="18" charset="0"/>
                              <a:ea typeface="Cambria Math" panose="02040503050406030204" pitchFamily="18" charset="0"/>
                              <a:cs typeface="Arial" panose="020B0604020202020204" pitchFamily="34" charset="0"/>
                            </a:rPr>
                          </m:ctrlPr>
                        </m:radPr>
                        <m:deg/>
                        <m:e>
                          <m:r>
                            <a:rPr lang="en-US" b="0" i="1" smtClean="0">
                              <a:latin typeface="Cambria Math" panose="02040503050406030204" pitchFamily="18" charset="0"/>
                              <a:ea typeface="Cambria Math" panose="02040503050406030204" pitchFamily="18" charset="0"/>
                              <a:cs typeface="Arial" panose="020B0604020202020204" pitchFamily="34" charset="0"/>
                            </a:rPr>
                            <m:t>𝑔</m:t>
                          </m:r>
                          <m:r>
                            <a:rPr lang="en-US" i="1">
                              <a:latin typeface="Cambria Math" panose="02040503050406030204" pitchFamily="18" charset="0"/>
                              <a:ea typeface="Cambria Math" panose="02040503050406030204" pitchFamily="18" charset="0"/>
                              <a:cs typeface="Arial" panose="020B0604020202020204" pitchFamily="34" charset="0"/>
                            </a:rPr>
                            <m:t>𝐻𝑆</m:t>
                          </m:r>
                        </m:e>
                      </m:rad>
                    </m:oMath>
                  </m:oMathPara>
                </a14:m>
                <a:endParaRPr lang="en-US" dirty="0">
                  <a:latin typeface="Arial" panose="020B0604020202020204" pitchFamily="34" charset="0"/>
                  <a:cs typeface="Arial" panose="020B0604020202020204" pitchFamily="34" charset="0"/>
                </a:endParaRPr>
              </a:p>
            </p:txBody>
          </p:sp>
        </mc:Choice>
        <mc:Fallback xmlns="">
          <p:sp>
            <p:nvSpPr>
              <p:cNvPr id="27" name="TextBox 26">
                <a:extLst>
                  <a:ext uri="{FF2B5EF4-FFF2-40B4-BE49-F238E27FC236}">
                    <a16:creationId xmlns:a16="http://schemas.microsoft.com/office/drawing/2014/main" id="{AF14361A-033E-2A4A-8437-5D7A8835D4A0}"/>
                  </a:ext>
                </a:extLst>
              </p:cNvPr>
              <p:cNvSpPr txBox="1">
                <a:spLocks noRot="1" noChangeAspect="1" noMove="1" noResize="1" noEditPoints="1" noAdjustHandles="1" noChangeArrowheads="1" noChangeShapeType="1" noTextEdit="1"/>
              </p:cNvSpPr>
              <p:nvPr/>
            </p:nvSpPr>
            <p:spPr>
              <a:xfrm>
                <a:off x="8001184" y="2424951"/>
                <a:ext cx="2426305" cy="818366"/>
              </a:xfrm>
              <a:prstGeom prst="rect">
                <a:avLst/>
              </a:prstGeom>
              <a:blipFill>
                <a:blip r:embed="rId4"/>
                <a:stretch>
                  <a:fillRect l="-1563" r="-1042"/>
                </a:stretch>
              </a:blipFill>
              <a:ln w="2857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B9EA2084-BE5A-E345-9FAA-BCA09674E340}"/>
                  </a:ext>
                </a:extLst>
              </p:cNvPr>
              <p:cNvSpPr txBox="1"/>
              <p:nvPr/>
            </p:nvSpPr>
            <p:spPr>
              <a:xfrm>
                <a:off x="662538" y="3536363"/>
                <a:ext cx="5473871" cy="705450"/>
              </a:xfrm>
              <a:prstGeom prst="rect">
                <a:avLst/>
              </a:prstGeom>
              <a:noFill/>
              <a:ln w="28575">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cs typeface="Arial" panose="020B0604020202020204" pitchFamily="34" charset="0"/>
                        </a:rPr>
                        <m:t>𝑈</m:t>
                      </m:r>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𝛼</m:t>
                          </m:r>
                        </m:e>
                        <m:sub>
                          <m:r>
                            <a:rPr lang="en-US" i="1">
                              <a:latin typeface="Cambria Math" panose="02040503050406030204" pitchFamily="18" charset="0"/>
                              <a:cs typeface="Arial" panose="020B0604020202020204" pitchFamily="34" charset="0"/>
                            </a:rPr>
                            <m:t>𝑟</m:t>
                          </m:r>
                        </m:sub>
                      </m:sSub>
                      <m:sSup>
                        <m:sSupPr>
                          <m:ctrlPr>
                            <a:rPr lang="en-US" i="1">
                              <a:latin typeface="Cambria Math" panose="02040503050406030204" pitchFamily="18" charset="0"/>
                              <a:cs typeface="Arial" panose="020B0604020202020204" pitchFamily="34" charset="0"/>
                            </a:rPr>
                          </m:ctrlPr>
                        </m:sSupPr>
                        <m:e>
                          <m:d>
                            <m:dPr>
                              <m:ctrlPr>
                                <a:rPr lang="en-US" i="1">
                                  <a:latin typeface="Cambria Math" panose="02040503050406030204" pitchFamily="18" charset="0"/>
                                  <a:cs typeface="Arial" panose="020B0604020202020204" pitchFamily="34" charset="0"/>
                                </a:rPr>
                              </m:ctrlPr>
                            </m:dPr>
                            <m:e>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𝐻</m:t>
                                  </m:r>
                                </m:num>
                                <m:den>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𝑘</m:t>
                                      </m:r>
                                    </m:e>
                                    <m:sub>
                                      <m:r>
                                        <a:rPr lang="en-US" i="1">
                                          <a:latin typeface="Cambria Math" panose="02040503050406030204" pitchFamily="18" charset="0"/>
                                          <a:cs typeface="Arial" panose="020B0604020202020204" pitchFamily="34" charset="0"/>
                                        </a:rPr>
                                        <m:t>𝑐</m:t>
                                      </m:r>
                                    </m:sub>
                                  </m:sSub>
                                </m:den>
                              </m:f>
                            </m:e>
                          </m:d>
                        </m:e>
                        <m:sup>
                          <m:r>
                            <a:rPr lang="en-US" i="1">
                              <a:latin typeface="Cambria Math" panose="02040503050406030204" pitchFamily="18" charset="0"/>
                              <a:cs typeface="Arial" panose="020B0604020202020204" pitchFamily="34" charset="0"/>
                            </a:rPr>
                            <m:t>1/6</m:t>
                          </m:r>
                        </m:sup>
                      </m:sSup>
                      <m:rad>
                        <m:radPr>
                          <m:degHide m:val="on"/>
                          <m:ctrlPr>
                            <a:rPr lang="en-US" i="1">
                              <a:latin typeface="Cambria Math" panose="02040503050406030204" pitchFamily="18" charset="0"/>
                              <a:ea typeface="Cambria Math" panose="02040503050406030204" pitchFamily="18" charset="0"/>
                              <a:cs typeface="Arial" panose="020B0604020202020204" pitchFamily="34" charset="0"/>
                            </a:rPr>
                          </m:ctrlPr>
                        </m:radPr>
                        <m:deg/>
                        <m:e>
                          <m:r>
                            <a:rPr lang="en-US" b="0" i="1" smtClean="0">
                              <a:latin typeface="Cambria Math" panose="02040503050406030204" pitchFamily="18" charset="0"/>
                              <a:ea typeface="Cambria Math" panose="02040503050406030204" pitchFamily="18" charset="0"/>
                              <a:cs typeface="Arial" panose="020B0604020202020204" pitchFamily="34" charset="0"/>
                            </a:rPr>
                            <m:t>𝑔</m:t>
                          </m:r>
                          <m:r>
                            <a:rPr lang="en-US" i="1">
                              <a:latin typeface="Cambria Math" panose="02040503050406030204" pitchFamily="18" charset="0"/>
                              <a:ea typeface="Cambria Math" panose="02040503050406030204" pitchFamily="18" charset="0"/>
                              <a:cs typeface="Arial" panose="020B0604020202020204" pitchFamily="34" charset="0"/>
                            </a:rPr>
                            <m:t>𝐻𝑆</m:t>
                          </m:r>
                        </m:e>
                      </m:rad>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𝛼</m:t>
                          </m:r>
                        </m:e>
                        <m:sub>
                          <m:r>
                            <a:rPr lang="en-US" i="1">
                              <a:latin typeface="Cambria Math" panose="02040503050406030204" pitchFamily="18" charset="0"/>
                              <a:cs typeface="Arial" panose="020B0604020202020204" pitchFamily="34" charset="0"/>
                            </a:rPr>
                            <m:t>𝑟</m:t>
                          </m:r>
                        </m:sub>
                      </m:sSub>
                      <m:f>
                        <m:fPr>
                          <m:ctrlPr>
                            <a:rPr lang="en-US" i="1" smtClean="0">
                              <a:latin typeface="Cambria Math" panose="02040503050406030204" pitchFamily="18" charset="0"/>
                              <a:cs typeface="Arial" panose="020B0604020202020204" pitchFamily="34" charset="0"/>
                            </a:rPr>
                          </m:ctrlPr>
                        </m:fPr>
                        <m:num>
                          <m:rad>
                            <m:radPr>
                              <m:degHide m:val="on"/>
                              <m:ctrlPr>
                                <a:rPr lang="en-US" i="1" smtClean="0">
                                  <a:latin typeface="Cambria Math" panose="02040503050406030204" pitchFamily="18" charset="0"/>
                                  <a:cs typeface="Arial" panose="020B0604020202020204" pitchFamily="34" charset="0"/>
                                </a:rPr>
                              </m:ctrlPr>
                            </m:radPr>
                            <m:deg/>
                            <m:e>
                              <m:r>
                                <a:rPr lang="en-US" b="0" i="1" smtClean="0">
                                  <a:latin typeface="Cambria Math" panose="02040503050406030204" pitchFamily="18" charset="0"/>
                                  <a:cs typeface="Arial" panose="020B0604020202020204" pitchFamily="34" charset="0"/>
                                </a:rPr>
                                <m:t>𝑔</m:t>
                              </m:r>
                            </m:e>
                          </m:rad>
                        </m:num>
                        <m:den>
                          <m:sSubSup>
                            <m:sSubSupPr>
                              <m:ctrlPr>
                                <a:rPr lang="en-US"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𝑘</m:t>
                              </m:r>
                            </m:e>
                            <m:sub>
                              <m:r>
                                <a:rPr lang="en-US" b="0" i="1" smtClean="0">
                                  <a:latin typeface="Cambria Math" panose="02040503050406030204" pitchFamily="18" charset="0"/>
                                  <a:cs typeface="Arial" panose="020B0604020202020204" pitchFamily="34" charset="0"/>
                                </a:rPr>
                                <m:t>𝑐</m:t>
                              </m:r>
                            </m:sub>
                            <m:sup>
                              <m:r>
                                <a:rPr lang="en-US" b="0" i="1" smtClean="0">
                                  <a:latin typeface="Cambria Math" panose="02040503050406030204" pitchFamily="18" charset="0"/>
                                  <a:cs typeface="Arial" panose="020B0604020202020204" pitchFamily="34" charset="0"/>
                                </a:rPr>
                                <m:t>1/6</m:t>
                              </m:r>
                            </m:sup>
                          </m:sSubSup>
                        </m:den>
                      </m:f>
                      <m:sSup>
                        <m:sSupPr>
                          <m:ctrlPr>
                            <a:rPr lang="en-US"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𝐻</m:t>
                          </m:r>
                        </m:e>
                        <m:sup>
                          <m:r>
                            <a:rPr lang="en-US" b="0" i="1" smtClean="0">
                              <a:latin typeface="Cambria Math" panose="02040503050406030204" pitchFamily="18" charset="0"/>
                              <a:cs typeface="Arial" panose="020B0604020202020204" pitchFamily="34" charset="0"/>
                            </a:rPr>
                            <m:t>2/3</m:t>
                          </m:r>
                        </m:sup>
                      </m:sSup>
                      <m:sSup>
                        <m:sSupPr>
                          <m:ctrlPr>
                            <a:rPr lang="en-US"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𝑆</m:t>
                          </m:r>
                        </m:e>
                        <m:sup>
                          <m:r>
                            <a:rPr lang="en-US" b="0" i="1" smtClean="0">
                              <a:latin typeface="Cambria Math" panose="02040503050406030204" pitchFamily="18" charset="0"/>
                              <a:cs typeface="Arial" panose="020B0604020202020204" pitchFamily="34" charset="0"/>
                            </a:rPr>
                            <m:t>1/2</m:t>
                          </m:r>
                        </m:sup>
                      </m:sSup>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1</m:t>
                          </m:r>
                        </m:num>
                        <m:den>
                          <m:r>
                            <a:rPr lang="en-US" b="0" i="1" smtClean="0">
                              <a:latin typeface="Cambria Math" panose="02040503050406030204" pitchFamily="18" charset="0"/>
                              <a:cs typeface="Arial" panose="020B0604020202020204" pitchFamily="34" charset="0"/>
                            </a:rPr>
                            <m:t>𝑛</m:t>
                          </m:r>
                        </m:den>
                      </m:f>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𝐻</m:t>
                          </m:r>
                        </m:e>
                        <m:sup>
                          <m:r>
                            <a:rPr lang="en-US" i="1">
                              <a:latin typeface="Cambria Math" panose="02040503050406030204" pitchFamily="18" charset="0"/>
                              <a:cs typeface="Arial" panose="020B0604020202020204" pitchFamily="34" charset="0"/>
                            </a:rPr>
                            <m:t>2/3</m:t>
                          </m:r>
                        </m:sup>
                      </m:sSup>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𝑆</m:t>
                          </m:r>
                        </m:e>
                        <m:sup>
                          <m:r>
                            <a:rPr lang="en-US" i="1">
                              <a:latin typeface="Cambria Math" panose="02040503050406030204" pitchFamily="18" charset="0"/>
                              <a:cs typeface="Arial" panose="020B0604020202020204" pitchFamily="34" charset="0"/>
                            </a:rPr>
                            <m:t>1/2</m:t>
                          </m:r>
                        </m:sup>
                      </m:sSup>
                    </m:oMath>
                  </m:oMathPara>
                </a14:m>
                <a:endParaRPr lang="en-US" dirty="0">
                  <a:latin typeface="Arial" panose="020B0604020202020204" pitchFamily="34" charset="0"/>
                  <a:cs typeface="Arial" panose="020B0604020202020204" pitchFamily="34" charset="0"/>
                </a:endParaRPr>
              </a:p>
            </p:txBody>
          </p:sp>
        </mc:Choice>
        <mc:Fallback xmlns="">
          <p:sp>
            <p:nvSpPr>
              <p:cNvPr id="28" name="TextBox 27">
                <a:extLst>
                  <a:ext uri="{FF2B5EF4-FFF2-40B4-BE49-F238E27FC236}">
                    <a16:creationId xmlns:a16="http://schemas.microsoft.com/office/drawing/2014/main" id="{B9EA2084-BE5A-E345-9FAA-BCA09674E340}"/>
                  </a:ext>
                </a:extLst>
              </p:cNvPr>
              <p:cNvSpPr txBox="1">
                <a:spLocks noRot="1" noChangeAspect="1" noMove="1" noResize="1" noEditPoints="1" noAdjustHandles="1" noChangeArrowheads="1" noChangeShapeType="1" noTextEdit="1"/>
              </p:cNvSpPr>
              <p:nvPr/>
            </p:nvSpPr>
            <p:spPr>
              <a:xfrm>
                <a:off x="662538" y="3536363"/>
                <a:ext cx="5473871" cy="705450"/>
              </a:xfrm>
              <a:prstGeom prst="rect">
                <a:avLst/>
              </a:prstGeom>
              <a:blipFill>
                <a:blip r:embed="rId5"/>
                <a:stretch>
                  <a:fillRect l="-463" t="-3509" b="-5263"/>
                </a:stretch>
              </a:blipFill>
              <a:ln w="28575">
                <a:noFill/>
              </a:ln>
            </p:spPr>
            <p:txBody>
              <a:bodyPr/>
              <a:lstStyle/>
              <a:p>
                <a:r>
                  <a:rPr lang="en-US">
                    <a:noFill/>
                  </a:rPr>
                  <a:t> </a:t>
                </a:r>
              </a:p>
            </p:txBody>
          </p:sp>
        </mc:Fallback>
      </mc:AlternateContent>
      <p:sp>
        <p:nvSpPr>
          <p:cNvPr id="9" name="Rectangle 8">
            <a:extLst>
              <a:ext uri="{FF2B5EF4-FFF2-40B4-BE49-F238E27FC236}">
                <a16:creationId xmlns:a16="http://schemas.microsoft.com/office/drawing/2014/main" id="{EE1A5CC8-1096-6149-8117-4ADF645A084D}"/>
              </a:ext>
            </a:extLst>
          </p:cNvPr>
          <p:cNvSpPr/>
          <p:nvPr/>
        </p:nvSpPr>
        <p:spPr>
          <a:xfrm>
            <a:off x="6660037" y="3645807"/>
            <a:ext cx="3659976" cy="369332"/>
          </a:xfrm>
          <a:prstGeom prst="rect">
            <a:avLst/>
          </a:prstGeom>
        </p:spPr>
        <p:txBody>
          <a:bodyPr wrap="none">
            <a:spAutoFit/>
          </a:bodyPr>
          <a:lstStyle/>
          <a:p>
            <a:r>
              <a:rPr lang="en-US" dirty="0">
                <a:latin typeface="Arial" panose="020B0604020202020204" pitchFamily="34" charset="0"/>
                <a:cs typeface="Arial" panose="020B0604020202020204" pitchFamily="34" charset="0"/>
              </a:rPr>
              <a:t>Manning-Strickler formulation with</a:t>
            </a:r>
            <a:endParaRPr lang="en-US" dirty="0"/>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30B2EB75-C1B1-7543-9B42-EA8156C8C02F}"/>
                  </a:ext>
                </a:extLst>
              </p:cNvPr>
              <p:cNvSpPr/>
              <p:nvPr/>
            </p:nvSpPr>
            <p:spPr>
              <a:xfrm>
                <a:off x="7531216" y="4047335"/>
                <a:ext cx="1378326" cy="7487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1</m:t>
                          </m:r>
                        </m:num>
                        <m:den>
                          <m:r>
                            <a:rPr lang="en-US" b="0" i="1" smtClean="0">
                              <a:latin typeface="Cambria Math" panose="02040503050406030204" pitchFamily="18" charset="0"/>
                              <a:cs typeface="Arial" panose="020B0604020202020204" pitchFamily="34" charset="0"/>
                            </a:rPr>
                            <m:t>𝑛</m:t>
                          </m:r>
                        </m:den>
                      </m:f>
                      <m:r>
                        <a:rPr lang="en-US" b="0" i="1" smtClean="0">
                          <a:latin typeface="Cambria Math" panose="02040503050406030204" pitchFamily="18" charset="0"/>
                          <a:cs typeface="Arial" panose="020B0604020202020204" pitchFamily="34" charset="0"/>
                        </a:rPr>
                        <m:t>=</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𝛼</m:t>
                          </m:r>
                        </m:e>
                        <m:sub>
                          <m:r>
                            <a:rPr lang="en-US" i="1">
                              <a:latin typeface="Cambria Math" panose="02040503050406030204" pitchFamily="18" charset="0"/>
                              <a:cs typeface="Arial" panose="020B0604020202020204" pitchFamily="34" charset="0"/>
                            </a:rPr>
                            <m:t>𝑟</m:t>
                          </m:r>
                        </m:sub>
                      </m:sSub>
                      <m:f>
                        <m:fPr>
                          <m:ctrlPr>
                            <a:rPr lang="en-US" i="1">
                              <a:latin typeface="Cambria Math" panose="02040503050406030204" pitchFamily="18" charset="0"/>
                              <a:cs typeface="Arial" panose="020B0604020202020204" pitchFamily="34" charset="0"/>
                            </a:rPr>
                          </m:ctrlPr>
                        </m:fPr>
                        <m:num>
                          <m:rad>
                            <m:radPr>
                              <m:degHide m:val="on"/>
                              <m:ctrlPr>
                                <a:rPr lang="en-US" i="1">
                                  <a:latin typeface="Cambria Math" panose="02040503050406030204" pitchFamily="18" charset="0"/>
                                  <a:cs typeface="Arial" panose="020B0604020202020204" pitchFamily="34" charset="0"/>
                                </a:rPr>
                              </m:ctrlPr>
                            </m:radPr>
                            <m:deg/>
                            <m:e>
                              <m:r>
                                <a:rPr lang="en-US" i="1">
                                  <a:latin typeface="Cambria Math" panose="02040503050406030204" pitchFamily="18" charset="0"/>
                                  <a:cs typeface="Arial" panose="020B0604020202020204" pitchFamily="34" charset="0"/>
                                </a:rPr>
                                <m:t>𝑔</m:t>
                              </m:r>
                            </m:e>
                          </m:rad>
                        </m:num>
                        <m:den>
                          <m:sSubSup>
                            <m:sSubSupPr>
                              <m:ctrlPr>
                                <a:rPr lang="en-US" i="1">
                                  <a:latin typeface="Cambria Math" panose="02040503050406030204" pitchFamily="18" charset="0"/>
                                  <a:cs typeface="Arial" panose="020B0604020202020204" pitchFamily="34" charset="0"/>
                                </a:rPr>
                              </m:ctrlPr>
                            </m:sSubSupPr>
                            <m:e>
                              <m:r>
                                <a:rPr lang="en-US" i="1">
                                  <a:latin typeface="Cambria Math" panose="02040503050406030204" pitchFamily="18" charset="0"/>
                                  <a:cs typeface="Arial" panose="020B0604020202020204" pitchFamily="34" charset="0"/>
                                </a:rPr>
                                <m:t>𝑘</m:t>
                              </m:r>
                            </m:e>
                            <m:sub>
                              <m:r>
                                <a:rPr lang="en-US" i="1">
                                  <a:latin typeface="Cambria Math" panose="02040503050406030204" pitchFamily="18" charset="0"/>
                                  <a:cs typeface="Arial" panose="020B0604020202020204" pitchFamily="34" charset="0"/>
                                </a:rPr>
                                <m:t>𝑐</m:t>
                              </m:r>
                            </m:sub>
                            <m:sup>
                              <m:r>
                                <a:rPr lang="en-US" i="1">
                                  <a:latin typeface="Cambria Math" panose="02040503050406030204" pitchFamily="18" charset="0"/>
                                  <a:cs typeface="Arial" panose="020B0604020202020204" pitchFamily="34" charset="0"/>
                                </a:rPr>
                                <m:t>1/6</m:t>
                              </m:r>
                            </m:sup>
                          </m:sSubSup>
                        </m:den>
                      </m:f>
                    </m:oMath>
                  </m:oMathPara>
                </a14:m>
                <a:endParaRPr lang="en-US" dirty="0"/>
              </a:p>
            </p:txBody>
          </p:sp>
        </mc:Choice>
        <mc:Fallback xmlns="">
          <p:sp>
            <p:nvSpPr>
              <p:cNvPr id="10" name="Rectangle 9">
                <a:extLst>
                  <a:ext uri="{FF2B5EF4-FFF2-40B4-BE49-F238E27FC236}">
                    <a16:creationId xmlns:a16="http://schemas.microsoft.com/office/drawing/2014/main" id="{30B2EB75-C1B1-7543-9B42-EA8156C8C02F}"/>
                  </a:ext>
                </a:extLst>
              </p:cNvPr>
              <p:cNvSpPr>
                <a:spLocks noRot="1" noChangeAspect="1" noMove="1" noResize="1" noEditPoints="1" noAdjustHandles="1" noChangeArrowheads="1" noChangeShapeType="1" noTextEdit="1"/>
              </p:cNvSpPr>
              <p:nvPr/>
            </p:nvSpPr>
            <p:spPr>
              <a:xfrm>
                <a:off x="7531216" y="4047335"/>
                <a:ext cx="1378326" cy="748795"/>
              </a:xfrm>
              <a:prstGeom prst="rect">
                <a:avLst/>
              </a:prstGeom>
              <a:blipFill>
                <a:blip r:embed="rId6"/>
                <a:stretch>
                  <a:fillRect b="-1667"/>
                </a:stretch>
              </a:blipFill>
            </p:spPr>
            <p:txBody>
              <a:bodyPr/>
              <a:lstStyle/>
              <a:p>
                <a:r>
                  <a:rPr lang="en-US">
                    <a:noFill/>
                  </a:rPr>
                  <a:t> </a:t>
                </a:r>
              </a:p>
            </p:txBody>
          </p:sp>
        </mc:Fallback>
      </mc:AlternateContent>
      <p:sp>
        <p:nvSpPr>
          <p:cNvPr id="32" name="Rectangle 31">
            <a:extLst>
              <a:ext uri="{FF2B5EF4-FFF2-40B4-BE49-F238E27FC236}">
                <a16:creationId xmlns:a16="http://schemas.microsoft.com/office/drawing/2014/main" id="{72A76385-67E0-404C-8019-E6BF906E5609}"/>
              </a:ext>
            </a:extLst>
          </p:cNvPr>
          <p:cNvSpPr/>
          <p:nvPr/>
        </p:nvSpPr>
        <p:spPr>
          <a:xfrm>
            <a:off x="125789" y="4953445"/>
            <a:ext cx="12021240" cy="369332"/>
          </a:xfrm>
          <a:prstGeom prst="rect">
            <a:avLst/>
          </a:prstGeom>
        </p:spPr>
        <p:txBody>
          <a:bodyPr wrap="none">
            <a:spAutoFit/>
          </a:bodyPr>
          <a:lstStyle/>
          <a:p>
            <a:r>
              <a:rPr lang="en-US" dirty="0">
                <a:latin typeface="Arial" panose="020B0604020202020204" pitchFamily="34" charset="0"/>
                <a:cs typeface="Arial" panose="020B0604020202020204" pitchFamily="34" charset="0"/>
              </a:rPr>
              <a:t>With the aid of the continuity equation, a relation linking flow rate, channel width, bed slope and water depth is found</a:t>
            </a:r>
            <a:endParaRPr lang="en-US" dirty="0"/>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A96FCF54-5913-FD45-9909-D01E3F19CB65}"/>
                  </a:ext>
                </a:extLst>
              </p:cNvPr>
              <p:cNvSpPr txBox="1"/>
              <p:nvPr/>
            </p:nvSpPr>
            <p:spPr>
              <a:xfrm>
                <a:off x="275676" y="5355603"/>
                <a:ext cx="2150204" cy="656462"/>
              </a:xfrm>
              <a:prstGeom prst="rect">
                <a:avLst/>
              </a:prstGeom>
              <a:noFill/>
              <a:ln w="28575">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cs typeface="Arial" panose="020B0604020202020204" pitchFamily="34" charset="0"/>
                        </a:rPr>
                        <m:t>𝑈</m:t>
                      </m:r>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𝛼</m:t>
                          </m:r>
                        </m:e>
                        <m:sub>
                          <m:r>
                            <a:rPr lang="en-US" i="1">
                              <a:latin typeface="Cambria Math" panose="02040503050406030204" pitchFamily="18" charset="0"/>
                              <a:cs typeface="Arial" panose="020B0604020202020204" pitchFamily="34" charset="0"/>
                            </a:rPr>
                            <m:t>𝑟</m:t>
                          </m:r>
                        </m:sub>
                      </m:sSub>
                      <m:f>
                        <m:fPr>
                          <m:ctrlPr>
                            <a:rPr lang="en-US" i="1" smtClean="0">
                              <a:latin typeface="Cambria Math" panose="02040503050406030204" pitchFamily="18" charset="0"/>
                              <a:cs typeface="Arial" panose="020B0604020202020204" pitchFamily="34" charset="0"/>
                            </a:rPr>
                          </m:ctrlPr>
                        </m:fPr>
                        <m:num>
                          <m:rad>
                            <m:radPr>
                              <m:degHide m:val="on"/>
                              <m:ctrlPr>
                                <a:rPr lang="en-US" i="1" smtClean="0">
                                  <a:latin typeface="Cambria Math" panose="02040503050406030204" pitchFamily="18" charset="0"/>
                                  <a:cs typeface="Arial" panose="020B0604020202020204" pitchFamily="34" charset="0"/>
                                </a:rPr>
                              </m:ctrlPr>
                            </m:radPr>
                            <m:deg/>
                            <m:e>
                              <m:r>
                                <a:rPr lang="en-US" b="0" i="1" smtClean="0">
                                  <a:latin typeface="Cambria Math" panose="02040503050406030204" pitchFamily="18" charset="0"/>
                                  <a:cs typeface="Arial" panose="020B0604020202020204" pitchFamily="34" charset="0"/>
                                </a:rPr>
                                <m:t>𝑔</m:t>
                              </m:r>
                            </m:e>
                          </m:rad>
                        </m:num>
                        <m:den>
                          <m:sSubSup>
                            <m:sSubSupPr>
                              <m:ctrlPr>
                                <a:rPr lang="en-US"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𝑘</m:t>
                              </m:r>
                            </m:e>
                            <m:sub>
                              <m:r>
                                <a:rPr lang="en-US" b="0" i="1" smtClean="0">
                                  <a:latin typeface="Cambria Math" panose="02040503050406030204" pitchFamily="18" charset="0"/>
                                  <a:cs typeface="Arial" panose="020B0604020202020204" pitchFamily="34" charset="0"/>
                                </a:rPr>
                                <m:t>𝑐</m:t>
                              </m:r>
                            </m:sub>
                            <m:sup>
                              <m:r>
                                <a:rPr lang="en-US" b="0" i="1" smtClean="0">
                                  <a:latin typeface="Cambria Math" panose="02040503050406030204" pitchFamily="18" charset="0"/>
                                  <a:cs typeface="Arial" panose="020B0604020202020204" pitchFamily="34" charset="0"/>
                                </a:rPr>
                                <m:t>1/6</m:t>
                              </m:r>
                            </m:sup>
                          </m:sSubSup>
                        </m:den>
                      </m:f>
                      <m:sSup>
                        <m:sSupPr>
                          <m:ctrlPr>
                            <a:rPr lang="en-US"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𝐻</m:t>
                          </m:r>
                        </m:e>
                        <m:sup>
                          <m:r>
                            <a:rPr lang="en-US" b="0" i="1" smtClean="0">
                              <a:latin typeface="Cambria Math" panose="02040503050406030204" pitchFamily="18" charset="0"/>
                              <a:cs typeface="Arial" panose="020B0604020202020204" pitchFamily="34" charset="0"/>
                            </a:rPr>
                            <m:t>2/3</m:t>
                          </m:r>
                        </m:sup>
                      </m:sSup>
                      <m:sSup>
                        <m:sSupPr>
                          <m:ctrlPr>
                            <a:rPr lang="en-US"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𝑆</m:t>
                          </m:r>
                        </m:e>
                        <m:sup>
                          <m:r>
                            <a:rPr lang="en-US" b="0" i="1" smtClean="0">
                              <a:latin typeface="Cambria Math" panose="02040503050406030204" pitchFamily="18" charset="0"/>
                              <a:cs typeface="Arial" panose="020B0604020202020204" pitchFamily="34" charset="0"/>
                            </a:rPr>
                            <m:t>1/2</m:t>
                          </m:r>
                        </m:sup>
                      </m:sSup>
                    </m:oMath>
                  </m:oMathPara>
                </a14:m>
                <a:endParaRPr lang="en-US" dirty="0">
                  <a:latin typeface="Arial" panose="020B0604020202020204" pitchFamily="34" charset="0"/>
                  <a:cs typeface="Arial" panose="020B0604020202020204" pitchFamily="34" charset="0"/>
                </a:endParaRPr>
              </a:p>
            </p:txBody>
          </p:sp>
        </mc:Choice>
        <mc:Fallback xmlns="">
          <p:sp>
            <p:nvSpPr>
              <p:cNvPr id="33" name="TextBox 32">
                <a:extLst>
                  <a:ext uri="{FF2B5EF4-FFF2-40B4-BE49-F238E27FC236}">
                    <a16:creationId xmlns:a16="http://schemas.microsoft.com/office/drawing/2014/main" id="{A96FCF54-5913-FD45-9909-D01E3F19CB65}"/>
                  </a:ext>
                </a:extLst>
              </p:cNvPr>
              <p:cNvSpPr txBox="1">
                <a:spLocks noRot="1" noChangeAspect="1" noMove="1" noResize="1" noEditPoints="1" noAdjustHandles="1" noChangeArrowheads="1" noChangeShapeType="1" noTextEdit="1"/>
              </p:cNvSpPr>
              <p:nvPr/>
            </p:nvSpPr>
            <p:spPr>
              <a:xfrm>
                <a:off x="275676" y="5355603"/>
                <a:ext cx="2150204" cy="656462"/>
              </a:xfrm>
              <a:prstGeom prst="rect">
                <a:avLst/>
              </a:prstGeom>
              <a:blipFill>
                <a:blip r:embed="rId7"/>
                <a:stretch>
                  <a:fillRect l="-1754" b="-9434"/>
                </a:stretch>
              </a:blipFill>
              <a:ln w="2857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23A118BB-102A-EE42-9182-E01790C529F2}"/>
                  </a:ext>
                </a:extLst>
              </p:cNvPr>
              <p:cNvSpPr txBox="1"/>
              <p:nvPr/>
            </p:nvSpPr>
            <p:spPr>
              <a:xfrm>
                <a:off x="3768703" y="5664196"/>
                <a:ext cx="2476575" cy="656462"/>
              </a:xfrm>
              <a:prstGeom prst="rect">
                <a:avLst/>
              </a:prstGeom>
              <a:solidFill>
                <a:schemeClr val="accent1">
                  <a:lumMod val="20000"/>
                  <a:lumOff val="80000"/>
                </a:schemeClr>
              </a:solidFill>
              <a:ln w="28575">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cs typeface="Arial" panose="020B0604020202020204" pitchFamily="34" charset="0"/>
                        </a:rPr>
                        <m:t>𝑄</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𝐵𝐻</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𝛼</m:t>
                          </m:r>
                        </m:e>
                        <m:sub>
                          <m:r>
                            <a:rPr lang="en-US" i="1">
                              <a:latin typeface="Cambria Math" panose="02040503050406030204" pitchFamily="18" charset="0"/>
                              <a:cs typeface="Arial" panose="020B0604020202020204" pitchFamily="34" charset="0"/>
                            </a:rPr>
                            <m:t>𝑟</m:t>
                          </m:r>
                        </m:sub>
                      </m:sSub>
                      <m:f>
                        <m:fPr>
                          <m:ctrlPr>
                            <a:rPr lang="en-US" i="1" smtClean="0">
                              <a:latin typeface="Cambria Math" panose="02040503050406030204" pitchFamily="18" charset="0"/>
                              <a:cs typeface="Arial" panose="020B0604020202020204" pitchFamily="34" charset="0"/>
                            </a:rPr>
                          </m:ctrlPr>
                        </m:fPr>
                        <m:num>
                          <m:rad>
                            <m:radPr>
                              <m:degHide m:val="on"/>
                              <m:ctrlPr>
                                <a:rPr lang="en-US" i="1" smtClean="0">
                                  <a:latin typeface="Cambria Math" panose="02040503050406030204" pitchFamily="18" charset="0"/>
                                  <a:cs typeface="Arial" panose="020B0604020202020204" pitchFamily="34" charset="0"/>
                                </a:rPr>
                              </m:ctrlPr>
                            </m:radPr>
                            <m:deg/>
                            <m:e>
                              <m:r>
                                <a:rPr lang="en-US" b="0" i="1" smtClean="0">
                                  <a:latin typeface="Cambria Math" panose="02040503050406030204" pitchFamily="18" charset="0"/>
                                  <a:cs typeface="Arial" panose="020B0604020202020204" pitchFamily="34" charset="0"/>
                                </a:rPr>
                                <m:t>𝑔</m:t>
                              </m:r>
                            </m:e>
                          </m:rad>
                        </m:num>
                        <m:den>
                          <m:sSubSup>
                            <m:sSubSupPr>
                              <m:ctrlPr>
                                <a:rPr lang="en-US"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𝑘</m:t>
                              </m:r>
                            </m:e>
                            <m:sub>
                              <m:r>
                                <a:rPr lang="en-US" b="0" i="1" smtClean="0">
                                  <a:latin typeface="Cambria Math" panose="02040503050406030204" pitchFamily="18" charset="0"/>
                                  <a:cs typeface="Arial" panose="020B0604020202020204" pitchFamily="34" charset="0"/>
                                </a:rPr>
                                <m:t>𝑐</m:t>
                              </m:r>
                            </m:sub>
                            <m:sup>
                              <m:r>
                                <a:rPr lang="en-US" b="0" i="1" smtClean="0">
                                  <a:latin typeface="Cambria Math" panose="02040503050406030204" pitchFamily="18" charset="0"/>
                                  <a:cs typeface="Arial" panose="020B0604020202020204" pitchFamily="34" charset="0"/>
                                </a:rPr>
                                <m:t>1/6</m:t>
                              </m:r>
                            </m:sup>
                          </m:sSubSup>
                        </m:den>
                      </m:f>
                      <m:sSup>
                        <m:sSupPr>
                          <m:ctrlPr>
                            <a:rPr lang="en-US"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𝐻</m:t>
                          </m:r>
                        </m:e>
                        <m:sup>
                          <m:r>
                            <a:rPr lang="en-US" b="0" i="1" smtClean="0">
                              <a:latin typeface="Cambria Math" panose="02040503050406030204" pitchFamily="18" charset="0"/>
                              <a:cs typeface="Arial" panose="020B0604020202020204" pitchFamily="34" charset="0"/>
                            </a:rPr>
                            <m:t>2/3</m:t>
                          </m:r>
                        </m:sup>
                      </m:sSup>
                      <m:sSup>
                        <m:sSupPr>
                          <m:ctrlPr>
                            <a:rPr lang="en-US"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𝑆</m:t>
                          </m:r>
                        </m:e>
                        <m:sup>
                          <m:r>
                            <a:rPr lang="en-US" b="0" i="1" smtClean="0">
                              <a:latin typeface="Cambria Math" panose="02040503050406030204" pitchFamily="18" charset="0"/>
                              <a:cs typeface="Arial" panose="020B0604020202020204" pitchFamily="34" charset="0"/>
                            </a:rPr>
                            <m:t>1/2</m:t>
                          </m:r>
                        </m:sup>
                      </m:sSup>
                    </m:oMath>
                  </m:oMathPara>
                </a14:m>
                <a:endParaRPr lang="en-US" dirty="0">
                  <a:latin typeface="Arial" panose="020B0604020202020204" pitchFamily="34" charset="0"/>
                  <a:cs typeface="Arial" panose="020B0604020202020204" pitchFamily="34" charset="0"/>
                </a:endParaRPr>
              </a:p>
            </p:txBody>
          </p:sp>
        </mc:Choice>
        <mc:Fallback xmlns="">
          <p:sp>
            <p:nvSpPr>
              <p:cNvPr id="34" name="TextBox 33">
                <a:extLst>
                  <a:ext uri="{FF2B5EF4-FFF2-40B4-BE49-F238E27FC236}">
                    <a16:creationId xmlns:a16="http://schemas.microsoft.com/office/drawing/2014/main" id="{23A118BB-102A-EE42-9182-E01790C529F2}"/>
                  </a:ext>
                </a:extLst>
              </p:cNvPr>
              <p:cNvSpPr txBox="1">
                <a:spLocks noRot="1" noChangeAspect="1" noMove="1" noResize="1" noEditPoints="1" noAdjustHandles="1" noChangeArrowheads="1" noChangeShapeType="1" noTextEdit="1"/>
              </p:cNvSpPr>
              <p:nvPr/>
            </p:nvSpPr>
            <p:spPr>
              <a:xfrm>
                <a:off x="3768703" y="5664196"/>
                <a:ext cx="2476575" cy="656462"/>
              </a:xfrm>
              <a:prstGeom prst="rect">
                <a:avLst/>
              </a:prstGeom>
              <a:blipFill>
                <a:blip r:embed="rId8"/>
                <a:stretch>
                  <a:fillRect l="-2041" r="-510" b="-9434"/>
                </a:stretch>
              </a:blipFill>
              <a:ln w="2857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A828F488-3389-1545-97A3-166C33AE9E21}"/>
                  </a:ext>
                </a:extLst>
              </p:cNvPr>
              <p:cNvSpPr txBox="1"/>
              <p:nvPr/>
            </p:nvSpPr>
            <p:spPr>
              <a:xfrm>
                <a:off x="7188500" y="5578680"/>
                <a:ext cx="1901803" cy="788870"/>
              </a:xfrm>
              <a:prstGeom prst="rect">
                <a:avLst/>
              </a:prstGeom>
              <a:solidFill>
                <a:schemeClr val="accent2">
                  <a:lumMod val="20000"/>
                  <a:lumOff val="80000"/>
                </a:schemeClr>
              </a:solidFill>
              <a:ln w="28575">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cs typeface="Arial" panose="020B0604020202020204" pitchFamily="34" charset="0"/>
                        </a:rPr>
                        <m:t>𝐻</m:t>
                      </m:r>
                      <m:r>
                        <a:rPr lang="en-US"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sSubSup>
                                    <m:sSub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SupPr>
                                    <m:e>
                                      <m:r>
                                        <a:rPr lang="en-US" b="0" i="1" smtClean="0">
                                          <a:latin typeface="Cambria Math" panose="02040503050406030204" pitchFamily="18" charset="0"/>
                                          <a:ea typeface="Cambria Math" panose="02040503050406030204" pitchFamily="18" charset="0"/>
                                          <a:cs typeface="Arial" panose="020B0604020202020204" pitchFamily="34" charset="0"/>
                                        </a:rPr>
                                        <m:t>𝑘</m:t>
                                      </m:r>
                                    </m:e>
                                    <m:sub>
                                      <m:r>
                                        <a:rPr lang="en-US" b="0" i="1" smtClean="0">
                                          <a:latin typeface="Cambria Math" panose="02040503050406030204" pitchFamily="18" charset="0"/>
                                          <a:ea typeface="Cambria Math" panose="02040503050406030204" pitchFamily="18" charset="0"/>
                                          <a:cs typeface="Arial" panose="020B0604020202020204" pitchFamily="34" charset="0"/>
                                        </a:rPr>
                                        <m:t>𝑐</m:t>
                                      </m:r>
                                    </m:sub>
                                    <m:sup>
                                      <m:r>
                                        <a:rPr lang="en-US" b="0" i="1" smtClean="0">
                                          <a:latin typeface="Cambria Math" panose="02040503050406030204" pitchFamily="18" charset="0"/>
                                          <a:ea typeface="Cambria Math" panose="02040503050406030204" pitchFamily="18" charset="0"/>
                                          <a:cs typeface="Arial" panose="020B0604020202020204" pitchFamily="34" charset="0"/>
                                        </a:rPr>
                                        <m:t>1/3</m:t>
                                      </m:r>
                                    </m:sup>
                                  </m:sSubSup>
                                  <m:sSubSup>
                                    <m:sSub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SupPr>
                                    <m:e>
                                      <m:r>
                                        <a:rPr lang="en-US" b="0" i="1" smtClean="0">
                                          <a:latin typeface="Cambria Math" panose="02040503050406030204" pitchFamily="18" charset="0"/>
                                          <a:ea typeface="Cambria Math" panose="02040503050406030204" pitchFamily="18" charset="0"/>
                                          <a:cs typeface="Arial" panose="020B0604020202020204" pitchFamily="34" charset="0"/>
                                        </a:rPr>
                                        <m:t>𝑞</m:t>
                                      </m:r>
                                    </m:e>
                                    <m:sub>
                                      <m:r>
                                        <a:rPr lang="en-US" b="0" i="1" smtClean="0">
                                          <a:latin typeface="Cambria Math" panose="02040503050406030204" pitchFamily="18" charset="0"/>
                                          <a:ea typeface="Cambria Math" panose="02040503050406030204" pitchFamily="18" charset="0"/>
                                          <a:cs typeface="Arial" panose="020B0604020202020204" pitchFamily="34" charset="0"/>
                                        </a:rPr>
                                        <m:t>𝑤</m:t>
                                      </m:r>
                                    </m:sub>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bSup>
                                </m:num>
                                <m:den>
                                  <m:sSubSup>
                                    <m:sSub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SupPr>
                                    <m:e>
                                      <m:r>
                                        <a:rPr lang="en-US" b="0" i="1" smtClean="0">
                                          <a:latin typeface="Cambria Math" panose="02040503050406030204" pitchFamily="18" charset="0"/>
                                          <a:ea typeface="Cambria Math" panose="02040503050406030204" pitchFamily="18" charset="0"/>
                                          <a:cs typeface="Arial" panose="020B0604020202020204" pitchFamily="34" charset="0"/>
                                        </a:rPr>
                                        <m:t>𝛼</m:t>
                                      </m:r>
                                    </m:e>
                                    <m:sub>
                                      <m:r>
                                        <a:rPr lang="en-US" b="0" i="1" smtClean="0">
                                          <a:latin typeface="Cambria Math" panose="02040503050406030204" pitchFamily="18" charset="0"/>
                                          <a:ea typeface="Cambria Math" panose="02040503050406030204" pitchFamily="18" charset="0"/>
                                          <a:cs typeface="Arial" panose="020B0604020202020204" pitchFamily="34" charset="0"/>
                                        </a:rPr>
                                        <m:t>𝑟</m:t>
                                      </m:r>
                                    </m:sub>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bSup>
                                  <m:r>
                                    <a:rPr lang="en-US" b="0" i="1" smtClean="0">
                                      <a:latin typeface="Cambria Math" panose="02040503050406030204" pitchFamily="18" charset="0"/>
                                      <a:ea typeface="Cambria Math" panose="02040503050406030204" pitchFamily="18" charset="0"/>
                                      <a:cs typeface="Arial" panose="020B0604020202020204" pitchFamily="34" charset="0"/>
                                    </a:rPr>
                                    <m:t>𝑔𝑆</m:t>
                                  </m:r>
                                </m:den>
                              </m:f>
                            </m:e>
                          </m:d>
                        </m:e>
                        <m:sup>
                          <m:r>
                            <a:rPr lang="en-US" b="0" i="1" smtClean="0">
                              <a:latin typeface="Cambria Math" panose="02040503050406030204" pitchFamily="18" charset="0"/>
                              <a:ea typeface="Cambria Math" panose="02040503050406030204" pitchFamily="18" charset="0"/>
                              <a:cs typeface="Arial" panose="020B0604020202020204" pitchFamily="34" charset="0"/>
                            </a:rPr>
                            <m:t>3/10</m:t>
                          </m:r>
                        </m:sup>
                      </m:sSup>
                    </m:oMath>
                  </m:oMathPara>
                </a14:m>
                <a:endParaRPr lang="en-US" dirty="0">
                  <a:latin typeface="Arial" panose="020B0604020202020204" pitchFamily="34" charset="0"/>
                  <a:cs typeface="Arial" panose="020B0604020202020204" pitchFamily="34" charset="0"/>
                </a:endParaRPr>
              </a:p>
            </p:txBody>
          </p:sp>
        </mc:Choice>
        <mc:Fallback xmlns="">
          <p:sp>
            <p:nvSpPr>
              <p:cNvPr id="35" name="TextBox 34">
                <a:extLst>
                  <a:ext uri="{FF2B5EF4-FFF2-40B4-BE49-F238E27FC236}">
                    <a16:creationId xmlns:a16="http://schemas.microsoft.com/office/drawing/2014/main" id="{A828F488-3389-1545-97A3-166C33AE9E21}"/>
                  </a:ext>
                </a:extLst>
              </p:cNvPr>
              <p:cNvSpPr txBox="1">
                <a:spLocks noRot="1" noChangeAspect="1" noMove="1" noResize="1" noEditPoints="1" noAdjustHandles="1" noChangeArrowheads="1" noChangeShapeType="1" noTextEdit="1"/>
              </p:cNvSpPr>
              <p:nvPr/>
            </p:nvSpPr>
            <p:spPr>
              <a:xfrm>
                <a:off x="7188500" y="5578680"/>
                <a:ext cx="1901803" cy="788870"/>
              </a:xfrm>
              <a:prstGeom prst="rect">
                <a:avLst/>
              </a:prstGeom>
              <a:blipFill>
                <a:blip r:embed="rId9"/>
                <a:stretch>
                  <a:fillRect l="-1325" t="-1587" r="-662" b="-4762"/>
                </a:stretch>
              </a:blipFill>
              <a:ln w="2857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B33A9730-78C1-4B46-970A-683DB1E8E110}"/>
                  </a:ext>
                </a:extLst>
              </p:cNvPr>
              <p:cNvSpPr txBox="1"/>
              <p:nvPr/>
            </p:nvSpPr>
            <p:spPr>
              <a:xfrm>
                <a:off x="265267" y="6173445"/>
                <a:ext cx="856004"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𝑈</m:t>
                      </m:r>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𝑄</m:t>
                          </m:r>
                        </m:num>
                        <m:den>
                          <m:r>
                            <a:rPr lang="en-US" i="1">
                              <a:latin typeface="Cambria Math" panose="02040503050406030204" pitchFamily="18" charset="0"/>
                              <a:cs typeface="Arial" panose="020B0604020202020204" pitchFamily="34" charset="0"/>
                            </a:rPr>
                            <m:t>𝐵𝐻</m:t>
                          </m:r>
                        </m:den>
                      </m:f>
                    </m:oMath>
                  </m:oMathPara>
                </a14:m>
                <a:endParaRPr lang="en-US" dirty="0">
                  <a:latin typeface="Arial" panose="020B0604020202020204" pitchFamily="34" charset="0"/>
                  <a:cs typeface="Arial" panose="020B0604020202020204" pitchFamily="34" charset="0"/>
                </a:endParaRPr>
              </a:p>
            </p:txBody>
          </p:sp>
        </mc:Choice>
        <mc:Fallback xmlns="">
          <p:sp>
            <p:nvSpPr>
              <p:cNvPr id="36" name="TextBox 35">
                <a:extLst>
                  <a:ext uri="{FF2B5EF4-FFF2-40B4-BE49-F238E27FC236}">
                    <a16:creationId xmlns:a16="http://schemas.microsoft.com/office/drawing/2014/main" id="{B33A9730-78C1-4B46-970A-683DB1E8E110}"/>
                  </a:ext>
                </a:extLst>
              </p:cNvPr>
              <p:cNvSpPr txBox="1">
                <a:spLocks noRot="1" noChangeAspect="1" noMove="1" noResize="1" noEditPoints="1" noAdjustHandles="1" noChangeArrowheads="1" noChangeShapeType="1" noTextEdit="1"/>
              </p:cNvSpPr>
              <p:nvPr/>
            </p:nvSpPr>
            <p:spPr>
              <a:xfrm>
                <a:off x="265267" y="6173445"/>
                <a:ext cx="856004" cy="518604"/>
              </a:xfrm>
              <a:prstGeom prst="rect">
                <a:avLst/>
              </a:prstGeom>
              <a:blipFill>
                <a:blip r:embed="rId10"/>
                <a:stretch>
                  <a:fillRect l="-5882" t="-7143" r="-4412" b="-11905"/>
                </a:stretch>
              </a:blipFill>
            </p:spPr>
            <p:txBody>
              <a:bodyPr/>
              <a:lstStyle/>
              <a:p>
                <a:r>
                  <a:rPr lang="en-US">
                    <a:noFill/>
                  </a:rPr>
                  <a:t> </a:t>
                </a:r>
              </a:p>
            </p:txBody>
          </p:sp>
        </mc:Fallback>
      </mc:AlternateContent>
      <p:cxnSp>
        <p:nvCxnSpPr>
          <p:cNvPr id="22" name="Straight Connector 21">
            <a:extLst>
              <a:ext uri="{FF2B5EF4-FFF2-40B4-BE49-F238E27FC236}">
                <a16:creationId xmlns:a16="http://schemas.microsoft.com/office/drawing/2014/main" id="{0C617C87-D8FF-DA49-91D6-48E3A70114C4}"/>
              </a:ext>
            </a:extLst>
          </p:cNvPr>
          <p:cNvCxnSpPr>
            <a:cxnSpLocks/>
          </p:cNvCxnSpPr>
          <p:nvPr/>
        </p:nvCxnSpPr>
        <p:spPr>
          <a:xfrm>
            <a:off x="2790092" y="6022126"/>
            <a:ext cx="92986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F277FA0-14D4-4749-B532-E85CBA52C2F3}"/>
              </a:ext>
            </a:extLst>
          </p:cNvPr>
          <p:cNvCxnSpPr>
            <a:cxnSpLocks/>
          </p:cNvCxnSpPr>
          <p:nvPr/>
        </p:nvCxnSpPr>
        <p:spPr>
          <a:xfrm>
            <a:off x="6244396" y="5992427"/>
            <a:ext cx="92986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40678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1155370" y="136525"/>
            <a:ext cx="988125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The Shields number, a non-dimensional bed shear stress</a:t>
            </a:r>
          </a:p>
        </p:txBody>
      </p:sp>
      <p:sp>
        <p:nvSpPr>
          <p:cNvPr id="64" name="Slide Number Placeholder 3">
            <a:extLst>
              <a:ext uri="{FF2B5EF4-FFF2-40B4-BE49-F238E27FC236}">
                <a16:creationId xmlns:a16="http://schemas.microsoft.com/office/drawing/2014/main" id="{8D3BDA59-59CE-814F-BFB3-6679FAD7D350}"/>
              </a:ext>
            </a:extLst>
          </p:cNvPr>
          <p:cNvSpPr>
            <a:spLocks noGrp="1"/>
          </p:cNvSpPr>
          <p:nvPr>
            <p:ph type="sldNum" sz="quarter" idx="12"/>
          </p:nvPr>
        </p:nvSpPr>
        <p:spPr>
          <a:xfrm>
            <a:off x="8610600" y="6356350"/>
            <a:ext cx="2743200" cy="365125"/>
          </a:xfrm>
        </p:spPr>
        <p:txBody>
          <a:bodyPr/>
          <a:lstStyle/>
          <a:p>
            <a:fld id="{2386C454-E1BD-5A43-901A-CA4ACC7380B7}" type="slidenum">
              <a:rPr lang="en-US" smtClean="0"/>
              <a:t>22</a:t>
            </a:fld>
            <a:endParaRPr lang="en-US" dirty="0"/>
          </a:p>
        </p:txBody>
      </p:sp>
      <p:sp>
        <p:nvSpPr>
          <p:cNvPr id="15" name="TextBox 14">
            <a:extLst>
              <a:ext uri="{FF2B5EF4-FFF2-40B4-BE49-F238E27FC236}">
                <a16:creationId xmlns:a16="http://schemas.microsoft.com/office/drawing/2014/main" id="{B447CD7A-0A17-6E42-9807-D2947603E52A}"/>
              </a:ext>
            </a:extLst>
          </p:cNvPr>
          <p:cNvSpPr txBox="1"/>
          <p:nvPr/>
        </p:nvSpPr>
        <p:spPr>
          <a:xfrm>
            <a:off x="379968" y="845935"/>
            <a:ext cx="11435937" cy="2621167"/>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Bedload transport is estimated with empirical relations, which are not derived from first principles such as the conservation of mass, energy or momentum. </a:t>
            </a:r>
          </a:p>
          <a:p>
            <a:pPr>
              <a:lnSpc>
                <a:spcPct val="114000"/>
              </a:lnSpc>
            </a:pPr>
            <a:endParaRPr lang="en-US" dirty="0">
              <a:latin typeface="Arial" panose="020B0604020202020204" pitchFamily="34" charset="0"/>
              <a:cs typeface="Arial" panose="020B0604020202020204" pitchFamily="34" charset="0"/>
            </a:endParaRPr>
          </a:p>
          <a:p>
            <a:pPr>
              <a:lnSpc>
                <a:spcPct val="114000"/>
              </a:lnSpc>
            </a:pPr>
            <a:r>
              <a:rPr lang="en-US" dirty="0">
                <a:latin typeface="Arial" panose="020B0604020202020204" pitchFamily="34" charset="0"/>
                <a:cs typeface="Arial" panose="020B0604020202020204" pitchFamily="34" charset="0"/>
              </a:rPr>
              <a:t>Field observations and measurements, as well as laboratory experiments, have shown that the bed shear stress is an important parameter for the prediction of bedload transport rates. </a:t>
            </a:r>
          </a:p>
          <a:p>
            <a:pPr>
              <a:lnSpc>
                <a:spcPct val="114000"/>
              </a:lnSpc>
            </a:pPr>
            <a:endParaRPr lang="en-US" dirty="0">
              <a:latin typeface="Arial" panose="020B0604020202020204" pitchFamily="34" charset="0"/>
              <a:cs typeface="Arial" panose="020B0604020202020204" pitchFamily="34" charset="0"/>
            </a:endParaRPr>
          </a:p>
          <a:p>
            <a:pPr>
              <a:lnSpc>
                <a:spcPct val="114000"/>
              </a:lnSpc>
            </a:pPr>
            <a:r>
              <a:rPr lang="en-US" dirty="0">
                <a:latin typeface="Arial" panose="020B0604020202020204" pitchFamily="34" charset="0"/>
                <a:cs typeface="Arial" panose="020B0604020202020204" pitchFamily="34" charset="0"/>
              </a:rPr>
              <a:t>Empirical relations are generally expressed in non-dimensional form. A key non-dimensional parameter to quantify bedload transport and sediment mobility is the Shields number </a:t>
            </a:r>
            <a:r>
              <a:rPr lang="en-US" sz="2000" dirty="0">
                <a:latin typeface="Symbol" pitchFamily="2" charset="2"/>
                <a:cs typeface="Arial" panose="020B0604020202020204" pitchFamily="34" charset="0"/>
              </a:rPr>
              <a:t>t</a:t>
            </a:r>
            <a:r>
              <a:rPr lang="en-US" baseline="30000"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defined as</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37A6EE5-8F42-E548-97E6-7AEF3CCF4379}"/>
                  </a:ext>
                </a:extLst>
              </p:cNvPr>
              <p:cNvSpPr txBox="1"/>
              <p:nvPr/>
            </p:nvSpPr>
            <p:spPr>
              <a:xfrm>
                <a:off x="527538" y="3653292"/>
                <a:ext cx="1029962" cy="402611"/>
              </a:xfrm>
              <a:prstGeom prst="rect">
                <a:avLst/>
              </a:prstGeom>
              <a:noFill/>
            </p:spPr>
            <p:txBody>
              <a:bodyPr wrap="none" lIns="0" tIns="0" rIns="0" bIns="0" rtlCol="0">
                <a:spAutoFit/>
              </a:bodyPr>
              <a:lstStyle/>
              <a:p>
                <a:pPr algn="l"/>
                <a14:m>
                  <m:oMath xmlns:m="http://schemas.openxmlformats.org/officeDocument/2006/math">
                    <m:sSup>
                      <m:sSupPr>
                        <m:ctrlPr>
                          <a:rPr lang="en-US" i="1" smtClean="0">
                            <a:latin typeface="Cambria Math" panose="02040503050406030204" pitchFamily="18" charset="0"/>
                            <a:cs typeface="Arial" panose="020B0604020202020204" pitchFamily="34" charset="0"/>
                          </a:rPr>
                        </m:ctrlPr>
                      </m:sSup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p>
                        <m:r>
                          <a:rPr lang="en-US" b="0" i="1" smtClean="0">
                            <a:latin typeface="Cambria Math" panose="02040503050406030204" pitchFamily="18" charset="0"/>
                            <a:cs typeface="Arial" panose="020B0604020202020204" pitchFamily="34" charset="0"/>
                          </a:rPr>
                          <m:t>∗</m:t>
                        </m:r>
                      </m:sup>
                    </m:sSup>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m:t>
                            </m:r>
                          </m:sub>
                        </m:sSub>
                      </m:num>
                      <m:den>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𝑅𝑔𝐷</m:t>
                        </m:r>
                      </m:den>
                    </m:f>
                  </m:oMath>
                </a14:m>
                <a:r>
                  <a:rPr lang="en-US" dirty="0">
                    <a:latin typeface="Arial" panose="020B0604020202020204" pitchFamily="34" charset="0"/>
                    <a:cs typeface="Arial" panose="020B0604020202020204" pitchFamily="34" charset="0"/>
                  </a:rPr>
                  <a:t> </a:t>
                </a:r>
              </a:p>
            </p:txBody>
          </p:sp>
        </mc:Choice>
        <mc:Fallback xmlns="">
          <p:sp>
            <p:nvSpPr>
              <p:cNvPr id="2" name="TextBox 1">
                <a:extLst>
                  <a:ext uri="{FF2B5EF4-FFF2-40B4-BE49-F238E27FC236}">
                    <a16:creationId xmlns:a16="http://schemas.microsoft.com/office/drawing/2014/main" id="{537A6EE5-8F42-E548-97E6-7AEF3CCF4379}"/>
                  </a:ext>
                </a:extLst>
              </p:cNvPr>
              <p:cNvSpPr txBox="1">
                <a:spLocks noRot="1" noChangeAspect="1" noMove="1" noResize="1" noEditPoints="1" noAdjustHandles="1" noChangeArrowheads="1" noChangeShapeType="1" noTextEdit="1"/>
              </p:cNvSpPr>
              <p:nvPr/>
            </p:nvSpPr>
            <p:spPr>
              <a:xfrm>
                <a:off x="527538" y="3653292"/>
                <a:ext cx="1029962" cy="402611"/>
              </a:xfrm>
              <a:prstGeom prst="rect">
                <a:avLst/>
              </a:prstGeom>
              <a:blipFill>
                <a:blip r:embed="rId3"/>
                <a:stretch>
                  <a:fillRect l="-4878" b="-18182"/>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89A200D9-9AB3-054E-8813-061C063C928B}"/>
              </a:ext>
            </a:extLst>
          </p:cNvPr>
          <p:cNvSpPr txBox="1"/>
          <p:nvPr/>
        </p:nvSpPr>
        <p:spPr>
          <a:xfrm>
            <a:off x="378030" y="4360522"/>
            <a:ext cx="11435937" cy="381708"/>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If the flow can be approximated a steady and uniform (normal)                     and </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CD0370C4-C661-4C49-A482-C1407B28BDA1}"/>
                  </a:ext>
                </a:extLst>
              </p:cNvPr>
              <p:cNvSpPr txBox="1"/>
              <p:nvPr/>
            </p:nvSpPr>
            <p:spPr>
              <a:xfrm>
                <a:off x="6874736" y="4412876"/>
                <a:ext cx="1151854" cy="276999"/>
              </a:xfrm>
              <a:prstGeom prst="rect">
                <a:avLst/>
              </a:prstGeom>
              <a:noFill/>
              <a:ln w="25400">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ea typeface="Cambria Math" panose="02040503050406030204" pitchFamily="18" charset="0"/>
                          <a:cs typeface="Arial" panose="020B0604020202020204" pitchFamily="34" charset="0"/>
                        </a:rPr>
                        <m:t>𝑔𝐻𝑆</m:t>
                      </m:r>
                    </m:oMath>
                  </m:oMathPara>
                </a14:m>
                <a:endParaRPr lang="en-US" dirty="0">
                  <a:latin typeface="Arial" panose="020B0604020202020204" pitchFamily="34" charset="0"/>
                  <a:cs typeface="Arial" panose="020B0604020202020204" pitchFamily="34" charset="0"/>
                </a:endParaRPr>
              </a:p>
            </p:txBody>
          </p:sp>
        </mc:Choice>
        <mc:Fallback xmlns="">
          <p:sp>
            <p:nvSpPr>
              <p:cNvPr id="23" name="TextBox 22">
                <a:extLst>
                  <a:ext uri="{FF2B5EF4-FFF2-40B4-BE49-F238E27FC236}">
                    <a16:creationId xmlns:a16="http://schemas.microsoft.com/office/drawing/2014/main" id="{CD0370C4-C661-4C49-A482-C1407B28BDA1}"/>
                  </a:ext>
                </a:extLst>
              </p:cNvPr>
              <p:cNvSpPr txBox="1">
                <a:spLocks noRot="1" noChangeAspect="1" noMove="1" noResize="1" noEditPoints="1" noAdjustHandles="1" noChangeArrowheads="1" noChangeShapeType="1" noTextEdit="1"/>
              </p:cNvSpPr>
              <p:nvPr/>
            </p:nvSpPr>
            <p:spPr>
              <a:xfrm>
                <a:off x="6874736" y="4412876"/>
                <a:ext cx="1151854" cy="276999"/>
              </a:xfrm>
              <a:prstGeom prst="rect">
                <a:avLst/>
              </a:prstGeom>
              <a:blipFill>
                <a:blip r:embed="rId4"/>
                <a:stretch>
                  <a:fillRect l="-1087" r="-4348" b="-34783"/>
                </a:stretch>
              </a:blipFill>
              <a:ln w="2540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B2CF74B-0386-F04D-9656-FC86AB9739FE}"/>
                  </a:ext>
                </a:extLst>
              </p:cNvPr>
              <p:cNvSpPr txBox="1"/>
              <p:nvPr/>
            </p:nvSpPr>
            <p:spPr>
              <a:xfrm>
                <a:off x="546168" y="4999748"/>
                <a:ext cx="1566263" cy="428643"/>
              </a:xfrm>
              <a:prstGeom prst="rect">
                <a:avLst/>
              </a:prstGeom>
              <a:noFill/>
            </p:spPr>
            <p:txBody>
              <a:bodyPr wrap="none" lIns="0" tIns="0" rIns="0" bIns="0" rtlCol="0">
                <a:spAutoFit/>
              </a:bodyPr>
              <a:lstStyle/>
              <a:p>
                <a14:m>
                  <m:oMath xmlns:m="http://schemas.openxmlformats.org/officeDocument/2006/math">
                    <m:sSup>
                      <m:sSupPr>
                        <m:ctrlPr>
                          <a:rPr lang="en-US" i="1" smtClean="0">
                            <a:latin typeface="Cambria Math" panose="02040503050406030204" pitchFamily="18" charset="0"/>
                            <a:cs typeface="Arial" panose="020B0604020202020204" pitchFamily="34" charset="0"/>
                          </a:rPr>
                        </m:ctrlPr>
                      </m:sSup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p>
                        <m:r>
                          <a:rPr lang="en-US" b="0" i="1" smtClean="0">
                            <a:latin typeface="Cambria Math" panose="02040503050406030204" pitchFamily="18" charset="0"/>
                            <a:cs typeface="Arial" panose="020B0604020202020204" pitchFamily="34" charset="0"/>
                          </a:rPr>
                          <m:t>∗</m:t>
                        </m:r>
                      </m:sup>
                    </m:sSup>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ea typeface="Cambria Math" panose="02040503050406030204" pitchFamily="18" charset="0"/>
                            <a:cs typeface="Arial" panose="020B0604020202020204" pitchFamily="34" charset="0"/>
                          </a:rPr>
                          <m:t>𝑔𝐻𝑆</m:t>
                        </m:r>
                      </m:num>
                      <m:den>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𝑅𝑔𝐷</m:t>
                        </m:r>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𝐻𝑆</m:t>
                        </m:r>
                      </m:num>
                      <m:den>
                        <m:r>
                          <a:rPr lang="en-US" i="1">
                            <a:latin typeface="Cambria Math" panose="02040503050406030204" pitchFamily="18" charset="0"/>
                            <a:ea typeface="Cambria Math" panose="02040503050406030204" pitchFamily="18" charset="0"/>
                            <a:cs typeface="Arial" panose="020B0604020202020204" pitchFamily="34" charset="0"/>
                          </a:rPr>
                          <m:t>𝑅𝐷</m:t>
                        </m:r>
                      </m:den>
                    </m:f>
                  </m:oMath>
                </a14:m>
                <a:r>
                  <a:rPr lang="en-US" dirty="0">
                    <a:latin typeface="Arial" panose="020B0604020202020204" pitchFamily="34" charset="0"/>
                    <a:cs typeface="Arial" panose="020B0604020202020204" pitchFamily="34" charset="0"/>
                  </a:rPr>
                  <a:t> </a:t>
                </a:r>
              </a:p>
            </p:txBody>
          </p:sp>
        </mc:Choice>
        <mc:Fallback xmlns="">
          <p:sp>
            <p:nvSpPr>
              <p:cNvPr id="29" name="TextBox 28">
                <a:extLst>
                  <a:ext uri="{FF2B5EF4-FFF2-40B4-BE49-F238E27FC236}">
                    <a16:creationId xmlns:a16="http://schemas.microsoft.com/office/drawing/2014/main" id="{1B2CF74B-0386-F04D-9656-FC86AB9739FE}"/>
                  </a:ext>
                </a:extLst>
              </p:cNvPr>
              <p:cNvSpPr txBox="1">
                <a:spLocks noRot="1" noChangeAspect="1" noMove="1" noResize="1" noEditPoints="1" noAdjustHandles="1" noChangeArrowheads="1" noChangeShapeType="1" noTextEdit="1"/>
              </p:cNvSpPr>
              <p:nvPr/>
            </p:nvSpPr>
            <p:spPr>
              <a:xfrm>
                <a:off x="546168" y="4999748"/>
                <a:ext cx="1566263" cy="428643"/>
              </a:xfrm>
              <a:prstGeom prst="rect">
                <a:avLst/>
              </a:prstGeom>
              <a:blipFill>
                <a:blip r:embed="rId5"/>
                <a:stretch>
                  <a:fillRect l="-4032" b="-17143"/>
                </a:stretch>
              </a:blipFill>
            </p:spPr>
            <p:txBody>
              <a:bodyPr/>
              <a:lstStyle/>
              <a:p>
                <a:r>
                  <a:rPr lang="en-US">
                    <a:noFill/>
                  </a:rPr>
                  <a:t> </a:t>
                </a:r>
              </a:p>
            </p:txBody>
          </p:sp>
        </mc:Fallback>
      </mc:AlternateContent>
      <p:sp>
        <p:nvSpPr>
          <p:cNvPr id="30" name="TextBox 29">
            <a:extLst>
              <a:ext uri="{FF2B5EF4-FFF2-40B4-BE49-F238E27FC236}">
                <a16:creationId xmlns:a16="http://schemas.microsoft.com/office/drawing/2014/main" id="{9018EDF5-D972-9844-8F1C-6176DE574F13}"/>
              </a:ext>
            </a:extLst>
          </p:cNvPr>
          <p:cNvSpPr txBox="1"/>
          <p:nvPr/>
        </p:nvSpPr>
        <p:spPr>
          <a:xfrm>
            <a:off x="2538693" y="4999748"/>
            <a:ext cx="4911970" cy="381708"/>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If we use the generalized </a:t>
            </a:r>
            <a:r>
              <a:rPr lang="en-US" dirty="0" err="1">
                <a:latin typeface="Arial" panose="020B0604020202020204" pitchFamily="34" charset="0"/>
                <a:cs typeface="Arial" panose="020B0604020202020204" pitchFamily="34" charset="0"/>
              </a:rPr>
              <a:t>Chezy</a:t>
            </a:r>
            <a:r>
              <a:rPr lang="en-US" dirty="0">
                <a:latin typeface="Arial" panose="020B0604020202020204" pitchFamily="34" charset="0"/>
                <a:cs typeface="Arial" panose="020B0604020202020204" pitchFamily="34" charset="0"/>
              </a:rPr>
              <a:t> formulation</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2BA66C72-22A2-A849-9727-95B43BC1146B}"/>
                  </a:ext>
                </a:extLst>
              </p:cNvPr>
              <p:cNvSpPr txBox="1"/>
              <p:nvPr/>
            </p:nvSpPr>
            <p:spPr>
              <a:xfrm>
                <a:off x="2719738" y="5668256"/>
                <a:ext cx="1477328" cy="560731"/>
              </a:xfrm>
              <a:prstGeom prst="rect">
                <a:avLst/>
              </a:prstGeom>
              <a:noFill/>
            </p:spPr>
            <p:txBody>
              <a:bodyPr wrap="none" lIns="0" tIns="0" rIns="0" bIns="0" rtlCol="0">
                <a:spAutoFit/>
              </a:bodyPr>
              <a:lstStyle/>
              <a:p>
                <a14:m>
                  <m:oMath xmlns:m="http://schemas.openxmlformats.org/officeDocument/2006/math">
                    <m:r>
                      <a:rPr lang="en-US" b="0" i="1" smtClean="0">
                        <a:latin typeface="Cambria Math" panose="02040503050406030204" pitchFamily="18" charset="0"/>
                        <a:cs typeface="Arial" panose="020B0604020202020204" pitchFamily="34" charset="0"/>
                      </a:rPr>
                      <m:t>𝐻</m:t>
                    </m:r>
                    <m:r>
                      <a:rPr lang="en-US" b="0" i="1" smtClean="0">
                        <a:latin typeface="Cambria Math" panose="02040503050406030204" pitchFamily="18" charset="0"/>
                        <a:cs typeface="Arial" panose="020B0604020202020204" pitchFamily="34" charset="0"/>
                      </a:rPr>
                      <m:t>=</m:t>
                    </m:r>
                    <m:sSup>
                      <m:sSupPr>
                        <m:ctrlPr>
                          <a:rPr lang="en-US" i="1">
                            <a:latin typeface="Cambria Math" panose="02040503050406030204" pitchFamily="18" charset="0"/>
                            <a:cs typeface="Arial" panose="020B0604020202020204" pitchFamily="34" charset="0"/>
                          </a:rPr>
                        </m:ctrlPr>
                      </m:sSupPr>
                      <m:e>
                        <m:d>
                          <m:dPr>
                            <m:ctrlPr>
                              <a:rPr lang="en-US" i="1">
                                <a:latin typeface="Cambria Math" panose="02040503050406030204" pitchFamily="18" charset="0"/>
                                <a:cs typeface="Arial" panose="020B0604020202020204" pitchFamily="34" charset="0"/>
                              </a:rPr>
                            </m:ctrlPr>
                          </m:dPr>
                          <m:e>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𝐶</m:t>
                                    </m:r>
                                  </m:e>
                                  <m:sub>
                                    <m:r>
                                      <a:rPr lang="en-US" i="1">
                                        <a:latin typeface="Cambria Math" panose="02040503050406030204" pitchFamily="18" charset="0"/>
                                        <a:cs typeface="Arial" panose="020B0604020202020204" pitchFamily="34" charset="0"/>
                                      </a:rPr>
                                      <m:t>𝑓</m:t>
                                    </m:r>
                                  </m:sub>
                                </m:sSub>
                                <m:sSubSup>
                                  <m:sSubSupPr>
                                    <m:ctrlPr>
                                      <a:rPr lang="en-US"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𝑞</m:t>
                                    </m:r>
                                  </m:e>
                                  <m:sub>
                                    <m:r>
                                      <a:rPr lang="en-US" b="0" i="1" smtClean="0">
                                        <a:latin typeface="Cambria Math" panose="02040503050406030204" pitchFamily="18" charset="0"/>
                                        <a:cs typeface="Arial" panose="020B0604020202020204" pitchFamily="34" charset="0"/>
                                      </a:rPr>
                                      <m:t>𝑤</m:t>
                                    </m:r>
                                  </m:sub>
                                  <m:sup>
                                    <m:r>
                                      <a:rPr lang="en-US" b="0" i="1" smtClean="0">
                                        <a:latin typeface="Cambria Math" panose="02040503050406030204" pitchFamily="18" charset="0"/>
                                        <a:cs typeface="Arial" panose="020B0604020202020204" pitchFamily="34" charset="0"/>
                                      </a:rPr>
                                      <m:t>2</m:t>
                                    </m:r>
                                  </m:sup>
                                </m:sSubSup>
                              </m:num>
                              <m:den>
                                <m:r>
                                  <a:rPr lang="en-US" i="1">
                                    <a:latin typeface="Cambria Math" panose="02040503050406030204" pitchFamily="18" charset="0"/>
                                    <a:cs typeface="Arial" panose="020B0604020202020204" pitchFamily="34" charset="0"/>
                                  </a:rPr>
                                  <m:t>𝑔𝑆</m:t>
                                </m:r>
                              </m:den>
                            </m:f>
                          </m:e>
                        </m:d>
                      </m:e>
                      <m:sup>
                        <m:r>
                          <a:rPr lang="en-US" i="1">
                            <a:latin typeface="Cambria Math" panose="02040503050406030204" pitchFamily="18" charset="0"/>
                            <a:cs typeface="Arial" panose="020B0604020202020204" pitchFamily="34" charset="0"/>
                          </a:rPr>
                          <m:t>1/3</m:t>
                        </m:r>
                      </m:sup>
                    </m:sSup>
                  </m:oMath>
                </a14:m>
                <a:r>
                  <a:rPr lang="en-US" dirty="0">
                    <a:latin typeface="Arial" panose="020B0604020202020204" pitchFamily="34" charset="0"/>
                    <a:cs typeface="Arial" panose="020B0604020202020204" pitchFamily="34" charset="0"/>
                  </a:rPr>
                  <a:t> </a:t>
                </a:r>
              </a:p>
            </p:txBody>
          </p:sp>
        </mc:Choice>
        <mc:Fallback xmlns="">
          <p:sp>
            <p:nvSpPr>
              <p:cNvPr id="31" name="TextBox 30">
                <a:extLst>
                  <a:ext uri="{FF2B5EF4-FFF2-40B4-BE49-F238E27FC236}">
                    <a16:creationId xmlns:a16="http://schemas.microsoft.com/office/drawing/2014/main" id="{2BA66C72-22A2-A849-9727-95B43BC1146B}"/>
                  </a:ext>
                </a:extLst>
              </p:cNvPr>
              <p:cNvSpPr txBox="1">
                <a:spLocks noRot="1" noChangeAspect="1" noMove="1" noResize="1" noEditPoints="1" noAdjustHandles="1" noChangeArrowheads="1" noChangeShapeType="1" noTextEdit="1"/>
              </p:cNvSpPr>
              <p:nvPr/>
            </p:nvSpPr>
            <p:spPr>
              <a:xfrm>
                <a:off x="2719738" y="5668256"/>
                <a:ext cx="1477328" cy="560731"/>
              </a:xfrm>
              <a:prstGeom prst="rect">
                <a:avLst/>
              </a:prstGeom>
              <a:blipFill>
                <a:blip r:embed="rId6"/>
                <a:stretch>
                  <a:fillRect l="-5983" t="-2222" b="-11111"/>
                </a:stretch>
              </a:blipFill>
            </p:spPr>
            <p:txBody>
              <a:bodyPr/>
              <a:lstStyle/>
              <a:p>
                <a:r>
                  <a:rPr lang="en-US">
                    <a:noFill/>
                  </a:rPr>
                  <a:t> </a:t>
                </a:r>
              </a:p>
            </p:txBody>
          </p:sp>
        </mc:Fallback>
      </mc:AlternateContent>
      <p:sp>
        <p:nvSpPr>
          <p:cNvPr id="37" name="TextBox 36">
            <a:extLst>
              <a:ext uri="{FF2B5EF4-FFF2-40B4-BE49-F238E27FC236}">
                <a16:creationId xmlns:a16="http://schemas.microsoft.com/office/drawing/2014/main" id="{11C6E161-012A-C44A-845D-4A03A54D43A2}"/>
              </a:ext>
            </a:extLst>
          </p:cNvPr>
          <p:cNvSpPr txBox="1"/>
          <p:nvPr/>
        </p:nvSpPr>
        <p:spPr>
          <a:xfrm>
            <a:off x="4414097" y="5821211"/>
            <a:ext cx="767504" cy="381708"/>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and</a:t>
            </a: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02C8360-35A1-F645-BCFB-423F5AF149D8}"/>
                  </a:ext>
                </a:extLst>
              </p:cNvPr>
              <p:cNvSpPr txBox="1"/>
              <p:nvPr/>
            </p:nvSpPr>
            <p:spPr>
              <a:xfrm>
                <a:off x="5207646" y="5702014"/>
                <a:ext cx="1839991" cy="560731"/>
              </a:xfrm>
              <a:prstGeom prst="rect">
                <a:avLst/>
              </a:prstGeom>
              <a:solidFill>
                <a:schemeClr val="accent4">
                  <a:lumMod val="20000"/>
                  <a:lumOff val="80000"/>
                </a:schemeClr>
              </a:solidFill>
              <a:ln w="28575">
                <a:noFill/>
              </a:ln>
            </p:spPr>
            <p:txBody>
              <a:bodyPr wrap="none" lIns="0" tIns="0" rIns="0" bIns="0" rtlCol="0">
                <a:spAutoFit/>
              </a:bodyPr>
              <a:lstStyle/>
              <a:p>
                <a14:m>
                  <m:oMath xmlns:m="http://schemas.openxmlformats.org/officeDocument/2006/math">
                    <m:sSup>
                      <m:sSupPr>
                        <m:ctrlPr>
                          <a:rPr lang="en-US" i="1" smtClean="0">
                            <a:latin typeface="Cambria Math" panose="02040503050406030204" pitchFamily="18" charset="0"/>
                            <a:cs typeface="Arial" panose="020B0604020202020204" pitchFamily="34" charset="0"/>
                          </a:rPr>
                        </m:ctrlPr>
                      </m:sSup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p>
                        <m:r>
                          <a:rPr lang="en-US" b="0" i="1" smtClean="0">
                            <a:latin typeface="Cambria Math" panose="02040503050406030204" pitchFamily="18" charset="0"/>
                            <a:cs typeface="Arial" panose="020B0604020202020204" pitchFamily="34" charset="0"/>
                          </a:rPr>
                          <m:t>∗</m:t>
                        </m:r>
                      </m:sup>
                    </m:sSup>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sSup>
                          <m:sSupPr>
                            <m:ctrlPr>
                              <a:rPr lang="en-US"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𝑆</m:t>
                            </m:r>
                          </m:e>
                          <m:sup>
                            <m:r>
                              <a:rPr lang="en-US" b="0" i="1" smtClean="0">
                                <a:latin typeface="Cambria Math" panose="02040503050406030204" pitchFamily="18" charset="0"/>
                                <a:cs typeface="Arial" panose="020B0604020202020204" pitchFamily="34" charset="0"/>
                              </a:rPr>
                              <m:t>2/3</m:t>
                            </m:r>
                          </m:sup>
                        </m:sSup>
                      </m:num>
                      <m:den>
                        <m:r>
                          <a:rPr lang="en-US" i="1">
                            <a:latin typeface="Cambria Math" panose="02040503050406030204" pitchFamily="18" charset="0"/>
                            <a:ea typeface="Cambria Math" panose="02040503050406030204" pitchFamily="18" charset="0"/>
                            <a:cs typeface="Arial" panose="020B0604020202020204" pitchFamily="34" charset="0"/>
                          </a:rPr>
                          <m:t>𝑅𝐷</m:t>
                        </m:r>
                      </m:den>
                    </m:f>
                  </m:oMath>
                </a14:m>
                <a:r>
                  <a:rPr lang="en-US" dirty="0">
                    <a:cs typeface="Arial" panose="020B0604020202020204" pitchFamily="34" charset="0"/>
                  </a:rPr>
                  <a:t> </a:t>
                </a:r>
                <a14:m>
                  <m:oMath xmlns:m="http://schemas.openxmlformats.org/officeDocument/2006/math">
                    <m:sSup>
                      <m:sSupPr>
                        <m:ctrlPr>
                          <a:rPr lang="en-US" i="1">
                            <a:latin typeface="Cambria Math" panose="02040503050406030204" pitchFamily="18" charset="0"/>
                            <a:cs typeface="Arial" panose="020B0604020202020204" pitchFamily="34" charset="0"/>
                          </a:rPr>
                        </m:ctrlPr>
                      </m:sSupPr>
                      <m:e>
                        <m:d>
                          <m:dPr>
                            <m:ctrlPr>
                              <a:rPr lang="en-US" i="1">
                                <a:latin typeface="Cambria Math" panose="02040503050406030204" pitchFamily="18" charset="0"/>
                                <a:cs typeface="Arial" panose="020B0604020202020204" pitchFamily="34" charset="0"/>
                              </a:rPr>
                            </m:ctrlPr>
                          </m:dPr>
                          <m:e>
                            <m:f>
                              <m:fPr>
                                <m:ctrlPr>
                                  <a:rPr lang="en-US" i="1">
                                    <a:latin typeface="Cambria Math" panose="02040503050406030204" pitchFamily="18" charset="0"/>
                                    <a:cs typeface="Arial" panose="020B0604020202020204" pitchFamily="34" charset="0"/>
                                  </a:rPr>
                                </m:ctrlPr>
                              </m:fPr>
                              <m:num>
                                <m:sSub>
                                  <m:sSubPr>
                                    <m:ctrlPr>
                                      <a:rPr lang="en-US" i="1" smtClean="0">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𝐶</m:t>
                                    </m:r>
                                  </m:e>
                                  <m:sub>
                                    <m:r>
                                      <a:rPr lang="en-US" i="1">
                                        <a:latin typeface="Cambria Math" panose="02040503050406030204" pitchFamily="18" charset="0"/>
                                        <a:cs typeface="Arial" panose="020B0604020202020204" pitchFamily="34" charset="0"/>
                                      </a:rPr>
                                      <m:t>𝑓</m:t>
                                    </m:r>
                                  </m:sub>
                                </m:sSub>
                                <m:sSubSup>
                                  <m:sSubSupPr>
                                    <m:ctrlPr>
                                      <a:rPr lang="en-US" i="1">
                                        <a:latin typeface="Cambria Math" panose="02040503050406030204" pitchFamily="18" charset="0"/>
                                        <a:cs typeface="Arial" panose="020B0604020202020204" pitchFamily="34" charset="0"/>
                                      </a:rPr>
                                    </m:ctrlPr>
                                  </m:sSubSupPr>
                                  <m:e>
                                    <m:r>
                                      <a:rPr lang="en-US" i="1">
                                        <a:latin typeface="Cambria Math" panose="02040503050406030204" pitchFamily="18" charset="0"/>
                                        <a:cs typeface="Arial" panose="020B0604020202020204" pitchFamily="34" charset="0"/>
                                      </a:rPr>
                                      <m:t>𝑞</m:t>
                                    </m:r>
                                  </m:e>
                                  <m:sub>
                                    <m:r>
                                      <a:rPr lang="en-US" i="1">
                                        <a:latin typeface="Cambria Math" panose="02040503050406030204" pitchFamily="18" charset="0"/>
                                        <a:cs typeface="Arial" panose="020B0604020202020204" pitchFamily="34" charset="0"/>
                                      </a:rPr>
                                      <m:t>𝑤</m:t>
                                    </m:r>
                                  </m:sub>
                                  <m:sup>
                                    <m:r>
                                      <a:rPr lang="en-US" i="1">
                                        <a:latin typeface="Cambria Math" panose="02040503050406030204" pitchFamily="18" charset="0"/>
                                        <a:cs typeface="Arial" panose="020B0604020202020204" pitchFamily="34" charset="0"/>
                                      </a:rPr>
                                      <m:t>2</m:t>
                                    </m:r>
                                  </m:sup>
                                </m:sSubSup>
                              </m:num>
                              <m:den>
                                <m:r>
                                  <a:rPr lang="en-US" i="1">
                                    <a:latin typeface="Cambria Math" panose="02040503050406030204" pitchFamily="18" charset="0"/>
                                    <a:cs typeface="Arial" panose="020B0604020202020204" pitchFamily="34" charset="0"/>
                                  </a:rPr>
                                  <m:t>𝑔</m:t>
                                </m:r>
                              </m:den>
                            </m:f>
                          </m:e>
                        </m:d>
                      </m:e>
                      <m:sup>
                        <m:r>
                          <a:rPr lang="en-US" i="1">
                            <a:latin typeface="Cambria Math" panose="02040503050406030204" pitchFamily="18" charset="0"/>
                            <a:cs typeface="Arial" panose="020B0604020202020204" pitchFamily="34" charset="0"/>
                          </a:rPr>
                          <m:t>1/3</m:t>
                        </m:r>
                      </m:sup>
                    </m:sSup>
                  </m:oMath>
                </a14:m>
                <a:endParaRPr lang="en-US" dirty="0">
                  <a:latin typeface="Arial" panose="020B0604020202020204" pitchFamily="34" charset="0"/>
                  <a:cs typeface="Arial" panose="020B0604020202020204" pitchFamily="34" charset="0"/>
                </a:endParaRPr>
              </a:p>
            </p:txBody>
          </p:sp>
        </mc:Choice>
        <mc:Fallback xmlns="">
          <p:sp>
            <p:nvSpPr>
              <p:cNvPr id="38" name="TextBox 37">
                <a:extLst>
                  <a:ext uri="{FF2B5EF4-FFF2-40B4-BE49-F238E27FC236}">
                    <a16:creationId xmlns:a16="http://schemas.microsoft.com/office/drawing/2014/main" id="{A02C8360-35A1-F645-BCFB-423F5AF149D8}"/>
                  </a:ext>
                </a:extLst>
              </p:cNvPr>
              <p:cNvSpPr txBox="1">
                <a:spLocks noRot="1" noChangeAspect="1" noMove="1" noResize="1" noEditPoints="1" noAdjustHandles="1" noChangeArrowheads="1" noChangeShapeType="1" noTextEdit="1"/>
              </p:cNvSpPr>
              <p:nvPr/>
            </p:nvSpPr>
            <p:spPr>
              <a:xfrm>
                <a:off x="5207646" y="5702014"/>
                <a:ext cx="1839991" cy="560731"/>
              </a:xfrm>
              <a:prstGeom prst="rect">
                <a:avLst/>
              </a:prstGeom>
              <a:blipFill>
                <a:blip r:embed="rId7"/>
                <a:stretch>
                  <a:fillRect l="-2740" r="-1370" b="-11111"/>
                </a:stretch>
              </a:blipFill>
              <a:ln w="28575">
                <a:noFill/>
              </a:ln>
            </p:spPr>
            <p:txBody>
              <a:bodyPr/>
              <a:lstStyle/>
              <a:p>
                <a:r>
                  <a:rPr lang="en-US">
                    <a:noFill/>
                  </a:rPr>
                  <a:t> </a:t>
                </a:r>
              </a:p>
            </p:txBody>
          </p:sp>
        </mc:Fallback>
      </mc:AlternateContent>
      <p:sp>
        <p:nvSpPr>
          <p:cNvPr id="41" name="TextBox 40">
            <a:extLst>
              <a:ext uri="{FF2B5EF4-FFF2-40B4-BE49-F238E27FC236}">
                <a16:creationId xmlns:a16="http://schemas.microsoft.com/office/drawing/2014/main" id="{82187018-A063-E541-AD51-6EA17E26F33F}"/>
              </a:ext>
            </a:extLst>
          </p:cNvPr>
          <p:cNvSpPr txBox="1"/>
          <p:nvPr/>
        </p:nvSpPr>
        <p:spPr>
          <a:xfrm>
            <a:off x="8352941" y="5314565"/>
            <a:ext cx="3839059" cy="1329082"/>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Shields number as a function of flow rate per unit width and slope, parameters readily available in most cases</a:t>
            </a:r>
          </a:p>
        </p:txBody>
      </p:sp>
      <p:cxnSp>
        <p:nvCxnSpPr>
          <p:cNvPr id="42" name="Straight Arrow Connector 41">
            <a:extLst>
              <a:ext uri="{FF2B5EF4-FFF2-40B4-BE49-F238E27FC236}">
                <a16:creationId xmlns:a16="http://schemas.microsoft.com/office/drawing/2014/main" id="{A61A13BB-85D1-6B49-B187-00EB084E9C14}"/>
              </a:ext>
            </a:extLst>
          </p:cNvPr>
          <p:cNvCxnSpPr>
            <a:cxnSpLocks/>
          </p:cNvCxnSpPr>
          <p:nvPr/>
        </p:nvCxnSpPr>
        <p:spPr>
          <a:xfrm flipH="1">
            <a:off x="7221415" y="5788252"/>
            <a:ext cx="1118892" cy="223813"/>
          </a:xfrm>
          <a:prstGeom prst="straightConnector1">
            <a:avLst/>
          </a:prstGeom>
          <a:ln w="571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98905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1155370" y="136525"/>
            <a:ext cx="988125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The Shields number, a non-dimensional bed shear stress</a:t>
            </a:r>
          </a:p>
        </p:txBody>
      </p:sp>
      <p:sp>
        <p:nvSpPr>
          <p:cNvPr id="64" name="Slide Number Placeholder 3">
            <a:extLst>
              <a:ext uri="{FF2B5EF4-FFF2-40B4-BE49-F238E27FC236}">
                <a16:creationId xmlns:a16="http://schemas.microsoft.com/office/drawing/2014/main" id="{8D3BDA59-59CE-814F-BFB3-6679FAD7D350}"/>
              </a:ext>
            </a:extLst>
          </p:cNvPr>
          <p:cNvSpPr>
            <a:spLocks noGrp="1"/>
          </p:cNvSpPr>
          <p:nvPr>
            <p:ph type="sldNum" sz="quarter" idx="12"/>
          </p:nvPr>
        </p:nvSpPr>
        <p:spPr>
          <a:xfrm>
            <a:off x="8610600" y="6356350"/>
            <a:ext cx="2743200" cy="365125"/>
          </a:xfrm>
        </p:spPr>
        <p:txBody>
          <a:bodyPr/>
          <a:lstStyle/>
          <a:p>
            <a:fld id="{2386C454-E1BD-5A43-901A-CA4ACC7380B7}" type="slidenum">
              <a:rPr lang="en-US" smtClean="0"/>
              <a:t>23</a:t>
            </a:fld>
            <a:endParaRPr lang="en-US" dirty="0"/>
          </a:p>
        </p:txBody>
      </p:sp>
      <p:sp>
        <p:nvSpPr>
          <p:cNvPr id="15" name="TextBox 14">
            <a:extLst>
              <a:ext uri="{FF2B5EF4-FFF2-40B4-BE49-F238E27FC236}">
                <a16:creationId xmlns:a16="http://schemas.microsoft.com/office/drawing/2014/main" id="{B447CD7A-0A17-6E42-9807-D2947603E52A}"/>
              </a:ext>
            </a:extLst>
          </p:cNvPr>
          <p:cNvSpPr txBox="1"/>
          <p:nvPr/>
        </p:nvSpPr>
        <p:spPr>
          <a:xfrm>
            <a:off x="379968" y="845935"/>
            <a:ext cx="11435937" cy="2621167"/>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Bedload transport is estimated with empirical relations, which are not derived from first principles such as the conservation of mass, energy or momentum. </a:t>
            </a:r>
          </a:p>
          <a:p>
            <a:pPr>
              <a:lnSpc>
                <a:spcPct val="114000"/>
              </a:lnSpc>
            </a:pPr>
            <a:endParaRPr lang="en-US" dirty="0">
              <a:latin typeface="Arial" panose="020B0604020202020204" pitchFamily="34" charset="0"/>
              <a:cs typeface="Arial" panose="020B0604020202020204" pitchFamily="34" charset="0"/>
            </a:endParaRPr>
          </a:p>
          <a:p>
            <a:pPr>
              <a:lnSpc>
                <a:spcPct val="114000"/>
              </a:lnSpc>
            </a:pPr>
            <a:r>
              <a:rPr lang="en-US" dirty="0">
                <a:latin typeface="Arial" panose="020B0604020202020204" pitchFamily="34" charset="0"/>
                <a:cs typeface="Arial" panose="020B0604020202020204" pitchFamily="34" charset="0"/>
              </a:rPr>
              <a:t>Field observations and measurements, as well as laboratory experiments, have shown that the bed shear stress is an important parameter for the prediction of bedload transport rates. </a:t>
            </a:r>
          </a:p>
          <a:p>
            <a:pPr>
              <a:lnSpc>
                <a:spcPct val="114000"/>
              </a:lnSpc>
            </a:pPr>
            <a:endParaRPr lang="en-US" dirty="0">
              <a:latin typeface="Arial" panose="020B0604020202020204" pitchFamily="34" charset="0"/>
              <a:cs typeface="Arial" panose="020B0604020202020204" pitchFamily="34" charset="0"/>
            </a:endParaRPr>
          </a:p>
          <a:p>
            <a:pPr>
              <a:lnSpc>
                <a:spcPct val="114000"/>
              </a:lnSpc>
            </a:pPr>
            <a:r>
              <a:rPr lang="en-US" dirty="0">
                <a:latin typeface="Arial" panose="020B0604020202020204" pitchFamily="34" charset="0"/>
                <a:cs typeface="Arial" panose="020B0604020202020204" pitchFamily="34" charset="0"/>
              </a:rPr>
              <a:t>Empirical relations are generally expressed in non-dimensional form. A key non-dimensional parameter to quantify bedload transport and sediment mobility is the Shields number </a:t>
            </a:r>
            <a:r>
              <a:rPr lang="en-US" sz="2000" dirty="0">
                <a:latin typeface="Symbol" pitchFamily="2" charset="2"/>
                <a:cs typeface="Arial" panose="020B0604020202020204" pitchFamily="34" charset="0"/>
              </a:rPr>
              <a:t>t</a:t>
            </a:r>
            <a:r>
              <a:rPr lang="en-US" baseline="30000"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defined as</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37A6EE5-8F42-E548-97E6-7AEF3CCF4379}"/>
                  </a:ext>
                </a:extLst>
              </p:cNvPr>
              <p:cNvSpPr txBox="1"/>
              <p:nvPr/>
            </p:nvSpPr>
            <p:spPr>
              <a:xfrm>
                <a:off x="527538" y="3653292"/>
                <a:ext cx="1029962" cy="402611"/>
              </a:xfrm>
              <a:prstGeom prst="rect">
                <a:avLst/>
              </a:prstGeom>
              <a:noFill/>
            </p:spPr>
            <p:txBody>
              <a:bodyPr wrap="none" lIns="0" tIns="0" rIns="0" bIns="0" rtlCol="0">
                <a:spAutoFit/>
              </a:bodyPr>
              <a:lstStyle/>
              <a:p>
                <a:pPr algn="l"/>
                <a14:m>
                  <m:oMath xmlns:m="http://schemas.openxmlformats.org/officeDocument/2006/math">
                    <m:sSup>
                      <m:sSupPr>
                        <m:ctrlPr>
                          <a:rPr lang="en-US" i="1" smtClean="0">
                            <a:latin typeface="Cambria Math" panose="02040503050406030204" pitchFamily="18" charset="0"/>
                            <a:cs typeface="Arial" panose="020B0604020202020204" pitchFamily="34" charset="0"/>
                          </a:rPr>
                        </m:ctrlPr>
                      </m:sSup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p>
                        <m:r>
                          <a:rPr lang="en-US" b="0" i="1" smtClean="0">
                            <a:latin typeface="Cambria Math" panose="02040503050406030204" pitchFamily="18" charset="0"/>
                            <a:cs typeface="Arial" panose="020B0604020202020204" pitchFamily="34" charset="0"/>
                          </a:rPr>
                          <m:t>∗</m:t>
                        </m:r>
                      </m:sup>
                    </m:sSup>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m:t>
                            </m:r>
                          </m:sub>
                        </m:sSub>
                      </m:num>
                      <m:den>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𝑅𝑔𝐷</m:t>
                        </m:r>
                      </m:den>
                    </m:f>
                  </m:oMath>
                </a14:m>
                <a:r>
                  <a:rPr lang="en-US" dirty="0">
                    <a:latin typeface="Arial" panose="020B0604020202020204" pitchFamily="34" charset="0"/>
                    <a:cs typeface="Arial" panose="020B0604020202020204" pitchFamily="34" charset="0"/>
                  </a:rPr>
                  <a:t> </a:t>
                </a:r>
              </a:p>
            </p:txBody>
          </p:sp>
        </mc:Choice>
        <mc:Fallback xmlns="">
          <p:sp>
            <p:nvSpPr>
              <p:cNvPr id="2" name="TextBox 1">
                <a:extLst>
                  <a:ext uri="{FF2B5EF4-FFF2-40B4-BE49-F238E27FC236}">
                    <a16:creationId xmlns:a16="http://schemas.microsoft.com/office/drawing/2014/main" id="{537A6EE5-8F42-E548-97E6-7AEF3CCF4379}"/>
                  </a:ext>
                </a:extLst>
              </p:cNvPr>
              <p:cNvSpPr txBox="1">
                <a:spLocks noRot="1" noChangeAspect="1" noMove="1" noResize="1" noEditPoints="1" noAdjustHandles="1" noChangeArrowheads="1" noChangeShapeType="1" noTextEdit="1"/>
              </p:cNvSpPr>
              <p:nvPr/>
            </p:nvSpPr>
            <p:spPr>
              <a:xfrm>
                <a:off x="527538" y="3653292"/>
                <a:ext cx="1029962" cy="402611"/>
              </a:xfrm>
              <a:prstGeom prst="rect">
                <a:avLst/>
              </a:prstGeom>
              <a:blipFill>
                <a:blip r:embed="rId3"/>
                <a:stretch>
                  <a:fillRect l="-4878" b="-18182"/>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89A200D9-9AB3-054E-8813-061C063C928B}"/>
              </a:ext>
            </a:extLst>
          </p:cNvPr>
          <p:cNvSpPr txBox="1"/>
          <p:nvPr/>
        </p:nvSpPr>
        <p:spPr>
          <a:xfrm>
            <a:off x="378030" y="4360522"/>
            <a:ext cx="11435937" cy="381708"/>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If the flow can be approximated a steady and uniform (normal)                     and </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CD0370C4-C661-4C49-A482-C1407B28BDA1}"/>
                  </a:ext>
                </a:extLst>
              </p:cNvPr>
              <p:cNvSpPr txBox="1"/>
              <p:nvPr/>
            </p:nvSpPr>
            <p:spPr>
              <a:xfrm>
                <a:off x="6874736" y="4412876"/>
                <a:ext cx="1151854" cy="276999"/>
              </a:xfrm>
              <a:prstGeom prst="rect">
                <a:avLst/>
              </a:prstGeom>
              <a:noFill/>
              <a:ln w="25400">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ea typeface="Cambria Math" panose="02040503050406030204" pitchFamily="18" charset="0"/>
                          <a:cs typeface="Arial" panose="020B0604020202020204" pitchFamily="34" charset="0"/>
                        </a:rPr>
                        <m:t>𝑔𝐻𝑆</m:t>
                      </m:r>
                    </m:oMath>
                  </m:oMathPara>
                </a14:m>
                <a:endParaRPr lang="en-US" dirty="0">
                  <a:latin typeface="Arial" panose="020B0604020202020204" pitchFamily="34" charset="0"/>
                  <a:cs typeface="Arial" panose="020B0604020202020204" pitchFamily="34" charset="0"/>
                </a:endParaRPr>
              </a:p>
            </p:txBody>
          </p:sp>
        </mc:Choice>
        <mc:Fallback xmlns="">
          <p:sp>
            <p:nvSpPr>
              <p:cNvPr id="23" name="TextBox 22">
                <a:extLst>
                  <a:ext uri="{FF2B5EF4-FFF2-40B4-BE49-F238E27FC236}">
                    <a16:creationId xmlns:a16="http://schemas.microsoft.com/office/drawing/2014/main" id="{CD0370C4-C661-4C49-A482-C1407B28BDA1}"/>
                  </a:ext>
                </a:extLst>
              </p:cNvPr>
              <p:cNvSpPr txBox="1">
                <a:spLocks noRot="1" noChangeAspect="1" noMove="1" noResize="1" noEditPoints="1" noAdjustHandles="1" noChangeArrowheads="1" noChangeShapeType="1" noTextEdit="1"/>
              </p:cNvSpPr>
              <p:nvPr/>
            </p:nvSpPr>
            <p:spPr>
              <a:xfrm>
                <a:off x="6874736" y="4412876"/>
                <a:ext cx="1151854" cy="276999"/>
              </a:xfrm>
              <a:prstGeom prst="rect">
                <a:avLst/>
              </a:prstGeom>
              <a:blipFill>
                <a:blip r:embed="rId4"/>
                <a:stretch>
                  <a:fillRect l="-1087" r="-4348" b="-34783"/>
                </a:stretch>
              </a:blipFill>
              <a:ln w="2540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B2CF74B-0386-F04D-9656-FC86AB9739FE}"/>
                  </a:ext>
                </a:extLst>
              </p:cNvPr>
              <p:cNvSpPr txBox="1"/>
              <p:nvPr/>
            </p:nvSpPr>
            <p:spPr>
              <a:xfrm>
                <a:off x="527538" y="5000312"/>
                <a:ext cx="1566263" cy="428643"/>
              </a:xfrm>
              <a:prstGeom prst="rect">
                <a:avLst/>
              </a:prstGeom>
              <a:noFill/>
            </p:spPr>
            <p:txBody>
              <a:bodyPr wrap="none" lIns="0" tIns="0" rIns="0" bIns="0" rtlCol="0">
                <a:spAutoFit/>
              </a:bodyPr>
              <a:lstStyle/>
              <a:p>
                <a14:m>
                  <m:oMath xmlns:m="http://schemas.openxmlformats.org/officeDocument/2006/math">
                    <m:sSup>
                      <m:sSupPr>
                        <m:ctrlPr>
                          <a:rPr lang="en-US" i="1" smtClean="0">
                            <a:latin typeface="Cambria Math" panose="02040503050406030204" pitchFamily="18" charset="0"/>
                            <a:cs typeface="Arial" panose="020B0604020202020204" pitchFamily="34" charset="0"/>
                          </a:rPr>
                        </m:ctrlPr>
                      </m:sSup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p>
                        <m:r>
                          <a:rPr lang="en-US" b="0" i="1" smtClean="0">
                            <a:latin typeface="Cambria Math" panose="02040503050406030204" pitchFamily="18" charset="0"/>
                            <a:cs typeface="Arial" panose="020B0604020202020204" pitchFamily="34" charset="0"/>
                          </a:rPr>
                          <m:t>∗</m:t>
                        </m:r>
                      </m:sup>
                    </m:sSup>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ea typeface="Cambria Math" panose="02040503050406030204" pitchFamily="18" charset="0"/>
                            <a:cs typeface="Arial" panose="020B0604020202020204" pitchFamily="34" charset="0"/>
                          </a:rPr>
                          <m:t>𝑔𝐻𝑆</m:t>
                        </m:r>
                      </m:num>
                      <m:den>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𝑅𝑔𝐷</m:t>
                        </m:r>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𝐻𝑆</m:t>
                        </m:r>
                      </m:num>
                      <m:den>
                        <m:r>
                          <a:rPr lang="en-US" i="1">
                            <a:latin typeface="Cambria Math" panose="02040503050406030204" pitchFamily="18" charset="0"/>
                            <a:ea typeface="Cambria Math" panose="02040503050406030204" pitchFamily="18" charset="0"/>
                            <a:cs typeface="Arial" panose="020B0604020202020204" pitchFamily="34" charset="0"/>
                          </a:rPr>
                          <m:t>𝑅𝐷</m:t>
                        </m:r>
                      </m:den>
                    </m:f>
                  </m:oMath>
                </a14:m>
                <a:r>
                  <a:rPr lang="en-US" dirty="0">
                    <a:latin typeface="Arial" panose="020B0604020202020204" pitchFamily="34" charset="0"/>
                    <a:cs typeface="Arial" panose="020B0604020202020204" pitchFamily="34" charset="0"/>
                  </a:rPr>
                  <a:t> </a:t>
                </a:r>
              </a:p>
            </p:txBody>
          </p:sp>
        </mc:Choice>
        <mc:Fallback xmlns="">
          <p:sp>
            <p:nvSpPr>
              <p:cNvPr id="29" name="TextBox 28">
                <a:extLst>
                  <a:ext uri="{FF2B5EF4-FFF2-40B4-BE49-F238E27FC236}">
                    <a16:creationId xmlns:a16="http://schemas.microsoft.com/office/drawing/2014/main" id="{1B2CF74B-0386-F04D-9656-FC86AB9739FE}"/>
                  </a:ext>
                </a:extLst>
              </p:cNvPr>
              <p:cNvSpPr txBox="1">
                <a:spLocks noRot="1" noChangeAspect="1" noMove="1" noResize="1" noEditPoints="1" noAdjustHandles="1" noChangeArrowheads="1" noChangeShapeType="1" noTextEdit="1"/>
              </p:cNvSpPr>
              <p:nvPr/>
            </p:nvSpPr>
            <p:spPr>
              <a:xfrm>
                <a:off x="527538" y="5000312"/>
                <a:ext cx="1566263" cy="428643"/>
              </a:xfrm>
              <a:prstGeom prst="rect">
                <a:avLst/>
              </a:prstGeom>
              <a:blipFill>
                <a:blip r:embed="rId5"/>
                <a:stretch>
                  <a:fillRect l="-3226" b="-17143"/>
                </a:stretch>
              </a:blipFill>
            </p:spPr>
            <p:txBody>
              <a:bodyPr/>
              <a:lstStyle/>
              <a:p>
                <a:r>
                  <a:rPr lang="en-US">
                    <a:noFill/>
                  </a:rPr>
                  <a:t> </a:t>
                </a:r>
              </a:p>
            </p:txBody>
          </p:sp>
        </mc:Fallback>
      </mc:AlternateContent>
      <p:sp>
        <p:nvSpPr>
          <p:cNvPr id="30" name="TextBox 29">
            <a:extLst>
              <a:ext uri="{FF2B5EF4-FFF2-40B4-BE49-F238E27FC236}">
                <a16:creationId xmlns:a16="http://schemas.microsoft.com/office/drawing/2014/main" id="{9018EDF5-D972-9844-8F1C-6176DE574F13}"/>
              </a:ext>
            </a:extLst>
          </p:cNvPr>
          <p:cNvSpPr txBox="1"/>
          <p:nvPr/>
        </p:nvSpPr>
        <p:spPr>
          <a:xfrm>
            <a:off x="2538693" y="4999748"/>
            <a:ext cx="4911970" cy="381708"/>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If we use a Manning-Strickler formulation</a:t>
            </a:r>
          </a:p>
        </p:txBody>
      </p:sp>
      <p:sp>
        <p:nvSpPr>
          <p:cNvPr id="37" name="TextBox 36">
            <a:extLst>
              <a:ext uri="{FF2B5EF4-FFF2-40B4-BE49-F238E27FC236}">
                <a16:creationId xmlns:a16="http://schemas.microsoft.com/office/drawing/2014/main" id="{11C6E161-012A-C44A-845D-4A03A54D43A2}"/>
              </a:ext>
            </a:extLst>
          </p:cNvPr>
          <p:cNvSpPr txBox="1"/>
          <p:nvPr/>
        </p:nvSpPr>
        <p:spPr>
          <a:xfrm>
            <a:off x="4414097" y="5821211"/>
            <a:ext cx="767504" cy="381708"/>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and</a:t>
            </a: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02C8360-35A1-F645-BCFB-423F5AF149D8}"/>
                  </a:ext>
                </a:extLst>
              </p:cNvPr>
              <p:cNvSpPr txBox="1"/>
              <p:nvPr/>
            </p:nvSpPr>
            <p:spPr>
              <a:xfrm>
                <a:off x="5207646" y="5702014"/>
                <a:ext cx="2225033" cy="589072"/>
              </a:xfrm>
              <a:prstGeom prst="rect">
                <a:avLst/>
              </a:prstGeom>
              <a:solidFill>
                <a:schemeClr val="accent4">
                  <a:lumMod val="20000"/>
                  <a:lumOff val="80000"/>
                </a:schemeClr>
              </a:solidFill>
              <a:ln w="28575">
                <a:noFill/>
              </a:ln>
            </p:spPr>
            <p:txBody>
              <a:bodyPr wrap="none" lIns="0" tIns="0" rIns="0" bIns="0" rtlCol="0">
                <a:spAutoFit/>
              </a:bodyPr>
              <a:lstStyle/>
              <a:p>
                <a14:m>
                  <m:oMath xmlns:m="http://schemas.openxmlformats.org/officeDocument/2006/math">
                    <m:sSup>
                      <m:sSupPr>
                        <m:ctrlPr>
                          <a:rPr lang="en-US" i="1" smtClean="0">
                            <a:latin typeface="Cambria Math" panose="02040503050406030204" pitchFamily="18" charset="0"/>
                            <a:cs typeface="Arial" panose="020B0604020202020204" pitchFamily="34" charset="0"/>
                          </a:rPr>
                        </m:ctrlPr>
                      </m:sSup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p>
                        <m:r>
                          <a:rPr lang="en-US" b="0" i="1" smtClean="0">
                            <a:latin typeface="Cambria Math" panose="02040503050406030204" pitchFamily="18" charset="0"/>
                            <a:cs typeface="Arial" panose="020B0604020202020204" pitchFamily="34" charset="0"/>
                          </a:rPr>
                          <m:t>∗</m:t>
                        </m:r>
                      </m:sup>
                    </m:sSup>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sSup>
                          <m:sSupPr>
                            <m:ctrlPr>
                              <a:rPr lang="en-US"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𝑆</m:t>
                            </m:r>
                          </m:e>
                          <m:sup>
                            <m:r>
                              <a:rPr lang="en-US" b="0" i="1" smtClean="0">
                                <a:latin typeface="Cambria Math" panose="02040503050406030204" pitchFamily="18" charset="0"/>
                                <a:cs typeface="Arial" panose="020B0604020202020204" pitchFamily="34" charset="0"/>
                              </a:rPr>
                              <m:t>7/10</m:t>
                            </m:r>
                          </m:sup>
                        </m:sSup>
                      </m:num>
                      <m:den>
                        <m:r>
                          <a:rPr lang="en-US" i="1">
                            <a:latin typeface="Cambria Math" panose="02040503050406030204" pitchFamily="18" charset="0"/>
                            <a:ea typeface="Cambria Math" panose="02040503050406030204" pitchFamily="18" charset="0"/>
                            <a:cs typeface="Arial" panose="020B0604020202020204" pitchFamily="34" charset="0"/>
                          </a:rPr>
                          <m:t>𝑅𝐷</m:t>
                        </m:r>
                      </m:den>
                    </m:f>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bSup>
                                  <m:sSubSupPr>
                                    <m:ctrlPr>
                                      <a:rPr lang="en-US" i="1">
                                        <a:latin typeface="Cambria Math" panose="02040503050406030204" pitchFamily="18" charset="0"/>
                                        <a:ea typeface="Cambria Math" panose="02040503050406030204" pitchFamily="18" charset="0"/>
                                        <a:cs typeface="Arial" panose="020B0604020202020204" pitchFamily="34" charset="0"/>
                                      </a:rPr>
                                    </m:ctrlPr>
                                  </m:sSubSupPr>
                                  <m:e>
                                    <m:r>
                                      <a:rPr lang="en-US" i="1">
                                        <a:latin typeface="Cambria Math" panose="02040503050406030204" pitchFamily="18" charset="0"/>
                                        <a:ea typeface="Cambria Math" panose="02040503050406030204" pitchFamily="18" charset="0"/>
                                        <a:cs typeface="Arial" panose="020B0604020202020204" pitchFamily="34" charset="0"/>
                                      </a:rPr>
                                      <m:t>𝑘</m:t>
                                    </m:r>
                                  </m:e>
                                  <m:sub>
                                    <m:r>
                                      <a:rPr lang="en-US" i="1">
                                        <a:latin typeface="Cambria Math" panose="02040503050406030204" pitchFamily="18" charset="0"/>
                                        <a:ea typeface="Cambria Math" panose="02040503050406030204" pitchFamily="18" charset="0"/>
                                        <a:cs typeface="Arial" panose="020B0604020202020204" pitchFamily="34" charset="0"/>
                                      </a:rPr>
                                      <m:t>𝑐</m:t>
                                    </m:r>
                                  </m:sub>
                                  <m:sup>
                                    <m:r>
                                      <a:rPr lang="en-US" i="1">
                                        <a:latin typeface="Cambria Math" panose="02040503050406030204" pitchFamily="18" charset="0"/>
                                        <a:ea typeface="Cambria Math" panose="02040503050406030204" pitchFamily="18" charset="0"/>
                                        <a:cs typeface="Arial" panose="020B0604020202020204" pitchFamily="34" charset="0"/>
                                      </a:rPr>
                                      <m:t>1/3</m:t>
                                    </m:r>
                                  </m:sup>
                                </m:sSubSup>
                                <m:sSubSup>
                                  <m:sSubSupPr>
                                    <m:ctrlPr>
                                      <a:rPr lang="en-US" i="1">
                                        <a:latin typeface="Cambria Math" panose="02040503050406030204" pitchFamily="18" charset="0"/>
                                        <a:ea typeface="Cambria Math" panose="02040503050406030204" pitchFamily="18" charset="0"/>
                                        <a:cs typeface="Arial" panose="020B0604020202020204" pitchFamily="34" charset="0"/>
                                      </a:rPr>
                                    </m:ctrlPr>
                                  </m:sSubSupPr>
                                  <m:e>
                                    <m:r>
                                      <a:rPr lang="en-US" i="1">
                                        <a:latin typeface="Cambria Math" panose="02040503050406030204" pitchFamily="18" charset="0"/>
                                        <a:ea typeface="Cambria Math" panose="02040503050406030204" pitchFamily="18" charset="0"/>
                                        <a:cs typeface="Arial" panose="020B0604020202020204" pitchFamily="34" charset="0"/>
                                      </a:rPr>
                                      <m:t>𝑞</m:t>
                                    </m:r>
                                  </m:e>
                                  <m:sub>
                                    <m:r>
                                      <a:rPr lang="en-US" i="1">
                                        <a:latin typeface="Cambria Math" panose="02040503050406030204" pitchFamily="18" charset="0"/>
                                        <a:ea typeface="Cambria Math" panose="02040503050406030204" pitchFamily="18" charset="0"/>
                                        <a:cs typeface="Arial" panose="020B0604020202020204" pitchFamily="34" charset="0"/>
                                      </a:rPr>
                                      <m:t>𝑤</m:t>
                                    </m:r>
                                  </m:sub>
                                  <m:sup>
                                    <m:r>
                                      <a:rPr lang="en-US" i="1">
                                        <a:latin typeface="Cambria Math" panose="02040503050406030204" pitchFamily="18" charset="0"/>
                                        <a:ea typeface="Cambria Math" panose="02040503050406030204" pitchFamily="18" charset="0"/>
                                        <a:cs typeface="Arial" panose="020B0604020202020204" pitchFamily="34" charset="0"/>
                                      </a:rPr>
                                      <m:t>2</m:t>
                                    </m:r>
                                  </m:sup>
                                </m:sSubSup>
                              </m:num>
                              <m:den>
                                <m:sSubSup>
                                  <m:sSubSupPr>
                                    <m:ctrlPr>
                                      <a:rPr lang="en-US" i="1">
                                        <a:latin typeface="Cambria Math" panose="02040503050406030204" pitchFamily="18" charset="0"/>
                                        <a:ea typeface="Cambria Math" panose="02040503050406030204" pitchFamily="18" charset="0"/>
                                        <a:cs typeface="Arial" panose="020B0604020202020204" pitchFamily="34" charset="0"/>
                                      </a:rPr>
                                    </m:ctrlPr>
                                  </m:sSubSupPr>
                                  <m:e>
                                    <m:r>
                                      <a:rPr lang="en-US" i="1">
                                        <a:latin typeface="Cambria Math" panose="02040503050406030204" pitchFamily="18" charset="0"/>
                                        <a:ea typeface="Cambria Math" panose="02040503050406030204" pitchFamily="18" charset="0"/>
                                        <a:cs typeface="Arial" panose="020B0604020202020204" pitchFamily="34" charset="0"/>
                                      </a:rPr>
                                      <m:t>𝛼</m:t>
                                    </m:r>
                                  </m:e>
                                  <m:sub>
                                    <m:r>
                                      <a:rPr lang="en-US" i="1">
                                        <a:latin typeface="Cambria Math" panose="02040503050406030204" pitchFamily="18" charset="0"/>
                                        <a:ea typeface="Cambria Math" panose="02040503050406030204" pitchFamily="18" charset="0"/>
                                        <a:cs typeface="Arial" panose="020B0604020202020204" pitchFamily="34" charset="0"/>
                                      </a:rPr>
                                      <m:t>𝑟</m:t>
                                    </m:r>
                                  </m:sub>
                                  <m:sup>
                                    <m:r>
                                      <a:rPr lang="en-US" i="1">
                                        <a:latin typeface="Cambria Math" panose="02040503050406030204" pitchFamily="18" charset="0"/>
                                        <a:ea typeface="Cambria Math" panose="02040503050406030204" pitchFamily="18" charset="0"/>
                                        <a:cs typeface="Arial" panose="020B0604020202020204" pitchFamily="34" charset="0"/>
                                      </a:rPr>
                                      <m:t>2</m:t>
                                    </m:r>
                                  </m:sup>
                                </m:sSubSup>
                                <m:r>
                                  <a:rPr lang="en-US" i="1">
                                    <a:latin typeface="Cambria Math" panose="02040503050406030204" pitchFamily="18" charset="0"/>
                                    <a:ea typeface="Cambria Math" panose="02040503050406030204" pitchFamily="18" charset="0"/>
                                    <a:cs typeface="Arial" panose="020B0604020202020204" pitchFamily="34" charset="0"/>
                                  </a:rPr>
                                  <m:t>𝑔</m:t>
                                </m:r>
                              </m:den>
                            </m:f>
                          </m:e>
                        </m:d>
                      </m:e>
                      <m:sup>
                        <m:r>
                          <a:rPr lang="en-US" b="0" i="1" smtClean="0">
                            <a:latin typeface="Cambria Math" panose="02040503050406030204" pitchFamily="18" charset="0"/>
                            <a:ea typeface="Cambria Math" panose="02040503050406030204" pitchFamily="18" charset="0"/>
                            <a:cs typeface="Arial" panose="020B0604020202020204" pitchFamily="34" charset="0"/>
                          </a:rPr>
                          <m:t>3</m:t>
                        </m:r>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10</m:t>
                        </m:r>
                      </m:sup>
                    </m:sSup>
                  </m:oMath>
                </a14:m>
                <a:r>
                  <a:rPr lang="en-US" dirty="0">
                    <a:latin typeface="Arial" panose="020B0604020202020204" pitchFamily="34" charset="0"/>
                    <a:cs typeface="Arial" panose="020B0604020202020204" pitchFamily="34" charset="0"/>
                  </a:rPr>
                  <a:t> </a:t>
                </a:r>
              </a:p>
            </p:txBody>
          </p:sp>
        </mc:Choice>
        <mc:Fallback xmlns="">
          <p:sp>
            <p:nvSpPr>
              <p:cNvPr id="38" name="TextBox 37">
                <a:extLst>
                  <a:ext uri="{FF2B5EF4-FFF2-40B4-BE49-F238E27FC236}">
                    <a16:creationId xmlns:a16="http://schemas.microsoft.com/office/drawing/2014/main" id="{A02C8360-35A1-F645-BCFB-423F5AF149D8}"/>
                  </a:ext>
                </a:extLst>
              </p:cNvPr>
              <p:cNvSpPr txBox="1">
                <a:spLocks noRot="1" noChangeAspect="1" noMove="1" noResize="1" noEditPoints="1" noAdjustHandles="1" noChangeArrowheads="1" noChangeShapeType="1" noTextEdit="1"/>
              </p:cNvSpPr>
              <p:nvPr/>
            </p:nvSpPr>
            <p:spPr>
              <a:xfrm>
                <a:off x="5207646" y="5702014"/>
                <a:ext cx="2225033" cy="589072"/>
              </a:xfrm>
              <a:prstGeom prst="rect">
                <a:avLst/>
              </a:prstGeom>
              <a:blipFill>
                <a:blip r:embed="rId6"/>
                <a:stretch>
                  <a:fillRect l="-2260" b="-8333"/>
                </a:stretch>
              </a:blipFill>
              <a:ln w="28575">
                <a:noFill/>
              </a:ln>
            </p:spPr>
            <p:txBody>
              <a:bodyPr/>
              <a:lstStyle/>
              <a:p>
                <a:r>
                  <a:rPr lang="en-US">
                    <a:noFill/>
                  </a:rPr>
                  <a:t> </a:t>
                </a:r>
              </a:p>
            </p:txBody>
          </p:sp>
        </mc:Fallback>
      </mc:AlternateContent>
      <p:sp>
        <p:nvSpPr>
          <p:cNvPr id="39" name="TextBox 38">
            <a:extLst>
              <a:ext uri="{FF2B5EF4-FFF2-40B4-BE49-F238E27FC236}">
                <a16:creationId xmlns:a16="http://schemas.microsoft.com/office/drawing/2014/main" id="{9C5CB95E-3FEE-9D46-8A4E-F62E64EDD37A}"/>
              </a:ext>
            </a:extLst>
          </p:cNvPr>
          <p:cNvSpPr txBox="1"/>
          <p:nvPr/>
        </p:nvSpPr>
        <p:spPr>
          <a:xfrm>
            <a:off x="8352941" y="5314565"/>
            <a:ext cx="3839059" cy="1329082"/>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Shields number as a function of flow rate per unit width and slope, parameters readily available in most cases</a:t>
            </a:r>
          </a:p>
        </p:txBody>
      </p:sp>
      <p:cxnSp>
        <p:nvCxnSpPr>
          <p:cNvPr id="4" name="Straight Arrow Connector 3">
            <a:extLst>
              <a:ext uri="{FF2B5EF4-FFF2-40B4-BE49-F238E27FC236}">
                <a16:creationId xmlns:a16="http://schemas.microsoft.com/office/drawing/2014/main" id="{AA8AD303-3142-AA41-BF6E-CB8C1337B80F}"/>
              </a:ext>
            </a:extLst>
          </p:cNvPr>
          <p:cNvCxnSpPr>
            <a:cxnSpLocks/>
          </p:cNvCxnSpPr>
          <p:nvPr/>
        </p:nvCxnSpPr>
        <p:spPr>
          <a:xfrm flipH="1">
            <a:off x="7712873" y="5788252"/>
            <a:ext cx="627433" cy="223813"/>
          </a:xfrm>
          <a:prstGeom prst="straightConnector1">
            <a:avLst/>
          </a:prstGeom>
          <a:ln w="571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5234C65-504F-2445-BBF8-8C3F7338DEBC}"/>
                  </a:ext>
                </a:extLst>
              </p:cNvPr>
              <p:cNvSpPr txBox="1"/>
              <p:nvPr/>
            </p:nvSpPr>
            <p:spPr>
              <a:xfrm>
                <a:off x="2598941" y="5717529"/>
                <a:ext cx="1730923" cy="589072"/>
              </a:xfrm>
              <a:prstGeom prst="rect">
                <a:avLst/>
              </a:prstGeom>
              <a:noFill/>
              <a:ln w="28575">
                <a:noFill/>
              </a:ln>
            </p:spPr>
            <p:txBody>
              <a:bodyPr wrap="none" lIns="0" tIns="0" rIns="0" bIns="0" rtlCol="0">
                <a:spAutoFit/>
              </a:bodyPr>
              <a:lstStyle/>
              <a:p>
                <a14:m>
                  <m:oMath xmlns:m="http://schemas.openxmlformats.org/officeDocument/2006/math">
                    <m:r>
                      <a:rPr lang="en-US" b="0" i="1" smtClean="0">
                        <a:latin typeface="Cambria Math" panose="02040503050406030204" pitchFamily="18" charset="0"/>
                        <a:ea typeface="Cambria Math" panose="02040503050406030204" pitchFamily="18" charset="0"/>
                        <a:cs typeface="Arial" panose="020B0604020202020204" pitchFamily="34" charset="0"/>
                      </a:rPr>
                      <m:t>𝐻</m:t>
                    </m:r>
                    <m:r>
                      <a:rPr lang="en-US"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sSubSup>
                                  <m:sSub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SupPr>
                                  <m:e>
                                    <m:r>
                                      <a:rPr lang="en-US" b="0" i="1" smtClean="0">
                                        <a:latin typeface="Cambria Math" panose="02040503050406030204" pitchFamily="18" charset="0"/>
                                        <a:ea typeface="Cambria Math" panose="02040503050406030204" pitchFamily="18" charset="0"/>
                                        <a:cs typeface="Arial" panose="020B0604020202020204" pitchFamily="34" charset="0"/>
                                      </a:rPr>
                                      <m:t>𝑘</m:t>
                                    </m:r>
                                  </m:e>
                                  <m:sub>
                                    <m:r>
                                      <a:rPr lang="en-US" b="0" i="1" smtClean="0">
                                        <a:latin typeface="Cambria Math" panose="02040503050406030204" pitchFamily="18" charset="0"/>
                                        <a:ea typeface="Cambria Math" panose="02040503050406030204" pitchFamily="18" charset="0"/>
                                        <a:cs typeface="Arial" panose="020B0604020202020204" pitchFamily="34" charset="0"/>
                                      </a:rPr>
                                      <m:t>𝑐</m:t>
                                    </m:r>
                                  </m:sub>
                                  <m:sup>
                                    <m:r>
                                      <a:rPr lang="en-US" b="0" i="1" smtClean="0">
                                        <a:latin typeface="Cambria Math" panose="02040503050406030204" pitchFamily="18" charset="0"/>
                                        <a:ea typeface="Cambria Math" panose="02040503050406030204" pitchFamily="18" charset="0"/>
                                        <a:cs typeface="Arial" panose="020B0604020202020204" pitchFamily="34" charset="0"/>
                                      </a:rPr>
                                      <m:t>1/3</m:t>
                                    </m:r>
                                  </m:sup>
                                </m:sSubSup>
                                <m:sSubSup>
                                  <m:sSub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SupPr>
                                  <m:e>
                                    <m:r>
                                      <a:rPr lang="en-US" b="0" i="1" smtClean="0">
                                        <a:latin typeface="Cambria Math" panose="02040503050406030204" pitchFamily="18" charset="0"/>
                                        <a:ea typeface="Cambria Math" panose="02040503050406030204" pitchFamily="18" charset="0"/>
                                        <a:cs typeface="Arial" panose="020B0604020202020204" pitchFamily="34" charset="0"/>
                                      </a:rPr>
                                      <m:t>𝑞</m:t>
                                    </m:r>
                                  </m:e>
                                  <m:sub>
                                    <m:r>
                                      <a:rPr lang="en-US" b="0" i="1" smtClean="0">
                                        <a:latin typeface="Cambria Math" panose="02040503050406030204" pitchFamily="18" charset="0"/>
                                        <a:ea typeface="Cambria Math" panose="02040503050406030204" pitchFamily="18" charset="0"/>
                                        <a:cs typeface="Arial" panose="020B0604020202020204" pitchFamily="34" charset="0"/>
                                      </a:rPr>
                                      <m:t>𝑤</m:t>
                                    </m:r>
                                  </m:sub>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bSup>
                              </m:num>
                              <m:den>
                                <m:sSubSup>
                                  <m:sSub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SupPr>
                                  <m:e>
                                    <m:r>
                                      <a:rPr lang="en-US" b="0" i="1" smtClean="0">
                                        <a:latin typeface="Cambria Math" panose="02040503050406030204" pitchFamily="18" charset="0"/>
                                        <a:ea typeface="Cambria Math" panose="02040503050406030204" pitchFamily="18" charset="0"/>
                                        <a:cs typeface="Arial" panose="020B0604020202020204" pitchFamily="34" charset="0"/>
                                      </a:rPr>
                                      <m:t>𝛼</m:t>
                                    </m:r>
                                  </m:e>
                                  <m:sub>
                                    <m:r>
                                      <a:rPr lang="en-US" b="0" i="1" smtClean="0">
                                        <a:latin typeface="Cambria Math" panose="02040503050406030204" pitchFamily="18" charset="0"/>
                                        <a:ea typeface="Cambria Math" panose="02040503050406030204" pitchFamily="18" charset="0"/>
                                        <a:cs typeface="Arial" panose="020B0604020202020204" pitchFamily="34" charset="0"/>
                                      </a:rPr>
                                      <m:t>𝑟</m:t>
                                    </m:r>
                                  </m:sub>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bSup>
                                <m:r>
                                  <a:rPr lang="en-US" b="0" i="1" smtClean="0">
                                    <a:latin typeface="Cambria Math" panose="02040503050406030204" pitchFamily="18" charset="0"/>
                                    <a:ea typeface="Cambria Math" panose="02040503050406030204" pitchFamily="18" charset="0"/>
                                    <a:cs typeface="Arial" panose="020B0604020202020204" pitchFamily="34" charset="0"/>
                                  </a:rPr>
                                  <m:t>𝑔𝑆</m:t>
                                </m:r>
                              </m:den>
                            </m:f>
                          </m:e>
                        </m:d>
                      </m:e>
                      <m:sup>
                        <m:r>
                          <a:rPr lang="en-US" b="0" i="1" smtClean="0">
                            <a:latin typeface="Cambria Math" panose="02040503050406030204" pitchFamily="18" charset="0"/>
                            <a:ea typeface="Cambria Math" panose="02040503050406030204" pitchFamily="18" charset="0"/>
                            <a:cs typeface="Arial" panose="020B0604020202020204" pitchFamily="34" charset="0"/>
                          </a:rPr>
                          <m:t>3/10</m:t>
                        </m:r>
                      </m:sup>
                    </m:sSup>
                  </m:oMath>
                </a14:m>
                <a:r>
                  <a:rPr lang="en-US" dirty="0">
                    <a:latin typeface="Arial" panose="020B0604020202020204" pitchFamily="34" charset="0"/>
                    <a:cs typeface="Arial" panose="020B0604020202020204" pitchFamily="34" charset="0"/>
                  </a:rPr>
                  <a:t> </a:t>
                </a:r>
              </a:p>
            </p:txBody>
          </p:sp>
        </mc:Choice>
        <mc:Fallback xmlns="">
          <p:sp>
            <p:nvSpPr>
              <p:cNvPr id="16" name="TextBox 15">
                <a:extLst>
                  <a:ext uri="{FF2B5EF4-FFF2-40B4-BE49-F238E27FC236}">
                    <a16:creationId xmlns:a16="http://schemas.microsoft.com/office/drawing/2014/main" id="{35234C65-504F-2445-BBF8-8C3F7338DEBC}"/>
                  </a:ext>
                </a:extLst>
              </p:cNvPr>
              <p:cNvSpPr txBox="1">
                <a:spLocks noRot="1" noChangeAspect="1" noMove="1" noResize="1" noEditPoints="1" noAdjustHandles="1" noChangeArrowheads="1" noChangeShapeType="1" noTextEdit="1"/>
              </p:cNvSpPr>
              <p:nvPr/>
            </p:nvSpPr>
            <p:spPr>
              <a:xfrm>
                <a:off x="2598941" y="5717529"/>
                <a:ext cx="1730923" cy="589072"/>
              </a:xfrm>
              <a:prstGeom prst="rect">
                <a:avLst/>
              </a:prstGeom>
              <a:blipFill>
                <a:blip r:embed="rId7"/>
                <a:stretch>
                  <a:fillRect l="-4380" t="-2128" b="-10638"/>
                </a:stretch>
              </a:blipFill>
              <a:ln w="28575">
                <a:noFill/>
              </a:ln>
            </p:spPr>
            <p:txBody>
              <a:bodyPr/>
              <a:lstStyle/>
              <a:p>
                <a:r>
                  <a:rPr lang="en-US">
                    <a:noFill/>
                  </a:rPr>
                  <a:t> </a:t>
                </a:r>
              </a:p>
            </p:txBody>
          </p:sp>
        </mc:Fallback>
      </mc:AlternateContent>
    </p:spTree>
    <p:extLst>
      <p:ext uri="{BB962C8B-B14F-4D97-AF65-F5344CB8AC3E}">
        <p14:creationId xmlns:p14="http://schemas.microsoft.com/office/powerpoint/2010/main" val="35179168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1155370" y="136525"/>
            <a:ext cx="988125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The Shields number, a non-dimensional bed shear stress</a:t>
            </a:r>
          </a:p>
        </p:txBody>
      </p:sp>
      <p:sp>
        <p:nvSpPr>
          <p:cNvPr id="64" name="Slide Number Placeholder 3">
            <a:extLst>
              <a:ext uri="{FF2B5EF4-FFF2-40B4-BE49-F238E27FC236}">
                <a16:creationId xmlns:a16="http://schemas.microsoft.com/office/drawing/2014/main" id="{8D3BDA59-59CE-814F-BFB3-6679FAD7D350}"/>
              </a:ext>
            </a:extLst>
          </p:cNvPr>
          <p:cNvSpPr>
            <a:spLocks noGrp="1"/>
          </p:cNvSpPr>
          <p:nvPr>
            <p:ph type="sldNum" sz="quarter" idx="12"/>
          </p:nvPr>
        </p:nvSpPr>
        <p:spPr>
          <a:xfrm>
            <a:off x="8610600" y="6356350"/>
            <a:ext cx="2743200" cy="365125"/>
          </a:xfrm>
        </p:spPr>
        <p:txBody>
          <a:bodyPr/>
          <a:lstStyle/>
          <a:p>
            <a:fld id="{2386C454-E1BD-5A43-901A-CA4ACC7380B7}" type="slidenum">
              <a:rPr lang="en-US" smtClean="0"/>
              <a:t>24</a:t>
            </a:fld>
            <a:endParaRPr lang="en-US" dirty="0"/>
          </a:p>
        </p:txBody>
      </p:sp>
      <p:sp>
        <p:nvSpPr>
          <p:cNvPr id="15" name="TextBox 14">
            <a:extLst>
              <a:ext uri="{FF2B5EF4-FFF2-40B4-BE49-F238E27FC236}">
                <a16:creationId xmlns:a16="http://schemas.microsoft.com/office/drawing/2014/main" id="{B447CD7A-0A17-6E42-9807-D2947603E52A}"/>
              </a:ext>
            </a:extLst>
          </p:cNvPr>
          <p:cNvSpPr txBox="1"/>
          <p:nvPr/>
        </p:nvSpPr>
        <p:spPr>
          <a:xfrm>
            <a:off x="379968" y="845935"/>
            <a:ext cx="11435937" cy="381708"/>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We found different relations to compute the Shields number for a given channel slope, width and discharge. </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37A6EE5-8F42-E548-97E6-7AEF3CCF4379}"/>
                  </a:ext>
                </a:extLst>
              </p:cNvPr>
              <p:cNvSpPr txBox="1"/>
              <p:nvPr/>
            </p:nvSpPr>
            <p:spPr>
              <a:xfrm>
                <a:off x="776612" y="1514497"/>
                <a:ext cx="1160831" cy="521040"/>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cs typeface="Arial" panose="020B0604020202020204" pitchFamily="34" charset="0"/>
                            </a:rPr>
                          </m:ctrlPr>
                        </m:sSup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p>
                          <m:r>
                            <a:rPr lang="en-US" b="0" i="1" smtClean="0">
                              <a:latin typeface="Cambria Math" panose="02040503050406030204" pitchFamily="18" charset="0"/>
                              <a:cs typeface="Arial" panose="020B0604020202020204" pitchFamily="34" charset="0"/>
                            </a:rPr>
                            <m:t>∗</m:t>
                          </m:r>
                        </m:sup>
                      </m:sSup>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m:t>
                              </m:r>
                            </m:sub>
                          </m:sSub>
                        </m:num>
                        <m:den>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𝑅𝑔𝐷</m:t>
                          </m:r>
                        </m:den>
                      </m:f>
                    </m:oMath>
                  </m:oMathPara>
                </a14:m>
                <a:endParaRPr lang="en-US" dirty="0">
                  <a:latin typeface="Arial" panose="020B0604020202020204" pitchFamily="34" charset="0"/>
                  <a:cs typeface="Arial" panose="020B0604020202020204" pitchFamily="34" charset="0"/>
                </a:endParaRPr>
              </a:p>
            </p:txBody>
          </p:sp>
        </mc:Choice>
        <mc:Fallback xmlns="">
          <p:sp>
            <p:nvSpPr>
              <p:cNvPr id="2" name="TextBox 1">
                <a:extLst>
                  <a:ext uri="{FF2B5EF4-FFF2-40B4-BE49-F238E27FC236}">
                    <a16:creationId xmlns:a16="http://schemas.microsoft.com/office/drawing/2014/main" id="{537A6EE5-8F42-E548-97E6-7AEF3CCF4379}"/>
                  </a:ext>
                </a:extLst>
              </p:cNvPr>
              <p:cNvSpPr txBox="1">
                <a:spLocks noRot="1" noChangeAspect="1" noMove="1" noResize="1" noEditPoints="1" noAdjustHandles="1" noChangeArrowheads="1" noChangeShapeType="1" noTextEdit="1"/>
              </p:cNvSpPr>
              <p:nvPr/>
            </p:nvSpPr>
            <p:spPr>
              <a:xfrm>
                <a:off x="776612" y="1514497"/>
                <a:ext cx="1160831" cy="521040"/>
              </a:xfrm>
              <a:prstGeom prst="rect">
                <a:avLst/>
              </a:prstGeom>
              <a:blipFill>
                <a:blip r:embed="rId3"/>
                <a:stretch>
                  <a:fillRect r="-5376" b="-190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B2CF74B-0386-F04D-9656-FC86AB9739FE}"/>
                  </a:ext>
                </a:extLst>
              </p:cNvPr>
              <p:cNvSpPr txBox="1"/>
              <p:nvPr/>
            </p:nvSpPr>
            <p:spPr>
              <a:xfrm>
                <a:off x="2649412" y="1534356"/>
                <a:ext cx="889924"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cs typeface="Arial" panose="020B0604020202020204" pitchFamily="34" charset="0"/>
                            </a:rPr>
                          </m:ctrlPr>
                        </m:sSup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p>
                          <m:r>
                            <a:rPr lang="en-US" b="0" i="1" smtClean="0">
                              <a:latin typeface="Cambria Math" panose="02040503050406030204" pitchFamily="18" charset="0"/>
                              <a:cs typeface="Arial" panose="020B0604020202020204" pitchFamily="34" charset="0"/>
                            </a:rPr>
                            <m:t>∗</m:t>
                          </m:r>
                        </m:sup>
                      </m:sSup>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𝐻𝑆</m:t>
                          </m:r>
                        </m:num>
                        <m:den>
                          <m:r>
                            <a:rPr lang="en-US" i="1">
                              <a:latin typeface="Cambria Math" panose="02040503050406030204" pitchFamily="18" charset="0"/>
                              <a:ea typeface="Cambria Math" panose="02040503050406030204" pitchFamily="18" charset="0"/>
                              <a:cs typeface="Arial" panose="020B0604020202020204" pitchFamily="34" charset="0"/>
                            </a:rPr>
                            <m:t>𝑅𝐷</m:t>
                          </m:r>
                        </m:den>
                      </m:f>
                    </m:oMath>
                  </m:oMathPara>
                </a14:m>
                <a:endParaRPr lang="en-US" dirty="0">
                  <a:latin typeface="Arial" panose="020B0604020202020204" pitchFamily="34" charset="0"/>
                  <a:cs typeface="Arial" panose="020B0604020202020204" pitchFamily="34" charset="0"/>
                </a:endParaRPr>
              </a:p>
            </p:txBody>
          </p:sp>
        </mc:Choice>
        <mc:Fallback xmlns="">
          <p:sp>
            <p:nvSpPr>
              <p:cNvPr id="29" name="TextBox 28">
                <a:extLst>
                  <a:ext uri="{FF2B5EF4-FFF2-40B4-BE49-F238E27FC236}">
                    <a16:creationId xmlns:a16="http://schemas.microsoft.com/office/drawing/2014/main" id="{1B2CF74B-0386-F04D-9656-FC86AB9739FE}"/>
                  </a:ext>
                </a:extLst>
              </p:cNvPr>
              <p:cNvSpPr txBox="1">
                <a:spLocks noRot="1" noChangeAspect="1" noMove="1" noResize="1" noEditPoints="1" noAdjustHandles="1" noChangeArrowheads="1" noChangeShapeType="1" noTextEdit="1"/>
              </p:cNvSpPr>
              <p:nvPr/>
            </p:nvSpPr>
            <p:spPr>
              <a:xfrm>
                <a:off x="2649412" y="1534356"/>
                <a:ext cx="889924" cy="518604"/>
              </a:xfrm>
              <a:prstGeom prst="rect">
                <a:avLst/>
              </a:prstGeom>
              <a:blipFill>
                <a:blip r:embed="rId4"/>
                <a:stretch>
                  <a:fillRect l="-1408" t="-4762" r="-4225"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02C8360-35A1-F645-BCFB-423F5AF149D8}"/>
                  </a:ext>
                </a:extLst>
              </p:cNvPr>
              <p:cNvSpPr txBox="1"/>
              <p:nvPr/>
            </p:nvSpPr>
            <p:spPr>
              <a:xfrm>
                <a:off x="6915294" y="1514497"/>
                <a:ext cx="2225033" cy="589072"/>
              </a:xfrm>
              <a:prstGeom prst="rect">
                <a:avLst/>
              </a:prstGeom>
              <a:noFill/>
              <a:ln w="28575">
                <a:noFill/>
              </a:ln>
            </p:spPr>
            <p:txBody>
              <a:bodyPr wrap="none" lIns="0" tIns="0" rIns="0" bIns="0" rtlCol="0">
                <a:spAutoFit/>
              </a:bodyPr>
              <a:lstStyle/>
              <a:p>
                <a14:m>
                  <m:oMath xmlns:m="http://schemas.openxmlformats.org/officeDocument/2006/math">
                    <m:sSup>
                      <m:sSupPr>
                        <m:ctrlPr>
                          <a:rPr lang="en-US" i="1" smtClean="0">
                            <a:latin typeface="Cambria Math" panose="02040503050406030204" pitchFamily="18" charset="0"/>
                            <a:cs typeface="Arial" panose="020B0604020202020204" pitchFamily="34" charset="0"/>
                          </a:rPr>
                        </m:ctrlPr>
                      </m:sSup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p>
                        <m:r>
                          <a:rPr lang="en-US" b="0" i="1" smtClean="0">
                            <a:latin typeface="Cambria Math" panose="02040503050406030204" pitchFamily="18" charset="0"/>
                            <a:cs typeface="Arial" panose="020B0604020202020204" pitchFamily="34" charset="0"/>
                          </a:rPr>
                          <m:t>∗</m:t>
                        </m:r>
                      </m:sup>
                    </m:sSup>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sSup>
                          <m:sSupPr>
                            <m:ctrlPr>
                              <a:rPr lang="en-US"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𝑆</m:t>
                            </m:r>
                          </m:e>
                          <m:sup>
                            <m:r>
                              <a:rPr lang="en-US" b="0" i="1" smtClean="0">
                                <a:latin typeface="Cambria Math" panose="02040503050406030204" pitchFamily="18" charset="0"/>
                                <a:cs typeface="Arial" panose="020B0604020202020204" pitchFamily="34" charset="0"/>
                              </a:rPr>
                              <m:t>7/10</m:t>
                            </m:r>
                          </m:sup>
                        </m:sSup>
                      </m:num>
                      <m:den>
                        <m:r>
                          <a:rPr lang="en-US" i="1">
                            <a:latin typeface="Cambria Math" panose="02040503050406030204" pitchFamily="18" charset="0"/>
                            <a:ea typeface="Cambria Math" panose="02040503050406030204" pitchFamily="18" charset="0"/>
                            <a:cs typeface="Arial" panose="020B0604020202020204" pitchFamily="34" charset="0"/>
                          </a:rPr>
                          <m:t>𝑅𝐷</m:t>
                        </m:r>
                      </m:den>
                    </m:f>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bSup>
                                  <m:sSubSupPr>
                                    <m:ctrlPr>
                                      <a:rPr lang="en-US" i="1">
                                        <a:latin typeface="Cambria Math" panose="02040503050406030204" pitchFamily="18" charset="0"/>
                                        <a:ea typeface="Cambria Math" panose="02040503050406030204" pitchFamily="18" charset="0"/>
                                        <a:cs typeface="Arial" panose="020B0604020202020204" pitchFamily="34" charset="0"/>
                                      </a:rPr>
                                    </m:ctrlPr>
                                  </m:sSubSupPr>
                                  <m:e>
                                    <m:r>
                                      <a:rPr lang="en-US" i="1">
                                        <a:latin typeface="Cambria Math" panose="02040503050406030204" pitchFamily="18" charset="0"/>
                                        <a:ea typeface="Cambria Math" panose="02040503050406030204" pitchFamily="18" charset="0"/>
                                        <a:cs typeface="Arial" panose="020B0604020202020204" pitchFamily="34" charset="0"/>
                                      </a:rPr>
                                      <m:t>𝑘</m:t>
                                    </m:r>
                                  </m:e>
                                  <m:sub>
                                    <m:r>
                                      <a:rPr lang="en-US" i="1">
                                        <a:latin typeface="Cambria Math" panose="02040503050406030204" pitchFamily="18" charset="0"/>
                                        <a:ea typeface="Cambria Math" panose="02040503050406030204" pitchFamily="18" charset="0"/>
                                        <a:cs typeface="Arial" panose="020B0604020202020204" pitchFamily="34" charset="0"/>
                                      </a:rPr>
                                      <m:t>𝑐</m:t>
                                    </m:r>
                                  </m:sub>
                                  <m:sup>
                                    <m:r>
                                      <a:rPr lang="en-US" i="1">
                                        <a:latin typeface="Cambria Math" panose="02040503050406030204" pitchFamily="18" charset="0"/>
                                        <a:ea typeface="Cambria Math" panose="02040503050406030204" pitchFamily="18" charset="0"/>
                                        <a:cs typeface="Arial" panose="020B0604020202020204" pitchFamily="34" charset="0"/>
                                      </a:rPr>
                                      <m:t>1/3</m:t>
                                    </m:r>
                                  </m:sup>
                                </m:sSubSup>
                                <m:sSubSup>
                                  <m:sSubSupPr>
                                    <m:ctrlPr>
                                      <a:rPr lang="en-US" i="1">
                                        <a:latin typeface="Cambria Math" panose="02040503050406030204" pitchFamily="18" charset="0"/>
                                        <a:ea typeface="Cambria Math" panose="02040503050406030204" pitchFamily="18" charset="0"/>
                                        <a:cs typeface="Arial" panose="020B0604020202020204" pitchFamily="34" charset="0"/>
                                      </a:rPr>
                                    </m:ctrlPr>
                                  </m:sSubSupPr>
                                  <m:e>
                                    <m:r>
                                      <a:rPr lang="en-US" i="1">
                                        <a:latin typeface="Cambria Math" panose="02040503050406030204" pitchFamily="18" charset="0"/>
                                        <a:ea typeface="Cambria Math" panose="02040503050406030204" pitchFamily="18" charset="0"/>
                                        <a:cs typeface="Arial" panose="020B0604020202020204" pitchFamily="34" charset="0"/>
                                      </a:rPr>
                                      <m:t>𝑞</m:t>
                                    </m:r>
                                  </m:e>
                                  <m:sub>
                                    <m:r>
                                      <a:rPr lang="en-US" i="1">
                                        <a:latin typeface="Cambria Math" panose="02040503050406030204" pitchFamily="18" charset="0"/>
                                        <a:ea typeface="Cambria Math" panose="02040503050406030204" pitchFamily="18" charset="0"/>
                                        <a:cs typeface="Arial" panose="020B0604020202020204" pitchFamily="34" charset="0"/>
                                      </a:rPr>
                                      <m:t>𝑤</m:t>
                                    </m:r>
                                  </m:sub>
                                  <m:sup>
                                    <m:r>
                                      <a:rPr lang="en-US" i="1">
                                        <a:latin typeface="Cambria Math" panose="02040503050406030204" pitchFamily="18" charset="0"/>
                                        <a:ea typeface="Cambria Math" panose="02040503050406030204" pitchFamily="18" charset="0"/>
                                        <a:cs typeface="Arial" panose="020B0604020202020204" pitchFamily="34" charset="0"/>
                                      </a:rPr>
                                      <m:t>2</m:t>
                                    </m:r>
                                  </m:sup>
                                </m:sSubSup>
                              </m:num>
                              <m:den>
                                <m:sSubSup>
                                  <m:sSubSupPr>
                                    <m:ctrlPr>
                                      <a:rPr lang="en-US" i="1">
                                        <a:latin typeface="Cambria Math" panose="02040503050406030204" pitchFamily="18" charset="0"/>
                                        <a:ea typeface="Cambria Math" panose="02040503050406030204" pitchFamily="18" charset="0"/>
                                        <a:cs typeface="Arial" panose="020B0604020202020204" pitchFamily="34" charset="0"/>
                                      </a:rPr>
                                    </m:ctrlPr>
                                  </m:sSubSupPr>
                                  <m:e>
                                    <m:r>
                                      <a:rPr lang="en-US" i="1">
                                        <a:latin typeface="Cambria Math" panose="02040503050406030204" pitchFamily="18" charset="0"/>
                                        <a:ea typeface="Cambria Math" panose="02040503050406030204" pitchFamily="18" charset="0"/>
                                        <a:cs typeface="Arial" panose="020B0604020202020204" pitchFamily="34" charset="0"/>
                                      </a:rPr>
                                      <m:t>𝛼</m:t>
                                    </m:r>
                                  </m:e>
                                  <m:sub>
                                    <m:r>
                                      <a:rPr lang="en-US" i="1">
                                        <a:latin typeface="Cambria Math" panose="02040503050406030204" pitchFamily="18" charset="0"/>
                                        <a:ea typeface="Cambria Math" panose="02040503050406030204" pitchFamily="18" charset="0"/>
                                        <a:cs typeface="Arial" panose="020B0604020202020204" pitchFamily="34" charset="0"/>
                                      </a:rPr>
                                      <m:t>𝑟</m:t>
                                    </m:r>
                                  </m:sub>
                                  <m:sup>
                                    <m:r>
                                      <a:rPr lang="en-US" i="1">
                                        <a:latin typeface="Cambria Math" panose="02040503050406030204" pitchFamily="18" charset="0"/>
                                        <a:ea typeface="Cambria Math" panose="02040503050406030204" pitchFamily="18" charset="0"/>
                                        <a:cs typeface="Arial" panose="020B0604020202020204" pitchFamily="34" charset="0"/>
                                      </a:rPr>
                                      <m:t>2</m:t>
                                    </m:r>
                                  </m:sup>
                                </m:sSubSup>
                                <m:r>
                                  <a:rPr lang="en-US" i="1">
                                    <a:latin typeface="Cambria Math" panose="02040503050406030204" pitchFamily="18" charset="0"/>
                                    <a:ea typeface="Cambria Math" panose="02040503050406030204" pitchFamily="18" charset="0"/>
                                    <a:cs typeface="Arial" panose="020B0604020202020204" pitchFamily="34" charset="0"/>
                                  </a:rPr>
                                  <m:t>𝑔</m:t>
                                </m:r>
                              </m:den>
                            </m:f>
                          </m:e>
                        </m:d>
                      </m:e>
                      <m:sup>
                        <m:r>
                          <a:rPr lang="en-US" b="0" i="1" smtClean="0">
                            <a:latin typeface="Cambria Math" panose="02040503050406030204" pitchFamily="18" charset="0"/>
                            <a:ea typeface="Cambria Math" panose="02040503050406030204" pitchFamily="18" charset="0"/>
                            <a:cs typeface="Arial" panose="020B0604020202020204" pitchFamily="34" charset="0"/>
                          </a:rPr>
                          <m:t>3</m:t>
                        </m:r>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10</m:t>
                        </m:r>
                      </m:sup>
                    </m:sSup>
                  </m:oMath>
                </a14:m>
                <a:r>
                  <a:rPr lang="en-US" dirty="0">
                    <a:latin typeface="Arial" panose="020B0604020202020204" pitchFamily="34" charset="0"/>
                    <a:cs typeface="Arial" panose="020B0604020202020204" pitchFamily="34" charset="0"/>
                  </a:rPr>
                  <a:t> </a:t>
                </a:r>
              </a:p>
            </p:txBody>
          </p:sp>
        </mc:Choice>
        <mc:Fallback xmlns="">
          <p:sp>
            <p:nvSpPr>
              <p:cNvPr id="38" name="TextBox 37">
                <a:extLst>
                  <a:ext uri="{FF2B5EF4-FFF2-40B4-BE49-F238E27FC236}">
                    <a16:creationId xmlns:a16="http://schemas.microsoft.com/office/drawing/2014/main" id="{A02C8360-35A1-F645-BCFB-423F5AF149D8}"/>
                  </a:ext>
                </a:extLst>
              </p:cNvPr>
              <p:cNvSpPr txBox="1">
                <a:spLocks noRot="1" noChangeAspect="1" noMove="1" noResize="1" noEditPoints="1" noAdjustHandles="1" noChangeArrowheads="1" noChangeShapeType="1" noTextEdit="1"/>
              </p:cNvSpPr>
              <p:nvPr/>
            </p:nvSpPr>
            <p:spPr>
              <a:xfrm>
                <a:off x="6915294" y="1514497"/>
                <a:ext cx="2225033" cy="589072"/>
              </a:xfrm>
              <a:prstGeom prst="rect">
                <a:avLst/>
              </a:prstGeom>
              <a:blipFill>
                <a:blip r:embed="rId5"/>
                <a:stretch>
                  <a:fillRect l="-2273" t="-2128" b="-8511"/>
                </a:stretch>
              </a:blipFill>
              <a:ln w="2857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C63EBF2-FB2B-CF43-9DA8-AE5FCEF44AB5}"/>
                  </a:ext>
                </a:extLst>
              </p:cNvPr>
              <p:cNvSpPr txBox="1"/>
              <p:nvPr/>
            </p:nvSpPr>
            <p:spPr>
              <a:xfrm>
                <a:off x="4473264" y="1534356"/>
                <a:ext cx="1839991" cy="560731"/>
              </a:xfrm>
              <a:prstGeom prst="rect">
                <a:avLst/>
              </a:prstGeom>
              <a:noFill/>
              <a:ln w="28575">
                <a:noFill/>
              </a:ln>
            </p:spPr>
            <p:txBody>
              <a:bodyPr wrap="none" lIns="0" tIns="0" rIns="0" bIns="0" rtlCol="0">
                <a:spAutoFit/>
              </a:bodyPr>
              <a:lstStyle/>
              <a:p>
                <a14:m>
                  <m:oMath xmlns:m="http://schemas.openxmlformats.org/officeDocument/2006/math">
                    <m:sSup>
                      <m:sSupPr>
                        <m:ctrlPr>
                          <a:rPr lang="en-US" i="1" smtClean="0">
                            <a:latin typeface="Cambria Math" panose="02040503050406030204" pitchFamily="18" charset="0"/>
                            <a:cs typeface="Arial" panose="020B0604020202020204" pitchFamily="34" charset="0"/>
                          </a:rPr>
                        </m:ctrlPr>
                      </m:sSup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p>
                        <m:r>
                          <a:rPr lang="en-US" b="0" i="1" smtClean="0">
                            <a:latin typeface="Cambria Math" panose="02040503050406030204" pitchFamily="18" charset="0"/>
                            <a:cs typeface="Arial" panose="020B0604020202020204" pitchFamily="34" charset="0"/>
                          </a:rPr>
                          <m:t>∗</m:t>
                        </m:r>
                      </m:sup>
                    </m:sSup>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sSup>
                          <m:sSupPr>
                            <m:ctrlPr>
                              <a:rPr lang="en-US"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𝑆</m:t>
                            </m:r>
                          </m:e>
                          <m:sup>
                            <m:r>
                              <a:rPr lang="en-US" b="0" i="1" smtClean="0">
                                <a:latin typeface="Cambria Math" panose="02040503050406030204" pitchFamily="18" charset="0"/>
                                <a:cs typeface="Arial" panose="020B0604020202020204" pitchFamily="34" charset="0"/>
                              </a:rPr>
                              <m:t>2/3</m:t>
                            </m:r>
                          </m:sup>
                        </m:sSup>
                      </m:num>
                      <m:den>
                        <m:r>
                          <a:rPr lang="en-US" i="1">
                            <a:latin typeface="Cambria Math" panose="02040503050406030204" pitchFamily="18" charset="0"/>
                            <a:ea typeface="Cambria Math" panose="02040503050406030204" pitchFamily="18" charset="0"/>
                            <a:cs typeface="Arial" panose="020B0604020202020204" pitchFamily="34" charset="0"/>
                          </a:rPr>
                          <m:t>𝑅𝐷</m:t>
                        </m:r>
                      </m:den>
                    </m:f>
                  </m:oMath>
                </a14:m>
                <a:r>
                  <a:rPr lang="en-US" dirty="0">
                    <a:cs typeface="Arial" panose="020B0604020202020204" pitchFamily="34" charset="0"/>
                  </a:rPr>
                  <a:t> </a:t>
                </a:r>
                <a14:m>
                  <m:oMath xmlns:m="http://schemas.openxmlformats.org/officeDocument/2006/math">
                    <m:sSup>
                      <m:sSupPr>
                        <m:ctrlPr>
                          <a:rPr lang="en-US" i="1">
                            <a:latin typeface="Cambria Math" panose="02040503050406030204" pitchFamily="18" charset="0"/>
                            <a:cs typeface="Arial" panose="020B0604020202020204" pitchFamily="34" charset="0"/>
                          </a:rPr>
                        </m:ctrlPr>
                      </m:sSupPr>
                      <m:e>
                        <m:d>
                          <m:dPr>
                            <m:ctrlPr>
                              <a:rPr lang="en-US" i="1">
                                <a:latin typeface="Cambria Math" panose="02040503050406030204" pitchFamily="18" charset="0"/>
                                <a:cs typeface="Arial" panose="020B0604020202020204" pitchFamily="34" charset="0"/>
                              </a:rPr>
                            </m:ctrlPr>
                          </m:dPr>
                          <m:e>
                            <m:f>
                              <m:fPr>
                                <m:ctrlPr>
                                  <a:rPr lang="en-US" i="1">
                                    <a:latin typeface="Cambria Math" panose="02040503050406030204" pitchFamily="18" charset="0"/>
                                    <a:cs typeface="Arial" panose="020B0604020202020204" pitchFamily="34" charset="0"/>
                                  </a:rPr>
                                </m:ctrlPr>
                              </m:fPr>
                              <m:num>
                                <m:sSub>
                                  <m:sSubPr>
                                    <m:ctrlPr>
                                      <a:rPr lang="en-US" i="1" smtClean="0">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𝐶</m:t>
                                    </m:r>
                                  </m:e>
                                  <m:sub>
                                    <m:r>
                                      <a:rPr lang="en-US" i="1">
                                        <a:latin typeface="Cambria Math" panose="02040503050406030204" pitchFamily="18" charset="0"/>
                                        <a:cs typeface="Arial" panose="020B0604020202020204" pitchFamily="34" charset="0"/>
                                      </a:rPr>
                                      <m:t>𝑓</m:t>
                                    </m:r>
                                  </m:sub>
                                </m:sSub>
                                <m:sSubSup>
                                  <m:sSubSupPr>
                                    <m:ctrlPr>
                                      <a:rPr lang="en-US" i="1">
                                        <a:latin typeface="Cambria Math" panose="02040503050406030204" pitchFamily="18" charset="0"/>
                                        <a:cs typeface="Arial" panose="020B0604020202020204" pitchFamily="34" charset="0"/>
                                      </a:rPr>
                                    </m:ctrlPr>
                                  </m:sSubSupPr>
                                  <m:e>
                                    <m:r>
                                      <a:rPr lang="en-US" i="1">
                                        <a:latin typeface="Cambria Math" panose="02040503050406030204" pitchFamily="18" charset="0"/>
                                        <a:cs typeface="Arial" panose="020B0604020202020204" pitchFamily="34" charset="0"/>
                                      </a:rPr>
                                      <m:t>𝑞</m:t>
                                    </m:r>
                                  </m:e>
                                  <m:sub>
                                    <m:r>
                                      <a:rPr lang="en-US" i="1">
                                        <a:latin typeface="Cambria Math" panose="02040503050406030204" pitchFamily="18" charset="0"/>
                                        <a:cs typeface="Arial" panose="020B0604020202020204" pitchFamily="34" charset="0"/>
                                      </a:rPr>
                                      <m:t>𝑤</m:t>
                                    </m:r>
                                  </m:sub>
                                  <m:sup>
                                    <m:r>
                                      <a:rPr lang="en-US" i="1">
                                        <a:latin typeface="Cambria Math" panose="02040503050406030204" pitchFamily="18" charset="0"/>
                                        <a:cs typeface="Arial" panose="020B0604020202020204" pitchFamily="34" charset="0"/>
                                      </a:rPr>
                                      <m:t>2</m:t>
                                    </m:r>
                                  </m:sup>
                                </m:sSubSup>
                              </m:num>
                              <m:den>
                                <m:r>
                                  <a:rPr lang="en-US" i="1">
                                    <a:latin typeface="Cambria Math" panose="02040503050406030204" pitchFamily="18" charset="0"/>
                                    <a:cs typeface="Arial" panose="020B0604020202020204" pitchFamily="34" charset="0"/>
                                  </a:rPr>
                                  <m:t>𝑔</m:t>
                                </m:r>
                              </m:den>
                            </m:f>
                          </m:e>
                        </m:d>
                      </m:e>
                      <m:sup>
                        <m:r>
                          <a:rPr lang="en-US" i="1">
                            <a:latin typeface="Cambria Math" panose="02040503050406030204" pitchFamily="18" charset="0"/>
                            <a:cs typeface="Arial" panose="020B0604020202020204" pitchFamily="34" charset="0"/>
                          </a:rPr>
                          <m:t>1/3</m:t>
                        </m:r>
                      </m:sup>
                    </m:sSup>
                  </m:oMath>
                </a14:m>
                <a:endParaRPr lang="en-US" dirty="0">
                  <a:latin typeface="Arial" panose="020B0604020202020204" pitchFamily="34" charset="0"/>
                  <a:cs typeface="Arial" panose="020B0604020202020204" pitchFamily="34" charset="0"/>
                </a:endParaRPr>
              </a:p>
            </p:txBody>
          </p:sp>
        </mc:Choice>
        <mc:Fallback xmlns="">
          <p:sp>
            <p:nvSpPr>
              <p:cNvPr id="17" name="TextBox 16">
                <a:extLst>
                  <a:ext uri="{FF2B5EF4-FFF2-40B4-BE49-F238E27FC236}">
                    <a16:creationId xmlns:a16="http://schemas.microsoft.com/office/drawing/2014/main" id="{0C63EBF2-FB2B-CF43-9DA8-AE5FCEF44AB5}"/>
                  </a:ext>
                </a:extLst>
              </p:cNvPr>
              <p:cNvSpPr txBox="1">
                <a:spLocks noRot="1" noChangeAspect="1" noMove="1" noResize="1" noEditPoints="1" noAdjustHandles="1" noChangeArrowheads="1" noChangeShapeType="1" noTextEdit="1"/>
              </p:cNvSpPr>
              <p:nvPr/>
            </p:nvSpPr>
            <p:spPr>
              <a:xfrm>
                <a:off x="4473264" y="1534356"/>
                <a:ext cx="1839991" cy="560731"/>
              </a:xfrm>
              <a:prstGeom prst="rect">
                <a:avLst/>
              </a:prstGeom>
              <a:blipFill>
                <a:blip r:embed="rId6"/>
                <a:stretch>
                  <a:fillRect l="-2740" r="-1370" b="-6522"/>
                </a:stretch>
              </a:blipFill>
              <a:ln w="28575">
                <a:noFill/>
              </a:ln>
            </p:spPr>
            <p:txBody>
              <a:bodyPr/>
              <a:lstStyle/>
              <a:p>
                <a:r>
                  <a:rPr lang="en-US">
                    <a:noFill/>
                  </a:rPr>
                  <a:t> </a:t>
                </a:r>
              </a:p>
            </p:txBody>
          </p:sp>
        </mc:Fallback>
      </mc:AlternateContent>
      <p:sp>
        <p:nvSpPr>
          <p:cNvPr id="19" name="TextBox 18">
            <a:extLst>
              <a:ext uri="{FF2B5EF4-FFF2-40B4-BE49-F238E27FC236}">
                <a16:creationId xmlns:a16="http://schemas.microsoft.com/office/drawing/2014/main" id="{63E768F3-2BB8-2246-BC3F-C04A2AAA830D}"/>
              </a:ext>
            </a:extLst>
          </p:cNvPr>
          <p:cNvSpPr txBox="1"/>
          <p:nvPr/>
        </p:nvSpPr>
        <p:spPr>
          <a:xfrm>
            <a:off x="379968" y="2442171"/>
            <a:ext cx="11435937" cy="381708"/>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Which diameter should we use?</a:t>
            </a:r>
          </a:p>
        </p:txBody>
      </p:sp>
    </p:spTree>
    <p:extLst>
      <p:ext uri="{BB962C8B-B14F-4D97-AF65-F5344CB8AC3E}">
        <p14:creationId xmlns:p14="http://schemas.microsoft.com/office/powerpoint/2010/main" val="12549922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0B9A1-0981-B125-09F2-898C2C72241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1E099A7-D82B-89B9-AF7F-5AB776F95CC3}"/>
              </a:ext>
            </a:extLst>
          </p:cNvPr>
          <p:cNvSpPr txBox="1"/>
          <p:nvPr/>
        </p:nvSpPr>
        <p:spPr>
          <a:xfrm>
            <a:off x="1155370" y="136525"/>
            <a:ext cx="988125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More on the unit stream power</a:t>
            </a:r>
          </a:p>
        </p:txBody>
      </p:sp>
      <p:sp>
        <p:nvSpPr>
          <p:cNvPr id="64" name="Slide Number Placeholder 3">
            <a:extLst>
              <a:ext uri="{FF2B5EF4-FFF2-40B4-BE49-F238E27FC236}">
                <a16:creationId xmlns:a16="http://schemas.microsoft.com/office/drawing/2014/main" id="{C3B0D341-E54B-115F-8F20-C96F83A627D7}"/>
              </a:ext>
            </a:extLst>
          </p:cNvPr>
          <p:cNvSpPr>
            <a:spLocks noGrp="1"/>
          </p:cNvSpPr>
          <p:nvPr>
            <p:ph type="sldNum" sz="quarter" idx="12"/>
          </p:nvPr>
        </p:nvSpPr>
        <p:spPr>
          <a:xfrm>
            <a:off x="8610600" y="6356350"/>
            <a:ext cx="2743200" cy="365125"/>
          </a:xfrm>
        </p:spPr>
        <p:txBody>
          <a:bodyPr/>
          <a:lstStyle/>
          <a:p>
            <a:fld id="{2386C454-E1BD-5A43-901A-CA4ACC7380B7}" type="slidenum">
              <a:rPr lang="en-US" smtClean="0"/>
              <a:t>25</a:t>
            </a:fld>
            <a:endParaRPr lang="en-US" dirty="0"/>
          </a:p>
        </p:txBody>
      </p:sp>
      <p:sp>
        <p:nvSpPr>
          <p:cNvPr id="15" name="TextBox 14">
            <a:extLst>
              <a:ext uri="{FF2B5EF4-FFF2-40B4-BE49-F238E27FC236}">
                <a16:creationId xmlns:a16="http://schemas.microsoft.com/office/drawing/2014/main" id="{5556314E-602B-D9F6-13AD-355D49DB3418}"/>
              </a:ext>
            </a:extLst>
          </p:cNvPr>
          <p:cNvSpPr txBox="1"/>
          <p:nvPr/>
        </p:nvSpPr>
        <p:spPr>
          <a:xfrm>
            <a:off x="379968" y="845935"/>
            <a:ext cx="11435937" cy="381708"/>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We defined the unit stream power as</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71350E0C-E055-27E7-7378-CB768A18C36D}"/>
                  </a:ext>
                </a:extLst>
              </p:cNvPr>
              <p:cNvSpPr txBox="1"/>
              <p:nvPr/>
            </p:nvSpPr>
            <p:spPr>
              <a:xfrm>
                <a:off x="514478" y="1413833"/>
                <a:ext cx="7045455" cy="52475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𝜔</m:t>
                      </m:r>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ea typeface="Cambria Math" panose="02040503050406030204" pitchFamily="18" charset="0"/>
                              <a:cs typeface="Arial" panose="020B0604020202020204" pitchFamily="34" charset="0"/>
                            </a:rPr>
                            <m:t>𝑔𝑄𝑆</m:t>
                          </m:r>
                        </m:num>
                        <m:den>
                          <m:r>
                            <a:rPr lang="en-US" b="0" i="1" smtClean="0">
                              <a:latin typeface="Cambria Math" panose="02040503050406030204" pitchFamily="18" charset="0"/>
                              <a:ea typeface="Cambria Math" panose="02040503050406030204" pitchFamily="18" charset="0"/>
                              <a:cs typeface="Arial" panose="020B0604020202020204" pitchFamily="34" charset="0"/>
                            </a:rPr>
                            <m:t>𝐵</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𝑤𝑎𝑡𝑒𝑟</m:t>
                          </m:r>
                          <m:r>
                            <a:rPr lang="en-US" i="1">
                              <a:latin typeface="Cambria Math" panose="02040503050406030204" pitchFamily="18" charset="0"/>
                              <a:ea typeface="Cambria Math" panose="02040503050406030204" pitchFamily="18" charset="0"/>
                              <a:cs typeface="Arial" panose="020B0604020202020204" pitchFamily="34" charset="0"/>
                            </a:rPr>
                            <m:t> </m:t>
                          </m:r>
                          <m:r>
                            <a:rPr lang="en-US" i="1">
                              <a:latin typeface="Cambria Math" panose="02040503050406030204" pitchFamily="18" charset="0"/>
                              <a:ea typeface="Cambria Math" panose="02040503050406030204" pitchFamily="18" charset="0"/>
                              <a:cs typeface="Arial" panose="020B0604020202020204" pitchFamily="34" charset="0"/>
                            </a:rPr>
                            <m:t>𝑑𝑒𝑛𝑠𝑖𝑡𝑦</m:t>
                          </m:r>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𝑔𝑟𝑎𝑣𝑖𝑡𝑦</m:t>
                          </m:r>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𝑓𝑙𝑜𝑤</m:t>
                          </m:r>
                          <m:r>
                            <a:rPr lang="en-US" i="1">
                              <a:latin typeface="Cambria Math" panose="02040503050406030204" pitchFamily="18" charset="0"/>
                              <a:ea typeface="Cambria Math" panose="02040503050406030204" pitchFamily="18" charset="0"/>
                              <a:cs typeface="Arial" panose="020B0604020202020204" pitchFamily="34" charset="0"/>
                            </a:rPr>
                            <m:t> </m:t>
                          </m:r>
                          <m:r>
                            <a:rPr lang="en-US" i="1">
                              <a:latin typeface="Cambria Math" panose="02040503050406030204" pitchFamily="18" charset="0"/>
                              <a:ea typeface="Cambria Math" panose="02040503050406030204" pitchFamily="18" charset="0"/>
                              <a:cs typeface="Arial" panose="020B0604020202020204" pitchFamily="34" charset="0"/>
                            </a:rPr>
                            <m:t>𝑑𝑖𝑠𝑐h𝑎𝑟𝑔𝑒</m:t>
                          </m:r>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𝑏𝑒𝑑</m:t>
                          </m:r>
                          <m:r>
                            <a:rPr lang="en-US" i="1">
                              <a:latin typeface="Cambria Math" panose="02040503050406030204" pitchFamily="18" charset="0"/>
                              <a:ea typeface="Cambria Math" panose="02040503050406030204" pitchFamily="18" charset="0"/>
                              <a:cs typeface="Arial" panose="020B0604020202020204" pitchFamily="34" charset="0"/>
                            </a:rPr>
                            <m:t> </m:t>
                          </m:r>
                          <m:r>
                            <a:rPr lang="en-US" i="1">
                              <a:latin typeface="Cambria Math" panose="02040503050406030204" pitchFamily="18" charset="0"/>
                              <a:ea typeface="Cambria Math" panose="02040503050406030204" pitchFamily="18" charset="0"/>
                              <a:cs typeface="Arial" panose="020B0604020202020204" pitchFamily="34" charset="0"/>
                            </a:rPr>
                            <m:t>𝑠𝑙𝑜𝑝𝑒</m:t>
                          </m:r>
                        </m:num>
                        <m:den>
                          <m:r>
                            <a:rPr lang="en-US" b="0" i="1" smtClean="0">
                              <a:latin typeface="Cambria Math" panose="02040503050406030204" pitchFamily="18" charset="0"/>
                              <a:ea typeface="Cambria Math" panose="02040503050406030204" pitchFamily="18" charset="0"/>
                              <a:cs typeface="Arial" panose="020B0604020202020204" pitchFamily="34" charset="0"/>
                            </a:rPr>
                            <m:t>𝑤𝑖𝑑𝑡h</m:t>
                          </m:r>
                        </m:den>
                      </m:f>
                    </m:oMath>
                  </m:oMathPara>
                </a14:m>
                <a:endParaRPr lang="en-US" dirty="0">
                  <a:latin typeface="Arial" panose="020B0604020202020204" pitchFamily="34" charset="0"/>
                  <a:cs typeface="Arial" panose="020B0604020202020204" pitchFamily="34" charset="0"/>
                </a:endParaRPr>
              </a:p>
            </p:txBody>
          </p:sp>
        </mc:Choice>
        <mc:Fallback>
          <p:sp>
            <p:nvSpPr>
              <p:cNvPr id="4" name="TextBox 3">
                <a:extLst>
                  <a:ext uri="{FF2B5EF4-FFF2-40B4-BE49-F238E27FC236}">
                    <a16:creationId xmlns:a16="http://schemas.microsoft.com/office/drawing/2014/main" id="{71350E0C-E055-27E7-7378-CB768A18C36D}"/>
                  </a:ext>
                </a:extLst>
              </p:cNvPr>
              <p:cNvSpPr txBox="1">
                <a:spLocks noRot="1" noChangeAspect="1" noMove="1" noResize="1" noEditPoints="1" noAdjustHandles="1" noChangeArrowheads="1" noChangeShapeType="1" noTextEdit="1"/>
              </p:cNvSpPr>
              <p:nvPr/>
            </p:nvSpPr>
            <p:spPr>
              <a:xfrm>
                <a:off x="514478" y="1413833"/>
                <a:ext cx="7045455" cy="524759"/>
              </a:xfrm>
              <a:prstGeom prst="rect">
                <a:avLst/>
              </a:prstGeom>
              <a:blipFill>
                <a:blip r:embed="rId3"/>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6BD8D4B0-95C7-3229-45E5-E5010092611A}"/>
              </a:ext>
            </a:extLst>
          </p:cNvPr>
          <p:cNvSpPr txBox="1"/>
          <p:nvPr/>
        </p:nvSpPr>
        <p:spPr>
          <a:xfrm>
            <a:off x="514478" y="2370049"/>
            <a:ext cx="11435937" cy="381771"/>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At normal flow                     or equivalently </a:t>
            </a: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678D40D7-B93F-AFE2-B21A-A22A01031822}"/>
                  </a:ext>
                </a:extLst>
              </p:cNvPr>
              <p:cNvSpPr txBox="1"/>
              <p:nvPr/>
            </p:nvSpPr>
            <p:spPr>
              <a:xfrm>
                <a:off x="2183621" y="2403386"/>
                <a:ext cx="1151854" cy="276999"/>
              </a:xfrm>
              <a:prstGeom prst="rect">
                <a:avLst/>
              </a:prstGeom>
              <a:noFill/>
              <a:ln w="25400">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ea typeface="Cambria Math" panose="02040503050406030204" pitchFamily="18" charset="0"/>
                          <a:cs typeface="Arial" panose="020B0604020202020204" pitchFamily="34" charset="0"/>
                        </a:rPr>
                        <m:t>𝑔𝐻𝑆</m:t>
                      </m:r>
                    </m:oMath>
                  </m:oMathPara>
                </a14:m>
                <a:endParaRPr lang="en-US" dirty="0">
                  <a:latin typeface="Arial" panose="020B0604020202020204" pitchFamily="34" charset="0"/>
                  <a:cs typeface="Arial" panose="020B0604020202020204" pitchFamily="34" charset="0"/>
                </a:endParaRPr>
              </a:p>
            </p:txBody>
          </p:sp>
        </mc:Choice>
        <mc:Fallback>
          <p:sp>
            <p:nvSpPr>
              <p:cNvPr id="9" name="TextBox 8">
                <a:extLst>
                  <a:ext uri="{FF2B5EF4-FFF2-40B4-BE49-F238E27FC236}">
                    <a16:creationId xmlns:a16="http://schemas.microsoft.com/office/drawing/2014/main" id="{678D40D7-B93F-AFE2-B21A-A22A01031822}"/>
                  </a:ext>
                </a:extLst>
              </p:cNvPr>
              <p:cNvSpPr txBox="1">
                <a:spLocks noRot="1" noChangeAspect="1" noMove="1" noResize="1" noEditPoints="1" noAdjustHandles="1" noChangeArrowheads="1" noChangeShapeType="1" noTextEdit="1"/>
              </p:cNvSpPr>
              <p:nvPr/>
            </p:nvSpPr>
            <p:spPr>
              <a:xfrm>
                <a:off x="2183621" y="2403386"/>
                <a:ext cx="1151854" cy="276999"/>
              </a:xfrm>
              <a:prstGeom prst="rect">
                <a:avLst/>
              </a:prstGeom>
              <a:blipFill>
                <a:blip r:embed="rId4"/>
                <a:stretch>
                  <a:fillRect l="-2116" r="-6349" b="-34783"/>
                </a:stretch>
              </a:blipFill>
              <a:ln w="25400">
                <a:no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F0327B08-558B-55F2-A057-ED4B59F3EC22}"/>
                  </a:ext>
                </a:extLst>
              </p:cNvPr>
              <p:cNvSpPr txBox="1"/>
              <p:nvPr/>
            </p:nvSpPr>
            <p:spPr>
              <a:xfrm>
                <a:off x="5004618" y="2322185"/>
                <a:ext cx="937757" cy="521040"/>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𝑆</m:t>
                      </m:r>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sub>
                          </m:sSub>
                        </m:num>
                        <m:den>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𝑔𝐻</m:t>
                          </m:r>
                        </m:den>
                      </m:f>
                    </m:oMath>
                  </m:oMathPara>
                </a14:m>
                <a:endParaRPr lang="en-US" dirty="0">
                  <a:latin typeface="Arial" panose="020B0604020202020204" pitchFamily="34" charset="0"/>
                  <a:cs typeface="Arial" panose="020B0604020202020204" pitchFamily="34" charset="0"/>
                </a:endParaRPr>
              </a:p>
            </p:txBody>
          </p:sp>
        </mc:Choice>
        <mc:Fallback>
          <p:sp>
            <p:nvSpPr>
              <p:cNvPr id="10" name="TextBox 9">
                <a:extLst>
                  <a:ext uri="{FF2B5EF4-FFF2-40B4-BE49-F238E27FC236}">
                    <a16:creationId xmlns:a16="http://schemas.microsoft.com/office/drawing/2014/main" id="{F0327B08-558B-55F2-A057-ED4B59F3EC22}"/>
                  </a:ext>
                </a:extLst>
              </p:cNvPr>
              <p:cNvSpPr txBox="1">
                <a:spLocks noRot="1" noChangeAspect="1" noMove="1" noResize="1" noEditPoints="1" noAdjustHandles="1" noChangeArrowheads="1" noChangeShapeType="1" noTextEdit="1"/>
              </p:cNvSpPr>
              <p:nvPr/>
            </p:nvSpPr>
            <p:spPr>
              <a:xfrm>
                <a:off x="5004618" y="2322185"/>
                <a:ext cx="937757" cy="521040"/>
              </a:xfrm>
              <a:prstGeom prst="rect">
                <a:avLst/>
              </a:prstGeom>
              <a:blipFill>
                <a:blip r:embed="rId5"/>
                <a:stretch>
                  <a:fillRect/>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3012FFA5-5864-1526-8FD3-584A62C638C2}"/>
              </a:ext>
            </a:extLst>
          </p:cNvPr>
          <p:cNvSpPr txBox="1"/>
          <p:nvPr/>
        </p:nvSpPr>
        <p:spPr>
          <a:xfrm>
            <a:off x="514477" y="3080998"/>
            <a:ext cx="11435937" cy="381771"/>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Substituting the above equation in the definition of unit stream power, it is found that</a:t>
            </a: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94D46981-A4DA-532F-E9C9-CA5148C45E70}"/>
                  </a:ext>
                </a:extLst>
              </p:cNvPr>
              <p:cNvSpPr txBox="1"/>
              <p:nvPr/>
            </p:nvSpPr>
            <p:spPr>
              <a:xfrm>
                <a:off x="379968" y="3640279"/>
                <a:ext cx="4397829" cy="6613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smtClean="0">
                          <a:latin typeface="Cambria Math" panose="02040503050406030204" pitchFamily="18" charset="0"/>
                          <a:ea typeface="Cambria Math" panose="02040503050406030204" pitchFamily="18" charset="0"/>
                          <a:cs typeface="Arial" panose="020B0604020202020204" pitchFamily="34" charset="0"/>
                        </a:rPr>
                        <m:t>𝜔</m:t>
                      </m:r>
                      <m:r>
                        <a:rPr lang="en-US" sz="18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18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1800" i="1">
                              <a:latin typeface="Cambria Math" panose="02040503050406030204" pitchFamily="18" charset="0"/>
                              <a:ea typeface="Cambria Math" panose="02040503050406030204" pitchFamily="18" charset="0"/>
                              <a:cs typeface="Arial" panose="020B0604020202020204" pitchFamily="34" charset="0"/>
                            </a:rPr>
                            <m:t>𝜌</m:t>
                          </m:r>
                          <m:r>
                            <a:rPr lang="en-US" sz="1800" i="1">
                              <a:latin typeface="Cambria Math" panose="02040503050406030204" pitchFamily="18" charset="0"/>
                              <a:ea typeface="Cambria Math" panose="02040503050406030204" pitchFamily="18" charset="0"/>
                              <a:cs typeface="Arial" panose="020B0604020202020204" pitchFamily="34" charset="0"/>
                            </a:rPr>
                            <m:t>𝑔𝑄𝑆</m:t>
                          </m:r>
                        </m:num>
                        <m:den>
                          <m:r>
                            <a:rPr lang="en-US" sz="1800" b="0" i="1" smtClean="0">
                              <a:latin typeface="Cambria Math" panose="02040503050406030204" pitchFamily="18" charset="0"/>
                              <a:ea typeface="Cambria Math" panose="02040503050406030204" pitchFamily="18" charset="0"/>
                              <a:cs typeface="Arial" panose="020B0604020202020204" pitchFamily="34" charset="0"/>
                            </a:rPr>
                            <m:t>𝐵</m:t>
                          </m:r>
                        </m:den>
                      </m:f>
                      <m:r>
                        <a:rPr lang="en-US" sz="18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ea typeface="Cambria Math" panose="02040503050406030204" pitchFamily="18" charset="0"/>
                              <a:cs typeface="Arial" panose="020B0604020202020204" pitchFamily="34" charset="0"/>
                            </a:rPr>
                            <m:t>𝑔𝑄</m:t>
                          </m:r>
                        </m:num>
                        <m:den>
                          <m:r>
                            <a:rPr lang="en-US" i="1">
                              <a:latin typeface="Cambria Math" panose="02040503050406030204" pitchFamily="18" charset="0"/>
                              <a:ea typeface="Cambria Math" panose="02040503050406030204" pitchFamily="18" charset="0"/>
                              <a:cs typeface="Arial" panose="020B0604020202020204" pitchFamily="34" charset="0"/>
                            </a:rPr>
                            <m:t>𝐵</m:t>
                          </m:r>
                        </m:den>
                      </m:f>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num>
                        <m:den>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ea typeface="Cambria Math" panose="02040503050406030204" pitchFamily="18" charset="0"/>
                              <a:cs typeface="Arial" panose="020B0604020202020204" pitchFamily="34" charset="0"/>
                            </a:rPr>
                            <m:t>𝑔𝐻</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𝑄</m:t>
                          </m:r>
                        </m:num>
                        <m:den>
                          <m:r>
                            <a:rPr lang="en-US" i="1">
                              <a:latin typeface="Cambria Math" panose="02040503050406030204" pitchFamily="18" charset="0"/>
                              <a:ea typeface="Cambria Math" panose="02040503050406030204" pitchFamily="18" charset="0"/>
                              <a:cs typeface="Arial" panose="020B0604020202020204" pitchFamily="34" charset="0"/>
                            </a:rPr>
                            <m:t>𝐵</m:t>
                          </m:r>
                          <m:r>
                            <a:rPr lang="en-US" b="0" i="1" smtClean="0">
                              <a:latin typeface="Cambria Math" panose="02040503050406030204" pitchFamily="18" charset="0"/>
                              <a:ea typeface="Cambria Math" panose="02040503050406030204" pitchFamily="18" charset="0"/>
                              <a:cs typeface="Arial" panose="020B0604020202020204" pitchFamily="34" charset="0"/>
                            </a:rPr>
                            <m:t>𝐻</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ea typeface="Cambria Math" panose="02040503050406030204" pitchFamily="18" charset="0"/>
                          <a:cs typeface="Arial" panose="020B0604020202020204" pitchFamily="34" charset="0"/>
                        </a:rPr>
                        <m:t>𝑈</m:t>
                      </m:r>
                    </m:oMath>
                  </m:oMathPara>
                </a14:m>
                <a:endParaRPr lang="en-US" dirty="0"/>
              </a:p>
            </p:txBody>
          </p:sp>
        </mc:Choice>
        <mc:Fallback>
          <p:sp>
            <p:nvSpPr>
              <p:cNvPr id="14" name="TextBox 13">
                <a:extLst>
                  <a:ext uri="{FF2B5EF4-FFF2-40B4-BE49-F238E27FC236}">
                    <a16:creationId xmlns:a16="http://schemas.microsoft.com/office/drawing/2014/main" id="{94D46981-A4DA-532F-E9C9-CA5148C45E70}"/>
                  </a:ext>
                </a:extLst>
              </p:cNvPr>
              <p:cNvSpPr txBox="1">
                <a:spLocks noRot="1" noChangeAspect="1" noMove="1" noResize="1" noEditPoints="1" noAdjustHandles="1" noChangeArrowheads="1" noChangeShapeType="1" noTextEdit="1"/>
              </p:cNvSpPr>
              <p:nvPr/>
            </p:nvSpPr>
            <p:spPr>
              <a:xfrm>
                <a:off x="379968" y="3640279"/>
                <a:ext cx="4397829" cy="661335"/>
              </a:xfrm>
              <a:prstGeom prst="rect">
                <a:avLst/>
              </a:prstGeom>
              <a:blipFill>
                <a:blip r:embed="rId6"/>
                <a:stretch>
                  <a:fillRect/>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20A34FD2-B1B4-6E76-AF9A-111A8B415693}"/>
              </a:ext>
            </a:extLst>
          </p:cNvPr>
          <p:cNvSpPr txBox="1"/>
          <p:nvPr/>
        </p:nvSpPr>
        <p:spPr>
          <a:xfrm>
            <a:off x="514476" y="4605175"/>
            <a:ext cx="11435937" cy="413896"/>
          </a:xfrm>
          <a:prstGeom prst="rect">
            <a:avLst/>
          </a:prstGeom>
          <a:noFill/>
        </p:spPr>
        <p:txBody>
          <a:bodyPr wrap="square" rtlCol="0">
            <a:spAutoFit/>
          </a:bodyPr>
          <a:lstStyle/>
          <a:p>
            <a:pPr>
              <a:lnSpc>
                <a:spcPct val="114000"/>
              </a:lnSpc>
            </a:pPr>
            <a:r>
              <a:rPr lang="en-US" sz="2000" b="1" dirty="0">
                <a:latin typeface="Arial" panose="020B0604020202020204" pitchFamily="34" charset="0"/>
                <a:cs typeface="Arial" panose="020B0604020202020204" pitchFamily="34" charset="0"/>
              </a:rPr>
              <a:t>The non-dimensional unit stream power is defined as</a:t>
            </a:r>
          </a:p>
        </p:txBody>
      </p:sp>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D12DA4AF-1AF7-D71C-A967-3EE24F2559FF}"/>
                  </a:ext>
                </a:extLst>
              </p:cNvPr>
              <p:cNvSpPr txBox="1"/>
              <p:nvPr/>
            </p:nvSpPr>
            <p:spPr>
              <a:xfrm>
                <a:off x="379968" y="5052248"/>
                <a:ext cx="2606095" cy="6194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1800" i="1" smtClean="0">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𝜔</m:t>
                          </m:r>
                        </m:e>
                        <m:sup>
                          <m:r>
                            <a:rPr lang="en-US" sz="1800" b="0" i="1" smtClean="0">
                              <a:latin typeface="Cambria Math" panose="02040503050406030204" pitchFamily="18" charset="0"/>
                              <a:ea typeface="Cambria Math" panose="02040503050406030204" pitchFamily="18" charset="0"/>
                              <a:cs typeface="Arial" panose="020B0604020202020204" pitchFamily="34" charset="0"/>
                            </a:rPr>
                            <m:t>∗</m:t>
                          </m:r>
                        </m:sup>
                      </m:sSup>
                      <m:r>
                        <a:rPr lang="en-US" sz="18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18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𝜔</m:t>
                          </m:r>
                        </m:num>
                        <m:den>
                          <m:r>
                            <a:rPr lang="en-US" sz="1800" b="0" i="1" smtClean="0">
                              <a:latin typeface="Cambria Math" panose="02040503050406030204" pitchFamily="18" charset="0"/>
                              <a:ea typeface="Cambria Math" panose="02040503050406030204" pitchFamily="18" charset="0"/>
                              <a:cs typeface="Arial" panose="020B0604020202020204" pitchFamily="34" charset="0"/>
                            </a:rPr>
                            <m:t>𝜌</m:t>
                          </m:r>
                          <m:sSup>
                            <m:sSupPr>
                              <m:ctrlPr>
                                <a:rPr lang="en-US" sz="18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1800" b="0" i="1" smtClean="0">
                                  <a:latin typeface="Cambria Math" panose="02040503050406030204" pitchFamily="18" charset="0"/>
                                  <a:ea typeface="Cambria Math" panose="02040503050406030204" pitchFamily="18" charset="0"/>
                                  <a:cs typeface="Arial" panose="020B0604020202020204" pitchFamily="34" charset="0"/>
                                </a:rPr>
                                <m:t>(</m:t>
                              </m:r>
                              <m:r>
                                <a:rPr lang="en-US" sz="1800" b="0" i="1" smtClean="0">
                                  <a:latin typeface="Cambria Math" panose="02040503050406030204" pitchFamily="18" charset="0"/>
                                  <a:ea typeface="Cambria Math" panose="02040503050406030204" pitchFamily="18" charset="0"/>
                                  <a:cs typeface="Arial" panose="020B0604020202020204" pitchFamily="34" charset="0"/>
                                </a:rPr>
                                <m:t>𝑔𝑅𝐷</m:t>
                              </m:r>
                              <m:r>
                                <a:rPr lang="en-US" sz="1800" b="0" i="1" smtClean="0">
                                  <a:latin typeface="Cambria Math" panose="02040503050406030204" pitchFamily="18" charset="0"/>
                                  <a:ea typeface="Cambria Math" panose="02040503050406030204" pitchFamily="18" charset="0"/>
                                  <a:cs typeface="Arial" panose="020B0604020202020204" pitchFamily="34" charset="0"/>
                                </a:rPr>
                                <m:t>)</m:t>
                              </m:r>
                            </m:e>
                            <m:sup>
                              <m:r>
                                <a:rPr lang="en-US" sz="1800" b="0" i="1" smtClean="0">
                                  <a:latin typeface="Cambria Math" panose="02040503050406030204" pitchFamily="18" charset="0"/>
                                  <a:ea typeface="Cambria Math" panose="02040503050406030204" pitchFamily="18" charset="0"/>
                                  <a:cs typeface="Arial" panose="020B0604020202020204" pitchFamily="34" charset="0"/>
                                </a:rPr>
                                <m:t>3/2</m:t>
                              </m:r>
                            </m:sup>
                          </m:sSup>
                        </m:den>
                      </m:f>
                    </m:oMath>
                  </m:oMathPara>
                </a14:m>
                <a:endParaRPr lang="en-US" dirty="0"/>
              </a:p>
            </p:txBody>
          </p:sp>
        </mc:Choice>
        <mc:Fallback>
          <p:sp>
            <p:nvSpPr>
              <p:cNvPr id="21" name="TextBox 20">
                <a:extLst>
                  <a:ext uri="{FF2B5EF4-FFF2-40B4-BE49-F238E27FC236}">
                    <a16:creationId xmlns:a16="http://schemas.microsoft.com/office/drawing/2014/main" id="{D12DA4AF-1AF7-D71C-A967-3EE24F2559FF}"/>
                  </a:ext>
                </a:extLst>
              </p:cNvPr>
              <p:cNvSpPr txBox="1">
                <a:spLocks noRot="1" noChangeAspect="1" noMove="1" noResize="1" noEditPoints="1" noAdjustHandles="1" noChangeArrowheads="1" noChangeShapeType="1" noTextEdit="1"/>
              </p:cNvSpPr>
              <p:nvPr/>
            </p:nvSpPr>
            <p:spPr>
              <a:xfrm>
                <a:off x="379968" y="5052248"/>
                <a:ext cx="2606095" cy="619400"/>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129589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EFB6A-EDC3-60E8-9786-5DD8EF9B6A44}"/>
            </a:ext>
          </a:extLst>
        </p:cNvPr>
        <p:cNvGrpSpPr/>
        <p:nvPr/>
      </p:nvGrpSpPr>
      <p:grpSpPr>
        <a:xfrm>
          <a:off x="0" y="0"/>
          <a:ext cx="0" cy="0"/>
          <a:chOff x="0" y="0"/>
          <a:chExt cx="0" cy="0"/>
        </a:xfrm>
      </p:grpSpPr>
      <p:sp>
        <p:nvSpPr>
          <p:cNvPr id="33" name="Rectangle: Rounded Corners 32">
            <a:extLst>
              <a:ext uri="{FF2B5EF4-FFF2-40B4-BE49-F238E27FC236}">
                <a16:creationId xmlns:a16="http://schemas.microsoft.com/office/drawing/2014/main" id="{34767C7D-B9CE-B346-F204-F9808DE7A7ED}"/>
              </a:ext>
            </a:extLst>
          </p:cNvPr>
          <p:cNvSpPr/>
          <p:nvPr/>
        </p:nvSpPr>
        <p:spPr>
          <a:xfrm>
            <a:off x="6662057" y="3949572"/>
            <a:ext cx="5365936" cy="2480257"/>
          </a:xfrm>
          <a:prstGeom prst="roundRect">
            <a:avLst/>
          </a:prstGeom>
          <a:solidFill>
            <a:schemeClr val="accent4">
              <a:lumMod val="20000"/>
              <a:lumOff val="80000"/>
            </a:schemeClr>
          </a:solidFill>
          <a:ln w="190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Slide Number Placeholder 3">
            <a:extLst>
              <a:ext uri="{FF2B5EF4-FFF2-40B4-BE49-F238E27FC236}">
                <a16:creationId xmlns:a16="http://schemas.microsoft.com/office/drawing/2014/main" id="{5BADDDA2-2821-0351-BC46-8E074C1595C4}"/>
              </a:ext>
            </a:extLst>
          </p:cNvPr>
          <p:cNvSpPr>
            <a:spLocks noGrp="1"/>
          </p:cNvSpPr>
          <p:nvPr>
            <p:ph type="sldNum" sz="quarter" idx="12"/>
          </p:nvPr>
        </p:nvSpPr>
        <p:spPr>
          <a:xfrm>
            <a:off x="8610600" y="6356350"/>
            <a:ext cx="2743200" cy="365125"/>
          </a:xfrm>
        </p:spPr>
        <p:txBody>
          <a:bodyPr/>
          <a:lstStyle/>
          <a:p>
            <a:fld id="{2386C454-E1BD-5A43-901A-CA4ACC7380B7}" type="slidenum">
              <a:rPr lang="en-US" smtClean="0"/>
              <a:t>26</a:t>
            </a:fld>
            <a:endParaRPr lang="en-US" dirty="0"/>
          </a:p>
        </p:txBody>
      </p:sp>
      <p:sp>
        <p:nvSpPr>
          <p:cNvPr id="15" name="TextBox 14">
            <a:extLst>
              <a:ext uri="{FF2B5EF4-FFF2-40B4-BE49-F238E27FC236}">
                <a16:creationId xmlns:a16="http://schemas.microsoft.com/office/drawing/2014/main" id="{AFB7998F-2092-F65C-9D59-1BC08C63983B}"/>
              </a:ext>
            </a:extLst>
          </p:cNvPr>
          <p:cNvSpPr txBox="1"/>
          <p:nvPr/>
        </p:nvSpPr>
        <p:spPr>
          <a:xfrm>
            <a:off x="379968" y="845935"/>
            <a:ext cx="11435937" cy="381708"/>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We defined the unit stream power as</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8FC27118-2121-16E5-45B5-400A0F29E5DD}"/>
                  </a:ext>
                </a:extLst>
              </p:cNvPr>
              <p:cNvSpPr txBox="1"/>
              <p:nvPr/>
            </p:nvSpPr>
            <p:spPr>
              <a:xfrm>
                <a:off x="514478" y="1413833"/>
                <a:ext cx="7045455" cy="52475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𝜔</m:t>
                      </m:r>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ea typeface="Cambria Math" panose="02040503050406030204" pitchFamily="18" charset="0"/>
                              <a:cs typeface="Arial" panose="020B0604020202020204" pitchFamily="34" charset="0"/>
                            </a:rPr>
                            <m:t>𝑔𝑄𝑆</m:t>
                          </m:r>
                        </m:num>
                        <m:den>
                          <m:r>
                            <a:rPr lang="en-US" b="0" i="1" smtClean="0">
                              <a:latin typeface="Cambria Math" panose="02040503050406030204" pitchFamily="18" charset="0"/>
                              <a:ea typeface="Cambria Math" panose="02040503050406030204" pitchFamily="18" charset="0"/>
                              <a:cs typeface="Arial" panose="020B0604020202020204" pitchFamily="34" charset="0"/>
                            </a:rPr>
                            <m:t>𝐵</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𝑤𝑎𝑡𝑒𝑟</m:t>
                          </m:r>
                          <m:r>
                            <a:rPr lang="en-US" i="1">
                              <a:latin typeface="Cambria Math" panose="02040503050406030204" pitchFamily="18" charset="0"/>
                              <a:ea typeface="Cambria Math" panose="02040503050406030204" pitchFamily="18" charset="0"/>
                              <a:cs typeface="Arial" panose="020B0604020202020204" pitchFamily="34" charset="0"/>
                            </a:rPr>
                            <m:t> </m:t>
                          </m:r>
                          <m:r>
                            <a:rPr lang="en-US" i="1">
                              <a:latin typeface="Cambria Math" panose="02040503050406030204" pitchFamily="18" charset="0"/>
                              <a:ea typeface="Cambria Math" panose="02040503050406030204" pitchFamily="18" charset="0"/>
                              <a:cs typeface="Arial" panose="020B0604020202020204" pitchFamily="34" charset="0"/>
                            </a:rPr>
                            <m:t>𝑑𝑒𝑛𝑠𝑖𝑡𝑦</m:t>
                          </m:r>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𝑔𝑟𝑎𝑣𝑖𝑡𝑦</m:t>
                          </m:r>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𝑓𝑙𝑜𝑤</m:t>
                          </m:r>
                          <m:r>
                            <a:rPr lang="en-US" i="1">
                              <a:latin typeface="Cambria Math" panose="02040503050406030204" pitchFamily="18" charset="0"/>
                              <a:ea typeface="Cambria Math" panose="02040503050406030204" pitchFamily="18" charset="0"/>
                              <a:cs typeface="Arial" panose="020B0604020202020204" pitchFamily="34" charset="0"/>
                            </a:rPr>
                            <m:t> </m:t>
                          </m:r>
                          <m:r>
                            <a:rPr lang="en-US" i="1">
                              <a:latin typeface="Cambria Math" panose="02040503050406030204" pitchFamily="18" charset="0"/>
                              <a:ea typeface="Cambria Math" panose="02040503050406030204" pitchFamily="18" charset="0"/>
                              <a:cs typeface="Arial" panose="020B0604020202020204" pitchFamily="34" charset="0"/>
                            </a:rPr>
                            <m:t>𝑑𝑖𝑠𝑐h𝑎𝑟𝑔𝑒</m:t>
                          </m:r>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𝑏𝑒𝑑</m:t>
                          </m:r>
                          <m:r>
                            <a:rPr lang="en-US" i="1">
                              <a:latin typeface="Cambria Math" panose="02040503050406030204" pitchFamily="18" charset="0"/>
                              <a:ea typeface="Cambria Math" panose="02040503050406030204" pitchFamily="18" charset="0"/>
                              <a:cs typeface="Arial" panose="020B0604020202020204" pitchFamily="34" charset="0"/>
                            </a:rPr>
                            <m:t> </m:t>
                          </m:r>
                          <m:r>
                            <a:rPr lang="en-US" i="1">
                              <a:latin typeface="Cambria Math" panose="02040503050406030204" pitchFamily="18" charset="0"/>
                              <a:ea typeface="Cambria Math" panose="02040503050406030204" pitchFamily="18" charset="0"/>
                              <a:cs typeface="Arial" panose="020B0604020202020204" pitchFamily="34" charset="0"/>
                            </a:rPr>
                            <m:t>𝑠𝑙𝑜𝑝𝑒</m:t>
                          </m:r>
                        </m:num>
                        <m:den>
                          <m:r>
                            <a:rPr lang="en-US" b="0" i="1" smtClean="0">
                              <a:latin typeface="Cambria Math" panose="02040503050406030204" pitchFamily="18" charset="0"/>
                              <a:ea typeface="Cambria Math" panose="02040503050406030204" pitchFamily="18" charset="0"/>
                              <a:cs typeface="Arial" panose="020B0604020202020204" pitchFamily="34" charset="0"/>
                            </a:rPr>
                            <m:t>𝑤𝑖𝑑𝑡h</m:t>
                          </m:r>
                        </m:den>
                      </m:f>
                    </m:oMath>
                  </m:oMathPara>
                </a14:m>
                <a:endParaRPr lang="en-US" dirty="0">
                  <a:latin typeface="Arial" panose="020B0604020202020204" pitchFamily="34" charset="0"/>
                  <a:cs typeface="Arial" panose="020B0604020202020204" pitchFamily="34" charset="0"/>
                </a:endParaRPr>
              </a:p>
            </p:txBody>
          </p:sp>
        </mc:Choice>
        <mc:Fallback>
          <p:sp>
            <p:nvSpPr>
              <p:cNvPr id="4" name="TextBox 3">
                <a:extLst>
                  <a:ext uri="{FF2B5EF4-FFF2-40B4-BE49-F238E27FC236}">
                    <a16:creationId xmlns:a16="http://schemas.microsoft.com/office/drawing/2014/main" id="{8FC27118-2121-16E5-45B5-400A0F29E5DD}"/>
                  </a:ext>
                </a:extLst>
              </p:cNvPr>
              <p:cNvSpPr txBox="1">
                <a:spLocks noRot="1" noChangeAspect="1" noMove="1" noResize="1" noEditPoints="1" noAdjustHandles="1" noChangeArrowheads="1" noChangeShapeType="1" noTextEdit="1"/>
              </p:cNvSpPr>
              <p:nvPr/>
            </p:nvSpPr>
            <p:spPr>
              <a:xfrm>
                <a:off x="514478" y="1413833"/>
                <a:ext cx="7045455" cy="524759"/>
              </a:xfrm>
              <a:prstGeom prst="rect">
                <a:avLst/>
              </a:prstGeom>
              <a:blipFill>
                <a:blip r:embed="rId3"/>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B7BDC62D-5E1A-0C88-4F5D-AB0F72E33E96}"/>
              </a:ext>
            </a:extLst>
          </p:cNvPr>
          <p:cNvSpPr txBox="1"/>
          <p:nvPr/>
        </p:nvSpPr>
        <p:spPr>
          <a:xfrm>
            <a:off x="514478" y="2370049"/>
            <a:ext cx="11435937" cy="381771"/>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At normal flow                     or equivalently </a:t>
            </a: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900AE360-0F63-8891-19D9-35985797C84A}"/>
                  </a:ext>
                </a:extLst>
              </p:cNvPr>
              <p:cNvSpPr txBox="1"/>
              <p:nvPr/>
            </p:nvSpPr>
            <p:spPr>
              <a:xfrm>
                <a:off x="2183621" y="2403386"/>
                <a:ext cx="1151854" cy="276999"/>
              </a:xfrm>
              <a:prstGeom prst="rect">
                <a:avLst/>
              </a:prstGeom>
              <a:noFill/>
              <a:ln w="25400">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ea typeface="Cambria Math" panose="02040503050406030204" pitchFamily="18" charset="0"/>
                          <a:cs typeface="Arial" panose="020B0604020202020204" pitchFamily="34" charset="0"/>
                        </a:rPr>
                        <m:t>𝑔𝐻𝑆</m:t>
                      </m:r>
                    </m:oMath>
                  </m:oMathPara>
                </a14:m>
                <a:endParaRPr lang="en-US" dirty="0">
                  <a:latin typeface="Arial" panose="020B0604020202020204" pitchFamily="34" charset="0"/>
                  <a:cs typeface="Arial" panose="020B0604020202020204" pitchFamily="34" charset="0"/>
                </a:endParaRPr>
              </a:p>
            </p:txBody>
          </p:sp>
        </mc:Choice>
        <mc:Fallback>
          <p:sp>
            <p:nvSpPr>
              <p:cNvPr id="9" name="TextBox 8">
                <a:extLst>
                  <a:ext uri="{FF2B5EF4-FFF2-40B4-BE49-F238E27FC236}">
                    <a16:creationId xmlns:a16="http://schemas.microsoft.com/office/drawing/2014/main" id="{900AE360-0F63-8891-19D9-35985797C84A}"/>
                  </a:ext>
                </a:extLst>
              </p:cNvPr>
              <p:cNvSpPr txBox="1">
                <a:spLocks noRot="1" noChangeAspect="1" noMove="1" noResize="1" noEditPoints="1" noAdjustHandles="1" noChangeArrowheads="1" noChangeShapeType="1" noTextEdit="1"/>
              </p:cNvSpPr>
              <p:nvPr/>
            </p:nvSpPr>
            <p:spPr>
              <a:xfrm>
                <a:off x="2183621" y="2403386"/>
                <a:ext cx="1151854" cy="276999"/>
              </a:xfrm>
              <a:prstGeom prst="rect">
                <a:avLst/>
              </a:prstGeom>
              <a:blipFill>
                <a:blip r:embed="rId4"/>
                <a:stretch>
                  <a:fillRect l="-2116" r="-6349" b="-34783"/>
                </a:stretch>
              </a:blipFill>
              <a:ln w="25400">
                <a:no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4B9F1CB4-2E1C-0D6D-9373-909BFC46C71B}"/>
                  </a:ext>
                </a:extLst>
              </p:cNvPr>
              <p:cNvSpPr txBox="1"/>
              <p:nvPr/>
            </p:nvSpPr>
            <p:spPr>
              <a:xfrm>
                <a:off x="5004618" y="2322185"/>
                <a:ext cx="937757" cy="521040"/>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𝑆</m:t>
                      </m:r>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sub>
                          </m:sSub>
                        </m:num>
                        <m:den>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𝑔𝐻</m:t>
                          </m:r>
                        </m:den>
                      </m:f>
                    </m:oMath>
                  </m:oMathPara>
                </a14:m>
                <a:endParaRPr lang="en-US" dirty="0">
                  <a:latin typeface="Arial" panose="020B0604020202020204" pitchFamily="34" charset="0"/>
                  <a:cs typeface="Arial" panose="020B0604020202020204" pitchFamily="34" charset="0"/>
                </a:endParaRPr>
              </a:p>
            </p:txBody>
          </p:sp>
        </mc:Choice>
        <mc:Fallback>
          <p:sp>
            <p:nvSpPr>
              <p:cNvPr id="10" name="TextBox 9">
                <a:extLst>
                  <a:ext uri="{FF2B5EF4-FFF2-40B4-BE49-F238E27FC236}">
                    <a16:creationId xmlns:a16="http://schemas.microsoft.com/office/drawing/2014/main" id="{4B9F1CB4-2E1C-0D6D-9373-909BFC46C71B}"/>
                  </a:ext>
                </a:extLst>
              </p:cNvPr>
              <p:cNvSpPr txBox="1">
                <a:spLocks noRot="1" noChangeAspect="1" noMove="1" noResize="1" noEditPoints="1" noAdjustHandles="1" noChangeArrowheads="1" noChangeShapeType="1" noTextEdit="1"/>
              </p:cNvSpPr>
              <p:nvPr/>
            </p:nvSpPr>
            <p:spPr>
              <a:xfrm>
                <a:off x="5004618" y="2322185"/>
                <a:ext cx="937757" cy="521040"/>
              </a:xfrm>
              <a:prstGeom prst="rect">
                <a:avLst/>
              </a:prstGeom>
              <a:blipFill>
                <a:blip r:embed="rId5"/>
                <a:stretch>
                  <a:fillRect/>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F789BCFB-BB34-A866-1654-C0DEA8836515}"/>
              </a:ext>
            </a:extLst>
          </p:cNvPr>
          <p:cNvSpPr txBox="1"/>
          <p:nvPr/>
        </p:nvSpPr>
        <p:spPr>
          <a:xfrm>
            <a:off x="514477" y="3080998"/>
            <a:ext cx="11435937" cy="381771"/>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Substituting the above equation in the definition of unit stream power, it is found that</a:t>
            </a: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3BDC3A41-7FEC-59D3-4115-1D8244065071}"/>
                  </a:ext>
                </a:extLst>
              </p:cNvPr>
              <p:cNvSpPr txBox="1"/>
              <p:nvPr/>
            </p:nvSpPr>
            <p:spPr>
              <a:xfrm>
                <a:off x="379968" y="3640279"/>
                <a:ext cx="4397829" cy="6613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smtClean="0">
                          <a:latin typeface="Cambria Math" panose="02040503050406030204" pitchFamily="18" charset="0"/>
                          <a:ea typeface="Cambria Math" panose="02040503050406030204" pitchFamily="18" charset="0"/>
                          <a:cs typeface="Arial" panose="020B0604020202020204" pitchFamily="34" charset="0"/>
                        </a:rPr>
                        <m:t>𝜔</m:t>
                      </m:r>
                      <m:r>
                        <a:rPr lang="en-US" sz="18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18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1800" i="1">
                              <a:latin typeface="Cambria Math" panose="02040503050406030204" pitchFamily="18" charset="0"/>
                              <a:ea typeface="Cambria Math" panose="02040503050406030204" pitchFamily="18" charset="0"/>
                              <a:cs typeface="Arial" panose="020B0604020202020204" pitchFamily="34" charset="0"/>
                            </a:rPr>
                            <m:t>𝜌</m:t>
                          </m:r>
                          <m:r>
                            <a:rPr lang="en-US" sz="1800" i="1">
                              <a:latin typeface="Cambria Math" panose="02040503050406030204" pitchFamily="18" charset="0"/>
                              <a:ea typeface="Cambria Math" panose="02040503050406030204" pitchFamily="18" charset="0"/>
                              <a:cs typeface="Arial" panose="020B0604020202020204" pitchFamily="34" charset="0"/>
                            </a:rPr>
                            <m:t>𝑔𝑄𝑆</m:t>
                          </m:r>
                        </m:num>
                        <m:den>
                          <m:r>
                            <a:rPr lang="en-US" sz="1800" b="0" i="1" smtClean="0">
                              <a:latin typeface="Cambria Math" panose="02040503050406030204" pitchFamily="18" charset="0"/>
                              <a:ea typeface="Cambria Math" panose="02040503050406030204" pitchFamily="18" charset="0"/>
                              <a:cs typeface="Arial" panose="020B0604020202020204" pitchFamily="34" charset="0"/>
                            </a:rPr>
                            <m:t>𝐵</m:t>
                          </m:r>
                        </m:den>
                      </m:f>
                      <m:r>
                        <a:rPr lang="en-US" sz="18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ea typeface="Cambria Math" panose="02040503050406030204" pitchFamily="18" charset="0"/>
                              <a:cs typeface="Arial" panose="020B0604020202020204" pitchFamily="34" charset="0"/>
                            </a:rPr>
                            <m:t>𝑔𝑄</m:t>
                          </m:r>
                        </m:num>
                        <m:den>
                          <m:r>
                            <a:rPr lang="en-US" i="1">
                              <a:latin typeface="Cambria Math" panose="02040503050406030204" pitchFamily="18" charset="0"/>
                              <a:ea typeface="Cambria Math" panose="02040503050406030204" pitchFamily="18" charset="0"/>
                              <a:cs typeface="Arial" panose="020B0604020202020204" pitchFamily="34" charset="0"/>
                            </a:rPr>
                            <m:t>𝐵</m:t>
                          </m:r>
                        </m:den>
                      </m:f>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num>
                        <m:den>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ea typeface="Cambria Math" panose="02040503050406030204" pitchFamily="18" charset="0"/>
                              <a:cs typeface="Arial" panose="020B0604020202020204" pitchFamily="34" charset="0"/>
                            </a:rPr>
                            <m:t>𝑔𝐻</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𝑄</m:t>
                          </m:r>
                        </m:num>
                        <m:den>
                          <m:r>
                            <a:rPr lang="en-US" i="1">
                              <a:latin typeface="Cambria Math" panose="02040503050406030204" pitchFamily="18" charset="0"/>
                              <a:ea typeface="Cambria Math" panose="02040503050406030204" pitchFamily="18" charset="0"/>
                              <a:cs typeface="Arial" panose="020B0604020202020204" pitchFamily="34" charset="0"/>
                            </a:rPr>
                            <m:t>𝐵</m:t>
                          </m:r>
                          <m:r>
                            <a:rPr lang="en-US" b="0" i="1" smtClean="0">
                              <a:latin typeface="Cambria Math" panose="02040503050406030204" pitchFamily="18" charset="0"/>
                              <a:ea typeface="Cambria Math" panose="02040503050406030204" pitchFamily="18" charset="0"/>
                              <a:cs typeface="Arial" panose="020B0604020202020204" pitchFamily="34" charset="0"/>
                            </a:rPr>
                            <m:t>𝐻</m:t>
                          </m:r>
                        </m:den>
                      </m:f>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ea typeface="Cambria Math" panose="02040503050406030204" pitchFamily="18" charset="0"/>
                          <a:cs typeface="Arial" panose="020B0604020202020204" pitchFamily="34" charset="0"/>
                        </a:rPr>
                        <m:t>𝑈</m:t>
                      </m:r>
                    </m:oMath>
                  </m:oMathPara>
                </a14:m>
                <a:endParaRPr lang="en-US" dirty="0"/>
              </a:p>
            </p:txBody>
          </p:sp>
        </mc:Choice>
        <mc:Fallback>
          <p:sp>
            <p:nvSpPr>
              <p:cNvPr id="14" name="TextBox 13">
                <a:extLst>
                  <a:ext uri="{FF2B5EF4-FFF2-40B4-BE49-F238E27FC236}">
                    <a16:creationId xmlns:a16="http://schemas.microsoft.com/office/drawing/2014/main" id="{3BDC3A41-7FEC-59D3-4115-1D8244065071}"/>
                  </a:ext>
                </a:extLst>
              </p:cNvPr>
              <p:cNvSpPr txBox="1">
                <a:spLocks noRot="1" noChangeAspect="1" noMove="1" noResize="1" noEditPoints="1" noAdjustHandles="1" noChangeArrowheads="1" noChangeShapeType="1" noTextEdit="1"/>
              </p:cNvSpPr>
              <p:nvPr/>
            </p:nvSpPr>
            <p:spPr>
              <a:xfrm>
                <a:off x="379968" y="3640279"/>
                <a:ext cx="4397829" cy="66133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6CC72CFF-D455-E944-F4BB-22B72E03074A}"/>
                  </a:ext>
                </a:extLst>
              </p:cNvPr>
              <p:cNvSpPr txBox="1"/>
              <p:nvPr/>
            </p:nvSpPr>
            <p:spPr>
              <a:xfrm>
                <a:off x="379968" y="5052248"/>
                <a:ext cx="2606095" cy="6194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1800" i="1" smtClean="0">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𝜔</m:t>
                          </m:r>
                        </m:e>
                        <m:sup>
                          <m:r>
                            <a:rPr lang="en-US" sz="1800" b="0" i="1" smtClean="0">
                              <a:latin typeface="Cambria Math" panose="02040503050406030204" pitchFamily="18" charset="0"/>
                              <a:ea typeface="Cambria Math" panose="02040503050406030204" pitchFamily="18" charset="0"/>
                              <a:cs typeface="Arial" panose="020B0604020202020204" pitchFamily="34" charset="0"/>
                            </a:rPr>
                            <m:t>∗</m:t>
                          </m:r>
                        </m:sup>
                      </m:sSup>
                      <m:r>
                        <a:rPr lang="en-US" sz="18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18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𝜔</m:t>
                          </m:r>
                        </m:num>
                        <m:den>
                          <m:r>
                            <a:rPr lang="en-US" sz="1800" b="0" i="1" smtClean="0">
                              <a:latin typeface="Cambria Math" panose="02040503050406030204" pitchFamily="18" charset="0"/>
                              <a:ea typeface="Cambria Math" panose="02040503050406030204" pitchFamily="18" charset="0"/>
                              <a:cs typeface="Arial" panose="020B0604020202020204" pitchFamily="34" charset="0"/>
                            </a:rPr>
                            <m:t>𝜌</m:t>
                          </m:r>
                          <m:sSup>
                            <m:sSupPr>
                              <m:ctrlPr>
                                <a:rPr lang="en-US" sz="18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1800" b="0" i="1" smtClean="0">
                                  <a:latin typeface="Cambria Math" panose="02040503050406030204" pitchFamily="18" charset="0"/>
                                  <a:ea typeface="Cambria Math" panose="02040503050406030204" pitchFamily="18" charset="0"/>
                                  <a:cs typeface="Arial" panose="020B0604020202020204" pitchFamily="34" charset="0"/>
                                </a:rPr>
                                <m:t>(</m:t>
                              </m:r>
                              <m:r>
                                <a:rPr lang="en-US" sz="1800" b="0" i="1" smtClean="0">
                                  <a:latin typeface="Cambria Math" panose="02040503050406030204" pitchFamily="18" charset="0"/>
                                  <a:ea typeface="Cambria Math" panose="02040503050406030204" pitchFamily="18" charset="0"/>
                                  <a:cs typeface="Arial" panose="020B0604020202020204" pitchFamily="34" charset="0"/>
                                </a:rPr>
                                <m:t>𝑔𝑅𝐷</m:t>
                              </m:r>
                              <m:r>
                                <a:rPr lang="en-US" sz="1800" b="0" i="1" smtClean="0">
                                  <a:latin typeface="Cambria Math" panose="02040503050406030204" pitchFamily="18" charset="0"/>
                                  <a:ea typeface="Cambria Math" panose="02040503050406030204" pitchFamily="18" charset="0"/>
                                  <a:cs typeface="Arial" panose="020B0604020202020204" pitchFamily="34" charset="0"/>
                                </a:rPr>
                                <m:t>)</m:t>
                              </m:r>
                            </m:e>
                            <m:sup>
                              <m:r>
                                <a:rPr lang="en-US" sz="1800" b="0" i="1" smtClean="0">
                                  <a:latin typeface="Cambria Math" panose="02040503050406030204" pitchFamily="18" charset="0"/>
                                  <a:ea typeface="Cambria Math" panose="02040503050406030204" pitchFamily="18" charset="0"/>
                                  <a:cs typeface="Arial" panose="020B0604020202020204" pitchFamily="34" charset="0"/>
                                </a:rPr>
                                <m:t>3/2</m:t>
                              </m:r>
                            </m:sup>
                          </m:sSup>
                        </m:den>
                      </m:f>
                    </m:oMath>
                  </m:oMathPara>
                </a14:m>
                <a:endParaRPr lang="en-US" dirty="0"/>
              </a:p>
            </p:txBody>
          </p:sp>
        </mc:Choice>
        <mc:Fallback>
          <p:sp>
            <p:nvSpPr>
              <p:cNvPr id="21" name="TextBox 20">
                <a:extLst>
                  <a:ext uri="{FF2B5EF4-FFF2-40B4-BE49-F238E27FC236}">
                    <a16:creationId xmlns:a16="http://schemas.microsoft.com/office/drawing/2014/main" id="{6CC72CFF-D455-E944-F4BB-22B72E03074A}"/>
                  </a:ext>
                </a:extLst>
              </p:cNvPr>
              <p:cNvSpPr txBox="1">
                <a:spLocks noRot="1" noChangeAspect="1" noMove="1" noResize="1" noEditPoints="1" noAdjustHandles="1" noChangeArrowheads="1" noChangeShapeType="1" noTextEdit="1"/>
              </p:cNvSpPr>
              <p:nvPr/>
            </p:nvSpPr>
            <p:spPr>
              <a:xfrm>
                <a:off x="379968" y="5052248"/>
                <a:ext cx="2606095" cy="61940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897DD77C-76C0-F108-44F5-A36841B7A8EB}"/>
                  </a:ext>
                </a:extLst>
              </p:cNvPr>
              <p:cNvSpPr txBox="1"/>
              <p:nvPr/>
            </p:nvSpPr>
            <p:spPr>
              <a:xfrm>
                <a:off x="9733581" y="4489174"/>
                <a:ext cx="2606095" cy="6631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8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1800" b="0" i="1" smtClean="0">
                              <a:latin typeface="Cambria Math" panose="02040503050406030204" pitchFamily="18" charset="0"/>
                              <a:ea typeface="Cambria Math" panose="02040503050406030204" pitchFamily="18" charset="0"/>
                              <a:cs typeface="Arial" panose="020B0604020202020204" pitchFamily="34" charset="0"/>
                            </a:rPr>
                            <m:t>𝑀</m:t>
                          </m:r>
                        </m:num>
                        <m:den>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𝐿</m:t>
                              </m:r>
                            </m:e>
                            <m:sup>
                              <m:r>
                                <a:rPr lang="en-US" i="1">
                                  <a:latin typeface="Cambria Math" panose="02040503050406030204" pitchFamily="18" charset="0"/>
                                  <a:ea typeface="Cambria Math" panose="02040503050406030204" pitchFamily="18" charset="0"/>
                                  <a:cs typeface="Arial" panose="020B0604020202020204" pitchFamily="34" charset="0"/>
                                </a:rPr>
                                <m:t>3</m:t>
                              </m:r>
                            </m:sup>
                          </m:sSup>
                        </m:den>
                      </m:f>
                      <m:f>
                        <m:fPr>
                          <m:ctrlPr>
                            <a:rPr lang="en-US" sz="18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1800" b="0" i="1" smtClean="0">
                              <a:latin typeface="Cambria Math" panose="02040503050406030204" pitchFamily="18" charset="0"/>
                              <a:ea typeface="Cambria Math" panose="02040503050406030204" pitchFamily="18" charset="0"/>
                              <a:cs typeface="Arial" panose="020B0604020202020204" pitchFamily="34" charset="0"/>
                            </a:rPr>
                            <m:t>𝐿</m:t>
                          </m:r>
                        </m:num>
                        <m:den>
                          <m:sSup>
                            <m:sSupPr>
                              <m:ctrlPr>
                                <a:rPr lang="en-US" sz="18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1800" b="0" i="1" smtClean="0">
                                  <a:latin typeface="Cambria Math" panose="02040503050406030204" pitchFamily="18" charset="0"/>
                                  <a:ea typeface="Cambria Math" panose="02040503050406030204" pitchFamily="18" charset="0"/>
                                  <a:cs typeface="Arial" panose="020B0604020202020204" pitchFamily="34" charset="0"/>
                                </a:rPr>
                                <m:t>𝑇</m:t>
                              </m:r>
                            </m:e>
                            <m:sup>
                              <m:r>
                                <a:rPr lang="en-US" sz="1800" b="0" i="1" smtClean="0">
                                  <a:latin typeface="Cambria Math" panose="02040503050406030204" pitchFamily="18" charset="0"/>
                                  <a:ea typeface="Cambria Math" panose="02040503050406030204" pitchFamily="18" charset="0"/>
                                  <a:cs typeface="Arial" panose="020B0604020202020204" pitchFamily="34" charset="0"/>
                                </a:rPr>
                                <m:t>2</m:t>
                              </m:r>
                            </m:sup>
                          </m:sSup>
                        </m:den>
                      </m:f>
                      <m:f>
                        <m:fPr>
                          <m:ctrlPr>
                            <a:rPr lang="en-US" sz="1800" b="0" i="1" smtClean="0">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18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1800" b="0" i="1" smtClean="0">
                                  <a:latin typeface="Cambria Math" panose="02040503050406030204" pitchFamily="18" charset="0"/>
                                  <a:ea typeface="Cambria Math" panose="02040503050406030204" pitchFamily="18" charset="0"/>
                                  <a:cs typeface="Arial" panose="020B0604020202020204" pitchFamily="34" charset="0"/>
                                </a:rPr>
                                <m:t>𝐿</m:t>
                              </m:r>
                            </m:e>
                            <m:sup>
                              <m:r>
                                <a:rPr lang="en-US" sz="1800" b="0" i="1" smtClean="0">
                                  <a:latin typeface="Cambria Math" panose="02040503050406030204" pitchFamily="18" charset="0"/>
                                  <a:ea typeface="Cambria Math" panose="02040503050406030204" pitchFamily="18" charset="0"/>
                                  <a:cs typeface="Arial" panose="020B0604020202020204" pitchFamily="34" charset="0"/>
                                </a:rPr>
                                <m:t>3</m:t>
                              </m:r>
                            </m:sup>
                          </m:sSup>
                        </m:num>
                        <m:den>
                          <m:r>
                            <a:rPr lang="en-US" sz="1800" b="0" i="1" smtClean="0">
                              <a:latin typeface="Cambria Math" panose="02040503050406030204" pitchFamily="18" charset="0"/>
                              <a:ea typeface="Cambria Math" panose="02040503050406030204" pitchFamily="18" charset="0"/>
                              <a:cs typeface="Arial" panose="020B0604020202020204" pitchFamily="34" charset="0"/>
                            </a:rPr>
                            <m:t>𝑇</m:t>
                          </m:r>
                        </m:den>
                      </m:f>
                      <m:f>
                        <m:fPr>
                          <m:ctrlPr>
                            <a:rPr lang="en-US" sz="18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1800" b="0" i="1" smtClean="0">
                              <a:latin typeface="Cambria Math" panose="02040503050406030204" pitchFamily="18" charset="0"/>
                              <a:ea typeface="Cambria Math" panose="02040503050406030204" pitchFamily="18" charset="0"/>
                              <a:cs typeface="Arial" panose="020B0604020202020204" pitchFamily="34" charset="0"/>
                            </a:rPr>
                            <m:t>1</m:t>
                          </m:r>
                        </m:num>
                        <m:den>
                          <m:r>
                            <a:rPr lang="en-US" sz="1800" b="0" i="1" smtClean="0">
                              <a:latin typeface="Cambria Math" panose="02040503050406030204" pitchFamily="18" charset="0"/>
                              <a:ea typeface="Cambria Math" panose="02040503050406030204" pitchFamily="18" charset="0"/>
                              <a:cs typeface="Arial" panose="020B0604020202020204" pitchFamily="34" charset="0"/>
                            </a:rPr>
                            <m:t>𝐿</m:t>
                          </m:r>
                        </m:den>
                      </m:f>
                      <m:r>
                        <a:rPr lang="en-US" sz="18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𝑀</m:t>
                          </m:r>
                        </m:num>
                        <m:den>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𝐿</m:t>
                              </m:r>
                            </m:e>
                            <m:sup>
                              <m:r>
                                <a:rPr lang="en-US" i="1">
                                  <a:latin typeface="Cambria Math" panose="02040503050406030204" pitchFamily="18" charset="0"/>
                                  <a:ea typeface="Cambria Math" panose="02040503050406030204" pitchFamily="18" charset="0"/>
                                  <a:cs typeface="Arial" panose="020B0604020202020204" pitchFamily="34" charset="0"/>
                                </a:rPr>
                                <m:t>3</m:t>
                              </m:r>
                            </m:sup>
                          </m:sSup>
                        </m:den>
                      </m:f>
                      <m:f>
                        <m:fPr>
                          <m:ctrlPr>
                            <a:rPr lang="en-US"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𝐿</m:t>
                              </m:r>
                            </m:e>
                            <m:sup>
                              <m:r>
                                <a:rPr lang="en-US" i="1">
                                  <a:latin typeface="Cambria Math" panose="02040503050406030204" pitchFamily="18" charset="0"/>
                                  <a:ea typeface="Cambria Math" panose="02040503050406030204" pitchFamily="18" charset="0"/>
                                  <a:cs typeface="Arial" panose="020B0604020202020204" pitchFamily="34" charset="0"/>
                                </a:rPr>
                                <m:t>3</m:t>
                              </m:r>
                            </m:sup>
                          </m:sSup>
                        </m:num>
                        <m:den>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𝑇</m:t>
                              </m:r>
                            </m:e>
                            <m:sup>
                              <m:r>
                                <a:rPr lang="en-US" b="0" i="1" smtClean="0">
                                  <a:latin typeface="Cambria Math" panose="02040503050406030204" pitchFamily="18" charset="0"/>
                                  <a:ea typeface="Cambria Math" panose="02040503050406030204" pitchFamily="18" charset="0"/>
                                  <a:cs typeface="Arial" panose="020B0604020202020204" pitchFamily="34" charset="0"/>
                                </a:rPr>
                                <m:t>3</m:t>
                              </m:r>
                            </m:sup>
                          </m:sSup>
                        </m:den>
                      </m:f>
                    </m:oMath>
                  </m:oMathPara>
                </a14:m>
                <a:endParaRPr lang="en-US" dirty="0"/>
              </a:p>
            </p:txBody>
          </p:sp>
        </mc:Choice>
        <mc:Fallback>
          <p:sp>
            <p:nvSpPr>
              <p:cNvPr id="23" name="TextBox 22">
                <a:extLst>
                  <a:ext uri="{FF2B5EF4-FFF2-40B4-BE49-F238E27FC236}">
                    <a16:creationId xmlns:a16="http://schemas.microsoft.com/office/drawing/2014/main" id="{897DD77C-76C0-F108-44F5-A36841B7A8EB}"/>
                  </a:ext>
                </a:extLst>
              </p:cNvPr>
              <p:cNvSpPr txBox="1">
                <a:spLocks noRot="1" noChangeAspect="1" noMove="1" noResize="1" noEditPoints="1" noAdjustHandles="1" noChangeArrowheads="1" noChangeShapeType="1" noTextEdit="1"/>
              </p:cNvSpPr>
              <p:nvPr/>
            </p:nvSpPr>
            <p:spPr>
              <a:xfrm>
                <a:off x="9733581" y="4489174"/>
                <a:ext cx="2606095" cy="66319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FF3C463E-288B-3950-91B6-3D61F0600CC3}"/>
                  </a:ext>
                </a:extLst>
              </p:cNvPr>
              <p:cNvSpPr txBox="1"/>
              <p:nvPr/>
            </p:nvSpPr>
            <p:spPr>
              <a:xfrm>
                <a:off x="9223829" y="3949572"/>
                <a:ext cx="2129971" cy="61093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smtClean="0">
                          <a:latin typeface="Cambria Math" panose="02040503050406030204" pitchFamily="18" charset="0"/>
                          <a:ea typeface="Cambria Math" panose="02040503050406030204" pitchFamily="18" charset="0"/>
                          <a:cs typeface="Arial" panose="020B0604020202020204" pitchFamily="34" charset="0"/>
                        </a:rPr>
                        <m:t>𝜔</m:t>
                      </m:r>
                      <m:r>
                        <a:rPr lang="en-US" sz="18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18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1800" i="1">
                              <a:latin typeface="Cambria Math" panose="02040503050406030204" pitchFamily="18" charset="0"/>
                              <a:ea typeface="Cambria Math" panose="02040503050406030204" pitchFamily="18" charset="0"/>
                              <a:cs typeface="Arial" panose="020B0604020202020204" pitchFamily="34" charset="0"/>
                            </a:rPr>
                            <m:t>𝜌</m:t>
                          </m:r>
                          <m:r>
                            <a:rPr lang="en-US" sz="1800" i="1">
                              <a:latin typeface="Cambria Math" panose="02040503050406030204" pitchFamily="18" charset="0"/>
                              <a:ea typeface="Cambria Math" panose="02040503050406030204" pitchFamily="18" charset="0"/>
                              <a:cs typeface="Arial" panose="020B0604020202020204" pitchFamily="34" charset="0"/>
                            </a:rPr>
                            <m:t>𝑔𝑄𝑆</m:t>
                          </m:r>
                        </m:num>
                        <m:den>
                          <m:r>
                            <a:rPr lang="en-US" sz="1800" b="0" i="1" smtClean="0">
                              <a:latin typeface="Cambria Math" panose="02040503050406030204" pitchFamily="18" charset="0"/>
                              <a:ea typeface="Cambria Math" panose="02040503050406030204" pitchFamily="18" charset="0"/>
                              <a:cs typeface="Arial" panose="020B0604020202020204" pitchFamily="34" charset="0"/>
                            </a:rPr>
                            <m:t>𝐵</m:t>
                          </m:r>
                        </m:den>
                      </m:f>
                    </m:oMath>
                  </m:oMathPara>
                </a14:m>
                <a:endParaRPr lang="en-US" dirty="0"/>
              </a:p>
            </p:txBody>
          </p:sp>
        </mc:Choice>
        <mc:Fallback>
          <p:sp>
            <p:nvSpPr>
              <p:cNvPr id="25" name="TextBox 24">
                <a:extLst>
                  <a:ext uri="{FF2B5EF4-FFF2-40B4-BE49-F238E27FC236}">
                    <a16:creationId xmlns:a16="http://schemas.microsoft.com/office/drawing/2014/main" id="{FF3C463E-288B-3950-91B6-3D61F0600CC3}"/>
                  </a:ext>
                </a:extLst>
              </p:cNvPr>
              <p:cNvSpPr txBox="1">
                <a:spLocks noRot="1" noChangeAspect="1" noMove="1" noResize="1" noEditPoints="1" noAdjustHandles="1" noChangeArrowheads="1" noChangeShapeType="1" noTextEdit="1"/>
              </p:cNvSpPr>
              <p:nvPr/>
            </p:nvSpPr>
            <p:spPr>
              <a:xfrm>
                <a:off x="9223829" y="3949572"/>
                <a:ext cx="2129971" cy="61093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6EDBAAB5-E6A2-C40D-FDAE-EB94C95837CB}"/>
                  </a:ext>
                </a:extLst>
              </p:cNvPr>
              <p:cNvSpPr txBox="1"/>
              <p:nvPr/>
            </p:nvSpPr>
            <p:spPr>
              <a:xfrm>
                <a:off x="6662057" y="5655594"/>
                <a:ext cx="5734421" cy="67095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1800" i="1" smtClean="0">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𝜔</m:t>
                          </m:r>
                        </m:e>
                        <m:sup>
                          <m:r>
                            <a:rPr lang="en-US" sz="1800" b="0" i="1" smtClean="0">
                              <a:latin typeface="Cambria Math" panose="02040503050406030204" pitchFamily="18" charset="0"/>
                              <a:ea typeface="Cambria Math" panose="02040503050406030204" pitchFamily="18" charset="0"/>
                              <a:cs typeface="Arial" panose="020B0604020202020204" pitchFamily="34" charset="0"/>
                            </a:rPr>
                            <m:t>∗</m:t>
                          </m:r>
                        </m:sup>
                      </m:sSup>
                      <m:r>
                        <a:rPr lang="en-US" sz="18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18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𝜔</m:t>
                          </m:r>
                        </m:num>
                        <m:den>
                          <m:r>
                            <a:rPr lang="en-US" sz="1800" b="0" i="1" smtClean="0">
                              <a:latin typeface="Cambria Math" panose="02040503050406030204" pitchFamily="18" charset="0"/>
                              <a:ea typeface="Cambria Math" panose="02040503050406030204" pitchFamily="18" charset="0"/>
                              <a:cs typeface="Arial" panose="020B0604020202020204" pitchFamily="34" charset="0"/>
                            </a:rPr>
                            <m:t>𝜌</m:t>
                          </m:r>
                          <m:sSup>
                            <m:sSupPr>
                              <m:ctrlPr>
                                <a:rPr lang="en-US" sz="18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1800" b="0" i="1" smtClean="0">
                                  <a:latin typeface="Cambria Math" panose="02040503050406030204" pitchFamily="18" charset="0"/>
                                  <a:ea typeface="Cambria Math" panose="02040503050406030204" pitchFamily="18" charset="0"/>
                                  <a:cs typeface="Arial" panose="020B0604020202020204" pitchFamily="34" charset="0"/>
                                </a:rPr>
                                <m:t>(</m:t>
                              </m:r>
                              <m:r>
                                <a:rPr lang="en-US" sz="1800" b="0" i="1" smtClean="0">
                                  <a:latin typeface="Cambria Math" panose="02040503050406030204" pitchFamily="18" charset="0"/>
                                  <a:ea typeface="Cambria Math" panose="02040503050406030204" pitchFamily="18" charset="0"/>
                                  <a:cs typeface="Arial" panose="020B0604020202020204" pitchFamily="34" charset="0"/>
                                </a:rPr>
                                <m:t>𝑔𝑅𝐷</m:t>
                              </m:r>
                              <m:r>
                                <a:rPr lang="en-US" sz="1800" b="0" i="1" smtClean="0">
                                  <a:latin typeface="Cambria Math" panose="02040503050406030204" pitchFamily="18" charset="0"/>
                                  <a:ea typeface="Cambria Math" panose="02040503050406030204" pitchFamily="18" charset="0"/>
                                  <a:cs typeface="Arial" panose="020B0604020202020204" pitchFamily="34" charset="0"/>
                                </a:rPr>
                                <m:t>)</m:t>
                              </m:r>
                            </m:e>
                            <m:sup>
                              <m:r>
                                <a:rPr lang="en-US" sz="1800" b="0" i="1" smtClean="0">
                                  <a:latin typeface="Cambria Math" panose="02040503050406030204" pitchFamily="18" charset="0"/>
                                  <a:ea typeface="Cambria Math" panose="02040503050406030204" pitchFamily="18" charset="0"/>
                                  <a:cs typeface="Arial" panose="020B0604020202020204" pitchFamily="34" charset="0"/>
                                </a:rPr>
                                <m:t>3/2</m:t>
                              </m:r>
                            </m:sup>
                          </m:sSup>
                        </m:den>
                      </m:f>
                      <m:r>
                        <a:rPr lang="en-US" sz="18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18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1800" b="0" i="1" smtClean="0">
                              <a:latin typeface="Cambria Math" panose="02040503050406030204" pitchFamily="18" charset="0"/>
                              <a:ea typeface="Cambria Math" panose="02040503050406030204" pitchFamily="18" charset="0"/>
                              <a:cs typeface="Arial" panose="020B0604020202020204" pitchFamily="34" charset="0"/>
                            </a:rPr>
                            <m:t>𝑑𝑒𝑛𝑠𝑖𝑡𝑦</m:t>
                          </m:r>
                          <m:r>
                            <a:rPr lang="en-US" sz="1800" b="0" i="1" smtClean="0">
                              <a:latin typeface="Cambria Math" panose="02040503050406030204" pitchFamily="18" charset="0"/>
                              <a:ea typeface="Cambria Math" panose="02040503050406030204" pitchFamily="18" charset="0"/>
                              <a:cs typeface="Arial" panose="020B0604020202020204" pitchFamily="34" charset="0"/>
                            </a:rPr>
                            <m:t>×</m:t>
                          </m:r>
                          <m:r>
                            <a:rPr lang="en-US" sz="1800" b="0" i="1" smtClean="0">
                              <a:latin typeface="Cambria Math" panose="02040503050406030204" pitchFamily="18" charset="0"/>
                              <a:ea typeface="Cambria Math" panose="02040503050406030204" pitchFamily="18" charset="0"/>
                              <a:cs typeface="Arial" panose="020B0604020202020204" pitchFamily="34" charset="0"/>
                            </a:rPr>
                            <m:t>𝑣𝑒𝑙𝑜𝑐𝑖𝑡𝑢</m:t>
                          </m:r>
                          <m:r>
                            <a:rPr lang="en-US" sz="1800" b="0" i="1" smtClean="0">
                              <a:latin typeface="Cambria Math" panose="02040503050406030204" pitchFamily="18" charset="0"/>
                              <a:ea typeface="Cambria Math" panose="02040503050406030204" pitchFamily="18" charset="0"/>
                              <a:cs typeface="Arial" panose="020B0604020202020204" pitchFamily="34" charset="0"/>
                            </a:rPr>
                            <m:t> </m:t>
                          </m:r>
                          <m:r>
                            <a:rPr lang="en-US" sz="1800" b="0" i="1" smtClean="0">
                              <a:latin typeface="Cambria Math" panose="02040503050406030204" pitchFamily="18" charset="0"/>
                              <a:ea typeface="Cambria Math" panose="02040503050406030204" pitchFamily="18" charset="0"/>
                              <a:cs typeface="Arial" panose="020B0604020202020204" pitchFamily="34" charset="0"/>
                            </a:rPr>
                            <m:t>𝑐𝑢𝑏𝑒𝑑</m:t>
                          </m:r>
                        </m:num>
                        <m:den>
                          <m:r>
                            <a:rPr lang="en-US" i="1">
                              <a:latin typeface="Cambria Math" panose="02040503050406030204" pitchFamily="18" charset="0"/>
                              <a:ea typeface="Cambria Math" panose="02040503050406030204" pitchFamily="18" charset="0"/>
                              <a:cs typeface="Arial" panose="020B0604020202020204" pitchFamily="34" charset="0"/>
                            </a:rPr>
                            <m:t>𝑑𝑒𝑛𝑠𝑖𝑡𝑦</m:t>
                          </m:r>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𝑣𝑒𝑙𝑜𝑐𝑖𝑡𝑢</m:t>
                          </m:r>
                          <m:r>
                            <a:rPr lang="en-US" i="1">
                              <a:latin typeface="Cambria Math" panose="02040503050406030204" pitchFamily="18" charset="0"/>
                              <a:ea typeface="Cambria Math" panose="02040503050406030204" pitchFamily="18" charset="0"/>
                              <a:cs typeface="Arial" panose="020B0604020202020204" pitchFamily="34" charset="0"/>
                            </a:rPr>
                            <m:t> </m:t>
                          </m:r>
                          <m:r>
                            <a:rPr lang="en-US" i="1">
                              <a:latin typeface="Cambria Math" panose="02040503050406030204" pitchFamily="18" charset="0"/>
                              <a:ea typeface="Cambria Math" panose="02040503050406030204" pitchFamily="18" charset="0"/>
                              <a:cs typeface="Arial" panose="020B0604020202020204" pitchFamily="34" charset="0"/>
                            </a:rPr>
                            <m:t>𝑐𝑢𝑏𝑒𝑑</m:t>
                          </m:r>
                        </m:den>
                      </m:f>
                      <m:r>
                        <a:rPr lang="en-US" b="0" i="1" smtClean="0">
                          <a:latin typeface="Cambria Math" panose="02040503050406030204" pitchFamily="18" charset="0"/>
                          <a:ea typeface="Cambria Math" panose="02040503050406030204" pitchFamily="18" charset="0"/>
                          <a:cs typeface="Arial" panose="020B0604020202020204" pitchFamily="34" charset="0"/>
                        </a:rPr>
                        <m:t>=1</m:t>
                      </m:r>
                    </m:oMath>
                  </m:oMathPara>
                </a14:m>
                <a:endParaRPr lang="en-US" dirty="0"/>
              </a:p>
            </p:txBody>
          </p:sp>
        </mc:Choice>
        <mc:Fallback>
          <p:sp>
            <p:nvSpPr>
              <p:cNvPr id="27" name="TextBox 26">
                <a:extLst>
                  <a:ext uri="{FF2B5EF4-FFF2-40B4-BE49-F238E27FC236}">
                    <a16:creationId xmlns:a16="http://schemas.microsoft.com/office/drawing/2014/main" id="{6EDBAAB5-E6A2-C40D-FDAE-EB94C95837CB}"/>
                  </a:ext>
                </a:extLst>
              </p:cNvPr>
              <p:cNvSpPr txBox="1">
                <a:spLocks noRot="1" noChangeAspect="1" noMove="1" noResize="1" noEditPoints="1" noAdjustHandles="1" noChangeArrowheads="1" noChangeShapeType="1" noTextEdit="1"/>
              </p:cNvSpPr>
              <p:nvPr/>
            </p:nvSpPr>
            <p:spPr>
              <a:xfrm>
                <a:off x="6662057" y="5655594"/>
                <a:ext cx="5734421" cy="670953"/>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2" name="TextBox 31">
                <a:extLst>
                  <a:ext uri="{FF2B5EF4-FFF2-40B4-BE49-F238E27FC236}">
                    <a16:creationId xmlns:a16="http://schemas.microsoft.com/office/drawing/2014/main" id="{C03F94FA-65DF-A103-5D0F-DD110AE06C20}"/>
                  </a:ext>
                </a:extLst>
              </p:cNvPr>
              <p:cNvSpPr txBox="1"/>
              <p:nvPr/>
            </p:nvSpPr>
            <p:spPr>
              <a:xfrm>
                <a:off x="6788401" y="5075703"/>
                <a:ext cx="4091586" cy="6090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ea typeface="Cambria Math" panose="02040503050406030204" pitchFamily="18" charset="0"/>
                          <a:cs typeface="Arial" panose="020B0604020202020204" pitchFamily="34" charset="0"/>
                        </a:rPr>
                        <m:t>𝑔𝑅𝐷</m:t>
                      </m:r>
                      <m:r>
                        <a:rPr lang="en-US" sz="1800" b="0" i="1" smtClean="0">
                          <a:latin typeface="Cambria Math" panose="02040503050406030204" pitchFamily="18" charset="0"/>
                          <a:ea typeface="Cambria Math" panose="02040503050406030204" pitchFamily="18" charset="0"/>
                          <a:cs typeface="Arial" panose="020B0604020202020204" pitchFamily="34" charset="0"/>
                        </a:rPr>
                        <m:t>  </m:t>
                      </m:r>
                      <m:d>
                        <m:dPr>
                          <m:begChr m:val="["/>
                          <m:endChr m:val="]"/>
                          <m:ctrlPr>
                            <a:rPr lang="en-US" sz="1800" b="0" i="1" smtClean="0">
                              <a:latin typeface="Cambria Math" panose="02040503050406030204" pitchFamily="18" charset="0"/>
                              <a:ea typeface="Cambria Math" panose="02040503050406030204" pitchFamily="18" charset="0"/>
                              <a:cs typeface="Arial" panose="020B0604020202020204" pitchFamily="34" charset="0"/>
                            </a:rPr>
                          </m:ctrlPr>
                        </m:dPr>
                        <m:e>
                          <m:r>
                            <a:rPr lang="en-US" sz="1800" b="0" i="1" smtClean="0">
                              <a:latin typeface="Cambria Math" panose="02040503050406030204" pitchFamily="18" charset="0"/>
                              <a:ea typeface="Cambria Math" panose="02040503050406030204" pitchFamily="18" charset="0"/>
                              <a:cs typeface="Arial" panose="020B0604020202020204" pitchFamily="34" charset="0"/>
                            </a:rPr>
                            <m:t>=</m:t>
                          </m:r>
                        </m:e>
                      </m:d>
                      <m:r>
                        <a:rPr lang="en-US" sz="1800" b="0" i="1" smtClean="0">
                          <a:latin typeface="Cambria Math" panose="02040503050406030204" pitchFamily="18" charset="0"/>
                          <a:ea typeface="Cambria Math" panose="02040503050406030204" pitchFamily="18" charset="0"/>
                          <a:cs typeface="Arial" panose="020B0604020202020204" pitchFamily="34" charset="0"/>
                        </a:rPr>
                        <m:t>   </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𝐿</m:t>
                          </m:r>
                        </m:num>
                        <m:den>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𝑇</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den>
                      </m:f>
                      <m:r>
                        <a:rPr lang="en-US" b="0" i="1" smtClean="0">
                          <a:latin typeface="Cambria Math" panose="02040503050406030204" pitchFamily="18" charset="0"/>
                          <a:ea typeface="Cambria Math" panose="02040503050406030204" pitchFamily="18" charset="0"/>
                          <a:cs typeface="Arial" panose="020B0604020202020204" pitchFamily="34" charset="0"/>
                        </a:rPr>
                        <m:t>𝐿</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𝑣𝑒𝑙𝑜𝑐𝑖𝑡𝑦</m:t>
                      </m:r>
                      <m:r>
                        <a:rPr lang="en-US" b="0" i="1" smtClean="0">
                          <a:latin typeface="Cambria Math" panose="02040503050406030204" pitchFamily="18" charset="0"/>
                          <a:ea typeface="Cambria Math" panose="02040503050406030204" pitchFamily="18" charset="0"/>
                          <a:cs typeface="Arial" panose="020B0604020202020204" pitchFamily="34" charset="0"/>
                        </a:rPr>
                        <m:t> </m:t>
                      </m:r>
                      <m:r>
                        <a:rPr lang="en-US" b="0" i="1" smtClean="0">
                          <a:latin typeface="Cambria Math" panose="02040503050406030204" pitchFamily="18" charset="0"/>
                          <a:ea typeface="Cambria Math" panose="02040503050406030204" pitchFamily="18" charset="0"/>
                          <a:cs typeface="Arial" panose="020B0604020202020204" pitchFamily="34" charset="0"/>
                        </a:rPr>
                        <m:t>𝑠𝑞𝑢𝑎𝑟𝑒𝑑</m:t>
                      </m:r>
                    </m:oMath>
                  </m:oMathPara>
                </a14:m>
                <a:endParaRPr lang="en-US" dirty="0"/>
              </a:p>
            </p:txBody>
          </p:sp>
        </mc:Choice>
        <mc:Fallback>
          <p:sp>
            <p:nvSpPr>
              <p:cNvPr id="32" name="TextBox 31">
                <a:extLst>
                  <a:ext uri="{FF2B5EF4-FFF2-40B4-BE49-F238E27FC236}">
                    <a16:creationId xmlns:a16="http://schemas.microsoft.com/office/drawing/2014/main" id="{C03F94FA-65DF-A103-5D0F-DD110AE06C20}"/>
                  </a:ext>
                </a:extLst>
              </p:cNvPr>
              <p:cNvSpPr txBox="1">
                <a:spLocks noRot="1" noChangeAspect="1" noMove="1" noResize="1" noEditPoints="1" noAdjustHandles="1" noChangeArrowheads="1" noChangeShapeType="1" noTextEdit="1"/>
              </p:cNvSpPr>
              <p:nvPr/>
            </p:nvSpPr>
            <p:spPr>
              <a:xfrm>
                <a:off x="6788401" y="5075703"/>
                <a:ext cx="4091586" cy="609077"/>
              </a:xfrm>
              <a:prstGeom prst="rect">
                <a:avLst/>
              </a:prstGeom>
              <a:blipFill>
                <a:blip r:embed="rId11"/>
                <a:stretch>
                  <a:fillRect/>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C6827D44-DCA2-24EA-4DA1-950888753587}"/>
              </a:ext>
            </a:extLst>
          </p:cNvPr>
          <p:cNvSpPr txBox="1"/>
          <p:nvPr/>
        </p:nvSpPr>
        <p:spPr>
          <a:xfrm>
            <a:off x="7066971" y="4155662"/>
            <a:ext cx="3969657" cy="369332"/>
          </a:xfrm>
          <a:prstGeom prst="rect">
            <a:avLst/>
          </a:prstGeom>
          <a:noFill/>
        </p:spPr>
        <p:txBody>
          <a:bodyPr wrap="square" rtlCol="0">
            <a:spAutoFit/>
          </a:bodyPr>
          <a:lstStyle/>
          <a:p>
            <a:pPr algn="l"/>
            <a:r>
              <a:rPr lang="en-US" b="1" dirty="0">
                <a:solidFill>
                  <a:schemeClr val="accent4">
                    <a:lumMod val="50000"/>
                  </a:schemeClr>
                </a:solidFill>
                <a:latin typeface="Arial" panose="020B0604020202020204" pitchFamily="34" charset="0"/>
                <a:cs typeface="Arial" panose="020B0604020202020204" pitchFamily="34" charset="0"/>
              </a:rPr>
              <a:t>Dimension check</a:t>
            </a:r>
          </a:p>
        </p:txBody>
      </p:sp>
      <p:sp>
        <p:nvSpPr>
          <p:cNvPr id="6" name="TextBox 5">
            <a:extLst>
              <a:ext uri="{FF2B5EF4-FFF2-40B4-BE49-F238E27FC236}">
                <a16:creationId xmlns:a16="http://schemas.microsoft.com/office/drawing/2014/main" id="{81385C74-1069-F69F-4418-708C2A29C8D4}"/>
              </a:ext>
            </a:extLst>
          </p:cNvPr>
          <p:cNvSpPr txBox="1"/>
          <p:nvPr/>
        </p:nvSpPr>
        <p:spPr>
          <a:xfrm>
            <a:off x="514476" y="4605175"/>
            <a:ext cx="11435937" cy="413896"/>
          </a:xfrm>
          <a:prstGeom prst="rect">
            <a:avLst/>
          </a:prstGeom>
          <a:noFill/>
        </p:spPr>
        <p:txBody>
          <a:bodyPr wrap="square" rtlCol="0">
            <a:spAutoFit/>
          </a:bodyPr>
          <a:lstStyle/>
          <a:p>
            <a:pPr>
              <a:lnSpc>
                <a:spcPct val="114000"/>
              </a:lnSpc>
            </a:pPr>
            <a:r>
              <a:rPr lang="en-US" sz="2000" b="1" dirty="0">
                <a:latin typeface="Arial" panose="020B0604020202020204" pitchFamily="34" charset="0"/>
                <a:cs typeface="Arial" panose="020B0604020202020204" pitchFamily="34" charset="0"/>
              </a:rPr>
              <a:t>The non-dimensional unit stream power is defined as</a:t>
            </a:r>
          </a:p>
        </p:txBody>
      </p:sp>
      <p:sp>
        <p:nvSpPr>
          <p:cNvPr id="11" name="TextBox 10">
            <a:extLst>
              <a:ext uri="{FF2B5EF4-FFF2-40B4-BE49-F238E27FC236}">
                <a16:creationId xmlns:a16="http://schemas.microsoft.com/office/drawing/2014/main" id="{2CFADC5F-8C3A-C48C-2A65-51D0B080F9F3}"/>
              </a:ext>
            </a:extLst>
          </p:cNvPr>
          <p:cNvSpPr txBox="1"/>
          <p:nvPr/>
        </p:nvSpPr>
        <p:spPr>
          <a:xfrm>
            <a:off x="1155370" y="136525"/>
            <a:ext cx="988125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More on the unit stream power</a:t>
            </a:r>
          </a:p>
        </p:txBody>
      </p:sp>
    </p:spTree>
    <p:extLst>
      <p:ext uri="{BB962C8B-B14F-4D97-AF65-F5344CB8AC3E}">
        <p14:creationId xmlns:p14="http://schemas.microsoft.com/office/powerpoint/2010/main" val="16577584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chemeClr val="tx1"/>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dirty="0"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2204</TotalTime>
  <Words>2335</Words>
  <Application>Microsoft Office PowerPoint</Application>
  <PresentationFormat>Widescreen</PresentationFormat>
  <Paragraphs>335</Paragraphs>
  <Slides>26</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Cambria Math</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VIPARELLI, ENRICA</dc:creator>
  <cp:lastModifiedBy>Viparelli, Enrica</cp:lastModifiedBy>
  <cp:revision>367</cp:revision>
  <dcterms:created xsi:type="dcterms:W3CDTF">2021-02-08T21:22:29Z</dcterms:created>
  <dcterms:modified xsi:type="dcterms:W3CDTF">2026-07-24T03:01:40Z</dcterms:modified>
</cp:coreProperties>
</file>