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9.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351" r:id="rId3"/>
    <p:sldId id="352" r:id="rId4"/>
    <p:sldId id="353" r:id="rId5"/>
    <p:sldId id="354" r:id="rId6"/>
    <p:sldId id="355" r:id="rId7"/>
    <p:sldId id="377" r:id="rId8"/>
    <p:sldId id="356" r:id="rId9"/>
    <p:sldId id="357" r:id="rId10"/>
    <p:sldId id="358" r:id="rId11"/>
    <p:sldId id="359" r:id="rId12"/>
    <p:sldId id="360" r:id="rId13"/>
    <p:sldId id="361" r:id="rId14"/>
    <p:sldId id="362" r:id="rId15"/>
    <p:sldId id="363" r:id="rId16"/>
    <p:sldId id="364" r:id="rId17"/>
    <p:sldId id="365" r:id="rId18"/>
    <p:sldId id="366" r:id="rId19"/>
    <p:sldId id="367" r:id="rId20"/>
    <p:sldId id="368" r:id="rId21"/>
    <p:sldId id="369" r:id="rId22"/>
    <p:sldId id="370" r:id="rId23"/>
    <p:sldId id="371" r:id="rId24"/>
    <p:sldId id="372" r:id="rId25"/>
    <p:sldId id="373" r:id="rId26"/>
    <p:sldId id="374" r:id="rId27"/>
    <p:sldId id="375" r:id="rId28"/>
    <p:sldId id="376" r:id="rId29"/>
    <p:sldId id="350"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A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567"/>
    <p:restoredTop sz="92789"/>
  </p:normalViewPr>
  <p:slideViewPr>
    <p:cSldViewPr snapToGrid="0" snapToObjects="1">
      <p:cViewPr varScale="1">
        <p:scale>
          <a:sx n="59" d="100"/>
          <a:sy n="59" d="100"/>
        </p:scale>
        <p:origin x="390" y="30"/>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Users\viparell\Google%20Drive\Hokkaido_21\Brownlie_Shield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viparell\Google%20Drive\Hokkaido_21\graph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Users\viparell\Google%20Drive\Hokkaido_21\graph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Users\viparell\Documents\corsi\Hokkaido\graphs.xlsx" TargetMode="External"/><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spPr>
            <a:ln w="38100" cap="rnd">
              <a:solidFill>
                <a:srgbClr val="7030A0"/>
              </a:solidFill>
              <a:round/>
            </a:ln>
            <a:effectLst/>
          </c:spPr>
          <c:marker>
            <c:symbol val="none"/>
          </c:marker>
          <c:xVal>
            <c:numRef>
              <c:f>Sheet1!$D$12:$D$37</c:f>
              <c:numCache>
                <c:formatCode>0.000</c:formatCode>
                <c:ptCount val="26"/>
                <c:pt idx="0">
                  <c:v>0.14279470679265391</c:v>
                </c:pt>
                <c:pt idx="1">
                  <c:v>0.26233062720925293</c:v>
                </c:pt>
                <c:pt idx="2">
                  <c:v>0.48193213542520685</c:v>
                </c:pt>
                <c:pt idx="3">
                  <c:v>0.88536586683122842</c:v>
                </c:pt>
                <c:pt idx="4">
                  <c:v>1.6265209570600729</c:v>
                </c:pt>
                <c:pt idx="5">
                  <c:v>2.9881098005553959</c:v>
                </c:pt>
                <c:pt idx="6">
                  <c:v>5.489508230077746</c:v>
                </c:pt>
                <c:pt idx="7">
                  <c:v>10.084870576874462</c:v>
                </c:pt>
                <c:pt idx="8">
                  <c:v>18.527090276512403</c:v>
                </c:pt>
                <c:pt idx="9">
                  <c:v>34.036438196951302</c:v>
                </c:pt>
                <c:pt idx="10">
                  <c:v>62.52892968322935</c:v>
                </c:pt>
                <c:pt idx="11">
                  <c:v>114.87297891471064</c:v>
                </c:pt>
                <c:pt idx="12">
                  <c:v>211.03513768089906</c:v>
                </c:pt>
                <c:pt idx="13">
                  <c:v>387.69630383714843</c:v>
                </c:pt>
                <c:pt idx="14">
                  <c:v>712.24358967303442</c:v>
                </c:pt>
                <c:pt idx="15">
                  <c:v>1308.4750254503758</c:v>
                </c:pt>
                <c:pt idx="16">
                  <c:v>2403.8221151464904</c:v>
                </c:pt>
                <c:pt idx="17">
                  <c:v>4416.1032108950176</c:v>
                </c:pt>
                <c:pt idx="18">
                  <c:v>8112.8996386194021</c:v>
                </c:pt>
                <c:pt idx="19">
                  <c:v>14904.348336770687</c:v>
                </c:pt>
                <c:pt idx="20">
                  <c:v>27381.036280340486</c:v>
                </c:pt>
                <c:pt idx="21">
                  <c:v>50302.175636601074</c:v>
                </c:pt>
                <c:pt idx="22">
                  <c:v>92410.997446149166</c:v>
                </c:pt>
                <c:pt idx="23">
                  <c:v>169769.84277352865</c:v>
                </c:pt>
                <c:pt idx="24">
                  <c:v>311887.1163807534</c:v>
                </c:pt>
                <c:pt idx="25">
                  <c:v>572973.21936065902</c:v>
                </c:pt>
              </c:numCache>
            </c:numRef>
          </c:xVal>
          <c:yVal>
            <c:numRef>
              <c:f>Sheet1!$F$12:$F$37</c:f>
              <c:numCache>
                <c:formatCode>0.00</c:formatCode>
                <c:ptCount val="26"/>
                <c:pt idx="0">
                  <c:v>0.35364328797611561</c:v>
                </c:pt>
                <c:pt idx="1">
                  <c:v>0.2455179711314677</c:v>
                </c:pt>
                <c:pt idx="2">
                  <c:v>0.17045162794831775</c:v>
                </c:pt>
                <c:pt idx="3">
                  <c:v>0.11833658194007145</c:v>
                </c:pt>
                <c:pt idx="4">
                  <c:v>8.2155599401430968E-2</c:v>
                </c:pt>
                <c:pt idx="5">
                  <c:v>5.7039799502902763E-2</c:v>
                </c:pt>
                <c:pt idx="6">
                  <c:v>3.9648672564215691E-2</c:v>
                </c:pt>
                <c:pt idx="7">
                  <c:v>2.7848065275152104E-2</c:v>
                </c:pt>
                <c:pt idx="8">
                  <c:v>2.0469664838404407E-2</c:v>
                </c:pt>
                <c:pt idx="9">
                  <c:v>1.6795176195369063E-2</c:v>
                </c:pt>
                <c:pt idx="10">
                  <c:v>1.6009685037916499E-2</c:v>
                </c:pt>
                <c:pt idx="11">
                  <c:v>1.7103338139542873E-2</c:v>
                </c:pt>
                <c:pt idx="12">
                  <c:v>1.911473509126271E-2</c:v>
                </c:pt>
                <c:pt idx="13">
                  <c:v>2.1344348103153863E-2</c:v>
                </c:pt>
                <c:pt idx="14">
                  <c:v>2.3395301558441859E-2</c:v>
                </c:pt>
                <c:pt idx="15">
                  <c:v>2.5102862247881698E-2</c:v>
                </c:pt>
                <c:pt idx="16">
                  <c:v>2.6440867392921601E-2</c:v>
                </c:pt>
                <c:pt idx="17">
                  <c:v>2.7449106187067404E-2</c:v>
                </c:pt>
                <c:pt idx="18">
                  <c:v>2.8189388432951917E-2</c:v>
                </c:pt>
                <c:pt idx="19">
                  <c:v>2.8723487405723315E-2</c:v>
                </c:pt>
                <c:pt idx="20">
                  <c:v>2.9104253256923507E-2</c:v>
                </c:pt>
                <c:pt idx="21">
                  <c:v>2.937349053738789E-2</c:v>
                </c:pt>
                <c:pt idx="22">
                  <c:v>2.9562795187996409E-2</c:v>
                </c:pt>
                <c:pt idx="23">
                  <c:v>2.9695380348333189E-2</c:v>
                </c:pt>
                <c:pt idx="24">
                  <c:v>2.9787990356685966E-2</c:v>
                </c:pt>
                <c:pt idx="25">
                  <c:v>2.9852557308963565E-2</c:v>
                </c:pt>
              </c:numCache>
            </c:numRef>
          </c:yVal>
          <c:smooth val="0"/>
          <c:extLst>
            <c:ext xmlns:c16="http://schemas.microsoft.com/office/drawing/2014/chart" uri="{C3380CC4-5D6E-409C-BE32-E72D297353CC}">
              <c16:uniqueId val="{00000000-9F46-1C4F-81EB-1A7A2180CE98}"/>
            </c:ext>
          </c:extLst>
        </c:ser>
        <c:ser>
          <c:idx val="1"/>
          <c:order val="1"/>
          <c:spPr>
            <a:ln w="31750" cap="rnd">
              <a:solidFill>
                <a:schemeClr val="tx2"/>
              </a:solidFill>
              <a:round/>
            </a:ln>
            <a:effectLst/>
          </c:spPr>
          <c:marker>
            <c:symbol val="none"/>
          </c:marker>
          <c:xVal>
            <c:numRef>
              <c:f>Sheet1!$I$10:$I$11</c:f>
              <c:numCache>
                <c:formatCode>0.000</c:formatCode>
                <c:ptCount val="2"/>
                <c:pt idx="0">
                  <c:v>1.9879090086225024</c:v>
                </c:pt>
                <c:pt idx="1">
                  <c:v>1.9879090086225024</c:v>
                </c:pt>
              </c:numCache>
            </c:numRef>
          </c:xVal>
          <c:yVal>
            <c:numRef>
              <c:f>Sheet1!$J$10:$J$11</c:f>
              <c:numCache>
                <c:formatCode>General</c:formatCode>
                <c:ptCount val="2"/>
                <c:pt idx="0">
                  <c:v>0</c:v>
                </c:pt>
                <c:pt idx="1">
                  <c:v>0.35</c:v>
                </c:pt>
              </c:numCache>
            </c:numRef>
          </c:yVal>
          <c:smooth val="0"/>
          <c:extLst>
            <c:ext xmlns:c16="http://schemas.microsoft.com/office/drawing/2014/chart" uri="{C3380CC4-5D6E-409C-BE32-E72D297353CC}">
              <c16:uniqueId val="{00000001-9F46-1C4F-81EB-1A7A2180CE98}"/>
            </c:ext>
          </c:extLst>
        </c:ser>
        <c:ser>
          <c:idx val="2"/>
          <c:order val="2"/>
          <c:spPr>
            <a:ln w="31750" cap="rnd">
              <a:solidFill>
                <a:schemeClr val="accent2"/>
              </a:solidFill>
              <a:round/>
            </a:ln>
            <a:effectLst/>
          </c:spPr>
          <c:marker>
            <c:symbol val="none"/>
          </c:marker>
          <c:xVal>
            <c:numRef>
              <c:f>Sheet1!$I$13:$I$14</c:f>
              <c:numCache>
                <c:formatCode>0</c:formatCode>
                <c:ptCount val="2"/>
                <c:pt idx="0">
                  <c:v>359.84996873697241</c:v>
                </c:pt>
                <c:pt idx="1">
                  <c:v>359.84996873697241</c:v>
                </c:pt>
              </c:numCache>
            </c:numRef>
          </c:xVal>
          <c:yVal>
            <c:numRef>
              <c:f>Sheet1!$J$13:$J$14</c:f>
              <c:numCache>
                <c:formatCode>General</c:formatCode>
                <c:ptCount val="2"/>
                <c:pt idx="0">
                  <c:v>0</c:v>
                </c:pt>
                <c:pt idx="1">
                  <c:v>0.35</c:v>
                </c:pt>
              </c:numCache>
            </c:numRef>
          </c:yVal>
          <c:smooth val="0"/>
          <c:extLst>
            <c:ext xmlns:c16="http://schemas.microsoft.com/office/drawing/2014/chart" uri="{C3380CC4-5D6E-409C-BE32-E72D297353CC}">
              <c16:uniqueId val="{00000002-9F46-1C4F-81EB-1A7A2180CE98}"/>
            </c:ext>
          </c:extLst>
        </c:ser>
        <c:ser>
          <c:idx val="3"/>
          <c:order val="3"/>
          <c:spPr>
            <a:ln w="19050" cap="rnd">
              <a:solidFill>
                <a:schemeClr val="accent4"/>
              </a:solidFill>
              <a:round/>
            </a:ln>
            <a:effectLst/>
          </c:spPr>
          <c:marker>
            <c:symbol val="none"/>
          </c:marker>
          <c:xVal>
            <c:numRef>
              <c:f>Sheet1!$H$16:$H$17</c:f>
              <c:numCache>
                <c:formatCode>General</c:formatCode>
                <c:ptCount val="2"/>
                <c:pt idx="0">
                  <c:v>64</c:v>
                </c:pt>
                <c:pt idx="1">
                  <c:v>64</c:v>
                </c:pt>
              </c:numCache>
            </c:numRef>
          </c:xVal>
          <c:yVal>
            <c:numRef>
              <c:f>Sheet1!$I$16:$I$17</c:f>
              <c:numCache>
                <c:formatCode>0</c:formatCode>
                <c:ptCount val="2"/>
                <c:pt idx="0">
                  <c:v>2059901419.0004337</c:v>
                </c:pt>
                <c:pt idx="1">
                  <c:v>2059901419.0004337</c:v>
                </c:pt>
              </c:numCache>
            </c:numRef>
          </c:yVal>
          <c:smooth val="0"/>
          <c:extLst>
            <c:ext xmlns:c16="http://schemas.microsoft.com/office/drawing/2014/chart" uri="{C3380CC4-5D6E-409C-BE32-E72D297353CC}">
              <c16:uniqueId val="{00000003-9F46-1C4F-81EB-1A7A2180CE98}"/>
            </c:ext>
          </c:extLst>
        </c:ser>
        <c:dLbls>
          <c:showLegendKey val="0"/>
          <c:showVal val="0"/>
          <c:showCatName val="0"/>
          <c:showSerName val="0"/>
          <c:showPercent val="0"/>
          <c:showBubbleSize val="0"/>
        </c:dLbls>
        <c:axId val="1297776511"/>
        <c:axId val="1297778159"/>
      </c:scatterChart>
      <c:valAx>
        <c:axId val="1297776511"/>
        <c:scaling>
          <c:logBase val="10"/>
          <c:orientation val="minMax"/>
          <c:min val="0.1"/>
        </c:scaling>
        <c:delete val="0"/>
        <c:axPos val="b"/>
        <c:majorGridlines>
          <c:spPr>
            <a:ln w="9525" cap="flat" cmpd="sng" algn="ctr">
              <a:solidFill>
                <a:schemeClr val="bg2">
                  <a:lumMod val="50000"/>
                </a:schemeClr>
              </a:solidFill>
              <a:round/>
            </a:ln>
            <a:effectLst/>
          </c:spPr>
        </c:majorGridlines>
        <c:title>
          <c:tx>
            <c:rich>
              <a:bodyPr rot="0" spcFirstLastPara="1" vertOverflow="ellipsis" vert="horz" wrap="square" anchor="ctr" anchorCtr="1"/>
              <a:lstStyle/>
              <a:p>
                <a:pPr>
                  <a:defRPr sz="2000" b="0"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en-US" sz="2000">
                    <a:latin typeface="Calibri" panose="020F0502020204030204" pitchFamily="34" charset="0"/>
                    <a:cs typeface="Calibri" panose="020F0502020204030204" pitchFamily="34" charset="0"/>
                  </a:rPr>
                  <a:t>Re</a:t>
                </a:r>
                <a:r>
                  <a:rPr lang="en-US" sz="2000" baseline="-25000">
                    <a:latin typeface="Calibri" panose="020F0502020204030204" pitchFamily="34" charset="0"/>
                    <a:cs typeface="Calibri" panose="020F0502020204030204" pitchFamily="34" charset="0"/>
                  </a:rPr>
                  <a:t>p</a:t>
                </a:r>
              </a:p>
            </c:rich>
          </c:tx>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en-US"/>
            </a:p>
          </c:txPr>
        </c:title>
        <c:numFmt formatCode="0.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297778159"/>
        <c:crosses val="autoZero"/>
        <c:crossBetween val="midCat"/>
      </c:valAx>
      <c:valAx>
        <c:axId val="1297778159"/>
        <c:scaling>
          <c:orientation val="minMax"/>
          <c:max val="0.2"/>
        </c:scaling>
        <c:delete val="0"/>
        <c:axPos val="l"/>
        <c:majorGridlines>
          <c:spPr>
            <a:ln w="9525" cap="flat" cmpd="sng" algn="ctr">
              <a:solidFill>
                <a:schemeClr val="bg2">
                  <a:lumMod val="50000"/>
                </a:schemeClr>
              </a:solidFill>
              <a:round/>
            </a:ln>
            <a:effectLst/>
          </c:spPr>
        </c:majorGridlines>
        <c:title>
          <c:tx>
            <c:rich>
              <a:bodyPr rot="-5400000" spcFirstLastPara="1" vertOverflow="ellipsis" vert="horz" wrap="square" anchor="ctr" anchorCtr="1"/>
              <a:lstStyle/>
              <a:p>
                <a:pPr>
                  <a:defRPr sz="20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2000" baseline="0" dirty="0">
                    <a:latin typeface="Symbol" pitchFamily="2" charset="2"/>
                  </a:rPr>
                  <a:t>t</a:t>
                </a:r>
                <a:r>
                  <a:rPr lang="en-US" sz="2000" baseline="30000" dirty="0"/>
                  <a:t>*</a:t>
                </a:r>
              </a:p>
            </c:rich>
          </c:tx>
          <c:layout>
            <c:manualLayout>
              <c:xMode val="edge"/>
              <c:yMode val="edge"/>
              <c:x val="4.6547711404189293E-3"/>
              <c:y val="0.39760371537716199"/>
            </c:manualLayout>
          </c:layout>
          <c:overlay val="0"/>
          <c:spPr>
            <a:noFill/>
            <a:ln>
              <a:noFill/>
            </a:ln>
            <a:effectLst/>
          </c:spPr>
          <c:txPr>
            <a:bodyPr rot="-5400000" spcFirstLastPara="1" vertOverflow="ellipsis" vert="horz" wrap="square" anchor="ctr" anchorCtr="1"/>
            <a:lstStyle/>
            <a:p>
              <a:pPr>
                <a:defRPr sz="20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297776511"/>
        <c:crossesAt val="0.1"/>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Arial" panose="020B0604020202020204" pitchFamily="34" charset="0"/>
          <a:cs typeface="Arial" panose="020B060402020202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206576510393497"/>
          <c:y val="3.731435317310227E-2"/>
          <c:w val="0.81856508737984612"/>
          <c:h val="0.87365608774885672"/>
        </c:manualLayout>
      </c:layout>
      <c:scatterChart>
        <c:scatterStyle val="lineMarker"/>
        <c:varyColors val="0"/>
        <c:ser>
          <c:idx val="0"/>
          <c:order val="0"/>
          <c:tx>
            <c:v>grain independence</c:v>
          </c:tx>
          <c:spPr>
            <a:ln w="31750" cap="rnd">
              <a:solidFill>
                <a:srgbClr val="002060"/>
              </a:solidFill>
              <a:round/>
            </a:ln>
            <a:effectLst/>
          </c:spPr>
          <c:marker>
            <c:symbol val="none"/>
          </c:marker>
          <c:xVal>
            <c:numRef>
              <c:f>Sheet2!$B$3:$B$18</c:f>
              <c:numCache>
                <c:formatCode>General</c:formatCode>
                <c:ptCount val="16"/>
                <c:pt idx="0">
                  <c:v>0.1</c:v>
                </c:pt>
                <c:pt idx="1">
                  <c:v>0.2</c:v>
                </c:pt>
                <c:pt idx="2">
                  <c:v>0.30000000000000004</c:v>
                </c:pt>
                <c:pt idx="3">
                  <c:v>0.4</c:v>
                </c:pt>
                <c:pt idx="4">
                  <c:v>0.5</c:v>
                </c:pt>
                <c:pt idx="5">
                  <c:v>0.6</c:v>
                </c:pt>
                <c:pt idx="6">
                  <c:v>0.7</c:v>
                </c:pt>
                <c:pt idx="7">
                  <c:v>0.79999999999999993</c:v>
                </c:pt>
                <c:pt idx="8">
                  <c:v>0.89999999999999991</c:v>
                </c:pt>
                <c:pt idx="9">
                  <c:v>0.99999999999999989</c:v>
                </c:pt>
                <c:pt idx="10">
                  <c:v>2</c:v>
                </c:pt>
                <c:pt idx="11">
                  <c:v>3</c:v>
                </c:pt>
                <c:pt idx="12">
                  <c:v>4</c:v>
                </c:pt>
                <c:pt idx="13">
                  <c:v>5</c:v>
                </c:pt>
                <c:pt idx="14">
                  <c:v>6</c:v>
                </c:pt>
                <c:pt idx="15">
                  <c:v>7</c:v>
                </c:pt>
              </c:numCache>
            </c:numRef>
          </c:xVal>
          <c:yVal>
            <c:numRef>
              <c:f>Sheet2!$C$3:$C$18</c:f>
              <c:numCache>
                <c:formatCode>General</c:formatCode>
                <c:ptCount val="16"/>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numCache>
            </c:numRef>
          </c:yVal>
          <c:smooth val="0"/>
          <c:extLst>
            <c:ext xmlns:c16="http://schemas.microsoft.com/office/drawing/2014/chart" uri="{C3380CC4-5D6E-409C-BE32-E72D297353CC}">
              <c16:uniqueId val="{00000000-D447-A14C-A431-6ACD5232F81B}"/>
            </c:ext>
          </c:extLst>
        </c:ser>
        <c:ser>
          <c:idx val="1"/>
          <c:order val="1"/>
          <c:tx>
            <c:v>equal threshold</c:v>
          </c:tx>
          <c:spPr>
            <a:ln w="31750" cap="rnd">
              <a:solidFill>
                <a:srgbClr val="C00000"/>
              </a:solidFill>
              <a:round/>
            </a:ln>
            <a:effectLst/>
          </c:spPr>
          <c:marker>
            <c:symbol val="none"/>
          </c:marker>
          <c:xVal>
            <c:numRef>
              <c:f>Sheet2!$B$3:$B$18</c:f>
              <c:numCache>
                <c:formatCode>General</c:formatCode>
                <c:ptCount val="16"/>
                <c:pt idx="0">
                  <c:v>0.1</c:v>
                </c:pt>
                <c:pt idx="1">
                  <c:v>0.2</c:v>
                </c:pt>
                <c:pt idx="2">
                  <c:v>0.30000000000000004</c:v>
                </c:pt>
                <c:pt idx="3">
                  <c:v>0.4</c:v>
                </c:pt>
                <c:pt idx="4">
                  <c:v>0.5</c:v>
                </c:pt>
                <c:pt idx="5">
                  <c:v>0.6</c:v>
                </c:pt>
                <c:pt idx="6">
                  <c:v>0.7</c:v>
                </c:pt>
                <c:pt idx="7">
                  <c:v>0.79999999999999993</c:v>
                </c:pt>
                <c:pt idx="8">
                  <c:v>0.89999999999999991</c:v>
                </c:pt>
                <c:pt idx="9">
                  <c:v>0.99999999999999989</c:v>
                </c:pt>
                <c:pt idx="10">
                  <c:v>2</c:v>
                </c:pt>
                <c:pt idx="11">
                  <c:v>3</c:v>
                </c:pt>
                <c:pt idx="12">
                  <c:v>4</c:v>
                </c:pt>
                <c:pt idx="13">
                  <c:v>5</c:v>
                </c:pt>
                <c:pt idx="14">
                  <c:v>6</c:v>
                </c:pt>
                <c:pt idx="15">
                  <c:v>7</c:v>
                </c:pt>
              </c:numCache>
            </c:numRef>
          </c:xVal>
          <c:yVal>
            <c:numRef>
              <c:f>Sheet2!$D$3:$D$18</c:f>
              <c:numCache>
                <c:formatCode>0.0</c:formatCode>
                <c:ptCount val="16"/>
                <c:pt idx="0">
                  <c:v>10</c:v>
                </c:pt>
                <c:pt idx="1">
                  <c:v>5</c:v>
                </c:pt>
                <c:pt idx="2">
                  <c:v>3.333333333333333</c:v>
                </c:pt>
                <c:pt idx="3">
                  <c:v>2.5</c:v>
                </c:pt>
                <c:pt idx="4">
                  <c:v>2</c:v>
                </c:pt>
                <c:pt idx="5">
                  <c:v>1.6666666666666667</c:v>
                </c:pt>
                <c:pt idx="6">
                  <c:v>1.4285714285714286</c:v>
                </c:pt>
                <c:pt idx="7">
                  <c:v>1.25</c:v>
                </c:pt>
                <c:pt idx="8">
                  <c:v>1.1111111111111112</c:v>
                </c:pt>
                <c:pt idx="9">
                  <c:v>1</c:v>
                </c:pt>
                <c:pt idx="10">
                  <c:v>0.5</c:v>
                </c:pt>
                <c:pt idx="11">
                  <c:v>0.33333333333333331</c:v>
                </c:pt>
                <c:pt idx="12">
                  <c:v>0.25</c:v>
                </c:pt>
                <c:pt idx="13">
                  <c:v>0.2</c:v>
                </c:pt>
                <c:pt idx="14">
                  <c:v>0.16666666666666666</c:v>
                </c:pt>
                <c:pt idx="15">
                  <c:v>0.14285714285714285</c:v>
                </c:pt>
              </c:numCache>
            </c:numRef>
          </c:yVal>
          <c:smooth val="0"/>
          <c:extLst>
            <c:ext xmlns:c16="http://schemas.microsoft.com/office/drawing/2014/chart" uri="{C3380CC4-5D6E-409C-BE32-E72D297353CC}">
              <c16:uniqueId val="{00000001-D447-A14C-A431-6ACD5232F81B}"/>
            </c:ext>
          </c:extLst>
        </c:ser>
        <c:ser>
          <c:idx val="2"/>
          <c:order val="2"/>
          <c:tx>
            <c:v>gamma = 0.8</c:v>
          </c:tx>
          <c:spPr>
            <a:ln w="28575" cap="rnd">
              <a:solidFill>
                <a:srgbClr val="00B050"/>
              </a:solidFill>
              <a:round/>
            </a:ln>
            <a:effectLst/>
          </c:spPr>
          <c:marker>
            <c:symbol val="none"/>
          </c:marker>
          <c:xVal>
            <c:numRef>
              <c:f>Sheet2!$B$3:$B$18</c:f>
              <c:numCache>
                <c:formatCode>General</c:formatCode>
                <c:ptCount val="16"/>
                <c:pt idx="0">
                  <c:v>0.1</c:v>
                </c:pt>
                <c:pt idx="1">
                  <c:v>0.2</c:v>
                </c:pt>
                <c:pt idx="2">
                  <c:v>0.30000000000000004</c:v>
                </c:pt>
                <c:pt idx="3">
                  <c:v>0.4</c:v>
                </c:pt>
                <c:pt idx="4">
                  <c:v>0.5</c:v>
                </c:pt>
                <c:pt idx="5">
                  <c:v>0.6</c:v>
                </c:pt>
                <c:pt idx="6">
                  <c:v>0.7</c:v>
                </c:pt>
                <c:pt idx="7">
                  <c:v>0.79999999999999993</c:v>
                </c:pt>
                <c:pt idx="8">
                  <c:v>0.89999999999999991</c:v>
                </c:pt>
                <c:pt idx="9">
                  <c:v>0.99999999999999989</c:v>
                </c:pt>
                <c:pt idx="10">
                  <c:v>2</c:v>
                </c:pt>
                <c:pt idx="11">
                  <c:v>3</c:v>
                </c:pt>
                <c:pt idx="12">
                  <c:v>4</c:v>
                </c:pt>
                <c:pt idx="13">
                  <c:v>5</c:v>
                </c:pt>
                <c:pt idx="14">
                  <c:v>6</c:v>
                </c:pt>
                <c:pt idx="15">
                  <c:v>7</c:v>
                </c:pt>
              </c:numCache>
            </c:numRef>
          </c:xVal>
          <c:yVal>
            <c:numRef>
              <c:f>Sheet2!$E$3:$E$18</c:f>
              <c:numCache>
                <c:formatCode>General</c:formatCode>
                <c:ptCount val="16"/>
                <c:pt idx="0">
                  <c:v>6.3095734448019316</c:v>
                </c:pt>
                <c:pt idx="1">
                  <c:v>3.6238983183884779</c:v>
                </c:pt>
                <c:pt idx="2">
                  <c:v>2.6200102853220759</c:v>
                </c:pt>
                <c:pt idx="3">
                  <c:v>2.0813830185046829</c:v>
                </c:pt>
                <c:pt idx="4">
                  <c:v>1.7411011265922482</c:v>
                </c:pt>
                <c:pt idx="5">
                  <c:v>1.5048007524123908</c:v>
                </c:pt>
                <c:pt idx="6">
                  <c:v>1.3302141644211969</c:v>
                </c:pt>
                <c:pt idx="7">
                  <c:v>1.1954406247375462</c:v>
                </c:pt>
                <c:pt idx="8">
                  <c:v>1.0879426248455299</c:v>
                </c:pt>
                <c:pt idx="9">
                  <c:v>1</c:v>
                </c:pt>
                <c:pt idx="10">
                  <c:v>0.57434917749851755</c:v>
                </c:pt>
                <c:pt idx="11">
                  <c:v>0.41524364653850571</c:v>
                </c:pt>
                <c:pt idx="12">
                  <c:v>0.32987697769322361</c:v>
                </c:pt>
                <c:pt idx="13">
                  <c:v>0.27594593229224296</c:v>
                </c:pt>
                <c:pt idx="14">
                  <c:v>0.23849484685087588</c:v>
                </c:pt>
                <c:pt idx="15">
                  <c:v>0.2108247373706503</c:v>
                </c:pt>
              </c:numCache>
            </c:numRef>
          </c:yVal>
          <c:smooth val="0"/>
          <c:extLst>
            <c:ext xmlns:c16="http://schemas.microsoft.com/office/drawing/2014/chart" uri="{C3380CC4-5D6E-409C-BE32-E72D297353CC}">
              <c16:uniqueId val="{00000002-D447-A14C-A431-6ACD5232F81B}"/>
            </c:ext>
          </c:extLst>
        </c:ser>
        <c:dLbls>
          <c:showLegendKey val="0"/>
          <c:showVal val="0"/>
          <c:showCatName val="0"/>
          <c:showSerName val="0"/>
          <c:showPercent val="0"/>
          <c:showBubbleSize val="0"/>
        </c:dLbls>
        <c:axId val="198677744"/>
        <c:axId val="199000816"/>
      </c:scatterChart>
      <c:valAx>
        <c:axId val="198677744"/>
        <c:scaling>
          <c:logBase val="10"/>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99000816"/>
        <c:crossesAt val="1.0000000000000002E-2"/>
        <c:crossBetween val="midCat"/>
      </c:valAx>
      <c:valAx>
        <c:axId val="199000816"/>
        <c:scaling>
          <c:logBase val="10"/>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98677744"/>
        <c:crossesAt val="1.0000000000000002E-2"/>
        <c:crossBetween val="midCat"/>
      </c:valAx>
      <c:spPr>
        <a:noFill/>
        <a:ln>
          <a:noFill/>
        </a:ln>
        <a:effectLst/>
      </c:spPr>
    </c:plotArea>
    <c:legend>
      <c:legendPos val="l"/>
      <c:layout>
        <c:manualLayout>
          <c:xMode val="edge"/>
          <c:yMode val="edge"/>
          <c:x val="0.47568993716875063"/>
          <c:y val="7.724048054493883E-2"/>
          <c:w val="0.52431011826544016"/>
          <c:h val="0.1742983873740673"/>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Arial" panose="020B0604020202020204" pitchFamily="34" charset="0"/>
          <a:cs typeface="Arial" panose="020B06040202020202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3206576510393497"/>
          <c:y val="3.731435317310227E-2"/>
          <c:w val="0.81856508737984612"/>
          <c:h val="0.87365608774885672"/>
        </c:manualLayout>
      </c:layout>
      <c:scatterChart>
        <c:scatterStyle val="lineMarker"/>
        <c:varyColors val="0"/>
        <c:ser>
          <c:idx val="0"/>
          <c:order val="0"/>
          <c:tx>
            <c:v>grain independence</c:v>
          </c:tx>
          <c:spPr>
            <a:ln w="31750" cap="rnd">
              <a:solidFill>
                <a:srgbClr val="002060"/>
              </a:solidFill>
              <a:round/>
            </a:ln>
            <a:effectLst/>
          </c:spPr>
          <c:marker>
            <c:symbol val="none"/>
          </c:marker>
          <c:xVal>
            <c:numRef>
              <c:f>Sheet2!$B$3:$B$18</c:f>
              <c:numCache>
                <c:formatCode>General</c:formatCode>
                <c:ptCount val="16"/>
                <c:pt idx="0">
                  <c:v>0.1</c:v>
                </c:pt>
                <c:pt idx="1">
                  <c:v>0.2</c:v>
                </c:pt>
                <c:pt idx="2">
                  <c:v>0.30000000000000004</c:v>
                </c:pt>
                <c:pt idx="3">
                  <c:v>0.4</c:v>
                </c:pt>
                <c:pt idx="4">
                  <c:v>0.5</c:v>
                </c:pt>
                <c:pt idx="5">
                  <c:v>0.6</c:v>
                </c:pt>
                <c:pt idx="6">
                  <c:v>0.7</c:v>
                </c:pt>
                <c:pt idx="7">
                  <c:v>0.79999999999999993</c:v>
                </c:pt>
                <c:pt idx="8">
                  <c:v>0.89999999999999991</c:v>
                </c:pt>
                <c:pt idx="9">
                  <c:v>0.99999999999999989</c:v>
                </c:pt>
                <c:pt idx="10">
                  <c:v>2</c:v>
                </c:pt>
                <c:pt idx="11">
                  <c:v>3</c:v>
                </c:pt>
                <c:pt idx="12">
                  <c:v>4</c:v>
                </c:pt>
                <c:pt idx="13">
                  <c:v>5</c:v>
                </c:pt>
                <c:pt idx="14">
                  <c:v>6</c:v>
                </c:pt>
                <c:pt idx="15">
                  <c:v>7</c:v>
                </c:pt>
              </c:numCache>
            </c:numRef>
          </c:xVal>
          <c:yVal>
            <c:numRef>
              <c:f>Sheet2!$C$3:$C$18</c:f>
              <c:numCache>
                <c:formatCode>General</c:formatCode>
                <c:ptCount val="16"/>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numCache>
            </c:numRef>
          </c:yVal>
          <c:smooth val="0"/>
          <c:extLst>
            <c:ext xmlns:c16="http://schemas.microsoft.com/office/drawing/2014/chart" uri="{C3380CC4-5D6E-409C-BE32-E72D297353CC}">
              <c16:uniqueId val="{00000000-DFD3-764E-A9C9-9E2A41D9736C}"/>
            </c:ext>
          </c:extLst>
        </c:ser>
        <c:ser>
          <c:idx val="1"/>
          <c:order val="1"/>
          <c:tx>
            <c:v>equal threshold</c:v>
          </c:tx>
          <c:spPr>
            <a:ln w="31750" cap="rnd">
              <a:solidFill>
                <a:srgbClr val="C00000"/>
              </a:solidFill>
              <a:round/>
            </a:ln>
            <a:effectLst/>
          </c:spPr>
          <c:marker>
            <c:symbol val="none"/>
          </c:marker>
          <c:xVal>
            <c:numRef>
              <c:f>Sheet2!$B$3:$B$18</c:f>
              <c:numCache>
                <c:formatCode>General</c:formatCode>
                <c:ptCount val="16"/>
                <c:pt idx="0">
                  <c:v>0.1</c:v>
                </c:pt>
                <c:pt idx="1">
                  <c:v>0.2</c:v>
                </c:pt>
                <c:pt idx="2">
                  <c:v>0.30000000000000004</c:v>
                </c:pt>
                <c:pt idx="3">
                  <c:v>0.4</c:v>
                </c:pt>
                <c:pt idx="4">
                  <c:v>0.5</c:v>
                </c:pt>
                <c:pt idx="5">
                  <c:v>0.6</c:v>
                </c:pt>
                <c:pt idx="6">
                  <c:v>0.7</c:v>
                </c:pt>
                <c:pt idx="7">
                  <c:v>0.79999999999999993</c:v>
                </c:pt>
                <c:pt idx="8">
                  <c:v>0.89999999999999991</c:v>
                </c:pt>
                <c:pt idx="9">
                  <c:v>0.99999999999999989</c:v>
                </c:pt>
                <c:pt idx="10">
                  <c:v>2</c:v>
                </c:pt>
                <c:pt idx="11">
                  <c:v>3</c:v>
                </c:pt>
                <c:pt idx="12">
                  <c:v>4</c:v>
                </c:pt>
                <c:pt idx="13">
                  <c:v>5</c:v>
                </c:pt>
                <c:pt idx="14">
                  <c:v>6</c:v>
                </c:pt>
                <c:pt idx="15">
                  <c:v>7</c:v>
                </c:pt>
              </c:numCache>
            </c:numRef>
          </c:xVal>
          <c:yVal>
            <c:numRef>
              <c:f>Sheet2!$D$3:$D$18</c:f>
              <c:numCache>
                <c:formatCode>0.0</c:formatCode>
                <c:ptCount val="16"/>
                <c:pt idx="0">
                  <c:v>10</c:v>
                </c:pt>
                <c:pt idx="1">
                  <c:v>5</c:v>
                </c:pt>
                <c:pt idx="2">
                  <c:v>3.333333333333333</c:v>
                </c:pt>
                <c:pt idx="3">
                  <c:v>2.5</c:v>
                </c:pt>
                <c:pt idx="4">
                  <c:v>2</c:v>
                </c:pt>
                <c:pt idx="5">
                  <c:v>1.6666666666666667</c:v>
                </c:pt>
                <c:pt idx="6">
                  <c:v>1.4285714285714286</c:v>
                </c:pt>
                <c:pt idx="7">
                  <c:v>1.25</c:v>
                </c:pt>
                <c:pt idx="8">
                  <c:v>1.1111111111111112</c:v>
                </c:pt>
                <c:pt idx="9">
                  <c:v>1</c:v>
                </c:pt>
                <c:pt idx="10">
                  <c:v>0.5</c:v>
                </c:pt>
                <c:pt idx="11">
                  <c:v>0.33333333333333331</c:v>
                </c:pt>
                <c:pt idx="12">
                  <c:v>0.25</c:v>
                </c:pt>
                <c:pt idx="13">
                  <c:v>0.2</c:v>
                </c:pt>
                <c:pt idx="14">
                  <c:v>0.16666666666666666</c:v>
                </c:pt>
                <c:pt idx="15">
                  <c:v>0.14285714285714285</c:v>
                </c:pt>
              </c:numCache>
            </c:numRef>
          </c:yVal>
          <c:smooth val="0"/>
          <c:extLst>
            <c:ext xmlns:c16="http://schemas.microsoft.com/office/drawing/2014/chart" uri="{C3380CC4-5D6E-409C-BE32-E72D297353CC}">
              <c16:uniqueId val="{00000001-DFD3-764E-A9C9-9E2A41D9736C}"/>
            </c:ext>
          </c:extLst>
        </c:ser>
        <c:ser>
          <c:idx val="2"/>
          <c:order val="2"/>
          <c:tx>
            <c:v>gamma = 0.8 modified</c:v>
          </c:tx>
          <c:spPr>
            <a:ln w="28575" cap="rnd">
              <a:solidFill>
                <a:srgbClr val="00B050"/>
              </a:solidFill>
              <a:round/>
            </a:ln>
            <a:effectLst/>
          </c:spPr>
          <c:marker>
            <c:symbol val="none"/>
          </c:marker>
          <c:xVal>
            <c:numRef>
              <c:f>Sheet2!$B$3:$B$9</c:f>
              <c:numCache>
                <c:formatCode>General</c:formatCode>
                <c:ptCount val="7"/>
                <c:pt idx="0">
                  <c:v>0.1</c:v>
                </c:pt>
                <c:pt idx="1">
                  <c:v>0.2</c:v>
                </c:pt>
                <c:pt idx="2">
                  <c:v>0.30000000000000004</c:v>
                </c:pt>
                <c:pt idx="3">
                  <c:v>0.4</c:v>
                </c:pt>
                <c:pt idx="4">
                  <c:v>0.5</c:v>
                </c:pt>
                <c:pt idx="5">
                  <c:v>0.6</c:v>
                </c:pt>
                <c:pt idx="6">
                  <c:v>0.7</c:v>
                </c:pt>
              </c:numCache>
            </c:numRef>
          </c:xVal>
          <c:yVal>
            <c:numRef>
              <c:f>Sheet2!$E$3:$E$9</c:f>
              <c:numCache>
                <c:formatCode>General</c:formatCode>
                <c:ptCount val="7"/>
                <c:pt idx="0">
                  <c:v>6.3095734448019316</c:v>
                </c:pt>
                <c:pt idx="1">
                  <c:v>3.6238983183884779</c:v>
                </c:pt>
                <c:pt idx="2">
                  <c:v>2.6200102853220759</c:v>
                </c:pt>
                <c:pt idx="3">
                  <c:v>2.0813830185046829</c:v>
                </c:pt>
                <c:pt idx="4">
                  <c:v>1.7411011265922482</c:v>
                </c:pt>
                <c:pt idx="5">
                  <c:v>1.5048007524123908</c:v>
                </c:pt>
                <c:pt idx="6">
                  <c:v>1.3302141644211969</c:v>
                </c:pt>
              </c:numCache>
            </c:numRef>
          </c:yVal>
          <c:smooth val="0"/>
          <c:extLst>
            <c:ext xmlns:c16="http://schemas.microsoft.com/office/drawing/2014/chart" uri="{C3380CC4-5D6E-409C-BE32-E72D297353CC}">
              <c16:uniqueId val="{00000002-DFD3-764E-A9C9-9E2A41D9736C}"/>
            </c:ext>
          </c:extLst>
        </c:ser>
        <c:ser>
          <c:idx val="3"/>
          <c:order val="3"/>
          <c:spPr>
            <a:ln w="19050" cap="rnd">
              <a:solidFill>
                <a:srgbClr val="00B050"/>
              </a:solidFill>
              <a:prstDash val="dash"/>
              <a:round/>
            </a:ln>
            <a:effectLst/>
          </c:spPr>
          <c:marker>
            <c:symbol val="none"/>
          </c:marker>
          <c:xVal>
            <c:numRef>
              <c:f>Sheet2!$B$9:$B$19</c:f>
              <c:numCache>
                <c:formatCode>General</c:formatCode>
                <c:ptCount val="11"/>
                <c:pt idx="0">
                  <c:v>0.7</c:v>
                </c:pt>
                <c:pt idx="1">
                  <c:v>0.79999999999999993</c:v>
                </c:pt>
                <c:pt idx="2">
                  <c:v>0.89999999999999991</c:v>
                </c:pt>
                <c:pt idx="3">
                  <c:v>0.99999999999999989</c:v>
                </c:pt>
                <c:pt idx="4">
                  <c:v>2</c:v>
                </c:pt>
                <c:pt idx="5">
                  <c:v>3</c:v>
                </c:pt>
                <c:pt idx="6">
                  <c:v>4</c:v>
                </c:pt>
                <c:pt idx="7">
                  <c:v>5</c:v>
                </c:pt>
                <c:pt idx="8">
                  <c:v>6</c:v>
                </c:pt>
                <c:pt idx="9">
                  <c:v>7</c:v>
                </c:pt>
                <c:pt idx="10">
                  <c:v>8</c:v>
                </c:pt>
              </c:numCache>
            </c:numRef>
          </c:xVal>
          <c:yVal>
            <c:numRef>
              <c:f>Sheet2!$E$9:$E$19</c:f>
              <c:numCache>
                <c:formatCode>General</c:formatCode>
                <c:ptCount val="11"/>
                <c:pt idx="0">
                  <c:v>1.3302141644211969</c:v>
                </c:pt>
                <c:pt idx="1">
                  <c:v>1.1954406247375462</c:v>
                </c:pt>
                <c:pt idx="2">
                  <c:v>1.0879426248455299</c:v>
                </c:pt>
                <c:pt idx="3">
                  <c:v>1</c:v>
                </c:pt>
                <c:pt idx="4">
                  <c:v>0.57434917749851755</c:v>
                </c:pt>
                <c:pt idx="5">
                  <c:v>0.41524364653850571</c:v>
                </c:pt>
                <c:pt idx="6">
                  <c:v>0.32987697769322361</c:v>
                </c:pt>
                <c:pt idx="7">
                  <c:v>0.27594593229224296</c:v>
                </c:pt>
                <c:pt idx="8">
                  <c:v>0.23849484685087588</c:v>
                </c:pt>
                <c:pt idx="9">
                  <c:v>0.2108247373706503</c:v>
                </c:pt>
                <c:pt idx="10">
                  <c:v>0.18946457081379978</c:v>
                </c:pt>
              </c:numCache>
            </c:numRef>
          </c:yVal>
          <c:smooth val="0"/>
          <c:extLst>
            <c:ext xmlns:c16="http://schemas.microsoft.com/office/drawing/2014/chart" uri="{C3380CC4-5D6E-409C-BE32-E72D297353CC}">
              <c16:uniqueId val="{00000003-DFD3-764E-A9C9-9E2A41D9736C}"/>
            </c:ext>
          </c:extLst>
        </c:ser>
        <c:ser>
          <c:idx val="4"/>
          <c:order val="4"/>
          <c:spPr>
            <a:ln w="31750" cap="rnd">
              <a:solidFill>
                <a:srgbClr val="00B050"/>
              </a:solidFill>
              <a:round/>
            </a:ln>
            <a:effectLst/>
          </c:spPr>
          <c:marker>
            <c:symbol val="none"/>
          </c:marker>
          <c:xVal>
            <c:numRef>
              <c:f>Sheet2!$B$6:$B$19</c:f>
              <c:numCache>
                <c:formatCode>General</c:formatCode>
                <c:ptCount val="14"/>
                <c:pt idx="0">
                  <c:v>0.4</c:v>
                </c:pt>
                <c:pt idx="1">
                  <c:v>0.5</c:v>
                </c:pt>
                <c:pt idx="2">
                  <c:v>0.6</c:v>
                </c:pt>
                <c:pt idx="3">
                  <c:v>0.7</c:v>
                </c:pt>
                <c:pt idx="4">
                  <c:v>0.79999999999999993</c:v>
                </c:pt>
                <c:pt idx="5">
                  <c:v>0.89999999999999991</c:v>
                </c:pt>
                <c:pt idx="6">
                  <c:v>0.99999999999999989</c:v>
                </c:pt>
                <c:pt idx="7">
                  <c:v>2</c:v>
                </c:pt>
                <c:pt idx="8">
                  <c:v>3</c:v>
                </c:pt>
                <c:pt idx="9">
                  <c:v>4</c:v>
                </c:pt>
                <c:pt idx="10">
                  <c:v>5</c:v>
                </c:pt>
                <c:pt idx="11">
                  <c:v>6</c:v>
                </c:pt>
                <c:pt idx="12">
                  <c:v>7</c:v>
                </c:pt>
                <c:pt idx="13">
                  <c:v>8</c:v>
                </c:pt>
              </c:numCache>
            </c:numRef>
          </c:xVal>
          <c:yVal>
            <c:numRef>
              <c:f>Sheet2!$F$6:$F$19</c:f>
              <c:numCache>
                <c:formatCode>General</c:formatCode>
                <c:ptCount val="14"/>
                <c:pt idx="0">
                  <c:v>2.107685092044703</c:v>
                </c:pt>
                <c:pt idx="1">
                  <c:v>1.7105727067757506</c:v>
                </c:pt>
                <c:pt idx="2">
                  <c:v>1.4638681326999077</c:v>
                </c:pt>
                <c:pt idx="3">
                  <c:v>1.2946601225471985</c:v>
                </c:pt>
                <c:pt idx="4">
                  <c:v>1.1707218737938969</c:v>
                </c:pt>
                <c:pt idx="5">
                  <c:v>1.0755988426104746</c:v>
                </c:pt>
                <c:pt idx="6">
                  <c:v>1</c:v>
                </c:pt>
                <c:pt idx="7">
                  <c:v>0.65520701592429142</c:v>
                </c:pt>
                <c:pt idx="8">
                  <c:v>0.53037936609884306</c:v>
                </c:pt>
                <c:pt idx="9">
                  <c:v>0.46225565201396734</c:v>
                </c:pt>
                <c:pt idx="10">
                  <c:v>0.41806378205206107</c:v>
                </c:pt>
                <c:pt idx="11">
                  <c:v>0.38649629439896416</c:v>
                </c:pt>
                <c:pt idx="12">
                  <c:v>0.36251450359848342</c:v>
                </c:pt>
                <c:pt idx="13">
                  <c:v>0.34349981861660867</c:v>
                </c:pt>
              </c:numCache>
            </c:numRef>
          </c:yVal>
          <c:smooth val="0"/>
          <c:extLst>
            <c:ext xmlns:c16="http://schemas.microsoft.com/office/drawing/2014/chart" uri="{C3380CC4-5D6E-409C-BE32-E72D297353CC}">
              <c16:uniqueId val="{00000004-DFD3-764E-A9C9-9E2A41D9736C}"/>
            </c:ext>
          </c:extLst>
        </c:ser>
        <c:dLbls>
          <c:showLegendKey val="0"/>
          <c:showVal val="0"/>
          <c:showCatName val="0"/>
          <c:showSerName val="0"/>
          <c:showPercent val="0"/>
          <c:showBubbleSize val="0"/>
        </c:dLbls>
        <c:axId val="198677744"/>
        <c:axId val="199000816"/>
      </c:scatterChart>
      <c:valAx>
        <c:axId val="198677744"/>
        <c:scaling>
          <c:logBase val="10"/>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99000816"/>
        <c:crossesAt val="1.0000000000000002E-2"/>
        <c:crossBetween val="midCat"/>
      </c:valAx>
      <c:valAx>
        <c:axId val="199000816"/>
        <c:scaling>
          <c:logBase val="10"/>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98677744"/>
        <c:crossesAt val="1.0000000000000002E-2"/>
        <c:crossBetween val="midCat"/>
      </c:valAx>
      <c:spPr>
        <a:noFill/>
        <a:ln>
          <a:noFill/>
        </a:ln>
        <a:effectLst/>
      </c:spPr>
    </c:plotArea>
    <c:legend>
      <c:legendPos val="l"/>
      <c:legendEntry>
        <c:idx val="3"/>
        <c:delete val="1"/>
      </c:legendEntry>
      <c:legendEntry>
        <c:idx val="4"/>
        <c:delete val="1"/>
      </c:legendEntry>
      <c:layout>
        <c:manualLayout>
          <c:xMode val="edge"/>
          <c:yMode val="edge"/>
          <c:x val="0.47568993716875063"/>
          <c:y val="7.724048054493883E-2"/>
          <c:w val="0.52431011826544016"/>
          <c:h val="0.1742983873740673"/>
        </c:manualLayout>
      </c:layout>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Arial" panose="020B0604020202020204" pitchFamily="34" charset="0"/>
          <a:cs typeface="Arial" panose="020B0604020202020204" pitchFamily="34"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267802056162685"/>
          <c:y val="3.6258784483622714E-2"/>
          <c:w val="0.8089201786161524"/>
          <c:h val="0.78673512345610264"/>
        </c:manualLayout>
      </c:layout>
      <c:scatterChart>
        <c:scatterStyle val="lineMarker"/>
        <c:varyColors val="0"/>
        <c:ser>
          <c:idx val="0"/>
          <c:order val="0"/>
          <c:spPr>
            <a:ln w="38100" cap="rnd">
              <a:solidFill>
                <a:srgbClr val="7030A0"/>
              </a:solidFill>
              <a:round/>
            </a:ln>
            <a:effectLst/>
          </c:spPr>
          <c:marker>
            <c:symbol val="none"/>
          </c:marker>
          <c:xVal>
            <c:numRef>
              <c:f>Sheet1!$D$12:$D$37</c:f>
              <c:numCache>
                <c:formatCode>0.000</c:formatCode>
                <c:ptCount val="26"/>
                <c:pt idx="0">
                  <c:v>0.14279470679265391</c:v>
                </c:pt>
                <c:pt idx="1">
                  <c:v>0.26233062720925293</c:v>
                </c:pt>
                <c:pt idx="2">
                  <c:v>0.48193213542520685</c:v>
                </c:pt>
                <c:pt idx="3">
                  <c:v>0.88536586683122842</c:v>
                </c:pt>
                <c:pt idx="4">
                  <c:v>1.6265209570600729</c:v>
                </c:pt>
                <c:pt idx="5">
                  <c:v>2.9881098005553959</c:v>
                </c:pt>
                <c:pt idx="6">
                  <c:v>5.489508230077746</c:v>
                </c:pt>
                <c:pt idx="7">
                  <c:v>10.084870576874462</c:v>
                </c:pt>
                <c:pt idx="8">
                  <c:v>18.527090276512403</c:v>
                </c:pt>
                <c:pt idx="9">
                  <c:v>34.036438196951302</c:v>
                </c:pt>
                <c:pt idx="10">
                  <c:v>62.52892968322935</c:v>
                </c:pt>
                <c:pt idx="11">
                  <c:v>114.87297891471064</c:v>
                </c:pt>
                <c:pt idx="12">
                  <c:v>211.03513768089906</c:v>
                </c:pt>
                <c:pt idx="13">
                  <c:v>387.69630383714843</c:v>
                </c:pt>
                <c:pt idx="14">
                  <c:v>712.24358967303442</c:v>
                </c:pt>
                <c:pt idx="15">
                  <c:v>1308.4750254503758</c:v>
                </c:pt>
                <c:pt idx="16">
                  <c:v>2403.8221151464904</c:v>
                </c:pt>
                <c:pt idx="17">
                  <c:v>4416.1032108950176</c:v>
                </c:pt>
                <c:pt idx="18">
                  <c:v>8112.8996386194021</c:v>
                </c:pt>
                <c:pt idx="19">
                  <c:v>14904.348336770687</c:v>
                </c:pt>
                <c:pt idx="20">
                  <c:v>27381.036280340486</c:v>
                </c:pt>
                <c:pt idx="21">
                  <c:v>50302.175636601074</c:v>
                </c:pt>
                <c:pt idx="22">
                  <c:v>92410.997446149166</c:v>
                </c:pt>
                <c:pt idx="23">
                  <c:v>169769.84277352865</c:v>
                </c:pt>
                <c:pt idx="24">
                  <c:v>311887.1163807534</c:v>
                </c:pt>
                <c:pt idx="25">
                  <c:v>572973.21936065902</c:v>
                </c:pt>
              </c:numCache>
            </c:numRef>
          </c:xVal>
          <c:yVal>
            <c:numRef>
              <c:f>Sheet1!$F$12:$F$37</c:f>
              <c:numCache>
                <c:formatCode>0.00</c:formatCode>
                <c:ptCount val="26"/>
                <c:pt idx="0">
                  <c:v>0.35364328797611561</c:v>
                </c:pt>
                <c:pt idx="1">
                  <c:v>0.2455179711314677</c:v>
                </c:pt>
                <c:pt idx="2">
                  <c:v>0.17045162794831775</c:v>
                </c:pt>
                <c:pt idx="3">
                  <c:v>0.11833658194007145</c:v>
                </c:pt>
                <c:pt idx="4">
                  <c:v>8.2155599401430968E-2</c:v>
                </c:pt>
                <c:pt idx="5">
                  <c:v>5.7039799502902763E-2</c:v>
                </c:pt>
                <c:pt idx="6">
                  <c:v>3.9648672564215691E-2</c:v>
                </c:pt>
                <c:pt idx="7">
                  <c:v>2.7848065275152104E-2</c:v>
                </c:pt>
                <c:pt idx="8">
                  <c:v>2.0469664838404407E-2</c:v>
                </c:pt>
                <c:pt idx="9">
                  <c:v>1.6795176195369063E-2</c:v>
                </c:pt>
                <c:pt idx="10">
                  <c:v>1.6009685037916499E-2</c:v>
                </c:pt>
                <c:pt idx="11">
                  <c:v>1.7103338139542873E-2</c:v>
                </c:pt>
                <c:pt idx="12">
                  <c:v>1.911473509126271E-2</c:v>
                </c:pt>
                <c:pt idx="13">
                  <c:v>2.1344348103153863E-2</c:v>
                </c:pt>
                <c:pt idx="14">
                  <c:v>2.3395301558441859E-2</c:v>
                </c:pt>
                <c:pt idx="15">
                  <c:v>2.5102862247881698E-2</c:v>
                </c:pt>
                <c:pt idx="16">
                  <c:v>2.6440867392921601E-2</c:v>
                </c:pt>
                <c:pt idx="17">
                  <c:v>2.7449106187067404E-2</c:v>
                </c:pt>
                <c:pt idx="18">
                  <c:v>2.8189388432951917E-2</c:v>
                </c:pt>
                <c:pt idx="19">
                  <c:v>2.8723487405723315E-2</c:v>
                </c:pt>
                <c:pt idx="20">
                  <c:v>2.9104253256923507E-2</c:v>
                </c:pt>
                <c:pt idx="21">
                  <c:v>2.937349053738789E-2</c:v>
                </c:pt>
                <c:pt idx="22">
                  <c:v>2.9562795187996409E-2</c:v>
                </c:pt>
                <c:pt idx="23">
                  <c:v>2.9695380348333189E-2</c:v>
                </c:pt>
                <c:pt idx="24">
                  <c:v>2.9787990356685966E-2</c:v>
                </c:pt>
                <c:pt idx="25">
                  <c:v>2.9852557308963565E-2</c:v>
                </c:pt>
              </c:numCache>
            </c:numRef>
          </c:yVal>
          <c:smooth val="0"/>
          <c:extLst>
            <c:ext xmlns:c16="http://schemas.microsoft.com/office/drawing/2014/chart" uri="{C3380CC4-5D6E-409C-BE32-E72D297353CC}">
              <c16:uniqueId val="{00000000-0D29-144D-84D7-853846BDE0B2}"/>
            </c:ext>
          </c:extLst>
        </c:ser>
        <c:ser>
          <c:idx val="1"/>
          <c:order val="1"/>
          <c:spPr>
            <a:ln w="19050" cap="rnd">
              <a:solidFill>
                <a:schemeClr val="bg2">
                  <a:lumMod val="50000"/>
                </a:schemeClr>
              </a:solidFill>
              <a:round/>
            </a:ln>
            <a:effectLst/>
          </c:spPr>
          <c:marker>
            <c:symbol val="none"/>
          </c:marker>
          <c:xVal>
            <c:numRef>
              <c:f>Sheet1!$K$10:$K$11</c:f>
              <c:numCache>
                <c:formatCode>0.000</c:formatCode>
                <c:ptCount val="2"/>
                <c:pt idx="0">
                  <c:v>1.9879090086225024</c:v>
                </c:pt>
                <c:pt idx="1">
                  <c:v>1.9879090086225024</c:v>
                </c:pt>
              </c:numCache>
            </c:numRef>
          </c:xVal>
          <c:yVal>
            <c:numRef>
              <c:f>Sheet1!$L$10:$L$11</c:f>
              <c:numCache>
                <c:formatCode>General</c:formatCode>
                <c:ptCount val="2"/>
                <c:pt idx="0">
                  <c:v>0.01</c:v>
                </c:pt>
                <c:pt idx="1">
                  <c:v>10</c:v>
                </c:pt>
              </c:numCache>
            </c:numRef>
          </c:yVal>
          <c:smooth val="0"/>
          <c:extLst>
            <c:ext xmlns:c16="http://schemas.microsoft.com/office/drawing/2014/chart" uri="{C3380CC4-5D6E-409C-BE32-E72D297353CC}">
              <c16:uniqueId val="{00000001-0D29-144D-84D7-853846BDE0B2}"/>
            </c:ext>
          </c:extLst>
        </c:ser>
        <c:ser>
          <c:idx val="2"/>
          <c:order val="2"/>
          <c:spPr>
            <a:ln w="19050" cap="rnd">
              <a:solidFill>
                <a:schemeClr val="bg2">
                  <a:lumMod val="75000"/>
                </a:schemeClr>
              </a:solidFill>
              <a:round/>
            </a:ln>
            <a:effectLst/>
          </c:spPr>
          <c:marker>
            <c:symbol val="none"/>
          </c:marker>
          <c:xVal>
            <c:numRef>
              <c:f>Sheet1!$K$13:$K$14</c:f>
              <c:numCache>
                <c:formatCode>0</c:formatCode>
                <c:ptCount val="2"/>
                <c:pt idx="0">
                  <c:v>359.84996873697241</c:v>
                </c:pt>
                <c:pt idx="1">
                  <c:v>359.84996873697241</c:v>
                </c:pt>
              </c:numCache>
            </c:numRef>
          </c:xVal>
          <c:yVal>
            <c:numRef>
              <c:f>Sheet1!$L$13:$L$14</c:f>
              <c:numCache>
                <c:formatCode>General</c:formatCode>
                <c:ptCount val="2"/>
                <c:pt idx="0">
                  <c:v>0.01</c:v>
                </c:pt>
                <c:pt idx="1">
                  <c:v>10</c:v>
                </c:pt>
              </c:numCache>
            </c:numRef>
          </c:yVal>
          <c:smooth val="0"/>
          <c:extLst>
            <c:ext xmlns:c16="http://schemas.microsoft.com/office/drawing/2014/chart" uri="{C3380CC4-5D6E-409C-BE32-E72D297353CC}">
              <c16:uniqueId val="{00000002-0D29-144D-84D7-853846BDE0B2}"/>
            </c:ext>
          </c:extLst>
        </c:ser>
        <c:ser>
          <c:idx val="3"/>
          <c:order val="3"/>
          <c:spPr>
            <a:ln w="19050" cap="rnd">
              <a:solidFill>
                <a:schemeClr val="accent4"/>
              </a:solidFill>
              <a:round/>
            </a:ln>
            <a:effectLst/>
          </c:spPr>
          <c:marker>
            <c:symbol val="none"/>
          </c:marker>
          <c:xVal>
            <c:numRef>
              <c:f>Sheet1!$J$16:$J$17</c:f>
              <c:numCache>
                <c:formatCode>General</c:formatCode>
                <c:ptCount val="2"/>
                <c:pt idx="0">
                  <c:v>64</c:v>
                </c:pt>
                <c:pt idx="1">
                  <c:v>64</c:v>
                </c:pt>
              </c:numCache>
            </c:numRef>
          </c:xVal>
          <c:yVal>
            <c:numRef>
              <c:f>Sheet1!$K$16:$K$17</c:f>
              <c:numCache>
                <c:formatCode>0</c:formatCode>
                <c:ptCount val="2"/>
                <c:pt idx="0">
                  <c:v>2059901419.0004337</c:v>
                </c:pt>
                <c:pt idx="1">
                  <c:v>2059901419.0004337</c:v>
                </c:pt>
              </c:numCache>
            </c:numRef>
          </c:yVal>
          <c:smooth val="0"/>
          <c:extLst>
            <c:ext xmlns:c16="http://schemas.microsoft.com/office/drawing/2014/chart" uri="{C3380CC4-5D6E-409C-BE32-E72D297353CC}">
              <c16:uniqueId val="{00000003-0D29-144D-84D7-853846BDE0B2}"/>
            </c:ext>
          </c:extLst>
        </c:ser>
        <c:ser>
          <c:idx val="4"/>
          <c:order val="4"/>
          <c:spPr>
            <a:ln w="34925" cap="rnd">
              <a:solidFill>
                <a:srgbClr val="FF0000"/>
              </a:solidFill>
              <a:round/>
            </a:ln>
            <a:effectLst/>
          </c:spPr>
          <c:marker>
            <c:symbol val="none"/>
          </c:marker>
          <c:xVal>
            <c:numRef>
              <c:f>Sheet1!$D$18:$D$34</c:f>
              <c:numCache>
                <c:formatCode>0.000</c:formatCode>
                <c:ptCount val="17"/>
                <c:pt idx="0">
                  <c:v>5.489508230077746</c:v>
                </c:pt>
                <c:pt idx="1">
                  <c:v>10.084870576874462</c:v>
                </c:pt>
                <c:pt idx="2">
                  <c:v>18.527090276512403</c:v>
                </c:pt>
                <c:pt idx="3">
                  <c:v>34.036438196951302</c:v>
                </c:pt>
                <c:pt idx="4">
                  <c:v>62.52892968322935</c:v>
                </c:pt>
                <c:pt idx="5">
                  <c:v>114.87297891471064</c:v>
                </c:pt>
                <c:pt idx="6">
                  <c:v>211.03513768089906</c:v>
                </c:pt>
                <c:pt idx="7">
                  <c:v>387.69630383714843</c:v>
                </c:pt>
                <c:pt idx="8">
                  <c:v>712.24358967303442</c:v>
                </c:pt>
                <c:pt idx="9">
                  <c:v>1308.4750254503758</c:v>
                </c:pt>
                <c:pt idx="10">
                  <c:v>2403.8221151464904</c:v>
                </c:pt>
                <c:pt idx="11">
                  <c:v>4416.1032108950176</c:v>
                </c:pt>
                <c:pt idx="12">
                  <c:v>8112.8996386194021</c:v>
                </c:pt>
                <c:pt idx="13">
                  <c:v>14904.348336770687</c:v>
                </c:pt>
                <c:pt idx="14">
                  <c:v>27381.036280340486</c:v>
                </c:pt>
                <c:pt idx="15">
                  <c:v>50302.175636601074</c:v>
                </c:pt>
                <c:pt idx="16">
                  <c:v>92410.997446149166</c:v>
                </c:pt>
              </c:numCache>
            </c:numRef>
          </c:xVal>
          <c:yVal>
            <c:numRef>
              <c:f>Sheet1!$I$18:$I$34</c:f>
              <c:numCache>
                <c:formatCode>General</c:formatCode>
                <c:ptCount val="17"/>
                <c:pt idx="0">
                  <c:v>5.5500821212294091E-2</c:v>
                </c:pt>
                <c:pt idx="1">
                  <c:v>0.12968445882192933</c:v>
                </c:pt>
                <c:pt idx="2">
                  <c:v>0.27363639992460853</c:v>
                </c:pt>
                <c:pt idx="3">
                  <c:v>0.52092029014411967</c:v>
                </c:pt>
                <c:pt idx="4">
                  <c:v>0.89535042168148116</c:v>
                </c:pt>
                <c:pt idx="5">
                  <c:v>1.3926785730649931</c:v>
                </c:pt>
                <c:pt idx="6">
                  <c:v>1.9681372272037381</c:v>
                </c:pt>
                <c:pt idx="7">
                  <c:v>2.5410655356364713</c:v>
                </c:pt>
                <c:pt idx="8">
                  <c:v>3.0188432865025598</c:v>
                </c:pt>
                <c:pt idx="9">
                  <c:v>3.3291741816267395</c:v>
                </c:pt>
                <c:pt idx="10">
                  <c:v>3.4435752374995654</c:v>
                </c:pt>
                <c:pt idx="11">
                  <c:v>3.3811499693972702</c:v>
                </c:pt>
                <c:pt idx="12">
                  <c:v>3.1945126417513379</c:v>
                </c:pt>
                <c:pt idx="13">
                  <c:v>2.9487126639944781</c:v>
                </c:pt>
                <c:pt idx="14">
                  <c:v>2.7042643445332484</c:v>
                </c:pt>
                <c:pt idx="15">
                  <c:v>2.5098899364402092</c:v>
                </c:pt>
                <c:pt idx="16">
                  <c:v>2.4051817170187508</c:v>
                </c:pt>
              </c:numCache>
            </c:numRef>
          </c:yVal>
          <c:smooth val="0"/>
          <c:extLst>
            <c:ext xmlns:c16="http://schemas.microsoft.com/office/drawing/2014/chart" uri="{C3380CC4-5D6E-409C-BE32-E72D297353CC}">
              <c16:uniqueId val="{00000004-0D29-144D-84D7-853846BDE0B2}"/>
            </c:ext>
          </c:extLst>
        </c:ser>
        <c:ser>
          <c:idx val="5"/>
          <c:order val="5"/>
          <c:spPr>
            <a:ln w="19050" cap="rnd">
              <a:solidFill>
                <a:schemeClr val="bg2">
                  <a:lumMod val="75000"/>
                </a:schemeClr>
              </a:solidFill>
              <a:round/>
            </a:ln>
            <a:effectLst/>
          </c:spPr>
          <c:marker>
            <c:symbol val="none"/>
          </c:marker>
          <c:xVal>
            <c:numRef>
              <c:f>Sheet1!$K$10:$K$11</c:f>
              <c:numCache>
                <c:formatCode>0.000</c:formatCode>
                <c:ptCount val="2"/>
                <c:pt idx="0">
                  <c:v>1.9879090086225024</c:v>
                </c:pt>
                <c:pt idx="1">
                  <c:v>1.9879090086225024</c:v>
                </c:pt>
              </c:numCache>
            </c:numRef>
          </c:xVal>
          <c:yVal>
            <c:numRef>
              <c:f>Sheet1!$L$10:$L$11</c:f>
              <c:numCache>
                <c:formatCode>General</c:formatCode>
                <c:ptCount val="2"/>
                <c:pt idx="0">
                  <c:v>0.01</c:v>
                </c:pt>
                <c:pt idx="1">
                  <c:v>10</c:v>
                </c:pt>
              </c:numCache>
            </c:numRef>
          </c:yVal>
          <c:smooth val="0"/>
          <c:extLst>
            <c:ext xmlns:c16="http://schemas.microsoft.com/office/drawing/2014/chart" uri="{C3380CC4-5D6E-409C-BE32-E72D297353CC}">
              <c16:uniqueId val="{00000005-0D29-144D-84D7-853846BDE0B2}"/>
            </c:ext>
          </c:extLst>
        </c:ser>
        <c:dLbls>
          <c:showLegendKey val="0"/>
          <c:showVal val="0"/>
          <c:showCatName val="0"/>
          <c:showSerName val="0"/>
          <c:showPercent val="0"/>
          <c:showBubbleSize val="0"/>
        </c:dLbls>
        <c:axId val="1297776511"/>
        <c:axId val="1297778159"/>
      </c:scatterChart>
      <c:valAx>
        <c:axId val="1297776511"/>
        <c:scaling>
          <c:logBase val="10"/>
          <c:orientation val="minMax"/>
          <c:min val="0.1"/>
        </c:scaling>
        <c:delete val="0"/>
        <c:axPos val="b"/>
        <c:title>
          <c:tx>
            <c:rich>
              <a:bodyPr rot="0" spcFirstLastPara="1" vertOverflow="ellipsis" vert="horz" wrap="square" anchor="ctr" anchorCtr="1"/>
              <a:lstStyle/>
              <a:p>
                <a:pPr>
                  <a:defRPr sz="2000" b="0"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r>
                  <a:rPr lang="en-US" sz="2000">
                    <a:latin typeface="Calibri" panose="020F0502020204030204" pitchFamily="34" charset="0"/>
                    <a:cs typeface="Calibri" panose="020F0502020204030204" pitchFamily="34" charset="0"/>
                  </a:rPr>
                  <a:t>Re</a:t>
                </a:r>
                <a:r>
                  <a:rPr lang="en-US" sz="2000" baseline="-25000">
                    <a:latin typeface="Calibri" panose="020F0502020204030204" pitchFamily="34" charset="0"/>
                    <a:cs typeface="Calibri" panose="020F0502020204030204" pitchFamily="34" charset="0"/>
                  </a:rPr>
                  <a:t>p</a:t>
                </a:r>
              </a:p>
            </c:rich>
          </c:tx>
          <c:overlay val="0"/>
          <c:spPr>
            <a:noFill/>
            <a:ln>
              <a:noFill/>
            </a:ln>
            <a:effectLst/>
          </c:spPr>
          <c:txPr>
            <a:bodyPr rot="0" spcFirstLastPara="1" vertOverflow="ellipsis" vert="horz" wrap="square" anchor="ctr" anchorCtr="1"/>
            <a:lstStyle/>
            <a:p>
              <a:pPr>
                <a:defRPr sz="2000" b="0" i="0" u="none" strike="noStrike" kern="1200" baseline="0">
                  <a:solidFill>
                    <a:schemeClr val="tx1">
                      <a:lumMod val="65000"/>
                      <a:lumOff val="35000"/>
                    </a:schemeClr>
                  </a:solidFill>
                  <a:latin typeface="Calibri" panose="020F0502020204030204" pitchFamily="34" charset="0"/>
                  <a:ea typeface="+mn-ea"/>
                  <a:cs typeface="Calibri" panose="020F0502020204030204" pitchFamily="34" charset="0"/>
                </a:defRPr>
              </a:pPr>
              <a:endParaRPr lang="en-US"/>
            </a:p>
          </c:txPr>
        </c:title>
        <c:numFmt formatCode="0.0" sourceLinked="0"/>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297778159"/>
        <c:crossesAt val="1.0000000000000002E-2"/>
        <c:crossBetween val="midCat"/>
      </c:valAx>
      <c:valAx>
        <c:axId val="1297778159"/>
        <c:scaling>
          <c:logBase val="10"/>
          <c:orientation val="minMax"/>
          <c:max val="10"/>
        </c:scaling>
        <c:delete val="0"/>
        <c:axPos val="l"/>
        <c:title>
          <c:tx>
            <c:rich>
              <a:bodyPr rot="-5400000" spcFirstLastPara="1" vertOverflow="ellipsis" vert="horz" wrap="square" anchor="ctr" anchorCtr="1"/>
              <a:lstStyle/>
              <a:p>
                <a:pPr>
                  <a:defRPr sz="20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2000" baseline="0" dirty="0">
                    <a:latin typeface="Symbol" pitchFamily="2" charset="2"/>
                  </a:rPr>
                  <a:t>t</a:t>
                </a:r>
                <a:r>
                  <a:rPr lang="en-US" sz="2000" b="0" i="0" u="none" strike="noStrike" baseline="30000" dirty="0">
                    <a:effectLst/>
                  </a:rPr>
                  <a:t>*</a:t>
                </a:r>
                <a:r>
                  <a:rPr lang="en-US" sz="2000" b="0" i="0" u="none" strike="noStrike" baseline="0" dirty="0"/>
                  <a:t> </a:t>
                </a:r>
                <a:r>
                  <a:rPr lang="en-US" sz="2000" baseline="0" dirty="0"/>
                  <a:t> </a:t>
                </a:r>
              </a:p>
            </c:rich>
          </c:tx>
          <c:layout>
            <c:manualLayout>
              <c:xMode val="edge"/>
              <c:yMode val="edge"/>
              <c:x val="1.5515903801396431E-2"/>
              <c:y val="0.40326142400516768"/>
            </c:manualLayout>
          </c:layout>
          <c:overlay val="0"/>
          <c:spPr>
            <a:noFill/>
            <a:ln>
              <a:noFill/>
            </a:ln>
            <a:effectLst/>
          </c:spPr>
          <c:txPr>
            <a:bodyPr rot="-5400000" spcFirstLastPara="1" vertOverflow="ellipsis" vert="horz" wrap="square" anchor="ctr" anchorCtr="1"/>
            <a:lstStyle/>
            <a:p>
              <a:pPr>
                <a:defRPr sz="20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297776511"/>
        <c:crossesAt val="0.1"/>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400">
          <a:latin typeface="Arial" panose="020B0604020202020204" pitchFamily="34" charset="0"/>
          <a:cs typeface="Arial" panose="020B060402020202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364E3B-2BD9-864E-AEBF-C16A4A7C077A}" type="datetimeFigureOut">
              <a:rPr lang="en-US" smtClean="0"/>
              <a:t>7/29/2026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83F09F-D818-3049-9A05-0F1DC139FC7C}" type="slidenum">
              <a:rPr lang="en-US" smtClean="0"/>
              <a:t>‹#›</a:t>
            </a:fld>
            <a:endParaRPr lang="en-US"/>
          </a:p>
        </p:txBody>
      </p:sp>
    </p:spTree>
    <p:extLst>
      <p:ext uri="{BB962C8B-B14F-4D97-AF65-F5344CB8AC3E}">
        <p14:creationId xmlns:p14="http://schemas.microsoft.com/office/powerpoint/2010/main" val="3269747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6</a:t>
            </a:fld>
            <a:endParaRPr lang="en-US"/>
          </a:p>
        </p:txBody>
      </p:sp>
    </p:spTree>
    <p:extLst>
      <p:ext uri="{BB962C8B-B14F-4D97-AF65-F5344CB8AC3E}">
        <p14:creationId xmlns:p14="http://schemas.microsoft.com/office/powerpoint/2010/main" val="2781328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0881AB-B5E7-BE7F-FF47-371C2761DF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AF9DC5-E404-FF26-B787-CDAD57C672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C71EDB-BA79-25B0-CDFD-5B7F2E839C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D13AB4-DE19-BBA8-C312-8D0784DCBA14}"/>
              </a:ext>
            </a:extLst>
          </p:cNvPr>
          <p:cNvSpPr>
            <a:spLocks noGrp="1"/>
          </p:cNvSpPr>
          <p:nvPr>
            <p:ph type="sldNum" sz="quarter" idx="5"/>
          </p:nvPr>
        </p:nvSpPr>
        <p:spPr/>
        <p:txBody>
          <a:bodyPr/>
          <a:lstStyle/>
          <a:p>
            <a:fld id="{0883F09F-D818-3049-9A05-0F1DC139FC7C}" type="slidenum">
              <a:rPr lang="en-US" smtClean="0"/>
              <a:t>7</a:t>
            </a:fld>
            <a:endParaRPr lang="en-US"/>
          </a:p>
        </p:txBody>
      </p:sp>
    </p:spTree>
    <p:extLst>
      <p:ext uri="{BB962C8B-B14F-4D97-AF65-F5344CB8AC3E}">
        <p14:creationId xmlns:p14="http://schemas.microsoft.com/office/powerpoint/2010/main" val="1981043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8</a:t>
            </a:fld>
            <a:endParaRPr lang="en-US"/>
          </a:p>
        </p:txBody>
      </p:sp>
    </p:spTree>
    <p:extLst>
      <p:ext uri="{BB962C8B-B14F-4D97-AF65-F5344CB8AC3E}">
        <p14:creationId xmlns:p14="http://schemas.microsoft.com/office/powerpoint/2010/main" val="31637569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9</a:t>
            </a:fld>
            <a:endParaRPr lang="en-US"/>
          </a:p>
        </p:txBody>
      </p:sp>
    </p:spTree>
    <p:extLst>
      <p:ext uri="{BB962C8B-B14F-4D97-AF65-F5344CB8AC3E}">
        <p14:creationId xmlns:p14="http://schemas.microsoft.com/office/powerpoint/2010/main" val="2868026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10</a:t>
            </a:fld>
            <a:endParaRPr lang="en-US"/>
          </a:p>
        </p:txBody>
      </p:sp>
    </p:spTree>
    <p:extLst>
      <p:ext uri="{BB962C8B-B14F-4D97-AF65-F5344CB8AC3E}">
        <p14:creationId xmlns:p14="http://schemas.microsoft.com/office/powerpoint/2010/main" val="22558177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11</a:t>
            </a:fld>
            <a:endParaRPr lang="en-US"/>
          </a:p>
        </p:txBody>
      </p:sp>
    </p:spTree>
    <p:extLst>
      <p:ext uri="{BB962C8B-B14F-4D97-AF65-F5344CB8AC3E}">
        <p14:creationId xmlns:p14="http://schemas.microsoft.com/office/powerpoint/2010/main" val="7039481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12</a:t>
            </a:fld>
            <a:endParaRPr lang="en-US"/>
          </a:p>
        </p:txBody>
      </p:sp>
    </p:spTree>
    <p:extLst>
      <p:ext uri="{BB962C8B-B14F-4D97-AF65-F5344CB8AC3E}">
        <p14:creationId xmlns:p14="http://schemas.microsoft.com/office/powerpoint/2010/main" val="4200758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13</a:t>
            </a:fld>
            <a:endParaRPr lang="en-US"/>
          </a:p>
        </p:txBody>
      </p:sp>
    </p:spTree>
    <p:extLst>
      <p:ext uri="{BB962C8B-B14F-4D97-AF65-F5344CB8AC3E}">
        <p14:creationId xmlns:p14="http://schemas.microsoft.com/office/powerpoint/2010/main" val="9233484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14</a:t>
            </a:fld>
            <a:endParaRPr lang="en-US"/>
          </a:p>
        </p:txBody>
      </p:sp>
    </p:spTree>
    <p:extLst>
      <p:ext uri="{BB962C8B-B14F-4D97-AF65-F5344CB8AC3E}">
        <p14:creationId xmlns:p14="http://schemas.microsoft.com/office/powerpoint/2010/main" val="26383501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15</a:t>
            </a:fld>
            <a:endParaRPr lang="en-US"/>
          </a:p>
        </p:txBody>
      </p:sp>
    </p:spTree>
    <p:extLst>
      <p:ext uri="{BB962C8B-B14F-4D97-AF65-F5344CB8AC3E}">
        <p14:creationId xmlns:p14="http://schemas.microsoft.com/office/powerpoint/2010/main" val="18545165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16</a:t>
            </a:fld>
            <a:endParaRPr lang="en-US"/>
          </a:p>
        </p:txBody>
      </p:sp>
    </p:spTree>
    <p:extLst>
      <p:ext uri="{BB962C8B-B14F-4D97-AF65-F5344CB8AC3E}">
        <p14:creationId xmlns:p14="http://schemas.microsoft.com/office/powerpoint/2010/main" val="38783346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17</a:t>
            </a:fld>
            <a:endParaRPr lang="en-US"/>
          </a:p>
        </p:txBody>
      </p:sp>
    </p:spTree>
    <p:extLst>
      <p:ext uri="{BB962C8B-B14F-4D97-AF65-F5344CB8AC3E}">
        <p14:creationId xmlns:p14="http://schemas.microsoft.com/office/powerpoint/2010/main" val="12818356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18</a:t>
            </a:fld>
            <a:endParaRPr lang="en-US"/>
          </a:p>
        </p:txBody>
      </p:sp>
    </p:spTree>
    <p:extLst>
      <p:ext uri="{BB962C8B-B14F-4D97-AF65-F5344CB8AC3E}">
        <p14:creationId xmlns:p14="http://schemas.microsoft.com/office/powerpoint/2010/main" val="32609238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19</a:t>
            </a:fld>
            <a:endParaRPr lang="en-US"/>
          </a:p>
        </p:txBody>
      </p:sp>
    </p:spTree>
    <p:extLst>
      <p:ext uri="{BB962C8B-B14F-4D97-AF65-F5344CB8AC3E}">
        <p14:creationId xmlns:p14="http://schemas.microsoft.com/office/powerpoint/2010/main" val="34934917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20</a:t>
            </a:fld>
            <a:endParaRPr lang="en-US"/>
          </a:p>
        </p:txBody>
      </p:sp>
    </p:spTree>
    <p:extLst>
      <p:ext uri="{BB962C8B-B14F-4D97-AF65-F5344CB8AC3E}">
        <p14:creationId xmlns:p14="http://schemas.microsoft.com/office/powerpoint/2010/main" val="40561824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21</a:t>
            </a:fld>
            <a:endParaRPr lang="en-US"/>
          </a:p>
        </p:txBody>
      </p:sp>
    </p:spTree>
    <p:extLst>
      <p:ext uri="{BB962C8B-B14F-4D97-AF65-F5344CB8AC3E}">
        <p14:creationId xmlns:p14="http://schemas.microsoft.com/office/powerpoint/2010/main" val="25186777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22</a:t>
            </a:fld>
            <a:endParaRPr lang="en-US"/>
          </a:p>
        </p:txBody>
      </p:sp>
    </p:spTree>
    <p:extLst>
      <p:ext uri="{BB962C8B-B14F-4D97-AF65-F5344CB8AC3E}">
        <p14:creationId xmlns:p14="http://schemas.microsoft.com/office/powerpoint/2010/main" val="1929800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23</a:t>
            </a:fld>
            <a:endParaRPr lang="en-US"/>
          </a:p>
        </p:txBody>
      </p:sp>
    </p:spTree>
    <p:extLst>
      <p:ext uri="{BB962C8B-B14F-4D97-AF65-F5344CB8AC3E}">
        <p14:creationId xmlns:p14="http://schemas.microsoft.com/office/powerpoint/2010/main" val="19853457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24</a:t>
            </a:fld>
            <a:endParaRPr lang="en-US"/>
          </a:p>
        </p:txBody>
      </p:sp>
    </p:spTree>
    <p:extLst>
      <p:ext uri="{BB962C8B-B14F-4D97-AF65-F5344CB8AC3E}">
        <p14:creationId xmlns:p14="http://schemas.microsoft.com/office/powerpoint/2010/main" val="398059094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25</a:t>
            </a:fld>
            <a:endParaRPr lang="en-US"/>
          </a:p>
        </p:txBody>
      </p:sp>
    </p:spTree>
    <p:extLst>
      <p:ext uri="{BB962C8B-B14F-4D97-AF65-F5344CB8AC3E}">
        <p14:creationId xmlns:p14="http://schemas.microsoft.com/office/powerpoint/2010/main" val="9961279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26</a:t>
            </a:fld>
            <a:endParaRPr lang="en-US"/>
          </a:p>
        </p:txBody>
      </p:sp>
    </p:spTree>
    <p:extLst>
      <p:ext uri="{BB962C8B-B14F-4D97-AF65-F5344CB8AC3E}">
        <p14:creationId xmlns:p14="http://schemas.microsoft.com/office/powerpoint/2010/main" val="17499155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27</a:t>
            </a:fld>
            <a:endParaRPr lang="en-US"/>
          </a:p>
        </p:txBody>
      </p:sp>
    </p:spTree>
    <p:extLst>
      <p:ext uri="{BB962C8B-B14F-4D97-AF65-F5344CB8AC3E}">
        <p14:creationId xmlns:p14="http://schemas.microsoft.com/office/powerpoint/2010/main" val="322528417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28</a:t>
            </a:fld>
            <a:endParaRPr lang="en-US"/>
          </a:p>
        </p:txBody>
      </p:sp>
    </p:spTree>
    <p:extLst>
      <p:ext uri="{BB962C8B-B14F-4D97-AF65-F5344CB8AC3E}">
        <p14:creationId xmlns:p14="http://schemas.microsoft.com/office/powerpoint/2010/main" val="7190183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883F09F-D818-3049-9A05-0F1DC139FC7C}" type="slidenum">
              <a:rPr lang="en-US" smtClean="0"/>
              <a:t>29</a:t>
            </a:fld>
            <a:endParaRPr lang="en-US"/>
          </a:p>
        </p:txBody>
      </p:sp>
    </p:spTree>
    <p:extLst>
      <p:ext uri="{BB962C8B-B14F-4D97-AF65-F5344CB8AC3E}">
        <p14:creationId xmlns:p14="http://schemas.microsoft.com/office/powerpoint/2010/main" val="28133835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E8994-0DAE-BA4A-8C5F-86004274DF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247246A-AE36-5847-8679-85EF93546A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8EE9708-7D64-9D40-9BA1-ED83FEBE5D2F}"/>
              </a:ext>
            </a:extLst>
          </p:cNvPr>
          <p:cNvSpPr>
            <a:spLocks noGrp="1"/>
          </p:cNvSpPr>
          <p:nvPr>
            <p:ph type="dt" sz="half" idx="10"/>
          </p:nvPr>
        </p:nvSpPr>
        <p:spPr/>
        <p:txBody>
          <a:bodyPr/>
          <a:lstStyle/>
          <a:p>
            <a:fld id="{8A37238B-29DE-EB4E-9020-BE375A8A0F26}" type="datetime1">
              <a:rPr lang="en-US" smtClean="0"/>
              <a:t>7/29/2026</a:t>
            </a:fld>
            <a:endParaRPr lang="en-US"/>
          </a:p>
        </p:txBody>
      </p:sp>
      <p:sp>
        <p:nvSpPr>
          <p:cNvPr id="5" name="Footer Placeholder 4">
            <a:extLst>
              <a:ext uri="{FF2B5EF4-FFF2-40B4-BE49-F238E27FC236}">
                <a16:creationId xmlns:a16="http://schemas.microsoft.com/office/drawing/2014/main" id="{CDDFCB2B-A583-0249-8BD1-6592C1796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C1B40A-AC48-1947-9F50-AB6A64155F3C}"/>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4074541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6B3A4-B62D-9241-8974-F5261E837B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B42ACE9-D07C-5249-A7E9-354344B800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7501A1-3D3D-A74F-94B2-51EE1B5377B0}"/>
              </a:ext>
            </a:extLst>
          </p:cNvPr>
          <p:cNvSpPr>
            <a:spLocks noGrp="1"/>
          </p:cNvSpPr>
          <p:nvPr>
            <p:ph type="dt" sz="half" idx="10"/>
          </p:nvPr>
        </p:nvSpPr>
        <p:spPr/>
        <p:txBody>
          <a:bodyPr/>
          <a:lstStyle/>
          <a:p>
            <a:fld id="{75E58A9D-BD02-9643-A672-D987A03D5C72}" type="datetime1">
              <a:rPr lang="en-US" smtClean="0"/>
              <a:t>7/29/2026</a:t>
            </a:fld>
            <a:endParaRPr lang="en-US"/>
          </a:p>
        </p:txBody>
      </p:sp>
      <p:sp>
        <p:nvSpPr>
          <p:cNvPr id="5" name="Footer Placeholder 4">
            <a:extLst>
              <a:ext uri="{FF2B5EF4-FFF2-40B4-BE49-F238E27FC236}">
                <a16:creationId xmlns:a16="http://schemas.microsoft.com/office/drawing/2014/main" id="{D7933242-79FF-9A43-83D5-008BB1175A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3767A8-E0B3-FA48-B9CD-3265054B2BBA}"/>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798452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27466-BFD9-334B-ACCB-7AB1B4FBD44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81FD474-FFC4-F947-912C-8C3A62B0754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33BEE4-0BA4-334D-888B-751ABF383DA2}"/>
              </a:ext>
            </a:extLst>
          </p:cNvPr>
          <p:cNvSpPr>
            <a:spLocks noGrp="1"/>
          </p:cNvSpPr>
          <p:nvPr>
            <p:ph type="dt" sz="half" idx="10"/>
          </p:nvPr>
        </p:nvSpPr>
        <p:spPr/>
        <p:txBody>
          <a:bodyPr/>
          <a:lstStyle/>
          <a:p>
            <a:fld id="{A9F582B2-23B9-D74E-AF1E-23FE314EE57C}" type="datetime1">
              <a:rPr lang="en-US" smtClean="0"/>
              <a:t>7/29/2026</a:t>
            </a:fld>
            <a:endParaRPr lang="en-US"/>
          </a:p>
        </p:txBody>
      </p:sp>
      <p:sp>
        <p:nvSpPr>
          <p:cNvPr id="5" name="Footer Placeholder 4">
            <a:extLst>
              <a:ext uri="{FF2B5EF4-FFF2-40B4-BE49-F238E27FC236}">
                <a16:creationId xmlns:a16="http://schemas.microsoft.com/office/drawing/2014/main" id="{C37732D5-CFCB-464B-B406-E6F58E8C88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8D58E7-9E61-3644-822F-14C8AA657D41}"/>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2582330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B4BC6-D29B-1F4F-938F-07E9F8E6CE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5784D0-6CC0-AC43-BB44-2AEE77C32F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38E12C2-99E7-0F46-B4EB-C64AC10E21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AA25515-4688-0F44-B939-B8AA309B47EF}"/>
              </a:ext>
            </a:extLst>
          </p:cNvPr>
          <p:cNvSpPr>
            <a:spLocks noGrp="1"/>
          </p:cNvSpPr>
          <p:nvPr>
            <p:ph type="dt" sz="half" idx="10"/>
          </p:nvPr>
        </p:nvSpPr>
        <p:spPr/>
        <p:txBody>
          <a:bodyPr/>
          <a:lstStyle/>
          <a:p>
            <a:fld id="{30046F22-E104-EA49-A6E4-3FA4D6AC1D65}" type="datetime1">
              <a:rPr lang="en-US" smtClean="0"/>
              <a:t>7/29/2026</a:t>
            </a:fld>
            <a:endParaRPr lang="en-US"/>
          </a:p>
        </p:txBody>
      </p:sp>
      <p:sp>
        <p:nvSpPr>
          <p:cNvPr id="6" name="Footer Placeholder 5">
            <a:extLst>
              <a:ext uri="{FF2B5EF4-FFF2-40B4-BE49-F238E27FC236}">
                <a16:creationId xmlns:a16="http://schemas.microsoft.com/office/drawing/2014/main" id="{0D2B21F8-84DD-7B4B-9D24-A91D89CE98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E6C87B-C3BC-5A41-846A-A31318112337}"/>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1202003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5F0F5-8358-9741-98DA-949BAC1AA4F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CE32334-11D4-1F4B-A8C2-2E3156A51F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99C116-4A36-C748-BD11-9226FA84995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9937EE1-3285-3C4B-953D-B6AC9DA5AD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6637E0-FA89-3D4A-9B4B-EBFDCBBC6A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8EC8A58-E296-DF4E-9A7C-61F091D5BCFB}"/>
              </a:ext>
            </a:extLst>
          </p:cNvPr>
          <p:cNvSpPr>
            <a:spLocks noGrp="1"/>
          </p:cNvSpPr>
          <p:nvPr>
            <p:ph type="dt" sz="half" idx="10"/>
          </p:nvPr>
        </p:nvSpPr>
        <p:spPr/>
        <p:txBody>
          <a:bodyPr/>
          <a:lstStyle/>
          <a:p>
            <a:fld id="{503513B9-56A2-894E-84AC-78DB7954EA7D}" type="datetime1">
              <a:rPr lang="en-US" smtClean="0"/>
              <a:t>7/29/2026</a:t>
            </a:fld>
            <a:endParaRPr lang="en-US"/>
          </a:p>
        </p:txBody>
      </p:sp>
      <p:sp>
        <p:nvSpPr>
          <p:cNvPr id="8" name="Footer Placeholder 7">
            <a:extLst>
              <a:ext uri="{FF2B5EF4-FFF2-40B4-BE49-F238E27FC236}">
                <a16:creationId xmlns:a16="http://schemas.microsoft.com/office/drawing/2014/main" id="{E8610E29-4C91-BF45-813E-7733F7ED382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33D1DBF-548B-C44B-A9CA-A4AA75DE6CB2}"/>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1186187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C4A0C-1B4A-A148-83BE-FBC36C4E7E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2A99E5A-BC58-684A-854A-986712C603E8}"/>
              </a:ext>
            </a:extLst>
          </p:cNvPr>
          <p:cNvSpPr>
            <a:spLocks noGrp="1"/>
          </p:cNvSpPr>
          <p:nvPr>
            <p:ph type="dt" sz="half" idx="10"/>
          </p:nvPr>
        </p:nvSpPr>
        <p:spPr/>
        <p:txBody>
          <a:bodyPr/>
          <a:lstStyle/>
          <a:p>
            <a:fld id="{EED52E1C-DAC7-2845-A34C-154E7BA2B192}" type="datetime1">
              <a:rPr lang="en-US" smtClean="0"/>
              <a:t>7/29/2026</a:t>
            </a:fld>
            <a:endParaRPr lang="en-US"/>
          </a:p>
        </p:txBody>
      </p:sp>
      <p:sp>
        <p:nvSpPr>
          <p:cNvPr id="4" name="Footer Placeholder 3">
            <a:extLst>
              <a:ext uri="{FF2B5EF4-FFF2-40B4-BE49-F238E27FC236}">
                <a16:creationId xmlns:a16="http://schemas.microsoft.com/office/drawing/2014/main" id="{78365D2C-58DF-8546-9A33-9471F565375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0F503D0-879B-B745-9E62-78E679ADCCC3}"/>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3069295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4E2FDA-EE2D-8E4E-99B0-9FE6349507C2}"/>
              </a:ext>
            </a:extLst>
          </p:cNvPr>
          <p:cNvSpPr>
            <a:spLocks noGrp="1"/>
          </p:cNvSpPr>
          <p:nvPr>
            <p:ph type="dt" sz="half" idx="10"/>
          </p:nvPr>
        </p:nvSpPr>
        <p:spPr/>
        <p:txBody>
          <a:bodyPr/>
          <a:lstStyle/>
          <a:p>
            <a:fld id="{1F7A6845-556B-7F47-8826-F6A7D696CD17}" type="datetime1">
              <a:rPr lang="en-US" smtClean="0"/>
              <a:t>7/29/2026</a:t>
            </a:fld>
            <a:endParaRPr lang="en-US"/>
          </a:p>
        </p:txBody>
      </p:sp>
      <p:sp>
        <p:nvSpPr>
          <p:cNvPr id="3" name="Footer Placeholder 2">
            <a:extLst>
              <a:ext uri="{FF2B5EF4-FFF2-40B4-BE49-F238E27FC236}">
                <a16:creationId xmlns:a16="http://schemas.microsoft.com/office/drawing/2014/main" id="{47B317BC-A40C-4D45-9279-7698A6E5A5A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67FDD1-E6FF-404D-96BA-26CA56C45F2A}"/>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36810218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CB305-4ED0-8848-857A-E423B37ED2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F7600C4-68D3-C94C-9AF4-CA9B3E94F48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6F295DC-F288-604F-BD95-93F79EE389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E19FFC-BF69-4146-8145-D535568DCA5A}"/>
              </a:ext>
            </a:extLst>
          </p:cNvPr>
          <p:cNvSpPr>
            <a:spLocks noGrp="1"/>
          </p:cNvSpPr>
          <p:nvPr>
            <p:ph type="dt" sz="half" idx="10"/>
          </p:nvPr>
        </p:nvSpPr>
        <p:spPr/>
        <p:txBody>
          <a:bodyPr/>
          <a:lstStyle/>
          <a:p>
            <a:fld id="{B77A45C0-1509-8147-9A5F-C30BF7F14D05}" type="datetime1">
              <a:rPr lang="en-US" smtClean="0"/>
              <a:t>7/29/2026</a:t>
            </a:fld>
            <a:endParaRPr lang="en-US"/>
          </a:p>
        </p:txBody>
      </p:sp>
      <p:sp>
        <p:nvSpPr>
          <p:cNvPr id="6" name="Footer Placeholder 5">
            <a:extLst>
              <a:ext uri="{FF2B5EF4-FFF2-40B4-BE49-F238E27FC236}">
                <a16:creationId xmlns:a16="http://schemas.microsoft.com/office/drawing/2014/main" id="{AA608AC6-8B2A-FA4E-9882-5B496E5BE2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034A4A-F50E-544A-9F28-D3EB594478BD}"/>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3341183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E3E71-AC1E-C546-8205-BBC894B6B5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2264831-E62D-F44C-B453-47BECFAC00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47F079C-96D8-5949-95F5-AA24C7FC97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002139-6EFA-9D40-B25C-BFE15F955ABE}"/>
              </a:ext>
            </a:extLst>
          </p:cNvPr>
          <p:cNvSpPr>
            <a:spLocks noGrp="1"/>
          </p:cNvSpPr>
          <p:nvPr>
            <p:ph type="dt" sz="half" idx="10"/>
          </p:nvPr>
        </p:nvSpPr>
        <p:spPr/>
        <p:txBody>
          <a:bodyPr/>
          <a:lstStyle/>
          <a:p>
            <a:fld id="{01E656B4-90FD-0A4F-8DBE-B85ABF5FC91C}" type="datetime1">
              <a:rPr lang="en-US" smtClean="0"/>
              <a:t>7/29/2026</a:t>
            </a:fld>
            <a:endParaRPr lang="en-US"/>
          </a:p>
        </p:txBody>
      </p:sp>
      <p:sp>
        <p:nvSpPr>
          <p:cNvPr id="6" name="Footer Placeholder 5">
            <a:extLst>
              <a:ext uri="{FF2B5EF4-FFF2-40B4-BE49-F238E27FC236}">
                <a16:creationId xmlns:a16="http://schemas.microsoft.com/office/drawing/2014/main" id="{8B9DA5C2-E09C-884C-8DA8-222389B1018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50D65F-F9D2-914F-8503-61B3B469FB65}"/>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3207716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6541B-E467-E148-88CE-8DAF5AC34E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17E00B-38A8-A443-8739-DCF9048A7E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29A2A1-58B2-0948-BE4A-3BCD5AAA9792}"/>
              </a:ext>
            </a:extLst>
          </p:cNvPr>
          <p:cNvSpPr>
            <a:spLocks noGrp="1"/>
          </p:cNvSpPr>
          <p:nvPr>
            <p:ph type="dt" sz="half" idx="10"/>
          </p:nvPr>
        </p:nvSpPr>
        <p:spPr/>
        <p:txBody>
          <a:bodyPr/>
          <a:lstStyle/>
          <a:p>
            <a:fld id="{EDB61274-1F15-EA40-93D3-4BC61ECCB93D}" type="datetime1">
              <a:rPr lang="en-US" smtClean="0"/>
              <a:t>7/29/2026</a:t>
            </a:fld>
            <a:endParaRPr lang="en-US"/>
          </a:p>
        </p:txBody>
      </p:sp>
      <p:sp>
        <p:nvSpPr>
          <p:cNvPr id="5" name="Footer Placeholder 4">
            <a:extLst>
              <a:ext uri="{FF2B5EF4-FFF2-40B4-BE49-F238E27FC236}">
                <a16:creationId xmlns:a16="http://schemas.microsoft.com/office/drawing/2014/main" id="{664DAC2D-4814-8D4C-8DF1-29C266D11B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F63EDF-3CAD-AA43-A340-424306E5BE4F}"/>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1731734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7AA97A-3649-AD44-919F-132E8CBC25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A1188B4-4FD1-094D-B953-2B345E4F71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0AA260-2036-114D-8F21-44E761C2D0AF}"/>
              </a:ext>
            </a:extLst>
          </p:cNvPr>
          <p:cNvSpPr>
            <a:spLocks noGrp="1"/>
          </p:cNvSpPr>
          <p:nvPr>
            <p:ph type="dt" sz="half" idx="10"/>
          </p:nvPr>
        </p:nvSpPr>
        <p:spPr/>
        <p:txBody>
          <a:bodyPr/>
          <a:lstStyle/>
          <a:p>
            <a:fld id="{C8C284A1-19A6-034D-814C-A159F760189F}" type="datetime1">
              <a:rPr lang="en-US" smtClean="0"/>
              <a:t>7/29/2026</a:t>
            </a:fld>
            <a:endParaRPr lang="en-US"/>
          </a:p>
        </p:txBody>
      </p:sp>
      <p:sp>
        <p:nvSpPr>
          <p:cNvPr id="5" name="Footer Placeholder 4">
            <a:extLst>
              <a:ext uri="{FF2B5EF4-FFF2-40B4-BE49-F238E27FC236}">
                <a16:creationId xmlns:a16="http://schemas.microsoft.com/office/drawing/2014/main" id="{4771FDA6-C06A-9640-8812-E6BC491E97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FE6085-E504-6947-9DE8-BBE0BA9131D2}"/>
              </a:ext>
            </a:extLst>
          </p:cNvPr>
          <p:cNvSpPr>
            <a:spLocks noGrp="1"/>
          </p:cNvSpPr>
          <p:nvPr>
            <p:ph type="sldNum" sz="quarter" idx="12"/>
          </p:nvPr>
        </p:nvSpPr>
        <p:spPr/>
        <p:txBody>
          <a:bodyPr/>
          <a:lstStyle/>
          <a:p>
            <a:fld id="{2386C454-E1BD-5A43-901A-CA4ACC7380B7}" type="slidenum">
              <a:rPr lang="en-US" smtClean="0"/>
              <a:t>‹#›</a:t>
            </a:fld>
            <a:endParaRPr lang="en-US"/>
          </a:p>
        </p:txBody>
      </p:sp>
    </p:spTree>
    <p:extLst>
      <p:ext uri="{BB962C8B-B14F-4D97-AF65-F5344CB8AC3E}">
        <p14:creationId xmlns:p14="http://schemas.microsoft.com/office/powerpoint/2010/main" val="161687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3EA77F-5A2B-ED45-AF55-19811C2AC1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572D507-DDC9-E940-8AC6-87B8A768B5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9D1271-3A6D-4F47-9F42-BEBA65019C0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091252B-53CD-FD48-8F41-AFAB0984D5BF}" type="datetime1">
              <a:rPr lang="en-US" smtClean="0"/>
              <a:t>7/29/2026</a:t>
            </a:fld>
            <a:endParaRPr lang="en-US"/>
          </a:p>
        </p:txBody>
      </p:sp>
      <p:sp>
        <p:nvSpPr>
          <p:cNvPr id="5" name="Footer Placeholder 4">
            <a:extLst>
              <a:ext uri="{FF2B5EF4-FFF2-40B4-BE49-F238E27FC236}">
                <a16:creationId xmlns:a16="http://schemas.microsoft.com/office/drawing/2014/main" id="{7C9A1370-B33E-034B-8489-5ABBEE195F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B5240A2-DA22-7343-AC6E-1C3776139F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386C454-E1BD-5A43-901A-CA4ACC7380B7}" type="slidenum">
              <a:rPr lang="en-US" smtClean="0"/>
              <a:t>‹#›</a:t>
            </a:fld>
            <a:endParaRPr lang="en-US"/>
          </a:p>
        </p:txBody>
      </p:sp>
    </p:spTree>
    <p:extLst>
      <p:ext uri="{BB962C8B-B14F-4D97-AF65-F5344CB8AC3E}">
        <p14:creationId xmlns:p14="http://schemas.microsoft.com/office/powerpoint/2010/main" val="31029226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0.png"/></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0.png"/><Relationship Id="rId7"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0.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1.emf"/><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9"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chart" Target="../charts/chart2.xml"/><Relationship Id="rId4" Type="http://schemas.openxmlformats.org/officeDocument/2006/relationships/image" Target="../media/image43.png"/></Relationships>
</file>

<file path=ppt/slides/_rels/slide2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44.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60.png"/><Relationship Id="rId7" Type="http://schemas.openxmlformats.org/officeDocument/2006/relationships/image" Target="../media/image49.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480.png"/><Relationship Id="rId5" Type="http://schemas.openxmlformats.org/officeDocument/2006/relationships/image" Target="../media/image470.png"/><Relationship Id="rId4" Type="http://schemas.openxmlformats.org/officeDocument/2006/relationships/image" Target="../media/image240.png"/></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54.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53.png"/><Relationship Id="rId5" Type="http://schemas.openxmlformats.org/officeDocument/2006/relationships/image" Target="../media/image260.png"/><Relationship Id="rId4" Type="http://schemas.openxmlformats.org/officeDocument/2006/relationships/image" Target="../media/image51.png"/></Relationships>
</file>

<file path=ppt/slides/_rels/slide2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image" Target="../media/image46.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z="1400" smtClean="0"/>
              <a:t>1</a:t>
            </a:fld>
            <a:endParaRPr lang="en-US" sz="1400"/>
          </a:p>
        </p:txBody>
      </p:sp>
      <p:sp>
        <p:nvSpPr>
          <p:cNvPr id="5" name="TextBox 4">
            <a:extLst>
              <a:ext uri="{FF2B5EF4-FFF2-40B4-BE49-F238E27FC236}">
                <a16:creationId xmlns:a16="http://schemas.microsoft.com/office/drawing/2014/main" id="{FE26F3B4-9DA8-7245-8E6E-F1D070C26EBA}"/>
              </a:ext>
            </a:extLst>
          </p:cNvPr>
          <p:cNvSpPr txBox="1"/>
          <p:nvPr/>
        </p:nvSpPr>
        <p:spPr>
          <a:xfrm>
            <a:off x="866898" y="136525"/>
            <a:ext cx="10497783" cy="707886"/>
          </a:xfrm>
          <a:prstGeom prst="rect">
            <a:avLst/>
          </a:prstGeom>
          <a:noFill/>
        </p:spPr>
        <p:txBody>
          <a:bodyPr wrap="square" rtlCol="0">
            <a:spAutoFit/>
          </a:bodyPr>
          <a:lstStyle/>
          <a:p>
            <a:pPr algn="ctr"/>
            <a:r>
              <a:rPr lang="en-US" sz="4000" b="1" dirty="0">
                <a:latin typeface="Arial" panose="020B0604020202020204" pitchFamily="34" charset="0"/>
                <a:cs typeface="Arial" panose="020B0604020202020204" pitchFamily="34" charset="0"/>
              </a:rPr>
              <a:t>Thresholds of motion</a:t>
            </a:r>
          </a:p>
        </p:txBody>
      </p:sp>
    </p:spTree>
    <p:extLst>
      <p:ext uri="{BB962C8B-B14F-4D97-AF65-F5344CB8AC3E}">
        <p14:creationId xmlns:p14="http://schemas.microsoft.com/office/powerpoint/2010/main" val="27419480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F3CE68E-C94C-EE44-811D-3628FC99C0F1}"/>
                  </a:ext>
                </a:extLst>
              </p:cNvPr>
              <p:cNvSpPr txBox="1"/>
              <p:nvPr/>
            </p:nvSpPr>
            <p:spPr>
              <a:xfrm>
                <a:off x="661085" y="3844685"/>
                <a:ext cx="10692715" cy="258327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where </a:t>
                </a:r>
                <a:r>
                  <a:rPr lang="en-US" sz="2000" dirty="0" err="1">
                    <a:latin typeface="Symbol" pitchFamily="2" charset="2"/>
                    <a:cs typeface="Arial" panose="020B0604020202020204" pitchFamily="34" charset="0"/>
                  </a:rPr>
                  <a:t>m</a:t>
                </a:r>
                <a:r>
                  <a:rPr lang="en-US" sz="2000" baseline="-25000" dirty="0" err="1">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 is the Coulomb coefficient of resistance of a granule on a granular bed, </a:t>
                </a:r>
                <a:r>
                  <a:rPr lang="en-US" sz="2000" dirty="0">
                    <a:latin typeface="Symbol" pitchFamily="2" charset="2"/>
                    <a:cs typeface="Arial" panose="020B0604020202020204" pitchFamily="34" charset="0"/>
                  </a:rPr>
                  <a:t>t</a:t>
                </a:r>
                <a:r>
                  <a:rPr lang="en-US" baseline="-25000" dirty="0">
                    <a:latin typeface="Arial" panose="020B0604020202020204" pitchFamily="34" charset="0"/>
                    <a:cs typeface="Arial" panose="020B0604020202020204" pitchFamily="34" charset="0"/>
                  </a:rPr>
                  <a:t>b</a:t>
                </a:r>
                <a:r>
                  <a:rPr lang="en-US" dirty="0">
                    <a:latin typeface="Arial" panose="020B0604020202020204" pitchFamily="34" charset="0"/>
                    <a:cs typeface="Arial" panose="020B0604020202020204" pitchFamily="34" charset="0"/>
                  </a:rPr>
                  <a:t> is the boundary shear stress at the bed (bed shear stress) and R is the submerged specific gravity of the sediment defined as</a:t>
                </a:r>
              </a:p>
              <a:p>
                <a:endParaRPr lang="en-US" dirty="0">
                  <a:latin typeface="Arial" panose="020B0604020202020204" pitchFamily="34" charset="0"/>
                  <a:cs typeface="Arial" panose="020B0604020202020204" pitchFamily="34" charset="0"/>
                </a:endParaRPr>
              </a:p>
              <a:p>
                <a:pPr/>
                <a14:m>
                  <m:oMathPara xmlns:m="http://schemas.openxmlformats.org/officeDocument/2006/math">
                    <m:oMathParaPr>
                      <m:jc m:val="left"/>
                    </m:oMathParaPr>
                    <m:oMath xmlns:m="http://schemas.openxmlformats.org/officeDocument/2006/math">
                      <m:r>
                        <a:rPr lang="en-US" b="0" i="1" smtClean="0">
                          <a:latin typeface="Cambria Math" panose="02040503050406030204" pitchFamily="18" charset="0"/>
                          <a:cs typeface="Arial" panose="020B0604020202020204" pitchFamily="34" charset="0"/>
                        </a:rPr>
                        <m:t>𝑅</m:t>
                      </m:r>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𝜌</m:t>
                              </m:r>
                            </m:e>
                            <m:sub>
                              <m:r>
                                <a:rPr lang="en-US" b="0" i="1" smtClean="0">
                                  <a:latin typeface="Cambria Math" panose="02040503050406030204" pitchFamily="18" charset="0"/>
                                  <a:cs typeface="Arial" panose="020B0604020202020204" pitchFamily="34" charset="0"/>
                                </a:rPr>
                                <m:t>𝑠</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𝜌</m:t>
                          </m:r>
                        </m:den>
                      </m:f>
                      <m:r>
                        <a:rPr lang="en-US" b="0" i="1" smtClean="0">
                          <a:latin typeface="Cambria Math" panose="02040503050406030204" pitchFamily="18" charset="0"/>
                          <a:cs typeface="Arial" panose="020B0604020202020204" pitchFamily="34" charset="0"/>
                        </a:rPr>
                        <m:t>−1</m:t>
                      </m:r>
                    </m:oMath>
                  </m:oMathPara>
                </a14:m>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with </a:t>
                </a:r>
                <a:r>
                  <a:rPr lang="en-US" dirty="0" err="1">
                    <a:latin typeface="Symbol" pitchFamily="2" charset="2"/>
                    <a:cs typeface="Arial" panose="020B0604020202020204" pitchFamily="34" charset="0"/>
                  </a:rPr>
                  <a:t>r</a:t>
                </a:r>
                <a:r>
                  <a:rPr lang="en-US" baseline="-25000" dirty="0" err="1">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being sediment density. </a:t>
                </a:r>
              </a:p>
              <a:p>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2F3CE68E-C94C-EE44-811D-3628FC99C0F1}"/>
                  </a:ext>
                </a:extLst>
              </p:cNvPr>
              <p:cNvSpPr txBox="1">
                <a:spLocks noRot="1" noChangeAspect="1" noMove="1" noResize="1" noEditPoints="1" noAdjustHandles="1" noChangeArrowheads="1" noChangeShapeType="1" noTextEdit="1"/>
              </p:cNvSpPr>
              <p:nvPr/>
            </p:nvSpPr>
            <p:spPr>
              <a:xfrm>
                <a:off x="661085" y="3844685"/>
                <a:ext cx="10692715" cy="2583271"/>
              </a:xfrm>
              <a:prstGeom prst="rect">
                <a:avLst/>
              </a:prstGeom>
              <a:blipFill>
                <a:blip r:embed="rId2"/>
                <a:stretch>
                  <a:fillRect l="-355" t="-980"/>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2</a:t>
            </a:fld>
            <a:endParaRPr lang="en-US"/>
          </a:p>
        </p:txBody>
      </p:sp>
      <p:sp>
        <p:nvSpPr>
          <p:cNvPr id="5" name="TextBox 4">
            <a:extLst>
              <a:ext uri="{FF2B5EF4-FFF2-40B4-BE49-F238E27FC236}">
                <a16:creationId xmlns:a16="http://schemas.microsoft.com/office/drawing/2014/main" id="{FE26F3B4-9DA8-7245-8E6E-F1D070C26EBA}"/>
              </a:ext>
            </a:extLst>
          </p:cNvPr>
          <p:cNvSpPr txBox="1"/>
          <p:nvPr/>
        </p:nvSpPr>
        <p:spPr>
          <a:xfrm>
            <a:off x="1472541" y="136525"/>
            <a:ext cx="929837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The Shields number</a:t>
            </a:r>
          </a:p>
        </p:txBody>
      </p:sp>
      <p:sp>
        <p:nvSpPr>
          <p:cNvPr id="24" name="TextBox 23">
            <a:extLst>
              <a:ext uri="{FF2B5EF4-FFF2-40B4-BE49-F238E27FC236}">
                <a16:creationId xmlns:a16="http://schemas.microsoft.com/office/drawing/2014/main" id="{974FD763-C9F2-F34A-A70B-502115AE228A}"/>
              </a:ext>
            </a:extLst>
          </p:cNvPr>
          <p:cNvSpPr txBox="1"/>
          <p:nvPr/>
        </p:nvSpPr>
        <p:spPr>
          <a:xfrm>
            <a:off x="463138" y="751888"/>
            <a:ext cx="11435937"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We defined the Shields number as</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667716A-AA21-D549-AFF3-63B18B35969D}"/>
                  </a:ext>
                </a:extLst>
              </p:cNvPr>
              <p:cNvSpPr txBox="1"/>
              <p:nvPr/>
            </p:nvSpPr>
            <p:spPr>
              <a:xfrm>
                <a:off x="661086" y="1328352"/>
                <a:ext cx="1160831" cy="521040"/>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cs typeface="Arial" panose="020B0604020202020204" pitchFamily="34" charset="0"/>
                            </a:rPr>
                          </m:ctrlPr>
                        </m:s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m:t>
                              </m:r>
                            </m:sub>
                          </m:sSub>
                        </m:num>
                        <m:den>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𝑅𝑔𝐷</m:t>
                          </m:r>
                        </m:den>
                      </m:f>
                    </m:oMath>
                  </m:oMathPara>
                </a14:m>
                <a:endParaRPr lang="en-US" dirty="0">
                  <a:latin typeface="Arial" panose="020B0604020202020204" pitchFamily="34" charset="0"/>
                  <a:cs typeface="Arial" panose="020B0604020202020204" pitchFamily="34" charset="0"/>
                </a:endParaRPr>
              </a:p>
            </p:txBody>
          </p:sp>
        </mc:Choice>
        <mc:Fallback xmlns="">
          <p:sp>
            <p:nvSpPr>
              <p:cNvPr id="2" name="TextBox 1">
                <a:extLst>
                  <a:ext uri="{FF2B5EF4-FFF2-40B4-BE49-F238E27FC236}">
                    <a16:creationId xmlns:a16="http://schemas.microsoft.com/office/drawing/2014/main" id="{3667716A-AA21-D549-AFF3-63B18B35969D}"/>
                  </a:ext>
                </a:extLst>
              </p:cNvPr>
              <p:cNvSpPr txBox="1">
                <a:spLocks noRot="1" noChangeAspect="1" noMove="1" noResize="1" noEditPoints="1" noAdjustHandles="1" noChangeArrowheads="1" noChangeShapeType="1" noTextEdit="1"/>
              </p:cNvSpPr>
              <p:nvPr/>
            </p:nvSpPr>
            <p:spPr>
              <a:xfrm>
                <a:off x="661086" y="1328352"/>
                <a:ext cx="1160831" cy="521040"/>
              </a:xfrm>
              <a:prstGeom prst="rect">
                <a:avLst/>
              </a:prstGeom>
              <a:blipFill>
                <a:blip r:embed="rId3"/>
                <a:stretch>
                  <a:fillRect l="-1075" r="-5376" b="-21429"/>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C4A514EC-7F8F-5F4A-A7AC-467E5B0930C7}"/>
              </a:ext>
            </a:extLst>
          </p:cNvPr>
          <p:cNvSpPr txBox="1"/>
          <p:nvPr/>
        </p:nvSpPr>
        <p:spPr>
          <a:xfrm>
            <a:off x="463138" y="2099773"/>
            <a:ext cx="11435937"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It can be interpreted as a ratio scaling the impelling flow drag acting on the grain to the resistive Coulomb force  </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3A6DBC7-956F-0545-964E-C2494B24A573}"/>
                  </a:ext>
                </a:extLst>
              </p:cNvPr>
              <p:cNvSpPr txBox="1"/>
              <p:nvPr/>
            </p:nvSpPr>
            <p:spPr>
              <a:xfrm>
                <a:off x="661085" y="2719486"/>
                <a:ext cx="2031710" cy="838691"/>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cs typeface="Arial" panose="020B0604020202020204" pitchFamily="34" charset="0"/>
                            </a:rPr>
                          </m:ctrlPr>
                        </m:s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p>
                          <m:r>
                            <a:rPr lang="en-US" b="0" i="1" smtClean="0">
                              <a:latin typeface="Cambria Math" panose="02040503050406030204" pitchFamily="18" charset="0"/>
                              <a:cs typeface="Arial" panose="020B0604020202020204" pitchFamily="34" charset="0"/>
                            </a:rPr>
                            <m:t>∗</m:t>
                          </m:r>
                        </m:sup>
                      </m:sSup>
                      <m:r>
                        <a:rPr lang="en-US" i="1">
                          <a:latin typeface="Cambria Math" panose="02040503050406030204" pitchFamily="18" charset="0"/>
                          <a:ea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m:t>
                              </m:r>
                            </m:sub>
                          </m:sSub>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𝐷</m:t>
                              </m:r>
                            </m:e>
                            <m:sup>
                              <m:r>
                                <a:rPr lang="en-US" b="0" i="1" smtClean="0">
                                  <a:latin typeface="Cambria Math" panose="02040503050406030204" pitchFamily="18" charset="0"/>
                                  <a:cs typeface="Arial" panose="020B0604020202020204" pitchFamily="34" charset="0"/>
                                </a:rPr>
                                <m:t>2</m:t>
                              </m:r>
                            </m:sup>
                          </m:sSup>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𝜇</m:t>
                              </m:r>
                            </m:e>
                            <m:sub>
                              <m:r>
                                <a:rPr lang="en-US" b="0" i="1" smtClean="0">
                                  <a:latin typeface="Cambria Math" panose="02040503050406030204" pitchFamily="18" charset="0"/>
                                  <a:cs typeface="Arial" panose="020B0604020202020204" pitchFamily="34" charset="0"/>
                                </a:rPr>
                                <m:t>𝐶</m:t>
                              </m:r>
                            </m:sub>
                          </m:sSub>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𝑅𝑔</m:t>
                          </m:r>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4</m:t>
                              </m:r>
                            </m:num>
                            <m:den>
                              <m:r>
                                <a:rPr lang="en-US" b="0" i="1" smtClean="0">
                                  <a:latin typeface="Cambria Math" panose="02040503050406030204" pitchFamily="18" charset="0"/>
                                  <a:ea typeface="Cambria Math" panose="02040503050406030204" pitchFamily="18" charset="0"/>
                                  <a:cs typeface="Arial" panose="020B0604020202020204" pitchFamily="34" charset="0"/>
                                </a:rPr>
                                <m:t>3</m:t>
                              </m:r>
                            </m:den>
                          </m:f>
                          <m:r>
                            <a:rPr lang="en-US" b="0" i="1" smtClean="0">
                              <a:latin typeface="Cambria Math" panose="02040503050406030204" pitchFamily="18" charset="0"/>
                              <a:ea typeface="Cambria Math" panose="02040503050406030204" pitchFamily="18" charset="0"/>
                              <a:cs typeface="Arial" panose="020B0604020202020204" pitchFamily="34" charset="0"/>
                            </a:rPr>
                            <m:t>𝜋</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𝐷</m:t>
                                      </m:r>
                                    </m:num>
                                    <m:den>
                                      <m:r>
                                        <a:rPr lang="en-US" b="0" i="1" smtClean="0">
                                          <a:latin typeface="Cambria Math" panose="02040503050406030204" pitchFamily="18" charset="0"/>
                                          <a:ea typeface="Cambria Math" panose="02040503050406030204" pitchFamily="18" charset="0"/>
                                          <a:cs typeface="Arial" panose="020B0604020202020204" pitchFamily="34" charset="0"/>
                                        </a:rPr>
                                        <m:t>2</m:t>
                                      </m:r>
                                    </m:den>
                                  </m:f>
                                </m:e>
                              </m:d>
                            </m:e>
                            <m:sup>
                              <m:r>
                                <a:rPr lang="en-US" b="0" i="1" smtClean="0">
                                  <a:latin typeface="Cambria Math" panose="02040503050406030204" pitchFamily="18" charset="0"/>
                                  <a:ea typeface="Cambria Math" panose="02040503050406030204" pitchFamily="18" charset="0"/>
                                  <a:cs typeface="Arial" panose="020B0604020202020204" pitchFamily="34" charset="0"/>
                                </a:rPr>
                                <m:t>3</m:t>
                              </m:r>
                            </m:sup>
                          </m:sSup>
                        </m:den>
                      </m:f>
                    </m:oMath>
                  </m:oMathPara>
                </a14:m>
                <a:endParaRPr lang="en-US" dirty="0">
                  <a:latin typeface="Arial" panose="020B0604020202020204" pitchFamily="34" charset="0"/>
                  <a:cs typeface="Arial" panose="020B0604020202020204" pitchFamily="34" charset="0"/>
                </a:endParaRPr>
              </a:p>
            </p:txBody>
          </p:sp>
        </mc:Choice>
        <mc:Fallback xmlns="">
          <p:sp>
            <p:nvSpPr>
              <p:cNvPr id="20" name="TextBox 19">
                <a:extLst>
                  <a:ext uri="{FF2B5EF4-FFF2-40B4-BE49-F238E27FC236}">
                    <a16:creationId xmlns:a16="http://schemas.microsoft.com/office/drawing/2014/main" id="{F3A6DBC7-956F-0545-964E-C2494B24A573}"/>
                  </a:ext>
                </a:extLst>
              </p:cNvPr>
              <p:cNvSpPr txBox="1">
                <a:spLocks noRot="1" noChangeAspect="1" noMove="1" noResize="1" noEditPoints="1" noAdjustHandles="1" noChangeArrowheads="1" noChangeShapeType="1" noTextEdit="1"/>
              </p:cNvSpPr>
              <p:nvPr/>
            </p:nvSpPr>
            <p:spPr>
              <a:xfrm>
                <a:off x="661085" y="2719486"/>
                <a:ext cx="2031710" cy="838691"/>
              </a:xfrm>
              <a:prstGeom prst="rect">
                <a:avLst/>
              </a:prstGeom>
              <a:blipFill>
                <a:blip r:embed="rId4"/>
                <a:stretch>
                  <a:fillRect l="-617" b="-8955"/>
                </a:stretch>
              </a:blipFill>
            </p:spPr>
            <p:txBody>
              <a:bodyPr/>
              <a:lstStyle/>
              <a:p>
                <a:r>
                  <a:rPr lang="en-US">
                    <a:noFill/>
                  </a:rPr>
                  <a:t> </a:t>
                </a:r>
              </a:p>
            </p:txBody>
          </p:sp>
        </mc:Fallback>
      </mc:AlternateContent>
    </p:spTree>
    <p:extLst>
      <p:ext uri="{BB962C8B-B14F-4D97-AF65-F5344CB8AC3E}">
        <p14:creationId xmlns:p14="http://schemas.microsoft.com/office/powerpoint/2010/main" val="4231838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Rectangle 94">
            <a:extLst>
              <a:ext uri="{FF2B5EF4-FFF2-40B4-BE49-F238E27FC236}">
                <a16:creationId xmlns:a16="http://schemas.microsoft.com/office/drawing/2014/main" id="{B837091F-BD1B-4945-A63C-EEB431184990}"/>
              </a:ext>
            </a:extLst>
          </p:cNvPr>
          <p:cNvSpPr/>
          <p:nvPr/>
        </p:nvSpPr>
        <p:spPr>
          <a:xfrm>
            <a:off x="7253416" y="1570769"/>
            <a:ext cx="3517504" cy="2047715"/>
          </a:xfrm>
          <a:prstGeom prst="rect">
            <a:avLst/>
          </a:prstGeom>
          <a:solidFill>
            <a:srgbClr val="00B0F0"/>
          </a:solid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3</a:t>
            </a:fld>
            <a:endParaRPr lang="en-US"/>
          </a:p>
        </p:txBody>
      </p:sp>
      <p:sp>
        <p:nvSpPr>
          <p:cNvPr id="5" name="TextBox 4">
            <a:extLst>
              <a:ext uri="{FF2B5EF4-FFF2-40B4-BE49-F238E27FC236}">
                <a16:creationId xmlns:a16="http://schemas.microsoft.com/office/drawing/2014/main" id="{FE26F3B4-9DA8-7245-8E6E-F1D070C26EBA}"/>
              </a:ext>
            </a:extLst>
          </p:cNvPr>
          <p:cNvSpPr txBox="1"/>
          <p:nvPr/>
        </p:nvSpPr>
        <p:spPr>
          <a:xfrm>
            <a:off x="1157548" y="136525"/>
            <a:ext cx="988079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Angle of repose, threshold of motion in standing water</a:t>
            </a:r>
          </a:p>
        </p:txBody>
      </p:sp>
      <p:sp>
        <p:nvSpPr>
          <p:cNvPr id="3" name="Oval 2">
            <a:extLst>
              <a:ext uri="{FF2B5EF4-FFF2-40B4-BE49-F238E27FC236}">
                <a16:creationId xmlns:a16="http://schemas.microsoft.com/office/drawing/2014/main" id="{531AE6A0-C14C-1347-9183-A99BA99103AE}"/>
              </a:ext>
            </a:extLst>
          </p:cNvPr>
          <p:cNvSpPr>
            <a:spLocks noChangeAspect="1"/>
          </p:cNvSpPr>
          <p:nvPr/>
        </p:nvSpPr>
        <p:spPr>
          <a:xfrm>
            <a:off x="9008077" y="217478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DDEB96A-CC7B-5D42-8F01-BB30D8A68BC4}"/>
              </a:ext>
            </a:extLst>
          </p:cNvPr>
          <p:cNvSpPr>
            <a:spLocks noChangeAspect="1"/>
          </p:cNvSpPr>
          <p:nvPr/>
        </p:nvSpPr>
        <p:spPr>
          <a:xfrm>
            <a:off x="9106769" y="227976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FFFD05A3-80C1-EF45-89C9-827A44BAB4C2}"/>
              </a:ext>
            </a:extLst>
          </p:cNvPr>
          <p:cNvSpPr>
            <a:spLocks noChangeAspect="1"/>
          </p:cNvSpPr>
          <p:nvPr/>
        </p:nvSpPr>
        <p:spPr>
          <a:xfrm>
            <a:off x="9112855" y="243216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18D6ADA-22CE-5F41-AF33-4AD5E808CCA1}"/>
              </a:ext>
            </a:extLst>
          </p:cNvPr>
          <p:cNvSpPr>
            <a:spLocks noChangeAspect="1"/>
          </p:cNvSpPr>
          <p:nvPr/>
        </p:nvSpPr>
        <p:spPr>
          <a:xfrm>
            <a:off x="9269385" y="246891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F00D443-7985-A54F-B6B2-44A7C7A1EB0D}"/>
              </a:ext>
            </a:extLst>
          </p:cNvPr>
          <p:cNvSpPr>
            <a:spLocks noChangeAspect="1"/>
          </p:cNvSpPr>
          <p:nvPr/>
        </p:nvSpPr>
        <p:spPr>
          <a:xfrm>
            <a:off x="9291798" y="2614186"/>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BEA24A3-605C-1F4C-A7A1-C0D5325B0F1C}"/>
              </a:ext>
            </a:extLst>
          </p:cNvPr>
          <p:cNvSpPr>
            <a:spLocks noChangeAspect="1"/>
          </p:cNvSpPr>
          <p:nvPr/>
        </p:nvSpPr>
        <p:spPr>
          <a:xfrm>
            <a:off x="9435798" y="263557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339F302A-A511-6A44-A1C2-ECDFFD2FED74}"/>
              </a:ext>
            </a:extLst>
          </p:cNvPr>
          <p:cNvSpPr>
            <a:spLocks noChangeAspect="1"/>
          </p:cNvSpPr>
          <p:nvPr/>
        </p:nvSpPr>
        <p:spPr>
          <a:xfrm>
            <a:off x="9628642" y="283029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08398D1-47A5-1940-903C-BA56BFB3EDF6}"/>
              </a:ext>
            </a:extLst>
          </p:cNvPr>
          <p:cNvSpPr>
            <a:spLocks noChangeAspect="1"/>
          </p:cNvSpPr>
          <p:nvPr/>
        </p:nvSpPr>
        <p:spPr>
          <a:xfrm>
            <a:off x="9484642" y="278369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5E193AF-896F-6F4D-9C86-F997948DBEF1}"/>
              </a:ext>
            </a:extLst>
          </p:cNvPr>
          <p:cNvSpPr>
            <a:spLocks noChangeAspect="1"/>
          </p:cNvSpPr>
          <p:nvPr/>
        </p:nvSpPr>
        <p:spPr>
          <a:xfrm>
            <a:off x="9628642" y="297429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7DD34F9-1B1D-714E-9FC1-7BF36B35DFC0}"/>
              </a:ext>
            </a:extLst>
          </p:cNvPr>
          <p:cNvSpPr>
            <a:spLocks noChangeAspect="1"/>
          </p:cNvSpPr>
          <p:nvPr/>
        </p:nvSpPr>
        <p:spPr>
          <a:xfrm>
            <a:off x="9778992" y="3032961"/>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CA3FE4C-6909-C543-808F-62D518008CF9}"/>
              </a:ext>
            </a:extLst>
          </p:cNvPr>
          <p:cNvSpPr>
            <a:spLocks noChangeAspect="1"/>
          </p:cNvSpPr>
          <p:nvPr/>
        </p:nvSpPr>
        <p:spPr>
          <a:xfrm>
            <a:off x="9830219" y="318268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9DFEAB9-7B42-5643-B470-810A0FDBC982}"/>
              </a:ext>
            </a:extLst>
          </p:cNvPr>
          <p:cNvSpPr>
            <a:spLocks noChangeAspect="1"/>
          </p:cNvSpPr>
          <p:nvPr/>
        </p:nvSpPr>
        <p:spPr>
          <a:xfrm>
            <a:off x="9959133" y="323468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C04E74F0-699C-7B4B-95AE-68524F78ECE4}"/>
              </a:ext>
            </a:extLst>
          </p:cNvPr>
          <p:cNvSpPr>
            <a:spLocks noChangeAspect="1"/>
          </p:cNvSpPr>
          <p:nvPr/>
        </p:nvSpPr>
        <p:spPr>
          <a:xfrm>
            <a:off x="9164346" y="256990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8F6578FE-9023-9D47-AEA2-3C7E186C51CE}"/>
              </a:ext>
            </a:extLst>
          </p:cNvPr>
          <p:cNvSpPr>
            <a:spLocks noChangeAspect="1"/>
          </p:cNvSpPr>
          <p:nvPr/>
        </p:nvSpPr>
        <p:spPr>
          <a:xfrm>
            <a:off x="9170432" y="272230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C2A14572-ECF6-C049-9EAC-CEBB62A3453C}"/>
              </a:ext>
            </a:extLst>
          </p:cNvPr>
          <p:cNvSpPr>
            <a:spLocks noChangeAspect="1"/>
          </p:cNvSpPr>
          <p:nvPr/>
        </p:nvSpPr>
        <p:spPr>
          <a:xfrm>
            <a:off x="9326962" y="275905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6D82F8EA-B49F-7743-8B95-A0127B39558E}"/>
              </a:ext>
            </a:extLst>
          </p:cNvPr>
          <p:cNvSpPr>
            <a:spLocks noChangeAspect="1"/>
          </p:cNvSpPr>
          <p:nvPr/>
        </p:nvSpPr>
        <p:spPr>
          <a:xfrm>
            <a:off x="9349375" y="2904325"/>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BA9347AF-CAAC-024F-9CF8-5D90BE1D4A58}"/>
              </a:ext>
            </a:extLst>
          </p:cNvPr>
          <p:cNvSpPr>
            <a:spLocks noChangeAspect="1"/>
          </p:cNvSpPr>
          <p:nvPr/>
        </p:nvSpPr>
        <p:spPr>
          <a:xfrm>
            <a:off x="9493375" y="292571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4830E339-35A1-1B4F-93B0-19DEC7EFB9BD}"/>
              </a:ext>
            </a:extLst>
          </p:cNvPr>
          <p:cNvSpPr>
            <a:spLocks noChangeAspect="1"/>
          </p:cNvSpPr>
          <p:nvPr/>
        </p:nvSpPr>
        <p:spPr>
          <a:xfrm>
            <a:off x="9686219" y="3120431"/>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FD95BE44-C4CF-9A4D-A166-0F9707AEDC11}"/>
              </a:ext>
            </a:extLst>
          </p:cNvPr>
          <p:cNvSpPr>
            <a:spLocks noChangeAspect="1"/>
          </p:cNvSpPr>
          <p:nvPr/>
        </p:nvSpPr>
        <p:spPr>
          <a:xfrm>
            <a:off x="9542219" y="3073831"/>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18F10838-527F-6B40-825D-DD4B8E92AF7C}"/>
              </a:ext>
            </a:extLst>
          </p:cNvPr>
          <p:cNvSpPr>
            <a:spLocks noChangeAspect="1"/>
          </p:cNvSpPr>
          <p:nvPr/>
        </p:nvSpPr>
        <p:spPr>
          <a:xfrm>
            <a:off x="9686219" y="3264431"/>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5442A3E3-80D5-7D42-94E1-767CC0742767}"/>
              </a:ext>
            </a:extLst>
          </p:cNvPr>
          <p:cNvSpPr>
            <a:spLocks noChangeAspect="1"/>
          </p:cNvSpPr>
          <p:nvPr/>
        </p:nvSpPr>
        <p:spPr>
          <a:xfrm>
            <a:off x="9830219" y="334215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672F0C2B-8968-7D40-AF54-205E4832FB83}"/>
              </a:ext>
            </a:extLst>
          </p:cNvPr>
          <p:cNvSpPr>
            <a:spLocks noChangeAspect="1"/>
          </p:cNvSpPr>
          <p:nvPr/>
        </p:nvSpPr>
        <p:spPr>
          <a:xfrm>
            <a:off x="9929860" y="347252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15A853D5-C5F7-0F49-AC3B-C71869C32A67}"/>
              </a:ext>
            </a:extLst>
          </p:cNvPr>
          <p:cNvSpPr>
            <a:spLocks noChangeAspect="1"/>
          </p:cNvSpPr>
          <p:nvPr/>
        </p:nvSpPr>
        <p:spPr>
          <a:xfrm>
            <a:off x="10109483" y="3485255"/>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C4A5209C-0A30-E349-8198-C830BD61E0A1}"/>
              </a:ext>
            </a:extLst>
          </p:cNvPr>
          <p:cNvSpPr>
            <a:spLocks noChangeAspect="1"/>
          </p:cNvSpPr>
          <p:nvPr/>
        </p:nvSpPr>
        <p:spPr>
          <a:xfrm>
            <a:off x="8877523" y="224632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1640A295-43AC-DD43-8A4C-7D5A00CF429E}"/>
              </a:ext>
            </a:extLst>
          </p:cNvPr>
          <p:cNvSpPr>
            <a:spLocks noChangeAspect="1"/>
          </p:cNvSpPr>
          <p:nvPr/>
        </p:nvSpPr>
        <p:spPr>
          <a:xfrm>
            <a:off x="9014081" y="252874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A3C67A2A-4AE4-8745-AFE8-A67BC59953EF}"/>
              </a:ext>
            </a:extLst>
          </p:cNvPr>
          <p:cNvSpPr>
            <a:spLocks noChangeAspect="1"/>
          </p:cNvSpPr>
          <p:nvPr/>
        </p:nvSpPr>
        <p:spPr>
          <a:xfrm>
            <a:off x="8985664" y="235176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B039F57D-F8B7-9748-B844-74EDA0B7AC3F}"/>
              </a:ext>
            </a:extLst>
          </p:cNvPr>
          <p:cNvCxnSpPr>
            <a:cxnSpLocks/>
          </p:cNvCxnSpPr>
          <p:nvPr/>
        </p:nvCxnSpPr>
        <p:spPr>
          <a:xfrm flipV="1">
            <a:off x="7147560" y="3627923"/>
            <a:ext cx="3742176" cy="133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Oval 59">
            <a:extLst>
              <a:ext uri="{FF2B5EF4-FFF2-40B4-BE49-F238E27FC236}">
                <a16:creationId xmlns:a16="http://schemas.microsoft.com/office/drawing/2014/main" id="{2784D324-13A1-1E4A-88AC-EF7A8D03C9D3}"/>
              </a:ext>
            </a:extLst>
          </p:cNvPr>
          <p:cNvSpPr>
            <a:spLocks noChangeAspect="1"/>
          </p:cNvSpPr>
          <p:nvPr/>
        </p:nvSpPr>
        <p:spPr>
          <a:xfrm>
            <a:off x="10021380" y="337100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E1A611CD-FB25-2144-9AD6-3B33024F675E}"/>
              </a:ext>
            </a:extLst>
          </p:cNvPr>
          <p:cNvSpPr>
            <a:spLocks noChangeAspect="1"/>
          </p:cNvSpPr>
          <p:nvPr/>
        </p:nvSpPr>
        <p:spPr>
          <a:xfrm rot="16200000">
            <a:off x="7682477" y="347448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1CC89489-EC57-7646-A909-198B7C95009D}"/>
              </a:ext>
            </a:extLst>
          </p:cNvPr>
          <p:cNvSpPr>
            <a:spLocks noChangeAspect="1"/>
          </p:cNvSpPr>
          <p:nvPr/>
        </p:nvSpPr>
        <p:spPr>
          <a:xfrm rot="16200000">
            <a:off x="7778444" y="333842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EC0B0EBD-170E-3746-A7CC-DB186E921657}"/>
              </a:ext>
            </a:extLst>
          </p:cNvPr>
          <p:cNvSpPr>
            <a:spLocks noChangeAspect="1"/>
          </p:cNvSpPr>
          <p:nvPr/>
        </p:nvSpPr>
        <p:spPr>
          <a:xfrm rot="16200000">
            <a:off x="7692442" y="320202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D4DB7272-0E2E-6B4E-ACCD-920C737B7B0A}"/>
              </a:ext>
            </a:extLst>
          </p:cNvPr>
          <p:cNvSpPr>
            <a:spLocks noChangeAspect="1"/>
          </p:cNvSpPr>
          <p:nvPr/>
        </p:nvSpPr>
        <p:spPr>
          <a:xfrm rot="16200000">
            <a:off x="7754477" y="307481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8C30426D-2F4D-E34B-94C6-B42203E5DADB}"/>
              </a:ext>
            </a:extLst>
          </p:cNvPr>
          <p:cNvSpPr>
            <a:spLocks noChangeAspect="1"/>
          </p:cNvSpPr>
          <p:nvPr/>
        </p:nvSpPr>
        <p:spPr>
          <a:xfrm rot="16200000">
            <a:off x="7906334" y="301533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E9CB3839-8116-C74C-8387-C50B918E409F}"/>
              </a:ext>
            </a:extLst>
          </p:cNvPr>
          <p:cNvSpPr>
            <a:spLocks noChangeAspect="1"/>
          </p:cNvSpPr>
          <p:nvPr/>
        </p:nvSpPr>
        <p:spPr>
          <a:xfrm rot="16200000">
            <a:off x="7927721" y="287133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DC6FB20D-D8DC-B84A-8600-0159EA7B85D9}"/>
              </a:ext>
            </a:extLst>
          </p:cNvPr>
          <p:cNvSpPr>
            <a:spLocks noChangeAspect="1"/>
          </p:cNvSpPr>
          <p:nvPr/>
        </p:nvSpPr>
        <p:spPr>
          <a:xfrm rot="16200000">
            <a:off x="8892026" y="2098866"/>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FD2E8CC8-61CC-1C4A-8CFE-31C5815A7F8D}"/>
              </a:ext>
            </a:extLst>
          </p:cNvPr>
          <p:cNvSpPr>
            <a:spLocks noChangeAspect="1"/>
          </p:cNvSpPr>
          <p:nvPr/>
        </p:nvSpPr>
        <p:spPr>
          <a:xfrm rot="16200000">
            <a:off x="8075840" y="282249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F3CEE6CA-C6B8-834C-B001-B8831E9071E5}"/>
              </a:ext>
            </a:extLst>
          </p:cNvPr>
          <p:cNvSpPr>
            <a:spLocks noChangeAspect="1"/>
          </p:cNvSpPr>
          <p:nvPr/>
        </p:nvSpPr>
        <p:spPr>
          <a:xfrm rot="16200000">
            <a:off x="8266440" y="267849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59BF0157-57CA-3546-A474-4B4C7D8CDD7B}"/>
              </a:ext>
            </a:extLst>
          </p:cNvPr>
          <p:cNvSpPr>
            <a:spLocks noChangeAspect="1"/>
          </p:cNvSpPr>
          <p:nvPr/>
        </p:nvSpPr>
        <p:spPr>
          <a:xfrm rot="16200000">
            <a:off x="8325109" y="252814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0E956A7E-D2BB-9846-97F1-EE0C1AD36C78}"/>
              </a:ext>
            </a:extLst>
          </p:cNvPr>
          <p:cNvSpPr>
            <a:spLocks noChangeAspect="1"/>
          </p:cNvSpPr>
          <p:nvPr/>
        </p:nvSpPr>
        <p:spPr>
          <a:xfrm rot="16200000">
            <a:off x="8474828" y="245405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D208A507-47A4-404B-B4FE-1390B5AAC1D3}"/>
              </a:ext>
            </a:extLst>
          </p:cNvPr>
          <p:cNvSpPr>
            <a:spLocks noChangeAspect="1"/>
          </p:cNvSpPr>
          <p:nvPr/>
        </p:nvSpPr>
        <p:spPr>
          <a:xfrm rot="16200000">
            <a:off x="8526832" y="232513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ABF040B9-C737-2442-8E26-E565B93CA9F7}"/>
              </a:ext>
            </a:extLst>
          </p:cNvPr>
          <p:cNvSpPr>
            <a:spLocks noChangeAspect="1"/>
          </p:cNvSpPr>
          <p:nvPr/>
        </p:nvSpPr>
        <p:spPr>
          <a:xfrm rot="16200000">
            <a:off x="7862055" y="3142786"/>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C96EAFD6-A53A-6A47-9B74-512BAE375FA3}"/>
              </a:ext>
            </a:extLst>
          </p:cNvPr>
          <p:cNvSpPr>
            <a:spLocks noChangeAspect="1"/>
          </p:cNvSpPr>
          <p:nvPr/>
        </p:nvSpPr>
        <p:spPr>
          <a:xfrm rot="16200000">
            <a:off x="8014455" y="313670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F62F918A-6F2C-F04B-831F-8AEB0F443360}"/>
              </a:ext>
            </a:extLst>
          </p:cNvPr>
          <p:cNvSpPr>
            <a:spLocks noChangeAspect="1"/>
          </p:cNvSpPr>
          <p:nvPr/>
        </p:nvSpPr>
        <p:spPr>
          <a:xfrm rot="16200000">
            <a:off x="8051201" y="298017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DCA411CF-E11B-DD43-AFBA-940886B0BF4A}"/>
              </a:ext>
            </a:extLst>
          </p:cNvPr>
          <p:cNvSpPr>
            <a:spLocks noChangeAspect="1"/>
          </p:cNvSpPr>
          <p:nvPr/>
        </p:nvSpPr>
        <p:spPr>
          <a:xfrm rot="16200000">
            <a:off x="8196473" y="295775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95BC4984-A834-D14A-BB0C-1AF8DF3202EE}"/>
              </a:ext>
            </a:extLst>
          </p:cNvPr>
          <p:cNvSpPr>
            <a:spLocks noChangeAspect="1"/>
          </p:cNvSpPr>
          <p:nvPr/>
        </p:nvSpPr>
        <p:spPr>
          <a:xfrm rot="16200000">
            <a:off x="8217860" y="281375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8542D7CA-76AA-8C49-9C63-D7CF83B93D0B}"/>
              </a:ext>
            </a:extLst>
          </p:cNvPr>
          <p:cNvSpPr>
            <a:spLocks noChangeAspect="1"/>
          </p:cNvSpPr>
          <p:nvPr/>
        </p:nvSpPr>
        <p:spPr>
          <a:xfrm rot="16200000">
            <a:off x="8412579" y="262091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7EFFAA34-4CB0-EE46-90C0-3201F04BBDC1}"/>
              </a:ext>
            </a:extLst>
          </p:cNvPr>
          <p:cNvSpPr>
            <a:spLocks noChangeAspect="1"/>
          </p:cNvSpPr>
          <p:nvPr/>
        </p:nvSpPr>
        <p:spPr>
          <a:xfrm rot="16200000">
            <a:off x="8365979" y="276491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FE161097-6A4B-644A-AD5C-35788936C4C1}"/>
              </a:ext>
            </a:extLst>
          </p:cNvPr>
          <p:cNvSpPr>
            <a:spLocks noChangeAspect="1"/>
          </p:cNvSpPr>
          <p:nvPr/>
        </p:nvSpPr>
        <p:spPr>
          <a:xfrm rot="16200000">
            <a:off x="8556579" y="259805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28230350-190E-DC48-88EA-45E2326904EB}"/>
              </a:ext>
            </a:extLst>
          </p:cNvPr>
          <p:cNvSpPr>
            <a:spLocks noChangeAspect="1"/>
          </p:cNvSpPr>
          <p:nvPr/>
        </p:nvSpPr>
        <p:spPr>
          <a:xfrm rot="16200000">
            <a:off x="8634298" y="245405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1B1B92D4-30B3-C94C-805E-3D91E26C91AD}"/>
              </a:ext>
            </a:extLst>
          </p:cNvPr>
          <p:cNvSpPr>
            <a:spLocks noChangeAspect="1"/>
          </p:cNvSpPr>
          <p:nvPr/>
        </p:nvSpPr>
        <p:spPr>
          <a:xfrm rot="16200000">
            <a:off x="8764676" y="235441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B86555AB-F654-0342-82D0-3C0ED22CC843}"/>
              </a:ext>
            </a:extLst>
          </p:cNvPr>
          <p:cNvSpPr>
            <a:spLocks noChangeAspect="1"/>
          </p:cNvSpPr>
          <p:nvPr/>
        </p:nvSpPr>
        <p:spPr>
          <a:xfrm rot="16200000">
            <a:off x="8777403" y="217478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FD45B321-D6C9-444F-B5D5-D5C670933815}"/>
              </a:ext>
            </a:extLst>
          </p:cNvPr>
          <p:cNvSpPr>
            <a:spLocks noChangeAspect="1"/>
          </p:cNvSpPr>
          <p:nvPr/>
        </p:nvSpPr>
        <p:spPr>
          <a:xfrm rot="16200000">
            <a:off x="7515617" y="346770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3F992DB8-A649-504E-98E3-13FCB57EACDF}"/>
              </a:ext>
            </a:extLst>
          </p:cNvPr>
          <p:cNvSpPr>
            <a:spLocks noChangeAspect="1"/>
          </p:cNvSpPr>
          <p:nvPr/>
        </p:nvSpPr>
        <p:spPr>
          <a:xfrm rot="16200000">
            <a:off x="7904437" y="326933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591DD089-40E7-E94C-AA40-1FBACABB9DBE}"/>
              </a:ext>
            </a:extLst>
          </p:cNvPr>
          <p:cNvSpPr>
            <a:spLocks noChangeAspect="1"/>
          </p:cNvSpPr>
          <p:nvPr/>
        </p:nvSpPr>
        <p:spPr>
          <a:xfrm rot="16200000">
            <a:off x="7605429" y="3336431"/>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223B5206-EDD4-464B-9041-1F59F27ED421}"/>
              </a:ext>
            </a:extLst>
          </p:cNvPr>
          <p:cNvSpPr>
            <a:spLocks noChangeAspect="1"/>
          </p:cNvSpPr>
          <p:nvPr/>
        </p:nvSpPr>
        <p:spPr>
          <a:xfrm rot="16200000">
            <a:off x="8663150" y="226289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6F3000A1-673E-7D45-93F9-0FD2067BEDE3}"/>
              </a:ext>
            </a:extLst>
          </p:cNvPr>
          <p:cNvSpPr>
            <a:spLocks noChangeAspect="1"/>
          </p:cNvSpPr>
          <p:nvPr/>
        </p:nvSpPr>
        <p:spPr>
          <a:xfrm rot="16200000">
            <a:off x="8126679" y="267849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7" name="Straight Connector 96">
            <a:extLst>
              <a:ext uri="{FF2B5EF4-FFF2-40B4-BE49-F238E27FC236}">
                <a16:creationId xmlns:a16="http://schemas.microsoft.com/office/drawing/2014/main" id="{31EBB740-0193-EF47-ACD3-67D62304488F}"/>
              </a:ext>
            </a:extLst>
          </p:cNvPr>
          <p:cNvCxnSpPr>
            <a:cxnSpLocks/>
            <a:endCxn id="47" idx="4"/>
          </p:cNvCxnSpPr>
          <p:nvPr/>
        </p:nvCxnSpPr>
        <p:spPr>
          <a:xfrm>
            <a:off x="8545602" y="1816443"/>
            <a:ext cx="1635881" cy="1812812"/>
          </a:xfrm>
          <a:prstGeom prst="line">
            <a:avLst/>
          </a:prstGeom>
          <a:ln w="508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6CE13D9-97C2-9C45-A915-3AD58DE76827}"/>
              </a:ext>
            </a:extLst>
          </p:cNvPr>
          <p:cNvCxnSpPr>
            <a:cxnSpLocks/>
          </p:cNvCxnSpPr>
          <p:nvPr/>
        </p:nvCxnSpPr>
        <p:spPr>
          <a:xfrm flipH="1">
            <a:off x="7572991" y="2063243"/>
            <a:ext cx="1517451" cy="1570478"/>
          </a:xfrm>
          <a:prstGeom prst="line">
            <a:avLst/>
          </a:prstGeom>
          <a:ln w="50800">
            <a:solidFill>
              <a:srgbClr val="FFFF00"/>
            </a:solidFill>
          </a:ln>
        </p:spPr>
        <p:style>
          <a:lnRef idx="1">
            <a:schemeClr val="accent1"/>
          </a:lnRef>
          <a:fillRef idx="0">
            <a:schemeClr val="accent1"/>
          </a:fillRef>
          <a:effectRef idx="0">
            <a:schemeClr val="accent1"/>
          </a:effectRef>
          <a:fontRef idx="minor">
            <a:schemeClr val="tx1"/>
          </a:fontRef>
        </p:style>
      </p:cxnSp>
      <p:sp>
        <p:nvSpPr>
          <p:cNvPr id="104" name="Freeform 103">
            <a:extLst>
              <a:ext uri="{FF2B5EF4-FFF2-40B4-BE49-F238E27FC236}">
                <a16:creationId xmlns:a16="http://schemas.microsoft.com/office/drawing/2014/main" id="{E208F876-3B8F-F94B-95EC-7BD17075CD74}"/>
              </a:ext>
            </a:extLst>
          </p:cNvPr>
          <p:cNvSpPr/>
          <p:nvPr/>
        </p:nvSpPr>
        <p:spPr>
          <a:xfrm>
            <a:off x="7901796" y="3312543"/>
            <a:ext cx="172542" cy="327804"/>
          </a:xfrm>
          <a:custGeom>
            <a:avLst/>
            <a:gdLst>
              <a:gd name="connsiteX0" fmla="*/ 0 w 172542"/>
              <a:gd name="connsiteY0" fmla="*/ 0 h 327804"/>
              <a:gd name="connsiteX1" fmla="*/ 138023 w 172542"/>
              <a:gd name="connsiteY1" fmla="*/ 172529 h 327804"/>
              <a:gd name="connsiteX2" fmla="*/ 155276 w 172542"/>
              <a:gd name="connsiteY2" fmla="*/ 224287 h 327804"/>
              <a:gd name="connsiteX3" fmla="*/ 172529 w 172542"/>
              <a:gd name="connsiteY3" fmla="*/ 327804 h 327804"/>
            </a:gdLst>
            <a:ahLst/>
            <a:cxnLst>
              <a:cxn ang="0">
                <a:pos x="connsiteX0" y="connsiteY0"/>
              </a:cxn>
              <a:cxn ang="0">
                <a:pos x="connsiteX1" y="connsiteY1"/>
              </a:cxn>
              <a:cxn ang="0">
                <a:pos x="connsiteX2" y="connsiteY2"/>
              </a:cxn>
              <a:cxn ang="0">
                <a:pos x="connsiteX3" y="connsiteY3"/>
              </a:cxn>
            </a:cxnLst>
            <a:rect l="l" t="t" r="r" b="b"/>
            <a:pathLst>
              <a:path w="172542" h="327804">
                <a:moveTo>
                  <a:pt x="0" y="0"/>
                </a:moveTo>
                <a:cubicBezTo>
                  <a:pt x="18951" y="22109"/>
                  <a:pt x="112456" y="121395"/>
                  <a:pt x="138023" y="172529"/>
                </a:cubicBezTo>
                <a:cubicBezTo>
                  <a:pt x="146156" y="188795"/>
                  <a:pt x="150865" y="206644"/>
                  <a:pt x="155276" y="224287"/>
                </a:cubicBezTo>
                <a:cubicBezTo>
                  <a:pt x="173657" y="297809"/>
                  <a:pt x="172529" y="284832"/>
                  <a:pt x="172529" y="327804"/>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Freeform 107">
            <a:extLst>
              <a:ext uri="{FF2B5EF4-FFF2-40B4-BE49-F238E27FC236}">
                <a16:creationId xmlns:a16="http://schemas.microsoft.com/office/drawing/2014/main" id="{DAF82A5F-C9BE-7B4A-BF11-6D79D9B488ED}"/>
              </a:ext>
            </a:extLst>
          </p:cNvPr>
          <p:cNvSpPr/>
          <p:nvPr/>
        </p:nvSpPr>
        <p:spPr>
          <a:xfrm>
            <a:off x="9605843" y="3209026"/>
            <a:ext cx="193765" cy="465827"/>
          </a:xfrm>
          <a:custGeom>
            <a:avLst/>
            <a:gdLst>
              <a:gd name="connsiteX0" fmla="*/ 193765 w 193765"/>
              <a:gd name="connsiteY0" fmla="*/ 0 h 465827"/>
              <a:gd name="connsiteX1" fmla="*/ 72995 w 193765"/>
              <a:gd name="connsiteY1" fmla="*/ 103517 h 465827"/>
              <a:gd name="connsiteX2" fmla="*/ 38489 w 193765"/>
              <a:gd name="connsiteY2" fmla="*/ 207034 h 465827"/>
              <a:gd name="connsiteX3" fmla="*/ 21236 w 193765"/>
              <a:gd name="connsiteY3" fmla="*/ 258793 h 465827"/>
              <a:gd name="connsiteX4" fmla="*/ 3983 w 193765"/>
              <a:gd name="connsiteY4" fmla="*/ 465827 h 4658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765" h="465827">
                <a:moveTo>
                  <a:pt x="193765" y="0"/>
                </a:moveTo>
                <a:cubicBezTo>
                  <a:pt x="153508" y="34506"/>
                  <a:pt x="104808" y="61100"/>
                  <a:pt x="72995" y="103517"/>
                </a:cubicBezTo>
                <a:cubicBezTo>
                  <a:pt x="51172" y="132615"/>
                  <a:pt x="49991" y="172528"/>
                  <a:pt x="38489" y="207034"/>
                </a:cubicBezTo>
                <a:lnTo>
                  <a:pt x="21236" y="258793"/>
                </a:lnTo>
                <a:cubicBezTo>
                  <a:pt x="-12385" y="359654"/>
                  <a:pt x="3983" y="292362"/>
                  <a:pt x="3983" y="465827"/>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TextBox 108">
            <a:extLst>
              <a:ext uri="{FF2B5EF4-FFF2-40B4-BE49-F238E27FC236}">
                <a16:creationId xmlns:a16="http://schemas.microsoft.com/office/drawing/2014/main" id="{A016B65D-CED7-3F45-9468-9A3738817164}"/>
              </a:ext>
            </a:extLst>
          </p:cNvPr>
          <p:cNvSpPr txBox="1"/>
          <p:nvPr/>
        </p:nvSpPr>
        <p:spPr>
          <a:xfrm>
            <a:off x="8083967" y="3171272"/>
            <a:ext cx="369012" cy="400110"/>
          </a:xfrm>
          <a:prstGeom prst="rect">
            <a:avLst/>
          </a:prstGeom>
          <a:noFill/>
        </p:spPr>
        <p:txBody>
          <a:bodyPr wrap="none" rtlCol="0">
            <a:spAutoFit/>
          </a:bodyPr>
          <a:lstStyle/>
          <a:p>
            <a:pPr algn="l"/>
            <a:r>
              <a:rPr lang="en-US" sz="2000" dirty="0" err="1">
                <a:latin typeface="Symbol" pitchFamily="2" charset="2"/>
                <a:cs typeface="Arial" panose="020B0604020202020204" pitchFamily="34" charset="0"/>
              </a:rPr>
              <a:t>q</a:t>
            </a:r>
            <a:r>
              <a:rPr lang="en-US" baseline="-25000" dirty="0" err="1">
                <a:latin typeface="Arial" panose="020B0604020202020204" pitchFamily="34" charset="0"/>
                <a:cs typeface="Arial" panose="020B0604020202020204" pitchFamily="34" charset="0"/>
              </a:rPr>
              <a:t>r</a:t>
            </a:r>
            <a:endParaRPr lang="en-US" baseline="-25000" dirty="0">
              <a:latin typeface="Arial" panose="020B0604020202020204" pitchFamily="34" charset="0"/>
              <a:cs typeface="Arial" panose="020B0604020202020204" pitchFamily="34" charset="0"/>
            </a:endParaRPr>
          </a:p>
        </p:txBody>
      </p:sp>
      <p:sp>
        <p:nvSpPr>
          <p:cNvPr id="110" name="TextBox 109">
            <a:extLst>
              <a:ext uri="{FF2B5EF4-FFF2-40B4-BE49-F238E27FC236}">
                <a16:creationId xmlns:a16="http://schemas.microsoft.com/office/drawing/2014/main" id="{2BE3564A-DEB4-CC48-BEEC-26C1385C535A}"/>
              </a:ext>
            </a:extLst>
          </p:cNvPr>
          <p:cNvSpPr txBox="1"/>
          <p:nvPr/>
        </p:nvSpPr>
        <p:spPr>
          <a:xfrm>
            <a:off x="9271290" y="3166323"/>
            <a:ext cx="369012" cy="400110"/>
          </a:xfrm>
          <a:prstGeom prst="rect">
            <a:avLst/>
          </a:prstGeom>
          <a:noFill/>
        </p:spPr>
        <p:txBody>
          <a:bodyPr wrap="none" rtlCol="0">
            <a:spAutoFit/>
          </a:bodyPr>
          <a:lstStyle/>
          <a:p>
            <a:pPr algn="l"/>
            <a:r>
              <a:rPr lang="en-US" sz="2000" dirty="0" err="1">
                <a:latin typeface="Symbol" pitchFamily="2" charset="2"/>
                <a:cs typeface="Arial" panose="020B0604020202020204" pitchFamily="34" charset="0"/>
              </a:rPr>
              <a:t>q</a:t>
            </a:r>
            <a:r>
              <a:rPr lang="en-US" baseline="-25000" dirty="0" err="1">
                <a:latin typeface="Arial" panose="020B0604020202020204" pitchFamily="34" charset="0"/>
                <a:cs typeface="Arial" panose="020B0604020202020204" pitchFamily="34" charset="0"/>
              </a:rPr>
              <a:t>r</a:t>
            </a:r>
            <a:endParaRPr lang="en-US" baseline="-25000" dirty="0">
              <a:latin typeface="Arial" panose="020B0604020202020204" pitchFamily="34" charset="0"/>
              <a:cs typeface="Arial" panose="020B0604020202020204" pitchFamily="34" charset="0"/>
            </a:endParaRPr>
          </a:p>
        </p:txBody>
      </p:sp>
      <p:sp>
        <p:nvSpPr>
          <p:cNvPr id="91" name="TextBox 90">
            <a:extLst>
              <a:ext uri="{FF2B5EF4-FFF2-40B4-BE49-F238E27FC236}">
                <a16:creationId xmlns:a16="http://schemas.microsoft.com/office/drawing/2014/main" id="{FD5A41F1-E7EF-5BC8-F562-AB87412EAB57}"/>
              </a:ext>
            </a:extLst>
          </p:cNvPr>
          <p:cNvSpPr txBox="1"/>
          <p:nvPr/>
        </p:nvSpPr>
        <p:spPr>
          <a:xfrm>
            <a:off x="463138" y="751888"/>
            <a:ext cx="11435937" cy="1048364"/>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A pile of sediment resting at an angle equal to the angle of repose </a:t>
            </a:r>
            <a:r>
              <a:rPr lang="en-US" sz="2000" dirty="0" err="1">
                <a:latin typeface="Symbol" pitchFamily="2" charset="2"/>
                <a:cs typeface="Arial" panose="020B0604020202020204" pitchFamily="34" charset="0"/>
              </a:rPr>
              <a:t>q</a:t>
            </a:r>
            <a:r>
              <a:rPr lang="en-US" baseline="-25000" dirty="0" err="1">
                <a:latin typeface="Arial" panose="020B0604020202020204" pitchFamily="34" charset="0"/>
                <a:cs typeface="Arial" panose="020B0604020202020204" pitchFamily="34" charset="0"/>
              </a:rPr>
              <a:t>r</a:t>
            </a:r>
            <a:r>
              <a:rPr lang="en-US" dirty="0">
                <a:latin typeface="Arial" panose="020B0604020202020204" pitchFamily="34" charset="0"/>
                <a:cs typeface="Arial" panose="020B0604020202020204" pitchFamily="34" charset="0"/>
              </a:rPr>
              <a:t> is at a threshold condition, that is a little disturbance cause the sediment to move (failure).   </a:t>
            </a:r>
          </a:p>
          <a:p>
            <a:pPr>
              <a:lnSpc>
                <a:spcPct val="114000"/>
              </a:lnSpc>
            </a:pPr>
            <a:r>
              <a:rPr lang="en-US" dirty="0">
                <a:latin typeface="Arial" panose="020B0604020202020204" pitchFamily="34" charset="0"/>
                <a:cs typeface="Arial" panose="020B0604020202020204" pitchFamily="34" charset="0"/>
              </a:rPr>
              <a:t>Here we consider a pile of sediment in standing water. </a:t>
            </a:r>
          </a:p>
        </p:txBody>
      </p:sp>
    </p:spTree>
    <p:extLst>
      <p:ext uri="{BB962C8B-B14F-4D97-AF65-F5344CB8AC3E}">
        <p14:creationId xmlns:p14="http://schemas.microsoft.com/office/powerpoint/2010/main" val="3353796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Rectangle 94">
            <a:extLst>
              <a:ext uri="{FF2B5EF4-FFF2-40B4-BE49-F238E27FC236}">
                <a16:creationId xmlns:a16="http://schemas.microsoft.com/office/drawing/2014/main" id="{B837091F-BD1B-4945-A63C-EEB431184990}"/>
              </a:ext>
            </a:extLst>
          </p:cNvPr>
          <p:cNvSpPr/>
          <p:nvPr/>
        </p:nvSpPr>
        <p:spPr>
          <a:xfrm>
            <a:off x="7253416" y="1570769"/>
            <a:ext cx="3517504" cy="2047715"/>
          </a:xfrm>
          <a:prstGeom prst="rect">
            <a:avLst/>
          </a:prstGeom>
          <a:solidFill>
            <a:srgbClr val="00B0F0"/>
          </a:solid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4</a:t>
            </a:fld>
            <a:endParaRPr lang="en-US"/>
          </a:p>
        </p:txBody>
      </p:sp>
      <p:sp>
        <p:nvSpPr>
          <p:cNvPr id="24" name="TextBox 23">
            <a:extLst>
              <a:ext uri="{FF2B5EF4-FFF2-40B4-BE49-F238E27FC236}">
                <a16:creationId xmlns:a16="http://schemas.microsoft.com/office/drawing/2014/main" id="{974FD763-C9F2-F34A-A70B-502115AE228A}"/>
              </a:ext>
            </a:extLst>
          </p:cNvPr>
          <p:cNvSpPr txBox="1"/>
          <p:nvPr/>
        </p:nvSpPr>
        <p:spPr>
          <a:xfrm>
            <a:off x="463138" y="751888"/>
            <a:ext cx="11435937" cy="1048364"/>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A pile of sediment resting at an angle equal to the angle of repose </a:t>
            </a:r>
            <a:r>
              <a:rPr lang="en-US" sz="2000" dirty="0" err="1">
                <a:latin typeface="Symbol" pitchFamily="2" charset="2"/>
                <a:cs typeface="Arial" panose="020B0604020202020204" pitchFamily="34" charset="0"/>
              </a:rPr>
              <a:t>q</a:t>
            </a:r>
            <a:r>
              <a:rPr lang="en-US" baseline="-25000" dirty="0" err="1">
                <a:latin typeface="Arial" panose="020B0604020202020204" pitchFamily="34" charset="0"/>
                <a:cs typeface="Arial" panose="020B0604020202020204" pitchFamily="34" charset="0"/>
              </a:rPr>
              <a:t>r</a:t>
            </a:r>
            <a:r>
              <a:rPr lang="en-US" dirty="0">
                <a:latin typeface="Arial" panose="020B0604020202020204" pitchFamily="34" charset="0"/>
                <a:cs typeface="Arial" panose="020B0604020202020204" pitchFamily="34" charset="0"/>
              </a:rPr>
              <a:t> is at a threshold condition, that is a little disturbance cause the sediment to move (failure).   </a:t>
            </a:r>
          </a:p>
          <a:p>
            <a:pPr>
              <a:lnSpc>
                <a:spcPct val="114000"/>
              </a:lnSpc>
            </a:pPr>
            <a:r>
              <a:rPr lang="en-US" dirty="0">
                <a:latin typeface="Arial" panose="020B0604020202020204" pitchFamily="34" charset="0"/>
                <a:cs typeface="Arial" panose="020B0604020202020204" pitchFamily="34" charset="0"/>
              </a:rPr>
              <a:t>Here we consider a pile of sediment in standing water. </a:t>
            </a:r>
          </a:p>
        </p:txBody>
      </p:sp>
      <p:sp>
        <p:nvSpPr>
          <p:cNvPr id="3" name="Oval 2">
            <a:extLst>
              <a:ext uri="{FF2B5EF4-FFF2-40B4-BE49-F238E27FC236}">
                <a16:creationId xmlns:a16="http://schemas.microsoft.com/office/drawing/2014/main" id="{531AE6A0-C14C-1347-9183-A99BA99103AE}"/>
              </a:ext>
            </a:extLst>
          </p:cNvPr>
          <p:cNvSpPr>
            <a:spLocks noChangeAspect="1"/>
          </p:cNvSpPr>
          <p:nvPr/>
        </p:nvSpPr>
        <p:spPr>
          <a:xfrm>
            <a:off x="9008077" y="217478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DDEB96A-CC7B-5D42-8F01-BB30D8A68BC4}"/>
              </a:ext>
            </a:extLst>
          </p:cNvPr>
          <p:cNvSpPr>
            <a:spLocks noChangeAspect="1"/>
          </p:cNvSpPr>
          <p:nvPr/>
        </p:nvSpPr>
        <p:spPr>
          <a:xfrm>
            <a:off x="9106769" y="227976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FFFD05A3-80C1-EF45-89C9-827A44BAB4C2}"/>
              </a:ext>
            </a:extLst>
          </p:cNvPr>
          <p:cNvSpPr>
            <a:spLocks noChangeAspect="1"/>
          </p:cNvSpPr>
          <p:nvPr/>
        </p:nvSpPr>
        <p:spPr>
          <a:xfrm>
            <a:off x="9112855" y="243216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18D6ADA-22CE-5F41-AF33-4AD5E808CCA1}"/>
              </a:ext>
            </a:extLst>
          </p:cNvPr>
          <p:cNvSpPr>
            <a:spLocks noChangeAspect="1"/>
          </p:cNvSpPr>
          <p:nvPr/>
        </p:nvSpPr>
        <p:spPr>
          <a:xfrm>
            <a:off x="9269385" y="246891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F00D443-7985-A54F-B6B2-44A7C7A1EB0D}"/>
              </a:ext>
            </a:extLst>
          </p:cNvPr>
          <p:cNvSpPr>
            <a:spLocks noChangeAspect="1"/>
          </p:cNvSpPr>
          <p:nvPr/>
        </p:nvSpPr>
        <p:spPr>
          <a:xfrm>
            <a:off x="9291798" y="2614186"/>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BEA24A3-605C-1F4C-A7A1-C0D5325B0F1C}"/>
              </a:ext>
            </a:extLst>
          </p:cNvPr>
          <p:cNvSpPr>
            <a:spLocks noChangeAspect="1"/>
          </p:cNvSpPr>
          <p:nvPr/>
        </p:nvSpPr>
        <p:spPr>
          <a:xfrm>
            <a:off x="9435798" y="263557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339F302A-A511-6A44-A1C2-ECDFFD2FED74}"/>
              </a:ext>
            </a:extLst>
          </p:cNvPr>
          <p:cNvSpPr>
            <a:spLocks noChangeAspect="1"/>
          </p:cNvSpPr>
          <p:nvPr/>
        </p:nvSpPr>
        <p:spPr>
          <a:xfrm>
            <a:off x="9628642" y="283029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08398D1-47A5-1940-903C-BA56BFB3EDF6}"/>
              </a:ext>
            </a:extLst>
          </p:cNvPr>
          <p:cNvSpPr>
            <a:spLocks noChangeAspect="1"/>
          </p:cNvSpPr>
          <p:nvPr/>
        </p:nvSpPr>
        <p:spPr>
          <a:xfrm>
            <a:off x="9484642" y="278369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5E193AF-896F-6F4D-9C86-F997948DBEF1}"/>
              </a:ext>
            </a:extLst>
          </p:cNvPr>
          <p:cNvSpPr>
            <a:spLocks noChangeAspect="1"/>
          </p:cNvSpPr>
          <p:nvPr/>
        </p:nvSpPr>
        <p:spPr>
          <a:xfrm>
            <a:off x="9628642" y="297429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7DD34F9-1B1D-714E-9FC1-7BF36B35DFC0}"/>
              </a:ext>
            </a:extLst>
          </p:cNvPr>
          <p:cNvSpPr>
            <a:spLocks noChangeAspect="1"/>
          </p:cNvSpPr>
          <p:nvPr/>
        </p:nvSpPr>
        <p:spPr>
          <a:xfrm>
            <a:off x="9778992" y="3032961"/>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CA3FE4C-6909-C543-808F-62D518008CF9}"/>
              </a:ext>
            </a:extLst>
          </p:cNvPr>
          <p:cNvSpPr>
            <a:spLocks noChangeAspect="1"/>
          </p:cNvSpPr>
          <p:nvPr/>
        </p:nvSpPr>
        <p:spPr>
          <a:xfrm>
            <a:off x="9830219" y="318268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9DFEAB9-7B42-5643-B470-810A0FDBC982}"/>
              </a:ext>
            </a:extLst>
          </p:cNvPr>
          <p:cNvSpPr>
            <a:spLocks noChangeAspect="1"/>
          </p:cNvSpPr>
          <p:nvPr/>
        </p:nvSpPr>
        <p:spPr>
          <a:xfrm>
            <a:off x="9959133" y="323468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C04E74F0-699C-7B4B-95AE-68524F78ECE4}"/>
              </a:ext>
            </a:extLst>
          </p:cNvPr>
          <p:cNvSpPr>
            <a:spLocks noChangeAspect="1"/>
          </p:cNvSpPr>
          <p:nvPr/>
        </p:nvSpPr>
        <p:spPr>
          <a:xfrm>
            <a:off x="9164346" y="256990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8F6578FE-9023-9D47-AEA2-3C7E186C51CE}"/>
              </a:ext>
            </a:extLst>
          </p:cNvPr>
          <p:cNvSpPr>
            <a:spLocks noChangeAspect="1"/>
          </p:cNvSpPr>
          <p:nvPr/>
        </p:nvSpPr>
        <p:spPr>
          <a:xfrm>
            <a:off x="9170432" y="272230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C2A14572-ECF6-C049-9EAC-CEBB62A3453C}"/>
              </a:ext>
            </a:extLst>
          </p:cNvPr>
          <p:cNvSpPr>
            <a:spLocks noChangeAspect="1"/>
          </p:cNvSpPr>
          <p:nvPr/>
        </p:nvSpPr>
        <p:spPr>
          <a:xfrm>
            <a:off x="9326962" y="275905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6D82F8EA-B49F-7743-8B95-A0127B39558E}"/>
              </a:ext>
            </a:extLst>
          </p:cNvPr>
          <p:cNvSpPr>
            <a:spLocks noChangeAspect="1"/>
          </p:cNvSpPr>
          <p:nvPr/>
        </p:nvSpPr>
        <p:spPr>
          <a:xfrm>
            <a:off x="9349375" y="2904325"/>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BA9347AF-CAAC-024F-9CF8-5D90BE1D4A58}"/>
              </a:ext>
            </a:extLst>
          </p:cNvPr>
          <p:cNvSpPr>
            <a:spLocks noChangeAspect="1"/>
          </p:cNvSpPr>
          <p:nvPr/>
        </p:nvSpPr>
        <p:spPr>
          <a:xfrm>
            <a:off x="9493375" y="292571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4830E339-35A1-1B4F-93B0-19DEC7EFB9BD}"/>
              </a:ext>
            </a:extLst>
          </p:cNvPr>
          <p:cNvSpPr>
            <a:spLocks noChangeAspect="1"/>
          </p:cNvSpPr>
          <p:nvPr/>
        </p:nvSpPr>
        <p:spPr>
          <a:xfrm>
            <a:off x="9686219" y="3120431"/>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FD95BE44-C4CF-9A4D-A166-0F9707AEDC11}"/>
              </a:ext>
            </a:extLst>
          </p:cNvPr>
          <p:cNvSpPr>
            <a:spLocks noChangeAspect="1"/>
          </p:cNvSpPr>
          <p:nvPr/>
        </p:nvSpPr>
        <p:spPr>
          <a:xfrm>
            <a:off x="9542219" y="3073831"/>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18F10838-527F-6B40-825D-DD4B8E92AF7C}"/>
              </a:ext>
            </a:extLst>
          </p:cNvPr>
          <p:cNvSpPr>
            <a:spLocks noChangeAspect="1"/>
          </p:cNvSpPr>
          <p:nvPr/>
        </p:nvSpPr>
        <p:spPr>
          <a:xfrm>
            <a:off x="9686219" y="3264431"/>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5442A3E3-80D5-7D42-94E1-767CC0742767}"/>
              </a:ext>
            </a:extLst>
          </p:cNvPr>
          <p:cNvSpPr>
            <a:spLocks noChangeAspect="1"/>
          </p:cNvSpPr>
          <p:nvPr/>
        </p:nvSpPr>
        <p:spPr>
          <a:xfrm>
            <a:off x="9830219" y="334215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672F0C2B-8968-7D40-AF54-205E4832FB83}"/>
              </a:ext>
            </a:extLst>
          </p:cNvPr>
          <p:cNvSpPr>
            <a:spLocks noChangeAspect="1"/>
          </p:cNvSpPr>
          <p:nvPr/>
        </p:nvSpPr>
        <p:spPr>
          <a:xfrm>
            <a:off x="9929860" y="347252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15A853D5-C5F7-0F49-AC3B-C71869C32A67}"/>
              </a:ext>
            </a:extLst>
          </p:cNvPr>
          <p:cNvSpPr>
            <a:spLocks noChangeAspect="1"/>
          </p:cNvSpPr>
          <p:nvPr/>
        </p:nvSpPr>
        <p:spPr>
          <a:xfrm>
            <a:off x="10109483" y="3485255"/>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C4A5209C-0A30-E349-8198-C830BD61E0A1}"/>
              </a:ext>
            </a:extLst>
          </p:cNvPr>
          <p:cNvSpPr>
            <a:spLocks noChangeAspect="1"/>
          </p:cNvSpPr>
          <p:nvPr/>
        </p:nvSpPr>
        <p:spPr>
          <a:xfrm>
            <a:off x="8877523" y="224632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1640A295-43AC-DD43-8A4C-7D5A00CF429E}"/>
              </a:ext>
            </a:extLst>
          </p:cNvPr>
          <p:cNvSpPr>
            <a:spLocks noChangeAspect="1"/>
          </p:cNvSpPr>
          <p:nvPr/>
        </p:nvSpPr>
        <p:spPr>
          <a:xfrm>
            <a:off x="9014081" y="252874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A3C67A2A-4AE4-8745-AFE8-A67BC59953EF}"/>
              </a:ext>
            </a:extLst>
          </p:cNvPr>
          <p:cNvSpPr>
            <a:spLocks noChangeAspect="1"/>
          </p:cNvSpPr>
          <p:nvPr/>
        </p:nvSpPr>
        <p:spPr>
          <a:xfrm>
            <a:off x="8985664" y="235176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B039F57D-F8B7-9748-B844-74EDA0B7AC3F}"/>
              </a:ext>
            </a:extLst>
          </p:cNvPr>
          <p:cNvCxnSpPr>
            <a:cxnSpLocks/>
          </p:cNvCxnSpPr>
          <p:nvPr/>
        </p:nvCxnSpPr>
        <p:spPr>
          <a:xfrm flipV="1">
            <a:off x="7147560" y="3627923"/>
            <a:ext cx="3742176" cy="133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Oval 59">
            <a:extLst>
              <a:ext uri="{FF2B5EF4-FFF2-40B4-BE49-F238E27FC236}">
                <a16:creationId xmlns:a16="http://schemas.microsoft.com/office/drawing/2014/main" id="{2784D324-13A1-1E4A-88AC-EF7A8D03C9D3}"/>
              </a:ext>
            </a:extLst>
          </p:cNvPr>
          <p:cNvSpPr>
            <a:spLocks noChangeAspect="1"/>
          </p:cNvSpPr>
          <p:nvPr/>
        </p:nvSpPr>
        <p:spPr>
          <a:xfrm>
            <a:off x="10021380" y="337100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E1A611CD-FB25-2144-9AD6-3B33024F675E}"/>
              </a:ext>
            </a:extLst>
          </p:cNvPr>
          <p:cNvSpPr>
            <a:spLocks noChangeAspect="1"/>
          </p:cNvSpPr>
          <p:nvPr/>
        </p:nvSpPr>
        <p:spPr>
          <a:xfrm rot="16200000">
            <a:off x="7682477" y="347448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1CC89489-EC57-7646-A909-198B7C95009D}"/>
              </a:ext>
            </a:extLst>
          </p:cNvPr>
          <p:cNvSpPr>
            <a:spLocks noChangeAspect="1"/>
          </p:cNvSpPr>
          <p:nvPr/>
        </p:nvSpPr>
        <p:spPr>
          <a:xfrm rot="16200000">
            <a:off x="7778444" y="333842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EC0B0EBD-170E-3746-A7CC-DB186E921657}"/>
              </a:ext>
            </a:extLst>
          </p:cNvPr>
          <p:cNvSpPr>
            <a:spLocks noChangeAspect="1"/>
          </p:cNvSpPr>
          <p:nvPr/>
        </p:nvSpPr>
        <p:spPr>
          <a:xfrm rot="16200000">
            <a:off x="7692442" y="320202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D4DB7272-0E2E-6B4E-ACCD-920C737B7B0A}"/>
              </a:ext>
            </a:extLst>
          </p:cNvPr>
          <p:cNvSpPr>
            <a:spLocks noChangeAspect="1"/>
          </p:cNvSpPr>
          <p:nvPr/>
        </p:nvSpPr>
        <p:spPr>
          <a:xfrm rot="16200000">
            <a:off x="7754477" y="307481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8C30426D-2F4D-E34B-94C6-B42203E5DADB}"/>
              </a:ext>
            </a:extLst>
          </p:cNvPr>
          <p:cNvSpPr>
            <a:spLocks noChangeAspect="1"/>
          </p:cNvSpPr>
          <p:nvPr/>
        </p:nvSpPr>
        <p:spPr>
          <a:xfrm rot="16200000">
            <a:off x="7906334" y="301533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E9CB3839-8116-C74C-8387-C50B918E409F}"/>
              </a:ext>
            </a:extLst>
          </p:cNvPr>
          <p:cNvSpPr>
            <a:spLocks noChangeAspect="1"/>
          </p:cNvSpPr>
          <p:nvPr/>
        </p:nvSpPr>
        <p:spPr>
          <a:xfrm rot="16200000">
            <a:off x="7927721" y="287133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DC6FB20D-D8DC-B84A-8600-0159EA7B85D9}"/>
              </a:ext>
            </a:extLst>
          </p:cNvPr>
          <p:cNvSpPr>
            <a:spLocks noChangeAspect="1"/>
          </p:cNvSpPr>
          <p:nvPr/>
        </p:nvSpPr>
        <p:spPr>
          <a:xfrm rot="16200000">
            <a:off x="8892026" y="2098866"/>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FD2E8CC8-61CC-1C4A-8CFE-31C5815A7F8D}"/>
              </a:ext>
            </a:extLst>
          </p:cNvPr>
          <p:cNvSpPr>
            <a:spLocks noChangeAspect="1"/>
          </p:cNvSpPr>
          <p:nvPr/>
        </p:nvSpPr>
        <p:spPr>
          <a:xfrm rot="16200000">
            <a:off x="8075840" y="282249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F3CEE6CA-C6B8-834C-B001-B8831E9071E5}"/>
              </a:ext>
            </a:extLst>
          </p:cNvPr>
          <p:cNvSpPr>
            <a:spLocks noChangeAspect="1"/>
          </p:cNvSpPr>
          <p:nvPr/>
        </p:nvSpPr>
        <p:spPr>
          <a:xfrm rot="16200000">
            <a:off x="8266440" y="267849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59BF0157-57CA-3546-A474-4B4C7D8CDD7B}"/>
              </a:ext>
            </a:extLst>
          </p:cNvPr>
          <p:cNvSpPr>
            <a:spLocks noChangeAspect="1"/>
          </p:cNvSpPr>
          <p:nvPr/>
        </p:nvSpPr>
        <p:spPr>
          <a:xfrm rot="16200000">
            <a:off x="8325109" y="252814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0E956A7E-D2BB-9846-97F1-EE0C1AD36C78}"/>
              </a:ext>
            </a:extLst>
          </p:cNvPr>
          <p:cNvSpPr>
            <a:spLocks noChangeAspect="1"/>
          </p:cNvSpPr>
          <p:nvPr/>
        </p:nvSpPr>
        <p:spPr>
          <a:xfrm rot="16200000">
            <a:off x="8474828" y="245405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D208A507-47A4-404B-B4FE-1390B5AAC1D3}"/>
              </a:ext>
            </a:extLst>
          </p:cNvPr>
          <p:cNvSpPr>
            <a:spLocks noChangeAspect="1"/>
          </p:cNvSpPr>
          <p:nvPr/>
        </p:nvSpPr>
        <p:spPr>
          <a:xfrm rot="16200000">
            <a:off x="8526832" y="232513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ABF040B9-C737-2442-8E26-E565B93CA9F7}"/>
              </a:ext>
            </a:extLst>
          </p:cNvPr>
          <p:cNvSpPr>
            <a:spLocks noChangeAspect="1"/>
          </p:cNvSpPr>
          <p:nvPr/>
        </p:nvSpPr>
        <p:spPr>
          <a:xfrm rot="16200000">
            <a:off x="7862055" y="3142786"/>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C96EAFD6-A53A-6A47-9B74-512BAE375FA3}"/>
              </a:ext>
            </a:extLst>
          </p:cNvPr>
          <p:cNvSpPr>
            <a:spLocks noChangeAspect="1"/>
          </p:cNvSpPr>
          <p:nvPr/>
        </p:nvSpPr>
        <p:spPr>
          <a:xfrm rot="16200000">
            <a:off x="8014455" y="313670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F62F918A-6F2C-F04B-831F-8AEB0F443360}"/>
              </a:ext>
            </a:extLst>
          </p:cNvPr>
          <p:cNvSpPr>
            <a:spLocks noChangeAspect="1"/>
          </p:cNvSpPr>
          <p:nvPr/>
        </p:nvSpPr>
        <p:spPr>
          <a:xfrm rot="16200000">
            <a:off x="8051201" y="298017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DCA411CF-E11B-DD43-AFBA-940886B0BF4A}"/>
              </a:ext>
            </a:extLst>
          </p:cNvPr>
          <p:cNvSpPr>
            <a:spLocks noChangeAspect="1"/>
          </p:cNvSpPr>
          <p:nvPr/>
        </p:nvSpPr>
        <p:spPr>
          <a:xfrm rot="16200000">
            <a:off x="8196473" y="295775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95BC4984-A834-D14A-BB0C-1AF8DF3202EE}"/>
              </a:ext>
            </a:extLst>
          </p:cNvPr>
          <p:cNvSpPr>
            <a:spLocks noChangeAspect="1"/>
          </p:cNvSpPr>
          <p:nvPr/>
        </p:nvSpPr>
        <p:spPr>
          <a:xfrm rot="16200000">
            <a:off x="8217860" y="281375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8542D7CA-76AA-8C49-9C63-D7CF83B93D0B}"/>
              </a:ext>
            </a:extLst>
          </p:cNvPr>
          <p:cNvSpPr>
            <a:spLocks noChangeAspect="1"/>
          </p:cNvSpPr>
          <p:nvPr/>
        </p:nvSpPr>
        <p:spPr>
          <a:xfrm rot="16200000">
            <a:off x="8412579" y="262091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7EFFAA34-4CB0-EE46-90C0-3201F04BBDC1}"/>
              </a:ext>
            </a:extLst>
          </p:cNvPr>
          <p:cNvSpPr>
            <a:spLocks noChangeAspect="1"/>
          </p:cNvSpPr>
          <p:nvPr/>
        </p:nvSpPr>
        <p:spPr>
          <a:xfrm rot="16200000">
            <a:off x="8365979" y="276491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FE161097-6A4B-644A-AD5C-35788936C4C1}"/>
              </a:ext>
            </a:extLst>
          </p:cNvPr>
          <p:cNvSpPr>
            <a:spLocks noChangeAspect="1"/>
          </p:cNvSpPr>
          <p:nvPr/>
        </p:nvSpPr>
        <p:spPr>
          <a:xfrm rot="16200000">
            <a:off x="8556579" y="259805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28230350-190E-DC48-88EA-45E2326904EB}"/>
              </a:ext>
            </a:extLst>
          </p:cNvPr>
          <p:cNvSpPr>
            <a:spLocks noChangeAspect="1"/>
          </p:cNvSpPr>
          <p:nvPr/>
        </p:nvSpPr>
        <p:spPr>
          <a:xfrm rot="16200000">
            <a:off x="8634298" y="245405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1B1B92D4-30B3-C94C-805E-3D91E26C91AD}"/>
              </a:ext>
            </a:extLst>
          </p:cNvPr>
          <p:cNvSpPr>
            <a:spLocks noChangeAspect="1"/>
          </p:cNvSpPr>
          <p:nvPr/>
        </p:nvSpPr>
        <p:spPr>
          <a:xfrm rot="16200000">
            <a:off x="8764676" y="235441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B86555AB-F654-0342-82D0-3C0ED22CC843}"/>
              </a:ext>
            </a:extLst>
          </p:cNvPr>
          <p:cNvSpPr>
            <a:spLocks noChangeAspect="1"/>
          </p:cNvSpPr>
          <p:nvPr/>
        </p:nvSpPr>
        <p:spPr>
          <a:xfrm rot="16200000">
            <a:off x="8777403" y="217478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FD45B321-D6C9-444F-B5D5-D5C670933815}"/>
              </a:ext>
            </a:extLst>
          </p:cNvPr>
          <p:cNvSpPr>
            <a:spLocks noChangeAspect="1"/>
          </p:cNvSpPr>
          <p:nvPr/>
        </p:nvSpPr>
        <p:spPr>
          <a:xfrm rot="16200000">
            <a:off x="7515617" y="346770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3F992DB8-A649-504E-98E3-13FCB57EACDF}"/>
              </a:ext>
            </a:extLst>
          </p:cNvPr>
          <p:cNvSpPr>
            <a:spLocks noChangeAspect="1"/>
          </p:cNvSpPr>
          <p:nvPr/>
        </p:nvSpPr>
        <p:spPr>
          <a:xfrm rot="16200000">
            <a:off x="7904437" y="326933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591DD089-40E7-E94C-AA40-1FBACABB9DBE}"/>
              </a:ext>
            </a:extLst>
          </p:cNvPr>
          <p:cNvSpPr>
            <a:spLocks noChangeAspect="1"/>
          </p:cNvSpPr>
          <p:nvPr/>
        </p:nvSpPr>
        <p:spPr>
          <a:xfrm rot="16200000">
            <a:off x="7605429" y="3336431"/>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223B5206-EDD4-464B-9041-1F59F27ED421}"/>
              </a:ext>
            </a:extLst>
          </p:cNvPr>
          <p:cNvSpPr>
            <a:spLocks noChangeAspect="1"/>
          </p:cNvSpPr>
          <p:nvPr/>
        </p:nvSpPr>
        <p:spPr>
          <a:xfrm rot="16200000">
            <a:off x="8663150" y="226289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6F3000A1-673E-7D45-93F9-0FD2067BEDE3}"/>
              </a:ext>
            </a:extLst>
          </p:cNvPr>
          <p:cNvSpPr>
            <a:spLocks noChangeAspect="1"/>
          </p:cNvSpPr>
          <p:nvPr/>
        </p:nvSpPr>
        <p:spPr>
          <a:xfrm rot="16200000">
            <a:off x="8126679" y="267849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7" name="Straight Connector 96">
            <a:extLst>
              <a:ext uri="{FF2B5EF4-FFF2-40B4-BE49-F238E27FC236}">
                <a16:creationId xmlns:a16="http://schemas.microsoft.com/office/drawing/2014/main" id="{31EBB740-0193-EF47-ACD3-67D62304488F}"/>
              </a:ext>
            </a:extLst>
          </p:cNvPr>
          <p:cNvCxnSpPr>
            <a:cxnSpLocks/>
            <a:endCxn id="47" idx="4"/>
          </p:cNvCxnSpPr>
          <p:nvPr/>
        </p:nvCxnSpPr>
        <p:spPr>
          <a:xfrm>
            <a:off x="8545602" y="1816443"/>
            <a:ext cx="1635881" cy="1812812"/>
          </a:xfrm>
          <a:prstGeom prst="line">
            <a:avLst/>
          </a:prstGeom>
          <a:ln w="508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6CE13D9-97C2-9C45-A915-3AD58DE76827}"/>
              </a:ext>
            </a:extLst>
          </p:cNvPr>
          <p:cNvCxnSpPr>
            <a:cxnSpLocks/>
          </p:cNvCxnSpPr>
          <p:nvPr/>
        </p:nvCxnSpPr>
        <p:spPr>
          <a:xfrm flipH="1">
            <a:off x="7572991" y="2063243"/>
            <a:ext cx="1517451" cy="1570478"/>
          </a:xfrm>
          <a:prstGeom prst="line">
            <a:avLst/>
          </a:prstGeom>
          <a:ln w="50800">
            <a:solidFill>
              <a:srgbClr val="FFFF00"/>
            </a:solidFill>
          </a:ln>
        </p:spPr>
        <p:style>
          <a:lnRef idx="1">
            <a:schemeClr val="accent1"/>
          </a:lnRef>
          <a:fillRef idx="0">
            <a:schemeClr val="accent1"/>
          </a:fillRef>
          <a:effectRef idx="0">
            <a:schemeClr val="accent1"/>
          </a:effectRef>
          <a:fontRef idx="minor">
            <a:schemeClr val="tx1"/>
          </a:fontRef>
        </p:style>
      </p:cxnSp>
      <p:sp>
        <p:nvSpPr>
          <p:cNvPr id="104" name="Freeform 103">
            <a:extLst>
              <a:ext uri="{FF2B5EF4-FFF2-40B4-BE49-F238E27FC236}">
                <a16:creationId xmlns:a16="http://schemas.microsoft.com/office/drawing/2014/main" id="{E208F876-3B8F-F94B-95EC-7BD17075CD74}"/>
              </a:ext>
            </a:extLst>
          </p:cNvPr>
          <p:cNvSpPr/>
          <p:nvPr/>
        </p:nvSpPr>
        <p:spPr>
          <a:xfrm>
            <a:off x="7901796" y="3312543"/>
            <a:ext cx="172542" cy="327804"/>
          </a:xfrm>
          <a:custGeom>
            <a:avLst/>
            <a:gdLst>
              <a:gd name="connsiteX0" fmla="*/ 0 w 172542"/>
              <a:gd name="connsiteY0" fmla="*/ 0 h 327804"/>
              <a:gd name="connsiteX1" fmla="*/ 138023 w 172542"/>
              <a:gd name="connsiteY1" fmla="*/ 172529 h 327804"/>
              <a:gd name="connsiteX2" fmla="*/ 155276 w 172542"/>
              <a:gd name="connsiteY2" fmla="*/ 224287 h 327804"/>
              <a:gd name="connsiteX3" fmla="*/ 172529 w 172542"/>
              <a:gd name="connsiteY3" fmla="*/ 327804 h 327804"/>
            </a:gdLst>
            <a:ahLst/>
            <a:cxnLst>
              <a:cxn ang="0">
                <a:pos x="connsiteX0" y="connsiteY0"/>
              </a:cxn>
              <a:cxn ang="0">
                <a:pos x="connsiteX1" y="connsiteY1"/>
              </a:cxn>
              <a:cxn ang="0">
                <a:pos x="connsiteX2" y="connsiteY2"/>
              </a:cxn>
              <a:cxn ang="0">
                <a:pos x="connsiteX3" y="connsiteY3"/>
              </a:cxn>
            </a:cxnLst>
            <a:rect l="l" t="t" r="r" b="b"/>
            <a:pathLst>
              <a:path w="172542" h="327804">
                <a:moveTo>
                  <a:pt x="0" y="0"/>
                </a:moveTo>
                <a:cubicBezTo>
                  <a:pt x="18951" y="22109"/>
                  <a:pt x="112456" y="121395"/>
                  <a:pt x="138023" y="172529"/>
                </a:cubicBezTo>
                <a:cubicBezTo>
                  <a:pt x="146156" y="188795"/>
                  <a:pt x="150865" y="206644"/>
                  <a:pt x="155276" y="224287"/>
                </a:cubicBezTo>
                <a:cubicBezTo>
                  <a:pt x="173657" y="297809"/>
                  <a:pt x="172529" y="284832"/>
                  <a:pt x="172529" y="327804"/>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Freeform 107">
            <a:extLst>
              <a:ext uri="{FF2B5EF4-FFF2-40B4-BE49-F238E27FC236}">
                <a16:creationId xmlns:a16="http://schemas.microsoft.com/office/drawing/2014/main" id="{DAF82A5F-C9BE-7B4A-BF11-6D79D9B488ED}"/>
              </a:ext>
            </a:extLst>
          </p:cNvPr>
          <p:cNvSpPr/>
          <p:nvPr/>
        </p:nvSpPr>
        <p:spPr>
          <a:xfrm>
            <a:off x="9605843" y="3209026"/>
            <a:ext cx="193765" cy="465827"/>
          </a:xfrm>
          <a:custGeom>
            <a:avLst/>
            <a:gdLst>
              <a:gd name="connsiteX0" fmla="*/ 193765 w 193765"/>
              <a:gd name="connsiteY0" fmla="*/ 0 h 465827"/>
              <a:gd name="connsiteX1" fmla="*/ 72995 w 193765"/>
              <a:gd name="connsiteY1" fmla="*/ 103517 h 465827"/>
              <a:gd name="connsiteX2" fmla="*/ 38489 w 193765"/>
              <a:gd name="connsiteY2" fmla="*/ 207034 h 465827"/>
              <a:gd name="connsiteX3" fmla="*/ 21236 w 193765"/>
              <a:gd name="connsiteY3" fmla="*/ 258793 h 465827"/>
              <a:gd name="connsiteX4" fmla="*/ 3983 w 193765"/>
              <a:gd name="connsiteY4" fmla="*/ 465827 h 4658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765" h="465827">
                <a:moveTo>
                  <a:pt x="193765" y="0"/>
                </a:moveTo>
                <a:cubicBezTo>
                  <a:pt x="153508" y="34506"/>
                  <a:pt x="104808" y="61100"/>
                  <a:pt x="72995" y="103517"/>
                </a:cubicBezTo>
                <a:cubicBezTo>
                  <a:pt x="51172" y="132615"/>
                  <a:pt x="49991" y="172528"/>
                  <a:pt x="38489" y="207034"/>
                </a:cubicBezTo>
                <a:lnTo>
                  <a:pt x="21236" y="258793"/>
                </a:lnTo>
                <a:cubicBezTo>
                  <a:pt x="-12385" y="359654"/>
                  <a:pt x="3983" y="292362"/>
                  <a:pt x="3983" y="465827"/>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TextBox 108">
            <a:extLst>
              <a:ext uri="{FF2B5EF4-FFF2-40B4-BE49-F238E27FC236}">
                <a16:creationId xmlns:a16="http://schemas.microsoft.com/office/drawing/2014/main" id="{A016B65D-CED7-3F45-9468-9A3738817164}"/>
              </a:ext>
            </a:extLst>
          </p:cNvPr>
          <p:cNvSpPr txBox="1"/>
          <p:nvPr/>
        </p:nvSpPr>
        <p:spPr>
          <a:xfrm>
            <a:off x="8083967" y="3171272"/>
            <a:ext cx="369012" cy="400110"/>
          </a:xfrm>
          <a:prstGeom prst="rect">
            <a:avLst/>
          </a:prstGeom>
          <a:noFill/>
        </p:spPr>
        <p:txBody>
          <a:bodyPr wrap="none" rtlCol="0">
            <a:spAutoFit/>
          </a:bodyPr>
          <a:lstStyle/>
          <a:p>
            <a:pPr algn="l"/>
            <a:r>
              <a:rPr lang="en-US" sz="2000" dirty="0" err="1">
                <a:latin typeface="Symbol" pitchFamily="2" charset="2"/>
                <a:cs typeface="Arial" panose="020B0604020202020204" pitchFamily="34" charset="0"/>
              </a:rPr>
              <a:t>q</a:t>
            </a:r>
            <a:r>
              <a:rPr lang="en-US" baseline="-25000" dirty="0" err="1">
                <a:latin typeface="Arial" panose="020B0604020202020204" pitchFamily="34" charset="0"/>
                <a:cs typeface="Arial" panose="020B0604020202020204" pitchFamily="34" charset="0"/>
              </a:rPr>
              <a:t>r</a:t>
            </a:r>
            <a:endParaRPr lang="en-US" baseline="-25000" dirty="0">
              <a:latin typeface="Arial" panose="020B0604020202020204" pitchFamily="34" charset="0"/>
              <a:cs typeface="Arial" panose="020B0604020202020204" pitchFamily="34" charset="0"/>
            </a:endParaRPr>
          </a:p>
        </p:txBody>
      </p:sp>
      <p:sp>
        <p:nvSpPr>
          <p:cNvPr id="110" name="TextBox 109">
            <a:extLst>
              <a:ext uri="{FF2B5EF4-FFF2-40B4-BE49-F238E27FC236}">
                <a16:creationId xmlns:a16="http://schemas.microsoft.com/office/drawing/2014/main" id="{2BE3564A-DEB4-CC48-BEEC-26C1385C535A}"/>
              </a:ext>
            </a:extLst>
          </p:cNvPr>
          <p:cNvSpPr txBox="1"/>
          <p:nvPr/>
        </p:nvSpPr>
        <p:spPr>
          <a:xfrm>
            <a:off x="9271290" y="3166323"/>
            <a:ext cx="369012" cy="400110"/>
          </a:xfrm>
          <a:prstGeom prst="rect">
            <a:avLst/>
          </a:prstGeom>
          <a:noFill/>
        </p:spPr>
        <p:txBody>
          <a:bodyPr wrap="none" rtlCol="0">
            <a:spAutoFit/>
          </a:bodyPr>
          <a:lstStyle/>
          <a:p>
            <a:pPr algn="l"/>
            <a:r>
              <a:rPr lang="en-US" sz="2000" dirty="0" err="1">
                <a:latin typeface="Symbol" pitchFamily="2" charset="2"/>
                <a:cs typeface="Arial" panose="020B0604020202020204" pitchFamily="34" charset="0"/>
              </a:rPr>
              <a:t>q</a:t>
            </a:r>
            <a:r>
              <a:rPr lang="en-US" baseline="-25000" dirty="0" err="1">
                <a:latin typeface="Arial" panose="020B0604020202020204" pitchFamily="34" charset="0"/>
                <a:cs typeface="Arial" panose="020B0604020202020204" pitchFamily="34" charset="0"/>
              </a:rPr>
              <a:t>r</a:t>
            </a:r>
            <a:endParaRPr lang="en-US" baseline="-25000" dirty="0">
              <a:latin typeface="Arial" panose="020B0604020202020204" pitchFamily="34" charset="0"/>
              <a:cs typeface="Arial" panose="020B0604020202020204" pitchFamily="34" charset="0"/>
            </a:endParaRPr>
          </a:p>
        </p:txBody>
      </p:sp>
      <p:sp>
        <p:nvSpPr>
          <p:cNvPr id="111" name="Oval 110">
            <a:extLst>
              <a:ext uri="{FF2B5EF4-FFF2-40B4-BE49-F238E27FC236}">
                <a16:creationId xmlns:a16="http://schemas.microsoft.com/office/drawing/2014/main" id="{5E9644B5-5F3F-EA48-8FE7-20F7E9285982}"/>
              </a:ext>
            </a:extLst>
          </p:cNvPr>
          <p:cNvSpPr>
            <a:spLocks noChangeAspect="1"/>
          </p:cNvSpPr>
          <p:nvPr/>
        </p:nvSpPr>
        <p:spPr>
          <a:xfrm>
            <a:off x="10080820" y="2026866"/>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EA29A115-B54F-B04F-9898-CF39815C068F}"/>
              </a:ext>
            </a:extLst>
          </p:cNvPr>
          <p:cNvCxnSpPr>
            <a:cxnSpLocks/>
          </p:cNvCxnSpPr>
          <p:nvPr/>
        </p:nvCxnSpPr>
        <p:spPr>
          <a:xfrm>
            <a:off x="10206284" y="2158134"/>
            <a:ext cx="273577" cy="295858"/>
          </a:xfrm>
          <a:prstGeom prst="straightConnector1">
            <a:avLst/>
          </a:prstGeom>
          <a:ln w="2540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267474B-4164-BD40-B10B-60D03844B2AA}"/>
              </a:ext>
            </a:extLst>
          </p:cNvPr>
          <p:cNvCxnSpPr/>
          <p:nvPr/>
        </p:nvCxnSpPr>
        <p:spPr>
          <a:xfrm flipH="1" flipV="1">
            <a:off x="9845705" y="1789267"/>
            <a:ext cx="224093" cy="246800"/>
          </a:xfrm>
          <a:prstGeom prst="straightConnector1">
            <a:avLst/>
          </a:prstGeom>
          <a:ln w="2540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B3229B3-65C6-2643-96E7-B079B96D4D16}"/>
              </a:ext>
            </a:extLst>
          </p:cNvPr>
          <p:cNvCxnSpPr>
            <a:cxnSpLocks/>
            <a:stCxn id="111" idx="4"/>
          </p:cNvCxnSpPr>
          <p:nvPr/>
        </p:nvCxnSpPr>
        <p:spPr>
          <a:xfrm flipH="1">
            <a:off x="9881287" y="2170866"/>
            <a:ext cx="271533" cy="327546"/>
          </a:xfrm>
          <a:prstGeom prst="straightConnector1">
            <a:avLst/>
          </a:prstGeom>
          <a:ln w="2540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D228D836-1F3B-B544-8329-C2B0E0CED1F5}"/>
              </a:ext>
            </a:extLst>
          </p:cNvPr>
          <p:cNvSpPr txBox="1"/>
          <p:nvPr/>
        </p:nvSpPr>
        <p:spPr>
          <a:xfrm>
            <a:off x="10318307" y="1948997"/>
            <a:ext cx="498221" cy="369332"/>
          </a:xfrm>
          <a:prstGeom prst="rect">
            <a:avLst/>
          </a:prstGeom>
          <a:noFill/>
        </p:spPr>
        <p:txBody>
          <a:bodyPr wrap="square" rtlCol="0">
            <a:spAutoFit/>
          </a:bodyPr>
          <a:lstStyle/>
          <a:p>
            <a:pPr algn="l"/>
            <a:r>
              <a:rPr lang="en-US" dirty="0" err="1">
                <a:latin typeface="Arial" panose="020B0604020202020204" pitchFamily="34" charset="0"/>
                <a:cs typeface="Arial" panose="020B0604020202020204" pitchFamily="34" charset="0"/>
              </a:rPr>
              <a:t>F</a:t>
            </a:r>
            <a:r>
              <a:rPr lang="en-US" baseline="-25000" dirty="0" err="1">
                <a:latin typeface="Arial" panose="020B0604020202020204" pitchFamily="34" charset="0"/>
                <a:cs typeface="Arial" panose="020B0604020202020204" pitchFamily="34" charset="0"/>
              </a:rPr>
              <a:t>gt</a:t>
            </a:r>
            <a:endParaRPr lang="en-US" baseline="-25000" dirty="0">
              <a:latin typeface="Arial" panose="020B0604020202020204" pitchFamily="34" charset="0"/>
              <a:cs typeface="Arial" panose="020B0604020202020204" pitchFamily="34" charset="0"/>
            </a:endParaRPr>
          </a:p>
        </p:txBody>
      </p:sp>
      <p:sp>
        <p:nvSpPr>
          <p:cNvPr id="91" name="TextBox 90">
            <a:extLst>
              <a:ext uri="{FF2B5EF4-FFF2-40B4-BE49-F238E27FC236}">
                <a16:creationId xmlns:a16="http://schemas.microsoft.com/office/drawing/2014/main" id="{9BE40E3F-59FF-DB40-B660-32745164C901}"/>
              </a:ext>
            </a:extLst>
          </p:cNvPr>
          <p:cNvSpPr txBox="1"/>
          <p:nvPr/>
        </p:nvSpPr>
        <p:spPr>
          <a:xfrm>
            <a:off x="9567931" y="2003578"/>
            <a:ext cx="498221" cy="369332"/>
          </a:xfrm>
          <a:prstGeom prst="rect">
            <a:avLst/>
          </a:prstGeom>
          <a:noFill/>
        </p:spPr>
        <p:txBody>
          <a:bodyPr wrap="square" rtlCol="0">
            <a:spAutoFit/>
          </a:bodyPr>
          <a:lstStyle/>
          <a:p>
            <a:pPr algn="l"/>
            <a:r>
              <a:rPr lang="en-US" dirty="0" err="1">
                <a:latin typeface="Arial" panose="020B0604020202020204" pitchFamily="34" charset="0"/>
                <a:cs typeface="Arial" panose="020B0604020202020204" pitchFamily="34" charset="0"/>
              </a:rPr>
              <a:t>F</a:t>
            </a:r>
            <a:r>
              <a:rPr lang="en-US" baseline="-25000" dirty="0" err="1">
                <a:latin typeface="Arial" panose="020B0604020202020204" pitchFamily="34" charset="0"/>
                <a:cs typeface="Arial" panose="020B0604020202020204" pitchFamily="34" charset="0"/>
              </a:rPr>
              <a:t>gn</a:t>
            </a:r>
            <a:endParaRPr lang="en-US" baseline="-25000" dirty="0">
              <a:latin typeface="Arial" panose="020B0604020202020204" pitchFamily="34" charset="0"/>
              <a:cs typeface="Arial" panose="020B0604020202020204" pitchFamily="34" charset="0"/>
            </a:endParaRPr>
          </a:p>
        </p:txBody>
      </p:sp>
      <p:sp>
        <p:nvSpPr>
          <p:cNvPr id="92" name="TextBox 91">
            <a:extLst>
              <a:ext uri="{FF2B5EF4-FFF2-40B4-BE49-F238E27FC236}">
                <a16:creationId xmlns:a16="http://schemas.microsoft.com/office/drawing/2014/main" id="{364D22D2-100F-7448-A7A4-C1860C8DDA85}"/>
              </a:ext>
            </a:extLst>
          </p:cNvPr>
          <p:cNvSpPr txBox="1"/>
          <p:nvPr/>
        </p:nvSpPr>
        <p:spPr>
          <a:xfrm>
            <a:off x="9938112" y="1544573"/>
            <a:ext cx="498221" cy="369332"/>
          </a:xfrm>
          <a:prstGeom prst="rect">
            <a:avLst/>
          </a:prstGeom>
          <a:noFill/>
        </p:spPr>
        <p:txBody>
          <a:bodyPr wrap="square" rtlCol="0">
            <a:spAutoFit/>
          </a:bodyPr>
          <a:lstStyle/>
          <a:p>
            <a:pPr algn="l"/>
            <a:r>
              <a:rPr lang="en-US" dirty="0">
                <a:latin typeface="Arial" panose="020B0604020202020204" pitchFamily="34" charset="0"/>
                <a:cs typeface="Arial" panose="020B0604020202020204" pitchFamily="34" charset="0"/>
              </a:rPr>
              <a:t>F</a:t>
            </a:r>
            <a:r>
              <a:rPr lang="en-US" baseline="-25000" dirty="0">
                <a:latin typeface="Arial" panose="020B0604020202020204" pitchFamily="34" charset="0"/>
                <a:cs typeface="Arial" panose="020B0604020202020204" pitchFamily="34" charset="0"/>
              </a:rPr>
              <a:t>C</a:t>
            </a:r>
          </a:p>
        </p:txBody>
      </p:sp>
      <p:sp>
        <p:nvSpPr>
          <p:cNvPr id="26" name="TextBox 25">
            <a:extLst>
              <a:ext uri="{FF2B5EF4-FFF2-40B4-BE49-F238E27FC236}">
                <a16:creationId xmlns:a16="http://schemas.microsoft.com/office/drawing/2014/main" id="{629F912A-4113-1E49-8EA0-C30618B8DF83}"/>
              </a:ext>
            </a:extLst>
          </p:cNvPr>
          <p:cNvSpPr txBox="1"/>
          <p:nvPr/>
        </p:nvSpPr>
        <p:spPr>
          <a:xfrm>
            <a:off x="494270" y="1939866"/>
            <a:ext cx="6128952" cy="1013291"/>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forces acting on each grain are the net (gravitational force - buoyancy) downslope gravitational force </a:t>
            </a:r>
            <a:r>
              <a:rPr lang="en-US" dirty="0" err="1">
                <a:latin typeface="Arial" panose="020B0604020202020204" pitchFamily="34" charset="0"/>
                <a:cs typeface="Arial" panose="020B0604020202020204" pitchFamily="34" charset="0"/>
              </a:rPr>
              <a:t>F</a:t>
            </a:r>
            <a:r>
              <a:rPr lang="en-US" baseline="-25000" dirty="0" err="1">
                <a:latin typeface="Arial" panose="020B0604020202020204" pitchFamily="34" charset="0"/>
                <a:cs typeface="Arial" panose="020B0604020202020204" pitchFamily="34" charset="0"/>
              </a:rPr>
              <a:t>gt</a:t>
            </a:r>
            <a:r>
              <a:rPr lang="en-US" dirty="0">
                <a:latin typeface="Arial" panose="020B0604020202020204" pitchFamily="34" charset="0"/>
                <a:cs typeface="Arial" panose="020B0604020202020204" pitchFamily="34" charset="0"/>
              </a:rPr>
              <a:t>, the net normal force </a:t>
            </a:r>
            <a:r>
              <a:rPr lang="en-US" dirty="0" err="1">
                <a:latin typeface="Arial" panose="020B0604020202020204" pitchFamily="34" charset="0"/>
                <a:cs typeface="Arial" panose="020B0604020202020204" pitchFamily="34" charset="0"/>
              </a:rPr>
              <a:t>F</a:t>
            </a:r>
            <a:r>
              <a:rPr lang="en-US" baseline="-25000" dirty="0" err="1">
                <a:latin typeface="Arial" panose="020B0604020202020204" pitchFamily="34" charset="0"/>
                <a:cs typeface="Arial" panose="020B0604020202020204" pitchFamily="34" charset="0"/>
              </a:rPr>
              <a:t>gn</a:t>
            </a:r>
            <a:r>
              <a:rPr lang="en-US" dirty="0">
                <a:latin typeface="Arial" panose="020B0604020202020204" pitchFamily="34" charset="0"/>
                <a:cs typeface="Arial" panose="020B0604020202020204" pitchFamily="34" charset="0"/>
              </a:rPr>
              <a:t> and the resistive Coulomb force F</a:t>
            </a:r>
            <a:r>
              <a:rPr lang="en-US" baseline="-25000" dirty="0">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F21832CF-4E4B-5F48-A349-D36958936E57}"/>
                  </a:ext>
                </a:extLst>
              </p:cNvPr>
              <p:cNvSpPr txBox="1"/>
              <p:nvPr/>
            </p:nvSpPr>
            <p:spPr>
              <a:xfrm>
                <a:off x="460358" y="3006726"/>
                <a:ext cx="6301982" cy="732380"/>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𝐹</m:t>
                          </m:r>
                        </m:e>
                        <m:sub>
                          <m:r>
                            <a:rPr lang="en-US" b="0" i="1" smtClean="0">
                              <a:latin typeface="Cambria Math" panose="02040503050406030204" pitchFamily="18" charset="0"/>
                              <a:cs typeface="Arial" panose="020B0604020202020204" pitchFamily="34" charset="0"/>
                            </a:rPr>
                            <m:t>𝑔𝑡</m:t>
                          </m:r>
                        </m:sub>
                      </m:sSub>
                      <m:r>
                        <a:rPr lang="en-US" b="0" i="1" smtClean="0">
                          <a:latin typeface="Cambria Math" panose="02040503050406030204" pitchFamily="18" charset="0"/>
                          <a:cs typeface="Arial" panose="020B0604020202020204" pitchFamily="34" charset="0"/>
                        </a:rPr>
                        <m:t>=</m:t>
                      </m:r>
                      <m:d>
                        <m:dPr>
                          <m:begChr m:val="["/>
                          <m:endChr m:val="]"/>
                          <m:ctrlPr>
                            <a:rPr lang="en-US" b="0" i="1" smtClean="0">
                              <a:latin typeface="Cambria Math" panose="02040503050406030204" pitchFamily="18" charset="0"/>
                              <a:cs typeface="Arial" panose="020B0604020202020204" pitchFamily="34" charset="0"/>
                            </a:rPr>
                          </m:ctrlPr>
                        </m:d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𝜌</m:t>
                              </m:r>
                            </m:e>
                            <m:sub>
                              <m:r>
                                <a:rPr lang="en-US" i="1">
                                  <a:latin typeface="Cambria Math" panose="02040503050406030204" pitchFamily="18" charset="0"/>
                                  <a:cs typeface="Arial" panose="020B0604020202020204" pitchFamily="34" charset="0"/>
                                </a:rPr>
                                <m:t>𝑠</m:t>
                              </m:r>
                            </m:sub>
                          </m:sSub>
                          <m:r>
                            <a:rPr lang="en-US" i="1">
                              <a:latin typeface="Cambria Math" panose="02040503050406030204" pitchFamily="18" charset="0"/>
                              <a:cs typeface="Arial" panose="020B0604020202020204" pitchFamily="34" charset="0"/>
                            </a:rPr>
                            <m:t>𝑔</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4</m:t>
                              </m:r>
                            </m:num>
                            <m:den>
                              <m:r>
                                <a:rPr lang="en-US" i="1">
                                  <a:latin typeface="Cambria Math" panose="02040503050406030204" pitchFamily="18" charset="0"/>
                                  <a:cs typeface="Arial" panose="020B0604020202020204" pitchFamily="34" charset="0"/>
                                </a:rPr>
                                <m:t>3</m:t>
                              </m:r>
                            </m:den>
                          </m:f>
                          <m:r>
                            <a:rPr lang="en-US" i="1">
                              <a:latin typeface="Cambria Math" panose="02040503050406030204" pitchFamily="18" charset="0"/>
                              <a:ea typeface="Cambria Math" panose="02040503050406030204" pitchFamily="18" charset="0"/>
                              <a:cs typeface="Arial" panose="020B0604020202020204" pitchFamily="34" charset="0"/>
                            </a:rPr>
                            <m:t>𝜋</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𝐷</m:t>
                                      </m:r>
                                    </m:num>
                                    <m:den>
                                      <m:r>
                                        <a:rPr lang="en-US" i="1">
                                          <a:latin typeface="Cambria Math" panose="02040503050406030204" pitchFamily="18" charset="0"/>
                                          <a:ea typeface="Cambria Math" panose="02040503050406030204" pitchFamily="18" charset="0"/>
                                          <a:cs typeface="Arial" panose="020B0604020202020204" pitchFamily="34" charset="0"/>
                                        </a:rPr>
                                        <m:t>2</m:t>
                                      </m:r>
                                    </m:den>
                                  </m:f>
                                </m:e>
                              </m:d>
                            </m:e>
                            <m:sup>
                              <m:r>
                                <a:rPr lang="en-US" i="1">
                                  <a:latin typeface="Cambria Math" panose="02040503050406030204" pitchFamily="18" charset="0"/>
                                  <a:ea typeface="Cambria Math" panose="02040503050406030204" pitchFamily="18" charset="0"/>
                                  <a:cs typeface="Arial" panose="020B0604020202020204" pitchFamily="34" charset="0"/>
                                </a:rPr>
                                <m:t>3</m:t>
                              </m:r>
                            </m:sup>
                          </m:sSup>
                          <m:r>
                            <a:rPr lang="en-US" i="1">
                              <a:latin typeface="Cambria Math" panose="02040503050406030204" pitchFamily="18" charset="0"/>
                              <a:ea typeface="Cambria Math" panose="02040503050406030204" pitchFamily="18" charset="0"/>
                              <a:cs typeface="Arial" panose="020B0604020202020204" pitchFamily="34" charset="0"/>
                            </a:rPr>
                            <m:t>−</m:t>
                          </m:r>
                          <m:r>
                            <a:rPr lang="en-US" i="1" smtClean="0">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cs typeface="Arial" panose="020B0604020202020204" pitchFamily="34" charset="0"/>
                            </a:rPr>
                            <m:t>𝑔</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4</m:t>
                              </m:r>
                            </m:num>
                            <m:den>
                              <m:r>
                                <a:rPr lang="en-US" i="1">
                                  <a:latin typeface="Cambria Math" panose="02040503050406030204" pitchFamily="18" charset="0"/>
                                  <a:cs typeface="Arial" panose="020B0604020202020204" pitchFamily="34" charset="0"/>
                                </a:rPr>
                                <m:t>3</m:t>
                              </m:r>
                            </m:den>
                          </m:f>
                          <m:r>
                            <a:rPr lang="en-US" i="1">
                              <a:latin typeface="Cambria Math" panose="02040503050406030204" pitchFamily="18" charset="0"/>
                              <a:ea typeface="Cambria Math" panose="02040503050406030204" pitchFamily="18" charset="0"/>
                              <a:cs typeface="Arial" panose="020B0604020202020204" pitchFamily="34" charset="0"/>
                            </a:rPr>
                            <m:t>𝜋</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𝐷</m:t>
                                      </m:r>
                                    </m:num>
                                    <m:den>
                                      <m:r>
                                        <a:rPr lang="en-US" i="1">
                                          <a:latin typeface="Cambria Math" panose="02040503050406030204" pitchFamily="18" charset="0"/>
                                          <a:ea typeface="Cambria Math" panose="02040503050406030204" pitchFamily="18" charset="0"/>
                                          <a:cs typeface="Arial" panose="020B0604020202020204" pitchFamily="34" charset="0"/>
                                        </a:rPr>
                                        <m:t>2</m:t>
                                      </m:r>
                                    </m:den>
                                  </m:f>
                                </m:e>
                              </m:d>
                            </m:e>
                            <m:sup>
                              <m:r>
                                <a:rPr lang="en-US" i="1">
                                  <a:latin typeface="Cambria Math" panose="02040503050406030204" pitchFamily="18" charset="0"/>
                                  <a:ea typeface="Cambria Math" panose="02040503050406030204" pitchFamily="18" charset="0"/>
                                  <a:cs typeface="Arial" panose="020B0604020202020204" pitchFamily="34" charset="0"/>
                                </a:rPr>
                                <m:t>3</m:t>
                              </m:r>
                            </m:sup>
                          </m:sSup>
                        </m:e>
                      </m:d>
                      <m:r>
                        <a:rPr lang="en-US" b="0" i="1" smtClean="0">
                          <a:latin typeface="Cambria Math" panose="02040503050406030204" pitchFamily="18" charset="0"/>
                          <a:cs typeface="Arial" panose="020B0604020202020204" pitchFamily="34" charset="0"/>
                        </a:rPr>
                        <m:t>𝑠𝑖𝑛</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𝜃</m:t>
                          </m:r>
                        </m:e>
                        <m:sub>
                          <m:r>
                            <a:rPr lang="en-US" b="0" i="1" smtClean="0">
                              <a:latin typeface="Cambria Math" panose="02040503050406030204" pitchFamily="18" charset="0"/>
                              <a:cs typeface="Arial" panose="020B0604020202020204" pitchFamily="34" charset="0"/>
                            </a:rPr>
                            <m:t>𝑟</m:t>
                          </m:r>
                        </m:sub>
                      </m:sSub>
                      <m:r>
                        <a:rPr lang="en-US" b="0" i="1" smtClean="0">
                          <a:latin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cs typeface="Arial" panose="020B0604020202020204" pitchFamily="34" charset="0"/>
                        </a:rPr>
                        <m:t>𝑔</m:t>
                      </m:r>
                      <m:r>
                        <a:rPr lang="en-US" b="0" i="1" smtClean="0">
                          <a:latin typeface="Cambria Math" panose="02040503050406030204" pitchFamily="18" charset="0"/>
                          <a:cs typeface="Arial" panose="020B0604020202020204" pitchFamily="34" charset="0"/>
                        </a:rPr>
                        <m:t>𝑅</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4</m:t>
                          </m:r>
                        </m:num>
                        <m:den>
                          <m:r>
                            <a:rPr lang="en-US" i="1">
                              <a:latin typeface="Cambria Math" panose="02040503050406030204" pitchFamily="18" charset="0"/>
                              <a:cs typeface="Arial" panose="020B0604020202020204" pitchFamily="34" charset="0"/>
                            </a:rPr>
                            <m:t>3</m:t>
                          </m:r>
                        </m:den>
                      </m:f>
                      <m:r>
                        <a:rPr lang="en-US" i="1">
                          <a:latin typeface="Cambria Math" panose="02040503050406030204" pitchFamily="18" charset="0"/>
                          <a:ea typeface="Cambria Math" panose="02040503050406030204" pitchFamily="18" charset="0"/>
                          <a:cs typeface="Arial" panose="020B0604020202020204" pitchFamily="34" charset="0"/>
                        </a:rPr>
                        <m:t>𝜋</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𝐷</m:t>
                                  </m:r>
                                </m:num>
                                <m:den>
                                  <m:r>
                                    <a:rPr lang="en-US" i="1">
                                      <a:latin typeface="Cambria Math" panose="02040503050406030204" pitchFamily="18" charset="0"/>
                                      <a:ea typeface="Cambria Math" panose="02040503050406030204" pitchFamily="18" charset="0"/>
                                      <a:cs typeface="Arial" panose="020B0604020202020204" pitchFamily="34" charset="0"/>
                                    </a:rPr>
                                    <m:t>2</m:t>
                                  </m:r>
                                </m:den>
                              </m:f>
                            </m:e>
                          </m:d>
                        </m:e>
                        <m:sup>
                          <m:r>
                            <a:rPr lang="en-US" i="1">
                              <a:latin typeface="Cambria Math" panose="02040503050406030204" pitchFamily="18" charset="0"/>
                              <a:ea typeface="Cambria Math" panose="02040503050406030204" pitchFamily="18" charset="0"/>
                              <a:cs typeface="Arial" panose="020B0604020202020204" pitchFamily="34" charset="0"/>
                            </a:rPr>
                            <m:t>3</m:t>
                          </m:r>
                        </m:sup>
                      </m:sSup>
                      <m:r>
                        <a:rPr lang="en-US" i="1">
                          <a:latin typeface="Cambria Math" panose="02040503050406030204" pitchFamily="18" charset="0"/>
                          <a:cs typeface="Arial" panose="020B0604020202020204" pitchFamily="34" charset="0"/>
                        </a:rPr>
                        <m:t>𝑠𝑖𝑛</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𝜃</m:t>
                          </m:r>
                        </m:e>
                        <m:sub>
                          <m:r>
                            <a:rPr lang="en-US" i="1">
                              <a:latin typeface="Cambria Math" panose="02040503050406030204" pitchFamily="18" charset="0"/>
                              <a:cs typeface="Arial" panose="020B0604020202020204" pitchFamily="34" charset="0"/>
                            </a:rPr>
                            <m:t>𝑟</m:t>
                          </m:r>
                        </m:sub>
                      </m:sSub>
                    </m:oMath>
                  </m:oMathPara>
                </a14:m>
                <a:endParaRPr lang="en-US" b="0" dirty="0">
                  <a:latin typeface="Arial" panose="020B0604020202020204" pitchFamily="34" charset="0"/>
                  <a:cs typeface="Arial" panose="020B0604020202020204" pitchFamily="34" charset="0"/>
                </a:endParaRPr>
              </a:p>
            </p:txBody>
          </p:sp>
        </mc:Choice>
        <mc:Fallback xmlns="">
          <p:sp>
            <p:nvSpPr>
              <p:cNvPr id="27" name="TextBox 26">
                <a:extLst>
                  <a:ext uri="{FF2B5EF4-FFF2-40B4-BE49-F238E27FC236}">
                    <a16:creationId xmlns:a16="http://schemas.microsoft.com/office/drawing/2014/main" id="{F21832CF-4E4B-5F48-A349-D36958936E57}"/>
                  </a:ext>
                </a:extLst>
              </p:cNvPr>
              <p:cNvSpPr txBox="1">
                <a:spLocks noRot="1" noChangeAspect="1" noMove="1" noResize="1" noEditPoints="1" noAdjustHandles="1" noChangeArrowheads="1" noChangeShapeType="1" noTextEdit="1"/>
              </p:cNvSpPr>
              <p:nvPr/>
            </p:nvSpPr>
            <p:spPr>
              <a:xfrm>
                <a:off x="460358" y="3006726"/>
                <a:ext cx="6301982" cy="732380"/>
              </a:xfrm>
              <a:prstGeom prst="rect">
                <a:avLst/>
              </a:prstGeom>
              <a:blipFill>
                <a:blip r:embed="rId2"/>
                <a:stretch>
                  <a:fillRect l="-201" b="-16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B0B4480D-7D6F-9944-8E6A-083DFB5B07BF}"/>
                  </a:ext>
                </a:extLst>
              </p:cNvPr>
              <p:cNvSpPr txBox="1"/>
              <p:nvPr/>
            </p:nvSpPr>
            <p:spPr>
              <a:xfrm>
                <a:off x="499356" y="3793441"/>
                <a:ext cx="2596929" cy="660181"/>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𝐹</m:t>
                          </m:r>
                        </m:e>
                        <m:sub>
                          <m:r>
                            <a:rPr lang="en-US" b="0" i="1" smtClean="0">
                              <a:latin typeface="Cambria Math" panose="02040503050406030204" pitchFamily="18" charset="0"/>
                              <a:cs typeface="Arial" panose="020B0604020202020204" pitchFamily="34" charset="0"/>
                            </a:rPr>
                            <m:t>𝑔𝑛</m:t>
                          </m:r>
                        </m:sub>
                      </m:sSub>
                      <m:r>
                        <a:rPr lang="en-US" b="0" i="1" smtClean="0">
                          <a:latin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cs typeface="Arial" panose="020B0604020202020204" pitchFamily="34" charset="0"/>
                        </a:rPr>
                        <m:t>𝑔</m:t>
                      </m:r>
                      <m:r>
                        <a:rPr lang="en-US" b="0" i="1" smtClean="0">
                          <a:latin typeface="Cambria Math" panose="02040503050406030204" pitchFamily="18" charset="0"/>
                          <a:cs typeface="Arial" panose="020B0604020202020204" pitchFamily="34" charset="0"/>
                        </a:rPr>
                        <m:t>𝑅</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4</m:t>
                          </m:r>
                        </m:num>
                        <m:den>
                          <m:r>
                            <a:rPr lang="en-US" i="1">
                              <a:latin typeface="Cambria Math" panose="02040503050406030204" pitchFamily="18" charset="0"/>
                              <a:cs typeface="Arial" panose="020B0604020202020204" pitchFamily="34" charset="0"/>
                            </a:rPr>
                            <m:t>3</m:t>
                          </m:r>
                        </m:den>
                      </m:f>
                      <m:r>
                        <a:rPr lang="en-US" i="1">
                          <a:latin typeface="Cambria Math" panose="02040503050406030204" pitchFamily="18" charset="0"/>
                          <a:ea typeface="Cambria Math" panose="02040503050406030204" pitchFamily="18" charset="0"/>
                          <a:cs typeface="Arial" panose="020B0604020202020204" pitchFamily="34" charset="0"/>
                        </a:rPr>
                        <m:t>𝜋</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𝐷</m:t>
                                  </m:r>
                                </m:num>
                                <m:den>
                                  <m:r>
                                    <a:rPr lang="en-US" i="1">
                                      <a:latin typeface="Cambria Math" panose="02040503050406030204" pitchFamily="18" charset="0"/>
                                      <a:ea typeface="Cambria Math" panose="02040503050406030204" pitchFamily="18" charset="0"/>
                                      <a:cs typeface="Arial" panose="020B0604020202020204" pitchFamily="34" charset="0"/>
                                    </a:rPr>
                                    <m:t>2</m:t>
                                  </m:r>
                                </m:den>
                              </m:f>
                            </m:e>
                          </m:d>
                        </m:e>
                        <m:sup>
                          <m:r>
                            <a:rPr lang="en-US" i="1">
                              <a:latin typeface="Cambria Math" panose="02040503050406030204" pitchFamily="18" charset="0"/>
                              <a:ea typeface="Cambria Math" panose="02040503050406030204" pitchFamily="18" charset="0"/>
                              <a:cs typeface="Arial" panose="020B0604020202020204" pitchFamily="34" charset="0"/>
                            </a:rPr>
                            <m:t>3</m:t>
                          </m:r>
                        </m:sup>
                      </m:sSup>
                      <m:r>
                        <a:rPr lang="en-US" b="0" i="1" smtClean="0">
                          <a:latin typeface="Cambria Math" panose="02040503050406030204" pitchFamily="18" charset="0"/>
                          <a:ea typeface="Cambria Math" panose="02040503050406030204" pitchFamily="18" charset="0"/>
                          <a:cs typeface="Arial" panose="020B0604020202020204" pitchFamily="34" charset="0"/>
                        </a:rPr>
                        <m:t>𝑐𝑜𝑠</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𝜃</m:t>
                          </m:r>
                        </m:e>
                        <m:sub>
                          <m:r>
                            <a:rPr lang="en-US" i="1">
                              <a:latin typeface="Cambria Math" panose="02040503050406030204" pitchFamily="18" charset="0"/>
                              <a:cs typeface="Arial" panose="020B0604020202020204" pitchFamily="34" charset="0"/>
                            </a:rPr>
                            <m:t>𝑟</m:t>
                          </m:r>
                        </m:sub>
                      </m:sSub>
                    </m:oMath>
                  </m:oMathPara>
                </a14:m>
                <a:endParaRPr lang="en-US" b="0" dirty="0">
                  <a:latin typeface="Arial" panose="020B0604020202020204" pitchFamily="34" charset="0"/>
                  <a:cs typeface="Arial" panose="020B0604020202020204" pitchFamily="34" charset="0"/>
                </a:endParaRPr>
              </a:p>
            </p:txBody>
          </p:sp>
        </mc:Choice>
        <mc:Fallback xmlns="">
          <p:sp>
            <p:nvSpPr>
              <p:cNvPr id="94" name="TextBox 93">
                <a:extLst>
                  <a:ext uri="{FF2B5EF4-FFF2-40B4-BE49-F238E27FC236}">
                    <a16:creationId xmlns:a16="http://schemas.microsoft.com/office/drawing/2014/main" id="{B0B4480D-7D6F-9944-8E6A-083DFB5B07BF}"/>
                  </a:ext>
                </a:extLst>
              </p:cNvPr>
              <p:cNvSpPr txBox="1">
                <a:spLocks noRot="1" noChangeAspect="1" noMove="1" noResize="1" noEditPoints="1" noAdjustHandles="1" noChangeArrowheads="1" noChangeShapeType="1" noTextEdit="1"/>
              </p:cNvSpPr>
              <p:nvPr/>
            </p:nvSpPr>
            <p:spPr>
              <a:xfrm>
                <a:off x="499356" y="3793441"/>
                <a:ext cx="2596929" cy="660181"/>
              </a:xfrm>
              <a:prstGeom prst="rect">
                <a:avLst/>
              </a:prstGeom>
              <a:blipFill>
                <a:blip r:embed="rId3"/>
                <a:stretch>
                  <a:fillRect l="-1463" b="-56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3476096A-D4F8-204C-A423-0B2836DFBC06}"/>
                  </a:ext>
                </a:extLst>
              </p:cNvPr>
              <p:cNvSpPr txBox="1"/>
              <p:nvPr/>
            </p:nvSpPr>
            <p:spPr>
              <a:xfrm>
                <a:off x="494270" y="4372448"/>
                <a:ext cx="3625929" cy="660181"/>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𝐹</m:t>
                          </m:r>
                        </m:e>
                        <m:sub>
                          <m:r>
                            <a:rPr lang="en-US" b="0" i="1" smtClean="0">
                              <a:latin typeface="Cambria Math" panose="02040503050406030204" pitchFamily="18" charset="0"/>
                              <a:cs typeface="Arial" panose="020B0604020202020204" pitchFamily="34" charset="0"/>
                            </a:rPr>
                            <m:t>𝐶</m:t>
                          </m:r>
                        </m:sub>
                      </m:sSub>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𝜇</m:t>
                          </m:r>
                        </m:e>
                        <m:sub>
                          <m:r>
                            <a:rPr lang="en-US" b="0" i="1" smtClean="0">
                              <a:latin typeface="Cambria Math" panose="02040503050406030204" pitchFamily="18" charset="0"/>
                              <a:cs typeface="Arial" panose="020B0604020202020204" pitchFamily="34" charset="0"/>
                            </a:rPr>
                            <m:t>𝐶</m:t>
                          </m:r>
                        </m:sub>
                      </m:sSub>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𝐹</m:t>
                          </m:r>
                        </m:e>
                        <m:sub>
                          <m:r>
                            <a:rPr lang="en-US" i="1">
                              <a:latin typeface="Cambria Math" panose="02040503050406030204" pitchFamily="18" charset="0"/>
                              <a:cs typeface="Arial" panose="020B0604020202020204" pitchFamily="34" charset="0"/>
                            </a:rPr>
                            <m:t>𝑔𝑛</m:t>
                          </m:r>
                        </m:sub>
                      </m:sSub>
                      <m:r>
                        <a:rPr lang="en-US" b="0" i="1" smtClean="0">
                          <a:latin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𝜇</m:t>
                          </m:r>
                        </m:e>
                        <m:sub>
                          <m:r>
                            <a:rPr lang="en-US" i="1">
                              <a:latin typeface="Cambria Math" panose="02040503050406030204" pitchFamily="18" charset="0"/>
                              <a:cs typeface="Arial" panose="020B0604020202020204" pitchFamily="34" charset="0"/>
                            </a:rPr>
                            <m:t>𝐶</m:t>
                          </m:r>
                        </m:sub>
                      </m:sSub>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cs typeface="Arial" panose="020B0604020202020204" pitchFamily="34" charset="0"/>
                        </a:rPr>
                        <m:t>𝑔</m:t>
                      </m:r>
                      <m:r>
                        <a:rPr lang="en-US" b="0" i="1" smtClean="0">
                          <a:latin typeface="Cambria Math" panose="02040503050406030204" pitchFamily="18" charset="0"/>
                          <a:cs typeface="Arial" panose="020B0604020202020204" pitchFamily="34" charset="0"/>
                        </a:rPr>
                        <m:t>𝑅</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4</m:t>
                          </m:r>
                        </m:num>
                        <m:den>
                          <m:r>
                            <a:rPr lang="en-US" i="1">
                              <a:latin typeface="Cambria Math" panose="02040503050406030204" pitchFamily="18" charset="0"/>
                              <a:cs typeface="Arial" panose="020B0604020202020204" pitchFamily="34" charset="0"/>
                            </a:rPr>
                            <m:t>3</m:t>
                          </m:r>
                        </m:den>
                      </m:f>
                      <m:r>
                        <a:rPr lang="en-US" i="1">
                          <a:latin typeface="Cambria Math" panose="02040503050406030204" pitchFamily="18" charset="0"/>
                          <a:ea typeface="Cambria Math" panose="02040503050406030204" pitchFamily="18" charset="0"/>
                          <a:cs typeface="Arial" panose="020B0604020202020204" pitchFamily="34" charset="0"/>
                        </a:rPr>
                        <m:t>𝜋</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𝐷</m:t>
                                  </m:r>
                                </m:num>
                                <m:den>
                                  <m:r>
                                    <a:rPr lang="en-US" i="1">
                                      <a:latin typeface="Cambria Math" panose="02040503050406030204" pitchFamily="18" charset="0"/>
                                      <a:ea typeface="Cambria Math" panose="02040503050406030204" pitchFamily="18" charset="0"/>
                                      <a:cs typeface="Arial" panose="020B0604020202020204" pitchFamily="34" charset="0"/>
                                    </a:rPr>
                                    <m:t>2</m:t>
                                  </m:r>
                                </m:den>
                              </m:f>
                            </m:e>
                          </m:d>
                        </m:e>
                        <m:sup>
                          <m:r>
                            <a:rPr lang="en-US" i="1">
                              <a:latin typeface="Cambria Math" panose="02040503050406030204" pitchFamily="18" charset="0"/>
                              <a:ea typeface="Cambria Math" panose="02040503050406030204" pitchFamily="18" charset="0"/>
                              <a:cs typeface="Arial" panose="020B0604020202020204" pitchFamily="34" charset="0"/>
                            </a:rPr>
                            <m:t>3</m:t>
                          </m:r>
                        </m:sup>
                      </m:sSup>
                      <m:r>
                        <a:rPr lang="en-US" b="0" i="1" smtClean="0">
                          <a:latin typeface="Cambria Math" panose="02040503050406030204" pitchFamily="18" charset="0"/>
                          <a:ea typeface="Cambria Math" panose="02040503050406030204" pitchFamily="18" charset="0"/>
                          <a:cs typeface="Arial" panose="020B0604020202020204" pitchFamily="34" charset="0"/>
                        </a:rPr>
                        <m:t>𝑐𝑜𝑠</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𝜃</m:t>
                          </m:r>
                        </m:e>
                        <m:sub>
                          <m:r>
                            <a:rPr lang="en-US" i="1">
                              <a:latin typeface="Cambria Math" panose="02040503050406030204" pitchFamily="18" charset="0"/>
                              <a:cs typeface="Arial" panose="020B0604020202020204" pitchFamily="34" charset="0"/>
                            </a:rPr>
                            <m:t>𝑟</m:t>
                          </m:r>
                        </m:sub>
                      </m:sSub>
                    </m:oMath>
                  </m:oMathPara>
                </a14:m>
                <a:endParaRPr lang="en-US" b="0" dirty="0">
                  <a:latin typeface="Arial" panose="020B0604020202020204" pitchFamily="34" charset="0"/>
                  <a:cs typeface="Arial" panose="020B0604020202020204" pitchFamily="34" charset="0"/>
                </a:endParaRPr>
              </a:p>
            </p:txBody>
          </p:sp>
        </mc:Choice>
        <mc:Fallback xmlns="">
          <p:sp>
            <p:nvSpPr>
              <p:cNvPr id="96" name="TextBox 95">
                <a:extLst>
                  <a:ext uri="{FF2B5EF4-FFF2-40B4-BE49-F238E27FC236}">
                    <a16:creationId xmlns:a16="http://schemas.microsoft.com/office/drawing/2014/main" id="{3476096A-D4F8-204C-A423-0B2836DFBC06}"/>
                  </a:ext>
                </a:extLst>
              </p:cNvPr>
              <p:cNvSpPr txBox="1">
                <a:spLocks noRot="1" noChangeAspect="1" noMove="1" noResize="1" noEditPoints="1" noAdjustHandles="1" noChangeArrowheads="1" noChangeShapeType="1" noTextEdit="1"/>
              </p:cNvSpPr>
              <p:nvPr/>
            </p:nvSpPr>
            <p:spPr>
              <a:xfrm>
                <a:off x="494270" y="4372448"/>
                <a:ext cx="3625929" cy="660181"/>
              </a:xfrm>
              <a:prstGeom prst="rect">
                <a:avLst/>
              </a:prstGeom>
              <a:blipFill>
                <a:blip r:embed="rId4"/>
                <a:stretch>
                  <a:fillRect l="-697" b="-5660"/>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3BBC69B8-CBD6-33B7-79CC-2E003AC0149E}"/>
              </a:ext>
            </a:extLst>
          </p:cNvPr>
          <p:cNvSpPr txBox="1"/>
          <p:nvPr/>
        </p:nvSpPr>
        <p:spPr>
          <a:xfrm>
            <a:off x="1157548" y="136525"/>
            <a:ext cx="988079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Angle of repose, threshold of motion in standing water</a:t>
            </a:r>
          </a:p>
        </p:txBody>
      </p:sp>
    </p:spTree>
    <p:extLst>
      <p:ext uri="{BB962C8B-B14F-4D97-AF65-F5344CB8AC3E}">
        <p14:creationId xmlns:p14="http://schemas.microsoft.com/office/powerpoint/2010/main" val="951192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Rectangle 94">
            <a:extLst>
              <a:ext uri="{FF2B5EF4-FFF2-40B4-BE49-F238E27FC236}">
                <a16:creationId xmlns:a16="http://schemas.microsoft.com/office/drawing/2014/main" id="{B837091F-BD1B-4945-A63C-EEB431184990}"/>
              </a:ext>
            </a:extLst>
          </p:cNvPr>
          <p:cNvSpPr/>
          <p:nvPr/>
        </p:nvSpPr>
        <p:spPr>
          <a:xfrm>
            <a:off x="7253416" y="1570769"/>
            <a:ext cx="3517504" cy="2047715"/>
          </a:xfrm>
          <a:prstGeom prst="rect">
            <a:avLst/>
          </a:prstGeom>
          <a:solidFill>
            <a:srgbClr val="00B0F0"/>
          </a:solid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5</a:t>
            </a:fld>
            <a:endParaRPr lang="en-US"/>
          </a:p>
        </p:txBody>
      </p:sp>
      <p:sp>
        <p:nvSpPr>
          <p:cNvPr id="24" name="TextBox 23">
            <a:extLst>
              <a:ext uri="{FF2B5EF4-FFF2-40B4-BE49-F238E27FC236}">
                <a16:creationId xmlns:a16="http://schemas.microsoft.com/office/drawing/2014/main" id="{974FD763-C9F2-F34A-A70B-502115AE228A}"/>
              </a:ext>
            </a:extLst>
          </p:cNvPr>
          <p:cNvSpPr txBox="1"/>
          <p:nvPr/>
        </p:nvSpPr>
        <p:spPr>
          <a:xfrm>
            <a:off x="463138" y="751888"/>
            <a:ext cx="11435937" cy="1048364"/>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A pile of sediment resting at an angle equal to the angle of repose </a:t>
            </a:r>
            <a:r>
              <a:rPr lang="en-US" sz="2000" dirty="0" err="1">
                <a:latin typeface="Symbol" pitchFamily="2" charset="2"/>
                <a:cs typeface="Arial" panose="020B0604020202020204" pitchFamily="34" charset="0"/>
              </a:rPr>
              <a:t>q</a:t>
            </a:r>
            <a:r>
              <a:rPr lang="en-US" baseline="-25000" dirty="0" err="1">
                <a:latin typeface="Arial" panose="020B0604020202020204" pitchFamily="34" charset="0"/>
                <a:cs typeface="Arial" panose="020B0604020202020204" pitchFamily="34" charset="0"/>
              </a:rPr>
              <a:t>r</a:t>
            </a:r>
            <a:r>
              <a:rPr lang="en-US" dirty="0">
                <a:latin typeface="Arial" panose="020B0604020202020204" pitchFamily="34" charset="0"/>
                <a:cs typeface="Arial" panose="020B0604020202020204" pitchFamily="34" charset="0"/>
              </a:rPr>
              <a:t> is at a threshold condition, that is a little disturbance cause the sediment to move (failure).   </a:t>
            </a:r>
          </a:p>
          <a:p>
            <a:pPr>
              <a:lnSpc>
                <a:spcPct val="114000"/>
              </a:lnSpc>
            </a:pPr>
            <a:r>
              <a:rPr lang="en-US" dirty="0">
                <a:latin typeface="Arial" panose="020B0604020202020204" pitchFamily="34" charset="0"/>
                <a:cs typeface="Arial" panose="020B0604020202020204" pitchFamily="34" charset="0"/>
              </a:rPr>
              <a:t>Here we consider a pile of sediment in standing water. </a:t>
            </a:r>
          </a:p>
        </p:txBody>
      </p:sp>
      <p:sp>
        <p:nvSpPr>
          <p:cNvPr id="3" name="Oval 2">
            <a:extLst>
              <a:ext uri="{FF2B5EF4-FFF2-40B4-BE49-F238E27FC236}">
                <a16:creationId xmlns:a16="http://schemas.microsoft.com/office/drawing/2014/main" id="{531AE6A0-C14C-1347-9183-A99BA99103AE}"/>
              </a:ext>
            </a:extLst>
          </p:cNvPr>
          <p:cNvSpPr>
            <a:spLocks noChangeAspect="1"/>
          </p:cNvSpPr>
          <p:nvPr/>
        </p:nvSpPr>
        <p:spPr>
          <a:xfrm>
            <a:off x="9008077" y="217478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DDEB96A-CC7B-5D42-8F01-BB30D8A68BC4}"/>
              </a:ext>
            </a:extLst>
          </p:cNvPr>
          <p:cNvSpPr>
            <a:spLocks noChangeAspect="1"/>
          </p:cNvSpPr>
          <p:nvPr/>
        </p:nvSpPr>
        <p:spPr>
          <a:xfrm>
            <a:off x="9106769" y="227976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FFFD05A3-80C1-EF45-89C9-827A44BAB4C2}"/>
              </a:ext>
            </a:extLst>
          </p:cNvPr>
          <p:cNvSpPr>
            <a:spLocks noChangeAspect="1"/>
          </p:cNvSpPr>
          <p:nvPr/>
        </p:nvSpPr>
        <p:spPr>
          <a:xfrm>
            <a:off x="9112855" y="243216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18D6ADA-22CE-5F41-AF33-4AD5E808CCA1}"/>
              </a:ext>
            </a:extLst>
          </p:cNvPr>
          <p:cNvSpPr>
            <a:spLocks noChangeAspect="1"/>
          </p:cNvSpPr>
          <p:nvPr/>
        </p:nvSpPr>
        <p:spPr>
          <a:xfrm>
            <a:off x="9269385" y="246891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F00D443-7985-A54F-B6B2-44A7C7A1EB0D}"/>
              </a:ext>
            </a:extLst>
          </p:cNvPr>
          <p:cNvSpPr>
            <a:spLocks noChangeAspect="1"/>
          </p:cNvSpPr>
          <p:nvPr/>
        </p:nvSpPr>
        <p:spPr>
          <a:xfrm>
            <a:off x="9291798" y="2614186"/>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BEA24A3-605C-1F4C-A7A1-C0D5325B0F1C}"/>
              </a:ext>
            </a:extLst>
          </p:cNvPr>
          <p:cNvSpPr>
            <a:spLocks noChangeAspect="1"/>
          </p:cNvSpPr>
          <p:nvPr/>
        </p:nvSpPr>
        <p:spPr>
          <a:xfrm>
            <a:off x="9435798" y="263557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339F302A-A511-6A44-A1C2-ECDFFD2FED74}"/>
              </a:ext>
            </a:extLst>
          </p:cNvPr>
          <p:cNvSpPr>
            <a:spLocks noChangeAspect="1"/>
          </p:cNvSpPr>
          <p:nvPr/>
        </p:nvSpPr>
        <p:spPr>
          <a:xfrm>
            <a:off x="9628642" y="283029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08398D1-47A5-1940-903C-BA56BFB3EDF6}"/>
              </a:ext>
            </a:extLst>
          </p:cNvPr>
          <p:cNvSpPr>
            <a:spLocks noChangeAspect="1"/>
          </p:cNvSpPr>
          <p:nvPr/>
        </p:nvSpPr>
        <p:spPr>
          <a:xfrm>
            <a:off x="9484642" y="278369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5E193AF-896F-6F4D-9C86-F997948DBEF1}"/>
              </a:ext>
            </a:extLst>
          </p:cNvPr>
          <p:cNvSpPr>
            <a:spLocks noChangeAspect="1"/>
          </p:cNvSpPr>
          <p:nvPr/>
        </p:nvSpPr>
        <p:spPr>
          <a:xfrm>
            <a:off x="9628642" y="297429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7DD34F9-1B1D-714E-9FC1-7BF36B35DFC0}"/>
              </a:ext>
            </a:extLst>
          </p:cNvPr>
          <p:cNvSpPr>
            <a:spLocks noChangeAspect="1"/>
          </p:cNvSpPr>
          <p:nvPr/>
        </p:nvSpPr>
        <p:spPr>
          <a:xfrm>
            <a:off x="9778992" y="3032961"/>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CA3FE4C-6909-C543-808F-62D518008CF9}"/>
              </a:ext>
            </a:extLst>
          </p:cNvPr>
          <p:cNvSpPr>
            <a:spLocks noChangeAspect="1"/>
          </p:cNvSpPr>
          <p:nvPr/>
        </p:nvSpPr>
        <p:spPr>
          <a:xfrm>
            <a:off x="9830219" y="318268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9DFEAB9-7B42-5643-B470-810A0FDBC982}"/>
              </a:ext>
            </a:extLst>
          </p:cNvPr>
          <p:cNvSpPr>
            <a:spLocks noChangeAspect="1"/>
          </p:cNvSpPr>
          <p:nvPr/>
        </p:nvSpPr>
        <p:spPr>
          <a:xfrm>
            <a:off x="9959133" y="323468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C04E74F0-699C-7B4B-95AE-68524F78ECE4}"/>
              </a:ext>
            </a:extLst>
          </p:cNvPr>
          <p:cNvSpPr>
            <a:spLocks noChangeAspect="1"/>
          </p:cNvSpPr>
          <p:nvPr/>
        </p:nvSpPr>
        <p:spPr>
          <a:xfrm>
            <a:off x="9164346" y="256990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8F6578FE-9023-9D47-AEA2-3C7E186C51CE}"/>
              </a:ext>
            </a:extLst>
          </p:cNvPr>
          <p:cNvSpPr>
            <a:spLocks noChangeAspect="1"/>
          </p:cNvSpPr>
          <p:nvPr/>
        </p:nvSpPr>
        <p:spPr>
          <a:xfrm>
            <a:off x="9170432" y="272230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C2A14572-ECF6-C049-9EAC-CEBB62A3453C}"/>
              </a:ext>
            </a:extLst>
          </p:cNvPr>
          <p:cNvSpPr>
            <a:spLocks noChangeAspect="1"/>
          </p:cNvSpPr>
          <p:nvPr/>
        </p:nvSpPr>
        <p:spPr>
          <a:xfrm>
            <a:off x="9326962" y="275905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6D82F8EA-B49F-7743-8B95-A0127B39558E}"/>
              </a:ext>
            </a:extLst>
          </p:cNvPr>
          <p:cNvSpPr>
            <a:spLocks noChangeAspect="1"/>
          </p:cNvSpPr>
          <p:nvPr/>
        </p:nvSpPr>
        <p:spPr>
          <a:xfrm>
            <a:off x="9349375" y="2904325"/>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BA9347AF-CAAC-024F-9CF8-5D90BE1D4A58}"/>
              </a:ext>
            </a:extLst>
          </p:cNvPr>
          <p:cNvSpPr>
            <a:spLocks noChangeAspect="1"/>
          </p:cNvSpPr>
          <p:nvPr/>
        </p:nvSpPr>
        <p:spPr>
          <a:xfrm>
            <a:off x="9493375" y="292571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4830E339-35A1-1B4F-93B0-19DEC7EFB9BD}"/>
              </a:ext>
            </a:extLst>
          </p:cNvPr>
          <p:cNvSpPr>
            <a:spLocks noChangeAspect="1"/>
          </p:cNvSpPr>
          <p:nvPr/>
        </p:nvSpPr>
        <p:spPr>
          <a:xfrm>
            <a:off x="9686219" y="3120431"/>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FD95BE44-C4CF-9A4D-A166-0F9707AEDC11}"/>
              </a:ext>
            </a:extLst>
          </p:cNvPr>
          <p:cNvSpPr>
            <a:spLocks noChangeAspect="1"/>
          </p:cNvSpPr>
          <p:nvPr/>
        </p:nvSpPr>
        <p:spPr>
          <a:xfrm>
            <a:off x="9542219" y="3073831"/>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18F10838-527F-6B40-825D-DD4B8E92AF7C}"/>
              </a:ext>
            </a:extLst>
          </p:cNvPr>
          <p:cNvSpPr>
            <a:spLocks noChangeAspect="1"/>
          </p:cNvSpPr>
          <p:nvPr/>
        </p:nvSpPr>
        <p:spPr>
          <a:xfrm>
            <a:off x="9686219" y="3264431"/>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5442A3E3-80D5-7D42-94E1-767CC0742767}"/>
              </a:ext>
            </a:extLst>
          </p:cNvPr>
          <p:cNvSpPr>
            <a:spLocks noChangeAspect="1"/>
          </p:cNvSpPr>
          <p:nvPr/>
        </p:nvSpPr>
        <p:spPr>
          <a:xfrm>
            <a:off x="9830219" y="334215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672F0C2B-8968-7D40-AF54-205E4832FB83}"/>
              </a:ext>
            </a:extLst>
          </p:cNvPr>
          <p:cNvSpPr>
            <a:spLocks noChangeAspect="1"/>
          </p:cNvSpPr>
          <p:nvPr/>
        </p:nvSpPr>
        <p:spPr>
          <a:xfrm>
            <a:off x="9929860" y="347252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15A853D5-C5F7-0F49-AC3B-C71869C32A67}"/>
              </a:ext>
            </a:extLst>
          </p:cNvPr>
          <p:cNvSpPr>
            <a:spLocks noChangeAspect="1"/>
          </p:cNvSpPr>
          <p:nvPr/>
        </p:nvSpPr>
        <p:spPr>
          <a:xfrm>
            <a:off x="10109483" y="3485255"/>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C4A5209C-0A30-E349-8198-C830BD61E0A1}"/>
              </a:ext>
            </a:extLst>
          </p:cNvPr>
          <p:cNvSpPr>
            <a:spLocks noChangeAspect="1"/>
          </p:cNvSpPr>
          <p:nvPr/>
        </p:nvSpPr>
        <p:spPr>
          <a:xfrm>
            <a:off x="8877523" y="224632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1640A295-43AC-DD43-8A4C-7D5A00CF429E}"/>
              </a:ext>
            </a:extLst>
          </p:cNvPr>
          <p:cNvSpPr>
            <a:spLocks noChangeAspect="1"/>
          </p:cNvSpPr>
          <p:nvPr/>
        </p:nvSpPr>
        <p:spPr>
          <a:xfrm>
            <a:off x="9014081" y="252874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A3C67A2A-4AE4-8745-AFE8-A67BC59953EF}"/>
              </a:ext>
            </a:extLst>
          </p:cNvPr>
          <p:cNvSpPr>
            <a:spLocks noChangeAspect="1"/>
          </p:cNvSpPr>
          <p:nvPr/>
        </p:nvSpPr>
        <p:spPr>
          <a:xfrm>
            <a:off x="8985664" y="235176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B039F57D-F8B7-9748-B844-74EDA0B7AC3F}"/>
              </a:ext>
            </a:extLst>
          </p:cNvPr>
          <p:cNvCxnSpPr>
            <a:cxnSpLocks/>
          </p:cNvCxnSpPr>
          <p:nvPr/>
        </p:nvCxnSpPr>
        <p:spPr>
          <a:xfrm flipV="1">
            <a:off x="7147560" y="3627923"/>
            <a:ext cx="3742176" cy="133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Oval 59">
            <a:extLst>
              <a:ext uri="{FF2B5EF4-FFF2-40B4-BE49-F238E27FC236}">
                <a16:creationId xmlns:a16="http://schemas.microsoft.com/office/drawing/2014/main" id="{2784D324-13A1-1E4A-88AC-EF7A8D03C9D3}"/>
              </a:ext>
            </a:extLst>
          </p:cNvPr>
          <p:cNvSpPr>
            <a:spLocks noChangeAspect="1"/>
          </p:cNvSpPr>
          <p:nvPr/>
        </p:nvSpPr>
        <p:spPr>
          <a:xfrm>
            <a:off x="10021380" y="337100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E1A611CD-FB25-2144-9AD6-3B33024F675E}"/>
              </a:ext>
            </a:extLst>
          </p:cNvPr>
          <p:cNvSpPr>
            <a:spLocks noChangeAspect="1"/>
          </p:cNvSpPr>
          <p:nvPr/>
        </p:nvSpPr>
        <p:spPr>
          <a:xfrm rot="16200000">
            <a:off x="7682477" y="347448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1CC89489-EC57-7646-A909-198B7C95009D}"/>
              </a:ext>
            </a:extLst>
          </p:cNvPr>
          <p:cNvSpPr>
            <a:spLocks noChangeAspect="1"/>
          </p:cNvSpPr>
          <p:nvPr/>
        </p:nvSpPr>
        <p:spPr>
          <a:xfrm rot="16200000">
            <a:off x="7778444" y="333842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EC0B0EBD-170E-3746-A7CC-DB186E921657}"/>
              </a:ext>
            </a:extLst>
          </p:cNvPr>
          <p:cNvSpPr>
            <a:spLocks noChangeAspect="1"/>
          </p:cNvSpPr>
          <p:nvPr/>
        </p:nvSpPr>
        <p:spPr>
          <a:xfrm rot="16200000">
            <a:off x="7692442" y="320202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D4DB7272-0E2E-6B4E-ACCD-920C737B7B0A}"/>
              </a:ext>
            </a:extLst>
          </p:cNvPr>
          <p:cNvSpPr>
            <a:spLocks noChangeAspect="1"/>
          </p:cNvSpPr>
          <p:nvPr/>
        </p:nvSpPr>
        <p:spPr>
          <a:xfrm rot="16200000">
            <a:off x="7754477" y="307481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8C30426D-2F4D-E34B-94C6-B42203E5DADB}"/>
              </a:ext>
            </a:extLst>
          </p:cNvPr>
          <p:cNvSpPr>
            <a:spLocks noChangeAspect="1"/>
          </p:cNvSpPr>
          <p:nvPr/>
        </p:nvSpPr>
        <p:spPr>
          <a:xfrm rot="16200000">
            <a:off x="7906334" y="301533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E9CB3839-8116-C74C-8387-C50B918E409F}"/>
              </a:ext>
            </a:extLst>
          </p:cNvPr>
          <p:cNvSpPr>
            <a:spLocks noChangeAspect="1"/>
          </p:cNvSpPr>
          <p:nvPr/>
        </p:nvSpPr>
        <p:spPr>
          <a:xfrm rot="16200000">
            <a:off x="7927721" y="287133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DC6FB20D-D8DC-B84A-8600-0159EA7B85D9}"/>
              </a:ext>
            </a:extLst>
          </p:cNvPr>
          <p:cNvSpPr>
            <a:spLocks noChangeAspect="1"/>
          </p:cNvSpPr>
          <p:nvPr/>
        </p:nvSpPr>
        <p:spPr>
          <a:xfrm rot="16200000">
            <a:off x="8892026" y="2098866"/>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FD2E8CC8-61CC-1C4A-8CFE-31C5815A7F8D}"/>
              </a:ext>
            </a:extLst>
          </p:cNvPr>
          <p:cNvSpPr>
            <a:spLocks noChangeAspect="1"/>
          </p:cNvSpPr>
          <p:nvPr/>
        </p:nvSpPr>
        <p:spPr>
          <a:xfrm rot="16200000">
            <a:off x="8075840" y="282249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F3CEE6CA-C6B8-834C-B001-B8831E9071E5}"/>
              </a:ext>
            </a:extLst>
          </p:cNvPr>
          <p:cNvSpPr>
            <a:spLocks noChangeAspect="1"/>
          </p:cNvSpPr>
          <p:nvPr/>
        </p:nvSpPr>
        <p:spPr>
          <a:xfrm rot="16200000">
            <a:off x="8266440" y="267849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59BF0157-57CA-3546-A474-4B4C7D8CDD7B}"/>
              </a:ext>
            </a:extLst>
          </p:cNvPr>
          <p:cNvSpPr>
            <a:spLocks noChangeAspect="1"/>
          </p:cNvSpPr>
          <p:nvPr/>
        </p:nvSpPr>
        <p:spPr>
          <a:xfrm rot="16200000">
            <a:off x="8325109" y="252814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0E956A7E-D2BB-9846-97F1-EE0C1AD36C78}"/>
              </a:ext>
            </a:extLst>
          </p:cNvPr>
          <p:cNvSpPr>
            <a:spLocks noChangeAspect="1"/>
          </p:cNvSpPr>
          <p:nvPr/>
        </p:nvSpPr>
        <p:spPr>
          <a:xfrm rot="16200000">
            <a:off x="8474828" y="245405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D208A507-47A4-404B-B4FE-1390B5AAC1D3}"/>
              </a:ext>
            </a:extLst>
          </p:cNvPr>
          <p:cNvSpPr>
            <a:spLocks noChangeAspect="1"/>
          </p:cNvSpPr>
          <p:nvPr/>
        </p:nvSpPr>
        <p:spPr>
          <a:xfrm rot="16200000">
            <a:off x="8526832" y="232513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ABF040B9-C737-2442-8E26-E565B93CA9F7}"/>
              </a:ext>
            </a:extLst>
          </p:cNvPr>
          <p:cNvSpPr>
            <a:spLocks noChangeAspect="1"/>
          </p:cNvSpPr>
          <p:nvPr/>
        </p:nvSpPr>
        <p:spPr>
          <a:xfrm rot="16200000">
            <a:off x="7862055" y="3142786"/>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C96EAFD6-A53A-6A47-9B74-512BAE375FA3}"/>
              </a:ext>
            </a:extLst>
          </p:cNvPr>
          <p:cNvSpPr>
            <a:spLocks noChangeAspect="1"/>
          </p:cNvSpPr>
          <p:nvPr/>
        </p:nvSpPr>
        <p:spPr>
          <a:xfrm rot="16200000">
            <a:off x="8014455" y="313670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F62F918A-6F2C-F04B-831F-8AEB0F443360}"/>
              </a:ext>
            </a:extLst>
          </p:cNvPr>
          <p:cNvSpPr>
            <a:spLocks noChangeAspect="1"/>
          </p:cNvSpPr>
          <p:nvPr/>
        </p:nvSpPr>
        <p:spPr>
          <a:xfrm rot="16200000">
            <a:off x="8051201" y="298017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DCA411CF-E11B-DD43-AFBA-940886B0BF4A}"/>
              </a:ext>
            </a:extLst>
          </p:cNvPr>
          <p:cNvSpPr>
            <a:spLocks noChangeAspect="1"/>
          </p:cNvSpPr>
          <p:nvPr/>
        </p:nvSpPr>
        <p:spPr>
          <a:xfrm rot="16200000">
            <a:off x="8196473" y="295775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95BC4984-A834-D14A-BB0C-1AF8DF3202EE}"/>
              </a:ext>
            </a:extLst>
          </p:cNvPr>
          <p:cNvSpPr>
            <a:spLocks noChangeAspect="1"/>
          </p:cNvSpPr>
          <p:nvPr/>
        </p:nvSpPr>
        <p:spPr>
          <a:xfrm rot="16200000">
            <a:off x="8217860" y="281375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8542D7CA-76AA-8C49-9C63-D7CF83B93D0B}"/>
              </a:ext>
            </a:extLst>
          </p:cNvPr>
          <p:cNvSpPr>
            <a:spLocks noChangeAspect="1"/>
          </p:cNvSpPr>
          <p:nvPr/>
        </p:nvSpPr>
        <p:spPr>
          <a:xfrm rot="16200000">
            <a:off x="8412579" y="262091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7EFFAA34-4CB0-EE46-90C0-3201F04BBDC1}"/>
              </a:ext>
            </a:extLst>
          </p:cNvPr>
          <p:cNvSpPr>
            <a:spLocks noChangeAspect="1"/>
          </p:cNvSpPr>
          <p:nvPr/>
        </p:nvSpPr>
        <p:spPr>
          <a:xfrm rot="16200000">
            <a:off x="8365979" y="276491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FE161097-6A4B-644A-AD5C-35788936C4C1}"/>
              </a:ext>
            </a:extLst>
          </p:cNvPr>
          <p:cNvSpPr>
            <a:spLocks noChangeAspect="1"/>
          </p:cNvSpPr>
          <p:nvPr/>
        </p:nvSpPr>
        <p:spPr>
          <a:xfrm rot="16200000">
            <a:off x="8556579" y="259805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28230350-190E-DC48-88EA-45E2326904EB}"/>
              </a:ext>
            </a:extLst>
          </p:cNvPr>
          <p:cNvSpPr>
            <a:spLocks noChangeAspect="1"/>
          </p:cNvSpPr>
          <p:nvPr/>
        </p:nvSpPr>
        <p:spPr>
          <a:xfrm rot="16200000">
            <a:off x="8634298" y="245405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1B1B92D4-30B3-C94C-805E-3D91E26C91AD}"/>
              </a:ext>
            </a:extLst>
          </p:cNvPr>
          <p:cNvSpPr>
            <a:spLocks noChangeAspect="1"/>
          </p:cNvSpPr>
          <p:nvPr/>
        </p:nvSpPr>
        <p:spPr>
          <a:xfrm rot="16200000">
            <a:off x="8764676" y="235441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B86555AB-F654-0342-82D0-3C0ED22CC843}"/>
              </a:ext>
            </a:extLst>
          </p:cNvPr>
          <p:cNvSpPr>
            <a:spLocks noChangeAspect="1"/>
          </p:cNvSpPr>
          <p:nvPr/>
        </p:nvSpPr>
        <p:spPr>
          <a:xfrm rot="16200000">
            <a:off x="8777403" y="217478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FD45B321-D6C9-444F-B5D5-D5C670933815}"/>
              </a:ext>
            </a:extLst>
          </p:cNvPr>
          <p:cNvSpPr>
            <a:spLocks noChangeAspect="1"/>
          </p:cNvSpPr>
          <p:nvPr/>
        </p:nvSpPr>
        <p:spPr>
          <a:xfrm rot="16200000">
            <a:off x="7515617" y="346770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3F992DB8-A649-504E-98E3-13FCB57EACDF}"/>
              </a:ext>
            </a:extLst>
          </p:cNvPr>
          <p:cNvSpPr>
            <a:spLocks noChangeAspect="1"/>
          </p:cNvSpPr>
          <p:nvPr/>
        </p:nvSpPr>
        <p:spPr>
          <a:xfrm rot="16200000">
            <a:off x="7904437" y="326933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591DD089-40E7-E94C-AA40-1FBACABB9DBE}"/>
              </a:ext>
            </a:extLst>
          </p:cNvPr>
          <p:cNvSpPr>
            <a:spLocks noChangeAspect="1"/>
          </p:cNvSpPr>
          <p:nvPr/>
        </p:nvSpPr>
        <p:spPr>
          <a:xfrm rot="16200000">
            <a:off x="7605429" y="3336431"/>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223B5206-EDD4-464B-9041-1F59F27ED421}"/>
              </a:ext>
            </a:extLst>
          </p:cNvPr>
          <p:cNvSpPr>
            <a:spLocks noChangeAspect="1"/>
          </p:cNvSpPr>
          <p:nvPr/>
        </p:nvSpPr>
        <p:spPr>
          <a:xfrm rot="16200000">
            <a:off x="8663150" y="226289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6F3000A1-673E-7D45-93F9-0FD2067BEDE3}"/>
              </a:ext>
            </a:extLst>
          </p:cNvPr>
          <p:cNvSpPr>
            <a:spLocks noChangeAspect="1"/>
          </p:cNvSpPr>
          <p:nvPr/>
        </p:nvSpPr>
        <p:spPr>
          <a:xfrm rot="16200000">
            <a:off x="8126679" y="267849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7" name="Straight Connector 96">
            <a:extLst>
              <a:ext uri="{FF2B5EF4-FFF2-40B4-BE49-F238E27FC236}">
                <a16:creationId xmlns:a16="http://schemas.microsoft.com/office/drawing/2014/main" id="{31EBB740-0193-EF47-ACD3-67D62304488F}"/>
              </a:ext>
            </a:extLst>
          </p:cNvPr>
          <p:cNvCxnSpPr>
            <a:cxnSpLocks/>
            <a:endCxn id="47" idx="4"/>
          </p:cNvCxnSpPr>
          <p:nvPr/>
        </p:nvCxnSpPr>
        <p:spPr>
          <a:xfrm>
            <a:off x="8545602" y="1816443"/>
            <a:ext cx="1635881" cy="1812812"/>
          </a:xfrm>
          <a:prstGeom prst="line">
            <a:avLst/>
          </a:prstGeom>
          <a:ln w="508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6CE13D9-97C2-9C45-A915-3AD58DE76827}"/>
              </a:ext>
            </a:extLst>
          </p:cNvPr>
          <p:cNvCxnSpPr>
            <a:cxnSpLocks/>
          </p:cNvCxnSpPr>
          <p:nvPr/>
        </p:nvCxnSpPr>
        <p:spPr>
          <a:xfrm flipH="1">
            <a:off x="7572991" y="2063243"/>
            <a:ext cx="1517451" cy="1570478"/>
          </a:xfrm>
          <a:prstGeom prst="line">
            <a:avLst/>
          </a:prstGeom>
          <a:ln w="50800">
            <a:solidFill>
              <a:srgbClr val="FFFF00"/>
            </a:solidFill>
          </a:ln>
        </p:spPr>
        <p:style>
          <a:lnRef idx="1">
            <a:schemeClr val="accent1"/>
          </a:lnRef>
          <a:fillRef idx="0">
            <a:schemeClr val="accent1"/>
          </a:fillRef>
          <a:effectRef idx="0">
            <a:schemeClr val="accent1"/>
          </a:effectRef>
          <a:fontRef idx="minor">
            <a:schemeClr val="tx1"/>
          </a:fontRef>
        </p:style>
      </p:cxnSp>
      <p:sp>
        <p:nvSpPr>
          <p:cNvPr id="104" name="Freeform 103">
            <a:extLst>
              <a:ext uri="{FF2B5EF4-FFF2-40B4-BE49-F238E27FC236}">
                <a16:creationId xmlns:a16="http://schemas.microsoft.com/office/drawing/2014/main" id="{E208F876-3B8F-F94B-95EC-7BD17075CD74}"/>
              </a:ext>
            </a:extLst>
          </p:cNvPr>
          <p:cNvSpPr/>
          <p:nvPr/>
        </p:nvSpPr>
        <p:spPr>
          <a:xfrm>
            <a:off x="7901796" y="3312543"/>
            <a:ext cx="172542" cy="327804"/>
          </a:xfrm>
          <a:custGeom>
            <a:avLst/>
            <a:gdLst>
              <a:gd name="connsiteX0" fmla="*/ 0 w 172542"/>
              <a:gd name="connsiteY0" fmla="*/ 0 h 327804"/>
              <a:gd name="connsiteX1" fmla="*/ 138023 w 172542"/>
              <a:gd name="connsiteY1" fmla="*/ 172529 h 327804"/>
              <a:gd name="connsiteX2" fmla="*/ 155276 w 172542"/>
              <a:gd name="connsiteY2" fmla="*/ 224287 h 327804"/>
              <a:gd name="connsiteX3" fmla="*/ 172529 w 172542"/>
              <a:gd name="connsiteY3" fmla="*/ 327804 h 327804"/>
            </a:gdLst>
            <a:ahLst/>
            <a:cxnLst>
              <a:cxn ang="0">
                <a:pos x="connsiteX0" y="connsiteY0"/>
              </a:cxn>
              <a:cxn ang="0">
                <a:pos x="connsiteX1" y="connsiteY1"/>
              </a:cxn>
              <a:cxn ang="0">
                <a:pos x="connsiteX2" y="connsiteY2"/>
              </a:cxn>
              <a:cxn ang="0">
                <a:pos x="connsiteX3" y="connsiteY3"/>
              </a:cxn>
            </a:cxnLst>
            <a:rect l="l" t="t" r="r" b="b"/>
            <a:pathLst>
              <a:path w="172542" h="327804">
                <a:moveTo>
                  <a:pt x="0" y="0"/>
                </a:moveTo>
                <a:cubicBezTo>
                  <a:pt x="18951" y="22109"/>
                  <a:pt x="112456" y="121395"/>
                  <a:pt x="138023" y="172529"/>
                </a:cubicBezTo>
                <a:cubicBezTo>
                  <a:pt x="146156" y="188795"/>
                  <a:pt x="150865" y="206644"/>
                  <a:pt x="155276" y="224287"/>
                </a:cubicBezTo>
                <a:cubicBezTo>
                  <a:pt x="173657" y="297809"/>
                  <a:pt x="172529" y="284832"/>
                  <a:pt x="172529" y="327804"/>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Freeform 107">
            <a:extLst>
              <a:ext uri="{FF2B5EF4-FFF2-40B4-BE49-F238E27FC236}">
                <a16:creationId xmlns:a16="http://schemas.microsoft.com/office/drawing/2014/main" id="{DAF82A5F-C9BE-7B4A-BF11-6D79D9B488ED}"/>
              </a:ext>
            </a:extLst>
          </p:cNvPr>
          <p:cNvSpPr/>
          <p:nvPr/>
        </p:nvSpPr>
        <p:spPr>
          <a:xfrm>
            <a:off x="9605843" y="3209026"/>
            <a:ext cx="193765" cy="465827"/>
          </a:xfrm>
          <a:custGeom>
            <a:avLst/>
            <a:gdLst>
              <a:gd name="connsiteX0" fmla="*/ 193765 w 193765"/>
              <a:gd name="connsiteY0" fmla="*/ 0 h 465827"/>
              <a:gd name="connsiteX1" fmla="*/ 72995 w 193765"/>
              <a:gd name="connsiteY1" fmla="*/ 103517 h 465827"/>
              <a:gd name="connsiteX2" fmla="*/ 38489 w 193765"/>
              <a:gd name="connsiteY2" fmla="*/ 207034 h 465827"/>
              <a:gd name="connsiteX3" fmla="*/ 21236 w 193765"/>
              <a:gd name="connsiteY3" fmla="*/ 258793 h 465827"/>
              <a:gd name="connsiteX4" fmla="*/ 3983 w 193765"/>
              <a:gd name="connsiteY4" fmla="*/ 465827 h 4658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765" h="465827">
                <a:moveTo>
                  <a:pt x="193765" y="0"/>
                </a:moveTo>
                <a:cubicBezTo>
                  <a:pt x="153508" y="34506"/>
                  <a:pt x="104808" y="61100"/>
                  <a:pt x="72995" y="103517"/>
                </a:cubicBezTo>
                <a:cubicBezTo>
                  <a:pt x="51172" y="132615"/>
                  <a:pt x="49991" y="172528"/>
                  <a:pt x="38489" y="207034"/>
                </a:cubicBezTo>
                <a:lnTo>
                  <a:pt x="21236" y="258793"/>
                </a:lnTo>
                <a:cubicBezTo>
                  <a:pt x="-12385" y="359654"/>
                  <a:pt x="3983" y="292362"/>
                  <a:pt x="3983" y="465827"/>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TextBox 108">
            <a:extLst>
              <a:ext uri="{FF2B5EF4-FFF2-40B4-BE49-F238E27FC236}">
                <a16:creationId xmlns:a16="http://schemas.microsoft.com/office/drawing/2014/main" id="{A016B65D-CED7-3F45-9468-9A3738817164}"/>
              </a:ext>
            </a:extLst>
          </p:cNvPr>
          <p:cNvSpPr txBox="1"/>
          <p:nvPr/>
        </p:nvSpPr>
        <p:spPr>
          <a:xfrm>
            <a:off x="8083967" y="3171272"/>
            <a:ext cx="369012" cy="400110"/>
          </a:xfrm>
          <a:prstGeom prst="rect">
            <a:avLst/>
          </a:prstGeom>
          <a:noFill/>
        </p:spPr>
        <p:txBody>
          <a:bodyPr wrap="none" rtlCol="0">
            <a:spAutoFit/>
          </a:bodyPr>
          <a:lstStyle/>
          <a:p>
            <a:pPr algn="l"/>
            <a:r>
              <a:rPr lang="en-US" sz="2000" dirty="0" err="1">
                <a:latin typeface="Symbol" pitchFamily="2" charset="2"/>
                <a:cs typeface="Arial" panose="020B0604020202020204" pitchFamily="34" charset="0"/>
              </a:rPr>
              <a:t>q</a:t>
            </a:r>
            <a:r>
              <a:rPr lang="en-US" baseline="-25000" dirty="0" err="1">
                <a:latin typeface="Arial" panose="020B0604020202020204" pitchFamily="34" charset="0"/>
                <a:cs typeface="Arial" panose="020B0604020202020204" pitchFamily="34" charset="0"/>
              </a:rPr>
              <a:t>r</a:t>
            </a:r>
            <a:endParaRPr lang="en-US" baseline="-25000" dirty="0">
              <a:latin typeface="Arial" panose="020B0604020202020204" pitchFamily="34" charset="0"/>
              <a:cs typeface="Arial" panose="020B0604020202020204" pitchFamily="34" charset="0"/>
            </a:endParaRPr>
          </a:p>
        </p:txBody>
      </p:sp>
      <p:sp>
        <p:nvSpPr>
          <p:cNvPr id="110" name="TextBox 109">
            <a:extLst>
              <a:ext uri="{FF2B5EF4-FFF2-40B4-BE49-F238E27FC236}">
                <a16:creationId xmlns:a16="http://schemas.microsoft.com/office/drawing/2014/main" id="{2BE3564A-DEB4-CC48-BEEC-26C1385C535A}"/>
              </a:ext>
            </a:extLst>
          </p:cNvPr>
          <p:cNvSpPr txBox="1"/>
          <p:nvPr/>
        </p:nvSpPr>
        <p:spPr>
          <a:xfrm>
            <a:off x="9271290" y="3166323"/>
            <a:ext cx="369012" cy="400110"/>
          </a:xfrm>
          <a:prstGeom prst="rect">
            <a:avLst/>
          </a:prstGeom>
          <a:noFill/>
        </p:spPr>
        <p:txBody>
          <a:bodyPr wrap="none" rtlCol="0">
            <a:spAutoFit/>
          </a:bodyPr>
          <a:lstStyle/>
          <a:p>
            <a:pPr algn="l"/>
            <a:r>
              <a:rPr lang="en-US" sz="2000" dirty="0" err="1">
                <a:latin typeface="Symbol" pitchFamily="2" charset="2"/>
                <a:cs typeface="Arial" panose="020B0604020202020204" pitchFamily="34" charset="0"/>
              </a:rPr>
              <a:t>q</a:t>
            </a:r>
            <a:r>
              <a:rPr lang="en-US" baseline="-25000" dirty="0" err="1">
                <a:latin typeface="Arial" panose="020B0604020202020204" pitchFamily="34" charset="0"/>
                <a:cs typeface="Arial" panose="020B0604020202020204" pitchFamily="34" charset="0"/>
              </a:rPr>
              <a:t>r</a:t>
            </a:r>
            <a:endParaRPr lang="en-US" baseline="-25000" dirty="0">
              <a:latin typeface="Arial" panose="020B0604020202020204" pitchFamily="34" charset="0"/>
              <a:cs typeface="Arial" panose="020B0604020202020204" pitchFamily="34" charset="0"/>
            </a:endParaRPr>
          </a:p>
        </p:txBody>
      </p:sp>
      <p:sp>
        <p:nvSpPr>
          <p:cNvPr id="111" name="Oval 110">
            <a:extLst>
              <a:ext uri="{FF2B5EF4-FFF2-40B4-BE49-F238E27FC236}">
                <a16:creationId xmlns:a16="http://schemas.microsoft.com/office/drawing/2014/main" id="{5E9644B5-5F3F-EA48-8FE7-20F7E9285982}"/>
              </a:ext>
            </a:extLst>
          </p:cNvPr>
          <p:cNvSpPr>
            <a:spLocks noChangeAspect="1"/>
          </p:cNvSpPr>
          <p:nvPr/>
        </p:nvSpPr>
        <p:spPr>
          <a:xfrm>
            <a:off x="10080820" y="2026866"/>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EA29A115-B54F-B04F-9898-CF39815C068F}"/>
              </a:ext>
            </a:extLst>
          </p:cNvPr>
          <p:cNvCxnSpPr>
            <a:cxnSpLocks/>
          </p:cNvCxnSpPr>
          <p:nvPr/>
        </p:nvCxnSpPr>
        <p:spPr>
          <a:xfrm>
            <a:off x="10206284" y="2158134"/>
            <a:ext cx="273577" cy="295858"/>
          </a:xfrm>
          <a:prstGeom prst="straightConnector1">
            <a:avLst/>
          </a:prstGeom>
          <a:ln w="2540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267474B-4164-BD40-B10B-60D03844B2AA}"/>
              </a:ext>
            </a:extLst>
          </p:cNvPr>
          <p:cNvCxnSpPr/>
          <p:nvPr/>
        </p:nvCxnSpPr>
        <p:spPr>
          <a:xfrm flipH="1" flipV="1">
            <a:off x="9845705" y="1789267"/>
            <a:ext cx="224093" cy="246800"/>
          </a:xfrm>
          <a:prstGeom prst="straightConnector1">
            <a:avLst/>
          </a:prstGeom>
          <a:ln w="2540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B3229B3-65C6-2643-96E7-B079B96D4D16}"/>
              </a:ext>
            </a:extLst>
          </p:cNvPr>
          <p:cNvCxnSpPr>
            <a:cxnSpLocks/>
            <a:stCxn id="111" idx="4"/>
          </p:cNvCxnSpPr>
          <p:nvPr/>
        </p:nvCxnSpPr>
        <p:spPr>
          <a:xfrm flipH="1">
            <a:off x="9881287" y="2170866"/>
            <a:ext cx="271533" cy="327546"/>
          </a:xfrm>
          <a:prstGeom prst="straightConnector1">
            <a:avLst/>
          </a:prstGeom>
          <a:ln w="2540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D228D836-1F3B-B544-8329-C2B0E0CED1F5}"/>
              </a:ext>
            </a:extLst>
          </p:cNvPr>
          <p:cNvSpPr txBox="1"/>
          <p:nvPr/>
        </p:nvSpPr>
        <p:spPr>
          <a:xfrm>
            <a:off x="10318307" y="1948997"/>
            <a:ext cx="498221" cy="369332"/>
          </a:xfrm>
          <a:prstGeom prst="rect">
            <a:avLst/>
          </a:prstGeom>
          <a:noFill/>
        </p:spPr>
        <p:txBody>
          <a:bodyPr wrap="square" rtlCol="0">
            <a:spAutoFit/>
          </a:bodyPr>
          <a:lstStyle/>
          <a:p>
            <a:pPr algn="l"/>
            <a:r>
              <a:rPr lang="en-US" dirty="0" err="1">
                <a:latin typeface="Arial" panose="020B0604020202020204" pitchFamily="34" charset="0"/>
                <a:cs typeface="Arial" panose="020B0604020202020204" pitchFamily="34" charset="0"/>
              </a:rPr>
              <a:t>F</a:t>
            </a:r>
            <a:r>
              <a:rPr lang="en-US" baseline="-25000" dirty="0" err="1">
                <a:latin typeface="Arial" panose="020B0604020202020204" pitchFamily="34" charset="0"/>
                <a:cs typeface="Arial" panose="020B0604020202020204" pitchFamily="34" charset="0"/>
              </a:rPr>
              <a:t>gt</a:t>
            </a:r>
            <a:endParaRPr lang="en-US" baseline="-25000" dirty="0">
              <a:latin typeface="Arial" panose="020B0604020202020204" pitchFamily="34" charset="0"/>
              <a:cs typeface="Arial" panose="020B0604020202020204" pitchFamily="34" charset="0"/>
            </a:endParaRPr>
          </a:p>
        </p:txBody>
      </p:sp>
      <p:sp>
        <p:nvSpPr>
          <p:cNvPr id="91" name="TextBox 90">
            <a:extLst>
              <a:ext uri="{FF2B5EF4-FFF2-40B4-BE49-F238E27FC236}">
                <a16:creationId xmlns:a16="http://schemas.microsoft.com/office/drawing/2014/main" id="{9BE40E3F-59FF-DB40-B660-32745164C901}"/>
              </a:ext>
            </a:extLst>
          </p:cNvPr>
          <p:cNvSpPr txBox="1"/>
          <p:nvPr/>
        </p:nvSpPr>
        <p:spPr>
          <a:xfrm>
            <a:off x="9567931" y="2003578"/>
            <a:ext cx="498221" cy="369332"/>
          </a:xfrm>
          <a:prstGeom prst="rect">
            <a:avLst/>
          </a:prstGeom>
          <a:noFill/>
        </p:spPr>
        <p:txBody>
          <a:bodyPr wrap="square" rtlCol="0">
            <a:spAutoFit/>
          </a:bodyPr>
          <a:lstStyle/>
          <a:p>
            <a:pPr algn="l"/>
            <a:r>
              <a:rPr lang="en-US" dirty="0" err="1">
                <a:latin typeface="Arial" panose="020B0604020202020204" pitchFamily="34" charset="0"/>
                <a:cs typeface="Arial" panose="020B0604020202020204" pitchFamily="34" charset="0"/>
              </a:rPr>
              <a:t>F</a:t>
            </a:r>
            <a:r>
              <a:rPr lang="en-US" baseline="-25000" dirty="0" err="1">
                <a:latin typeface="Arial" panose="020B0604020202020204" pitchFamily="34" charset="0"/>
                <a:cs typeface="Arial" panose="020B0604020202020204" pitchFamily="34" charset="0"/>
              </a:rPr>
              <a:t>gn</a:t>
            </a:r>
            <a:endParaRPr lang="en-US" baseline="-25000" dirty="0">
              <a:latin typeface="Arial" panose="020B0604020202020204" pitchFamily="34" charset="0"/>
              <a:cs typeface="Arial" panose="020B0604020202020204" pitchFamily="34" charset="0"/>
            </a:endParaRPr>
          </a:p>
        </p:txBody>
      </p:sp>
      <p:sp>
        <p:nvSpPr>
          <p:cNvPr id="92" name="TextBox 91">
            <a:extLst>
              <a:ext uri="{FF2B5EF4-FFF2-40B4-BE49-F238E27FC236}">
                <a16:creationId xmlns:a16="http://schemas.microsoft.com/office/drawing/2014/main" id="{364D22D2-100F-7448-A7A4-C1860C8DDA85}"/>
              </a:ext>
            </a:extLst>
          </p:cNvPr>
          <p:cNvSpPr txBox="1"/>
          <p:nvPr/>
        </p:nvSpPr>
        <p:spPr>
          <a:xfrm>
            <a:off x="9938112" y="1544573"/>
            <a:ext cx="498221" cy="369332"/>
          </a:xfrm>
          <a:prstGeom prst="rect">
            <a:avLst/>
          </a:prstGeom>
          <a:noFill/>
        </p:spPr>
        <p:txBody>
          <a:bodyPr wrap="square" rtlCol="0">
            <a:spAutoFit/>
          </a:bodyPr>
          <a:lstStyle/>
          <a:p>
            <a:pPr algn="l"/>
            <a:r>
              <a:rPr lang="en-US" dirty="0">
                <a:latin typeface="Arial" panose="020B0604020202020204" pitchFamily="34" charset="0"/>
                <a:cs typeface="Arial" panose="020B0604020202020204" pitchFamily="34" charset="0"/>
              </a:rPr>
              <a:t>F</a:t>
            </a:r>
            <a:r>
              <a:rPr lang="en-US" baseline="-25000" dirty="0">
                <a:latin typeface="Arial" panose="020B0604020202020204" pitchFamily="34" charset="0"/>
                <a:cs typeface="Arial" panose="020B0604020202020204" pitchFamily="34" charset="0"/>
              </a:rPr>
              <a:t>C</a:t>
            </a:r>
          </a:p>
        </p:txBody>
      </p:sp>
      <p:sp>
        <p:nvSpPr>
          <p:cNvPr id="26" name="TextBox 25">
            <a:extLst>
              <a:ext uri="{FF2B5EF4-FFF2-40B4-BE49-F238E27FC236}">
                <a16:creationId xmlns:a16="http://schemas.microsoft.com/office/drawing/2014/main" id="{629F912A-4113-1E49-8EA0-C30618B8DF83}"/>
              </a:ext>
            </a:extLst>
          </p:cNvPr>
          <p:cNvSpPr txBox="1"/>
          <p:nvPr/>
        </p:nvSpPr>
        <p:spPr>
          <a:xfrm>
            <a:off x="494270" y="1939866"/>
            <a:ext cx="6128952" cy="1013291"/>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forces acting on each grain are the net (gravitational force - buoyancy) downslope gravitational force </a:t>
            </a:r>
            <a:r>
              <a:rPr lang="en-US" dirty="0" err="1">
                <a:latin typeface="Arial" panose="020B0604020202020204" pitchFamily="34" charset="0"/>
                <a:cs typeface="Arial" panose="020B0604020202020204" pitchFamily="34" charset="0"/>
              </a:rPr>
              <a:t>F</a:t>
            </a:r>
            <a:r>
              <a:rPr lang="en-US" baseline="-25000" dirty="0" err="1">
                <a:latin typeface="Arial" panose="020B0604020202020204" pitchFamily="34" charset="0"/>
                <a:cs typeface="Arial" panose="020B0604020202020204" pitchFamily="34" charset="0"/>
              </a:rPr>
              <a:t>gt</a:t>
            </a:r>
            <a:r>
              <a:rPr lang="en-US" dirty="0">
                <a:latin typeface="Arial" panose="020B0604020202020204" pitchFamily="34" charset="0"/>
                <a:cs typeface="Arial" panose="020B0604020202020204" pitchFamily="34" charset="0"/>
              </a:rPr>
              <a:t>, the net normal force </a:t>
            </a:r>
            <a:r>
              <a:rPr lang="en-US" dirty="0" err="1">
                <a:latin typeface="Arial" panose="020B0604020202020204" pitchFamily="34" charset="0"/>
                <a:cs typeface="Arial" panose="020B0604020202020204" pitchFamily="34" charset="0"/>
              </a:rPr>
              <a:t>F</a:t>
            </a:r>
            <a:r>
              <a:rPr lang="en-US" baseline="-25000" dirty="0" err="1">
                <a:latin typeface="Arial" panose="020B0604020202020204" pitchFamily="34" charset="0"/>
                <a:cs typeface="Arial" panose="020B0604020202020204" pitchFamily="34" charset="0"/>
              </a:rPr>
              <a:t>gn</a:t>
            </a:r>
            <a:r>
              <a:rPr lang="en-US" dirty="0">
                <a:latin typeface="Arial" panose="020B0604020202020204" pitchFamily="34" charset="0"/>
                <a:cs typeface="Arial" panose="020B0604020202020204" pitchFamily="34" charset="0"/>
              </a:rPr>
              <a:t> and the resistive Coulomb force F</a:t>
            </a:r>
            <a:r>
              <a:rPr lang="en-US" baseline="-25000" dirty="0">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F21832CF-4E4B-5F48-A349-D36958936E57}"/>
                  </a:ext>
                </a:extLst>
              </p:cNvPr>
              <p:cNvSpPr txBox="1"/>
              <p:nvPr/>
            </p:nvSpPr>
            <p:spPr>
              <a:xfrm>
                <a:off x="460358" y="3006726"/>
                <a:ext cx="6301982" cy="732380"/>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𝐹</m:t>
                          </m:r>
                        </m:e>
                        <m:sub>
                          <m:r>
                            <a:rPr lang="en-US" b="0" i="1" smtClean="0">
                              <a:latin typeface="Cambria Math" panose="02040503050406030204" pitchFamily="18" charset="0"/>
                              <a:cs typeface="Arial" panose="020B0604020202020204" pitchFamily="34" charset="0"/>
                            </a:rPr>
                            <m:t>𝑔𝑡</m:t>
                          </m:r>
                        </m:sub>
                      </m:sSub>
                      <m:r>
                        <a:rPr lang="en-US" b="0" i="1" smtClean="0">
                          <a:latin typeface="Cambria Math" panose="02040503050406030204" pitchFamily="18" charset="0"/>
                          <a:cs typeface="Arial" panose="020B0604020202020204" pitchFamily="34" charset="0"/>
                        </a:rPr>
                        <m:t>=</m:t>
                      </m:r>
                      <m:d>
                        <m:dPr>
                          <m:begChr m:val="["/>
                          <m:endChr m:val="]"/>
                          <m:ctrlPr>
                            <a:rPr lang="en-US" b="0" i="1" smtClean="0">
                              <a:latin typeface="Cambria Math" panose="02040503050406030204" pitchFamily="18" charset="0"/>
                              <a:cs typeface="Arial" panose="020B0604020202020204" pitchFamily="34" charset="0"/>
                            </a:rPr>
                          </m:ctrlPr>
                        </m:d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𝜌</m:t>
                              </m:r>
                            </m:e>
                            <m:sub>
                              <m:r>
                                <a:rPr lang="en-US" i="1">
                                  <a:latin typeface="Cambria Math" panose="02040503050406030204" pitchFamily="18" charset="0"/>
                                  <a:cs typeface="Arial" panose="020B0604020202020204" pitchFamily="34" charset="0"/>
                                </a:rPr>
                                <m:t>𝑠</m:t>
                              </m:r>
                            </m:sub>
                          </m:sSub>
                          <m:r>
                            <a:rPr lang="en-US" i="1">
                              <a:latin typeface="Cambria Math" panose="02040503050406030204" pitchFamily="18" charset="0"/>
                              <a:cs typeface="Arial" panose="020B0604020202020204" pitchFamily="34" charset="0"/>
                            </a:rPr>
                            <m:t>𝑔</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4</m:t>
                              </m:r>
                            </m:num>
                            <m:den>
                              <m:r>
                                <a:rPr lang="en-US" i="1">
                                  <a:latin typeface="Cambria Math" panose="02040503050406030204" pitchFamily="18" charset="0"/>
                                  <a:cs typeface="Arial" panose="020B0604020202020204" pitchFamily="34" charset="0"/>
                                </a:rPr>
                                <m:t>3</m:t>
                              </m:r>
                            </m:den>
                          </m:f>
                          <m:r>
                            <a:rPr lang="en-US" i="1">
                              <a:latin typeface="Cambria Math" panose="02040503050406030204" pitchFamily="18" charset="0"/>
                              <a:ea typeface="Cambria Math" panose="02040503050406030204" pitchFamily="18" charset="0"/>
                              <a:cs typeface="Arial" panose="020B0604020202020204" pitchFamily="34" charset="0"/>
                            </a:rPr>
                            <m:t>𝜋</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𝐷</m:t>
                                      </m:r>
                                    </m:num>
                                    <m:den>
                                      <m:r>
                                        <a:rPr lang="en-US" i="1">
                                          <a:latin typeface="Cambria Math" panose="02040503050406030204" pitchFamily="18" charset="0"/>
                                          <a:ea typeface="Cambria Math" panose="02040503050406030204" pitchFamily="18" charset="0"/>
                                          <a:cs typeface="Arial" panose="020B0604020202020204" pitchFamily="34" charset="0"/>
                                        </a:rPr>
                                        <m:t>2</m:t>
                                      </m:r>
                                    </m:den>
                                  </m:f>
                                </m:e>
                              </m:d>
                            </m:e>
                            <m:sup>
                              <m:r>
                                <a:rPr lang="en-US" i="1">
                                  <a:latin typeface="Cambria Math" panose="02040503050406030204" pitchFamily="18" charset="0"/>
                                  <a:ea typeface="Cambria Math" panose="02040503050406030204" pitchFamily="18" charset="0"/>
                                  <a:cs typeface="Arial" panose="020B0604020202020204" pitchFamily="34" charset="0"/>
                                </a:rPr>
                                <m:t>3</m:t>
                              </m:r>
                            </m:sup>
                          </m:sSup>
                          <m:r>
                            <a:rPr lang="en-US" i="1">
                              <a:latin typeface="Cambria Math" panose="02040503050406030204" pitchFamily="18" charset="0"/>
                              <a:ea typeface="Cambria Math" panose="02040503050406030204" pitchFamily="18" charset="0"/>
                              <a:cs typeface="Arial" panose="020B0604020202020204" pitchFamily="34" charset="0"/>
                            </a:rPr>
                            <m:t>−</m:t>
                          </m:r>
                          <m:r>
                            <a:rPr lang="en-US" i="1" smtClean="0">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cs typeface="Arial" panose="020B0604020202020204" pitchFamily="34" charset="0"/>
                            </a:rPr>
                            <m:t>𝑔</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4</m:t>
                              </m:r>
                            </m:num>
                            <m:den>
                              <m:r>
                                <a:rPr lang="en-US" i="1">
                                  <a:latin typeface="Cambria Math" panose="02040503050406030204" pitchFamily="18" charset="0"/>
                                  <a:cs typeface="Arial" panose="020B0604020202020204" pitchFamily="34" charset="0"/>
                                </a:rPr>
                                <m:t>3</m:t>
                              </m:r>
                            </m:den>
                          </m:f>
                          <m:r>
                            <a:rPr lang="en-US" i="1">
                              <a:latin typeface="Cambria Math" panose="02040503050406030204" pitchFamily="18" charset="0"/>
                              <a:ea typeface="Cambria Math" panose="02040503050406030204" pitchFamily="18" charset="0"/>
                              <a:cs typeface="Arial" panose="020B0604020202020204" pitchFamily="34" charset="0"/>
                            </a:rPr>
                            <m:t>𝜋</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𝐷</m:t>
                                      </m:r>
                                    </m:num>
                                    <m:den>
                                      <m:r>
                                        <a:rPr lang="en-US" i="1">
                                          <a:latin typeface="Cambria Math" panose="02040503050406030204" pitchFamily="18" charset="0"/>
                                          <a:ea typeface="Cambria Math" panose="02040503050406030204" pitchFamily="18" charset="0"/>
                                          <a:cs typeface="Arial" panose="020B0604020202020204" pitchFamily="34" charset="0"/>
                                        </a:rPr>
                                        <m:t>2</m:t>
                                      </m:r>
                                    </m:den>
                                  </m:f>
                                </m:e>
                              </m:d>
                            </m:e>
                            <m:sup>
                              <m:r>
                                <a:rPr lang="en-US" i="1">
                                  <a:latin typeface="Cambria Math" panose="02040503050406030204" pitchFamily="18" charset="0"/>
                                  <a:ea typeface="Cambria Math" panose="02040503050406030204" pitchFamily="18" charset="0"/>
                                  <a:cs typeface="Arial" panose="020B0604020202020204" pitchFamily="34" charset="0"/>
                                </a:rPr>
                                <m:t>3</m:t>
                              </m:r>
                            </m:sup>
                          </m:sSup>
                        </m:e>
                      </m:d>
                      <m:r>
                        <a:rPr lang="en-US" b="0" i="1" smtClean="0">
                          <a:latin typeface="Cambria Math" panose="02040503050406030204" pitchFamily="18" charset="0"/>
                          <a:cs typeface="Arial" panose="020B0604020202020204" pitchFamily="34" charset="0"/>
                        </a:rPr>
                        <m:t>𝑠𝑖𝑛</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𝜃</m:t>
                          </m:r>
                        </m:e>
                        <m:sub>
                          <m:r>
                            <a:rPr lang="en-US" b="0" i="1" smtClean="0">
                              <a:latin typeface="Cambria Math" panose="02040503050406030204" pitchFamily="18" charset="0"/>
                              <a:cs typeface="Arial" panose="020B0604020202020204" pitchFamily="34" charset="0"/>
                            </a:rPr>
                            <m:t>𝑟</m:t>
                          </m:r>
                        </m:sub>
                      </m:sSub>
                      <m:r>
                        <a:rPr lang="en-US" b="0" i="1" smtClean="0">
                          <a:latin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cs typeface="Arial" panose="020B0604020202020204" pitchFamily="34" charset="0"/>
                        </a:rPr>
                        <m:t>𝑔</m:t>
                      </m:r>
                      <m:r>
                        <a:rPr lang="en-US" b="0" i="1" smtClean="0">
                          <a:latin typeface="Cambria Math" panose="02040503050406030204" pitchFamily="18" charset="0"/>
                          <a:cs typeface="Arial" panose="020B0604020202020204" pitchFamily="34" charset="0"/>
                        </a:rPr>
                        <m:t>𝑅</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4</m:t>
                          </m:r>
                        </m:num>
                        <m:den>
                          <m:r>
                            <a:rPr lang="en-US" i="1">
                              <a:latin typeface="Cambria Math" panose="02040503050406030204" pitchFamily="18" charset="0"/>
                              <a:cs typeface="Arial" panose="020B0604020202020204" pitchFamily="34" charset="0"/>
                            </a:rPr>
                            <m:t>3</m:t>
                          </m:r>
                        </m:den>
                      </m:f>
                      <m:r>
                        <a:rPr lang="en-US" i="1">
                          <a:latin typeface="Cambria Math" panose="02040503050406030204" pitchFamily="18" charset="0"/>
                          <a:ea typeface="Cambria Math" panose="02040503050406030204" pitchFamily="18" charset="0"/>
                          <a:cs typeface="Arial" panose="020B0604020202020204" pitchFamily="34" charset="0"/>
                        </a:rPr>
                        <m:t>𝜋</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𝐷</m:t>
                                  </m:r>
                                </m:num>
                                <m:den>
                                  <m:r>
                                    <a:rPr lang="en-US" i="1">
                                      <a:latin typeface="Cambria Math" panose="02040503050406030204" pitchFamily="18" charset="0"/>
                                      <a:ea typeface="Cambria Math" panose="02040503050406030204" pitchFamily="18" charset="0"/>
                                      <a:cs typeface="Arial" panose="020B0604020202020204" pitchFamily="34" charset="0"/>
                                    </a:rPr>
                                    <m:t>2</m:t>
                                  </m:r>
                                </m:den>
                              </m:f>
                            </m:e>
                          </m:d>
                        </m:e>
                        <m:sup>
                          <m:r>
                            <a:rPr lang="en-US" i="1">
                              <a:latin typeface="Cambria Math" panose="02040503050406030204" pitchFamily="18" charset="0"/>
                              <a:ea typeface="Cambria Math" panose="02040503050406030204" pitchFamily="18" charset="0"/>
                              <a:cs typeface="Arial" panose="020B0604020202020204" pitchFamily="34" charset="0"/>
                            </a:rPr>
                            <m:t>3</m:t>
                          </m:r>
                        </m:sup>
                      </m:sSup>
                      <m:r>
                        <a:rPr lang="en-US" i="1">
                          <a:latin typeface="Cambria Math" panose="02040503050406030204" pitchFamily="18" charset="0"/>
                          <a:cs typeface="Arial" panose="020B0604020202020204" pitchFamily="34" charset="0"/>
                        </a:rPr>
                        <m:t>𝑠𝑖𝑛</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𝜃</m:t>
                          </m:r>
                        </m:e>
                        <m:sub>
                          <m:r>
                            <a:rPr lang="en-US" i="1">
                              <a:latin typeface="Cambria Math" panose="02040503050406030204" pitchFamily="18" charset="0"/>
                              <a:cs typeface="Arial" panose="020B0604020202020204" pitchFamily="34" charset="0"/>
                            </a:rPr>
                            <m:t>𝑟</m:t>
                          </m:r>
                        </m:sub>
                      </m:sSub>
                    </m:oMath>
                  </m:oMathPara>
                </a14:m>
                <a:endParaRPr lang="en-US" b="0" dirty="0">
                  <a:latin typeface="Arial" panose="020B0604020202020204" pitchFamily="34" charset="0"/>
                  <a:cs typeface="Arial" panose="020B0604020202020204" pitchFamily="34" charset="0"/>
                </a:endParaRPr>
              </a:p>
            </p:txBody>
          </p:sp>
        </mc:Choice>
        <mc:Fallback xmlns="">
          <p:sp>
            <p:nvSpPr>
              <p:cNvPr id="27" name="TextBox 26">
                <a:extLst>
                  <a:ext uri="{FF2B5EF4-FFF2-40B4-BE49-F238E27FC236}">
                    <a16:creationId xmlns:a16="http://schemas.microsoft.com/office/drawing/2014/main" id="{F21832CF-4E4B-5F48-A349-D36958936E57}"/>
                  </a:ext>
                </a:extLst>
              </p:cNvPr>
              <p:cNvSpPr txBox="1">
                <a:spLocks noRot="1" noChangeAspect="1" noMove="1" noResize="1" noEditPoints="1" noAdjustHandles="1" noChangeArrowheads="1" noChangeShapeType="1" noTextEdit="1"/>
              </p:cNvSpPr>
              <p:nvPr/>
            </p:nvSpPr>
            <p:spPr>
              <a:xfrm>
                <a:off x="460358" y="3006726"/>
                <a:ext cx="6301982" cy="732380"/>
              </a:xfrm>
              <a:prstGeom prst="rect">
                <a:avLst/>
              </a:prstGeom>
              <a:blipFill>
                <a:blip r:embed="rId2"/>
                <a:stretch>
                  <a:fillRect l="-201" b="-16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B0B4480D-7D6F-9944-8E6A-083DFB5B07BF}"/>
                  </a:ext>
                </a:extLst>
              </p:cNvPr>
              <p:cNvSpPr txBox="1"/>
              <p:nvPr/>
            </p:nvSpPr>
            <p:spPr>
              <a:xfrm>
                <a:off x="499356" y="3793441"/>
                <a:ext cx="2596929" cy="660181"/>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𝐹</m:t>
                          </m:r>
                        </m:e>
                        <m:sub>
                          <m:r>
                            <a:rPr lang="en-US" b="0" i="1" smtClean="0">
                              <a:latin typeface="Cambria Math" panose="02040503050406030204" pitchFamily="18" charset="0"/>
                              <a:cs typeface="Arial" panose="020B0604020202020204" pitchFamily="34" charset="0"/>
                            </a:rPr>
                            <m:t>𝑔𝑛</m:t>
                          </m:r>
                        </m:sub>
                      </m:sSub>
                      <m:r>
                        <a:rPr lang="en-US" b="0" i="1" smtClean="0">
                          <a:latin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cs typeface="Arial" panose="020B0604020202020204" pitchFamily="34" charset="0"/>
                        </a:rPr>
                        <m:t>𝑔</m:t>
                      </m:r>
                      <m:r>
                        <a:rPr lang="en-US" b="0" i="1" smtClean="0">
                          <a:latin typeface="Cambria Math" panose="02040503050406030204" pitchFamily="18" charset="0"/>
                          <a:cs typeface="Arial" panose="020B0604020202020204" pitchFamily="34" charset="0"/>
                        </a:rPr>
                        <m:t>𝑅</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4</m:t>
                          </m:r>
                        </m:num>
                        <m:den>
                          <m:r>
                            <a:rPr lang="en-US" i="1">
                              <a:latin typeface="Cambria Math" panose="02040503050406030204" pitchFamily="18" charset="0"/>
                              <a:cs typeface="Arial" panose="020B0604020202020204" pitchFamily="34" charset="0"/>
                            </a:rPr>
                            <m:t>3</m:t>
                          </m:r>
                        </m:den>
                      </m:f>
                      <m:r>
                        <a:rPr lang="en-US" i="1">
                          <a:latin typeface="Cambria Math" panose="02040503050406030204" pitchFamily="18" charset="0"/>
                          <a:ea typeface="Cambria Math" panose="02040503050406030204" pitchFamily="18" charset="0"/>
                          <a:cs typeface="Arial" panose="020B0604020202020204" pitchFamily="34" charset="0"/>
                        </a:rPr>
                        <m:t>𝜋</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𝐷</m:t>
                                  </m:r>
                                </m:num>
                                <m:den>
                                  <m:r>
                                    <a:rPr lang="en-US" i="1">
                                      <a:latin typeface="Cambria Math" panose="02040503050406030204" pitchFamily="18" charset="0"/>
                                      <a:ea typeface="Cambria Math" panose="02040503050406030204" pitchFamily="18" charset="0"/>
                                      <a:cs typeface="Arial" panose="020B0604020202020204" pitchFamily="34" charset="0"/>
                                    </a:rPr>
                                    <m:t>2</m:t>
                                  </m:r>
                                </m:den>
                              </m:f>
                            </m:e>
                          </m:d>
                        </m:e>
                        <m:sup>
                          <m:r>
                            <a:rPr lang="en-US" i="1">
                              <a:latin typeface="Cambria Math" panose="02040503050406030204" pitchFamily="18" charset="0"/>
                              <a:ea typeface="Cambria Math" panose="02040503050406030204" pitchFamily="18" charset="0"/>
                              <a:cs typeface="Arial" panose="020B0604020202020204" pitchFamily="34" charset="0"/>
                            </a:rPr>
                            <m:t>3</m:t>
                          </m:r>
                        </m:sup>
                      </m:sSup>
                      <m:r>
                        <a:rPr lang="en-US" b="0" i="1" smtClean="0">
                          <a:latin typeface="Cambria Math" panose="02040503050406030204" pitchFamily="18" charset="0"/>
                          <a:ea typeface="Cambria Math" panose="02040503050406030204" pitchFamily="18" charset="0"/>
                          <a:cs typeface="Arial" panose="020B0604020202020204" pitchFamily="34" charset="0"/>
                        </a:rPr>
                        <m:t>𝑐𝑜𝑠</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𝜃</m:t>
                          </m:r>
                        </m:e>
                        <m:sub>
                          <m:r>
                            <a:rPr lang="en-US" i="1">
                              <a:latin typeface="Cambria Math" panose="02040503050406030204" pitchFamily="18" charset="0"/>
                              <a:cs typeface="Arial" panose="020B0604020202020204" pitchFamily="34" charset="0"/>
                            </a:rPr>
                            <m:t>𝑟</m:t>
                          </m:r>
                        </m:sub>
                      </m:sSub>
                    </m:oMath>
                  </m:oMathPara>
                </a14:m>
                <a:endParaRPr lang="en-US" b="0" dirty="0">
                  <a:latin typeface="Arial" panose="020B0604020202020204" pitchFamily="34" charset="0"/>
                  <a:cs typeface="Arial" panose="020B0604020202020204" pitchFamily="34" charset="0"/>
                </a:endParaRPr>
              </a:p>
            </p:txBody>
          </p:sp>
        </mc:Choice>
        <mc:Fallback xmlns="">
          <p:sp>
            <p:nvSpPr>
              <p:cNvPr id="94" name="TextBox 93">
                <a:extLst>
                  <a:ext uri="{FF2B5EF4-FFF2-40B4-BE49-F238E27FC236}">
                    <a16:creationId xmlns:a16="http://schemas.microsoft.com/office/drawing/2014/main" id="{B0B4480D-7D6F-9944-8E6A-083DFB5B07BF}"/>
                  </a:ext>
                </a:extLst>
              </p:cNvPr>
              <p:cNvSpPr txBox="1">
                <a:spLocks noRot="1" noChangeAspect="1" noMove="1" noResize="1" noEditPoints="1" noAdjustHandles="1" noChangeArrowheads="1" noChangeShapeType="1" noTextEdit="1"/>
              </p:cNvSpPr>
              <p:nvPr/>
            </p:nvSpPr>
            <p:spPr>
              <a:xfrm>
                <a:off x="499356" y="3793441"/>
                <a:ext cx="2596929" cy="660181"/>
              </a:xfrm>
              <a:prstGeom prst="rect">
                <a:avLst/>
              </a:prstGeom>
              <a:blipFill>
                <a:blip r:embed="rId3"/>
                <a:stretch>
                  <a:fillRect l="-1463" b="-56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3476096A-D4F8-204C-A423-0B2836DFBC06}"/>
                  </a:ext>
                </a:extLst>
              </p:cNvPr>
              <p:cNvSpPr txBox="1"/>
              <p:nvPr/>
            </p:nvSpPr>
            <p:spPr>
              <a:xfrm>
                <a:off x="494270" y="4372448"/>
                <a:ext cx="3625929" cy="660181"/>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𝐹</m:t>
                          </m:r>
                        </m:e>
                        <m:sub>
                          <m:r>
                            <a:rPr lang="en-US" b="0" i="1" smtClean="0">
                              <a:latin typeface="Cambria Math" panose="02040503050406030204" pitchFamily="18" charset="0"/>
                              <a:cs typeface="Arial" panose="020B0604020202020204" pitchFamily="34" charset="0"/>
                            </a:rPr>
                            <m:t>𝐶</m:t>
                          </m:r>
                        </m:sub>
                      </m:sSub>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𝜇</m:t>
                          </m:r>
                        </m:e>
                        <m:sub>
                          <m:r>
                            <a:rPr lang="en-US" b="0" i="1" smtClean="0">
                              <a:latin typeface="Cambria Math" panose="02040503050406030204" pitchFamily="18" charset="0"/>
                              <a:cs typeface="Arial" panose="020B0604020202020204" pitchFamily="34" charset="0"/>
                            </a:rPr>
                            <m:t>𝐶</m:t>
                          </m:r>
                        </m:sub>
                      </m:sSub>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𝐹</m:t>
                          </m:r>
                        </m:e>
                        <m:sub>
                          <m:r>
                            <a:rPr lang="en-US" i="1">
                              <a:latin typeface="Cambria Math" panose="02040503050406030204" pitchFamily="18" charset="0"/>
                              <a:cs typeface="Arial" panose="020B0604020202020204" pitchFamily="34" charset="0"/>
                            </a:rPr>
                            <m:t>𝑔𝑛</m:t>
                          </m:r>
                        </m:sub>
                      </m:sSub>
                      <m:r>
                        <a:rPr lang="en-US" b="0" i="1" smtClean="0">
                          <a:latin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𝜇</m:t>
                          </m:r>
                        </m:e>
                        <m:sub>
                          <m:r>
                            <a:rPr lang="en-US" i="1">
                              <a:latin typeface="Cambria Math" panose="02040503050406030204" pitchFamily="18" charset="0"/>
                              <a:cs typeface="Arial" panose="020B0604020202020204" pitchFamily="34" charset="0"/>
                            </a:rPr>
                            <m:t>𝐶</m:t>
                          </m:r>
                        </m:sub>
                      </m:sSub>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cs typeface="Arial" panose="020B0604020202020204" pitchFamily="34" charset="0"/>
                        </a:rPr>
                        <m:t>𝑔</m:t>
                      </m:r>
                      <m:r>
                        <a:rPr lang="en-US" b="0" i="1" smtClean="0">
                          <a:latin typeface="Cambria Math" panose="02040503050406030204" pitchFamily="18" charset="0"/>
                          <a:cs typeface="Arial" panose="020B0604020202020204" pitchFamily="34" charset="0"/>
                        </a:rPr>
                        <m:t>𝑅</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4</m:t>
                          </m:r>
                        </m:num>
                        <m:den>
                          <m:r>
                            <a:rPr lang="en-US" i="1">
                              <a:latin typeface="Cambria Math" panose="02040503050406030204" pitchFamily="18" charset="0"/>
                              <a:cs typeface="Arial" panose="020B0604020202020204" pitchFamily="34" charset="0"/>
                            </a:rPr>
                            <m:t>3</m:t>
                          </m:r>
                        </m:den>
                      </m:f>
                      <m:r>
                        <a:rPr lang="en-US" i="1">
                          <a:latin typeface="Cambria Math" panose="02040503050406030204" pitchFamily="18" charset="0"/>
                          <a:ea typeface="Cambria Math" panose="02040503050406030204" pitchFamily="18" charset="0"/>
                          <a:cs typeface="Arial" panose="020B0604020202020204" pitchFamily="34" charset="0"/>
                        </a:rPr>
                        <m:t>𝜋</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𝐷</m:t>
                                  </m:r>
                                </m:num>
                                <m:den>
                                  <m:r>
                                    <a:rPr lang="en-US" i="1">
                                      <a:latin typeface="Cambria Math" panose="02040503050406030204" pitchFamily="18" charset="0"/>
                                      <a:ea typeface="Cambria Math" panose="02040503050406030204" pitchFamily="18" charset="0"/>
                                      <a:cs typeface="Arial" panose="020B0604020202020204" pitchFamily="34" charset="0"/>
                                    </a:rPr>
                                    <m:t>2</m:t>
                                  </m:r>
                                </m:den>
                              </m:f>
                            </m:e>
                          </m:d>
                        </m:e>
                        <m:sup>
                          <m:r>
                            <a:rPr lang="en-US" i="1">
                              <a:latin typeface="Cambria Math" panose="02040503050406030204" pitchFamily="18" charset="0"/>
                              <a:ea typeface="Cambria Math" panose="02040503050406030204" pitchFamily="18" charset="0"/>
                              <a:cs typeface="Arial" panose="020B0604020202020204" pitchFamily="34" charset="0"/>
                            </a:rPr>
                            <m:t>3</m:t>
                          </m:r>
                        </m:sup>
                      </m:sSup>
                      <m:r>
                        <a:rPr lang="en-US" b="0" i="1" smtClean="0">
                          <a:latin typeface="Cambria Math" panose="02040503050406030204" pitchFamily="18" charset="0"/>
                          <a:ea typeface="Cambria Math" panose="02040503050406030204" pitchFamily="18" charset="0"/>
                          <a:cs typeface="Arial" panose="020B0604020202020204" pitchFamily="34" charset="0"/>
                        </a:rPr>
                        <m:t>𝑐𝑜𝑠</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𝜃</m:t>
                          </m:r>
                        </m:e>
                        <m:sub>
                          <m:r>
                            <a:rPr lang="en-US" i="1">
                              <a:latin typeface="Cambria Math" panose="02040503050406030204" pitchFamily="18" charset="0"/>
                              <a:cs typeface="Arial" panose="020B0604020202020204" pitchFamily="34" charset="0"/>
                            </a:rPr>
                            <m:t>𝑟</m:t>
                          </m:r>
                        </m:sub>
                      </m:sSub>
                    </m:oMath>
                  </m:oMathPara>
                </a14:m>
                <a:endParaRPr lang="en-US" b="0" dirty="0">
                  <a:latin typeface="Arial" panose="020B0604020202020204" pitchFamily="34" charset="0"/>
                  <a:cs typeface="Arial" panose="020B0604020202020204" pitchFamily="34" charset="0"/>
                </a:endParaRPr>
              </a:p>
            </p:txBody>
          </p:sp>
        </mc:Choice>
        <mc:Fallback xmlns="">
          <p:sp>
            <p:nvSpPr>
              <p:cNvPr id="96" name="TextBox 95">
                <a:extLst>
                  <a:ext uri="{FF2B5EF4-FFF2-40B4-BE49-F238E27FC236}">
                    <a16:creationId xmlns:a16="http://schemas.microsoft.com/office/drawing/2014/main" id="{3476096A-D4F8-204C-A423-0B2836DFBC06}"/>
                  </a:ext>
                </a:extLst>
              </p:cNvPr>
              <p:cNvSpPr txBox="1">
                <a:spLocks noRot="1" noChangeAspect="1" noMove="1" noResize="1" noEditPoints="1" noAdjustHandles="1" noChangeArrowheads="1" noChangeShapeType="1" noTextEdit="1"/>
              </p:cNvSpPr>
              <p:nvPr/>
            </p:nvSpPr>
            <p:spPr>
              <a:xfrm>
                <a:off x="494270" y="4372448"/>
                <a:ext cx="3625929" cy="660181"/>
              </a:xfrm>
              <a:prstGeom prst="rect">
                <a:avLst/>
              </a:prstGeom>
              <a:blipFill>
                <a:blip r:embed="rId4"/>
                <a:stretch>
                  <a:fillRect l="-697" b="-5660"/>
                </a:stretch>
              </a:blipFill>
            </p:spPr>
            <p:txBody>
              <a:bodyPr/>
              <a:lstStyle/>
              <a:p>
                <a:r>
                  <a:rPr lang="en-US">
                    <a:noFill/>
                  </a:rPr>
                  <a:t> </a:t>
                </a:r>
              </a:p>
            </p:txBody>
          </p:sp>
        </mc:Fallback>
      </mc:AlternateContent>
      <p:sp>
        <p:nvSpPr>
          <p:cNvPr id="98" name="TextBox 97">
            <a:extLst>
              <a:ext uri="{FF2B5EF4-FFF2-40B4-BE49-F238E27FC236}">
                <a16:creationId xmlns:a16="http://schemas.microsoft.com/office/drawing/2014/main" id="{1F614967-49BC-EB48-BA94-06593D155149}"/>
              </a:ext>
            </a:extLst>
          </p:cNvPr>
          <p:cNvSpPr txBox="1"/>
          <p:nvPr/>
        </p:nvSpPr>
        <p:spPr>
          <a:xfrm>
            <a:off x="460357" y="5161018"/>
            <a:ext cx="10994357" cy="697499"/>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Threshold conditions are characterized by force balance F</a:t>
            </a:r>
            <a:r>
              <a:rPr lang="en-US" baseline="-25000" dirty="0">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F</a:t>
            </a:r>
            <a:r>
              <a:rPr lang="en-US" baseline="-25000" dirty="0" err="1">
                <a:latin typeface="Arial" panose="020B0604020202020204" pitchFamily="34" charset="0"/>
                <a:cs typeface="Arial" panose="020B0604020202020204" pitchFamily="34" charset="0"/>
              </a:rPr>
              <a:t>gt</a:t>
            </a:r>
            <a:r>
              <a:rPr lang="en-US" dirty="0">
                <a:latin typeface="Arial" panose="020B0604020202020204" pitchFamily="34" charset="0"/>
                <a:cs typeface="Arial" panose="020B0604020202020204" pitchFamily="34" charset="0"/>
              </a:rPr>
              <a:t> along the sides of the sediment pile. </a:t>
            </a:r>
          </a:p>
          <a:p>
            <a:pPr algn="l">
              <a:lnSpc>
                <a:spcPct val="114000"/>
              </a:lnSpc>
            </a:pPr>
            <a:r>
              <a:rPr lang="en-US" dirty="0">
                <a:latin typeface="Arial" panose="020B0604020202020204" pitchFamily="34" charset="0"/>
                <a:cs typeface="Arial" panose="020B0604020202020204" pitchFamily="34" charset="0"/>
              </a:rPr>
              <a:t>If F</a:t>
            </a:r>
            <a:r>
              <a:rPr lang="en-US" baseline="-25000" dirty="0">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 &gt; </a:t>
            </a:r>
            <a:r>
              <a:rPr lang="en-US" dirty="0" err="1">
                <a:latin typeface="Arial" panose="020B0604020202020204" pitchFamily="34" charset="0"/>
                <a:cs typeface="Arial" panose="020B0604020202020204" pitchFamily="34" charset="0"/>
              </a:rPr>
              <a:t>F</a:t>
            </a:r>
            <a:r>
              <a:rPr lang="en-US" baseline="-25000" dirty="0" err="1">
                <a:latin typeface="Arial" panose="020B0604020202020204" pitchFamily="34" charset="0"/>
                <a:cs typeface="Arial" panose="020B0604020202020204" pitchFamily="34" charset="0"/>
              </a:rPr>
              <a:t>gt</a:t>
            </a:r>
            <a:r>
              <a:rPr lang="en-US" dirty="0">
                <a:latin typeface="Arial" panose="020B0604020202020204" pitchFamily="34" charset="0"/>
                <a:cs typeface="Arial" panose="020B0604020202020204" pitchFamily="34" charset="0"/>
              </a:rPr>
              <a:t>, there is no failure, if F</a:t>
            </a:r>
            <a:r>
              <a:rPr lang="en-US" baseline="-25000" dirty="0">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 &lt; </a:t>
            </a:r>
            <a:r>
              <a:rPr lang="en-US" dirty="0" err="1">
                <a:latin typeface="Arial" panose="020B0604020202020204" pitchFamily="34" charset="0"/>
                <a:cs typeface="Arial" panose="020B0604020202020204" pitchFamily="34" charset="0"/>
              </a:rPr>
              <a:t>F</a:t>
            </a:r>
            <a:r>
              <a:rPr lang="en-US" baseline="-25000" dirty="0" err="1">
                <a:latin typeface="Arial" panose="020B0604020202020204" pitchFamily="34" charset="0"/>
                <a:cs typeface="Arial" panose="020B0604020202020204" pitchFamily="34" charset="0"/>
              </a:rPr>
              <a:t>gt</a:t>
            </a:r>
            <a:r>
              <a:rPr lang="en-US" baseline="-250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there is side failure. </a:t>
            </a:r>
          </a:p>
        </p:txBody>
      </p:sp>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11D13993-BD7B-914F-A4DF-61F828362BA4}"/>
                  </a:ext>
                </a:extLst>
              </p:cNvPr>
              <p:cNvSpPr txBox="1"/>
              <p:nvPr/>
            </p:nvSpPr>
            <p:spPr>
              <a:xfrm>
                <a:off x="494270" y="5974293"/>
                <a:ext cx="4189737" cy="518540"/>
              </a:xfrm>
              <a:prstGeom prst="rect">
                <a:avLst/>
              </a:prstGeom>
              <a:noFill/>
            </p:spPr>
            <p:txBody>
              <a:bodyPr wrap="none" lIns="0" tIns="0" rIns="0" bIns="0" rtlCol="0">
                <a:spAutoFit/>
              </a:bodyPr>
              <a:lstStyle/>
              <a:p>
                <a:pPr>
                  <a:lnSpc>
                    <a:spcPct val="114000"/>
                  </a:lnSpc>
                </a:pPr>
                <a14:m>
                  <m:oMath xmlns:m="http://schemas.openxmlformats.org/officeDocument/2006/math">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cs typeface="Arial" panose="020B0604020202020204" pitchFamily="34" charset="0"/>
                      </a:rPr>
                      <m:t>𝑔</m:t>
                    </m:r>
                    <m:r>
                      <a:rPr lang="en-US" b="0" i="1" smtClean="0">
                        <a:latin typeface="Cambria Math" panose="02040503050406030204" pitchFamily="18" charset="0"/>
                        <a:cs typeface="Arial" panose="020B0604020202020204" pitchFamily="34" charset="0"/>
                      </a:rPr>
                      <m:t>𝑅</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4</m:t>
                        </m:r>
                      </m:num>
                      <m:den>
                        <m:r>
                          <a:rPr lang="en-US" i="1">
                            <a:latin typeface="Cambria Math" panose="02040503050406030204" pitchFamily="18" charset="0"/>
                            <a:cs typeface="Arial" panose="020B0604020202020204" pitchFamily="34" charset="0"/>
                          </a:rPr>
                          <m:t>3</m:t>
                        </m:r>
                      </m:den>
                    </m:f>
                    <m:r>
                      <a:rPr lang="en-US" i="1">
                        <a:latin typeface="Cambria Math" panose="02040503050406030204" pitchFamily="18" charset="0"/>
                        <a:ea typeface="Cambria Math" panose="02040503050406030204" pitchFamily="18" charset="0"/>
                        <a:cs typeface="Arial" panose="020B0604020202020204" pitchFamily="34" charset="0"/>
                      </a:rPr>
                      <m:t>𝜋</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𝐷</m:t>
                                </m:r>
                              </m:num>
                              <m:den>
                                <m:r>
                                  <a:rPr lang="en-US" i="1">
                                    <a:latin typeface="Cambria Math" panose="02040503050406030204" pitchFamily="18" charset="0"/>
                                    <a:ea typeface="Cambria Math" panose="02040503050406030204" pitchFamily="18" charset="0"/>
                                    <a:cs typeface="Arial" panose="020B0604020202020204" pitchFamily="34" charset="0"/>
                                  </a:rPr>
                                  <m:t>2</m:t>
                                </m:r>
                              </m:den>
                            </m:f>
                          </m:e>
                        </m:d>
                      </m:e>
                      <m:sup>
                        <m:r>
                          <a:rPr lang="en-US" i="1">
                            <a:latin typeface="Cambria Math" panose="02040503050406030204" pitchFamily="18" charset="0"/>
                            <a:ea typeface="Cambria Math" panose="02040503050406030204" pitchFamily="18" charset="0"/>
                            <a:cs typeface="Arial" panose="020B0604020202020204" pitchFamily="34" charset="0"/>
                          </a:rPr>
                          <m:t>3</m:t>
                        </m:r>
                      </m:sup>
                    </m:sSup>
                    <m:r>
                      <a:rPr lang="en-US" i="1">
                        <a:latin typeface="Cambria Math" panose="02040503050406030204" pitchFamily="18" charset="0"/>
                        <a:cs typeface="Arial" panose="020B0604020202020204" pitchFamily="34" charset="0"/>
                      </a:rPr>
                      <m:t>𝑠𝑖𝑛</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𝜃</m:t>
                        </m:r>
                      </m:e>
                      <m:sub>
                        <m:r>
                          <a:rPr lang="en-US" i="1">
                            <a:latin typeface="Cambria Math" panose="02040503050406030204" pitchFamily="18" charset="0"/>
                            <a:cs typeface="Arial" panose="020B0604020202020204" pitchFamily="34" charset="0"/>
                          </a:rPr>
                          <m:t>𝑟</m:t>
                        </m:r>
                      </m:sub>
                    </m:sSub>
                  </m:oMath>
                </a14:m>
                <a:r>
                  <a:rPr lang="en-US" dirty="0">
                    <a:cs typeface="Arial" panose="020B0604020202020204" pitchFamily="34" charset="0"/>
                  </a:rPr>
                  <a:t> </a:t>
                </a:r>
                <a14:m>
                  <m:oMath xmlns:m="http://schemas.openxmlformats.org/officeDocument/2006/math">
                    <m:r>
                      <a:rPr lang="en-US" i="1">
                        <a:latin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𝜇</m:t>
                        </m:r>
                      </m:e>
                      <m:sub>
                        <m:r>
                          <a:rPr lang="en-US" i="1">
                            <a:latin typeface="Cambria Math" panose="02040503050406030204" pitchFamily="18" charset="0"/>
                            <a:cs typeface="Arial" panose="020B0604020202020204" pitchFamily="34" charset="0"/>
                          </a:rPr>
                          <m:t>𝐶</m:t>
                        </m:r>
                      </m:sub>
                    </m:sSub>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cs typeface="Arial" panose="020B0604020202020204" pitchFamily="34" charset="0"/>
                      </a:rPr>
                      <m:t>𝑔𝑅</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4</m:t>
                        </m:r>
                      </m:num>
                      <m:den>
                        <m:r>
                          <a:rPr lang="en-US" i="1">
                            <a:latin typeface="Cambria Math" panose="02040503050406030204" pitchFamily="18" charset="0"/>
                            <a:cs typeface="Arial" panose="020B0604020202020204" pitchFamily="34" charset="0"/>
                          </a:rPr>
                          <m:t>3</m:t>
                        </m:r>
                      </m:den>
                    </m:f>
                    <m:r>
                      <a:rPr lang="en-US" i="1">
                        <a:latin typeface="Cambria Math" panose="02040503050406030204" pitchFamily="18" charset="0"/>
                        <a:ea typeface="Cambria Math" panose="02040503050406030204" pitchFamily="18" charset="0"/>
                        <a:cs typeface="Arial" panose="020B0604020202020204" pitchFamily="34" charset="0"/>
                      </a:rPr>
                      <m:t>𝜋</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𝐷</m:t>
                                </m:r>
                              </m:num>
                              <m:den>
                                <m:r>
                                  <a:rPr lang="en-US" i="1">
                                    <a:latin typeface="Cambria Math" panose="02040503050406030204" pitchFamily="18" charset="0"/>
                                    <a:ea typeface="Cambria Math" panose="02040503050406030204" pitchFamily="18" charset="0"/>
                                    <a:cs typeface="Arial" panose="020B0604020202020204" pitchFamily="34" charset="0"/>
                                  </a:rPr>
                                  <m:t>2</m:t>
                                </m:r>
                              </m:den>
                            </m:f>
                          </m:e>
                        </m:d>
                      </m:e>
                      <m:sup>
                        <m:r>
                          <a:rPr lang="en-US" i="1">
                            <a:latin typeface="Cambria Math" panose="02040503050406030204" pitchFamily="18" charset="0"/>
                            <a:ea typeface="Cambria Math" panose="02040503050406030204" pitchFamily="18" charset="0"/>
                            <a:cs typeface="Arial" panose="020B0604020202020204" pitchFamily="34" charset="0"/>
                          </a:rPr>
                          <m:t>3</m:t>
                        </m:r>
                      </m:sup>
                    </m:sSup>
                    <m:r>
                      <a:rPr lang="en-US" i="1">
                        <a:latin typeface="Cambria Math" panose="02040503050406030204" pitchFamily="18" charset="0"/>
                        <a:ea typeface="Cambria Math" panose="02040503050406030204" pitchFamily="18" charset="0"/>
                        <a:cs typeface="Arial" panose="020B0604020202020204" pitchFamily="34" charset="0"/>
                      </a:rPr>
                      <m:t>𝑐𝑜𝑠</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𝜃</m:t>
                        </m:r>
                      </m:e>
                      <m:sub>
                        <m:r>
                          <a:rPr lang="en-US" i="1">
                            <a:latin typeface="Cambria Math" panose="02040503050406030204" pitchFamily="18" charset="0"/>
                            <a:cs typeface="Arial" panose="020B0604020202020204" pitchFamily="34" charset="0"/>
                          </a:rPr>
                          <m:t>𝑟</m:t>
                        </m:r>
                      </m:sub>
                    </m:sSub>
                  </m:oMath>
                </a14:m>
                <a:endParaRPr lang="en-US" b="0" dirty="0">
                  <a:latin typeface="Arial" panose="020B0604020202020204" pitchFamily="34" charset="0"/>
                  <a:cs typeface="Arial" panose="020B0604020202020204" pitchFamily="34" charset="0"/>
                </a:endParaRPr>
              </a:p>
            </p:txBody>
          </p:sp>
        </mc:Choice>
        <mc:Fallback xmlns="">
          <p:sp>
            <p:nvSpPr>
              <p:cNvPr id="99" name="TextBox 98">
                <a:extLst>
                  <a:ext uri="{FF2B5EF4-FFF2-40B4-BE49-F238E27FC236}">
                    <a16:creationId xmlns:a16="http://schemas.microsoft.com/office/drawing/2014/main" id="{11D13993-BD7B-914F-A4DF-61F828362BA4}"/>
                  </a:ext>
                </a:extLst>
              </p:cNvPr>
              <p:cNvSpPr txBox="1">
                <a:spLocks noRot="1" noChangeAspect="1" noMove="1" noResize="1" noEditPoints="1" noAdjustHandles="1" noChangeArrowheads="1" noChangeShapeType="1" noTextEdit="1"/>
              </p:cNvSpPr>
              <p:nvPr/>
            </p:nvSpPr>
            <p:spPr>
              <a:xfrm>
                <a:off x="494270" y="5974293"/>
                <a:ext cx="4189737" cy="518540"/>
              </a:xfrm>
              <a:prstGeom prst="rect">
                <a:avLst/>
              </a:prstGeom>
              <a:blipFill>
                <a:blip r:embed="rId5"/>
                <a:stretch>
                  <a:fillRect l="-1813" b="-7143"/>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612E472C-A916-4352-E14C-65107A90B727}"/>
              </a:ext>
            </a:extLst>
          </p:cNvPr>
          <p:cNvSpPr txBox="1"/>
          <p:nvPr/>
        </p:nvSpPr>
        <p:spPr>
          <a:xfrm>
            <a:off x="1157548" y="136525"/>
            <a:ext cx="988079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Angle of repose, threshold of motion in standing water</a:t>
            </a:r>
          </a:p>
        </p:txBody>
      </p:sp>
    </p:spTree>
    <p:extLst>
      <p:ext uri="{BB962C8B-B14F-4D97-AF65-F5344CB8AC3E}">
        <p14:creationId xmlns:p14="http://schemas.microsoft.com/office/powerpoint/2010/main" val="33200041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 name="Rectangle 94">
            <a:extLst>
              <a:ext uri="{FF2B5EF4-FFF2-40B4-BE49-F238E27FC236}">
                <a16:creationId xmlns:a16="http://schemas.microsoft.com/office/drawing/2014/main" id="{B837091F-BD1B-4945-A63C-EEB431184990}"/>
              </a:ext>
            </a:extLst>
          </p:cNvPr>
          <p:cNvSpPr/>
          <p:nvPr/>
        </p:nvSpPr>
        <p:spPr>
          <a:xfrm>
            <a:off x="7253416" y="1570769"/>
            <a:ext cx="3517504" cy="2047715"/>
          </a:xfrm>
          <a:prstGeom prst="rect">
            <a:avLst/>
          </a:prstGeom>
          <a:solidFill>
            <a:srgbClr val="00B0F0"/>
          </a:solid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6</a:t>
            </a:fld>
            <a:endParaRPr lang="en-US" dirty="0"/>
          </a:p>
        </p:txBody>
      </p:sp>
      <p:sp>
        <p:nvSpPr>
          <p:cNvPr id="24" name="TextBox 23">
            <a:extLst>
              <a:ext uri="{FF2B5EF4-FFF2-40B4-BE49-F238E27FC236}">
                <a16:creationId xmlns:a16="http://schemas.microsoft.com/office/drawing/2014/main" id="{974FD763-C9F2-F34A-A70B-502115AE228A}"/>
              </a:ext>
            </a:extLst>
          </p:cNvPr>
          <p:cNvSpPr txBox="1"/>
          <p:nvPr/>
        </p:nvSpPr>
        <p:spPr>
          <a:xfrm>
            <a:off x="463138" y="751888"/>
            <a:ext cx="11435937" cy="1048364"/>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A pile of sediment resting at an angle equal to the angle of repose </a:t>
            </a:r>
            <a:r>
              <a:rPr lang="en-US" sz="2000" dirty="0" err="1">
                <a:latin typeface="Symbol" pitchFamily="2" charset="2"/>
                <a:cs typeface="Arial" panose="020B0604020202020204" pitchFamily="34" charset="0"/>
              </a:rPr>
              <a:t>q</a:t>
            </a:r>
            <a:r>
              <a:rPr lang="en-US" baseline="-25000" dirty="0" err="1">
                <a:latin typeface="Arial" panose="020B0604020202020204" pitchFamily="34" charset="0"/>
                <a:cs typeface="Arial" panose="020B0604020202020204" pitchFamily="34" charset="0"/>
              </a:rPr>
              <a:t>r</a:t>
            </a:r>
            <a:r>
              <a:rPr lang="en-US" dirty="0">
                <a:latin typeface="Arial" panose="020B0604020202020204" pitchFamily="34" charset="0"/>
                <a:cs typeface="Arial" panose="020B0604020202020204" pitchFamily="34" charset="0"/>
              </a:rPr>
              <a:t> is at a threshold condition, that is a little disturbance cause the sediment to move (failure).   </a:t>
            </a:r>
          </a:p>
          <a:p>
            <a:pPr>
              <a:lnSpc>
                <a:spcPct val="114000"/>
              </a:lnSpc>
            </a:pPr>
            <a:r>
              <a:rPr lang="en-US" dirty="0">
                <a:latin typeface="Arial" panose="020B0604020202020204" pitchFamily="34" charset="0"/>
                <a:cs typeface="Arial" panose="020B0604020202020204" pitchFamily="34" charset="0"/>
              </a:rPr>
              <a:t>Here we consider a pile of sediment in standing water. </a:t>
            </a:r>
          </a:p>
        </p:txBody>
      </p:sp>
      <p:sp>
        <p:nvSpPr>
          <p:cNvPr id="3" name="Oval 2">
            <a:extLst>
              <a:ext uri="{FF2B5EF4-FFF2-40B4-BE49-F238E27FC236}">
                <a16:creationId xmlns:a16="http://schemas.microsoft.com/office/drawing/2014/main" id="{531AE6A0-C14C-1347-9183-A99BA99103AE}"/>
              </a:ext>
            </a:extLst>
          </p:cNvPr>
          <p:cNvSpPr>
            <a:spLocks noChangeAspect="1"/>
          </p:cNvSpPr>
          <p:nvPr/>
        </p:nvSpPr>
        <p:spPr>
          <a:xfrm>
            <a:off x="9008077" y="217478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8DDEB96A-CC7B-5D42-8F01-BB30D8A68BC4}"/>
              </a:ext>
            </a:extLst>
          </p:cNvPr>
          <p:cNvSpPr>
            <a:spLocks noChangeAspect="1"/>
          </p:cNvSpPr>
          <p:nvPr/>
        </p:nvSpPr>
        <p:spPr>
          <a:xfrm>
            <a:off x="9106769" y="227976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FFFD05A3-80C1-EF45-89C9-827A44BAB4C2}"/>
              </a:ext>
            </a:extLst>
          </p:cNvPr>
          <p:cNvSpPr>
            <a:spLocks noChangeAspect="1"/>
          </p:cNvSpPr>
          <p:nvPr/>
        </p:nvSpPr>
        <p:spPr>
          <a:xfrm>
            <a:off x="9112855" y="243216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18D6ADA-22CE-5F41-AF33-4AD5E808CCA1}"/>
              </a:ext>
            </a:extLst>
          </p:cNvPr>
          <p:cNvSpPr>
            <a:spLocks noChangeAspect="1"/>
          </p:cNvSpPr>
          <p:nvPr/>
        </p:nvSpPr>
        <p:spPr>
          <a:xfrm>
            <a:off x="9269385" y="246891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0F00D443-7985-A54F-B6B2-44A7C7A1EB0D}"/>
              </a:ext>
            </a:extLst>
          </p:cNvPr>
          <p:cNvSpPr>
            <a:spLocks noChangeAspect="1"/>
          </p:cNvSpPr>
          <p:nvPr/>
        </p:nvSpPr>
        <p:spPr>
          <a:xfrm>
            <a:off x="9291798" y="2614186"/>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EBEA24A3-605C-1F4C-A7A1-C0D5325B0F1C}"/>
              </a:ext>
            </a:extLst>
          </p:cNvPr>
          <p:cNvSpPr>
            <a:spLocks noChangeAspect="1"/>
          </p:cNvSpPr>
          <p:nvPr/>
        </p:nvSpPr>
        <p:spPr>
          <a:xfrm>
            <a:off x="9435798" y="263557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339F302A-A511-6A44-A1C2-ECDFFD2FED74}"/>
              </a:ext>
            </a:extLst>
          </p:cNvPr>
          <p:cNvSpPr>
            <a:spLocks noChangeAspect="1"/>
          </p:cNvSpPr>
          <p:nvPr/>
        </p:nvSpPr>
        <p:spPr>
          <a:xfrm>
            <a:off x="9628642" y="283029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708398D1-47A5-1940-903C-BA56BFB3EDF6}"/>
              </a:ext>
            </a:extLst>
          </p:cNvPr>
          <p:cNvSpPr>
            <a:spLocks noChangeAspect="1"/>
          </p:cNvSpPr>
          <p:nvPr/>
        </p:nvSpPr>
        <p:spPr>
          <a:xfrm>
            <a:off x="9484642" y="278369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35E193AF-896F-6F4D-9C86-F997948DBEF1}"/>
              </a:ext>
            </a:extLst>
          </p:cNvPr>
          <p:cNvSpPr>
            <a:spLocks noChangeAspect="1"/>
          </p:cNvSpPr>
          <p:nvPr/>
        </p:nvSpPr>
        <p:spPr>
          <a:xfrm>
            <a:off x="9628642" y="297429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7DD34F9-1B1D-714E-9FC1-7BF36B35DFC0}"/>
              </a:ext>
            </a:extLst>
          </p:cNvPr>
          <p:cNvSpPr>
            <a:spLocks noChangeAspect="1"/>
          </p:cNvSpPr>
          <p:nvPr/>
        </p:nvSpPr>
        <p:spPr>
          <a:xfrm>
            <a:off x="9778992" y="3032961"/>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6CA3FE4C-6909-C543-808F-62D518008CF9}"/>
              </a:ext>
            </a:extLst>
          </p:cNvPr>
          <p:cNvSpPr>
            <a:spLocks noChangeAspect="1"/>
          </p:cNvSpPr>
          <p:nvPr/>
        </p:nvSpPr>
        <p:spPr>
          <a:xfrm>
            <a:off x="9830219" y="318268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79DFEAB9-7B42-5643-B470-810A0FDBC982}"/>
              </a:ext>
            </a:extLst>
          </p:cNvPr>
          <p:cNvSpPr>
            <a:spLocks noChangeAspect="1"/>
          </p:cNvSpPr>
          <p:nvPr/>
        </p:nvSpPr>
        <p:spPr>
          <a:xfrm>
            <a:off x="9959133" y="323468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C04E74F0-699C-7B4B-95AE-68524F78ECE4}"/>
              </a:ext>
            </a:extLst>
          </p:cNvPr>
          <p:cNvSpPr>
            <a:spLocks noChangeAspect="1"/>
          </p:cNvSpPr>
          <p:nvPr/>
        </p:nvSpPr>
        <p:spPr>
          <a:xfrm>
            <a:off x="9164346" y="256990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8F6578FE-9023-9D47-AEA2-3C7E186C51CE}"/>
              </a:ext>
            </a:extLst>
          </p:cNvPr>
          <p:cNvSpPr>
            <a:spLocks noChangeAspect="1"/>
          </p:cNvSpPr>
          <p:nvPr/>
        </p:nvSpPr>
        <p:spPr>
          <a:xfrm>
            <a:off x="9170432" y="272230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C2A14572-ECF6-C049-9EAC-CEBB62A3453C}"/>
              </a:ext>
            </a:extLst>
          </p:cNvPr>
          <p:cNvSpPr>
            <a:spLocks noChangeAspect="1"/>
          </p:cNvSpPr>
          <p:nvPr/>
        </p:nvSpPr>
        <p:spPr>
          <a:xfrm>
            <a:off x="9326962" y="275905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6D82F8EA-B49F-7743-8B95-A0127B39558E}"/>
              </a:ext>
            </a:extLst>
          </p:cNvPr>
          <p:cNvSpPr>
            <a:spLocks noChangeAspect="1"/>
          </p:cNvSpPr>
          <p:nvPr/>
        </p:nvSpPr>
        <p:spPr>
          <a:xfrm>
            <a:off x="9349375" y="2904325"/>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BA9347AF-CAAC-024F-9CF8-5D90BE1D4A58}"/>
              </a:ext>
            </a:extLst>
          </p:cNvPr>
          <p:cNvSpPr>
            <a:spLocks noChangeAspect="1"/>
          </p:cNvSpPr>
          <p:nvPr/>
        </p:nvSpPr>
        <p:spPr>
          <a:xfrm>
            <a:off x="9493375" y="292571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4830E339-35A1-1B4F-93B0-19DEC7EFB9BD}"/>
              </a:ext>
            </a:extLst>
          </p:cNvPr>
          <p:cNvSpPr>
            <a:spLocks noChangeAspect="1"/>
          </p:cNvSpPr>
          <p:nvPr/>
        </p:nvSpPr>
        <p:spPr>
          <a:xfrm>
            <a:off x="9686219" y="3120431"/>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FD95BE44-C4CF-9A4D-A166-0F9707AEDC11}"/>
              </a:ext>
            </a:extLst>
          </p:cNvPr>
          <p:cNvSpPr>
            <a:spLocks noChangeAspect="1"/>
          </p:cNvSpPr>
          <p:nvPr/>
        </p:nvSpPr>
        <p:spPr>
          <a:xfrm>
            <a:off x="9542219" y="3073831"/>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18F10838-527F-6B40-825D-DD4B8E92AF7C}"/>
              </a:ext>
            </a:extLst>
          </p:cNvPr>
          <p:cNvSpPr>
            <a:spLocks noChangeAspect="1"/>
          </p:cNvSpPr>
          <p:nvPr/>
        </p:nvSpPr>
        <p:spPr>
          <a:xfrm>
            <a:off x="9686219" y="3264431"/>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5442A3E3-80D5-7D42-94E1-767CC0742767}"/>
              </a:ext>
            </a:extLst>
          </p:cNvPr>
          <p:cNvSpPr>
            <a:spLocks noChangeAspect="1"/>
          </p:cNvSpPr>
          <p:nvPr/>
        </p:nvSpPr>
        <p:spPr>
          <a:xfrm>
            <a:off x="9830219" y="334215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672F0C2B-8968-7D40-AF54-205E4832FB83}"/>
              </a:ext>
            </a:extLst>
          </p:cNvPr>
          <p:cNvSpPr>
            <a:spLocks noChangeAspect="1"/>
          </p:cNvSpPr>
          <p:nvPr/>
        </p:nvSpPr>
        <p:spPr>
          <a:xfrm>
            <a:off x="9929860" y="347252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15A853D5-C5F7-0F49-AC3B-C71869C32A67}"/>
              </a:ext>
            </a:extLst>
          </p:cNvPr>
          <p:cNvSpPr>
            <a:spLocks noChangeAspect="1"/>
          </p:cNvSpPr>
          <p:nvPr/>
        </p:nvSpPr>
        <p:spPr>
          <a:xfrm>
            <a:off x="10109483" y="3485255"/>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C4A5209C-0A30-E349-8198-C830BD61E0A1}"/>
              </a:ext>
            </a:extLst>
          </p:cNvPr>
          <p:cNvSpPr>
            <a:spLocks noChangeAspect="1"/>
          </p:cNvSpPr>
          <p:nvPr/>
        </p:nvSpPr>
        <p:spPr>
          <a:xfrm>
            <a:off x="8877523" y="224632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1640A295-43AC-DD43-8A4C-7D5A00CF429E}"/>
              </a:ext>
            </a:extLst>
          </p:cNvPr>
          <p:cNvSpPr>
            <a:spLocks noChangeAspect="1"/>
          </p:cNvSpPr>
          <p:nvPr/>
        </p:nvSpPr>
        <p:spPr>
          <a:xfrm>
            <a:off x="9014081" y="252874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A3C67A2A-4AE4-8745-AFE8-A67BC59953EF}"/>
              </a:ext>
            </a:extLst>
          </p:cNvPr>
          <p:cNvSpPr>
            <a:spLocks noChangeAspect="1"/>
          </p:cNvSpPr>
          <p:nvPr/>
        </p:nvSpPr>
        <p:spPr>
          <a:xfrm>
            <a:off x="8985664" y="235176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B039F57D-F8B7-9748-B844-74EDA0B7AC3F}"/>
              </a:ext>
            </a:extLst>
          </p:cNvPr>
          <p:cNvCxnSpPr>
            <a:cxnSpLocks/>
          </p:cNvCxnSpPr>
          <p:nvPr/>
        </p:nvCxnSpPr>
        <p:spPr>
          <a:xfrm flipV="1">
            <a:off x="7147560" y="3627923"/>
            <a:ext cx="3742176" cy="133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0" name="Oval 59">
            <a:extLst>
              <a:ext uri="{FF2B5EF4-FFF2-40B4-BE49-F238E27FC236}">
                <a16:creationId xmlns:a16="http://schemas.microsoft.com/office/drawing/2014/main" id="{2784D324-13A1-1E4A-88AC-EF7A8D03C9D3}"/>
              </a:ext>
            </a:extLst>
          </p:cNvPr>
          <p:cNvSpPr>
            <a:spLocks noChangeAspect="1"/>
          </p:cNvSpPr>
          <p:nvPr/>
        </p:nvSpPr>
        <p:spPr>
          <a:xfrm>
            <a:off x="10021380" y="337100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E1A611CD-FB25-2144-9AD6-3B33024F675E}"/>
              </a:ext>
            </a:extLst>
          </p:cNvPr>
          <p:cNvSpPr>
            <a:spLocks noChangeAspect="1"/>
          </p:cNvSpPr>
          <p:nvPr/>
        </p:nvSpPr>
        <p:spPr>
          <a:xfrm rot="16200000">
            <a:off x="7682477" y="347448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1CC89489-EC57-7646-A909-198B7C95009D}"/>
              </a:ext>
            </a:extLst>
          </p:cNvPr>
          <p:cNvSpPr>
            <a:spLocks noChangeAspect="1"/>
          </p:cNvSpPr>
          <p:nvPr/>
        </p:nvSpPr>
        <p:spPr>
          <a:xfrm rot="16200000">
            <a:off x="7778444" y="333842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EC0B0EBD-170E-3746-A7CC-DB186E921657}"/>
              </a:ext>
            </a:extLst>
          </p:cNvPr>
          <p:cNvSpPr>
            <a:spLocks noChangeAspect="1"/>
          </p:cNvSpPr>
          <p:nvPr/>
        </p:nvSpPr>
        <p:spPr>
          <a:xfrm rot="16200000">
            <a:off x="7692442" y="320202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D4DB7272-0E2E-6B4E-ACCD-920C737B7B0A}"/>
              </a:ext>
            </a:extLst>
          </p:cNvPr>
          <p:cNvSpPr>
            <a:spLocks noChangeAspect="1"/>
          </p:cNvSpPr>
          <p:nvPr/>
        </p:nvSpPr>
        <p:spPr>
          <a:xfrm rot="16200000">
            <a:off x="7754477" y="307481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8C30426D-2F4D-E34B-94C6-B42203E5DADB}"/>
              </a:ext>
            </a:extLst>
          </p:cNvPr>
          <p:cNvSpPr>
            <a:spLocks noChangeAspect="1"/>
          </p:cNvSpPr>
          <p:nvPr/>
        </p:nvSpPr>
        <p:spPr>
          <a:xfrm rot="16200000">
            <a:off x="7906334" y="301533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E9CB3839-8116-C74C-8387-C50B918E409F}"/>
              </a:ext>
            </a:extLst>
          </p:cNvPr>
          <p:cNvSpPr>
            <a:spLocks noChangeAspect="1"/>
          </p:cNvSpPr>
          <p:nvPr/>
        </p:nvSpPr>
        <p:spPr>
          <a:xfrm rot="16200000">
            <a:off x="7927721" y="287133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DC6FB20D-D8DC-B84A-8600-0159EA7B85D9}"/>
              </a:ext>
            </a:extLst>
          </p:cNvPr>
          <p:cNvSpPr>
            <a:spLocks noChangeAspect="1"/>
          </p:cNvSpPr>
          <p:nvPr/>
        </p:nvSpPr>
        <p:spPr>
          <a:xfrm rot="16200000">
            <a:off x="8892026" y="2098866"/>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FD2E8CC8-61CC-1C4A-8CFE-31C5815A7F8D}"/>
              </a:ext>
            </a:extLst>
          </p:cNvPr>
          <p:cNvSpPr>
            <a:spLocks noChangeAspect="1"/>
          </p:cNvSpPr>
          <p:nvPr/>
        </p:nvSpPr>
        <p:spPr>
          <a:xfrm rot="16200000">
            <a:off x="8075840" y="282249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F3CEE6CA-C6B8-834C-B001-B8831E9071E5}"/>
              </a:ext>
            </a:extLst>
          </p:cNvPr>
          <p:cNvSpPr>
            <a:spLocks noChangeAspect="1"/>
          </p:cNvSpPr>
          <p:nvPr/>
        </p:nvSpPr>
        <p:spPr>
          <a:xfrm rot="16200000">
            <a:off x="8266440" y="267849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59BF0157-57CA-3546-A474-4B4C7D8CDD7B}"/>
              </a:ext>
            </a:extLst>
          </p:cNvPr>
          <p:cNvSpPr>
            <a:spLocks noChangeAspect="1"/>
          </p:cNvSpPr>
          <p:nvPr/>
        </p:nvSpPr>
        <p:spPr>
          <a:xfrm rot="16200000">
            <a:off x="8325109" y="252814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0E956A7E-D2BB-9846-97F1-EE0C1AD36C78}"/>
              </a:ext>
            </a:extLst>
          </p:cNvPr>
          <p:cNvSpPr>
            <a:spLocks noChangeAspect="1"/>
          </p:cNvSpPr>
          <p:nvPr/>
        </p:nvSpPr>
        <p:spPr>
          <a:xfrm rot="16200000">
            <a:off x="8474828" y="245405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D208A507-47A4-404B-B4FE-1390B5AAC1D3}"/>
              </a:ext>
            </a:extLst>
          </p:cNvPr>
          <p:cNvSpPr>
            <a:spLocks noChangeAspect="1"/>
          </p:cNvSpPr>
          <p:nvPr/>
        </p:nvSpPr>
        <p:spPr>
          <a:xfrm rot="16200000">
            <a:off x="8526832" y="232513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ABF040B9-C737-2442-8E26-E565B93CA9F7}"/>
              </a:ext>
            </a:extLst>
          </p:cNvPr>
          <p:cNvSpPr>
            <a:spLocks noChangeAspect="1"/>
          </p:cNvSpPr>
          <p:nvPr/>
        </p:nvSpPr>
        <p:spPr>
          <a:xfrm rot="16200000">
            <a:off x="7862055" y="3142786"/>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C96EAFD6-A53A-6A47-9B74-512BAE375FA3}"/>
              </a:ext>
            </a:extLst>
          </p:cNvPr>
          <p:cNvSpPr>
            <a:spLocks noChangeAspect="1"/>
          </p:cNvSpPr>
          <p:nvPr/>
        </p:nvSpPr>
        <p:spPr>
          <a:xfrm rot="16200000">
            <a:off x="8014455" y="313670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F62F918A-6F2C-F04B-831F-8AEB0F443360}"/>
              </a:ext>
            </a:extLst>
          </p:cNvPr>
          <p:cNvSpPr>
            <a:spLocks noChangeAspect="1"/>
          </p:cNvSpPr>
          <p:nvPr/>
        </p:nvSpPr>
        <p:spPr>
          <a:xfrm rot="16200000">
            <a:off x="8051201" y="298017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DCA411CF-E11B-DD43-AFBA-940886B0BF4A}"/>
              </a:ext>
            </a:extLst>
          </p:cNvPr>
          <p:cNvSpPr>
            <a:spLocks noChangeAspect="1"/>
          </p:cNvSpPr>
          <p:nvPr/>
        </p:nvSpPr>
        <p:spPr>
          <a:xfrm rot="16200000">
            <a:off x="8196473" y="295775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95BC4984-A834-D14A-BB0C-1AF8DF3202EE}"/>
              </a:ext>
            </a:extLst>
          </p:cNvPr>
          <p:cNvSpPr>
            <a:spLocks noChangeAspect="1"/>
          </p:cNvSpPr>
          <p:nvPr/>
        </p:nvSpPr>
        <p:spPr>
          <a:xfrm rot="16200000">
            <a:off x="8217860" y="281375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8542D7CA-76AA-8C49-9C63-D7CF83B93D0B}"/>
              </a:ext>
            </a:extLst>
          </p:cNvPr>
          <p:cNvSpPr>
            <a:spLocks noChangeAspect="1"/>
          </p:cNvSpPr>
          <p:nvPr/>
        </p:nvSpPr>
        <p:spPr>
          <a:xfrm rot="16200000">
            <a:off x="8412579" y="262091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7EFFAA34-4CB0-EE46-90C0-3201F04BBDC1}"/>
              </a:ext>
            </a:extLst>
          </p:cNvPr>
          <p:cNvSpPr>
            <a:spLocks noChangeAspect="1"/>
          </p:cNvSpPr>
          <p:nvPr/>
        </p:nvSpPr>
        <p:spPr>
          <a:xfrm rot="16200000">
            <a:off x="8365979" y="276491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FE161097-6A4B-644A-AD5C-35788936C4C1}"/>
              </a:ext>
            </a:extLst>
          </p:cNvPr>
          <p:cNvSpPr>
            <a:spLocks noChangeAspect="1"/>
          </p:cNvSpPr>
          <p:nvPr/>
        </p:nvSpPr>
        <p:spPr>
          <a:xfrm rot="16200000">
            <a:off x="8556579" y="259805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28230350-190E-DC48-88EA-45E2326904EB}"/>
              </a:ext>
            </a:extLst>
          </p:cNvPr>
          <p:cNvSpPr>
            <a:spLocks noChangeAspect="1"/>
          </p:cNvSpPr>
          <p:nvPr/>
        </p:nvSpPr>
        <p:spPr>
          <a:xfrm rot="16200000">
            <a:off x="8634298" y="245405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1B1B92D4-30B3-C94C-805E-3D91E26C91AD}"/>
              </a:ext>
            </a:extLst>
          </p:cNvPr>
          <p:cNvSpPr>
            <a:spLocks noChangeAspect="1"/>
          </p:cNvSpPr>
          <p:nvPr/>
        </p:nvSpPr>
        <p:spPr>
          <a:xfrm rot="16200000">
            <a:off x="8764676" y="235441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B86555AB-F654-0342-82D0-3C0ED22CC843}"/>
              </a:ext>
            </a:extLst>
          </p:cNvPr>
          <p:cNvSpPr>
            <a:spLocks noChangeAspect="1"/>
          </p:cNvSpPr>
          <p:nvPr/>
        </p:nvSpPr>
        <p:spPr>
          <a:xfrm rot="16200000">
            <a:off x="8777403" y="217478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FD45B321-D6C9-444F-B5D5-D5C670933815}"/>
              </a:ext>
            </a:extLst>
          </p:cNvPr>
          <p:cNvSpPr>
            <a:spLocks noChangeAspect="1"/>
          </p:cNvSpPr>
          <p:nvPr/>
        </p:nvSpPr>
        <p:spPr>
          <a:xfrm rot="16200000">
            <a:off x="7515617" y="346770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Oval 87">
            <a:extLst>
              <a:ext uri="{FF2B5EF4-FFF2-40B4-BE49-F238E27FC236}">
                <a16:creationId xmlns:a16="http://schemas.microsoft.com/office/drawing/2014/main" id="{3F992DB8-A649-504E-98E3-13FCB57EACDF}"/>
              </a:ext>
            </a:extLst>
          </p:cNvPr>
          <p:cNvSpPr>
            <a:spLocks noChangeAspect="1"/>
          </p:cNvSpPr>
          <p:nvPr/>
        </p:nvSpPr>
        <p:spPr>
          <a:xfrm rot="16200000">
            <a:off x="7904437" y="326933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Oval 88">
            <a:extLst>
              <a:ext uri="{FF2B5EF4-FFF2-40B4-BE49-F238E27FC236}">
                <a16:creationId xmlns:a16="http://schemas.microsoft.com/office/drawing/2014/main" id="{591DD089-40E7-E94C-AA40-1FBACABB9DBE}"/>
              </a:ext>
            </a:extLst>
          </p:cNvPr>
          <p:cNvSpPr>
            <a:spLocks noChangeAspect="1"/>
          </p:cNvSpPr>
          <p:nvPr/>
        </p:nvSpPr>
        <p:spPr>
          <a:xfrm rot="16200000">
            <a:off x="7605429" y="3336431"/>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223B5206-EDD4-464B-9041-1F59F27ED421}"/>
              </a:ext>
            </a:extLst>
          </p:cNvPr>
          <p:cNvSpPr>
            <a:spLocks noChangeAspect="1"/>
          </p:cNvSpPr>
          <p:nvPr/>
        </p:nvSpPr>
        <p:spPr>
          <a:xfrm rot="16200000">
            <a:off x="8663150" y="226289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6F3000A1-673E-7D45-93F9-0FD2067BEDE3}"/>
              </a:ext>
            </a:extLst>
          </p:cNvPr>
          <p:cNvSpPr>
            <a:spLocks noChangeAspect="1"/>
          </p:cNvSpPr>
          <p:nvPr/>
        </p:nvSpPr>
        <p:spPr>
          <a:xfrm rot="16200000">
            <a:off x="8126679" y="267849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7" name="Straight Connector 96">
            <a:extLst>
              <a:ext uri="{FF2B5EF4-FFF2-40B4-BE49-F238E27FC236}">
                <a16:creationId xmlns:a16="http://schemas.microsoft.com/office/drawing/2014/main" id="{31EBB740-0193-EF47-ACD3-67D62304488F}"/>
              </a:ext>
            </a:extLst>
          </p:cNvPr>
          <p:cNvCxnSpPr>
            <a:cxnSpLocks/>
            <a:endCxn id="47" idx="4"/>
          </p:cNvCxnSpPr>
          <p:nvPr/>
        </p:nvCxnSpPr>
        <p:spPr>
          <a:xfrm>
            <a:off x="8545602" y="1816443"/>
            <a:ext cx="1635881" cy="1812812"/>
          </a:xfrm>
          <a:prstGeom prst="line">
            <a:avLst/>
          </a:prstGeom>
          <a:ln w="50800">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6CE13D9-97C2-9C45-A915-3AD58DE76827}"/>
              </a:ext>
            </a:extLst>
          </p:cNvPr>
          <p:cNvCxnSpPr>
            <a:cxnSpLocks/>
          </p:cNvCxnSpPr>
          <p:nvPr/>
        </p:nvCxnSpPr>
        <p:spPr>
          <a:xfrm flipH="1">
            <a:off x="7572991" y="2063243"/>
            <a:ext cx="1517451" cy="1570478"/>
          </a:xfrm>
          <a:prstGeom prst="line">
            <a:avLst/>
          </a:prstGeom>
          <a:ln w="50800">
            <a:solidFill>
              <a:srgbClr val="FFFF00"/>
            </a:solidFill>
          </a:ln>
        </p:spPr>
        <p:style>
          <a:lnRef idx="1">
            <a:schemeClr val="accent1"/>
          </a:lnRef>
          <a:fillRef idx="0">
            <a:schemeClr val="accent1"/>
          </a:fillRef>
          <a:effectRef idx="0">
            <a:schemeClr val="accent1"/>
          </a:effectRef>
          <a:fontRef idx="minor">
            <a:schemeClr val="tx1"/>
          </a:fontRef>
        </p:style>
      </p:cxnSp>
      <p:sp>
        <p:nvSpPr>
          <p:cNvPr id="104" name="Freeform 103">
            <a:extLst>
              <a:ext uri="{FF2B5EF4-FFF2-40B4-BE49-F238E27FC236}">
                <a16:creationId xmlns:a16="http://schemas.microsoft.com/office/drawing/2014/main" id="{E208F876-3B8F-F94B-95EC-7BD17075CD74}"/>
              </a:ext>
            </a:extLst>
          </p:cNvPr>
          <p:cNvSpPr/>
          <p:nvPr/>
        </p:nvSpPr>
        <p:spPr>
          <a:xfrm>
            <a:off x="7901796" y="3312543"/>
            <a:ext cx="172542" cy="327804"/>
          </a:xfrm>
          <a:custGeom>
            <a:avLst/>
            <a:gdLst>
              <a:gd name="connsiteX0" fmla="*/ 0 w 172542"/>
              <a:gd name="connsiteY0" fmla="*/ 0 h 327804"/>
              <a:gd name="connsiteX1" fmla="*/ 138023 w 172542"/>
              <a:gd name="connsiteY1" fmla="*/ 172529 h 327804"/>
              <a:gd name="connsiteX2" fmla="*/ 155276 w 172542"/>
              <a:gd name="connsiteY2" fmla="*/ 224287 h 327804"/>
              <a:gd name="connsiteX3" fmla="*/ 172529 w 172542"/>
              <a:gd name="connsiteY3" fmla="*/ 327804 h 327804"/>
            </a:gdLst>
            <a:ahLst/>
            <a:cxnLst>
              <a:cxn ang="0">
                <a:pos x="connsiteX0" y="connsiteY0"/>
              </a:cxn>
              <a:cxn ang="0">
                <a:pos x="connsiteX1" y="connsiteY1"/>
              </a:cxn>
              <a:cxn ang="0">
                <a:pos x="connsiteX2" y="connsiteY2"/>
              </a:cxn>
              <a:cxn ang="0">
                <a:pos x="connsiteX3" y="connsiteY3"/>
              </a:cxn>
            </a:cxnLst>
            <a:rect l="l" t="t" r="r" b="b"/>
            <a:pathLst>
              <a:path w="172542" h="327804">
                <a:moveTo>
                  <a:pt x="0" y="0"/>
                </a:moveTo>
                <a:cubicBezTo>
                  <a:pt x="18951" y="22109"/>
                  <a:pt x="112456" y="121395"/>
                  <a:pt x="138023" y="172529"/>
                </a:cubicBezTo>
                <a:cubicBezTo>
                  <a:pt x="146156" y="188795"/>
                  <a:pt x="150865" y="206644"/>
                  <a:pt x="155276" y="224287"/>
                </a:cubicBezTo>
                <a:cubicBezTo>
                  <a:pt x="173657" y="297809"/>
                  <a:pt x="172529" y="284832"/>
                  <a:pt x="172529" y="327804"/>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Freeform 107">
            <a:extLst>
              <a:ext uri="{FF2B5EF4-FFF2-40B4-BE49-F238E27FC236}">
                <a16:creationId xmlns:a16="http://schemas.microsoft.com/office/drawing/2014/main" id="{DAF82A5F-C9BE-7B4A-BF11-6D79D9B488ED}"/>
              </a:ext>
            </a:extLst>
          </p:cNvPr>
          <p:cNvSpPr/>
          <p:nvPr/>
        </p:nvSpPr>
        <p:spPr>
          <a:xfrm>
            <a:off x="9605843" y="3209026"/>
            <a:ext cx="193765" cy="465827"/>
          </a:xfrm>
          <a:custGeom>
            <a:avLst/>
            <a:gdLst>
              <a:gd name="connsiteX0" fmla="*/ 193765 w 193765"/>
              <a:gd name="connsiteY0" fmla="*/ 0 h 465827"/>
              <a:gd name="connsiteX1" fmla="*/ 72995 w 193765"/>
              <a:gd name="connsiteY1" fmla="*/ 103517 h 465827"/>
              <a:gd name="connsiteX2" fmla="*/ 38489 w 193765"/>
              <a:gd name="connsiteY2" fmla="*/ 207034 h 465827"/>
              <a:gd name="connsiteX3" fmla="*/ 21236 w 193765"/>
              <a:gd name="connsiteY3" fmla="*/ 258793 h 465827"/>
              <a:gd name="connsiteX4" fmla="*/ 3983 w 193765"/>
              <a:gd name="connsiteY4" fmla="*/ 465827 h 4658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3765" h="465827">
                <a:moveTo>
                  <a:pt x="193765" y="0"/>
                </a:moveTo>
                <a:cubicBezTo>
                  <a:pt x="153508" y="34506"/>
                  <a:pt x="104808" y="61100"/>
                  <a:pt x="72995" y="103517"/>
                </a:cubicBezTo>
                <a:cubicBezTo>
                  <a:pt x="51172" y="132615"/>
                  <a:pt x="49991" y="172528"/>
                  <a:pt x="38489" y="207034"/>
                </a:cubicBezTo>
                <a:lnTo>
                  <a:pt x="21236" y="258793"/>
                </a:lnTo>
                <a:cubicBezTo>
                  <a:pt x="-12385" y="359654"/>
                  <a:pt x="3983" y="292362"/>
                  <a:pt x="3983" y="465827"/>
                </a:cubicBez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TextBox 108">
            <a:extLst>
              <a:ext uri="{FF2B5EF4-FFF2-40B4-BE49-F238E27FC236}">
                <a16:creationId xmlns:a16="http://schemas.microsoft.com/office/drawing/2014/main" id="{A016B65D-CED7-3F45-9468-9A3738817164}"/>
              </a:ext>
            </a:extLst>
          </p:cNvPr>
          <p:cNvSpPr txBox="1"/>
          <p:nvPr/>
        </p:nvSpPr>
        <p:spPr>
          <a:xfrm>
            <a:off x="8083967" y="3171272"/>
            <a:ext cx="369012" cy="400110"/>
          </a:xfrm>
          <a:prstGeom prst="rect">
            <a:avLst/>
          </a:prstGeom>
          <a:noFill/>
        </p:spPr>
        <p:txBody>
          <a:bodyPr wrap="none" rtlCol="0">
            <a:spAutoFit/>
          </a:bodyPr>
          <a:lstStyle/>
          <a:p>
            <a:pPr algn="l"/>
            <a:r>
              <a:rPr lang="en-US" sz="2000" dirty="0" err="1">
                <a:latin typeface="Symbol" pitchFamily="2" charset="2"/>
                <a:cs typeface="Arial" panose="020B0604020202020204" pitchFamily="34" charset="0"/>
              </a:rPr>
              <a:t>q</a:t>
            </a:r>
            <a:r>
              <a:rPr lang="en-US" baseline="-25000" dirty="0" err="1">
                <a:latin typeface="Arial" panose="020B0604020202020204" pitchFamily="34" charset="0"/>
                <a:cs typeface="Arial" panose="020B0604020202020204" pitchFamily="34" charset="0"/>
              </a:rPr>
              <a:t>r</a:t>
            </a:r>
            <a:endParaRPr lang="en-US" baseline="-25000" dirty="0">
              <a:latin typeface="Arial" panose="020B0604020202020204" pitchFamily="34" charset="0"/>
              <a:cs typeface="Arial" panose="020B0604020202020204" pitchFamily="34" charset="0"/>
            </a:endParaRPr>
          </a:p>
        </p:txBody>
      </p:sp>
      <p:sp>
        <p:nvSpPr>
          <p:cNvPr id="110" name="TextBox 109">
            <a:extLst>
              <a:ext uri="{FF2B5EF4-FFF2-40B4-BE49-F238E27FC236}">
                <a16:creationId xmlns:a16="http://schemas.microsoft.com/office/drawing/2014/main" id="{2BE3564A-DEB4-CC48-BEEC-26C1385C535A}"/>
              </a:ext>
            </a:extLst>
          </p:cNvPr>
          <p:cNvSpPr txBox="1"/>
          <p:nvPr/>
        </p:nvSpPr>
        <p:spPr>
          <a:xfrm>
            <a:off x="9271290" y="3166323"/>
            <a:ext cx="369012" cy="400110"/>
          </a:xfrm>
          <a:prstGeom prst="rect">
            <a:avLst/>
          </a:prstGeom>
          <a:noFill/>
        </p:spPr>
        <p:txBody>
          <a:bodyPr wrap="none" rtlCol="0">
            <a:spAutoFit/>
          </a:bodyPr>
          <a:lstStyle/>
          <a:p>
            <a:pPr algn="l"/>
            <a:r>
              <a:rPr lang="en-US" sz="2000" dirty="0" err="1">
                <a:latin typeface="Symbol" pitchFamily="2" charset="2"/>
                <a:cs typeface="Arial" panose="020B0604020202020204" pitchFamily="34" charset="0"/>
              </a:rPr>
              <a:t>q</a:t>
            </a:r>
            <a:r>
              <a:rPr lang="en-US" baseline="-25000" dirty="0" err="1">
                <a:latin typeface="Arial" panose="020B0604020202020204" pitchFamily="34" charset="0"/>
                <a:cs typeface="Arial" panose="020B0604020202020204" pitchFamily="34" charset="0"/>
              </a:rPr>
              <a:t>r</a:t>
            </a:r>
            <a:endParaRPr lang="en-US" baseline="-25000" dirty="0">
              <a:latin typeface="Arial" panose="020B0604020202020204" pitchFamily="34" charset="0"/>
              <a:cs typeface="Arial" panose="020B0604020202020204" pitchFamily="34" charset="0"/>
            </a:endParaRPr>
          </a:p>
        </p:txBody>
      </p:sp>
      <p:sp>
        <p:nvSpPr>
          <p:cNvPr id="111" name="Oval 110">
            <a:extLst>
              <a:ext uri="{FF2B5EF4-FFF2-40B4-BE49-F238E27FC236}">
                <a16:creationId xmlns:a16="http://schemas.microsoft.com/office/drawing/2014/main" id="{5E9644B5-5F3F-EA48-8FE7-20F7E9285982}"/>
              </a:ext>
            </a:extLst>
          </p:cNvPr>
          <p:cNvSpPr>
            <a:spLocks noChangeAspect="1"/>
          </p:cNvSpPr>
          <p:nvPr/>
        </p:nvSpPr>
        <p:spPr>
          <a:xfrm>
            <a:off x="10080820" y="2026866"/>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EA29A115-B54F-B04F-9898-CF39815C068F}"/>
              </a:ext>
            </a:extLst>
          </p:cNvPr>
          <p:cNvCxnSpPr>
            <a:cxnSpLocks/>
          </p:cNvCxnSpPr>
          <p:nvPr/>
        </p:nvCxnSpPr>
        <p:spPr>
          <a:xfrm>
            <a:off x="10206284" y="2158134"/>
            <a:ext cx="273577" cy="295858"/>
          </a:xfrm>
          <a:prstGeom prst="straightConnector1">
            <a:avLst/>
          </a:prstGeom>
          <a:ln w="2540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267474B-4164-BD40-B10B-60D03844B2AA}"/>
              </a:ext>
            </a:extLst>
          </p:cNvPr>
          <p:cNvCxnSpPr/>
          <p:nvPr/>
        </p:nvCxnSpPr>
        <p:spPr>
          <a:xfrm flipH="1" flipV="1">
            <a:off x="9845705" y="1789267"/>
            <a:ext cx="224093" cy="246800"/>
          </a:xfrm>
          <a:prstGeom prst="straightConnector1">
            <a:avLst/>
          </a:prstGeom>
          <a:ln w="2540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B3229B3-65C6-2643-96E7-B079B96D4D16}"/>
              </a:ext>
            </a:extLst>
          </p:cNvPr>
          <p:cNvCxnSpPr>
            <a:cxnSpLocks/>
            <a:stCxn id="111" idx="4"/>
          </p:cNvCxnSpPr>
          <p:nvPr/>
        </p:nvCxnSpPr>
        <p:spPr>
          <a:xfrm flipH="1">
            <a:off x="9881287" y="2170866"/>
            <a:ext cx="271533" cy="327546"/>
          </a:xfrm>
          <a:prstGeom prst="straightConnector1">
            <a:avLst/>
          </a:prstGeom>
          <a:ln w="2540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D228D836-1F3B-B544-8329-C2B0E0CED1F5}"/>
              </a:ext>
            </a:extLst>
          </p:cNvPr>
          <p:cNvSpPr txBox="1"/>
          <p:nvPr/>
        </p:nvSpPr>
        <p:spPr>
          <a:xfrm>
            <a:off x="10318307" y="1948997"/>
            <a:ext cx="498221" cy="369332"/>
          </a:xfrm>
          <a:prstGeom prst="rect">
            <a:avLst/>
          </a:prstGeom>
          <a:noFill/>
        </p:spPr>
        <p:txBody>
          <a:bodyPr wrap="square" rtlCol="0">
            <a:spAutoFit/>
          </a:bodyPr>
          <a:lstStyle/>
          <a:p>
            <a:pPr algn="l"/>
            <a:r>
              <a:rPr lang="en-US" dirty="0" err="1">
                <a:latin typeface="Arial" panose="020B0604020202020204" pitchFamily="34" charset="0"/>
                <a:cs typeface="Arial" panose="020B0604020202020204" pitchFamily="34" charset="0"/>
              </a:rPr>
              <a:t>F</a:t>
            </a:r>
            <a:r>
              <a:rPr lang="en-US" baseline="-25000" dirty="0" err="1">
                <a:latin typeface="Arial" panose="020B0604020202020204" pitchFamily="34" charset="0"/>
                <a:cs typeface="Arial" panose="020B0604020202020204" pitchFamily="34" charset="0"/>
              </a:rPr>
              <a:t>gt</a:t>
            </a:r>
            <a:endParaRPr lang="en-US" baseline="-25000" dirty="0">
              <a:latin typeface="Arial" panose="020B0604020202020204" pitchFamily="34" charset="0"/>
              <a:cs typeface="Arial" panose="020B0604020202020204" pitchFamily="34" charset="0"/>
            </a:endParaRPr>
          </a:p>
        </p:txBody>
      </p:sp>
      <p:sp>
        <p:nvSpPr>
          <p:cNvPr id="91" name="TextBox 90">
            <a:extLst>
              <a:ext uri="{FF2B5EF4-FFF2-40B4-BE49-F238E27FC236}">
                <a16:creationId xmlns:a16="http://schemas.microsoft.com/office/drawing/2014/main" id="{9BE40E3F-59FF-DB40-B660-32745164C901}"/>
              </a:ext>
            </a:extLst>
          </p:cNvPr>
          <p:cNvSpPr txBox="1"/>
          <p:nvPr/>
        </p:nvSpPr>
        <p:spPr>
          <a:xfrm>
            <a:off x="9567931" y="2003578"/>
            <a:ext cx="498221" cy="369332"/>
          </a:xfrm>
          <a:prstGeom prst="rect">
            <a:avLst/>
          </a:prstGeom>
          <a:noFill/>
        </p:spPr>
        <p:txBody>
          <a:bodyPr wrap="square" rtlCol="0">
            <a:spAutoFit/>
          </a:bodyPr>
          <a:lstStyle/>
          <a:p>
            <a:pPr algn="l"/>
            <a:r>
              <a:rPr lang="en-US" dirty="0" err="1">
                <a:latin typeface="Arial" panose="020B0604020202020204" pitchFamily="34" charset="0"/>
                <a:cs typeface="Arial" panose="020B0604020202020204" pitchFamily="34" charset="0"/>
              </a:rPr>
              <a:t>F</a:t>
            </a:r>
            <a:r>
              <a:rPr lang="en-US" baseline="-25000" dirty="0" err="1">
                <a:latin typeface="Arial" panose="020B0604020202020204" pitchFamily="34" charset="0"/>
                <a:cs typeface="Arial" panose="020B0604020202020204" pitchFamily="34" charset="0"/>
              </a:rPr>
              <a:t>gn</a:t>
            </a:r>
            <a:endParaRPr lang="en-US" baseline="-25000" dirty="0">
              <a:latin typeface="Arial" panose="020B0604020202020204" pitchFamily="34" charset="0"/>
              <a:cs typeface="Arial" panose="020B0604020202020204" pitchFamily="34" charset="0"/>
            </a:endParaRPr>
          </a:p>
        </p:txBody>
      </p:sp>
      <p:sp>
        <p:nvSpPr>
          <p:cNvPr id="92" name="TextBox 91">
            <a:extLst>
              <a:ext uri="{FF2B5EF4-FFF2-40B4-BE49-F238E27FC236}">
                <a16:creationId xmlns:a16="http://schemas.microsoft.com/office/drawing/2014/main" id="{364D22D2-100F-7448-A7A4-C1860C8DDA85}"/>
              </a:ext>
            </a:extLst>
          </p:cNvPr>
          <p:cNvSpPr txBox="1"/>
          <p:nvPr/>
        </p:nvSpPr>
        <p:spPr>
          <a:xfrm>
            <a:off x="9938112" y="1544573"/>
            <a:ext cx="498221" cy="369332"/>
          </a:xfrm>
          <a:prstGeom prst="rect">
            <a:avLst/>
          </a:prstGeom>
          <a:noFill/>
        </p:spPr>
        <p:txBody>
          <a:bodyPr wrap="square" rtlCol="0">
            <a:spAutoFit/>
          </a:bodyPr>
          <a:lstStyle/>
          <a:p>
            <a:pPr algn="l"/>
            <a:r>
              <a:rPr lang="en-US" dirty="0">
                <a:latin typeface="Arial" panose="020B0604020202020204" pitchFamily="34" charset="0"/>
                <a:cs typeface="Arial" panose="020B0604020202020204" pitchFamily="34" charset="0"/>
              </a:rPr>
              <a:t>F</a:t>
            </a:r>
            <a:r>
              <a:rPr lang="en-US" baseline="-25000" dirty="0">
                <a:latin typeface="Arial" panose="020B0604020202020204" pitchFamily="34" charset="0"/>
                <a:cs typeface="Arial" panose="020B0604020202020204" pitchFamily="34" charset="0"/>
              </a:rPr>
              <a:t>C</a:t>
            </a:r>
          </a:p>
        </p:txBody>
      </p:sp>
      <p:sp>
        <p:nvSpPr>
          <p:cNvPr id="26" name="TextBox 25">
            <a:extLst>
              <a:ext uri="{FF2B5EF4-FFF2-40B4-BE49-F238E27FC236}">
                <a16:creationId xmlns:a16="http://schemas.microsoft.com/office/drawing/2014/main" id="{629F912A-4113-1E49-8EA0-C30618B8DF83}"/>
              </a:ext>
            </a:extLst>
          </p:cNvPr>
          <p:cNvSpPr txBox="1"/>
          <p:nvPr/>
        </p:nvSpPr>
        <p:spPr>
          <a:xfrm>
            <a:off x="494270" y="1939866"/>
            <a:ext cx="6128952" cy="1013291"/>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forces acting on each grain are the net (gravitational force - buoyancy) downslope gravitational force </a:t>
            </a:r>
            <a:r>
              <a:rPr lang="en-US" dirty="0" err="1">
                <a:latin typeface="Arial" panose="020B0604020202020204" pitchFamily="34" charset="0"/>
                <a:cs typeface="Arial" panose="020B0604020202020204" pitchFamily="34" charset="0"/>
              </a:rPr>
              <a:t>F</a:t>
            </a:r>
            <a:r>
              <a:rPr lang="en-US" baseline="-25000" dirty="0" err="1">
                <a:latin typeface="Arial" panose="020B0604020202020204" pitchFamily="34" charset="0"/>
                <a:cs typeface="Arial" panose="020B0604020202020204" pitchFamily="34" charset="0"/>
              </a:rPr>
              <a:t>gt</a:t>
            </a:r>
            <a:r>
              <a:rPr lang="en-US" dirty="0">
                <a:latin typeface="Arial" panose="020B0604020202020204" pitchFamily="34" charset="0"/>
                <a:cs typeface="Arial" panose="020B0604020202020204" pitchFamily="34" charset="0"/>
              </a:rPr>
              <a:t>, the net normal force </a:t>
            </a:r>
            <a:r>
              <a:rPr lang="en-US" dirty="0" err="1">
                <a:latin typeface="Arial" panose="020B0604020202020204" pitchFamily="34" charset="0"/>
                <a:cs typeface="Arial" panose="020B0604020202020204" pitchFamily="34" charset="0"/>
              </a:rPr>
              <a:t>F</a:t>
            </a:r>
            <a:r>
              <a:rPr lang="en-US" baseline="-25000" dirty="0" err="1">
                <a:latin typeface="Arial" panose="020B0604020202020204" pitchFamily="34" charset="0"/>
                <a:cs typeface="Arial" panose="020B0604020202020204" pitchFamily="34" charset="0"/>
              </a:rPr>
              <a:t>gn</a:t>
            </a:r>
            <a:r>
              <a:rPr lang="en-US" dirty="0">
                <a:latin typeface="Arial" panose="020B0604020202020204" pitchFamily="34" charset="0"/>
                <a:cs typeface="Arial" panose="020B0604020202020204" pitchFamily="34" charset="0"/>
              </a:rPr>
              <a:t> and the resistive Coulomb force F</a:t>
            </a:r>
            <a:r>
              <a:rPr lang="en-US" baseline="-25000" dirty="0">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a:t>
            </a: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F21832CF-4E4B-5F48-A349-D36958936E57}"/>
                  </a:ext>
                </a:extLst>
              </p:cNvPr>
              <p:cNvSpPr txBox="1"/>
              <p:nvPr/>
            </p:nvSpPr>
            <p:spPr>
              <a:xfrm>
                <a:off x="460358" y="3006726"/>
                <a:ext cx="6301982" cy="732380"/>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𝐹</m:t>
                          </m:r>
                        </m:e>
                        <m:sub>
                          <m:r>
                            <a:rPr lang="en-US" b="0" i="1" smtClean="0">
                              <a:latin typeface="Cambria Math" panose="02040503050406030204" pitchFamily="18" charset="0"/>
                              <a:cs typeface="Arial" panose="020B0604020202020204" pitchFamily="34" charset="0"/>
                            </a:rPr>
                            <m:t>𝑔𝑡</m:t>
                          </m:r>
                        </m:sub>
                      </m:sSub>
                      <m:r>
                        <a:rPr lang="en-US" b="0" i="1" smtClean="0">
                          <a:latin typeface="Cambria Math" panose="02040503050406030204" pitchFamily="18" charset="0"/>
                          <a:cs typeface="Arial" panose="020B0604020202020204" pitchFamily="34" charset="0"/>
                        </a:rPr>
                        <m:t>=</m:t>
                      </m:r>
                      <m:d>
                        <m:dPr>
                          <m:begChr m:val="["/>
                          <m:endChr m:val="]"/>
                          <m:ctrlPr>
                            <a:rPr lang="en-US" b="0" i="1" smtClean="0">
                              <a:latin typeface="Cambria Math" panose="02040503050406030204" pitchFamily="18" charset="0"/>
                              <a:cs typeface="Arial" panose="020B0604020202020204" pitchFamily="34" charset="0"/>
                            </a:rPr>
                          </m:ctrlPr>
                        </m:dPr>
                        <m:e>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𝜌</m:t>
                              </m:r>
                            </m:e>
                            <m:sub>
                              <m:r>
                                <a:rPr lang="en-US" i="1">
                                  <a:latin typeface="Cambria Math" panose="02040503050406030204" pitchFamily="18" charset="0"/>
                                  <a:cs typeface="Arial" panose="020B0604020202020204" pitchFamily="34" charset="0"/>
                                </a:rPr>
                                <m:t>𝑠</m:t>
                              </m:r>
                            </m:sub>
                          </m:sSub>
                          <m:r>
                            <a:rPr lang="en-US" i="1">
                              <a:latin typeface="Cambria Math" panose="02040503050406030204" pitchFamily="18" charset="0"/>
                              <a:cs typeface="Arial" panose="020B0604020202020204" pitchFamily="34" charset="0"/>
                            </a:rPr>
                            <m:t>𝑔</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4</m:t>
                              </m:r>
                            </m:num>
                            <m:den>
                              <m:r>
                                <a:rPr lang="en-US" i="1">
                                  <a:latin typeface="Cambria Math" panose="02040503050406030204" pitchFamily="18" charset="0"/>
                                  <a:cs typeface="Arial" panose="020B0604020202020204" pitchFamily="34" charset="0"/>
                                </a:rPr>
                                <m:t>3</m:t>
                              </m:r>
                            </m:den>
                          </m:f>
                          <m:r>
                            <a:rPr lang="en-US" i="1">
                              <a:latin typeface="Cambria Math" panose="02040503050406030204" pitchFamily="18" charset="0"/>
                              <a:ea typeface="Cambria Math" panose="02040503050406030204" pitchFamily="18" charset="0"/>
                              <a:cs typeface="Arial" panose="020B0604020202020204" pitchFamily="34" charset="0"/>
                            </a:rPr>
                            <m:t>𝜋</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𝐷</m:t>
                                      </m:r>
                                    </m:num>
                                    <m:den>
                                      <m:r>
                                        <a:rPr lang="en-US" i="1">
                                          <a:latin typeface="Cambria Math" panose="02040503050406030204" pitchFamily="18" charset="0"/>
                                          <a:ea typeface="Cambria Math" panose="02040503050406030204" pitchFamily="18" charset="0"/>
                                          <a:cs typeface="Arial" panose="020B0604020202020204" pitchFamily="34" charset="0"/>
                                        </a:rPr>
                                        <m:t>2</m:t>
                                      </m:r>
                                    </m:den>
                                  </m:f>
                                </m:e>
                              </m:d>
                            </m:e>
                            <m:sup>
                              <m:r>
                                <a:rPr lang="en-US" i="1">
                                  <a:latin typeface="Cambria Math" panose="02040503050406030204" pitchFamily="18" charset="0"/>
                                  <a:ea typeface="Cambria Math" panose="02040503050406030204" pitchFamily="18" charset="0"/>
                                  <a:cs typeface="Arial" panose="020B0604020202020204" pitchFamily="34" charset="0"/>
                                </a:rPr>
                                <m:t>3</m:t>
                              </m:r>
                            </m:sup>
                          </m:sSup>
                          <m:r>
                            <a:rPr lang="en-US" i="1">
                              <a:latin typeface="Cambria Math" panose="02040503050406030204" pitchFamily="18" charset="0"/>
                              <a:ea typeface="Cambria Math" panose="02040503050406030204" pitchFamily="18" charset="0"/>
                              <a:cs typeface="Arial" panose="020B0604020202020204" pitchFamily="34" charset="0"/>
                            </a:rPr>
                            <m:t>−</m:t>
                          </m:r>
                          <m:r>
                            <a:rPr lang="en-US" i="1" smtClean="0">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cs typeface="Arial" panose="020B0604020202020204" pitchFamily="34" charset="0"/>
                            </a:rPr>
                            <m:t>𝑔</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4</m:t>
                              </m:r>
                            </m:num>
                            <m:den>
                              <m:r>
                                <a:rPr lang="en-US" i="1">
                                  <a:latin typeface="Cambria Math" panose="02040503050406030204" pitchFamily="18" charset="0"/>
                                  <a:cs typeface="Arial" panose="020B0604020202020204" pitchFamily="34" charset="0"/>
                                </a:rPr>
                                <m:t>3</m:t>
                              </m:r>
                            </m:den>
                          </m:f>
                          <m:r>
                            <a:rPr lang="en-US" i="1">
                              <a:latin typeface="Cambria Math" panose="02040503050406030204" pitchFamily="18" charset="0"/>
                              <a:ea typeface="Cambria Math" panose="02040503050406030204" pitchFamily="18" charset="0"/>
                              <a:cs typeface="Arial" panose="020B0604020202020204" pitchFamily="34" charset="0"/>
                            </a:rPr>
                            <m:t>𝜋</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𝐷</m:t>
                                      </m:r>
                                    </m:num>
                                    <m:den>
                                      <m:r>
                                        <a:rPr lang="en-US" i="1">
                                          <a:latin typeface="Cambria Math" panose="02040503050406030204" pitchFamily="18" charset="0"/>
                                          <a:ea typeface="Cambria Math" panose="02040503050406030204" pitchFamily="18" charset="0"/>
                                          <a:cs typeface="Arial" panose="020B0604020202020204" pitchFamily="34" charset="0"/>
                                        </a:rPr>
                                        <m:t>2</m:t>
                                      </m:r>
                                    </m:den>
                                  </m:f>
                                </m:e>
                              </m:d>
                            </m:e>
                            <m:sup>
                              <m:r>
                                <a:rPr lang="en-US" i="1">
                                  <a:latin typeface="Cambria Math" panose="02040503050406030204" pitchFamily="18" charset="0"/>
                                  <a:ea typeface="Cambria Math" panose="02040503050406030204" pitchFamily="18" charset="0"/>
                                  <a:cs typeface="Arial" panose="020B0604020202020204" pitchFamily="34" charset="0"/>
                                </a:rPr>
                                <m:t>3</m:t>
                              </m:r>
                            </m:sup>
                          </m:sSup>
                        </m:e>
                      </m:d>
                      <m:r>
                        <a:rPr lang="en-US" b="0" i="1" smtClean="0">
                          <a:latin typeface="Cambria Math" panose="02040503050406030204" pitchFamily="18" charset="0"/>
                          <a:cs typeface="Arial" panose="020B0604020202020204" pitchFamily="34" charset="0"/>
                        </a:rPr>
                        <m:t>𝑠𝑖𝑛</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𝜃</m:t>
                          </m:r>
                        </m:e>
                        <m:sub>
                          <m:r>
                            <a:rPr lang="en-US" b="0" i="1" smtClean="0">
                              <a:latin typeface="Cambria Math" panose="02040503050406030204" pitchFamily="18" charset="0"/>
                              <a:cs typeface="Arial" panose="020B0604020202020204" pitchFamily="34" charset="0"/>
                            </a:rPr>
                            <m:t>𝑟</m:t>
                          </m:r>
                        </m:sub>
                      </m:sSub>
                      <m:r>
                        <a:rPr lang="en-US" b="0" i="1" smtClean="0">
                          <a:latin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cs typeface="Arial" panose="020B0604020202020204" pitchFamily="34" charset="0"/>
                        </a:rPr>
                        <m:t>𝑔</m:t>
                      </m:r>
                      <m:r>
                        <a:rPr lang="en-US" b="0" i="1" smtClean="0">
                          <a:latin typeface="Cambria Math" panose="02040503050406030204" pitchFamily="18" charset="0"/>
                          <a:cs typeface="Arial" panose="020B0604020202020204" pitchFamily="34" charset="0"/>
                        </a:rPr>
                        <m:t>𝑅</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4</m:t>
                          </m:r>
                        </m:num>
                        <m:den>
                          <m:r>
                            <a:rPr lang="en-US" i="1">
                              <a:latin typeface="Cambria Math" panose="02040503050406030204" pitchFamily="18" charset="0"/>
                              <a:cs typeface="Arial" panose="020B0604020202020204" pitchFamily="34" charset="0"/>
                            </a:rPr>
                            <m:t>3</m:t>
                          </m:r>
                        </m:den>
                      </m:f>
                      <m:r>
                        <a:rPr lang="en-US" i="1">
                          <a:latin typeface="Cambria Math" panose="02040503050406030204" pitchFamily="18" charset="0"/>
                          <a:ea typeface="Cambria Math" panose="02040503050406030204" pitchFamily="18" charset="0"/>
                          <a:cs typeface="Arial" panose="020B0604020202020204" pitchFamily="34" charset="0"/>
                        </a:rPr>
                        <m:t>𝜋</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𝐷</m:t>
                                  </m:r>
                                </m:num>
                                <m:den>
                                  <m:r>
                                    <a:rPr lang="en-US" i="1">
                                      <a:latin typeface="Cambria Math" panose="02040503050406030204" pitchFamily="18" charset="0"/>
                                      <a:ea typeface="Cambria Math" panose="02040503050406030204" pitchFamily="18" charset="0"/>
                                      <a:cs typeface="Arial" panose="020B0604020202020204" pitchFamily="34" charset="0"/>
                                    </a:rPr>
                                    <m:t>2</m:t>
                                  </m:r>
                                </m:den>
                              </m:f>
                            </m:e>
                          </m:d>
                        </m:e>
                        <m:sup>
                          <m:r>
                            <a:rPr lang="en-US" i="1">
                              <a:latin typeface="Cambria Math" panose="02040503050406030204" pitchFamily="18" charset="0"/>
                              <a:ea typeface="Cambria Math" panose="02040503050406030204" pitchFamily="18" charset="0"/>
                              <a:cs typeface="Arial" panose="020B0604020202020204" pitchFamily="34" charset="0"/>
                            </a:rPr>
                            <m:t>3</m:t>
                          </m:r>
                        </m:sup>
                      </m:sSup>
                      <m:r>
                        <a:rPr lang="en-US" i="1">
                          <a:latin typeface="Cambria Math" panose="02040503050406030204" pitchFamily="18" charset="0"/>
                          <a:cs typeface="Arial" panose="020B0604020202020204" pitchFamily="34" charset="0"/>
                        </a:rPr>
                        <m:t>𝑠𝑖𝑛</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𝜃</m:t>
                          </m:r>
                        </m:e>
                        <m:sub>
                          <m:r>
                            <a:rPr lang="en-US" i="1">
                              <a:latin typeface="Cambria Math" panose="02040503050406030204" pitchFamily="18" charset="0"/>
                              <a:cs typeface="Arial" panose="020B0604020202020204" pitchFamily="34" charset="0"/>
                            </a:rPr>
                            <m:t>𝑟</m:t>
                          </m:r>
                        </m:sub>
                      </m:sSub>
                    </m:oMath>
                  </m:oMathPara>
                </a14:m>
                <a:endParaRPr lang="en-US" b="0" dirty="0">
                  <a:latin typeface="Arial" panose="020B0604020202020204" pitchFamily="34" charset="0"/>
                  <a:cs typeface="Arial" panose="020B0604020202020204" pitchFamily="34" charset="0"/>
                </a:endParaRPr>
              </a:p>
            </p:txBody>
          </p:sp>
        </mc:Choice>
        <mc:Fallback xmlns="">
          <p:sp>
            <p:nvSpPr>
              <p:cNvPr id="27" name="TextBox 26">
                <a:extLst>
                  <a:ext uri="{FF2B5EF4-FFF2-40B4-BE49-F238E27FC236}">
                    <a16:creationId xmlns:a16="http://schemas.microsoft.com/office/drawing/2014/main" id="{F21832CF-4E4B-5F48-A349-D36958936E57}"/>
                  </a:ext>
                </a:extLst>
              </p:cNvPr>
              <p:cNvSpPr txBox="1">
                <a:spLocks noRot="1" noChangeAspect="1" noMove="1" noResize="1" noEditPoints="1" noAdjustHandles="1" noChangeArrowheads="1" noChangeShapeType="1" noTextEdit="1"/>
              </p:cNvSpPr>
              <p:nvPr/>
            </p:nvSpPr>
            <p:spPr>
              <a:xfrm>
                <a:off x="460358" y="3006726"/>
                <a:ext cx="6301982" cy="732380"/>
              </a:xfrm>
              <a:prstGeom prst="rect">
                <a:avLst/>
              </a:prstGeom>
              <a:blipFill>
                <a:blip r:embed="rId3"/>
                <a:stretch>
                  <a:fillRect l="-201" b="-16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B0B4480D-7D6F-9944-8E6A-083DFB5B07BF}"/>
                  </a:ext>
                </a:extLst>
              </p:cNvPr>
              <p:cNvSpPr txBox="1"/>
              <p:nvPr/>
            </p:nvSpPr>
            <p:spPr>
              <a:xfrm>
                <a:off x="499356" y="3793441"/>
                <a:ext cx="2596929" cy="660181"/>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𝐹</m:t>
                          </m:r>
                        </m:e>
                        <m:sub>
                          <m:r>
                            <a:rPr lang="en-US" b="0" i="1" smtClean="0">
                              <a:latin typeface="Cambria Math" panose="02040503050406030204" pitchFamily="18" charset="0"/>
                              <a:cs typeface="Arial" panose="020B0604020202020204" pitchFamily="34" charset="0"/>
                            </a:rPr>
                            <m:t>𝑔𝑛</m:t>
                          </m:r>
                        </m:sub>
                      </m:sSub>
                      <m:r>
                        <a:rPr lang="en-US" b="0" i="1" smtClean="0">
                          <a:latin typeface="Cambria Math" panose="02040503050406030204" pitchFamily="18" charset="0"/>
                          <a:cs typeface="Arial" panose="020B0604020202020204" pitchFamily="34" charset="0"/>
                        </a:rPr>
                        <m:t>=</m:t>
                      </m:r>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cs typeface="Arial" panose="020B0604020202020204" pitchFamily="34" charset="0"/>
                        </a:rPr>
                        <m:t>𝑔</m:t>
                      </m:r>
                      <m:r>
                        <a:rPr lang="en-US" b="0" i="1" smtClean="0">
                          <a:latin typeface="Cambria Math" panose="02040503050406030204" pitchFamily="18" charset="0"/>
                          <a:cs typeface="Arial" panose="020B0604020202020204" pitchFamily="34" charset="0"/>
                        </a:rPr>
                        <m:t>𝑅</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4</m:t>
                          </m:r>
                        </m:num>
                        <m:den>
                          <m:r>
                            <a:rPr lang="en-US" i="1">
                              <a:latin typeface="Cambria Math" panose="02040503050406030204" pitchFamily="18" charset="0"/>
                              <a:cs typeface="Arial" panose="020B0604020202020204" pitchFamily="34" charset="0"/>
                            </a:rPr>
                            <m:t>3</m:t>
                          </m:r>
                        </m:den>
                      </m:f>
                      <m:r>
                        <a:rPr lang="en-US" i="1">
                          <a:latin typeface="Cambria Math" panose="02040503050406030204" pitchFamily="18" charset="0"/>
                          <a:ea typeface="Cambria Math" panose="02040503050406030204" pitchFamily="18" charset="0"/>
                          <a:cs typeface="Arial" panose="020B0604020202020204" pitchFamily="34" charset="0"/>
                        </a:rPr>
                        <m:t>𝜋</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𝐷</m:t>
                                  </m:r>
                                </m:num>
                                <m:den>
                                  <m:r>
                                    <a:rPr lang="en-US" i="1">
                                      <a:latin typeface="Cambria Math" panose="02040503050406030204" pitchFamily="18" charset="0"/>
                                      <a:ea typeface="Cambria Math" panose="02040503050406030204" pitchFamily="18" charset="0"/>
                                      <a:cs typeface="Arial" panose="020B0604020202020204" pitchFamily="34" charset="0"/>
                                    </a:rPr>
                                    <m:t>2</m:t>
                                  </m:r>
                                </m:den>
                              </m:f>
                            </m:e>
                          </m:d>
                        </m:e>
                        <m:sup>
                          <m:r>
                            <a:rPr lang="en-US" i="1">
                              <a:latin typeface="Cambria Math" panose="02040503050406030204" pitchFamily="18" charset="0"/>
                              <a:ea typeface="Cambria Math" panose="02040503050406030204" pitchFamily="18" charset="0"/>
                              <a:cs typeface="Arial" panose="020B0604020202020204" pitchFamily="34" charset="0"/>
                            </a:rPr>
                            <m:t>3</m:t>
                          </m:r>
                        </m:sup>
                      </m:sSup>
                      <m:r>
                        <a:rPr lang="en-US" b="0" i="1" smtClean="0">
                          <a:latin typeface="Cambria Math" panose="02040503050406030204" pitchFamily="18" charset="0"/>
                          <a:ea typeface="Cambria Math" panose="02040503050406030204" pitchFamily="18" charset="0"/>
                          <a:cs typeface="Arial" panose="020B0604020202020204" pitchFamily="34" charset="0"/>
                        </a:rPr>
                        <m:t>𝑐𝑜𝑠</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𝜃</m:t>
                          </m:r>
                        </m:e>
                        <m:sub>
                          <m:r>
                            <a:rPr lang="en-US" i="1">
                              <a:latin typeface="Cambria Math" panose="02040503050406030204" pitchFamily="18" charset="0"/>
                              <a:cs typeface="Arial" panose="020B0604020202020204" pitchFamily="34" charset="0"/>
                            </a:rPr>
                            <m:t>𝑟</m:t>
                          </m:r>
                        </m:sub>
                      </m:sSub>
                    </m:oMath>
                  </m:oMathPara>
                </a14:m>
                <a:endParaRPr lang="en-US" b="0" dirty="0">
                  <a:latin typeface="Arial" panose="020B0604020202020204" pitchFamily="34" charset="0"/>
                  <a:cs typeface="Arial" panose="020B0604020202020204" pitchFamily="34" charset="0"/>
                </a:endParaRPr>
              </a:p>
            </p:txBody>
          </p:sp>
        </mc:Choice>
        <mc:Fallback xmlns="">
          <p:sp>
            <p:nvSpPr>
              <p:cNvPr id="94" name="TextBox 93">
                <a:extLst>
                  <a:ext uri="{FF2B5EF4-FFF2-40B4-BE49-F238E27FC236}">
                    <a16:creationId xmlns:a16="http://schemas.microsoft.com/office/drawing/2014/main" id="{B0B4480D-7D6F-9944-8E6A-083DFB5B07BF}"/>
                  </a:ext>
                </a:extLst>
              </p:cNvPr>
              <p:cNvSpPr txBox="1">
                <a:spLocks noRot="1" noChangeAspect="1" noMove="1" noResize="1" noEditPoints="1" noAdjustHandles="1" noChangeArrowheads="1" noChangeShapeType="1" noTextEdit="1"/>
              </p:cNvSpPr>
              <p:nvPr/>
            </p:nvSpPr>
            <p:spPr>
              <a:xfrm>
                <a:off x="499356" y="3793441"/>
                <a:ext cx="2596929" cy="660181"/>
              </a:xfrm>
              <a:prstGeom prst="rect">
                <a:avLst/>
              </a:prstGeom>
              <a:blipFill>
                <a:blip r:embed="rId4"/>
                <a:stretch>
                  <a:fillRect l="-1463" b="-56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6" name="TextBox 95">
                <a:extLst>
                  <a:ext uri="{FF2B5EF4-FFF2-40B4-BE49-F238E27FC236}">
                    <a16:creationId xmlns:a16="http://schemas.microsoft.com/office/drawing/2014/main" id="{3476096A-D4F8-204C-A423-0B2836DFBC06}"/>
                  </a:ext>
                </a:extLst>
              </p:cNvPr>
              <p:cNvSpPr txBox="1"/>
              <p:nvPr/>
            </p:nvSpPr>
            <p:spPr>
              <a:xfrm>
                <a:off x="494270" y="4372448"/>
                <a:ext cx="3625929" cy="660181"/>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𝐹</m:t>
                          </m:r>
                        </m:e>
                        <m:sub>
                          <m:r>
                            <a:rPr lang="en-US" b="0" i="1" smtClean="0">
                              <a:latin typeface="Cambria Math" panose="02040503050406030204" pitchFamily="18" charset="0"/>
                              <a:cs typeface="Arial" panose="020B0604020202020204" pitchFamily="34" charset="0"/>
                            </a:rPr>
                            <m:t>𝐶</m:t>
                          </m:r>
                        </m:sub>
                      </m:sSub>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𝜇</m:t>
                          </m:r>
                        </m:e>
                        <m:sub>
                          <m:r>
                            <a:rPr lang="en-US" b="0" i="1" smtClean="0">
                              <a:latin typeface="Cambria Math" panose="02040503050406030204" pitchFamily="18" charset="0"/>
                              <a:cs typeface="Arial" panose="020B0604020202020204" pitchFamily="34" charset="0"/>
                            </a:rPr>
                            <m:t>𝐶</m:t>
                          </m:r>
                        </m:sub>
                      </m:sSub>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𝐹</m:t>
                          </m:r>
                        </m:e>
                        <m:sub>
                          <m:r>
                            <a:rPr lang="en-US" i="1">
                              <a:latin typeface="Cambria Math" panose="02040503050406030204" pitchFamily="18" charset="0"/>
                              <a:cs typeface="Arial" panose="020B0604020202020204" pitchFamily="34" charset="0"/>
                            </a:rPr>
                            <m:t>𝑔𝑛</m:t>
                          </m:r>
                        </m:sub>
                      </m:sSub>
                      <m:r>
                        <a:rPr lang="en-US" b="0" i="1" smtClean="0">
                          <a:latin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𝜇</m:t>
                          </m:r>
                        </m:e>
                        <m:sub>
                          <m:r>
                            <a:rPr lang="en-US" i="1">
                              <a:latin typeface="Cambria Math" panose="02040503050406030204" pitchFamily="18" charset="0"/>
                              <a:cs typeface="Arial" panose="020B0604020202020204" pitchFamily="34" charset="0"/>
                            </a:rPr>
                            <m:t>𝐶</m:t>
                          </m:r>
                        </m:sub>
                      </m:sSub>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cs typeface="Arial" panose="020B0604020202020204" pitchFamily="34" charset="0"/>
                        </a:rPr>
                        <m:t>𝑔</m:t>
                      </m:r>
                      <m:r>
                        <a:rPr lang="en-US" b="0" i="1" smtClean="0">
                          <a:latin typeface="Cambria Math" panose="02040503050406030204" pitchFamily="18" charset="0"/>
                          <a:cs typeface="Arial" panose="020B0604020202020204" pitchFamily="34" charset="0"/>
                        </a:rPr>
                        <m:t>𝑅</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4</m:t>
                          </m:r>
                        </m:num>
                        <m:den>
                          <m:r>
                            <a:rPr lang="en-US" i="1">
                              <a:latin typeface="Cambria Math" panose="02040503050406030204" pitchFamily="18" charset="0"/>
                              <a:cs typeface="Arial" panose="020B0604020202020204" pitchFamily="34" charset="0"/>
                            </a:rPr>
                            <m:t>3</m:t>
                          </m:r>
                        </m:den>
                      </m:f>
                      <m:r>
                        <a:rPr lang="en-US" i="1">
                          <a:latin typeface="Cambria Math" panose="02040503050406030204" pitchFamily="18" charset="0"/>
                          <a:ea typeface="Cambria Math" panose="02040503050406030204" pitchFamily="18" charset="0"/>
                          <a:cs typeface="Arial" panose="020B0604020202020204" pitchFamily="34" charset="0"/>
                        </a:rPr>
                        <m:t>𝜋</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𝐷</m:t>
                                  </m:r>
                                </m:num>
                                <m:den>
                                  <m:r>
                                    <a:rPr lang="en-US" i="1">
                                      <a:latin typeface="Cambria Math" panose="02040503050406030204" pitchFamily="18" charset="0"/>
                                      <a:ea typeface="Cambria Math" panose="02040503050406030204" pitchFamily="18" charset="0"/>
                                      <a:cs typeface="Arial" panose="020B0604020202020204" pitchFamily="34" charset="0"/>
                                    </a:rPr>
                                    <m:t>2</m:t>
                                  </m:r>
                                </m:den>
                              </m:f>
                            </m:e>
                          </m:d>
                        </m:e>
                        <m:sup>
                          <m:r>
                            <a:rPr lang="en-US" i="1">
                              <a:latin typeface="Cambria Math" panose="02040503050406030204" pitchFamily="18" charset="0"/>
                              <a:ea typeface="Cambria Math" panose="02040503050406030204" pitchFamily="18" charset="0"/>
                              <a:cs typeface="Arial" panose="020B0604020202020204" pitchFamily="34" charset="0"/>
                            </a:rPr>
                            <m:t>3</m:t>
                          </m:r>
                        </m:sup>
                      </m:sSup>
                      <m:r>
                        <a:rPr lang="en-US" b="0" i="1" smtClean="0">
                          <a:latin typeface="Cambria Math" panose="02040503050406030204" pitchFamily="18" charset="0"/>
                          <a:ea typeface="Cambria Math" panose="02040503050406030204" pitchFamily="18" charset="0"/>
                          <a:cs typeface="Arial" panose="020B0604020202020204" pitchFamily="34" charset="0"/>
                        </a:rPr>
                        <m:t>𝑐𝑜𝑠</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𝜃</m:t>
                          </m:r>
                        </m:e>
                        <m:sub>
                          <m:r>
                            <a:rPr lang="en-US" i="1">
                              <a:latin typeface="Cambria Math" panose="02040503050406030204" pitchFamily="18" charset="0"/>
                              <a:cs typeface="Arial" panose="020B0604020202020204" pitchFamily="34" charset="0"/>
                            </a:rPr>
                            <m:t>𝑟</m:t>
                          </m:r>
                        </m:sub>
                      </m:sSub>
                    </m:oMath>
                  </m:oMathPara>
                </a14:m>
                <a:endParaRPr lang="en-US" b="0" dirty="0">
                  <a:latin typeface="Arial" panose="020B0604020202020204" pitchFamily="34" charset="0"/>
                  <a:cs typeface="Arial" panose="020B0604020202020204" pitchFamily="34" charset="0"/>
                </a:endParaRPr>
              </a:p>
            </p:txBody>
          </p:sp>
        </mc:Choice>
        <mc:Fallback xmlns="">
          <p:sp>
            <p:nvSpPr>
              <p:cNvPr id="96" name="TextBox 95">
                <a:extLst>
                  <a:ext uri="{FF2B5EF4-FFF2-40B4-BE49-F238E27FC236}">
                    <a16:creationId xmlns:a16="http://schemas.microsoft.com/office/drawing/2014/main" id="{3476096A-D4F8-204C-A423-0B2836DFBC06}"/>
                  </a:ext>
                </a:extLst>
              </p:cNvPr>
              <p:cNvSpPr txBox="1">
                <a:spLocks noRot="1" noChangeAspect="1" noMove="1" noResize="1" noEditPoints="1" noAdjustHandles="1" noChangeArrowheads="1" noChangeShapeType="1" noTextEdit="1"/>
              </p:cNvSpPr>
              <p:nvPr/>
            </p:nvSpPr>
            <p:spPr>
              <a:xfrm>
                <a:off x="494270" y="4372448"/>
                <a:ext cx="3625929" cy="660181"/>
              </a:xfrm>
              <a:prstGeom prst="rect">
                <a:avLst/>
              </a:prstGeom>
              <a:blipFill>
                <a:blip r:embed="rId5"/>
                <a:stretch>
                  <a:fillRect l="-697" b="-5660"/>
                </a:stretch>
              </a:blipFill>
            </p:spPr>
            <p:txBody>
              <a:bodyPr/>
              <a:lstStyle/>
              <a:p>
                <a:r>
                  <a:rPr lang="en-US">
                    <a:noFill/>
                  </a:rPr>
                  <a:t> </a:t>
                </a:r>
              </a:p>
            </p:txBody>
          </p:sp>
        </mc:Fallback>
      </mc:AlternateContent>
      <p:sp>
        <p:nvSpPr>
          <p:cNvPr id="98" name="TextBox 97">
            <a:extLst>
              <a:ext uri="{FF2B5EF4-FFF2-40B4-BE49-F238E27FC236}">
                <a16:creationId xmlns:a16="http://schemas.microsoft.com/office/drawing/2014/main" id="{1F614967-49BC-EB48-BA94-06593D155149}"/>
              </a:ext>
            </a:extLst>
          </p:cNvPr>
          <p:cNvSpPr txBox="1"/>
          <p:nvPr/>
        </p:nvSpPr>
        <p:spPr>
          <a:xfrm>
            <a:off x="460357" y="5161018"/>
            <a:ext cx="10994357" cy="697499"/>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Threshold conditions are characterized by force balance F</a:t>
            </a:r>
            <a:r>
              <a:rPr lang="en-US" baseline="-25000" dirty="0">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F</a:t>
            </a:r>
            <a:r>
              <a:rPr lang="en-US" baseline="-25000" dirty="0" err="1">
                <a:latin typeface="Arial" panose="020B0604020202020204" pitchFamily="34" charset="0"/>
                <a:cs typeface="Arial" panose="020B0604020202020204" pitchFamily="34" charset="0"/>
              </a:rPr>
              <a:t>gt</a:t>
            </a:r>
            <a:r>
              <a:rPr lang="en-US" dirty="0">
                <a:latin typeface="Arial" panose="020B0604020202020204" pitchFamily="34" charset="0"/>
                <a:cs typeface="Arial" panose="020B0604020202020204" pitchFamily="34" charset="0"/>
              </a:rPr>
              <a:t> along the sides of the sediment pile. </a:t>
            </a:r>
          </a:p>
          <a:p>
            <a:pPr algn="l">
              <a:lnSpc>
                <a:spcPct val="114000"/>
              </a:lnSpc>
            </a:pPr>
            <a:r>
              <a:rPr lang="en-US" dirty="0">
                <a:latin typeface="Arial" panose="020B0604020202020204" pitchFamily="34" charset="0"/>
                <a:cs typeface="Arial" panose="020B0604020202020204" pitchFamily="34" charset="0"/>
              </a:rPr>
              <a:t>If F</a:t>
            </a:r>
            <a:r>
              <a:rPr lang="en-US" baseline="-25000" dirty="0">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 &gt; </a:t>
            </a:r>
            <a:r>
              <a:rPr lang="en-US" dirty="0" err="1">
                <a:latin typeface="Arial" panose="020B0604020202020204" pitchFamily="34" charset="0"/>
                <a:cs typeface="Arial" panose="020B0604020202020204" pitchFamily="34" charset="0"/>
              </a:rPr>
              <a:t>F</a:t>
            </a:r>
            <a:r>
              <a:rPr lang="en-US" baseline="-25000" dirty="0" err="1">
                <a:latin typeface="Arial" panose="020B0604020202020204" pitchFamily="34" charset="0"/>
                <a:cs typeface="Arial" panose="020B0604020202020204" pitchFamily="34" charset="0"/>
              </a:rPr>
              <a:t>gt</a:t>
            </a:r>
            <a:r>
              <a:rPr lang="en-US" dirty="0">
                <a:latin typeface="Arial" panose="020B0604020202020204" pitchFamily="34" charset="0"/>
                <a:cs typeface="Arial" panose="020B0604020202020204" pitchFamily="34" charset="0"/>
              </a:rPr>
              <a:t>, there is no failure, if F</a:t>
            </a:r>
            <a:r>
              <a:rPr lang="en-US" baseline="-25000" dirty="0">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 &lt; </a:t>
            </a:r>
            <a:r>
              <a:rPr lang="en-US" dirty="0" err="1">
                <a:latin typeface="Arial" panose="020B0604020202020204" pitchFamily="34" charset="0"/>
                <a:cs typeface="Arial" panose="020B0604020202020204" pitchFamily="34" charset="0"/>
              </a:rPr>
              <a:t>F</a:t>
            </a:r>
            <a:r>
              <a:rPr lang="en-US" baseline="-25000" dirty="0" err="1">
                <a:latin typeface="Arial" panose="020B0604020202020204" pitchFamily="34" charset="0"/>
                <a:cs typeface="Arial" panose="020B0604020202020204" pitchFamily="34" charset="0"/>
              </a:rPr>
              <a:t>gt</a:t>
            </a:r>
            <a:r>
              <a:rPr lang="en-US" baseline="-250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there is side failure. </a:t>
            </a:r>
          </a:p>
        </p:txBody>
      </p:sp>
      <mc:AlternateContent xmlns:mc="http://schemas.openxmlformats.org/markup-compatibility/2006" xmlns:a14="http://schemas.microsoft.com/office/drawing/2010/main">
        <mc:Choice Requires="a14">
          <p:sp>
            <p:nvSpPr>
              <p:cNvPr id="99" name="TextBox 98">
                <a:extLst>
                  <a:ext uri="{FF2B5EF4-FFF2-40B4-BE49-F238E27FC236}">
                    <a16:creationId xmlns:a16="http://schemas.microsoft.com/office/drawing/2014/main" id="{11D13993-BD7B-914F-A4DF-61F828362BA4}"/>
                  </a:ext>
                </a:extLst>
              </p:cNvPr>
              <p:cNvSpPr txBox="1"/>
              <p:nvPr/>
            </p:nvSpPr>
            <p:spPr>
              <a:xfrm>
                <a:off x="494270" y="5974293"/>
                <a:ext cx="4189737" cy="518540"/>
              </a:xfrm>
              <a:prstGeom prst="rect">
                <a:avLst/>
              </a:prstGeom>
              <a:noFill/>
            </p:spPr>
            <p:txBody>
              <a:bodyPr wrap="none" lIns="0" tIns="0" rIns="0" bIns="0" rtlCol="0">
                <a:spAutoFit/>
              </a:bodyPr>
              <a:lstStyle/>
              <a:p>
                <a:pPr>
                  <a:lnSpc>
                    <a:spcPct val="114000"/>
                  </a:lnSpc>
                </a:pPr>
                <a14:m>
                  <m:oMath xmlns:m="http://schemas.openxmlformats.org/officeDocument/2006/math">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cs typeface="Arial" panose="020B0604020202020204" pitchFamily="34" charset="0"/>
                      </a:rPr>
                      <m:t>𝑔</m:t>
                    </m:r>
                    <m:r>
                      <a:rPr lang="en-US" b="0" i="1" smtClean="0">
                        <a:latin typeface="Cambria Math" panose="02040503050406030204" pitchFamily="18" charset="0"/>
                        <a:cs typeface="Arial" panose="020B0604020202020204" pitchFamily="34" charset="0"/>
                      </a:rPr>
                      <m:t>𝑅</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4</m:t>
                        </m:r>
                      </m:num>
                      <m:den>
                        <m:r>
                          <a:rPr lang="en-US" i="1">
                            <a:latin typeface="Cambria Math" panose="02040503050406030204" pitchFamily="18" charset="0"/>
                            <a:cs typeface="Arial" panose="020B0604020202020204" pitchFamily="34" charset="0"/>
                          </a:rPr>
                          <m:t>3</m:t>
                        </m:r>
                      </m:den>
                    </m:f>
                    <m:r>
                      <a:rPr lang="en-US" i="1">
                        <a:latin typeface="Cambria Math" panose="02040503050406030204" pitchFamily="18" charset="0"/>
                        <a:ea typeface="Cambria Math" panose="02040503050406030204" pitchFamily="18" charset="0"/>
                        <a:cs typeface="Arial" panose="020B0604020202020204" pitchFamily="34" charset="0"/>
                      </a:rPr>
                      <m:t>𝜋</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𝐷</m:t>
                                </m:r>
                              </m:num>
                              <m:den>
                                <m:r>
                                  <a:rPr lang="en-US" i="1">
                                    <a:latin typeface="Cambria Math" panose="02040503050406030204" pitchFamily="18" charset="0"/>
                                    <a:ea typeface="Cambria Math" panose="02040503050406030204" pitchFamily="18" charset="0"/>
                                    <a:cs typeface="Arial" panose="020B0604020202020204" pitchFamily="34" charset="0"/>
                                  </a:rPr>
                                  <m:t>2</m:t>
                                </m:r>
                              </m:den>
                            </m:f>
                          </m:e>
                        </m:d>
                      </m:e>
                      <m:sup>
                        <m:r>
                          <a:rPr lang="en-US" i="1">
                            <a:latin typeface="Cambria Math" panose="02040503050406030204" pitchFamily="18" charset="0"/>
                            <a:ea typeface="Cambria Math" panose="02040503050406030204" pitchFamily="18" charset="0"/>
                            <a:cs typeface="Arial" panose="020B0604020202020204" pitchFamily="34" charset="0"/>
                          </a:rPr>
                          <m:t>3</m:t>
                        </m:r>
                      </m:sup>
                    </m:sSup>
                    <m:r>
                      <a:rPr lang="en-US" i="1">
                        <a:latin typeface="Cambria Math" panose="02040503050406030204" pitchFamily="18" charset="0"/>
                        <a:cs typeface="Arial" panose="020B0604020202020204" pitchFamily="34" charset="0"/>
                      </a:rPr>
                      <m:t>𝑠𝑖𝑛</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𝜃</m:t>
                        </m:r>
                      </m:e>
                      <m:sub>
                        <m:r>
                          <a:rPr lang="en-US" i="1">
                            <a:latin typeface="Cambria Math" panose="02040503050406030204" pitchFamily="18" charset="0"/>
                            <a:cs typeface="Arial" panose="020B0604020202020204" pitchFamily="34" charset="0"/>
                          </a:rPr>
                          <m:t>𝑟</m:t>
                        </m:r>
                      </m:sub>
                    </m:sSub>
                  </m:oMath>
                </a14:m>
                <a:r>
                  <a:rPr lang="en-US" dirty="0">
                    <a:cs typeface="Arial" panose="020B0604020202020204" pitchFamily="34" charset="0"/>
                  </a:rPr>
                  <a:t> </a:t>
                </a:r>
                <a14:m>
                  <m:oMath xmlns:m="http://schemas.openxmlformats.org/officeDocument/2006/math">
                    <m:r>
                      <a:rPr lang="en-US" i="1">
                        <a:latin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𝜇</m:t>
                        </m:r>
                      </m:e>
                      <m:sub>
                        <m:r>
                          <a:rPr lang="en-US" i="1">
                            <a:latin typeface="Cambria Math" panose="02040503050406030204" pitchFamily="18" charset="0"/>
                            <a:cs typeface="Arial" panose="020B0604020202020204" pitchFamily="34" charset="0"/>
                          </a:rPr>
                          <m:t>𝐶</m:t>
                        </m:r>
                      </m:sub>
                    </m:sSub>
                    <m:r>
                      <a:rPr lang="en-US" i="1">
                        <a:latin typeface="Cambria Math" panose="02040503050406030204" pitchFamily="18" charset="0"/>
                        <a:ea typeface="Cambria Math" panose="02040503050406030204" pitchFamily="18" charset="0"/>
                        <a:cs typeface="Arial" panose="020B0604020202020204" pitchFamily="34" charset="0"/>
                      </a:rPr>
                      <m:t>𝜌</m:t>
                    </m:r>
                    <m:r>
                      <a:rPr lang="en-US" i="1">
                        <a:latin typeface="Cambria Math" panose="02040503050406030204" pitchFamily="18" charset="0"/>
                        <a:cs typeface="Arial" panose="020B0604020202020204" pitchFamily="34" charset="0"/>
                      </a:rPr>
                      <m:t>𝑔𝑅</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4</m:t>
                        </m:r>
                      </m:num>
                      <m:den>
                        <m:r>
                          <a:rPr lang="en-US" i="1">
                            <a:latin typeface="Cambria Math" panose="02040503050406030204" pitchFamily="18" charset="0"/>
                            <a:cs typeface="Arial" panose="020B0604020202020204" pitchFamily="34" charset="0"/>
                          </a:rPr>
                          <m:t>3</m:t>
                        </m:r>
                      </m:den>
                    </m:f>
                    <m:r>
                      <a:rPr lang="en-US" i="1">
                        <a:latin typeface="Cambria Math" panose="02040503050406030204" pitchFamily="18" charset="0"/>
                        <a:ea typeface="Cambria Math" panose="02040503050406030204" pitchFamily="18" charset="0"/>
                        <a:cs typeface="Arial" panose="020B0604020202020204" pitchFamily="34" charset="0"/>
                      </a:rPr>
                      <m:t>𝜋</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𝐷</m:t>
                                </m:r>
                              </m:num>
                              <m:den>
                                <m:r>
                                  <a:rPr lang="en-US" i="1">
                                    <a:latin typeface="Cambria Math" panose="02040503050406030204" pitchFamily="18" charset="0"/>
                                    <a:ea typeface="Cambria Math" panose="02040503050406030204" pitchFamily="18" charset="0"/>
                                    <a:cs typeface="Arial" panose="020B0604020202020204" pitchFamily="34" charset="0"/>
                                  </a:rPr>
                                  <m:t>2</m:t>
                                </m:r>
                              </m:den>
                            </m:f>
                          </m:e>
                        </m:d>
                      </m:e>
                      <m:sup>
                        <m:r>
                          <a:rPr lang="en-US" i="1">
                            <a:latin typeface="Cambria Math" panose="02040503050406030204" pitchFamily="18" charset="0"/>
                            <a:ea typeface="Cambria Math" panose="02040503050406030204" pitchFamily="18" charset="0"/>
                            <a:cs typeface="Arial" panose="020B0604020202020204" pitchFamily="34" charset="0"/>
                          </a:rPr>
                          <m:t>3</m:t>
                        </m:r>
                      </m:sup>
                    </m:sSup>
                    <m:r>
                      <a:rPr lang="en-US" i="1">
                        <a:latin typeface="Cambria Math" panose="02040503050406030204" pitchFamily="18" charset="0"/>
                        <a:ea typeface="Cambria Math" panose="02040503050406030204" pitchFamily="18" charset="0"/>
                        <a:cs typeface="Arial" panose="020B0604020202020204" pitchFamily="34" charset="0"/>
                      </a:rPr>
                      <m:t>𝑐𝑜𝑠</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𝜃</m:t>
                        </m:r>
                      </m:e>
                      <m:sub>
                        <m:r>
                          <a:rPr lang="en-US" i="1">
                            <a:latin typeface="Cambria Math" panose="02040503050406030204" pitchFamily="18" charset="0"/>
                            <a:cs typeface="Arial" panose="020B0604020202020204" pitchFamily="34" charset="0"/>
                          </a:rPr>
                          <m:t>𝑟</m:t>
                        </m:r>
                      </m:sub>
                    </m:sSub>
                  </m:oMath>
                </a14:m>
                <a:endParaRPr lang="en-US" b="0" dirty="0">
                  <a:latin typeface="Arial" panose="020B0604020202020204" pitchFamily="34" charset="0"/>
                  <a:cs typeface="Arial" panose="020B0604020202020204" pitchFamily="34" charset="0"/>
                </a:endParaRPr>
              </a:p>
            </p:txBody>
          </p:sp>
        </mc:Choice>
        <mc:Fallback xmlns="">
          <p:sp>
            <p:nvSpPr>
              <p:cNvPr id="99" name="TextBox 98">
                <a:extLst>
                  <a:ext uri="{FF2B5EF4-FFF2-40B4-BE49-F238E27FC236}">
                    <a16:creationId xmlns:a16="http://schemas.microsoft.com/office/drawing/2014/main" id="{11D13993-BD7B-914F-A4DF-61F828362BA4}"/>
                  </a:ext>
                </a:extLst>
              </p:cNvPr>
              <p:cNvSpPr txBox="1">
                <a:spLocks noRot="1" noChangeAspect="1" noMove="1" noResize="1" noEditPoints="1" noAdjustHandles="1" noChangeArrowheads="1" noChangeShapeType="1" noTextEdit="1"/>
              </p:cNvSpPr>
              <p:nvPr/>
            </p:nvSpPr>
            <p:spPr>
              <a:xfrm>
                <a:off x="494270" y="5974293"/>
                <a:ext cx="4189737" cy="518540"/>
              </a:xfrm>
              <a:prstGeom prst="rect">
                <a:avLst/>
              </a:prstGeom>
              <a:blipFill>
                <a:blip r:embed="rId6"/>
                <a:stretch>
                  <a:fillRect l="-1813" b="-7143"/>
                </a:stretch>
              </a:blipFill>
            </p:spPr>
            <p:txBody>
              <a:bodyPr/>
              <a:lstStyle/>
              <a:p>
                <a:r>
                  <a:rPr lang="en-US">
                    <a:noFill/>
                  </a:rPr>
                  <a:t> </a:t>
                </a:r>
              </a:p>
            </p:txBody>
          </p:sp>
        </mc:Fallback>
      </mc:AlternateContent>
      <p:sp>
        <p:nvSpPr>
          <p:cNvPr id="101" name="TextBox 100">
            <a:extLst>
              <a:ext uri="{FF2B5EF4-FFF2-40B4-BE49-F238E27FC236}">
                <a16:creationId xmlns:a16="http://schemas.microsoft.com/office/drawing/2014/main" id="{5FF29A58-459B-8A41-983F-42468E1C5F60}"/>
              </a:ext>
            </a:extLst>
          </p:cNvPr>
          <p:cNvSpPr txBox="1"/>
          <p:nvPr/>
        </p:nvSpPr>
        <p:spPr>
          <a:xfrm>
            <a:off x="5130560" y="6088788"/>
            <a:ext cx="593853" cy="381708"/>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or</a:t>
            </a:r>
          </a:p>
        </p:txBody>
      </p:sp>
      <p:cxnSp>
        <p:nvCxnSpPr>
          <p:cNvPr id="7" name="Straight Connector 6">
            <a:extLst>
              <a:ext uri="{FF2B5EF4-FFF2-40B4-BE49-F238E27FC236}">
                <a16:creationId xmlns:a16="http://schemas.microsoft.com/office/drawing/2014/main" id="{610C1D90-40A9-444B-9F4B-AD23E274C5E9}"/>
              </a:ext>
            </a:extLst>
          </p:cNvPr>
          <p:cNvCxnSpPr/>
          <p:nvPr/>
        </p:nvCxnSpPr>
        <p:spPr>
          <a:xfrm flipV="1">
            <a:off x="460357" y="6042709"/>
            <a:ext cx="1337463" cy="450124"/>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648D3B89-E3F7-FA4F-BAF2-97DE2DED116D}"/>
              </a:ext>
            </a:extLst>
          </p:cNvPr>
          <p:cNvCxnSpPr/>
          <p:nvPr/>
        </p:nvCxnSpPr>
        <p:spPr>
          <a:xfrm flipV="1">
            <a:off x="2651550" y="6088788"/>
            <a:ext cx="1337463" cy="450124"/>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B79580E-4B68-D442-AAEB-A3349F36DC09}"/>
                  </a:ext>
                </a:extLst>
              </p:cNvPr>
              <p:cNvSpPr txBox="1"/>
              <p:nvPr/>
            </p:nvSpPr>
            <p:spPr>
              <a:xfrm>
                <a:off x="5957535" y="6104831"/>
                <a:ext cx="1189236" cy="315792"/>
              </a:xfrm>
              <a:prstGeom prst="rect">
                <a:avLst/>
              </a:prstGeom>
              <a:solidFill>
                <a:schemeClr val="accent4">
                  <a:lumMod val="20000"/>
                  <a:lumOff val="80000"/>
                </a:schemeClr>
              </a:solid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𝜇</m:t>
                          </m:r>
                        </m:e>
                        <m:sub>
                          <m:r>
                            <a:rPr lang="en-US" b="0" i="1" smtClean="0">
                              <a:latin typeface="Cambria Math" panose="02040503050406030204" pitchFamily="18" charset="0"/>
                              <a:cs typeface="Arial" panose="020B0604020202020204" pitchFamily="34" charset="0"/>
                            </a:rPr>
                            <m:t>𝐶</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𝑡𝑎𝑛</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𝜃</m:t>
                          </m:r>
                        </m:e>
                        <m:sub>
                          <m:r>
                            <a:rPr lang="en-US" b="0" i="1" smtClean="0">
                              <a:latin typeface="Cambria Math" panose="02040503050406030204" pitchFamily="18" charset="0"/>
                              <a:cs typeface="Arial" panose="020B0604020202020204" pitchFamily="34" charset="0"/>
                            </a:rPr>
                            <m:t>𝑟</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19" name="TextBox 18">
                <a:extLst>
                  <a:ext uri="{FF2B5EF4-FFF2-40B4-BE49-F238E27FC236}">
                    <a16:creationId xmlns:a16="http://schemas.microsoft.com/office/drawing/2014/main" id="{DB79580E-4B68-D442-AAEB-A3349F36DC09}"/>
                  </a:ext>
                </a:extLst>
              </p:cNvPr>
              <p:cNvSpPr txBox="1">
                <a:spLocks noRot="1" noChangeAspect="1" noMove="1" noResize="1" noEditPoints="1" noAdjustHandles="1" noChangeArrowheads="1" noChangeShapeType="1" noTextEdit="1"/>
              </p:cNvSpPr>
              <p:nvPr/>
            </p:nvSpPr>
            <p:spPr>
              <a:xfrm>
                <a:off x="5957535" y="6104831"/>
                <a:ext cx="1189236" cy="315792"/>
              </a:xfrm>
              <a:prstGeom prst="rect">
                <a:avLst/>
              </a:prstGeom>
              <a:blipFill>
                <a:blip r:embed="rId7"/>
                <a:stretch>
                  <a:fillRect l="-3158" b="-11538"/>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A13742D2-39BC-F042-BB7F-FB422C5E419B}"/>
              </a:ext>
            </a:extLst>
          </p:cNvPr>
          <p:cNvSpPr txBox="1"/>
          <p:nvPr/>
        </p:nvSpPr>
        <p:spPr>
          <a:xfrm>
            <a:off x="7934054" y="5634681"/>
            <a:ext cx="2882473"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for natural sediments</a:t>
            </a:r>
          </a:p>
        </p:txBody>
      </p: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E7BFC5BF-3AC4-BD4C-9E9E-4DB9B6DD7584}"/>
                  </a:ext>
                </a:extLst>
              </p:cNvPr>
              <p:cNvSpPr txBox="1"/>
              <p:nvPr/>
            </p:nvSpPr>
            <p:spPr>
              <a:xfrm>
                <a:off x="7976437" y="6060308"/>
                <a:ext cx="1492140"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𝜃</m:t>
                          </m:r>
                        </m:e>
                        <m:sub>
                          <m:r>
                            <a:rPr lang="en-US" b="0" i="1" smtClean="0">
                              <a:latin typeface="Cambria Math" panose="02040503050406030204" pitchFamily="18" charset="0"/>
                              <a:cs typeface="Arial" panose="020B0604020202020204" pitchFamily="34" charset="0"/>
                            </a:rPr>
                            <m:t>𝑟</m:t>
                          </m:r>
                          <m:r>
                            <a:rPr lang="en-US" b="0" i="1" smtClean="0">
                              <a:latin typeface="Cambria Math" panose="02040503050406030204" pitchFamily="18" charset="0"/>
                              <a:cs typeface="Arial" panose="020B0604020202020204" pitchFamily="34" charset="0"/>
                            </a:rPr>
                            <m:t> </m:t>
                          </m:r>
                        </m:sub>
                      </m:sSub>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ea typeface="Cambria Math" panose="02040503050406030204" pitchFamily="18" charset="0"/>
                          <a:cs typeface="Arial" panose="020B0604020202020204" pitchFamily="34" charset="0"/>
                        </a:rPr>
                        <m:t>30° ~ 40°</m:t>
                      </m:r>
                    </m:oMath>
                  </m:oMathPara>
                </a14:m>
                <a:endParaRPr lang="en-US" dirty="0">
                  <a:latin typeface="Arial" panose="020B0604020202020204" pitchFamily="34" charset="0"/>
                  <a:cs typeface="Arial" panose="020B0604020202020204" pitchFamily="34" charset="0"/>
                </a:endParaRPr>
              </a:p>
            </p:txBody>
          </p:sp>
        </mc:Choice>
        <mc:Fallback xmlns="">
          <p:sp>
            <p:nvSpPr>
              <p:cNvPr id="28" name="TextBox 27">
                <a:extLst>
                  <a:ext uri="{FF2B5EF4-FFF2-40B4-BE49-F238E27FC236}">
                    <a16:creationId xmlns:a16="http://schemas.microsoft.com/office/drawing/2014/main" id="{E7BFC5BF-3AC4-BD4C-9E9E-4DB9B6DD7584}"/>
                  </a:ext>
                </a:extLst>
              </p:cNvPr>
              <p:cNvSpPr txBox="1">
                <a:spLocks noRot="1" noChangeAspect="1" noMove="1" noResize="1" noEditPoints="1" noAdjustHandles="1" noChangeArrowheads="1" noChangeShapeType="1" noTextEdit="1"/>
              </p:cNvSpPr>
              <p:nvPr/>
            </p:nvSpPr>
            <p:spPr>
              <a:xfrm>
                <a:off x="7976437" y="6060308"/>
                <a:ext cx="1492140" cy="315792"/>
              </a:xfrm>
              <a:prstGeom prst="rect">
                <a:avLst/>
              </a:prstGeom>
              <a:blipFill>
                <a:blip r:embed="rId8"/>
                <a:stretch>
                  <a:fillRect l="-2521" t="-3846" r="-2521" b="-230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822B4A4A-6293-0146-B0D3-603FD43CDB63}"/>
                  </a:ext>
                </a:extLst>
              </p:cNvPr>
              <p:cNvSpPr txBox="1"/>
              <p:nvPr/>
            </p:nvSpPr>
            <p:spPr>
              <a:xfrm>
                <a:off x="7994157" y="6470496"/>
                <a:ext cx="1711302"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𝜇</m:t>
                          </m:r>
                        </m:e>
                        <m:sub>
                          <m:r>
                            <a:rPr lang="en-US" b="0" i="1" smtClean="0">
                              <a:latin typeface="Cambria Math" panose="02040503050406030204" pitchFamily="18" charset="0"/>
                              <a:cs typeface="Arial" panose="020B0604020202020204" pitchFamily="34" charset="0"/>
                            </a:rPr>
                            <m:t>𝐶</m:t>
                          </m:r>
                        </m:sub>
                      </m:sSub>
                      <m:r>
                        <a:rPr lang="en-US" b="0" i="1" smtClean="0">
                          <a:latin typeface="Cambria Math" panose="02040503050406030204" pitchFamily="18" charset="0"/>
                          <a:cs typeface="Arial" panose="020B0604020202020204" pitchFamily="34" charset="0"/>
                        </a:rPr>
                        <m:t> ~ </m:t>
                      </m:r>
                      <m:r>
                        <a:rPr lang="en-US" b="0" i="1" smtClean="0">
                          <a:latin typeface="Cambria Math" panose="02040503050406030204" pitchFamily="18" charset="0"/>
                          <a:ea typeface="Cambria Math" panose="02040503050406030204" pitchFamily="18" charset="0"/>
                          <a:cs typeface="Arial" panose="020B0604020202020204" pitchFamily="34" charset="0"/>
                        </a:rPr>
                        <m:t>0.58 ~ 0.84</m:t>
                      </m:r>
                    </m:oMath>
                  </m:oMathPara>
                </a14:m>
                <a:endParaRPr lang="en-US" dirty="0">
                  <a:latin typeface="Arial" panose="020B0604020202020204" pitchFamily="34" charset="0"/>
                  <a:cs typeface="Arial" panose="020B0604020202020204" pitchFamily="34" charset="0"/>
                </a:endParaRPr>
              </a:p>
            </p:txBody>
          </p:sp>
        </mc:Choice>
        <mc:Fallback xmlns="">
          <p:sp>
            <p:nvSpPr>
              <p:cNvPr id="103" name="TextBox 102">
                <a:extLst>
                  <a:ext uri="{FF2B5EF4-FFF2-40B4-BE49-F238E27FC236}">
                    <a16:creationId xmlns:a16="http://schemas.microsoft.com/office/drawing/2014/main" id="{822B4A4A-6293-0146-B0D3-603FD43CDB63}"/>
                  </a:ext>
                </a:extLst>
              </p:cNvPr>
              <p:cNvSpPr txBox="1">
                <a:spLocks noRot="1" noChangeAspect="1" noMove="1" noResize="1" noEditPoints="1" noAdjustHandles="1" noChangeArrowheads="1" noChangeShapeType="1" noTextEdit="1"/>
              </p:cNvSpPr>
              <p:nvPr/>
            </p:nvSpPr>
            <p:spPr>
              <a:xfrm>
                <a:off x="7994157" y="6470496"/>
                <a:ext cx="1711302" cy="315792"/>
              </a:xfrm>
              <a:prstGeom prst="rect">
                <a:avLst/>
              </a:prstGeom>
              <a:blipFill>
                <a:blip r:embed="rId9"/>
                <a:stretch>
                  <a:fillRect l="-2206" t="-3846" r="-2206" b="-23077"/>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1086F206-51CA-60C0-3E56-EA66204E0DB0}"/>
              </a:ext>
            </a:extLst>
          </p:cNvPr>
          <p:cNvSpPr txBox="1"/>
          <p:nvPr/>
        </p:nvSpPr>
        <p:spPr>
          <a:xfrm>
            <a:off x="1157548" y="136525"/>
            <a:ext cx="9880796"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Angle of repose, threshold of motion in standing water</a:t>
            </a:r>
          </a:p>
        </p:txBody>
      </p:sp>
    </p:spTree>
    <p:extLst>
      <p:ext uri="{BB962C8B-B14F-4D97-AF65-F5344CB8AC3E}">
        <p14:creationId xmlns:p14="http://schemas.microsoft.com/office/powerpoint/2010/main" val="26174558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1EC0D5-116F-CF9E-7518-5AE9801C683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C17324E-A798-3665-A6FD-C36CF9E19AB6}"/>
              </a:ext>
            </a:extLst>
          </p:cNvPr>
          <p:cNvSpPr>
            <a:spLocks noGrp="1"/>
          </p:cNvSpPr>
          <p:nvPr>
            <p:ph type="sldNum" sz="quarter" idx="12"/>
          </p:nvPr>
        </p:nvSpPr>
        <p:spPr/>
        <p:txBody>
          <a:bodyPr/>
          <a:lstStyle/>
          <a:p>
            <a:fld id="{2386C454-E1BD-5A43-901A-CA4ACC7380B7}" type="slidenum">
              <a:rPr lang="en-US" smtClean="0"/>
              <a:t>7</a:t>
            </a:fld>
            <a:endParaRPr lang="en-US" dirty="0"/>
          </a:p>
        </p:txBody>
      </p:sp>
      <p:sp>
        <p:nvSpPr>
          <p:cNvPr id="5" name="TextBox 4">
            <a:extLst>
              <a:ext uri="{FF2B5EF4-FFF2-40B4-BE49-F238E27FC236}">
                <a16:creationId xmlns:a16="http://schemas.microsoft.com/office/drawing/2014/main" id="{7087038F-9141-030A-EECD-32CBFE0BAC28}"/>
              </a:ext>
            </a:extLst>
          </p:cNvPr>
          <p:cNvSpPr txBox="1"/>
          <p:nvPr/>
        </p:nvSpPr>
        <p:spPr>
          <a:xfrm>
            <a:off x="1472541" y="136525"/>
            <a:ext cx="929837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Modes of sediment transport</a:t>
            </a:r>
          </a:p>
        </p:txBody>
      </p:sp>
      <p:sp>
        <p:nvSpPr>
          <p:cNvPr id="10" name="TextBox 9">
            <a:extLst>
              <a:ext uri="{FF2B5EF4-FFF2-40B4-BE49-F238E27FC236}">
                <a16:creationId xmlns:a16="http://schemas.microsoft.com/office/drawing/2014/main" id="{712AE027-ADE0-F7A0-1DA6-BDAF829E0EFC}"/>
              </a:ext>
            </a:extLst>
          </p:cNvPr>
          <p:cNvSpPr txBox="1"/>
          <p:nvPr/>
        </p:nvSpPr>
        <p:spPr>
          <a:xfrm>
            <a:off x="2030967" y="824467"/>
            <a:ext cx="8431856" cy="2276521"/>
          </a:xfrm>
          <a:prstGeom prst="rect">
            <a:avLst/>
          </a:prstGeom>
          <a:noFill/>
        </p:spPr>
        <p:txBody>
          <a:bodyPr wrap="square" rtlCol="0">
            <a:spAutoFit/>
          </a:bodyPr>
          <a:lstStyle/>
          <a:p>
            <a:pPr algn="ctr">
              <a:lnSpc>
                <a:spcPct val="114000"/>
              </a:lnSpc>
            </a:pPr>
            <a:r>
              <a:rPr lang="en-US" dirty="0">
                <a:latin typeface="Arial" panose="020B0604020202020204" pitchFamily="34" charset="0"/>
                <a:cs typeface="Arial" panose="020B0604020202020204" pitchFamily="34" charset="0"/>
              </a:rPr>
              <a:t>Bedload with relatively coarse particles are transported close to the bed</a:t>
            </a:r>
          </a:p>
          <a:p>
            <a:pPr algn="ctr">
              <a:lnSpc>
                <a:spcPct val="114000"/>
              </a:lnSpc>
            </a:pPr>
            <a:r>
              <a:rPr lang="en-US" dirty="0">
                <a:latin typeface="Arial" panose="020B0604020202020204" pitchFamily="34" charset="0"/>
                <a:cs typeface="Arial" panose="020B0604020202020204" pitchFamily="34" charset="0"/>
              </a:rPr>
              <a:t>Suspended load with particles transported in the water column far from the bed</a:t>
            </a:r>
          </a:p>
          <a:p>
            <a:pPr algn="ctr">
              <a:lnSpc>
                <a:spcPct val="114000"/>
              </a:lnSpc>
            </a:pPr>
            <a:endParaRPr lang="en-US" dirty="0">
              <a:latin typeface="Arial" panose="020B0604020202020204" pitchFamily="34" charset="0"/>
              <a:cs typeface="Arial" panose="020B0604020202020204" pitchFamily="34" charset="0"/>
            </a:endParaRPr>
          </a:p>
          <a:p>
            <a:pPr algn="ctr">
              <a:lnSpc>
                <a:spcPct val="114000"/>
              </a:lnSpc>
            </a:pPr>
            <a:r>
              <a:rPr lang="en-US" dirty="0">
                <a:latin typeface="Arial" panose="020B0604020202020204" pitchFamily="34" charset="0"/>
                <a:cs typeface="Arial" panose="020B0604020202020204" pitchFamily="34" charset="0"/>
              </a:rPr>
              <a:t>Bed material is transported either as bedload or in suspension</a:t>
            </a:r>
          </a:p>
          <a:p>
            <a:pPr algn="ctr">
              <a:lnSpc>
                <a:spcPct val="114000"/>
              </a:lnSpc>
            </a:pPr>
            <a:endParaRPr lang="en-US" dirty="0">
              <a:latin typeface="Arial" panose="020B0604020202020204" pitchFamily="34" charset="0"/>
              <a:cs typeface="Arial" panose="020B0604020202020204" pitchFamily="34" charset="0"/>
            </a:endParaRPr>
          </a:p>
          <a:p>
            <a:pPr algn="ctr">
              <a:lnSpc>
                <a:spcPct val="114000"/>
              </a:lnSpc>
            </a:pPr>
            <a:r>
              <a:rPr lang="en-US" dirty="0">
                <a:latin typeface="Arial" panose="020B0604020202020204" pitchFamily="34" charset="0"/>
                <a:cs typeface="Arial" panose="020B0604020202020204" pitchFamily="34" charset="0"/>
              </a:rPr>
              <a:t>Wash material is preferentially transported in suspension (but there are transitional conditions where it can also be transported as bedload) </a:t>
            </a:r>
          </a:p>
        </p:txBody>
      </p:sp>
    </p:spTree>
    <p:extLst>
      <p:ext uri="{BB962C8B-B14F-4D97-AF65-F5344CB8AC3E}">
        <p14:creationId xmlns:p14="http://schemas.microsoft.com/office/powerpoint/2010/main" val="31453325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8</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472541" y="136525"/>
            <a:ext cx="929837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Critical Shields number</a:t>
            </a:r>
          </a:p>
        </p:txBody>
      </p:sp>
      <p:sp>
        <p:nvSpPr>
          <p:cNvPr id="24" name="TextBox 23">
            <a:extLst>
              <a:ext uri="{FF2B5EF4-FFF2-40B4-BE49-F238E27FC236}">
                <a16:creationId xmlns:a16="http://schemas.microsoft.com/office/drawing/2014/main" id="{974FD763-C9F2-F34A-A70B-502115AE228A}"/>
              </a:ext>
            </a:extLst>
          </p:cNvPr>
          <p:cNvSpPr txBox="1"/>
          <p:nvPr/>
        </p:nvSpPr>
        <p:spPr>
          <a:xfrm>
            <a:off x="463138" y="751888"/>
            <a:ext cx="11435937" cy="1644874"/>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In the 1930s Shields determined experimentally that a minimum (critical) shear stress is required to initiate the motion of grains of a deposit composed of non-cohesive particles. </a:t>
            </a:r>
          </a:p>
          <a:p>
            <a:pPr>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In 1981 </a:t>
            </a:r>
            <a:r>
              <a:rPr lang="en-US" dirty="0" err="1">
                <a:latin typeface="Arial" panose="020B0604020202020204" pitchFamily="34" charset="0"/>
                <a:cs typeface="Arial" panose="020B0604020202020204" pitchFamily="34" charset="0"/>
              </a:rPr>
              <a:t>Brownlie</a:t>
            </a:r>
            <a:r>
              <a:rPr lang="en-US" dirty="0">
                <a:latin typeface="Arial" panose="020B0604020202020204" pitchFamily="34" charset="0"/>
                <a:cs typeface="Arial" panose="020B0604020202020204" pitchFamily="34" charset="0"/>
              </a:rPr>
              <a:t> proposed the following relation for the calculation of the critical Shields number (non-dimensional bed shear stress)</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58AB02C-60B7-F045-B55A-C5C109171533}"/>
                  </a:ext>
                </a:extLst>
              </p:cNvPr>
              <p:cNvSpPr txBox="1"/>
              <p:nvPr/>
            </p:nvSpPr>
            <p:spPr>
              <a:xfrm>
                <a:off x="574589" y="2650524"/>
                <a:ext cx="3807004" cy="402739"/>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cs typeface="Arial" panose="020B0604020202020204" pitchFamily="34" charset="0"/>
                            </a:rPr>
                          </m:ctrlPr>
                        </m:sSub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𝑐</m:t>
                          </m:r>
                        </m:sub>
                        <m:sup>
                          <m:r>
                            <a:rPr lang="en-US" b="0" i="1" smtClean="0">
                              <a:latin typeface="Cambria Math" panose="02040503050406030204" pitchFamily="18" charset="0"/>
                              <a:cs typeface="Arial" panose="020B0604020202020204" pitchFamily="34" charset="0"/>
                            </a:rPr>
                            <m:t>∗</m:t>
                          </m:r>
                        </m:sup>
                      </m:sSubSup>
                      <m:r>
                        <a:rPr lang="en-US" b="0" i="1" smtClean="0">
                          <a:latin typeface="Cambria Math" panose="02040503050406030204" pitchFamily="18" charset="0"/>
                          <a:cs typeface="Arial" panose="020B0604020202020204" pitchFamily="34" charset="0"/>
                        </a:rPr>
                        <m:t>=0.22</m:t>
                      </m:r>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𝑅𝑒</m:t>
                          </m:r>
                        </m:e>
                        <m:sub>
                          <m:r>
                            <a:rPr lang="en-US" b="0" i="1" smtClean="0">
                              <a:latin typeface="Cambria Math" panose="02040503050406030204" pitchFamily="18" charset="0"/>
                              <a:cs typeface="Arial" panose="020B0604020202020204" pitchFamily="34" charset="0"/>
                            </a:rPr>
                            <m:t>𝑝</m:t>
                          </m:r>
                        </m:sub>
                        <m:sup>
                          <m:r>
                            <a:rPr lang="en-US" b="0" i="1" smtClean="0">
                              <a:latin typeface="Cambria Math" panose="02040503050406030204" pitchFamily="18" charset="0"/>
                              <a:cs typeface="Arial" panose="020B0604020202020204" pitchFamily="34" charset="0"/>
                            </a:rPr>
                            <m:t>−0.6</m:t>
                          </m:r>
                        </m:sup>
                      </m:sSubSup>
                      <m:r>
                        <a:rPr lang="en-US" b="0" i="1" smtClean="0">
                          <a:latin typeface="Cambria Math" panose="02040503050406030204" pitchFamily="18" charset="0"/>
                          <a:cs typeface="Arial" panose="020B0604020202020204" pitchFamily="34" charset="0"/>
                        </a:rPr>
                        <m:t>+0.06</m:t>
                      </m:r>
                      <m:r>
                        <a:rPr lang="en-US" b="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r>
                            <a:rPr lang="en-US" b="0" i="1" smtClean="0">
                              <a:latin typeface="Cambria Math" panose="02040503050406030204" pitchFamily="18" charset="0"/>
                              <a:ea typeface="Cambria Math" panose="02040503050406030204" pitchFamily="18" charset="0"/>
                              <a:cs typeface="Arial" panose="020B0604020202020204" pitchFamily="34" charset="0"/>
                            </a:rPr>
                            <m:t>10</m:t>
                          </m:r>
                        </m:e>
                        <m:sup>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r>
                                <a:rPr lang="en-US" b="0" i="1" smtClean="0">
                                  <a:latin typeface="Cambria Math" panose="02040503050406030204" pitchFamily="18" charset="0"/>
                                  <a:ea typeface="Cambria Math" panose="02040503050406030204" pitchFamily="18" charset="0"/>
                                  <a:cs typeface="Arial" panose="020B0604020202020204" pitchFamily="34" charset="0"/>
                                </a:rPr>
                                <m:t>−7.7</m:t>
                              </m:r>
                              <m:sSubSup>
                                <m:sSubSupPr>
                                  <m:ctrlPr>
                                    <a:rPr lang="en-US" i="1">
                                      <a:latin typeface="Cambria Math" panose="02040503050406030204" pitchFamily="18" charset="0"/>
                                      <a:cs typeface="Arial" panose="020B0604020202020204" pitchFamily="34" charset="0"/>
                                    </a:rPr>
                                  </m:ctrlPr>
                                </m:sSubSupPr>
                                <m:e>
                                  <m:r>
                                    <a:rPr lang="en-US" i="1">
                                      <a:latin typeface="Cambria Math" panose="02040503050406030204" pitchFamily="18" charset="0"/>
                                      <a:cs typeface="Arial" panose="020B0604020202020204" pitchFamily="34" charset="0"/>
                                    </a:rPr>
                                    <m:t>𝑅𝑒</m:t>
                                  </m:r>
                                </m:e>
                                <m:sub>
                                  <m:r>
                                    <a:rPr lang="en-US" i="1">
                                      <a:latin typeface="Cambria Math" panose="02040503050406030204" pitchFamily="18" charset="0"/>
                                      <a:cs typeface="Arial" panose="020B0604020202020204" pitchFamily="34" charset="0"/>
                                    </a:rPr>
                                    <m:t>𝑝</m:t>
                                  </m:r>
                                </m:sub>
                                <m:sup>
                                  <m:r>
                                    <a:rPr lang="en-US" i="1">
                                      <a:latin typeface="Cambria Math" panose="02040503050406030204" pitchFamily="18" charset="0"/>
                                      <a:cs typeface="Arial" panose="020B0604020202020204" pitchFamily="34" charset="0"/>
                                    </a:rPr>
                                    <m:t>−0.6</m:t>
                                  </m:r>
                                </m:sup>
                              </m:sSubSup>
                            </m:e>
                          </m:d>
                        </m:sup>
                      </m:sSup>
                    </m:oMath>
                  </m:oMathPara>
                </a14:m>
                <a:endParaRPr lang="en-US" dirty="0">
                  <a:latin typeface="Arial" panose="020B0604020202020204" pitchFamily="34" charset="0"/>
                  <a:cs typeface="Arial" panose="020B0604020202020204" pitchFamily="34" charset="0"/>
                </a:endParaRPr>
              </a:p>
            </p:txBody>
          </p:sp>
        </mc:Choice>
        <mc:Fallback xmlns="">
          <p:sp>
            <p:nvSpPr>
              <p:cNvPr id="2" name="TextBox 1">
                <a:extLst>
                  <a:ext uri="{FF2B5EF4-FFF2-40B4-BE49-F238E27FC236}">
                    <a16:creationId xmlns:a16="http://schemas.microsoft.com/office/drawing/2014/main" id="{258AB02C-60B7-F045-B55A-C5C109171533}"/>
                  </a:ext>
                </a:extLst>
              </p:cNvPr>
              <p:cNvSpPr txBox="1">
                <a:spLocks noRot="1" noChangeAspect="1" noMove="1" noResize="1" noEditPoints="1" noAdjustHandles="1" noChangeArrowheads="1" noChangeShapeType="1" noTextEdit="1"/>
              </p:cNvSpPr>
              <p:nvPr/>
            </p:nvSpPr>
            <p:spPr>
              <a:xfrm>
                <a:off x="574589" y="2650524"/>
                <a:ext cx="3807004" cy="402739"/>
              </a:xfrm>
              <a:prstGeom prst="rect">
                <a:avLst/>
              </a:prstGeom>
              <a:blipFill>
                <a:blip r:embed="rId3"/>
                <a:stretch>
                  <a:fillRect b="-12121"/>
                </a:stretch>
              </a:blipFill>
            </p:spPr>
            <p:txBody>
              <a:bodyPr/>
              <a:lstStyle/>
              <a:p>
                <a:r>
                  <a:rPr lang="en-US">
                    <a:noFill/>
                  </a:rPr>
                  <a:t> </a:t>
                </a:r>
              </a:p>
            </p:txBody>
          </p:sp>
        </mc:Fallback>
      </mc:AlternateContent>
      <p:sp>
        <p:nvSpPr>
          <p:cNvPr id="29" name="TextBox 28">
            <a:extLst>
              <a:ext uri="{FF2B5EF4-FFF2-40B4-BE49-F238E27FC236}">
                <a16:creationId xmlns:a16="http://schemas.microsoft.com/office/drawing/2014/main" id="{270DCF8F-0A18-A640-8821-F9F14B2764D3}"/>
              </a:ext>
            </a:extLst>
          </p:cNvPr>
          <p:cNvSpPr txBox="1"/>
          <p:nvPr/>
        </p:nvSpPr>
        <p:spPr>
          <a:xfrm>
            <a:off x="5912708" y="2564225"/>
            <a:ext cx="813043" cy="381708"/>
          </a:xfrm>
          <a:prstGeom prst="rect">
            <a:avLst/>
          </a:prstGeom>
          <a:noFill/>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where</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69DEB7E0-80CD-4D45-91F3-40D7CE080F12}"/>
                  </a:ext>
                </a:extLst>
              </p:cNvPr>
              <p:cNvSpPr txBox="1"/>
              <p:nvPr/>
            </p:nvSpPr>
            <p:spPr>
              <a:xfrm>
                <a:off x="8853616" y="2396762"/>
                <a:ext cx="1531510" cy="675506"/>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𝑅𝑒</m:t>
                          </m:r>
                        </m:e>
                        <m:sub>
                          <m:r>
                            <a:rPr lang="en-US" b="0" i="1" smtClean="0">
                              <a:latin typeface="Cambria Math" panose="02040503050406030204" pitchFamily="18" charset="0"/>
                              <a:cs typeface="Arial" panose="020B0604020202020204" pitchFamily="34" charset="0"/>
                            </a:rPr>
                            <m:t>𝑝</m:t>
                          </m:r>
                        </m:sub>
                      </m:sSub>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ad>
                            <m:radPr>
                              <m:degHide m:val="on"/>
                              <m:ctrlPr>
                                <a:rPr lang="en-US" b="0" i="1" smtClean="0">
                                  <a:latin typeface="Cambria Math" panose="02040503050406030204" pitchFamily="18" charset="0"/>
                                  <a:cs typeface="Arial" panose="020B0604020202020204" pitchFamily="34" charset="0"/>
                                </a:rPr>
                              </m:ctrlPr>
                            </m:radPr>
                            <m:deg/>
                            <m:e>
                              <m:r>
                                <a:rPr lang="en-US" b="0" i="1" smtClean="0">
                                  <a:latin typeface="Cambria Math" panose="02040503050406030204" pitchFamily="18" charset="0"/>
                                  <a:cs typeface="Arial" panose="020B0604020202020204" pitchFamily="34" charset="0"/>
                                </a:rPr>
                                <m:t>𝑅𝑔𝐷</m:t>
                              </m:r>
                            </m:e>
                          </m:rad>
                          <m:r>
                            <a:rPr lang="en-US" b="0" i="1" smtClean="0">
                              <a:latin typeface="Cambria Math" panose="02040503050406030204" pitchFamily="18" charset="0"/>
                              <a:cs typeface="Arial" panose="020B0604020202020204" pitchFamily="34" charset="0"/>
                            </a:rPr>
                            <m:t>𝐷</m:t>
                          </m:r>
                        </m:num>
                        <m:den>
                          <m:r>
                            <a:rPr lang="en-US" b="0" i="1" smtClean="0">
                              <a:latin typeface="Cambria Math" panose="02040503050406030204" pitchFamily="18" charset="0"/>
                              <a:ea typeface="Cambria Math" panose="02040503050406030204" pitchFamily="18" charset="0"/>
                              <a:cs typeface="Arial" panose="020B0604020202020204" pitchFamily="34" charset="0"/>
                            </a:rPr>
                            <m:t>𝜈</m:t>
                          </m:r>
                        </m:den>
                      </m:f>
                    </m:oMath>
                  </m:oMathPara>
                </a14:m>
                <a:endParaRPr lang="en-US" dirty="0">
                  <a:latin typeface="Arial" panose="020B0604020202020204" pitchFamily="34" charset="0"/>
                  <a:cs typeface="Arial" panose="020B0604020202020204" pitchFamily="34" charset="0"/>
                </a:endParaRPr>
              </a:p>
            </p:txBody>
          </p:sp>
        </mc:Choice>
        <mc:Fallback xmlns="">
          <p:sp>
            <p:nvSpPr>
              <p:cNvPr id="30" name="TextBox 29">
                <a:extLst>
                  <a:ext uri="{FF2B5EF4-FFF2-40B4-BE49-F238E27FC236}">
                    <a16:creationId xmlns:a16="http://schemas.microsoft.com/office/drawing/2014/main" id="{69DEB7E0-80CD-4D45-91F3-40D7CE080F12}"/>
                  </a:ext>
                </a:extLst>
              </p:cNvPr>
              <p:cNvSpPr txBox="1">
                <a:spLocks noRot="1" noChangeAspect="1" noMove="1" noResize="1" noEditPoints="1" noAdjustHandles="1" noChangeArrowheads="1" noChangeShapeType="1" noTextEdit="1"/>
              </p:cNvSpPr>
              <p:nvPr/>
            </p:nvSpPr>
            <p:spPr>
              <a:xfrm>
                <a:off x="8853616" y="2396762"/>
                <a:ext cx="1531510" cy="675506"/>
              </a:xfrm>
              <a:prstGeom prst="rect">
                <a:avLst/>
              </a:prstGeom>
              <a:blipFill>
                <a:blip r:embed="rId4"/>
                <a:stretch>
                  <a:fillRect l="-1639" r="-2459" b="-5556"/>
                </a:stretch>
              </a:blipFill>
            </p:spPr>
            <p:txBody>
              <a:bodyPr/>
              <a:lstStyle/>
              <a:p>
                <a:r>
                  <a:rPr lang="en-US">
                    <a:noFill/>
                  </a:rPr>
                  <a:t> </a:t>
                </a:r>
              </a:p>
            </p:txBody>
          </p:sp>
        </mc:Fallback>
      </mc:AlternateContent>
      <p:sp>
        <p:nvSpPr>
          <p:cNvPr id="105" name="TextBox 104">
            <a:extLst>
              <a:ext uri="{FF2B5EF4-FFF2-40B4-BE49-F238E27FC236}">
                <a16:creationId xmlns:a16="http://schemas.microsoft.com/office/drawing/2014/main" id="{A10300A7-EBE2-054F-9065-68D0BC136DFE}"/>
              </a:ext>
            </a:extLst>
          </p:cNvPr>
          <p:cNvSpPr txBox="1"/>
          <p:nvPr/>
        </p:nvSpPr>
        <p:spPr>
          <a:xfrm>
            <a:off x="574589" y="3326030"/>
            <a:ext cx="11435937" cy="381708"/>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Parker et al. modified this relation in 2003 as follows</a:t>
            </a:r>
          </a:p>
        </p:txBody>
      </p:sp>
      <mc:AlternateContent xmlns:mc="http://schemas.openxmlformats.org/markup-compatibility/2006" xmlns:a14="http://schemas.microsoft.com/office/drawing/2010/main">
        <mc:Choice Requires="a14">
          <p:sp>
            <p:nvSpPr>
              <p:cNvPr id="106" name="TextBox 105">
                <a:extLst>
                  <a:ext uri="{FF2B5EF4-FFF2-40B4-BE49-F238E27FC236}">
                    <a16:creationId xmlns:a16="http://schemas.microsoft.com/office/drawing/2014/main" id="{F36D3B85-09EF-EE4C-8BDD-B2BFDB43AC96}"/>
                  </a:ext>
                </a:extLst>
              </p:cNvPr>
              <p:cNvSpPr txBox="1"/>
              <p:nvPr/>
            </p:nvSpPr>
            <p:spPr>
              <a:xfrm>
                <a:off x="665205" y="3980505"/>
                <a:ext cx="4318683" cy="470257"/>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cs typeface="Arial" panose="020B0604020202020204" pitchFamily="34" charset="0"/>
                            </a:rPr>
                          </m:ctrlPr>
                        </m:sSub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𝑐</m:t>
                          </m:r>
                        </m:sub>
                        <m:sup>
                          <m:r>
                            <a:rPr lang="en-US" b="0" i="1" smtClean="0">
                              <a:latin typeface="Cambria Math" panose="02040503050406030204" pitchFamily="18" charset="0"/>
                              <a:cs typeface="Arial" panose="020B0604020202020204" pitchFamily="34" charset="0"/>
                            </a:rPr>
                            <m:t>∗</m:t>
                          </m:r>
                        </m:sup>
                      </m:sSubSup>
                      <m:r>
                        <a:rPr lang="en-US" b="0" i="1" smtClean="0">
                          <a:latin typeface="Cambria Math" panose="02040503050406030204" pitchFamily="18" charset="0"/>
                          <a:cs typeface="Arial" panose="020B0604020202020204" pitchFamily="34" charset="0"/>
                        </a:rPr>
                        <m:t>=0.5</m:t>
                      </m:r>
                      <m:d>
                        <m:dPr>
                          <m:begChr m:val="["/>
                          <m:endChr m:val="]"/>
                          <m:ctrlPr>
                            <a:rPr lang="en-US" b="0" i="1" smtClean="0">
                              <a:latin typeface="Cambria Math" panose="02040503050406030204" pitchFamily="18" charset="0"/>
                              <a:cs typeface="Arial" panose="020B0604020202020204" pitchFamily="34" charset="0"/>
                            </a:rPr>
                          </m:ctrlPr>
                        </m:dPr>
                        <m:e>
                          <m:r>
                            <a:rPr lang="en-US" i="1">
                              <a:latin typeface="Cambria Math" panose="02040503050406030204" pitchFamily="18" charset="0"/>
                              <a:cs typeface="Arial" panose="020B0604020202020204" pitchFamily="34" charset="0"/>
                            </a:rPr>
                            <m:t>0.22</m:t>
                          </m:r>
                          <m:sSubSup>
                            <m:sSubSupPr>
                              <m:ctrlPr>
                                <a:rPr lang="en-US" i="1">
                                  <a:latin typeface="Cambria Math" panose="02040503050406030204" pitchFamily="18" charset="0"/>
                                  <a:cs typeface="Arial" panose="020B0604020202020204" pitchFamily="34" charset="0"/>
                                </a:rPr>
                              </m:ctrlPr>
                            </m:sSubSupPr>
                            <m:e>
                              <m:r>
                                <a:rPr lang="en-US" i="1">
                                  <a:latin typeface="Cambria Math" panose="02040503050406030204" pitchFamily="18" charset="0"/>
                                  <a:cs typeface="Arial" panose="020B0604020202020204" pitchFamily="34" charset="0"/>
                                </a:rPr>
                                <m:t>𝑅𝑒</m:t>
                              </m:r>
                            </m:e>
                            <m:sub>
                              <m:r>
                                <a:rPr lang="en-US" i="1">
                                  <a:latin typeface="Cambria Math" panose="02040503050406030204" pitchFamily="18" charset="0"/>
                                  <a:cs typeface="Arial" panose="020B0604020202020204" pitchFamily="34" charset="0"/>
                                </a:rPr>
                                <m:t>𝑝</m:t>
                              </m:r>
                            </m:sub>
                            <m:sup>
                              <m:r>
                                <a:rPr lang="en-US" i="1">
                                  <a:latin typeface="Cambria Math" panose="02040503050406030204" pitchFamily="18" charset="0"/>
                                  <a:cs typeface="Arial" panose="020B0604020202020204" pitchFamily="34" charset="0"/>
                                </a:rPr>
                                <m:t>−0.6</m:t>
                              </m:r>
                            </m:sup>
                          </m:sSubSup>
                          <m:r>
                            <a:rPr lang="en-US" i="1">
                              <a:latin typeface="Cambria Math" panose="02040503050406030204" pitchFamily="18" charset="0"/>
                              <a:cs typeface="Arial" panose="020B0604020202020204" pitchFamily="34" charset="0"/>
                            </a:rPr>
                            <m:t>+0.06</m:t>
                          </m:r>
                          <m:r>
                            <a:rPr lang="en-US" i="1">
                              <a:latin typeface="Cambria Math" panose="02040503050406030204" pitchFamily="18" charset="0"/>
                              <a:ea typeface="Cambria Math" panose="02040503050406030204" pitchFamily="18" charset="0"/>
                              <a:cs typeface="Arial" panose="020B0604020202020204" pitchFamily="34" charset="0"/>
                            </a:rPr>
                            <m:t>∙</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r>
                                <a:rPr lang="en-US" i="1">
                                  <a:latin typeface="Cambria Math" panose="02040503050406030204" pitchFamily="18" charset="0"/>
                                  <a:ea typeface="Cambria Math" panose="02040503050406030204" pitchFamily="18" charset="0"/>
                                  <a:cs typeface="Arial" panose="020B0604020202020204" pitchFamily="34" charset="0"/>
                                </a:rPr>
                                <m:t>10</m:t>
                              </m:r>
                            </m:e>
                            <m:sup>
                              <m:d>
                                <m:dPr>
                                  <m:ctrlPr>
                                    <a:rPr lang="en-US" i="1">
                                      <a:latin typeface="Cambria Math" panose="02040503050406030204" pitchFamily="18" charset="0"/>
                                      <a:ea typeface="Cambria Math" panose="02040503050406030204" pitchFamily="18" charset="0"/>
                                      <a:cs typeface="Arial" panose="020B0604020202020204" pitchFamily="34" charset="0"/>
                                    </a:rPr>
                                  </m:ctrlPr>
                                </m:dPr>
                                <m:e>
                                  <m:r>
                                    <a:rPr lang="en-US" i="1">
                                      <a:latin typeface="Cambria Math" panose="02040503050406030204" pitchFamily="18" charset="0"/>
                                      <a:ea typeface="Cambria Math" panose="02040503050406030204" pitchFamily="18" charset="0"/>
                                      <a:cs typeface="Arial" panose="020B0604020202020204" pitchFamily="34" charset="0"/>
                                    </a:rPr>
                                    <m:t>−7.7</m:t>
                                  </m:r>
                                  <m:sSubSup>
                                    <m:sSubSupPr>
                                      <m:ctrlPr>
                                        <a:rPr lang="en-US" i="1">
                                          <a:latin typeface="Cambria Math" panose="02040503050406030204" pitchFamily="18" charset="0"/>
                                          <a:cs typeface="Arial" panose="020B0604020202020204" pitchFamily="34" charset="0"/>
                                        </a:rPr>
                                      </m:ctrlPr>
                                    </m:sSubSupPr>
                                    <m:e>
                                      <m:r>
                                        <a:rPr lang="en-US" i="1">
                                          <a:latin typeface="Cambria Math" panose="02040503050406030204" pitchFamily="18" charset="0"/>
                                          <a:cs typeface="Arial" panose="020B0604020202020204" pitchFamily="34" charset="0"/>
                                        </a:rPr>
                                        <m:t>𝑅𝑒</m:t>
                                      </m:r>
                                    </m:e>
                                    <m:sub>
                                      <m:r>
                                        <a:rPr lang="en-US" i="1">
                                          <a:latin typeface="Cambria Math" panose="02040503050406030204" pitchFamily="18" charset="0"/>
                                          <a:cs typeface="Arial" panose="020B0604020202020204" pitchFamily="34" charset="0"/>
                                        </a:rPr>
                                        <m:t>𝑝</m:t>
                                      </m:r>
                                    </m:sub>
                                    <m:sup>
                                      <m:r>
                                        <a:rPr lang="en-US" i="1">
                                          <a:latin typeface="Cambria Math" panose="02040503050406030204" pitchFamily="18" charset="0"/>
                                          <a:cs typeface="Arial" panose="020B0604020202020204" pitchFamily="34" charset="0"/>
                                        </a:rPr>
                                        <m:t>−0.6</m:t>
                                      </m:r>
                                    </m:sup>
                                  </m:sSubSup>
                                </m:e>
                              </m:d>
                            </m:sup>
                          </m:sSup>
                        </m:e>
                      </m:d>
                    </m:oMath>
                  </m:oMathPara>
                </a14:m>
                <a:endParaRPr lang="en-US" dirty="0">
                  <a:latin typeface="Arial" panose="020B0604020202020204" pitchFamily="34" charset="0"/>
                  <a:cs typeface="Arial" panose="020B0604020202020204" pitchFamily="34" charset="0"/>
                </a:endParaRPr>
              </a:p>
            </p:txBody>
          </p:sp>
        </mc:Choice>
        <mc:Fallback xmlns="">
          <p:sp>
            <p:nvSpPr>
              <p:cNvPr id="106" name="TextBox 105">
                <a:extLst>
                  <a:ext uri="{FF2B5EF4-FFF2-40B4-BE49-F238E27FC236}">
                    <a16:creationId xmlns:a16="http://schemas.microsoft.com/office/drawing/2014/main" id="{F36D3B85-09EF-EE4C-8BDD-B2BFDB43AC96}"/>
                  </a:ext>
                </a:extLst>
              </p:cNvPr>
              <p:cNvSpPr txBox="1">
                <a:spLocks noRot="1" noChangeAspect="1" noMove="1" noResize="1" noEditPoints="1" noAdjustHandles="1" noChangeArrowheads="1" noChangeShapeType="1" noTextEdit="1"/>
              </p:cNvSpPr>
              <p:nvPr/>
            </p:nvSpPr>
            <p:spPr>
              <a:xfrm>
                <a:off x="665205" y="3980505"/>
                <a:ext cx="4318683" cy="470257"/>
              </a:xfrm>
              <a:prstGeom prst="rect">
                <a:avLst/>
              </a:prstGeom>
              <a:blipFill>
                <a:blip r:embed="rId5"/>
                <a:stretch>
                  <a:fillRect b="-2632"/>
                </a:stretch>
              </a:blipFill>
            </p:spPr>
            <p:txBody>
              <a:bodyPr/>
              <a:lstStyle/>
              <a:p>
                <a:r>
                  <a:rPr lang="en-US">
                    <a:noFill/>
                  </a:rPr>
                  <a:t> </a:t>
                </a:r>
              </a:p>
            </p:txBody>
          </p:sp>
        </mc:Fallback>
      </mc:AlternateContent>
      <p:sp>
        <p:nvSpPr>
          <p:cNvPr id="107" name="TextBox 106">
            <a:extLst>
              <a:ext uri="{FF2B5EF4-FFF2-40B4-BE49-F238E27FC236}">
                <a16:creationId xmlns:a16="http://schemas.microsoft.com/office/drawing/2014/main" id="{D72D23DB-49A6-E64D-85EE-F85694513129}"/>
              </a:ext>
            </a:extLst>
          </p:cNvPr>
          <p:cNvSpPr txBox="1"/>
          <p:nvPr/>
        </p:nvSpPr>
        <p:spPr>
          <a:xfrm>
            <a:off x="665205" y="4841190"/>
            <a:ext cx="11435937" cy="381708"/>
          </a:xfrm>
          <a:prstGeom prst="rect">
            <a:avLst/>
          </a:prstGeom>
          <a:noFill/>
        </p:spPr>
        <p:txBody>
          <a:bodyPr wrap="square" rtlCol="0">
            <a:spAutoFit/>
          </a:bodyPr>
          <a:lstStyle/>
          <a:p>
            <a:pPr>
              <a:lnSpc>
                <a:spcPct val="114000"/>
              </a:lnSpc>
            </a:pPr>
            <a:r>
              <a:rPr lang="en-US" dirty="0">
                <a:latin typeface="Arial" panose="020B0604020202020204" pitchFamily="34" charset="0"/>
                <a:cs typeface="Arial" panose="020B0604020202020204" pitchFamily="34" charset="0"/>
              </a:rPr>
              <a:t>For large values of the particle Reynolds number (gravel) the critical Shields number is equal to 0.03</a:t>
            </a:r>
          </a:p>
        </p:txBody>
      </p:sp>
    </p:spTree>
    <p:extLst>
      <p:ext uri="{BB962C8B-B14F-4D97-AF65-F5344CB8AC3E}">
        <p14:creationId xmlns:p14="http://schemas.microsoft.com/office/powerpoint/2010/main" val="15135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DF562FB-3EBB-3B48-A996-8AB4D97B6377}"/>
              </a:ext>
            </a:extLst>
          </p:cNvPr>
          <p:cNvSpPr/>
          <p:nvPr/>
        </p:nvSpPr>
        <p:spPr>
          <a:xfrm>
            <a:off x="6376086" y="1359243"/>
            <a:ext cx="3268246" cy="3534033"/>
          </a:xfrm>
          <a:prstGeom prst="rect">
            <a:avLst/>
          </a:prstGeom>
          <a:solidFill>
            <a:schemeClr val="accent6">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80CFFDF-7059-1F4C-AB6B-D10A5C23D424}"/>
              </a:ext>
            </a:extLst>
          </p:cNvPr>
          <p:cNvSpPr/>
          <p:nvPr/>
        </p:nvSpPr>
        <p:spPr>
          <a:xfrm>
            <a:off x="4250725" y="1359243"/>
            <a:ext cx="2125361" cy="3534033"/>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ED6C04D5-14D1-B64B-BC21-6D66802722EF}"/>
              </a:ext>
            </a:extLst>
          </p:cNvPr>
          <p:cNvSpPr/>
          <p:nvPr/>
        </p:nvSpPr>
        <p:spPr>
          <a:xfrm>
            <a:off x="3002693" y="1359243"/>
            <a:ext cx="1248032" cy="3534033"/>
          </a:xfrm>
          <a:prstGeom prst="rect">
            <a:avLst/>
          </a:prstGeom>
          <a:solidFill>
            <a:schemeClr val="tx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9</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472541" y="136525"/>
            <a:ext cx="929837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Modified Shields diagram</a:t>
            </a:r>
          </a:p>
        </p:txBody>
      </p:sp>
      <p:graphicFrame>
        <p:nvGraphicFramePr>
          <p:cNvPr id="11" name="Chart 10">
            <a:extLst>
              <a:ext uri="{FF2B5EF4-FFF2-40B4-BE49-F238E27FC236}">
                <a16:creationId xmlns:a16="http://schemas.microsoft.com/office/drawing/2014/main" id="{3C65D310-34FA-E440-BCAC-D99E8840DA07}"/>
              </a:ext>
            </a:extLst>
          </p:cNvPr>
          <p:cNvGraphicFramePr>
            <a:graphicFrameLocks/>
          </p:cNvGraphicFramePr>
          <p:nvPr>
            <p:extLst>
              <p:ext uri="{D42A27DB-BD31-4B8C-83A1-F6EECF244321}">
                <p14:modId xmlns:p14="http://schemas.microsoft.com/office/powerpoint/2010/main" val="381174223"/>
              </p:ext>
            </p:extLst>
          </p:nvPr>
        </p:nvGraphicFramePr>
        <p:xfrm>
          <a:off x="2003425" y="1184275"/>
          <a:ext cx="8185150" cy="448945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7">
            <a:extLst>
              <a:ext uri="{FF2B5EF4-FFF2-40B4-BE49-F238E27FC236}">
                <a16:creationId xmlns:a16="http://schemas.microsoft.com/office/drawing/2014/main" id="{68D39385-395B-F148-9F9E-2E7AAD4F6C22}"/>
              </a:ext>
            </a:extLst>
          </p:cNvPr>
          <p:cNvSpPr txBox="1"/>
          <p:nvPr/>
        </p:nvSpPr>
        <p:spPr>
          <a:xfrm>
            <a:off x="4976626" y="2060842"/>
            <a:ext cx="90822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sand</a:t>
            </a:r>
          </a:p>
        </p:txBody>
      </p:sp>
      <p:sp>
        <p:nvSpPr>
          <p:cNvPr id="16" name="TextBox 15">
            <a:extLst>
              <a:ext uri="{FF2B5EF4-FFF2-40B4-BE49-F238E27FC236}">
                <a16:creationId xmlns:a16="http://schemas.microsoft.com/office/drawing/2014/main" id="{8DE3A113-0900-844A-B730-78BBE108779C}"/>
              </a:ext>
            </a:extLst>
          </p:cNvPr>
          <p:cNvSpPr txBox="1"/>
          <p:nvPr/>
        </p:nvSpPr>
        <p:spPr>
          <a:xfrm>
            <a:off x="3033584" y="2060842"/>
            <a:ext cx="593125"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silt</a:t>
            </a:r>
          </a:p>
        </p:txBody>
      </p:sp>
      <p:sp>
        <p:nvSpPr>
          <p:cNvPr id="17" name="TextBox 16">
            <a:extLst>
              <a:ext uri="{FF2B5EF4-FFF2-40B4-BE49-F238E27FC236}">
                <a16:creationId xmlns:a16="http://schemas.microsoft.com/office/drawing/2014/main" id="{745AE49F-0C7E-254A-A6A4-8C3BFE940E55}"/>
              </a:ext>
            </a:extLst>
          </p:cNvPr>
          <p:cNvSpPr txBox="1"/>
          <p:nvPr/>
        </p:nvSpPr>
        <p:spPr>
          <a:xfrm>
            <a:off x="6836374" y="2060842"/>
            <a:ext cx="90822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gravel</a:t>
            </a:r>
          </a:p>
        </p:txBody>
      </p:sp>
      <p:sp>
        <p:nvSpPr>
          <p:cNvPr id="9" name="TextBox 8">
            <a:extLst>
              <a:ext uri="{FF2B5EF4-FFF2-40B4-BE49-F238E27FC236}">
                <a16:creationId xmlns:a16="http://schemas.microsoft.com/office/drawing/2014/main" id="{1E817250-3C3A-BE4F-95CC-C14166F9648C}"/>
              </a:ext>
            </a:extLst>
          </p:cNvPr>
          <p:cNvSpPr txBox="1"/>
          <p:nvPr/>
        </p:nvSpPr>
        <p:spPr>
          <a:xfrm>
            <a:off x="1767017" y="5923863"/>
            <a:ext cx="8431856" cy="726417"/>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values of Re</a:t>
            </a:r>
            <a:r>
              <a:rPr lang="en-US" baseline="-25000" dirty="0">
                <a:latin typeface="Arial" panose="020B0604020202020204" pitchFamily="34" charset="0"/>
                <a:cs typeface="Arial" panose="020B0604020202020204" pitchFamily="34" charset="0"/>
              </a:rPr>
              <a:t>p</a:t>
            </a:r>
            <a:r>
              <a:rPr lang="en-US" dirty="0">
                <a:latin typeface="Arial" panose="020B0604020202020204" pitchFamily="34" charset="0"/>
                <a:cs typeface="Arial" panose="020B0604020202020204" pitchFamily="34" charset="0"/>
              </a:rPr>
              <a:t> at the silt-sand and sand-gravel border are computed with R = 1.65 and </a:t>
            </a:r>
            <a:r>
              <a:rPr lang="en-US" sz="2000" dirty="0">
                <a:latin typeface="Symbol" pitchFamily="2" charset="2"/>
                <a:cs typeface="Arial" panose="020B0604020202020204" pitchFamily="34" charset="0"/>
              </a:rPr>
              <a:t>n</a:t>
            </a:r>
            <a:r>
              <a:rPr lang="en-US" dirty="0">
                <a:latin typeface="Arial" panose="020B0604020202020204" pitchFamily="34" charset="0"/>
                <a:cs typeface="Arial" panose="020B0604020202020204" pitchFamily="34" charset="0"/>
              </a:rPr>
              <a:t> = 0.000001 m</a:t>
            </a:r>
            <a:r>
              <a:rPr lang="en-US" baseline="30000" dirty="0">
                <a:latin typeface="Arial" panose="020B0604020202020204" pitchFamily="34" charset="0"/>
                <a:cs typeface="Arial" panose="020B0604020202020204" pitchFamily="34" charset="0"/>
              </a:rPr>
              <a:t>2</a:t>
            </a:r>
            <a:r>
              <a:rPr lang="en-US" dirty="0">
                <a:latin typeface="Arial" panose="020B0604020202020204" pitchFamily="34" charset="0"/>
                <a:cs typeface="Arial" panose="020B0604020202020204" pitchFamily="34" charset="0"/>
              </a:rPr>
              <a:t>/s</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A0E0350-8B2D-04DA-28E8-D15604D60B86}"/>
                  </a:ext>
                </a:extLst>
              </p:cNvPr>
              <p:cNvSpPr txBox="1"/>
              <p:nvPr/>
            </p:nvSpPr>
            <p:spPr>
              <a:xfrm>
                <a:off x="9144000" y="4049828"/>
                <a:ext cx="274049"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cs typeface="Arial" panose="020B0604020202020204" pitchFamily="34" charset="0"/>
                            </a:rPr>
                          </m:ctrlPr>
                        </m:sSub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𝑐</m:t>
                          </m:r>
                        </m:sub>
                        <m:sup>
                          <m:r>
                            <a:rPr lang="en-US" b="0" i="1" smtClean="0">
                              <a:latin typeface="Cambria Math" panose="02040503050406030204" pitchFamily="18" charset="0"/>
                              <a:cs typeface="Arial" panose="020B0604020202020204" pitchFamily="34" charset="0"/>
                            </a:rPr>
                            <m:t>∗</m:t>
                          </m:r>
                        </m:sup>
                      </m:sSubSup>
                    </m:oMath>
                  </m:oMathPara>
                </a14:m>
                <a:endParaRPr lang="en-US" dirty="0">
                  <a:latin typeface="Arial" panose="020B0604020202020204" pitchFamily="34" charset="0"/>
                  <a:cs typeface="Arial" panose="020B0604020202020204" pitchFamily="34" charset="0"/>
                </a:endParaRPr>
              </a:p>
            </p:txBody>
          </p:sp>
        </mc:Choice>
        <mc:Fallback xmlns="">
          <p:sp>
            <p:nvSpPr>
              <p:cNvPr id="2" name="TextBox 1">
                <a:extLst>
                  <a:ext uri="{FF2B5EF4-FFF2-40B4-BE49-F238E27FC236}">
                    <a16:creationId xmlns:a16="http://schemas.microsoft.com/office/drawing/2014/main" id="{6A0E0350-8B2D-04DA-28E8-D15604D60B86}"/>
                  </a:ext>
                </a:extLst>
              </p:cNvPr>
              <p:cNvSpPr txBox="1">
                <a:spLocks noRot="1" noChangeAspect="1" noMove="1" noResize="1" noEditPoints="1" noAdjustHandles="1" noChangeArrowheads="1" noChangeShapeType="1" noTextEdit="1"/>
              </p:cNvSpPr>
              <p:nvPr/>
            </p:nvSpPr>
            <p:spPr>
              <a:xfrm>
                <a:off x="9144000" y="4049828"/>
                <a:ext cx="274049" cy="315792"/>
              </a:xfrm>
              <a:prstGeom prst="rect">
                <a:avLst/>
              </a:prstGeom>
              <a:blipFill>
                <a:blip r:embed="rId4"/>
                <a:stretch>
                  <a:fillRect l="-9091" r="-4545"/>
                </a:stretch>
              </a:blipFill>
            </p:spPr>
            <p:txBody>
              <a:bodyPr/>
              <a:lstStyle/>
              <a:p>
                <a:r>
                  <a:rPr lang="en-US">
                    <a:noFill/>
                  </a:rPr>
                  <a:t> </a:t>
                </a:r>
              </a:p>
            </p:txBody>
          </p:sp>
        </mc:Fallback>
      </mc:AlternateContent>
    </p:spTree>
    <p:extLst>
      <p:ext uri="{BB962C8B-B14F-4D97-AF65-F5344CB8AC3E}">
        <p14:creationId xmlns:p14="http://schemas.microsoft.com/office/powerpoint/2010/main" val="17253314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10</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85351" y="136525"/>
            <a:ext cx="11800703"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Threshold of motion, turbulent rough flow over a nearly flat bed</a:t>
            </a:r>
          </a:p>
        </p:txBody>
      </p:sp>
      <p:sp>
        <p:nvSpPr>
          <p:cNvPr id="12" name="Rectangle 11">
            <a:extLst>
              <a:ext uri="{FF2B5EF4-FFF2-40B4-BE49-F238E27FC236}">
                <a16:creationId xmlns:a16="http://schemas.microsoft.com/office/drawing/2014/main" id="{E2D7EE96-F67F-5341-BB73-F651970EF039}"/>
              </a:ext>
            </a:extLst>
          </p:cNvPr>
          <p:cNvSpPr/>
          <p:nvPr/>
        </p:nvSpPr>
        <p:spPr>
          <a:xfrm>
            <a:off x="7735330" y="3990414"/>
            <a:ext cx="3949993" cy="2047715"/>
          </a:xfrm>
          <a:prstGeom prst="rect">
            <a:avLst/>
          </a:prstGeom>
          <a:solidFill>
            <a:srgbClr val="00B0F0"/>
          </a:solid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1" name="Straight Connector 40">
            <a:extLst>
              <a:ext uri="{FF2B5EF4-FFF2-40B4-BE49-F238E27FC236}">
                <a16:creationId xmlns:a16="http://schemas.microsoft.com/office/drawing/2014/main" id="{54046B39-4842-5248-9227-7A2F3010F4A4}"/>
              </a:ext>
            </a:extLst>
          </p:cNvPr>
          <p:cNvCxnSpPr>
            <a:cxnSpLocks/>
          </p:cNvCxnSpPr>
          <p:nvPr/>
        </p:nvCxnSpPr>
        <p:spPr>
          <a:xfrm flipV="1">
            <a:off x="7488195" y="6047568"/>
            <a:ext cx="4315944" cy="536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6CC0E678-137A-F840-8BD8-781E2EDC0DA0}"/>
              </a:ext>
            </a:extLst>
          </p:cNvPr>
          <p:cNvSpPr>
            <a:spLocks noChangeAspect="1"/>
          </p:cNvSpPr>
          <p:nvPr/>
        </p:nvSpPr>
        <p:spPr>
          <a:xfrm rot="18685415">
            <a:off x="9409236" y="578466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7AFD7C5-9E0E-5647-AD2B-FFA65AD76866}"/>
              </a:ext>
            </a:extLst>
          </p:cNvPr>
          <p:cNvSpPr>
            <a:spLocks noChangeAspect="1"/>
          </p:cNvSpPr>
          <p:nvPr/>
        </p:nvSpPr>
        <p:spPr>
          <a:xfrm rot="18685415">
            <a:off x="9553250" y="578012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4EDD07C9-3B56-CF4A-9728-05185B8B29C4}"/>
              </a:ext>
            </a:extLst>
          </p:cNvPr>
          <p:cNvSpPr>
            <a:spLocks noChangeAspect="1"/>
          </p:cNvSpPr>
          <p:nvPr/>
        </p:nvSpPr>
        <p:spPr>
          <a:xfrm rot="18685415">
            <a:off x="9671552" y="587639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5B28DEA-4A7F-394E-82D6-DC448C42EB2A}"/>
              </a:ext>
            </a:extLst>
          </p:cNvPr>
          <p:cNvSpPr>
            <a:spLocks noChangeAspect="1"/>
          </p:cNvSpPr>
          <p:nvPr/>
        </p:nvSpPr>
        <p:spPr>
          <a:xfrm rot="18685415">
            <a:off x="9802669" y="578333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AC479B5-66DB-1949-A91D-C3348FC48648}"/>
              </a:ext>
            </a:extLst>
          </p:cNvPr>
          <p:cNvSpPr>
            <a:spLocks noChangeAspect="1"/>
          </p:cNvSpPr>
          <p:nvPr/>
        </p:nvSpPr>
        <p:spPr>
          <a:xfrm rot="18685415">
            <a:off x="9926428" y="586263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E5DFD9B-BC67-2E4E-BCA1-52A0749C078B}"/>
              </a:ext>
            </a:extLst>
          </p:cNvPr>
          <p:cNvSpPr>
            <a:spLocks noChangeAspect="1"/>
          </p:cNvSpPr>
          <p:nvPr/>
        </p:nvSpPr>
        <p:spPr>
          <a:xfrm rot="18685415">
            <a:off x="10037739" y="576881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5F16E2E7-965E-BC43-8ADC-FEDE7CBD4D1B}"/>
              </a:ext>
            </a:extLst>
          </p:cNvPr>
          <p:cNvSpPr>
            <a:spLocks noChangeAspect="1"/>
          </p:cNvSpPr>
          <p:nvPr/>
        </p:nvSpPr>
        <p:spPr>
          <a:xfrm rot="18685415">
            <a:off x="10311336" y="575304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FDAD8569-A1CA-A64E-945C-89EAF893F822}"/>
              </a:ext>
            </a:extLst>
          </p:cNvPr>
          <p:cNvSpPr>
            <a:spLocks noChangeAspect="1"/>
          </p:cNvSpPr>
          <p:nvPr/>
        </p:nvSpPr>
        <p:spPr>
          <a:xfrm rot="18685415">
            <a:off x="10181120" y="5830185"/>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025C60B-BFEA-AD43-8ACD-4B3548897E59}"/>
              </a:ext>
            </a:extLst>
          </p:cNvPr>
          <p:cNvSpPr>
            <a:spLocks noChangeAspect="1"/>
          </p:cNvSpPr>
          <p:nvPr/>
        </p:nvSpPr>
        <p:spPr>
          <a:xfrm rot="18685415">
            <a:off x="10419313" y="584831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A073F294-8B62-FA43-B89E-109D12135EAF}"/>
              </a:ext>
            </a:extLst>
          </p:cNvPr>
          <p:cNvSpPr>
            <a:spLocks noChangeAspect="1"/>
          </p:cNvSpPr>
          <p:nvPr/>
        </p:nvSpPr>
        <p:spPr>
          <a:xfrm rot="18685415">
            <a:off x="10562780" y="577439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D30016A7-DD38-C34F-A455-2A5F41AD5228}"/>
              </a:ext>
            </a:extLst>
          </p:cNvPr>
          <p:cNvSpPr>
            <a:spLocks noChangeAspect="1"/>
          </p:cNvSpPr>
          <p:nvPr/>
        </p:nvSpPr>
        <p:spPr>
          <a:xfrm rot="18685415">
            <a:off x="10708938" y="583503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3E4FA1FB-5B34-234B-A146-ECC93A81D761}"/>
              </a:ext>
            </a:extLst>
          </p:cNvPr>
          <p:cNvSpPr>
            <a:spLocks noChangeAspect="1"/>
          </p:cNvSpPr>
          <p:nvPr/>
        </p:nvSpPr>
        <p:spPr>
          <a:xfrm rot="18685415">
            <a:off x="10833224" y="577277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463FCB3C-F60F-1C4D-9717-85F85891DEB1}"/>
              </a:ext>
            </a:extLst>
          </p:cNvPr>
          <p:cNvSpPr>
            <a:spLocks noChangeAspect="1"/>
          </p:cNvSpPr>
          <p:nvPr/>
        </p:nvSpPr>
        <p:spPr>
          <a:xfrm rot="18685415">
            <a:off x="9808901" y="5928911"/>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33C3F489-A495-DD45-946E-CA08EAFEAB4D}"/>
              </a:ext>
            </a:extLst>
          </p:cNvPr>
          <p:cNvSpPr>
            <a:spLocks noChangeAspect="1"/>
          </p:cNvSpPr>
          <p:nvPr/>
        </p:nvSpPr>
        <p:spPr>
          <a:xfrm rot="18685415">
            <a:off x="9927203" y="602517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74612F88-9588-1540-805A-2FBDE8BCDA67}"/>
              </a:ext>
            </a:extLst>
          </p:cNvPr>
          <p:cNvSpPr>
            <a:spLocks noChangeAspect="1"/>
          </p:cNvSpPr>
          <p:nvPr/>
        </p:nvSpPr>
        <p:spPr>
          <a:xfrm rot="18685415">
            <a:off x="10058320" y="593211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E6169A6F-24FA-1943-AA09-78C34C997153}"/>
              </a:ext>
            </a:extLst>
          </p:cNvPr>
          <p:cNvSpPr>
            <a:spLocks noChangeAspect="1"/>
          </p:cNvSpPr>
          <p:nvPr/>
        </p:nvSpPr>
        <p:spPr>
          <a:xfrm rot="18685415">
            <a:off x="10182080" y="601142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B2785B08-4506-B34C-8A25-63B64C247B39}"/>
              </a:ext>
            </a:extLst>
          </p:cNvPr>
          <p:cNvSpPr>
            <a:spLocks noChangeAspect="1"/>
          </p:cNvSpPr>
          <p:nvPr/>
        </p:nvSpPr>
        <p:spPr>
          <a:xfrm rot="18685415">
            <a:off x="10293390" y="591760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22807328-B657-5144-869E-3350821FF819}"/>
              </a:ext>
            </a:extLst>
          </p:cNvPr>
          <p:cNvSpPr>
            <a:spLocks noChangeAspect="1"/>
          </p:cNvSpPr>
          <p:nvPr/>
        </p:nvSpPr>
        <p:spPr>
          <a:xfrm rot="18685415">
            <a:off x="10566988" y="590182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093AAF2-856A-594B-BEB3-FB73986D973D}"/>
              </a:ext>
            </a:extLst>
          </p:cNvPr>
          <p:cNvSpPr>
            <a:spLocks noChangeAspect="1"/>
          </p:cNvSpPr>
          <p:nvPr/>
        </p:nvSpPr>
        <p:spPr>
          <a:xfrm rot="18685415">
            <a:off x="10436772" y="597897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E32CD6E4-B2EA-F744-B882-F92A5AE848A8}"/>
              </a:ext>
            </a:extLst>
          </p:cNvPr>
          <p:cNvSpPr>
            <a:spLocks noChangeAspect="1"/>
          </p:cNvSpPr>
          <p:nvPr/>
        </p:nvSpPr>
        <p:spPr>
          <a:xfrm rot="18685415">
            <a:off x="10674964" y="599710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03D88D7C-9297-094E-8297-DD7F36D2707B}"/>
              </a:ext>
            </a:extLst>
          </p:cNvPr>
          <p:cNvSpPr>
            <a:spLocks noChangeAspect="1"/>
          </p:cNvSpPr>
          <p:nvPr/>
        </p:nvSpPr>
        <p:spPr>
          <a:xfrm rot="18685415">
            <a:off x="10828514" y="5940545"/>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3479E427-BD43-B94F-9A5A-99BF3ED5BB5E}"/>
              </a:ext>
            </a:extLst>
          </p:cNvPr>
          <p:cNvSpPr>
            <a:spLocks noChangeAspect="1"/>
          </p:cNvSpPr>
          <p:nvPr/>
        </p:nvSpPr>
        <p:spPr>
          <a:xfrm rot="18685415">
            <a:off x="10992201" y="5952091"/>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334E877B-4680-E242-80EA-A7C21B7FC99C}"/>
              </a:ext>
            </a:extLst>
          </p:cNvPr>
          <p:cNvSpPr>
            <a:spLocks noChangeAspect="1"/>
          </p:cNvSpPr>
          <p:nvPr/>
        </p:nvSpPr>
        <p:spPr>
          <a:xfrm rot="18685415">
            <a:off x="11120587" y="582582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66D96B5D-3AD9-174F-AAA2-DDE22EBD5670}"/>
              </a:ext>
            </a:extLst>
          </p:cNvPr>
          <p:cNvSpPr>
            <a:spLocks noChangeAspect="1"/>
          </p:cNvSpPr>
          <p:nvPr/>
        </p:nvSpPr>
        <p:spPr>
          <a:xfrm rot="18685415">
            <a:off x="9376502" y="5929896"/>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A7ED3CCF-00C4-CD41-8559-FABEA0E2C8B5}"/>
              </a:ext>
            </a:extLst>
          </p:cNvPr>
          <p:cNvSpPr>
            <a:spLocks noChangeAspect="1"/>
          </p:cNvSpPr>
          <p:nvPr/>
        </p:nvSpPr>
        <p:spPr>
          <a:xfrm rot="18685415">
            <a:off x="9678620" y="601435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9C5F22A5-69ED-5B4E-BFCF-1C57E5174F07}"/>
              </a:ext>
            </a:extLst>
          </p:cNvPr>
          <p:cNvSpPr>
            <a:spLocks noChangeAspect="1"/>
          </p:cNvSpPr>
          <p:nvPr/>
        </p:nvSpPr>
        <p:spPr>
          <a:xfrm rot="18685415">
            <a:off x="9527113" y="591856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9642AA75-6FD7-914B-8B7F-1001C2C824E2}"/>
              </a:ext>
            </a:extLst>
          </p:cNvPr>
          <p:cNvSpPr>
            <a:spLocks noChangeAspect="1"/>
          </p:cNvSpPr>
          <p:nvPr/>
        </p:nvSpPr>
        <p:spPr>
          <a:xfrm rot="18685415">
            <a:off x="10976625" y="5816295"/>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45776493-EADE-8E4E-A473-BF512CF686E1}"/>
              </a:ext>
            </a:extLst>
          </p:cNvPr>
          <p:cNvSpPr>
            <a:spLocks noChangeAspect="1"/>
          </p:cNvSpPr>
          <p:nvPr/>
        </p:nvSpPr>
        <p:spPr>
          <a:xfrm rot="13285415">
            <a:off x="9275524" y="582145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024CF6B4-9C1C-BF44-AAAD-B4563A16E98B}"/>
              </a:ext>
            </a:extLst>
          </p:cNvPr>
          <p:cNvSpPr>
            <a:spLocks noChangeAspect="1"/>
          </p:cNvSpPr>
          <p:nvPr/>
        </p:nvSpPr>
        <p:spPr>
          <a:xfrm rot="13285415">
            <a:off x="9256617" y="595763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1" name="Straight Connector 70">
            <a:extLst>
              <a:ext uri="{FF2B5EF4-FFF2-40B4-BE49-F238E27FC236}">
                <a16:creationId xmlns:a16="http://schemas.microsoft.com/office/drawing/2014/main" id="{5CA45ED1-3958-054E-BBA4-511B985FEE58}"/>
              </a:ext>
            </a:extLst>
          </p:cNvPr>
          <p:cNvCxnSpPr>
            <a:cxnSpLocks/>
          </p:cNvCxnSpPr>
          <p:nvPr/>
        </p:nvCxnSpPr>
        <p:spPr>
          <a:xfrm>
            <a:off x="9069863" y="6018590"/>
            <a:ext cx="2273949" cy="0"/>
          </a:xfrm>
          <a:prstGeom prst="line">
            <a:avLst/>
          </a:prstGeom>
          <a:ln w="50800">
            <a:solidFill>
              <a:srgbClr val="FFFF00"/>
            </a:solidFill>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xmlns:a16="http://schemas.microsoft.com/office/drawing/2014/main" id="{42937B82-7E21-1241-938B-B2AE9A11CB4C}"/>
              </a:ext>
            </a:extLst>
          </p:cNvPr>
          <p:cNvSpPr>
            <a:spLocks noChangeAspect="1"/>
          </p:cNvSpPr>
          <p:nvPr/>
        </p:nvSpPr>
        <p:spPr>
          <a:xfrm rot="18685415">
            <a:off x="10190139" y="472260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Arrow Connector 80">
            <a:extLst>
              <a:ext uri="{FF2B5EF4-FFF2-40B4-BE49-F238E27FC236}">
                <a16:creationId xmlns:a16="http://schemas.microsoft.com/office/drawing/2014/main" id="{047D5E7C-2DA9-134A-942E-D70244BB1A8D}"/>
              </a:ext>
            </a:extLst>
          </p:cNvPr>
          <p:cNvCxnSpPr/>
          <p:nvPr/>
        </p:nvCxnSpPr>
        <p:spPr>
          <a:xfrm>
            <a:off x="10339051" y="4794603"/>
            <a:ext cx="484825"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3621892B-8381-1947-B080-8F5333FCA368}"/>
              </a:ext>
            </a:extLst>
          </p:cNvPr>
          <p:cNvCxnSpPr>
            <a:cxnSpLocks/>
          </p:cNvCxnSpPr>
          <p:nvPr/>
        </p:nvCxnSpPr>
        <p:spPr>
          <a:xfrm flipH="1" flipV="1">
            <a:off x="9686544" y="4794603"/>
            <a:ext cx="486000"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7EBDF6AA-2C8D-2D42-9183-BA71CAADBE41}"/>
              </a:ext>
            </a:extLst>
          </p:cNvPr>
          <p:cNvSpPr txBox="1"/>
          <p:nvPr/>
        </p:nvSpPr>
        <p:spPr>
          <a:xfrm>
            <a:off x="10383335" y="4436078"/>
            <a:ext cx="563663"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F</a:t>
            </a:r>
            <a:r>
              <a:rPr lang="en-US" baseline="-25000" dirty="0">
                <a:latin typeface="Arial" panose="020B0604020202020204" pitchFamily="34" charset="0"/>
                <a:cs typeface="Arial" panose="020B0604020202020204" pitchFamily="34" charset="0"/>
              </a:rPr>
              <a:t>D</a:t>
            </a:r>
          </a:p>
        </p:txBody>
      </p:sp>
      <p:sp>
        <p:nvSpPr>
          <p:cNvPr id="85" name="TextBox 84">
            <a:extLst>
              <a:ext uri="{FF2B5EF4-FFF2-40B4-BE49-F238E27FC236}">
                <a16:creationId xmlns:a16="http://schemas.microsoft.com/office/drawing/2014/main" id="{2337642E-6EA7-D847-82A7-EAC6C2F177B2}"/>
              </a:ext>
            </a:extLst>
          </p:cNvPr>
          <p:cNvSpPr txBox="1"/>
          <p:nvPr/>
        </p:nvSpPr>
        <p:spPr>
          <a:xfrm>
            <a:off x="9773043" y="4415907"/>
            <a:ext cx="563663"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F</a:t>
            </a:r>
            <a:r>
              <a:rPr lang="en-US" baseline="-25000" dirty="0">
                <a:latin typeface="Arial" panose="020B0604020202020204" pitchFamily="34" charset="0"/>
                <a:cs typeface="Arial" panose="020B0604020202020204" pitchFamily="34" charset="0"/>
              </a:rPr>
              <a:t>C</a:t>
            </a:r>
          </a:p>
        </p:txBody>
      </p:sp>
      <p:cxnSp>
        <p:nvCxnSpPr>
          <p:cNvPr id="87" name="Straight Connector 86">
            <a:extLst>
              <a:ext uri="{FF2B5EF4-FFF2-40B4-BE49-F238E27FC236}">
                <a16:creationId xmlns:a16="http://schemas.microsoft.com/office/drawing/2014/main" id="{0845062A-23A0-6643-8848-7E568666512E}"/>
              </a:ext>
            </a:extLst>
          </p:cNvPr>
          <p:cNvCxnSpPr/>
          <p:nvPr/>
        </p:nvCxnSpPr>
        <p:spPr>
          <a:xfrm>
            <a:off x="8427311" y="3990414"/>
            <a:ext cx="0" cy="20571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9" name="Freeform 88">
            <a:extLst>
              <a:ext uri="{FF2B5EF4-FFF2-40B4-BE49-F238E27FC236}">
                <a16:creationId xmlns:a16="http://schemas.microsoft.com/office/drawing/2014/main" id="{ACDA9AD3-DC32-F74D-9E41-D7F3B608761E}"/>
              </a:ext>
            </a:extLst>
          </p:cNvPr>
          <p:cNvSpPr/>
          <p:nvPr/>
        </p:nvSpPr>
        <p:spPr>
          <a:xfrm>
            <a:off x="8526165" y="4003589"/>
            <a:ext cx="543698" cy="1902941"/>
          </a:xfrm>
          <a:custGeom>
            <a:avLst/>
            <a:gdLst>
              <a:gd name="connsiteX0" fmla="*/ 0 w 543698"/>
              <a:gd name="connsiteY0" fmla="*/ 1902941 h 1902941"/>
              <a:gd name="connsiteX1" fmla="*/ 148281 w 543698"/>
              <a:gd name="connsiteY1" fmla="*/ 1729946 h 1902941"/>
              <a:gd name="connsiteX2" fmla="*/ 321276 w 543698"/>
              <a:gd name="connsiteY2" fmla="*/ 1458097 h 1902941"/>
              <a:gd name="connsiteX3" fmla="*/ 444844 w 543698"/>
              <a:gd name="connsiteY3" fmla="*/ 1075038 h 1902941"/>
              <a:gd name="connsiteX4" fmla="*/ 506627 w 543698"/>
              <a:gd name="connsiteY4" fmla="*/ 580768 h 1902941"/>
              <a:gd name="connsiteX5" fmla="*/ 543698 w 543698"/>
              <a:gd name="connsiteY5" fmla="*/ 0 h 1902941"/>
              <a:gd name="connsiteX6" fmla="*/ 543698 w 543698"/>
              <a:gd name="connsiteY6" fmla="*/ 0 h 190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3698" h="1902941">
                <a:moveTo>
                  <a:pt x="0" y="1902941"/>
                </a:moveTo>
                <a:cubicBezTo>
                  <a:pt x="47367" y="1853514"/>
                  <a:pt x="94735" y="1804087"/>
                  <a:pt x="148281" y="1729946"/>
                </a:cubicBezTo>
                <a:cubicBezTo>
                  <a:pt x="201827" y="1655805"/>
                  <a:pt x="271849" y="1567248"/>
                  <a:pt x="321276" y="1458097"/>
                </a:cubicBezTo>
                <a:cubicBezTo>
                  <a:pt x="370703" y="1348946"/>
                  <a:pt x="413952" y="1221259"/>
                  <a:pt x="444844" y="1075038"/>
                </a:cubicBezTo>
                <a:cubicBezTo>
                  <a:pt x="475736" y="928817"/>
                  <a:pt x="490151" y="759941"/>
                  <a:pt x="506627" y="580768"/>
                </a:cubicBezTo>
                <a:cubicBezTo>
                  <a:pt x="523103" y="401595"/>
                  <a:pt x="543698" y="0"/>
                  <a:pt x="543698" y="0"/>
                </a:cubicBezTo>
                <a:lnTo>
                  <a:pt x="543698" y="0"/>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1" name="Straight Arrow Connector 90">
            <a:extLst>
              <a:ext uri="{FF2B5EF4-FFF2-40B4-BE49-F238E27FC236}">
                <a16:creationId xmlns:a16="http://schemas.microsoft.com/office/drawing/2014/main" id="{01CAB0C8-518E-D94E-94EB-A774E7F482A8}"/>
              </a:ext>
            </a:extLst>
          </p:cNvPr>
          <p:cNvCxnSpPr>
            <a:cxnSpLocks/>
          </p:cNvCxnSpPr>
          <p:nvPr/>
        </p:nvCxnSpPr>
        <p:spPr>
          <a:xfrm flipV="1">
            <a:off x="8427311" y="4855356"/>
            <a:ext cx="597584" cy="1"/>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4" name="Rectangle 93">
                <a:extLst>
                  <a:ext uri="{FF2B5EF4-FFF2-40B4-BE49-F238E27FC236}">
                    <a16:creationId xmlns:a16="http://schemas.microsoft.com/office/drawing/2014/main" id="{0696F1E4-0498-F642-9C7D-C1AD690A6F92}"/>
                  </a:ext>
                </a:extLst>
              </p:cNvPr>
              <p:cNvSpPr/>
              <p:nvPr/>
            </p:nvSpPr>
            <p:spPr>
              <a:xfrm>
                <a:off x="8395114" y="4509366"/>
                <a:ext cx="68422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d>
                        <m:dPr>
                          <m:ctrlPr>
                            <a:rPr lang="en-US"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𝑧</m:t>
                          </m:r>
                        </m:e>
                      </m:d>
                    </m:oMath>
                  </m:oMathPara>
                </a14:m>
                <a:endParaRPr lang="en-US" dirty="0"/>
              </a:p>
            </p:txBody>
          </p:sp>
        </mc:Choice>
        <mc:Fallback xmlns="">
          <p:sp>
            <p:nvSpPr>
              <p:cNvPr id="94" name="Rectangle 93">
                <a:extLst>
                  <a:ext uri="{FF2B5EF4-FFF2-40B4-BE49-F238E27FC236}">
                    <a16:creationId xmlns:a16="http://schemas.microsoft.com/office/drawing/2014/main" id="{0696F1E4-0498-F642-9C7D-C1AD690A6F92}"/>
                  </a:ext>
                </a:extLst>
              </p:cNvPr>
              <p:cNvSpPr>
                <a:spLocks noRot="1" noChangeAspect="1" noMove="1" noResize="1" noEditPoints="1" noAdjustHandles="1" noChangeArrowheads="1" noChangeShapeType="1" noTextEdit="1"/>
              </p:cNvSpPr>
              <p:nvPr/>
            </p:nvSpPr>
            <p:spPr>
              <a:xfrm>
                <a:off x="8395114" y="4509366"/>
                <a:ext cx="684226" cy="369332"/>
              </a:xfrm>
              <a:prstGeom prst="rect">
                <a:avLst/>
              </a:prstGeom>
              <a:blipFill>
                <a:blip r:embed="rId3"/>
                <a:stretch>
                  <a:fillRect/>
                </a:stretch>
              </a:blipFill>
            </p:spPr>
            <p:txBody>
              <a:bodyPr/>
              <a:lstStyle/>
              <a:p>
                <a:r>
                  <a:rPr lang="en-US">
                    <a:noFill/>
                  </a:rPr>
                  <a:t> </a:t>
                </a:r>
              </a:p>
            </p:txBody>
          </p:sp>
        </mc:Fallback>
      </mc:AlternateContent>
      <p:cxnSp>
        <p:nvCxnSpPr>
          <p:cNvPr id="98" name="Straight Arrow Connector 97">
            <a:extLst>
              <a:ext uri="{FF2B5EF4-FFF2-40B4-BE49-F238E27FC236}">
                <a16:creationId xmlns:a16="http://schemas.microsoft.com/office/drawing/2014/main" id="{ABE8FB50-C61B-B54C-8210-ACA3EB998C43}"/>
              </a:ext>
            </a:extLst>
          </p:cNvPr>
          <p:cNvCxnSpPr/>
          <p:nvPr/>
        </p:nvCxnSpPr>
        <p:spPr>
          <a:xfrm flipV="1">
            <a:off x="8056605" y="5548184"/>
            <a:ext cx="0" cy="499384"/>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DE684B16-96A2-7844-83A8-48B1BA54B468}"/>
              </a:ext>
            </a:extLst>
          </p:cNvPr>
          <p:cNvSpPr txBox="1"/>
          <p:nvPr/>
        </p:nvSpPr>
        <p:spPr>
          <a:xfrm>
            <a:off x="7773552" y="5447936"/>
            <a:ext cx="334786"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z</a:t>
            </a:r>
          </a:p>
        </p:txBody>
      </p:sp>
      <p:sp>
        <p:nvSpPr>
          <p:cNvPr id="48" name="TextBox 47">
            <a:extLst>
              <a:ext uri="{FF2B5EF4-FFF2-40B4-BE49-F238E27FC236}">
                <a16:creationId xmlns:a16="http://schemas.microsoft.com/office/drawing/2014/main" id="{35EEB32B-1A28-B739-5700-80E9DAAF60C7}"/>
              </a:ext>
            </a:extLst>
          </p:cNvPr>
          <p:cNvSpPr txBox="1"/>
          <p:nvPr/>
        </p:nvSpPr>
        <p:spPr>
          <a:xfrm>
            <a:off x="580767" y="820523"/>
            <a:ext cx="11133437" cy="2908040"/>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Here we compute a value of the critical Shields number for gravel. A complete analysis can be found in Ikeda (1982) and </a:t>
            </a:r>
            <a:r>
              <a:rPr lang="en-US" dirty="0" err="1">
                <a:latin typeface="Arial" panose="020B0604020202020204" pitchFamily="34" charset="0"/>
                <a:cs typeface="Arial" panose="020B0604020202020204" pitchFamily="34" charset="0"/>
              </a:rPr>
              <a:t>Wiberg</a:t>
            </a:r>
            <a:r>
              <a:rPr lang="en-US" dirty="0">
                <a:latin typeface="Arial" panose="020B0604020202020204" pitchFamily="34" charset="0"/>
                <a:cs typeface="Arial" panose="020B0604020202020204" pitchFamily="34" charset="0"/>
              </a:rPr>
              <a:t> and Smith (1987). </a:t>
            </a:r>
          </a:p>
          <a:p>
            <a:pPr algn="l">
              <a:lnSpc>
                <a:spcPct val="114000"/>
              </a:lnSpc>
            </a:pPr>
            <a:r>
              <a:rPr lang="en-US" dirty="0">
                <a:latin typeface="Arial" panose="020B0604020202020204" pitchFamily="34" charset="0"/>
                <a:cs typeface="Arial" panose="020B0604020202020204" pitchFamily="34" charset="0"/>
              </a:rPr>
              <a:t>Let’s assume that </a:t>
            </a:r>
          </a:p>
          <a:p>
            <a:pPr marL="285750" indent="-285750" algn="l">
              <a:lnSpc>
                <a:spcPct val="114000"/>
              </a:lnSpc>
              <a:buFont typeface="Arial" panose="020B0604020202020204" pitchFamily="34" charset="0"/>
              <a:buChar char="•"/>
            </a:pPr>
            <a:r>
              <a:rPr lang="en-US" dirty="0">
                <a:latin typeface="Arial" panose="020B0604020202020204" pitchFamily="34" charset="0"/>
                <a:cs typeface="Arial" panose="020B0604020202020204" pitchFamily="34" charset="0"/>
              </a:rPr>
              <a:t>the granular bed is composed of uniform sediment with grain size D, </a:t>
            </a:r>
          </a:p>
          <a:p>
            <a:pPr marL="285750" indent="-285750" algn="l">
              <a:lnSpc>
                <a:spcPct val="114000"/>
              </a:lnSpc>
              <a:buFont typeface="Arial" panose="020B0604020202020204" pitchFamily="34" charset="0"/>
              <a:buChar char="•"/>
            </a:pPr>
            <a:r>
              <a:rPr lang="en-US" dirty="0">
                <a:latin typeface="Arial" panose="020B0604020202020204" pitchFamily="34" charset="0"/>
                <a:cs typeface="Arial" panose="020B0604020202020204" pitchFamily="34" charset="0"/>
              </a:rPr>
              <a:t>the bed slope S is small (S &lt;&lt; 1), and</a:t>
            </a:r>
          </a:p>
          <a:p>
            <a:pPr marL="285750" indent="-285750" algn="l">
              <a:lnSpc>
                <a:spcPct val="114000"/>
              </a:lnSpc>
              <a:buFont typeface="Arial" panose="020B0604020202020204" pitchFamily="34" charset="0"/>
              <a:buChar char="•"/>
            </a:pPr>
            <a:r>
              <a:rPr lang="en-US" dirty="0">
                <a:latin typeface="Arial" panose="020B0604020202020204" pitchFamily="34" charset="0"/>
                <a:cs typeface="Arial" panose="020B0604020202020204" pitchFamily="34" charset="0"/>
              </a:rPr>
              <a:t>the bed roughness is only due to the presence of grains (skin friction) so that </a:t>
            </a:r>
            <a:r>
              <a:rPr lang="en-US" dirty="0" err="1">
                <a:latin typeface="Arial" panose="020B0604020202020204" pitchFamily="34" charset="0"/>
                <a:cs typeface="Arial" panose="020B0604020202020204" pitchFamily="34" charset="0"/>
              </a:rPr>
              <a:t>k</a:t>
            </a:r>
            <a:r>
              <a:rPr lang="en-US" baseline="-25000" dirty="0" err="1">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n</a:t>
            </a:r>
            <a:r>
              <a:rPr lang="en-US" baseline="-25000" dirty="0" err="1">
                <a:latin typeface="Arial" panose="020B0604020202020204" pitchFamily="34" charset="0"/>
                <a:cs typeface="Arial" panose="020B0604020202020204" pitchFamily="34" charset="0"/>
              </a:rPr>
              <a:t>k</a:t>
            </a:r>
            <a:r>
              <a:rPr lang="en-US" dirty="0" err="1">
                <a:latin typeface="Arial" panose="020B0604020202020204" pitchFamily="34" charset="0"/>
                <a:cs typeface="Arial" panose="020B0604020202020204" pitchFamily="34" charset="0"/>
              </a:rPr>
              <a:t>D</a:t>
            </a:r>
            <a:endParaRPr lang="en-US" dirty="0">
              <a:latin typeface="Arial" panose="020B0604020202020204" pitchFamily="34" charset="0"/>
              <a:cs typeface="Arial" panose="020B0604020202020204" pitchFamily="34" charset="0"/>
            </a:endParaRPr>
          </a:p>
          <a:p>
            <a:pPr algn="l">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and consider the forces acting on an exposed particle (what we did in the static case on slide 6) whose centroid protrudes from the mean bed of </a:t>
            </a:r>
            <a:r>
              <a:rPr lang="en-US" dirty="0" err="1">
                <a:latin typeface="Arial" panose="020B0604020202020204" pitchFamily="34" charset="0"/>
                <a:cs typeface="Arial" panose="020B0604020202020204" pitchFamily="34" charset="0"/>
              </a:rPr>
              <a:t>n</a:t>
            </a:r>
            <a:r>
              <a:rPr lang="en-US" baseline="-25000" dirty="0" err="1">
                <a:latin typeface="Arial" panose="020B0604020202020204" pitchFamily="34" charset="0"/>
                <a:cs typeface="Arial" panose="020B0604020202020204" pitchFamily="34" charset="0"/>
              </a:rPr>
              <a:t>e</a:t>
            </a:r>
            <a:r>
              <a:rPr lang="en-US" dirty="0" err="1">
                <a:latin typeface="Arial" panose="020B0604020202020204" pitchFamily="34" charset="0"/>
                <a:cs typeface="Arial" panose="020B0604020202020204" pitchFamily="34" charset="0"/>
              </a:rPr>
              <a:t>D</a:t>
            </a:r>
            <a:r>
              <a:rPr lang="en-US"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30776342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11</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85351" y="136525"/>
            <a:ext cx="11800703"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Threshold of motion, turbulent rough flow over a nearly flat bed</a:t>
            </a:r>
          </a:p>
        </p:txBody>
      </p:sp>
      <p:sp>
        <p:nvSpPr>
          <p:cNvPr id="9" name="TextBox 8">
            <a:extLst>
              <a:ext uri="{FF2B5EF4-FFF2-40B4-BE49-F238E27FC236}">
                <a16:creationId xmlns:a16="http://schemas.microsoft.com/office/drawing/2014/main" id="{1E817250-3C3A-BE4F-95CC-C14166F9648C}"/>
              </a:ext>
            </a:extLst>
          </p:cNvPr>
          <p:cNvSpPr txBox="1"/>
          <p:nvPr/>
        </p:nvSpPr>
        <p:spPr>
          <a:xfrm>
            <a:off x="580767" y="820523"/>
            <a:ext cx="11133437" cy="2908040"/>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Here we compute a value of the critical Shields number for gravel. A complete analysis can be found in Ikeda (1982) and </a:t>
            </a:r>
            <a:r>
              <a:rPr lang="en-US" dirty="0" err="1">
                <a:latin typeface="Arial" panose="020B0604020202020204" pitchFamily="34" charset="0"/>
                <a:cs typeface="Arial" panose="020B0604020202020204" pitchFamily="34" charset="0"/>
              </a:rPr>
              <a:t>Wiberg</a:t>
            </a:r>
            <a:r>
              <a:rPr lang="en-US" dirty="0">
                <a:latin typeface="Arial" panose="020B0604020202020204" pitchFamily="34" charset="0"/>
                <a:cs typeface="Arial" panose="020B0604020202020204" pitchFamily="34" charset="0"/>
              </a:rPr>
              <a:t> and Smith (1987). </a:t>
            </a:r>
          </a:p>
          <a:p>
            <a:pPr algn="l">
              <a:lnSpc>
                <a:spcPct val="114000"/>
              </a:lnSpc>
            </a:pPr>
            <a:r>
              <a:rPr lang="en-US" dirty="0">
                <a:latin typeface="Arial" panose="020B0604020202020204" pitchFamily="34" charset="0"/>
                <a:cs typeface="Arial" panose="020B0604020202020204" pitchFamily="34" charset="0"/>
              </a:rPr>
              <a:t>Let’s assume that </a:t>
            </a:r>
          </a:p>
          <a:p>
            <a:pPr marL="285750" indent="-285750" algn="l">
              <a:lnSpc>
                <a:spcPct val="114000"/>
              </a:lnSpc>
              <a:buFont typeface="Arial" panose="020B0604020202020204" pitchFamily="34" charset="0"/>
              <a:buChar char="•"/>
            </a:pPr>
            <a:r>
              <a:rPr lang="en-US" dirty="0">
                <a:latin typeface="Arial" panose="020B0604020202020204" pitchFamily="34" charset="0"/>
                <a:cs typeface="Arial" panose="020B0604020202020204" pitchFamily="34" charset="0"/>
              </a:rPr>
              <a:t>the granular bed is composed of uniform sediment with grain size D, </a:t>
            </a:r>
          </a:p>
          <a:p>
            <a:pPr marL="285750" indent="-285750" algn="l">
              <a:lnSpc>
                <a:spcPct val="114000"/>
              </a:lnSpc>
              <a:buFont typeface="Arial" panose="020B0604020202020204" pitchFamily="34" charset="0"/>
              <a:buChar char="•"/>
            </a:pPr>
            <a:r>
              <a:rPr lang="en-US" dirty="0">
                <a:latin typeface="Arial" panose="020B0604020202020204" pitchFamily="34" charset="0"/>
                <a:cs typeface="Arial" panose="020B0604020202020204" pitchFamily="34" charset="0"/>
              </a:rPr>
              <a:t>the bed slope S is small (S &lt;&lt; 1), and</a:t>
            </a:r>
          </a:p>
          <a:p>
            <a:pPr marL="285750" indent="-285750" algn="l">
              <a:lnSpc>
                <a:spcPct val="114000"/>
              </a:lnSpc>
              <a:buFont typeface="Arial" panose="020B0604020202020204" pitchFamily="34" charset="0"/>
              <a:buChar char="•"/>
            </a:pPr>
            <a:r>
              <a:rPr lang="en-US" dirty="0">
                <a:latin typeface="Arial" panose="020B0604020202020204" pitchFamily="34" charset="0"/>
                <a:cs typeface="Arial" panose="020B0604020202020204" pitchFamily="34" charset="0"/>
              </a:rPr>
              <a:t>the bed roughness is only due to the presence of grains (skin friction) so that </a:t>
            </a:r>
            <a:r>
              <a:rPr lang="en-US" dirty="0" err="1">
                <a:latin typeface="Arial" panose="020B0604020202020204" pitchFamily="34" charset="0"/>
                <a:cs typeface="Arial" panose="020B0604020202020204" pitchFamily="34" charset="0"/>
              </a:rPr>
              <a:t>k</a:t>
            </a:r>
            <a:r>
              <a:rPr lang="en-US" baseline="-25000" dirty="0" err="1">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n</a:t>
            </a:r>
            <a:r>
              <a:rPr lang="en-US" baseline="-25000" dirty="0" err="1">
                <a:latin typeface="Arial" panose="020B0604020202020204" pitchFamily="34" charset="0"/>
                <a:cs typeface="Arial" panose="020B0604020202020204" pitchFamily="34" charset="0"/>
              </a:rPr>
              <a:t>k</a:t>
            </a:r>
            <a:r>
              <a:rPr lang="en-US" dirty="0" err="1">
                <a:latin typeface="Arial" panose="020B0604020202020204" pitchFamily="34" charset="0"/>
                <a:cs typeface="Arial" panose="020B0604020202020204" pitchFamily="34" charset="0"/>
              </a:rPr>
              <a:t>D</a:t>
            </a:r>
            <a:endParaRPr lang="en-US" dirty="0">
              <a:latin typeface="Arial" panose="020B0604020202020204" pitchFamily="34" charset="0"/>
              <a:cs typeface="Arial" panose="020B0604020202020204" pitchFamily="34" charset="0"/>
            </a:endParaRPr>
          </a:p>
          <a:p>
            <a:pPr algn="l">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and consider the forces acting on an exposed particle (what we did in the static case on slide 6) whose centroid protrudes from the mean bed of </a:t>
            </a:r>
            <a:r>
              <a:rPr lang="en-US" dirty="0" err="1">
                <a:latin typeface="Arial" panose="020B0604020202020204" pitchFamily="34" charset="0"/>
                <a:cs typeface="Arial" panose="020B0604020202020204" pitchFamily="34" charset="0"/>
              </a:rPr>
              <a:t>n</a:t>
            </a:r>
            <a:r>
              <a:rPr lang="en-US" baseline="-25000" dirty="0" err="1">
                <a:latin typeface="Arial" panose="020B0604020202020204" pitchFamily="34" charset="0"/>
                <a:cs typeface="Arial" panose="020B0604020202020204" pitchFamily="34" charset="0"/>
              </a:rPr>
              <a:t>e</a:t>
            </a:r>
            <a:r>
              <a:rPr lang="en-US" dirty="0" err="1">
                <a:latin typeface="Arial" panose="020B0604020202020204" pitchFamily="34" charset="0"/>
                <a:cs typeface="Arial" panose="020B0604020202020204" pitchFamily="34" charset="0"/>
              </a:rPr>
              <a:t>D</a:t>
            </a:r>
            <a:r>
              <a:rPr lang="en-US" dirty="0">
                <a:latin typeface="Arial" panose="020B0604020202020204" pitchFamily="34" charset="0"/>
                <a:cs typeface="Arial" panose="020B0604020202020204" pitchFamily="34" charset="0"/>
              </a:rPr>
              <a:t>. </a:t>
            </a:r>
          </a:p>
        </p:txBody>
      </p:sp>
      <p:sp>
        <p:nvSpPr>
          <p:cNvPr id="12" name="Rectangle 11">
            <a:extLst>
              <a:ext uri="{FF2B5EF4-FFF2-40B4-BE49-F238E27FC236}">
                <a16:creationId xmlns:a16="http://schemas.microsoft.com/office/drawing/2014/main" id="{E2D7EE96-F67F-5341-BB73-F651970EF039}"/>
              </a:ext>
            </a:extLst>
          </p:cNvPr>
          <p:cNvSpPr/>
          <p:nvPr/>
        </p:nvSpPr>
        <p:spPr>
          <a:xfrm>
            <a:off x="7735330" y="3990414"/>
            <a:ext cx="3949993" cy="2047715"/>
          </a:xfrm>
          <a:prstGeom prst="rect">
            <a:avLst/>
          </a:prstGeom>
          <a:solidFill>
            <a:srgbClr val="00B0F0"/>
          </a:solid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1" name="Straight Connector 40">
            <a:extLst>
              <a:ext uri="{FF2B5EF4-FFF2-40B4-BE49-F238E27FC236}">
                <a16:creationId xmlns:a16="http://schemas.microsoft.com/office/drawing/2014/main" id="{54046B39-4842-5248-9227-7A2F3010F4A4}"/>
              </a:ext>
            </a:extLst>
          </p:cNvPr>
          <p:cNvCxnSpPr>
            <a:cxnSpLocks/>
          </p:cNvCxnSpPr>
          <p:nvPr/>
        </p:nvCxnSpPr>
        <p:spPr>
          <a:xfrm flipV="1">
            <a:off x="7488195" y="6047568"/>
            <a:ext cx="4315944" cy="536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6CC0E678-137A-F840-8BD8-781E2EDC0DA0}"/>
              </a:ext>
            </a:extLst>
          </p:cNvPr>
          <p:cNvSpPr>
            <a:spLocks noChangeAspect="1"/>
          </p:cNvSpPr>
          <p:nvPr/>
        </p:nvSpPr>
        <p:spPr>
          <a:xfrm rot="18685415">
            <a:off x="9409236" y="578466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7AFD7C5-9E0E-5647-AD2B-FFA65AD76866}"/>
              </a:ext>
            </a:extLst>
          </p:cNvPr>
          <p:cNvSpPr>
            <a:spLocks noChangeAspect="1"/>
          </p:cNvSpPr>
          <p:nvPr/>
        </p:nvSpPr>
        <p:spPr>
          <a:xfrm rot="18685415">
            <a:off x="9553250" y="578012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4EDD07C9-3B56-CF4A-9728-05185B8B29C4}"/>
              </a:ext>
            </a:extLst>
          </p:cNvPr>
          <p:cNvSpPr>
            <a:spLocks noChangeAspect="1"/>
          </p:cNvSpPr>
          <p:nvPr/>
        </p:nvSpPr>
        <p:spPr>
          <a:xfrm rot="18685415">
            <a:off x="9671552" y="587639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5B28DEA-4A7F-394E-82D6-DC448C42EB2A}"/>
              </a:ext>
            </a:extLst>
          </p:cNvPr>
          <p:cNvSpPr>
            <a:spLocks noChangeAspect="1"/>
          </p:cNvSpPr>
          <p:nvPr/>
        </p:nvSpPr>
        <p:spPr>
          <a:xfrm rot="18685415">
            <a:off x="9802669" y="578333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AC479B5-66DB-1949-A91D-C3348FC48648}"/>
              </a:ext>
            </a:extLst>
          </p:cNvPr>
          <p:cNvSpPr>
            <a:spLocks noChangeAspect="1"/>
          </p:cNvSpPr>
          <p:nvPr/>
        </p:nvSpPr>
        <p:spPr>
          <a:xfrm rot="18685415">
            <a:off x="9926428" y="586263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E5DFD9B-BC67-2E4E-BCA1-52A0749C078B}"/>
              </a:ext>
            </a:extLst>
          </p:cNvPr>
          <p:cNvSpPr>
            <a:spLocks noChangeAspect="1"/>
          </p:cNvSpPr>
          <p:nvPr/>
        </p:nvSpPr>
        <p:spPr>
          <a:xfrm rot="18685415">
            <a:off x="10037739" y="576881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5F16E2E7-965E-BC43-8ADC-FEDE7CBD4D1B}"/>
              </a:ext>
            </a:extLst>
          </p:cNvPr>
          <p:cNvSpPr>
            <a:spLocks noChangeAspect="1"/>
          </p:cNvSpPr>
          <p:nvPr/>
        </p:nvSpPr>
        <p:spPr>
          <a:xfrm rot="18685415">
            <a:off x="10311336" y="575304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FDAD8569-A1CA-A64E-945C-89EAF893F822}"/>
              </a:ext>
            </a:extLst>
          </p:cNvPr>
          <p:cNvSpPr>
            <a:spLocks noChangeAspect="1"/>
          </p:cNvSpPr>
          <p:nvPr/>
        </p:nvSpPr>
        <p:spPr>
          <a:xfrm rot="18685415">
            <a:off x="10181120" y="5830185"/>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025C60B-BFEA-AD43-8ACD-4B3548897E59}"/>
              </a:ext>
            </a:extLst>
          </p:cNvPr>
          <p:cNvSpPr>
            <a:spLocks noChangeAspect="1"/>
          </p:cNvSpPr>
          <p:nvPr/>
        </p:nvSpPr>
        <p:spPr>
          <a:xfrm rot="18685415">
            <a:off x="10419313" y="584831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A073F294-8B62-FA43-B89E-109D12135EAF}"/>
              </a:ext>
            </a:extLst>
          </p:cNvPr>
          <p:cNvSpPr>
            <a:spLocks noChangeAspect="1"/>
          </p:cNvSpPr>
          <p:nvPr/>
        </p:nvSpPr>
        <p:spPr>
          <a:xfrm rot="18685415">
            <a:off x="10562780" y="577439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D30016A7-DD38-C34F-A455-2A5F41AD5228}"/>
              </a:ext>
            </a:extLst>
          </p:cNvPr>
          <p:cNvSpPr>
            <a:spLocks noChangeAspect="1"/>
          </p:cNvSpPr>
          <p:nvPr/>
        </p:nvSpPr>
        <p:spPr>
          <a:xfrm rot="18685415">
            <a:off x="10708938" y="583503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3E4FA1FB-5B34-234B-A146-ECC93A81D761}"/>
              </a:ext>
            </a:extLst>
          </p:cNvPr>
          <p:cNvSpPr>
            <a:spLocks noChangeAspect="1"/>
          </p:cNvSpPr>
          <p:nvPr/>
        </p:nvSpPr>
        <p:spPr>
          <a:xfrm rot="18685415">
            <a:off x="10833224" y="577277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463FCB3C-F60F-1C4D-9717-85F85891DEB1}"/>
              </a:ext>
            </a:extLst>
          </p:cNvPr>
          <p:cNvSpPr>
            <a:spLocks noChangeAspect="1"/>
          </p:cNvSpPr>
          <p:nvPr/>
        </p:nvSpPr>
        <p:spPr>
          <a:xfrm rot="18685415">
            <a:off x="9808901" y="5928911"/>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33C3F489-A495-DD45-946E-CA08EAFEAB4D}"/>
              </a:ext>
            </a:extLst>
          </p:cNvPr>
          <p:cNvSpPr>
            <a:spLocks noChangeAspect="1"/>
          </p:cNvSpPr>
          <p:nvPr/>
        </p:nvSpPr>
        <p:spPr>
          <a:xfrm rot="18685415">
            <a:off x="9927203" y="602517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74612F88-9588-1540-805A-2FBDE8BCDA67}"/>
              </a:ext>
            </a:extLst>
          </p:cNvPr>
          <p:cNvSpPr>
            <a:spLocks noChangeAspect="1"/>
          </p:cNvSpPr>
          <p:nvPr/>
        </p:nvSpPr>
        <p:spPr>
          <a:xfrm rot="18685415">
            <a:off x="10058320" y="593211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E6169A6F-24FA-1943-AA09-78C34C997153}"/>
              </a:ext>
            </a:extLst>
          </p:cNvPr>
          <p:cNvSpPr>
            <a:spLocks noChangeAspect="1"/>
          </p:cNvSpPr>
          <p:nvPr/>
        </p:nvSpPr>
        <p:spPr>
          <a:xfrm rot="18685415">
            <a:off x="10182080" y="601142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B2785B08-4506-B34C-8A25-63B64C247B39}"/>
              </a:ext>
            </a:extLst>
          </p:cNvPr>
          <p:cNvSpPr>
            <a:spLocks noChangeAspect="1"/>
          </p:cNvSpPr>
          <p:nvPr/>
        </p:nvSpPr>
        <p:spPr>
          <a:xfrm rot="18685415">
            <a:off x="10293390" y="591760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22807328-B657-5144-869E-3350821FF819}"/>
              </a:ext>
            </a:extLst>
          </p:cNvPr>
          <p:cNvSpPr>
            <a:spLocks noChangeAspect="1"/>
          </p:cNvSpPr>
          <p:nvPr/>
        </p:nvSpPr>
        <p:spPr>
          <a:xfrm rot="18685415">
            <a:off x="10566988" y="590182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093AAF2-856A-594B-BEB3-FB73986D973D}"/>
              </a:ext>
            </a:extLst>
          </p:cNvPr>
          <p:cNvSpPr>
            <a:spLocks noChangeAspect="1"/>
          </p:cNvSpPr>
          <p:nvPr/>
        </p:nvSpPr>
        <p:spPr>
          <a:xfrm rot="18685415">
            <a:off x="10436772" y="597897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E32CD6E4-B2EA-F744-B882-F92A5AE848A8}"/>
              </a:ext>
            </a:extLst>
          </p:cNvPr>
          <p:cNvSpPr>
            <a:spLocks noChangeAspect="1"/>
          </p:cNvSpPr>
          <p:nvPr/>
        </p:nvSpPr>
        <p:spPr>
          <a:xfrm rot="18685415">
            <a:off x="10674964" y="599710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03D88D7C-9297-094E-8297-DD7F36D2707B}"/>
              </a:ext>
            </a:extLst>
          </p:cNvPr>
          <p:cNvSpPr>
            <a:spLocks noChangeAspect="1"/>
          </p:cNvSpPr>
          <p:nvPr/>
        </p:nvSpPr>
        <p:spPr>
          <a:xfrm rot="18685415">
            <a:off x="10828514" y="5940545"/>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3479E427-BD43-B94F-9A5A-99BF3ED5BB5E}"/>
              </a:ext>
            </a:extLst>
          </p:cNvPr>
          <p:cNvSpPr>
            <a:spLocks noChangeAspect="1"/>
          </p:cNvSpPr>
          <p:nvPr/>
        </p:nvSpPr>
        <p:spPr>
          <a:xfrm rot="18685415">
            <a:off x="10992201" y="5952091"/>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334E877B-4680-E242-80EA-A7C21B7FC99C}"/>
              </a:ext>
            </a:extLst>
          </p:cNvPr>
          <p:cNvSpPr>
            <a:spLocks noChangeAspect="1"/>
          </p:cNvSpPr>
          <p:nvPr/>
        </p:nvSpPr>
        <p:spPr>
          <a:xfrm rot="18685415">
            <a:off x="11120587" y="582582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66D96B5D-3AD9-174F-AAA2-DDE22EBD5670}"/>
              </a:ext>
            </a:extLst>
          </p:cNvPr>
          <p:cNvSpPr>
            <a:spLocks noChangeAspect="1"/>
          </p:cNvSpPr>
          <p:nvPr/>
        </p:nvSpPr>
        <p:spPr>
          <a:xfrm rot="18685415">
            <a:off x="9376502" y="5929896"/>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A7ED3CCF-00C4-CD41-8559-FABEA0E2C8B5}"/>
              </a:ext>
            </a:extLst>
          </p:cNvPr>
          <p:cNvSpPr>
            <a:spLocks noChangeAspect="1"/>
          </p:cNvSpPr>
          <p:nvPr/>
        </p:nvSpPr>
        <p:spPr>
          <a:xfrm rot="18685415">
            <a:off x="9678620" y="601435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9C5F22A5-69ED-5B4E-BFCF-1C57E5174F07}"/>
              </a:ext>
            </a:extLst>
          </p:cNvPr>
          <p:cNvSpPr>
            <a:spLocks noChangeAspect="1"/>
          </p:cNvSpPr>
          <p:nvPr/>
        </p:nvSpPr>
        <p:spPr>
          <a:xfrm rot="18685415">
            <a:off x="9527113" y="591856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9642AA75-6FD7-914B-8B7F-1001C2C824E2}"/>
              </a:ext>
            </a:extLst>
          </p:cNvPr>
          <p:cNvSpPr>
            <a:spLocks noChangeAspect="1"/>
          </p:cNvSpPr>
          <p:nvPr/>
        </p:nvSpPr>
        <p:spPr>
          <a:xfrm rot="18685415">
            <a:off x="10976625" y="5816295"/>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45776493-EADE-8E4E-A473-BF512CF686E1}"/>
              </a:ext>
            </a:extLst>
          </p:cNvPr>
          <p:cNvSpPr>
            <a:spLocks noChangeAspect="1"/>
          </p:cNvSpPr>
          <p:nvPr/>
        </p:nvSpPr>
        <p:spPr>
          <a:xfrm rot="13285415">
            <a:off x="9275524" y="582145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024CF6B4-9C1C-BF44-AAAD-B4563A16E98B}"/>
              </a:ext>
            </a:extLst>
          </p:cNvPr>
          <p:cNvSpPr>
            <a:spLocks noChangeAspect="1"/>
          </p:cNvSpPr>
          <p:nvPr/>
        </p:nvSpPr>
        <p:spPr>
          <a:xfrm rot="13285415">
            <a:off x="9256617" y="595763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1" name="Straight Connector 70">
            <a:extLst>
              <a:ext uri="{FF2B5EF4-FFF2-40B4-BE49-F238E27FC236}">
                <a16:creationId xmlns:a16="http://schemas.microsoft.com/office/drawing/2014/main" id="{5CA45ED1-3958-054E-BBA4-511B985FEE58}"/>
              </a:ext>
            </a:extLst>
          </p:cNvPr>
          <p:cNvCxnSpPr>
            <a:cxnSpLocks/>
          </p:cNvCxnSpPr>
          <p:nvPr/>
        </p:nvCxnSpPr>
        <p:spPr>
          <a:xfrm>
            <a:off x="9069863" y="6018590"/>
            <a:ext cx="2273949" cy="0"/>
          </a:xfrm>
          <a:prstGeom prst="line">
            <a:avLst/>
          </a:prstGeom>
          <a:ln w="50800">
            <a:solidFill>
              <a:srgbClr val="FFFF00"/>
            </a:solidFill>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xmlns:a16="http://schemas.microsoft.com/office/drawing/2014/main" id="{42937B82-7E21-1241-938B-B2AE9A11CB4C}"/>
              </a:ext>
            </a:extLst>
          </p:cNvPr>
          <p:cNvSpPr>
            <a:spLocks noChangeAspect="1"/>
          </p:cNvSpPr>
          <p:nvPr/>
        </p:nvSpPr>
        <p:spPr>
          <a:xfrm rot="18685415">
            <a:off x="10190139" y="472260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Arrow Connector 80">
            <a:extLst>
              <a:ext uri="{FF2B5EF4-FFF2-40B4-BE49-F238E27FC236}">
                <a16:creationId xmlns:a16="http://schemas.microsoft.com/office/drawing/2014/main" id="{047D5E7C-2DA9-134A-942E-D70244BB1A8D}"/>
              </a:ext>
            </a:extLst>
          </p:cNvPr>
          <p:cNvCxnSpPr/>
          <p:nvPr/>
        </p:nvCxnSpPr>
        <p:spPr>
          <a:xfrm>
            <a:off x="10339051" y="4794603"/>
            <a:ext cx="484825"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3621892B-8381-1947-B080-8F5333FCA368}"/>
              </a:ext>
            </a:extLst>
          </p:cNvPr>
          <p:cNvCxnSpPr>
            <a:cxnSpLocks/>
          </p:cNvCxnSpPr>
          <p:nvPr/>
        </p:nvCxnSpPr>
        <p:spPr>
          <a:xfrm flipH="1" flipV="1">
            <a:off x="9686544" y="4794603"/>
            <a:ext cx="486000"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7EBDF6AA-2C8D-2D42-9183-BA71CAADBE41}"/>
              </a:ext>
            </a:extLst>
          </p:cNvPr>
          <p:cNvSpPr txBox="1"/>
          <p:nvPr/>
        </p:nvSpPr>
        <p:spPr>
          <a:xfrm>
            <a:off x="10383335" y="4436078"/>
            <a:ext cx="563663"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F</a:t>
            </a:r>
            <a:r>
              <a:rPr lang="en-US" baseline="-25000" dirty="0">
                <a:latin typeface="Arial" panose="020B0604020202020204" pitchFamily="34" charset="0"/>
                <a:cs typeface="Arial" panose="020B0604020202020204" pitchFamily="34" charset="0"/>
              </a:rPr>
              <a:t>D</a:t>
            </a:r>
          </a:p>
        </p:txBody>
      </p:sp>
      <p:sp>
        <p:nvSpPr>
          <p:cNvPr id="85" name="TextBox 84">
            <a:extLst>
              <a:ext uri="{FF2B5EF4-FFF2-40B4-BE49-F238E27FC236}">
                <a16:creationId xmlns:a16="http://schemas.microsoft.com/office/drawing/2014/main" id="{2337642E-6EA7-D847-82A7-EAC6C2F177B2}"/>
              </a:ext>
            </a:extLst>
          </p:cNvPr>
          <p:cNvSpPr txBox="1"/>
          <p:nvPr/>
        </p:nvSpPr>
        <p:spPr>
          <a:xfrm>
            <a:off x="9773043" y="4415907"/>
            <a:ext cx="563663"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F</a:t>
            </a:r>
            <a:r>
              <a:rPr lang="en-US" baseline="-25000" dirty="0">
                <a:latin typeface="Arial" panose="020B0604020202020204" pitchFamily="34" charset="0"/>
                <a:cs typeface="Arial" panose="020B0604020202020204" pitchFamily="34" charset="0"/>
              </a:rPr>
              <a:t>C</a:t>
            </a:r>
          </a:p>
        </p:txBody>
      </p:sp>
      <p:cxnSp>
        <p:nvCxnSpPr>
          <p:cNvPr id="87" name="Straight Connector 86">
            <a:extLst>
              <a:ext uri="{FF2B5EF4-FFF2-40B4-BE49-F238E27FC236}">
                <a16:creationId xmlns:a16="http://schemas.microsoft.com/office/drawing/2014/main" id="{0845062A-23A0-6643-8848-7E568666512E}"/>
              </a:ext>
            </a:extLst>
          </p:cNvPr>
          <p:cNvCxnSpPr/>
          <p:nvPr/>
        </p:nvCxnSpPr>
        <p:spPr>
          <a:xfrm>
            <a:off x="8427311" y="3990414"/>
            <a:ext cx="0" cy="20571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9" name="Freeform 88">
            <a:extLst>
              <a:ext uri="{FF2B5EF4-FFF2-40B4-BE49-F238E27FC236}">
                <a16:creationId xmlns:a16="http://schemas.microsoft.com/office/drawing/2014/main" id="{ACDA9AD3-DC32-F74D-9E41-D7F3B608761E}"/>
              </a:ext>
            </a:extLst>
          </p:cNvPr>
          <p:cNvSpPr/>
          <p:nvPr/>
        </p:nvSpPr>
        <p:spPr>
          <a:xfrm>
            <a:off x="8526165" y="4003589"/>
            <a:ext cx="543698" cy="1902941"/>
          </a:xfrm>
          <a:custGeom>
            <a:avLst/>
            <a:gdLst>
              <a:gd name="connsiteX0" fmla="*/ 0 w 543698"/>
              <a:gd name="connsiteY0" fmla="*/ 1902941 h 1902941"/>
              <a:gd name="connsiteX1" fmla="*/ 148281 w 543698"/>
              <a:gd name="connsiteY1" fmla="*/ 1729946 h 1902941"/>
              <a:gd name="connsiteX2" fmla="*/ 321276 w 543698"/>
              <a:gd name="connsiteY2" fmla="*/ 1458097 h 1902941"/>
              <a:gd name="connsiteX3" fmla="*/ 444844 w 543698"/>
              <a:gd name="connsiteY3" fmla="*/ 1075038 h 1902941"/>
              <a:gd name="connsiteX4" fmla="*/ 506627 w 543698"/>
              <a:gd name="connsiteY4" fmla="*/ 580768 h 1902941"/>
              <a:gd name="connsiteX5" fmla="*/ 543698 w 543698"/>
              <a:gd name="connsiteY5" fmla="*/ 0 h 1902941"/>
              <a:gd name="connsiteX6" fmla="*/ 543698 w 543698"/>
              <a:gd name="connsiteY6" fmla="*/ 0 h 190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3698" h="1902941">
                <a:moveTo>
                  <a:pt x="0" y="1902941"/>
                </a:moveTo>
                <a:cubicBezTo>
                  <a:pt x="47367" y="1853514"/>
                  <a:pt x="94735" y="1804087"/>
                  <a:pt x="148281" y="1729946"/>
                </a:cubicBezTo>
                <a:cubicBezTo>
                  <a:pt x="201827" y="1655805"/>
                  <a:pt x="271849" y="1567248"/>
                  <a:pt x="321276" y="1458097"/>
                </a:cubicBezTo>
                <a:cubicBezTo>
                  <a:pt x="370703" y="1348946"/>
                  <a:pt x="413952" y="1221259"/>
                  <a:pt x="444844" y="1075038"/>
                </a:cubicBezTo>
                <a:cubicBezTo>
                  <a:pt x="475736" y="928817"/>
                  <a:pt x="490151" y="759941"/>
                  <a:pt x="506627" y="580768"/>
                </a:cubicBezTo>
                <a:cubicBezTo>
                  <a:pt x="523103" y="401595"/>
                  <a:pt x="543698" y="0"/>
                  <a:pt x="543698" y="0"/>
                </a:cubicBezTo>
                <a:lnTo>
                  <a:pt x="543698" y="0"/>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1" name="Straight Arrow Connector 90">
            <a:extLst>
              <a:ext uri="{FF2B5EF4-FFF2-40B4-BE49-F238E27FC236}">
                <a16:creationId xmlns:a16="http://schemas.microsoft.com/office/drawing/2014/main" id="{01CAB0C8-518E-D94E-94EB-A774E7F482A8}"/>
              </a:ext>
            </a:extLst>
          </p:cNvPr>
          <p:cNvCxnSpPr>
            <a:cxnSpLocks/>
          </p:cNvCxnSpPr>
          <p:nvPr/>
        </p:nvCxnSpPr>
        <p:spPr>
          <a:xfrm flipV="1">
            <a:off x="8427311" y="4855356"/>
            <a:ext cx="597584" cy="1"/>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4" name="Rectangle 93">
                <a:extLst>
                  <a:ext uri="{FF2B5EF4-FFF2-40B4-BE49-F238E27FC236}">
                    <a16:creationId xmlns:a16="http://schemas.microsoft.com/office/drawing/2014/main" id="{0696F1E4-0498-F642-9C7D-C1AD690A6F92}"/>
                  </a:ext>
                </a:extLst>
              </p:cNvPr>
              <p:cNvSpPr/>
              <p:nvPr/>
            </p:nvSpPr>
            <p:spPr>
              <a:xfrm>
                <a:off x="8395114" y="4509366"/>
                <a:ext cx="68422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d>
                        <m:dPr>
                          <m:ctrlPr>
                            <a:rPr lang="en-US"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𝑧</m:t>
                          </m:r>
                        </m:e>
                      </m:d>
                    </m:oMath>
                  </m:oMathPara>
                </a14:m>
                <a:endParaRPr lang="en-US" dirty="0"/>
              </a:p>
            </p:txBody>
          </p:sp>
        </mc:Choice>
        <mc:Fallback xmlns="">
          <p:sp>
            <p:nvSpPr>
              <p:cNvPr id="94" name="Rectangle 93">
                <a:extLst>
                  <a:ext uri="{FF2B5EF4-FFF2-40B4-BE49-F238E27FC236}">
                    <a16:creationId xmlns:a16="http://schemas.microsoft.com/office/drawing/2014/main" id="{0696F1E4-0498-F642-9C7D-C1AD690A6F92}"/>
                  </a:ext>
                </a:extLst>
              </p:cNvPr>
              <p:cNvSpPr>
                <a:spLocks noRot="1" noChangeAspect="1" noMove="1" noResize="1" noEditPoints="1" noAdjustHandles="1" noChangeArrowheads="1" noChangeShapeType="1" noTextEdit="1"/>
              </p:cNvSpPr>
              <p:nvPr/>
            </p:nvSpPr>
            <p:spPr>
              <a:xfrm>
                <a:off x="8395114" y="4509366"/>
                <a:ext cx="684226" cy="369332"/>
              </a:xfrm>
              <a:prstGeom prst="rect">
                <a:avLst/>
              </a:prstGeom>
              <a:blipFill>
                <a:blip r:embed="rId3"/>
                <a:stretch>
                  <a:fillRect/>
                </a:stretch>
              </a:blipFill>
            </p:spPr>
            <p:txBody>
              <a:bodyPr/>
              <a:lstStyle/>
              <a:p>
                <a:r>
                  <a:rPr lang="en-US">
                    <a:noFill/>
                  </a:rPr>
                  <a:t> </a:t>
                </a:r>
              </a:p>
            </p:txBody>
          </p:sp>
        </mc:Fallback>
      </mc:AlternateContent>
      <p:cxnSp>
        <p:nvCxnSpPr>
          <p:cNvPr id="98" name="Straight Arrow Connector 97">
            <a:extLst>
              <a:ext uri="{FF2B5EF4-FFF2-40B4-BE49-F238E27FC236}">
                <a16:creationId xmlns:a16="http://schemas.microsoft.com/office/drawing/2014/main" id="{ABE8FB50-C61B-B54C-8210-ACA3EB998C43}"/>
              </a:ext>
            </a:extLst>
          </p:cNvPr>
          <p:cNvCxnSpPr/>
          <p:nvPr/>
        </p:nvCxnSpPr>
        <p:spPr>
          <a:xfrm flipV="1">
            <a:off x="8056605" y="5548184"/>
            <a:ext cx="0" cy="499384"/>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DE684B16-96A2-7844-83A8-48B1BA54B468}"/>
              </a:ext>
            </a:extLst>
          </p:cNvPr>
          <p:cNvSpPr txBox="1"/>
          <p:nvPr/>
        </p:nvSpPr>
        <p:spPr>
          <a:xfrm>
            <a:off x="7773552" y="5447936"/>
            <a:ext cx="334786"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z</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8A20586-CFB6-864A-AA59-B6263DE93B70}"/>
                  </a:ext>
                </a:extLst>
              </p:cNvPr>
              <p:cNvSpPr txBox="1"/>
              <p:nvPr/>
            </p:nvSpPr>
            <p:spPr>
              <a:xfrm>
                <a:off x="686206" y="3943989"/>
                <a:ext cx="2112630" cy="660181"/>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𝐹</m:t>
                          </m:r>
                        </m:e>
                        <m:sub>
                          <m:r>
                            <a:rPr lang="en-US" b="0" i="1" smtClean="0">
                              <a:latin typeface="Cambria Math" panose="02040503050406030204" pitchFamily="18" charset="0"/>
                              <a:cs typeface="Arial" panose="020B0604020202020204" pitchFamily="34" charset="0"/>
                            </a:rPr>
                            <m:t>𝐷</m:t>
                          </m:r>
                        </m:sub>
                      </m:sSub>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
                            <a:rPr lang="en-US" b="0" i="1" smtClean="0">
                              <a:latin typeface="Cambria Math" panose="02040503050406030204" pitchFamily="18" charset="0"/>
                              <a:cs typeface="Arial" panose="020B0604020202020204" pitchFamily="34" charset="0"/>
                            </a:rPr>
                            <m:t>2</m:t>
                          </m:r>
                        </m:den>
                      </m:f>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𝐷</m:t>
                          </m:r>
                        </m:sub>
                      </m:sSub>
                      <m:r>
                        <a:rPr lang="en-US" b="0" i="1" smtClean="0">
                          <a:latin typeface="Cambria Math" panose="02040503050406030204" pitchFamily="18" charset="0"/>
                          <a:ea typeface="Cambria Math" panose="02040503050406030204" pitchFamily="18" charset="0"/>
                          <a:cs typeface="Arial" panose="020B0604020202020204" pitchFamily="34" charset="0"/>
                        </a:rPr>
                        <m:t>𝜌𝜋</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𝐷</m:t>
                                  </m:r>
                                </m:num>
                                <m:den>
                                  <m:r>
                                    <a:rPr lang="en-US" b="0" i="1" smtClean="0">
                                      <a:latin typeface="Cambria Math" panose="02040503050406030204" pitchFamily="18" charset="0"/>
                                      <a:ea typeface="Cambria Math" panose="02040503050406030204" pitchFamily="18" charset="0"/>
                                      <a:cs typeface="Arial" panose="020B0604020202020204" pitchFamily="34" charset="0"/>
                                    </a:rPr>
                                    <m:t>2</m:t>
                                  </m:r>
                                </m:den>
                              </m:f>
                            </m:e>
                          </m:d>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sSubSup>
                        <m:sSub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b>
                          <m:r>
                            <a:rPr lang="en-US" b="0" i="1" smtClean="0">
                              <a:latin typeface="Cambria Math" panose="02040503050406030204" pitchFamily="18" charset="0"/>
                              <a:ea typeface="Cambria Math" panose="02040503050406030204" pitchFamily="18" charset="0"/>
                              <a:cs typeface="Arial" panose="020B0604020202020204" pitchFamily="34" charset="0"/>
                            </a:rPr>
                            <m:t>𝑓</m:t>
                          </m:r>
                        </m:sub>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bSup>
                    </m:oMath>
                  </m:oMathPara>
                </a14:m>
                <a:endParaRPr lang="en-US" dirty="0">
                  <a:latin typeface="Arial" panose="020B0604020202020204" pitchFamily="34" charset="0"/>
                  <a:cs typeface="Arial" panose="020B0604020202020204" pitchFamily="34" charset="0"/>
                </a:endParaRPr>
              </a:p>
            </p:txBody>
          </p:sp>
        </mc:Choice>
        <mc:Fallback xmlns="">
          <p:sp>
            <p:nvSpPr>
              <p:cNvPr id="2" name="TextBox 1">
                <a:extLst>
                  <a:ext uri="{FF2B5EF4-FFF2-40B4-BE49-F238E27FC236}">
                    <a16:creationId xmlns:a16="http://schemas.microsoft.com/office/drawing/2014/main" id="{B8A20586-CFB6-864A-AA59-B6263DE93B70}"/>
                  </a:ext>
                </a:extLst>
              </p:cNvPr>
              <p:cNvSpPr txBox="1">
                <a:spLocks noRot="1" noChangeAspect="1" noMove="1" noResize="1" noEditPoints="1" noAdjustHandles="1" noChangeArrowheads="1" noChangeShapeType="1" noTextEdit="1"/>
              </p:cNvSpPr>
              <p:nvPr/>
            </p:nvSpPr>
            <p:spPr>
              <a:xfrm>
                <a:off x="686206" y="3943989"/>
                <a:ext cx="2112630" cy="660181"/>
              </a:xfrm>
              <a:prstGeom prst="rect">
                <a:avLst/>
              </a:prstGeom>
              <a:blipFill>
                <a:blip r:embed="rId4"/>
                <a:stretch>
                  <a:fillRect l="-2395" b="-5660"/>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29DAB1D8-35A1-0C44-A939-8E2556D45F74}"/>
              </a:ext>
            </a:extLst>
          </p:cNvPr>
          <p:cNvSpPr txBox="1"/>
          <p:nvPr/>
        </p:nvSpPr>
        <p:spPr>
          <a:xfrm>
            <a:off x="3301666" y="3963699"/>
            <a:ext cx="4153701" cy="697499"/>
          </a:xfrm>
          <a:prstGeom prst="rect">
            <a:avLst/>
          </a:prstGeom>
          <a:noFill/>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impelling fluid drag force </a:t>
            </a:r>
          </a:p>
          <a:p>
            <a:pPr algn="l">
              <a:lnSpc>
                <a:spcPct val="114000"/>
              </a:lnSpc>
            </a:pPr>
            <a:r>
              <a:rPr lang="en-US" dirty="0" err="1">
                <a:latin typeface="Arial" panose="020B0604020202020204" pitchFamily="34" charset="0"/>
                <a:cs typeface="Arial" panose="020B0604020202020204" pitchFamily="34" charset="0"/>
              </a:rPr>
              <a:t>u</a:t>
            </a:r>
            <a:r>
              <a:rPr lang="en-US" baseline="-25000" dirty="0" err="1">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 fluid velocity relative to the particle</a:t>
            </a:r>
          </a:p>
        </p:txBody>
      </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CCFB833-371E-6E4C-85DF-10C6D080FB2C}"/>
                  </a:ext>
                </a:extLst>
              </p:cNvPr>
              <p:cNvSpPr txBox="1"/>
              <p:nvPr/>
            </p:nvSpPr>
            <p:spPr>
              <a:xfrm>
                <a:off x="686206" y="4705515"/>
                <a:ext cx="2156681" cy="660181"/>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𝐹</m:t>
                          </m:r>
                        </m:e>
                        <m:sub>
                          <m:r>
                            <a:rPr lang="en-US" b="0" i="1" smtClean="0">
                              <a:latin typeface="Cambria Math" panose="02040503050406030204" pitchFamily="18" charset="0"/>
                              <a:cs typeface="Arial" panose="020B0604020202020204" pitchFamily="34" charset="0"/>
                            </a:rPr>
                            <m:t>𝐶</m:t>
                          </m:r>
                        </m:sub>
                      </m:sSub>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𝜇</m:t>
                          </m:r>
                        </m:e>
                        <m:sub>
                          <m:r>
                            <a:rPr lang="en-US" b="0" i="1" smtClean="0">
                              <a:latin typeface="Cambria Math" panose="02040503050406030204" pitchFamily="18" charset="0"/>
                              <a:cs typeface="Arial" panose="020B0604020202020204" pitchFamily="34" charset="0"/>
                            </a:rPr>
                            <m:t>𝐶</m:t>
                          </m:r>
                        </m:sub>
                      </m:sSub>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𝑅𝑔</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4</m:t>
                          </m:r>
                        </m:num>
                        <m:den>
                          <m:r>
                            <a:rPr lang="en-US" i="1">
                              <a:latin typeface="Cambria Math" panose="02040503050406030204" pitchFamily="18" charset="0"/>
                              <a:cs typeface="Arial" panose="020B0604020202020204" pitchFamily="34" charset="0"/>
                            </a:rPr>
                            <m:t>3</m:t>
                          </m:r>
                        </m:den>
                      </m:f>
                      <m:r>
                        <a:rPr lang="en-US" b="0" i="1" smtClean="0">
                          <a:latin typeface="Cambria Math" panose="02040503050406030204" pitchFamily="18" charset="0"/>
                          <a:ea typeface="Cambria Math" panose="02040503050406030204" pitchFamily="18" charset="0"/>
                          <a:cs typeface="Arial" panose="020B0604020202020204" pitchFamily="34" charset="0"/>
                        </a:rPr>
                        <m:t>𝜋</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𝐷</m:t>
                                  </m:r>
                                </m:num>
                                <m:den>
                                  <m:r>
                                    <a:rPr lang="en-US" b="0" i="1" smtClean="0">
                                      <a:latin typeface="Cambria Math" panose="02040503050406030204" pitchFamily="18" charset="0"/>
                                      <a:ea typeface="Cambria Math" panose="02040503050406030204" pitchFamily="18" charset="0"/>
                                      <a:cs typeface="Arial" panose="020B0604020202020204" pitchFamily="34" charset="0"/>
                                    </a:rPr>
                                    <m:t>2</m:t>
                                  </m:r>
                                </m:den>
                              </m:f>
                            </m:e>
                          </m:d>
                        </m:e>
                        <m:sup>
                          <m:r>
                            <a:rPr lang="en-US" b="0" i="1" smtClean="0">
                              <a:latin typeface="Cambria Math" panose="02040503050406030204" pitchFamily="18" charset="0"/>
                              <a:ea typeface="Cambria Math" panose="02040503050406030204" pitchFamily="18" charset="0"/>
                              <a:cs typeface="Arial" panose="020B0604020202020204" pitchFamily="34" charset="0"/>
                            </a:rPr>
                            <m:t>3</m:t>
                          </m:r>
                        </m:sup>
                      </m:sSup>
                    </m:oMath>
                  </m:oMathPara>
                </a14:m>
                <a:endParaRPr lang="en-US" dirty="0">
                  <a:latin typeface="Arial" panose="020B0604020202020204" pitchFamily="34" charset="0"/>
                  <a:cs typeface="Arial" panose="020B0604020202020204" pitchFamily="34" charset="0"/>
                </a:endParaRPr>
              </a:p>
            </p:txBody>
          </p:sp>
        </mc:Choice>
        <mc:Fallback xmlns="">
          <p:sp>
            <p:nvSpPr>
              <p:cNvPr id="50" name="TextBox 49">
                <a:extLst>
                  <a:ext uri="{FF2B5EF4-FFF2-40B4-BE49-F238E27FC236}">
                    <a16:creationId xmlns:a16="http://schemas.microsoft.com/office/drawing/2014/main" id="{ECCFB833-371E-6E4C-85DF-10C6D080FB2C}"/>
                  </a:ext>
                </a:extLst>
              </p:cNvPr>
              <p:cNvSpPr txBox="1">
                <a:spLocks noRot="1" noChangeAspect="1" noMove="1" noResize="1" noEditPoints="1" noAdjustHandles="1" noChangeArrowheads="1" noChangeShapeType="1" noTextEdit="1"/>
              </p:cNvSpPr>
              <p:nvPr/>
            </p:nvSpPr>
            <p:spPr>
              <a:xfrm>
                <a:off x="686206" y="4705515"/>
                <a:ext cx="2156681" cy="660181"/>
              </a:xfrm>
              <a:prstGeom prst="rect">
                <a:avLst/>
              </a:prstGeom>
              <a:blipFill>
                <a:blip r:embed="rId5"/>
                <a:stretch>
                  <a:fillRect l="-2353" r="-588" b="-5660"/>
                </a:stretch>
              </a:blipFill>
            </p:spPr>
            <p:txBody>
              <a:bodyPr/>
              <a:lstStyle/>
              <a:p>
                <a:r>
                  <a:rPr lang="en-US">
                    <a:noFill/>
                  </a:rPr>
                  <a:t> </a:t>
                </a:r>
              </a:p>
            </p:txBody>
          </p:sp>
        </mc:Fallback>
      </mc:AlternateContent>
      <p:sp>
        <p:nvSpPr>
          <p:cNvPr id="51" name="TextBox 50">
            <a:extLst>
              <a:ext uri="{FF2B5EF4-FFF2-40B4-BE49-F238E27FC236}">
                <a16:creationId xmlns:a16="http://schemas.microsoft.com/office/drawing/2014/main" id="{4D418C95-6A7A-4140-8EBA-93F091960BCD}"/>
              </a:ext>
            </a:extLst>
          </p:cNvPr>
          <p:cNvSpPr txBox="1"/>
          <p:nvPr/>
        </p:nvSpPr>
        <p:spPr>
          <a:xfrm>
            <a:off x="3357311" y="4887323"/>
            <a:ext cx="2595582" cy="381708"/>
          </a:xfrm>
          <a:prstGeom prst="rect">
            <a:avLst/>
          </a:prstGeom>
          <a:noFill/>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Coulomb resistive force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4D6E714-775C-014D-B3C1-B518762D8455}"/>
                  </a:ext>
                </a:extLst>
              </p:cNvPr>
              <p:cNvSpPr txBox="1"/>
              <p:nvPr/>
            </p:nvSpPr>
            <p:spPr>
              <a:xfrm>
                <a:off x="686206" y="5762417"/>
                <a:ext cx="850489"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𝐹</m:t>
                          </m:r>
                        </m:e>
                        <m:sub>
                          <m:r>
                            <a:rPr lang="en-US" b="0" i="1" smtClean="0">
                              <a:latin typeface="Cambria Math" panose="02040503050406030204" pitchFamily="18" charset="0"/>
                              <a:cs typeface="Arial" panose="020B0604020202020204" pitchFamily="34" charset="0"/>
                            </a:rPr>
                            <m:t>𝐷</m:t>
                          </m:r>
                        </m:sub>
                      </m:sSub>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𝐹</m:t>
                          </m:r>
                        </m:e>
                        <m:sub>
                          <m:r>
                            <a:rPr lang="en-US" b="0" i="1" smtClean="0">
                              <a:latin typeface="Cambria Math" panose="02040503050406030204" pitchFamily="18" charset="0"/>
                              <a:cs typeface="Arial" panose="020B0604020202020204" pitchFamily="34" charset="0"/>
                            </a:rPr>
                            <m:t>𝐶</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D4D6E714-775C-014D-B3C1-B518762D8455}"/>
                  </a:ext>
                </a:extLst>
              </p:cNvPr>
              <p:cNvSpPr txBox="1">
                <a:spLocks noRot="1" noChangeAspect="1" noMove="1" noResize="1" noEditPoints="1" noAdjustHandles="1" noChangeArrowheads="1" noChangeShapeType="1" noTextEdit="1"/>
              </p:cNvSpPr>
              <p:nvPr/>
            </p:nvSpPr>
            <p:spPr>
              <a:xfrm>
                <a:off x="686206" y="5762417"/>
                <a:ext cx="850489" cy="315792"/>
              </a:xfrm>
              <a:prstGeom prst="rect">
                <a:avLst/>
              </a:prstGeom>
              <a:blipFill>
                <a:blip r:embed="rId6"/>
                <a:stretch>
                  <a:fillRect l="-5970" b="-38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BA8AD443-6FFB-AE4D-98EE-2C116D9DF0AD}"/>
                  </a:ext>
                </a:extLst>
              </p:cNvPr>
              <p:cNvSpPr txBox="1"/>
              <p:nvPr/>
            </p:nvSpPr>
            <p:spPr>
              <a:xfrm>
                <a:off x="1836294" y="5596575"/>
                <a:ext cx="3418821" cy="660181"/>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
                            <a:rPr lang="en-US" b="0" i="1" smtClean="0">
                              <a:latin typeface="Cambria Math" panose="02040503050406030204" pitchFamily="18" charset="0"/>
                              <a:cs typeface="Arial" panose="020B0604020202020204" pitchFamily="34" charset="0"/>
                            </a:rPr>
                            <m:t>2</m:t>
                          </m:r>
                        </m:den>
                      </m:f>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𝐷</m:t>
                          </m:r>
                        </m:sub>
                      </m:sSub>
                      <m:r>
                        <a:rPr lang="en-US" b="0" i="1" smtClean="0">
                          <a:latin typeface="Cambria Math" panose="02040503050406030204" pitchFamily="18" charset="0"/>
                          <a:ea typeface="Cambria Math" panose="02040503050406030204" pitchFamily="18" charset="0"/>
                          <a:cs typeface="Arial" panose="020B0604020202020204" pitchFamily="34" charset="0"/>
                        </a:rPr>
                        <m:t>𝜌𝜋</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𝐷</m:t>
                                  </m:r>
                                </m:num>
                                <m:den>
                                  <m:r>
                                    <a:rPr lang="en-US" b="0" i="1" smtClean="0">
                                      <a:latin typeface="Cambria Math" panose="02040503050406030204" pitchFamily="18" charset="0"/>
                                      <a:ea typeface="Cambria Math" panose="02040503050406030204" pitchFamily="18" charset="0"/>
                                      <a:cs typeface="Arial" panose="020B0604020202020204" pitchFamily="34" charset="0"/>
                                    </a:rPr>
                                    <m:t>2</m:t>
                                  </m:r>
                                </m:den>
                              </m:f>
                            </m:e>
                          </m:d>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sSubSup>
                        <m:sSub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b>
                          <m:r>
                            <a:rPr lang="en-US" b="0" i="1" smtClean="0">
                              <a:latin typeface="Cambria Math" panose="02040503050406030204" pitchFamily="18" charset="0"/>
                              <a:ea typeface="Cambria Math" panose="02040503050406030204" pitchFamily="18" charset="0"/>
                              <a:cs typeface="Arial" panose="020B0604020202020204" pitchFamily="34" charset="0"/>
                            </a:rPr>
                            <m:t>𝑓</m:t>
                          </m:r>
                        </m:sub>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bSup>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𝜇</m:t>
                          </m:r>
                        </m:e>
                        <m:sub>
                          <m:r>
                            <a:rPr lang="en-US" i="1">
                              <a:latin typeface="Cambria Math" panose="02040503050406030204" pitchFamily="18" charset="0"/>
                              <a:cs typeface="Arial" panose="020B0604020202020204" pitchFamily="34" charset="0"/>
                            </a:rPr>
                            <m:t>𝐶</m:t>
                          </m:r>
                        </m:sub>
                      </m:sSub>
                      <m:r>
                        <a:rPr lang="en-US" i="1">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𝑅</m:t>
                      </m:r>
                      <m:r>
                        <a:rPr lang="en-US" i="1">
                          <a:latin typeface="Cambria Math" panose="02040503050406030204" pitchFamily="18" charset="0"/>
                          <a:ea typeface="Cambria Math" panose="02040503050406030204" pitchFamily="18" charset="0"/>
                          <a:cs typeface="Arial" panose="020B0604020202020204" pitchFamily="34" charset="0"/>
                        </a:rPr>
                        <m:t>𝑔</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4</m:t>
                          </m:r>
                        </m:num>
                        <m:den>
                          <m:r>
                            <a:rPr lang="en-US" i="1">
                              <a:latin typeface="Cambria Math" panose="02040503050406030204" pitchFamily="18" charset="0"/>
                              <a:cs typeface="Arial" panose="020B0604020202020204" pitchFamily="34" charset="0"/>
                            </a:rPr>
                            <m:t>3</m:t>
                          </m:r>
                        </m:den>
                      </m:f>
                      <m:r>
                        <a:rPr lang="en-US" i="1">
                          <a:latin typeface="Cambria Math" panose="02040503050406030204" pitchFamily="18" charset="0"/>
                          <a:ea typeface="Cambria Math" panose="02040503050406030204" pitchFamily="18" charset="0"/>
                          <a:cs typeface="Arial" panose="020B0604020202020204" pitchFamily="34" charset="0"/>
                        </a:rPr>
                        <m:t>𝜋</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𝐷</m:t>
                                  </m:r>
                                </m:num>
                                <m:den>
                                  <m:r>
                                    <a:rPr lang="en-US" i="1">
                                      <a:latin typeface="Cambria Math" panose="02040503050406030204" pitchFamily="18" charset="0"/>
                                      <a:ea typeface="Cambria Math" panose="02040503050406030204" pitchFamily="18" charset="0"/>
                                      <a:cs typeface="Arial" panose="020B0604020202020204" pitchFamily="34" charset="0"/>
                                    </a:rPr>
                                    <m:t>2</m:t>
                                  </m:r>
                                </m:den>
                              </m:f>
                            </m:e>
                          </m:d>
                        </m:e>
                        <m:sup>
                          <m:r>
                            <a:rPr lang="en-US" i="1">
                              <a:latin typeface="Cambria Math" panose="02040503050406030204" pitchFamily="18" charset="0"/>
                              <a:ea typeface="Cambria Math" panose="02040503050406030204" pitchFamily="18" charset="0"/>
                              <a:cs typeface="Arial" panose="020B0604020202020204" pitchFamily="34" charset="0"/>
                            </a:rPr>
                            <m:t>3</m:t>
                          </m:r>
                        </m:sup>
                      </m:sSup>
                    </m:oMath>
                  </m:oMathPara>
                </a14:m>
                <a:endParaRPr lang="en-US" dirty="0">
                  <a:latin typeface="Arial" panose="020B0604020202020204" pitchFamily="34" charset="0"/>
                  <a:cs typeface="Arial" panose="020B0604020202020204" pitchFamily="34" charset="0"/>
                </a:endParaRPr>
              </a:p>
            </p:txBody>
          </p:sp>
        </mc:Choice>
        <mc:Fallback xmlns="">
          <p:sp>
            <p:nvSpPr>
              <p:cNvPr id="53" name="TextBox 52">
                <a:extLst>
                  <a:ext uri="{FF2B5EF4-FFF2-40B4-BE49-F238E27FC236}">
                    <a16:creationId xmlns:a16="http://schemas.microsoft.com/office/drawing/2014/main" id="{BA8AD443-6FFB-AE4D-98EE-2C116D9DF0AD}"/>
                  </a:ext>
                </a:extLst>
              </p:cNvPr>
              <p:cNvSpPr txBox="1">
                <a:spLocks noRot="1" noChangeAspect="1" noMove="1" noResize="1" noEditPoints="1" noAdjustHandles="1" noChangeArrowheads="1" noChangeShapeType="1" noTextEdit="1"/>
              </p:cNvSpPr>
              <p:nvPr/>
            </p:nvSpPr>
            <p:spPr>
              <a:xfrm>
                <a:off x="1836294" y="5596575"/>
                <a:ext cx="3418821" cy="660181"/>
              </a:xfrm>
              <a:prstGeom prst="rect">
                <a:avLst/>
              </a:prstGeom>
              <a:blipFill>
                <a:blip r:embed="rId7"/>
                <a:stretch>
                  <a:fillRect l="-1111" b="-5660"/>
                </a:stretch>
              </a:blipFill>
            </p:spPr>
            <p:txBody>
              <a:bodyPr/>
              <a:lstStyle/>
              <a:p>
                <a:r>
                  <a:rPr lang="en-US">
                    <a:noFill/>
                  </a:rPr>
                  <a:t> </a:t>
                </a:r>
              </a:p>
            </p:txBody>
          </p:sp>
        </mc:Fallback>
      </mc:AlternateContent>
    </p:spTree>
    <p:extLst>
      <p:ext uri="{BB962C8B-B14F-4D97-AF65-F5344CB8AC3E}">
        <p14:creationId xmlns:p14="http://schemas.microsoft.com/office/powerpoint/2010/main" val="18831348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12</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85351" y="136525"/>
            <a:ext cx="11800703"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Threshold of motion, turbulent rough flow over a nearly flat bed</a:t>
            </a:r>
          </a:p>
        </p:txBody>
      </p:sp>
      <p:sp>
        <p:nvSpPr>
          <p:cNvPr id="9" name="TextBox 8">
            <a:extLst>
              <a:ext uri="{FF2B5EF4-FFF2-40B4-BE49-F238E27FC236}">
                <a16:creationId xmlns:a16="http://schemas.microsoft.com/office/drawing/2014/main" id="{1E817250-3C3A-BE4F-95CC-C14166F9648C}"/>
              </a:ext>
            </a:extLst>
          </p:cNvPr>
          <p:cNvSpPr txBox="1"/>
          <p:nvPr/>
        </p:nvSpPr>
        <p:spPr>
          <a:xfrm>
            <a:off x="580767" y="820523"/>
            <a:ext cx="11133437" cy="2908040"/>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Here we compute a value of the critical Shields number for gravel. A complete analysis can be found in Ikeda (1982) and </a:t>
            </a:r>
            <a:r>
              <a:rPr lang="en-US" dirty="0" err="1">
                <a:latin typeface="Arial" panose="020B0604020202020204" pitchFamily="34" charset="0"/>
                <a:cs typeface="Arial" panose="020B0604020202020204" pitchFamily="34" charset="0"/>
              </a:rPr>
              <a:t>Wiberg</a:t>
            </a:r>
            <a:r>
              <a:rPr lang="en-US" dirty="0">
                <a:latin typeface="Arial" panose="020B0604020202020204" pitchFamily="34" charset="0"/>
                <a:cs typeface="Arial" panose="020B0604020202020204" pitchFamily="34" charset="0"/>
              </a:rPr>
              <a:t> and Smith (1987). </a:t>
            </a:r>
          </a:p>
          <a:p>
            <a:pPr algn="l">
              <a:lnSpc>
                <a:spcPct val="114000"/>
              </a:lnSpc>
            </a:pPr>
            <a:r>
              <a:rPr lang="en-US" dirty="0">
                <a:latin typeface="Arial" panose="020B0604020202020204" pitchFamily="34" charset="0"/>
                <a:cs typeface="Arial" panose="020B0604020202020204" pitchFamily="34" charset="0"/>
              </a:rPr>
              <a:t>Let’s assume that </a:t>
            </a:r>
          </a:p>
          <a:p>
            <a:pPr marL="285750" indent="-285750" algn="l">
              <a:lnSpc>
                <a:spcPct val="114000"/>
              </a:lnSpc>
              <a:buFont typeface="Arial" panose="020B0604020202020204" pitchFamily="34" charset="0"/>
              <a:buChar char="•"/>
            </a:pPr>
            <a:r>
              <a:rPr lang="en-US" dirty="0">
                <a:latin typeface="Arial" panose="020B0604020202020204" pitchFamily="34" charset="0"/>
                <a:cs typeface="Arial" panose="020B0604020202020204" pitchFamily="34" charset="0"/>
              </a:rPr>
              <a:t>the granular bed is composed of uniform sediment with grain size D, </a:t>
            </a:r>
          </a:p>
          <a:p>
            <a:pPr marL="285750" indent="-285750" algn="l">
              <a:lnSpc>
                <a:spcPct val="114000"/>
              </a:lnSpc>
              <a:buFont typeface="Arial" panose="020B0604020202020204" pitchFamily="34" charset="0"/>
              <a:buChar char="•"/>
            </a:pPr>
            <a:r>
              <a:rPr lang="en-US" dirty="0">
                <a:latin typeface="Arial" panose="020B0604020202020204" pitchFamily="34" charset="0"/>
                <a:cs typeface="Arial" panose="020B0604020202020204" pitchFamily="34" charset="0"/>
              </a:rPr>
              <a:t>the bed slope S is small (S &lt;&lt; 1), </a:t>
            </a:r>
          </a:p>
          <a:p>
            <a:pPr marL="285750" indent="-285750" algn="l">
              <a:lnSpc>
                <a:spcPct val="114000"/>
              </a:lnSpc>
              <a:buFont typeface="Arial" panose="020B0604020202020204" pitchFamily="34" charset="0"/>
              <a:buChar char="•"/>
            </a:pPr>
            <a:r>
              <a:rPr lang="en-US" dirty="0">
                <a:latin typeface="Arial" panose="020B0604020202020204" pitchFamily="34" charset="0"/>
                <a:cs typeface="Arial" panose="020B0604020202020204" pitchFamily="34" charset="0"/>
              </a:rPr>
              <a:t>the bed roughness is only due to the presence of grains (skin friction) so that </a:t>
            </a:r>
            <a:r>
              <a:rPr lang="en-US" dirty="0" err="1">
                <a:latin typeface="Arial" panose="020B0604020202020204" pitchFamily="34" charset="0"/>
                <a:cs typeface="Arial" panose="020B0604020202020204" pitchFamily="34" charset="0"/>
              </a:rPr>
              <a:t>k</a:t>
            </a:r>
            <a:r>
              <a:rPr lang="en-US" baseline="-25000" dirty="0" err="1">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n</a:t>
            </a:r>
            <a:r>
              <a:rPr lang="en-US" baseline="-25000" dirty="0" err="1">
                <a:latin typeface="Arial" panose="020B0604020202020204" pitchFamily="34" charset="0"/>
                <a:cs typeface="Arial" panose="020B0604020202020204" pitchFamily="34" charset="0"/>
              </a:rPr>
              <a:t>k</a:t>
            </a:r>
            <a:r>
              <a:rPr lang="en-US" dirty="0" err="1">
                <a:latin typeface="Arial" panose="020B0604020202020204" pitchFamily="34" charset="0"/>
                <a:cs typeface="Arial" panose="020B0604020202020204" pitchFamily="34" charset="0"/>
              </a:rPr>
              <a:t>D</a:t>
            </a:r>
            <a:r>
              <a:rPr lang="en-US" dirty="0">
                <a:latin typeface="Arial" panose="020B0604020202020204" pitchFamily="34" charset="0"/>
                <a:cs typeface="Arial" panose="020B0604020202020204" pitchFamily="34" charset="0"/>
              </a:rPr>
              <a:t>,</a:t>
            </a:r>
          </a:p>
          <a:p>
            <a:pPr algn="l">
              <a:lnSpc>
                <a:spcPct val="114000"/>
              </a:lnSpc>
            </a:pPr>
            <a:endParaRPr lang="en-US" dirty="0">
              <a:latin typeface="Arial" panose="020B0604020202020204" pitchFamily="34" charset="0"/>
              <a:cs typeface="Arial" panose="020B0604020202020204" pitchFamily="34" charset="0"/>
            </a:endParaRPr>
          </a:p>
          <a:p>
            <a:pPr algn="l">
              <a:lnSpc>
                <a:spcPct val="114000"/>
              </a:lnSpc>
            </a:pPr>
            <a:r>
              <a:rPr lang="en-US" dirty="0">
                <a:latin typeface="Arial" panose="020B0604020202020204" pitchFamily="34" charset="0"/>
                <a:cs typeface="Arial" panose="020B0604020202020204" pitchFamily="34" charset="0"/>
              </a:rPr>
              <a:t>and we consider the forces acting on an exposed particle (what we did in the static case on slide 6) whose centroid protrudes from the mean bed of </a:t>
            </a:r>
            <a:r>
              <a:rPr lang="en-US" dirty="0" err="1">
                <a:latin typeface="Arial" panose="020B0604020202020204" pitchFamily="34" charset="0"/>
                <a:cs typeface="Arial" panose="020B0604020202020204" pitchFamily="34" charset="0"/>
              </a:rPr>
              <a:t>n</a:t>
            </a:r>
            <a:r>
              <a:rPr lang="en-US" baseline="-25000" dirty="0" err="1">
                <a:latin typeface="Arial" panose="020B0604020202020204" pitchFamily="34" charset="0"/>
                <a:cs typeface="Arial" panose="020B0604020202020204" pitchFamily="34" charset="0"/>
              </a:rPr>
              <a:t>e</a:t>
            </a:r>
            <a:r>
              <a:rPr lang="en-US" dirty="0" err="1">
                <a:latin typeface="Arial" panose="020B0604020202020204" pitchFamily="34" charset="0"/>
                <a:cs typeface="Arial" panose="020B0604020202020204" pitchFamily="34" charset="0"/>
              </a:rPr>
              <a:t>D</a:t>
            </a:r>
            <a:r>
              <a:rPr lang="en-US" dirty="0">
                <a:latin typeface="Arial" panose="020B0604020202020204" pitchFamily="34" charset="0"/>
                <a:cs typeface="Arial" panose="020B0604020202020204" pitchFamily="34" charset="0"/>
              </a:rPr>
              <a:t>. </a:t>
            </a:r>
          </a:p>
        </p:txBody>
      </p:sp>
      <p:sp>
        <p:nvSpPr>
          <p:cNvPr id="12" name="Rectangle 11">
            <a:extLst>
              <a:ext uri="{FF2B5EF4-FFF2-40B4-BE49-F238E27FC236}">
                <a16:creationId xmlns:a16="http://schemas.microsoft.com/office/drawing/2014/main" id="{E2D7EE96-F67F-5341-BB73-F651970EF039}"/>
              </a:ext>
            </a:extLst>
          </p:cNvPr>
          <p:cNvSpPr/>
          <p:nvPr/>
        </p:nvSpPr>
        <p:spPr>
          <a:xfrm>
            <a:off x="7735330" y="3990414"/>
            <a:ext cx="3949993" cy="2047715"/>
          </a:xfrm>
          <a:prstGeom prst="rect">
            <a:avLst/>
          </a:prstGeom>
          <a:solidFill>
            <a:srgbClr val="00B0F0"/>
          </a:solid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1" name="Straight Connector 40">
            <a:extLst>
              <a:ext uri="{FF2B5EF4-FFF2-40B4-BE49-F238E27FC236}">
                <a16:creationId xmlns:a16="http://schemas.microsoft.com/office/drawing/2014/main" id="{54046B39-4842-5248-9227-7A2F3010F4A4}"/>
              </a:ext>
            </a:extLst>
          </p:cNvPr>
          <p:cNvCxnSpPr>
            <a:cxnSpLocks/>
          </p:cNvCxnSpPr>
          <p:nvPr/>
        </p:nvCxnSpPr>
        <p:spPr>
          <a:xfrm flipV="1">
            <a:off x="7488195" y="6047568"/>
            <a:ext cx="4315944" cy="536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6CC0E678-137A-F840-8BD8-781E2EDC0DA0}"/>
              </a:ext>
            </a:extLst>
          </p:cNvPr>
          <p:cNvSpPr>
            <a:spLocks noChangeAspect="1"/>
          </p:cNvSpPr>
          <p:nvPr/>
        </p:nvSpPr>
        <p:spPr>
          <a:xfrm rot="18685415">
            <a:off x="9409236" y="578466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7AFD7C5-9E0E-5647-AD2B-FFA65AD76866}"/>
              </a:ext>
            </a:extLst>
          </p:cNvPr>
          <p:cNvSpPr>
            <a:spLocks noChangeAspect="1"/>
          </p:cNvSpPr>
          <p:nvPr/>
        </p:nvSpPr>
        <p:spPr>
          <a:xfrm rot="18685415">
            <a:off x="9553250" y="578012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4EDD07C9-3B56-CF4A-9728-05185B8B29C4}"/>
              </a:ext>
            </a:extLst>
          </p:cNvPr>
          <p:cNvSpPr>
            <a:spLocks noChangeAspect="1"/>
          </p:cNvSpPr>
          <p:nvPr/>
        </p:nvSpPr>
        <p:spPr>
          <a:xfrm rot="18685415">
            <a:off x="9671552" y="587639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5B28DEA-4A7F-394E-82D6-DC448C42EB2A}"/>
              </a:ext>
            </a:extLst>
          </p:cNvPr>
          <p:cNvSpPr>
            <a:spLocks noChangeAspect="1"/>
          </p:cNvSpPr>
          <p:nvPr/>
        </p:nvSpPr>
        <p:spPr>
          <a:xfrm rot="18685415">
            <a:off x="9802669" y="578333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AC479B5-66DB-1949-A91D-C3348FC48648}"/>
              </a:ext>
            </a:extLst>
          </p:cNvPr>
          <p:cNvSpPr>
            <a:spLocks noChangeAspect="1"/>
          </p:cNvSpPr>
          <p:nvPr/>
        </p:nvSpPr>
        <p:spPr>
          <a:xfrm rot="18685415">
            <a:off x="9926428" y="586263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E5DFD9B-BC67-2E4E-BCA1-52A0749C078B}"/>
              </a:ext>
            </a:extLst>
          </p:cNvPr>
          <p:cNvSpPr>
            <a:spLocks noChangeAspect="1"/>
          </p:cNvSpPr>
          <p:nvPr/>
        </p:nvSpPr>
        <p:spPr>
          <a:xfrm rot="18685415">
            <a:off x="10037739" y="576881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5F16E2E7-965E-BC43-8ADC-FEDE7CBD4D1B}"/>
              </a:ext>
            </a:extLst>
          </p:cNvPr>
          <p:cNvSpPr>
            <a:spLocks noChangeAspect="1"/>
          </p:cNvSpPr>
          <p:nvPr/>
        </p:nvSpPr>
        <p:spPr>
          <a:xfrm rot="18685415">
            <a:off x="10311336" y="575304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FDAD8569-A1CA-A64E-945C-89EAF893F822}"/>
              </a:ext>
            </a:extLst>
          </p:cNvPr>
          <p:cNvSpPr>
            <a:spLocks noChangeAspect="1"/>
          </p:cNvSpPr>
          <p:nvPr/>
        </p:nvSpPr>
        <p:spPr>
          <a:xfrm rot="18685415">
            <a:off x="10181120" y="5830185"/>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025C60B-BFEA-AD43-8ACD-4B3548897E59}"/>
              </a:ext>
            </a:extLst>
          </p:cNvPr>
          <p:cNvSpPr>
            <a:spLocks noChangeAspect="1"/>
          </p:cNvSpPr>
          <p:nvPr/>
        </p:nvSpPr>
        <p:spPr>
          <a:xfrm rot="18685415">
            <a:off x="10419313" y="584831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A073F294-8B62-FA43-B89E-109D12135EAF}"/>
              </a:ext>
            </a:extLst>
          </p:cNvPr>
          <p:cNvSpPr>
            <a:spLocks noChangeAspect="1"/>
          </p:cNvSpPr>
          <p:nvPr/>
        </p:nvSpPr>
        <p:spPr>
          <a:xfrm rot="18685415">
            <a:off x="10562780" y="577439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D30016A7-DD38-C34F-A455-2A5F41AD5228}"/>
              </a:ext>
            </a:extLst>
          </p:cNvPr>
          <p:cNvSpPr>
            <a:spLocks noChangeAspect="1"/>
          </p:cNvSpPr>
          <p:nvPr/>
        </p:nvSpPr>
        <p:spPr>
          <a:xfrm rot="18685415">
            <a:off x="10708938" y="583503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3E4FA1FB-5B34-234B-A146-ECC93A81D761}"/>
              </a:ext>
            </a:extLst>
          </p:cNvPr>
          <p:cNvSpPr>
            <a:spLocks noChangeAspect="1"/>
          </p:cNvSpPr>
          <p:nvPr/>
        </p:nvSpPr>
        <p:spPr>
          <a:xfrm rot="18685415">
            <a:off x="10833224" y="577277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463FCB3C-F60F-1C4D-9717-85F85891DEB1}"/>
              </a:ext>
            </a:extLst>
          </p:cNvPr>
          <p:cNvSpPr>
            <a:spLocks noChangeAspect="1"/>
          </p:cNvSpPr>
          <p:nvPr/>
        </p:nvSpPr>
        <p:spPr>
          <a:xfrm rot="18685415">
            <a:off x="9808901" y="5928911"/>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33C3F489-A495-DD45-946E-CA08EAFEAB4D}"/>
              </a:ext>
            </a:extLst>
          </p:cNvPr>
          <p:cNvSpPr>
            <a:spLocks noChangeAspect="1"/>
          </p:cNvSpPr>
          <p:nvPr/>
        </p:nvSpPr>
        <p:spPr>
          <a:xfrm rot="18685415">
            <a:off x="9927203" y="602517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74612F88-9588-1540-805A-2FBDE8BCDA67}"/>
              </a:ext>
            </a:extLst>
          </p:cNvPr>
          <p:cNvSpPr>
            <a:spLocks noChangeAspect="1"/>
          </p:cNvSpPr>
          <p:nvPr/>
        </p:nvSpPr>
        <p:spPr>
          <a:xfrm rot="18685415">
            <a:off x="10058320" y="593211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E6169A6F-24FA-1943-AA09-78C34C997153}"/>
              </a:ext>
            </a:extLst>
          </p:cNvPr>
          <p:cNvSpPr>
            <a:spLocks noChangeAspect="1"/>
          </p:cNvSpPr>
          <p:nvPr/>
        </p:nvSpPr>
        <p:spPr>
          <a:xfrm rot="18685415">
            <a:off x="10182080" y="601142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B2785B08-4506-B34C-8A25-63B64C247B39}"/>
              </a:ext>
            </a:extLst>
          </p:cNvPr>
          <p:cNvSpPr>
            <a:spLocks noChangeAspect="1"/>
          </p:cNvSpPr>
          <p:nvPr/>
        </p:nvSpPr>
        <p:spPr>
          <a:xfrm rot="18685415">
            <a:off x="10293390" y="591760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22807328-B657-5144-869E-3350821FF819}"/>
              </a:ext>
            </a:extLst>
          </p:cNvPr>
          <p:cNvSpPr>
            <a:spLocks noChangeAspect="1"/>
          </p:cNvSpPr>
          <p:nvPr/>
        </p:nvSpPr>
        <p:spPr>
          <a:xfrm rot="18685415">
            <a:off x="10566988" y="590182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093AAF2-856A-594B-BEB3-FB73986D973D}"/>
              </a:ext>
            </a:extLst>
          </p:cNvPr>
          <p:cNvSpPr>
            <a:spLocks noChangeAspect="1"/>
          </p:cNvSpPr>
          <p:nvPr/>
        </p:nvSpPr>
        <p:spPr>
          <a:xfrm rot="18685415">
            <a:off x="10436772" y="597897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E32CD6E4-B2EA-F744-B882-F92A5AE848A8}"/>
              </a:ext>
            </a:extLst>
          </p:cNvPr>
          <p:cNvSpPr>
            <a:spLocks noChangeAspect="1"/>
          </p:cNvSpPr>
          <p:nvPr/>
        </p:nvSpPr>
        <p:spPr>
          <a:xfrm rot="18685415">
            <a:off x="10674964" y="599710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03D88D7C-9297-094E-8297-DD7F36D2707B}"/>
              </a:ext>
            </a:extLst>
          </p:cNvPr>
          <p:cNvSpPr>
            <a:spLocks noChangeAspect="1"/>
          </p:cNvSpPr>
          <p:nvPr/>
        </p:nvSpPr>
        <p:spPr>
          <a:xfrm rot="18685415">
            <a:off x="10828514" y="5940545"/>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3479E427-BD43-B94F-9A5A-99BF3ED5BB5E}"/>
              </a:ext>
            </a:extLst>
          </p:cNvPr>
          <p:cNvSpPr>
            <a:spLocks noChangeAspect="1"/>
          </p:cNvSpPr>
          <p:nvPr/>
        </p:nvSpPr>
        <p:spPr>
          <a:xfrm rot="18685415">
            <a:off x="10992201" y="5952091"/>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334E877B-4680-E242-80EA-A7C21B7FC99C}"/>
              </a:ext>
            </a:extLst>
          </p:cNvPr>
          <p:cNvSpPr>
            <a:spLocks noChangeAspect="1"/>
          </p:cNvSpPr>
          <p:nvPr/>
        </p:nvSpPr>
        <p:spPr>
          <a:xfrm rot="18685415">
            <a:off x="11120587" y="582582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66D96B5D-3AD9-174F-AAA2-DDE22EBD5670}"/>
              </a:ext>
            </a:extLst>
          </p:cNvPr>
          <p:cNvSpPr>
            <a:spLocks noChangeAspect="1"/>
          </p:cNvSpPr>
          <p:nvPr/>
        </p:nvSpPr>
        <p:spPr>
          <a:xfrm rot="18685415">
            <a:off x="9376502" y="5929896"/>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A7ED3CCF-00C4-CD41-8559-FABEA0E2C8B5}"/>
              </a:ext>
            </a:extLst>
          </p:cNvPr>
          <p:cNvSpPr>
            <a:spLocks noChangeAspect="1"/>
          </p:cNvSpPr>
          <p:nvPr/>
        </p:nvSpPr>
        <p:spPr>
          <a:xfrm rot="18685415">
            <a:off x="9678620" y="601435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9C5F22A5-69ED-5B4E-BFCF-1C57E5174F07}"/>
              </a:ext>
            </a:extLst>
          </p:cNvPr>
          <p:cNvSpPr>
            <a:spLocks noChangeAspect="1"/>
          </p:cNvSpPr>
          <p:nvPr/>
        </p:nvSpPr>
        <p:spPr>
          <a:xfrm rot="18685415">
            <a:off x="9527113" y="591856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9642AA75-6FD7-914B-8B7F-1001C2C824E2}"/>
              </a:ext>
            </a:extLst>
          </p:cNvPr>
          <p:cNvSpPr>
            <a:spLocks noChangeAspect="1"/>
          </p:cNvSpPr>
          <p:nvPr/>
        </p:nvSpPr>
        <p:spPr>
          <a:xfrm rot="18685415">
            <a:off x="10976625" y="5816295"/>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45776493-EADE-8E4E-A473-BF512CF686E1}"/>
              </a:ext>
            </a:extLst>
          </p:cNvPr>
          <p:cNvSpPr>
            <a:spLocks noChangeAspect="1"/>
          </p:cNvSpPr>
          <p:nvPr/>
        </p:nvSpPr>
        <p:spPr>
          <a:xfrm rot="13285415">
            <a:off x="9275524" y="582145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024CF6B4-9C1C-BF44-AAAD-B4563A16E98B}"/>
              </a:ext>
            </a:extLst>
          </p:cNvPr>
          <p:cNvSpPr>
            <a:spLocks noChangeAspect="1"/>
          </p:cNvSpPr>
          <p:nvPr/>
        </p:nvSpPr>
        <p:spPr>
          <a:xfrm rot="13285415">
            <a:off x="9256617" y="595763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1" name="Straight Connector 70">
            <a:extLst>
              <a:ext uri="{FF2B5EF4-FFF2-40B4-BE49-F238E27FC236}">
                <a16:creationId xmlns:a16="http://schemas.microsoft.com/office/drawing/2014/main" id="{5CA45ED1-3958-054E-BBA4-511B985FEE58}"/>
              </a:ext>
            </a:extLst>
          </p:cNvPr>
          <p:cNvCxnSpPr>
            <a:cxnSpLocks/>
          </p:cNvCxnSpPr>
          <p:nvPr/>
        </p:nvCxnSpPr>
        <p:spPr>
          <a:xfrm>
            <a:off x="9069863" y="6018590"/>
            <a:ext cx="2273949" cy="0"/>
          </a:xfrm>
          <a:prstGeom prst="line">
            <a:avLst/>
          </a:prstGeom>
          <a:ln w="50800">
            <a:solidFill>
              <a:srgbClr val="FFFF00"/>
            </a:solidFill>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xmlns:a16="http://schemas.microsoft.com/office/drawing/2014/main" id="{42937B82-7E21-1241-938B-B2AE9A11CB4C}"/>
              </a:ext>
            </a:extLst>
          </p:cNvPr>
          <p:cNvSpPr>
            <a:spLocks noChangeAspect="1"/>
          </p:cNvSpPr>
          <p:nvPr/>
        </p:nvSpPr>
        <p:spPr>
          <a:xfrm rot="18685415">
            <a:off x="10190139" y="472260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Arrow Connector 80">
            <a:extLst>
              <a:ext uri="{FF2B5EF4-FFF2-40B4-BE49-F238E27FC236}">
                <a16:creationId xmlns:a16="http://schemas.microsoft.com/office/drawing/2014/main" id="{047D5E7C-2DA9-134A-942E-D70244BB1A8D}"/>
              </a:ext>
            </a:extLst>
          </p:cNvPr>
          <p:cNvCxnSpPr/>
          <p:nvPr/>
        </p:nvCxnSpPr>
        <p:spPr>
          <a:xfrm>
            <a:off x="10339051" y="4794603"/>
            <a:ext cx="484825"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3621892B-8381-1947-B080-8F5333FCA368}"/>
              </a:ext>
            </a:extLst>
          </p:cNvPr>
          <p:cNvCxnSpPr>
            <a:cxnSpLocks/>
          </p:cNvCxnSpPr>
          <p:nvPr/>
        </p:nvCxnSpPr>
        <p:spPr>
          <a:xfrm flipH="1" flipV="1">
            <a:off x="9686544" y="4794603"/>
            <a:ext cx="486000"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7EBDF6AA-2C8D-2D42-9183-BA71CAADBE41}"/>
              </a:ext>
            </a:extLst>
          </p:cNvPr>
          <p:cNvSpPr txBox="1"/>
          <p:nvPr/>
        </p:nvSpPr>
        <p:spPr>
          <a:xfrm>
            <a:off x="10383335" y="4436078"/>
            <a:ext cx="563663"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F</a:t>
            </a:r>
            <a:r>
              <a:rPr lang="en-US" baseline="-25000" dirty="0">
                <a:latin typeface="Arial" panose="020B0604020202020204" pitchFamily="34" charset="0"/>
                <a:cs typeface="Arial" panose="020B0604020202020204" pitchFamily="34" charset="0"/>
              </a:rPr>
              <a:t>D</a:t>
            </a:r>
          </a:p>
        </p:txBody>
      </p:sp>
      <p:sp>
        <p:nvSpPr>
          <p:cNvPr id="85" name="TextBox 84">
            <a:extLst>
              <a:ext uri="{FF2B5EF4-FFF2-40B4-BE49-F238E27FC236}">
                <a16:creationId xmlns:a16="http://schemas.microsoft.com/office/drawing/2014/main" id="{2337642E-6EA7-D847-82A7-EAC6C2F177B2}"/>
              </a:ext>
            </a:extLst>
          </p:cNvPr>
          <p:cNvSpPr txBox="1"/>
          <p:nvPr/>
        </p:nvSpPr>
        <p:spPr>
          <a:xfrm>
            <a:off x="9773043" y="4415907"/>
            <a:ext cx="563663"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F</a:t>
            </a:r>
            <a:r>
              <a:rPr lang="en-US" baseline="-25000" dirty="0">
                <a:latin typeface="Arial" panose="020B0604020202020204" pitchFamily="34" charset="0"/>
                <a:cs typeface="Arial" panose="020B0604020202020204" pitchFamily="34" charset="0"/>
              </a:rPr>
              <a:t>C</a:t>
            </a:r>
          </a:p>
        </p:txBody>
      </p:sp>
      <p:cxnSp>
        <p:nvCxnSpPr>
          <p:cNvPr id="87" name="Straight Connector 86">
            <a:extLst>
              <a:ext uri="{FF2B5EF4-FFF2-40B4-BE49-F238E27FC236}">
                <a16:creationId xmlns:a16="http://schemas.microsoft.com/office/drawing/2014/main" id="{0845062A-23A0-6643-8848-7E568666512E}"/>
              </a:ext>
            </a:extLst>
          </p:cNvPr>
          <p:cNvCxnSpPr/>
          <p:nvPr/>
        </p:nvCxnSpPr>
        <p:spPr>
          <a:xfrm>
            <a:off x="8427311" y="3990414"/>
            <a:ext cx="0" cy="20571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9" name="Freeform 88">
            <a:extLst>
              <a:ext uri="{FF2B5EF4-FFF2-40B4-BE49-F238E27FC236}">
                <a16:creationId xmlns:a16="http://schemas.microsoft.com/office/drawing/2014/main" id="{ACDA9AD3-DC32-F74D-9E41-D7F3B608761E}"/>
              </a:ext>
            </a:extLst>
          </p:cNvPr>
          <p:cNvSpPr/>
          <p:nvPr/>
        </p:nvSpPr>
        <p:spPr>
          <a:xfrm>
            <a:off x="8526165" y="4003589"/>
            <a:ext cx="543698" cy="1902941"/>
          </a:xfrm>
          <a:custGeom>
            <a:avLst/>
            <a:gdLst>
              <a:gd name="connsiteX0" fmla="*/ 0 w 543698"/>
              <a:gd name="connsiteY0" fmla="*/ 1902941 h 1902941"/>
              <a:gd name="connsiteX1" fmla="*/ 148281 w 543698"/>
              <a:gd name="connsiteY1" fmla="*/ 1729946 h 1902941"/>
              <a:gd name="connsiteX2" fmla="*/ 321276 w 543698"/>
              <a:gd name="connsiteY2" fmla="*/ 1458097 h 1902941"/>
              <a:gd name="connsiteX3" fmla="*/ 444844 w 543698"/>
              <a:gd name="connsiteY3" fmla="*/ 1075038 h 1902941"/>
              <a:gd name="connsiteX4" fmla="*/ 506627 w 543698"/>
              <a:gd name="connsiteY4" fmla="*/ 580768 h 1902941"/>
              <a:gd name="connsiteX5" fmla="*/ 543698 w 543698"/>
              <a:gd name="connsiteY5" fmla="*/ 0 h 1902941"/>
              <a:gd name="connsiteX6" fmla="*/ 543698 w 543698"/>
              <a:gd name="connsiteY6" fmla="*/ 0 h 190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3698" h="1902941">
                <a:moveTo>
                  <a:pt x="0" y="1902941"/>
                </a:moveTo>
                <a:cubicBezTo>
                  <a:pt x="47367" y="1853514"/>
                  <a:pt x="94735" y="1804087"/>
                  <a:pt x="148281" y="1729946"/>
                </a:cubicBezTo>
                <a:cubicBezTo>
                  <a:pt x="201827" y="1655805"/>
                  <a:pt x="271849" y="1567248"/>
                  <a:pt x="321276" y="1458097"/>
                </a:cubicBezTo>
                <a:cubicBezTo>
                  <a:pt x="370703" y="1348946"/>
                  <a:pt x="413952" y="1221259"/>
                  <a:pt x="444844" y="1075038"/>
                </a:cubicBezTo>
                <a:cubicBezTo>
                  <a:pt x="475736" y="928817"/>
                  <a:pt x="490151" y="759941"/>
                  <a:pt x="506627" y="580768"/>
                </a:cubicBezTo>
                <a:cubicBezTo>
                  <a:pt x="523103" y="401595"/>
                  <a:pt x="543698" y="0"/>
                  <a:pt x="543698" y="0"/>
                </a:cubicBezTo>
                <a:lnTo>
                  <a:pt x="543698" y="0"/>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1" name="Straight Arrow Connector 90">
            <a:extLst>
              <a:ext uri="{FF2B5EF4-FFF2-40B4-BE49-F238E27FC236}">
                <a16:creationId xmlns:a16="http://schemas.microsoft.com/office/drawing/2014/main" id="{01CAB0C8-518E-D94E-94EB-A774E7F482A8}"/>
              </a:ext>
            </a:extLst>
          </p:cNvPr>
          <p:cNvCxnSpPr>
            <a:cxnSpLocks/>
          </p:cNvCxnSpPr>
          <p:nvPr/>
        </p:nvCxnSpPr>
        <p:spPr>
          <a:xfrm flipV="1">
            <a:off x="8427311" y="4855356"/>
            <a:ext cx="597584" cy="1"/>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4" name="Rectangle 93">
                <a:extLst>
                  <a:ext uri="{FF2B5EF4-FFF2-40B4-BE49-F238E27FC236}">
                    <a16:creationId xmlns:a16="http://schemas.microsoft.com/office/drawing/2014/main" id="{0696F1E4-0498-F642-9C7D-C1AD690A6F92}"/>
                  </a:ext>
                </a:extLst>
              </p:cNvPr>
              <p:cNvSpPr/>
              <p:nvPr/>
            </p:nvSpPr>
            <p:spPr>
              <a:xfrm>
                <a:off x="8395114" y="4509366"/>
                <a:ext cx="68422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d>
                        <m:dPr>
                          <m:ctrlPr>
                            <a:rPr lang="en-US"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𝑧</m:t>
                          </m:r>
                        </m:e>
                      </m:d>
                    </m:oMath>
                  </m:oMathPara>
                </a14:m>
                <a:endParaRPr lang="en-US" dirty="0"/>
              </a:p>
            </p:txBody>
          </p:sp>
        </mc:Choice>
        <mc:Fallback xmlns="">
          <p:sp>
            <p:nvSpPr>
              <p:cNvPr id="94" name="Rectangle 93">
                <a:extLst>
                  <a:ext uri="{FF2B5EF4-FFF2-40B4-BE49-F238E27FC236}">
                    <a16:creationId xmlns:a16="http://schemas.microsoft.com/office/drawing/2014/main" id="{0696F1E4-0498-F642-9C7D-C1AD690A6F92}"/>
                  </a:ext>
                </a:extLst>
              </p:cNvPr>
              <p:cNvSpPr>
                <a:spLocks noRot="1" noChangeAspect="1" noMove="1" noResize="1" noEditPoints="1" noAdjustHandles="1" noChangeArrowheads="1" noChangeShapeType="1" noTextEdit="1"/>
              </p:cNvSpPr>
              <p:nvPr/>
            </p:nvSpPr>
            <p:spPr>
              <a:xfrm>
                <a:off x="8395114" y="4509366"/>
                <a:ext cx="684226" cy="369332"/>
              </a:xfrm>
              <a:prstGeom prst="rect">
                <a:avLst/>
              </a:prstGeom>
              <a:blipFill>
                <a:blip r:embed="rId3"/>
                <a:stretch>
                  <a:fillRect/>
                </a:stretch>
              </a:blipFill>
            </p:spPr>
            <p:txBody>
              <a:bodyPr/>
              <a:lstStyle/>
              <a:p>
                <a:r>
                  <a:rPr lang="en-US">
                    <a:noFill/>
                  </a:rPr>
                  <a:t> </a:t>
                </a:r>
              </a:p>
            </p:txBody>
          </p:sp>
        </mc:Fallback>
      </mc:AlternateContent>
      <p:cxnSp>
        <p:nvCxnSpPr>
          <p:cNvPr id="98" name="Straight Arrow Connector 97">
            <a:extLst>
              <a:ext uri="{FF2B5EF4-FFF2-40B4-BE49-F238E27FC236}">
                <a16:creationId xmlns:a16="http://schemas.microsoft.com/office/drawing/2014/main" id="{ABE8FB50-C61B-B54C-8210-ACA3EB998C43}"/>
              </a:ext>
            </a:extLst>
          </p:cNvPr>
          <p:cNvCxnSpPr/>
          <p:nvPr/>
        </p:nvCxnSpPr>
        <p:spPr>
          <a:xfrm flipV="1">
            <a:off x="8056605" y="5548184"/>
            <a:ext cx="0" cy="499384"/>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DE684B16-96A2-7844-83A8-48B1BA54B468}"/>
              </a:ext>
            </a:extLst>
          </p:cNvPr>
          <p:cNvSpPr txBox="1"/>
          <p:nvPr/>
        </p:nvSpPr>
        <p:spPr>
          <a:xfrm>
            <a:off x="7773552" y="5447936"/>
            <a:ext cx="334786"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z</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8A20586-CFB6-864A-AA59-B6263DE93B70}"/>
                  </a:ext>
                </a:extLst>
              </p:cNvPr>
              <p:cNvSpPr txBox="1"/>
              <p:nvPr/>
            </p:nvSpPr>
            <p:spPr>
              <a:xfrm>
                <a:off x="686206" y="3943989"/>
                <a:ext cx="2112630" cy="660181"/>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𝐹</m:t>
                          </m:r>
                        </m:e>
                        <m:sub>
                          <m:r>
                            <a:rPr lang="en-US" b="0" i="1" smtClean="0">
                              <a:latin typeface="Cambria Math" panose="02040503050406030204" pitchFamily="18" charset="0"/>
                              <a:cs typeface="Arial" panose="020B0604020202020204" pitchFamily="34" charset="0"/>
                            </a:rPr>
                            <m:t>𝐷</m:t>
                          </m:r>
                        </m:sub>
                      </m:sSub>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
                            <a:rPr lang="en-US" b="0" i="1" smtClean="0">
                              <a:latin typeface="Cambria Math" panose="02040503050406030204" pitchFamily="18" charset="0"/>
                              <a:cs typeface="Arial" panose="020B0604020202020204" pitchFamily="34" charset="0"/>
                            </a:rPr>
                            <m:t>2</m:t>
                          </m:r>
                        </m:den>
                      </m:f>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𝐷</m:t>
                          </m:r>
                        </m:sub>
                      </m:sSub>
                      <m:r>
                        <a:rPr lang="en-US" b="0" i="1" smtClean="0">
                          <a:latin typeface="Cambria Math" panose="02040503050406030204" pitchFamily="18" charset="0"/>
                          <a:ea typeface="Cambria Math" panose="02040503050406030204" pitchFamily="18" charset="0"/>
                          <a:cs typeface="Arial" panose="020B0604020202020204" pitchFamily="34" charset="0"/>
                        </a:rPr>
                        <m:t>𝜌𝜋</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𝐷</m:t>
                                  </m:r>
                                </m:num>
                                <m:den>
                                  <m:r>
                                    <a:rPr lang="en-US" b="0" i="1" smtClean="0">
                                      <a:latin typeface="Cambria Math" panose="02040503050406030204" pitchFamily="18" charset="0"/>
                                      <a:ea typeface="Cambria Math" panose="02040503050406030204" pitchFamily="18" charset="0"/>
                                      <a:cs typeface="Arial" panose="020B0604020202020204" pitchFamily="34" charset="0"/>
                                    </a:rPr>
                                    <m:t>2</m:t>
                                  </m:r>
                                </m:den>
                              </m:f>
                            </m:e>
                          </m:d>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sSubSup>
                        <m:sSub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b>
                          <m:r>
                            <a:rPr lang="en-US" b="0" i="1" smtClean="0">
                              <a:latin typeface="Cambria Math" panose="02040503050406030204" pitchFamily="18" charset="0"/>
                              <a:ea typeface="Cambria Math" panose="02040503050406030204" pitchFamily="18" charset="0"/>
                              <a:cs typeface="Arial" panose="020B0604020202020204" pitchFamily="34" charset="0"/>
                            </a:rPr>
                            <m:t>𝑓</m:t>
                          </m:r>
                        </m:sub>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bSup>
                    </m:oMath>
                  </m:oMathPara>
                </a14:m>
                <a:endParaRPr lang="en-US" dirty="0">
                  <a:latin typeface="Arial" panose="020B0604020202020204" pitchFamily="34" charset="0"/>
                  <a:cs typeface="Arial" panose="020B0604020202020204" pitchFamily="34" charset="0"/>
                </a:endParaRPr>
              </a:p>
            </p:txBody>
          </p:sp>
        </mc:Choice>
        <mc:Fallback xmlns="">
          <p:sp>
            <p:nvSpPr>
              <p:cNvPr id="2" name="TextBox 1">
                <a:extLst>
                  <a:ext uri="{FF2B5EF4-FFF2-40B4-BE49-F238E27FC236}">
                    <a16:creationId xmlns:a16="http://schemas.microsoft.com/office/drawing/2014/main" id="{B8A20586-CFB6-864A-AA59-B6263DE93B70}"/>
                  </a:ext>
                </a:extLst>
              </p:cNvPr>
              <p:cNvSpPr txBox="1">
                <a:spLocks noRot="1" noChangeAspect="1" noMove="1" noResize="1" noEditPoints="1" noAdjustHandles="1" noChangeArrowheads="1" noChangeShapeType="1" noTextEdit="1"/>
              </p:cNvSpPr>
              <p:nvPr/>
            </p:nvSpPr>
            <p:spPr>
              <a:xfrm>
                <a:off x="686206" y="3943989"/>
                <a:ext cx="2112630" cy="660181"/>
              </a:xfrm>
              <a:prstGeom prst="rect">
                <a:avLst/>
              </a:prstGeom>
              <a:blipFill>
                <a:blip r:embed="rId4"/>
                <a:stretch>
                  <a:fillRect l="-2395" b="-5660"/>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29DAB1D8-35A1-0C44-A939-8E2556D45F74}"/>
              </a:ext>
            </a:extLst>
          </p:cNvPr>
          <p:cNvSpPr txBox="1"/>
          <p:nvPr/>
        </p:nvSpPr>
        <p:spPr>
          <a:xfrm>
            <a:off x="3301666" y="3963699"/>
            <a:ext cx="4153701" cy="697499"/>
          </a:xfrm>
          <a:prstGeom prst="rect">
            <a:avLst/>
          </a:prstGeom>
          <a:noFill/>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impelling fluid drag force </a:t>
            </a:r>
          </a:p>
          <a:p>
            <a:pPr algn="l">
              <a:lnSpc>
                <a:spcPct val="114000"/>
              </a:lnSpc>
            </a:pPr>
            <a:r>
              <a:rPr lang="en-US" dirty="0" err="1">
                <a:latin typeface="Arial" panose="020B0604020202020204" pitchFamily="34" charset="0"/>
                <a:cs typeface="Arial" panose="020B0604020202020204" pitchFamily="34" charset="0"/>
              </a:rPr>
              <a:t>u</a:t>
            </a:r>
            <a:r>
              <a:rPr lang="en-US" baseline="-25000" dirty="0" err="1">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 fluid velocity relative to the particle</a:t>
            </a:r>
          </a:p>
        </p:txBody>
      </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CCFB833-371E-6E4C-85DF-10C6D080FB2C}"/>
                  </a:ext>
                </a:extLst>
              </p:cNvPr>
              <p:cNvSpPr txBox="1"/>
              <p:nvPr/>
            </p:nvSpPr>
            <p:spPr>
              <a:xfrm>
                <a:off x="686206" y="4705515"/>
                <a:ext cx="2156681" cy="660181"/>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𝐹</m:t>
                          </m:r>
                        </m:e>
                        <m:sub>
                          <m:r>
                            <a:rPr lang="en-US" b="0" i="1" smtClean="0">
                              <a:latin typeface="Cambria Math" panose="02040503050406030204" pitchFamily="18" charset="0"/>
                              <a:cs typeface="Arial" panose="020B0604020202020204" pitchFamily="34" charset="0"/>
                            </a:rPr>
                            <m:t>𝐶</m:t>
                          </m:r>
                        </m:sub>
                      </m:sSub>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𝜇</m:t>
                          </m:r>
                        </m:e>
                        <m:sub>
                          <m:r>
                            <a:rPr lang="en-US" b="0" i="1" smtClean="0">
                              <a:latin typeface="Cambria Math" panose="02040503050406030204" pitchFamily="18" charset="0"/>
                              <a:cs typeface="Arial" panose="020B0604020202020204" pitchFamily="34" charset="0"/>
                            </a:rPr>
                            <m:t>𝐶</m:t>
                          </m:r>
                        </m:sub>
                      </m:sSub>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𝑅𝑔</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4</m:t>
                          </m:r>
                        </m:num>
                        <m:den>
                          <m:r>
                            <a:rPr lang="en-US" i="1">
                              <a:latin typeface="Cambria Math" panose="02040503050406030204" pitchFamily="18" charset="0"/>
                              <a:cs typeface="Arial" panose="020B0604020202020204" pitchFamily="34" charset="0"/>
                            </a:rPr>
                            <m:t>3</m:t>
                          </m:r>
                        </m:den>
                      </m:f>
                      <m:r>
                        <a:rPr lang="en-US" b="0" i="1" smtClean="0">
                          <a:latin typeface="Cambria Math" panose="02040503050406030204" pitchFamily="18" charset="0"/>
                          <a:ea typeface="Cambria Math" panose="02040503050406030204" pitchFamily="18" charset="0"/>
                          <a:cs typeface="Arial" panose="020B0604020202020204" pitchFamily="34" charset="0"/>
                        </a:rPr>
                        <m:t>𝜋</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𝐷</m:t>
                                  </m:r>
                                </m:num>
                                <m:den>
                                  <m:r>
                                    <a:rPr lang="en-US" b="0" i="1" smtClean="0">
                                      <a:latin typeface="Cambria Math" panose="02040503050406030204" pitchFamily="18" charset="0"/>
                                      <a:ea typeface="Cambria Math" panose="02040503050406030204" pitchFamily="18" charset="0"/>
                                      <a:cs typeface="Arial" panose="020B0604020202020204" pitchFamily="34" charset="0"/>
                                    </a:rPr>
                                    <m:t>2</m:t>
                                  </m:r>
                                </m:den>
                              </m:f>
                            </m:e>
                          </m:d>
                        </m:e>
                        <m:sup>
                          <m:r>
                            <a:rPr lang="en-US" b="0" i="1" smtClean="0">
                              <a:latin typeface="Cambria Math" panose="02040503050406030204" pitchFamily="18" charset="0"/>
                              <a:ea typeface="Cambria Math" panose="02040503050406030204" pitchFamily="18" charset="0"/>
                              <a:cs typeface="Arial" panose="020B0604020202020204" pitchFamily="34" charset="0"/>
                            </a:rPr>
                            <m:t>3</m:t>
                          </m:r>
                        </m:sup>
                      </m:sSup>
                    </m:oMath>
                  </m:oMathPara>
                </a14:m>
                <a:endParaRPr lang="en-US" dirty="0">
                  <a:latin typeface="Arial" panose="020B0604020202020204" pitchFamily="34" charset="0"/>
                  <a:cs typeface="Arial" panose="020B0604020202020204" pitchFamily="34" charset="0"/>
                </a:endParaRPr>
              </a:p>
            </p:txBody>
          </p:sp>
        </mc:Choice>
        <mc:Fallback xmlns="">
          <p:sp>
            <p:nvSpPr>
              <p:cNvPr id="50" name="TextBox 49">
                <a:extLst>
                  <a:ext uri="{FF2B5EF4-FFF2-40B4-BE49-F238E27FC236}">
                    <a16:creationId xmlns:a16="http://schemas.microsoft.com/office/drawing/2014/main" id="{ECCFB833-371E-6E4C-85DF-10C6D080FB2C}"/>
                  </a:ext>
                </a:extLst>
              </p:cNvPr>
              <p:cNvSpPr txBox="1">
                <a:spLocks noRot="1" noChangeAspect="1" noMove="1" noResize="1" noEditPoints="1" noAdjustHandles="1" noChangeArrowheads="1" noChangeShapeType="1" noTextEdit="1"/>
              </p:cNvSpPr>
              <p:nvPr/>
            </p:nvSpPr>
            <p:spPr>
              <a:xfrm>
                <a:off x="686206" y="4705515"/>
                <a:ext cx="2156681" cy="660181"/>
              </a:xfrm>
              <a:prstGeom prst="rect">
                <a:avLst/>
              </a:prstGeom>
              <a:blipFill>
                <a:blip r:embed="rId5"/>
                <a:stretch>
                  <a:fillRect l="-2353" r="-588" b="-5660"/>
                </a:stretch>
              </a:blipFill>
            </p:spPr>
            <p:txBody>
              <a:bodyPr/>
              <a:lstStyle/>
              <a:p>
                <a:r>
                  <a:rPr lang="en-US">
                    <a:noFill/>
                  </a:rPr>
                  <a:t> </a:t>
                </a:r>
              </a:p>
            </p:txBody>
          </p:sp>
        </mc:Fallback>
      </mc:AlternateContent>
      <p:sp>
        <p:nvSpPr>
          <p:cNvPr id="51" name="TextBox 50">
            <a:extLst>
              <a:ext uri="{FF2B5EF4-FFF2-40B4-BE49-F238E27FC236}">
                <a16:creationId xmlns:a16="http://schemas.microsoft.com/office/drawing/2014/main" id="{4D418C95-6A7A-4140-8EBA-93F091960BCD}"/>
              </a:ext>
            </a:extLst>
          </p:cNvPr>
          <p:cNvSpPr txBox="1"/>
          <p:nvPr/>
        </p:nvSpPr>
        <p:spPr>
          <a:xfrm>
            <a:off x="3357311" y="4887323"/>
            <a:ext cx="2595582" cy="381708"/>
          </a:xfrm>
          <a:prstGeom prst="rect">
            <a:avLst/>
          </a:prstGeom>
          <a:noFill/>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Coulomb resistive force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4D6E714-775C-014D-B3C1-B518762D8455}"/>
                  </a:ext>
                </a:extLst>
              </p:cNvPr>
              <p:cNvSpPr txBox="1"/>
              <p:nvPr/>
            </p:nvSpPr>
            <p:spPr>
              <a:xfrm>
                <a:off x="686206" y="5762417"/>
                <a:ext cx="850489"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𝐹</m:t>
                          </m:r>
                        </m:e>
                        <m:sub>
                          <m:r>
                            <a:rPr lang="en-US" b="0" i="1" smtClean="0">
                              <a:latin typeface="Cambria Math" panose="02040503050406030204" pitchFamily="18" charset="0"/>
                              <a:cs typeface="Arial" panose="020B0604020202020204" pitchFamily="34" charset="0"/>
                            </a:rPr>
                            <m:t>𝐷</m:t>
                          </m:r>
                        </m:sub>
                      </m:sSub>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𝐹</m:t>
                          </m:r>
                        </m:e>
                        <m:sub>
                          <m:r>
                            <a:rPr lang="en-US" b="0" i="1" smtClean="0">
                              <a:latin typeface="Cambria Math" panose="02040503050406030204" pitchFamily="18" charset="0"/>
                              <a:cs typeface="Arial" panose="020B0604020202020204" pitchFamily="34" charset="0"/>
                            </a:rPr>
                            <m:t>𝐶</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D4D6E714-775C-014D-B3C1-B518762D8455}"/>
                  </a:ext>
                </a:extLst>
              </p:cNvPr>
              <p:cNvSpPr txBox="1">
                <a:spLocks noRot="1" noChangeAspect="1" noMove="1" noResize="1" noEditPoints="1" noAdjustHandles="1" noChangeArrowheads="1" noChangeShapeType="1" noTextEdit="1"/>
              </p:cNvSpPr>
              <p:nvPr/>
            </p:nvSpPr>
            <p:spPr>
              <a:xfrm>
                <a:off x="686206" y="5762417"/>
                <a:ext cx="850489" cy="315792"/>
              </a:xfrm>
              <a:prstGeom prst="rect">
                <a:avLst/>
              </a:prstGeom>
              <a:blipFill>
                <a:blip r:embed="rId6"/>
                <a:stretch>
                  <a:fillRect l="-5970" b="-38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BA8AD443-6FFB-AE4D-98EE-2C116D9DF0AD}"/>
                  </a:ext>
                </a:extLst>
              </p:cNvPr>
              <p:cNvSpPr txBox="1"/>
              <p:nvPr/>
            </p:nvSpPr>
            <p:spPr>
              <a:xfrm>
                <a:off x="1836294" y="5596575"/>
                <a:ext cx="3418821" cy="660181"/>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
                            <a:rPr lang="en-US" b="0" i="1" smtClean="0">
                              <a:latin typeface="Cambria Math" panose="02040503050406030204" pitchFamily="18" charset="0"/>
                              <a:cs typeface="Arial" panose="020B0604020202020204" pitchFamily="34" charset="0"/>
                            </a:rPr>
                            <m:t>2</m:t>
                          </m:r>
                        </m:den>
                      </m:f>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𝐷</m:t>
                          </m:r>
                        </m:sub>
                      </m:sSub>
                      <m:r>
                        <a:rPr lang="en-US" b="0" i="1" smtClean="0">
                          <a:latin typeface="Cambria Math" panose="02040503050406030204" pitchFamily="18" charset="0"/>
                          <a:ea typeface="Cambria Math" panose="02040503050406030204" pitchFamily="18" charset="0"/>
                          <a:cs typeface="Arial" panose="020B0604020202020204" pitchFamily="34" charset="0"/>
                        </a:rPr>
                        <m:t>𝜌𝜋</m:t>
                      </m:r>
                      <m:sSup>
                        <m:s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pPr>
                        <m:e>
                          <m:d>
                            <m:dPr>
                              <m:ctrlPr>
                                <a:rPr lang="en-US" b="0" i="1" smtClean="0">
                                  <a:latin typeface="Cambria Math" panose="02040503050406030204" pitchFamily="18" charset="0"/>
                                  <a:ea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ea typeface="Cambria Math" panose="02040503050406030204" pitchFamily="18" charset="0"/>
                                      <a:cs typeface="Arial" panose="020B0604020202020204" pitchFamily="34" charset="0"/>
                                    </a:rPr>
                                  </m:ctrlPr>
                                </m:fPr>
                                <m:num>
                                  <m:r>
                                    <a:rPr lang="en-US" b="0" i="1" smtClean="0">
                                      <a:latin typeface="Cambria Math" panose="02040503050406030204" pitchFamily="18" charset="0"/>
                                      <a:ea typeface="Cambria Math" panose="02040503050406030204" pitchFamily="18" charset="0"/>
                                      <a:cs typeface="Arial" panose="020B0604020202020204" pitchFamily="34" charset="0"/>
                                    </a:rPr>
                                    <m:t>𝐷</m:t>
                                  </m:r>
                                </m:num>
                                <m:den>
                                  <m:r>
                                    <a:rPr lang="en-US" b="0" i="1" smtClean="0">
                                      <a:latin typeface="Cambria Math" panose="02040503050406030204" pitchFamily="18" charset="0"/>
                                      <a:ea typeface="Cambria Math" panose="02040503050406030204" pitchFamily="18" charset="0"/>
                                      <a:cs typeface="Arial" panose="020B0604020202020204" pitchFamily="34" charset="0"/>
                                    </a:rPr>
                                    <m:t>2</m:t>
                                  </m:r>
                                </m:den>
                              </m:f>
                            </m:e>
                          </m:d>
                        </m:e>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p>
                      <m:sSubSup>
                        <m:sSub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b="0" i="1" smtClean="0">
                              <a:latin typeface="Cambria Math" panose="02040503050406030204" pitchFamily="18" charset="0"/>
                              <a:ea typeface="Cambria Math" panose="02040503050406030204" pitchFamily="18" charset="0"/>
                              <a:cs typeface="Arial" panose="020B0604020202020204" pitchFamily="34" charset="0"/>
                            </a:rPr>
                            <m:t>𝑢</m:t>
                          </m:r>
                        </m:e>
                        <m:sub>
                          <m:r>
                            <a:rPr lang="en-US" b="0" i="1" smtClean="0">
                              <a:latin typeface="Cambria Math" panose="02040503050406030204" pitchFamily="18" charset="0"/>
                              <a:ea typeface="Cambria Math" panose="02040503050406030204" pitchFamily="18" charset="0"/>
                              <a:cs typeface="Arial" panose="020B0604020202020204" pitchFamily="34" charset="0"/>
                            </a:rPr>
                            <m:t>𝑓</m:t>
                          </m:r>
                        </m:sub>
                        <m:sup>
                          <m:r>
                            <a:rPr lang="en-US" b="0" i="1" smtClean="0">
                              <a:latin typeface="Cambria Math" panose="02040503050406030204" pitchFamily="18" charset="0"/>
                              <a:ea typeface="Cambria Math" panose="02040503050406030204" pitchFamily="18" charset="0"/>
                              <a:cs typeface="Arial" panose="020B0604020202020204" pitchFamily="34" charset="0"/>
                            </a:rPr>
                            <m:t>2</m:t>
                          </m:r>
                        </m:sup>
                      </m:sSubSup>
                      <m:r>
                        <a:rPr lang="en-US" b="0" i="1" smtClean="0">
                          <a:latin typeface="Cambria Math" panose="02040503050406030204" pitchFamily="18" charset="0"/>
                          <a:ea typeface="Cambria Math" panose="02040503050406030204" pitchFamily="18" charset="0"/>
                          <a:cs typeface="Arial" panose="020B0604020202020204" pitchFamily="34" charset="0"/>
                        </a:rPr>
                        <m:t>=</m:t>
                      </m:r>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𝜇</m:t>
                          </m:r>
                        </m:e>
                        <m:sub>
                          <m:r>
                            <a:rPr lang="en-US" i="1">
                              <a:latin typeface="Cambria Math" panose="02040503050406030204" pitchFamily="18" charset="0"/>
                              <a:cs typeface="Arial" panose="020B0604020202020204" pitchFamily="34" charset="0"/>
                            </a:rPr>
                            <m:t>𝐶</m:t>
                          </m:r>
                        </m:sub>
                      </m:sSub>
                      <m:r>
                        <a:rPr lang="en-US" i="1">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𝑅</m:t>
                      </m:r>
                      <m:r>
                        <a:rPr lang="en-US" i="1">
                          <a:latin typeface="Cambria Math" panose="02040503050406030204" pitchFamily="18" charset="0"/>
                          <a:ea typeface="Cambria Math" panose="02040503050406030204" pitchFamily="18" charset="0"/>
                          <a:cs typeface="Arial" panose="020B0604020202020204" pitchFamily="34" charset="0"/>
                        </a:rPr>
                        <m:t>𝑔</m:t>
                      </m:r>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4</m:t>
                          </m:r>
                        </m:num>
                        <m:den>
                          <m:r>
                            <a:rPr lang="en-US" i="1">
                              <a:latin typeface="Cambria Math" panose="02040503050406030204" pitchFamily="18" charset="0"/>
                              <a:cs typeface="Arial" panose="020B0604020202020204" pitchFamily="34" charset="0"/>
                            </a:rPr>
                            <m:t>3</m:t>
                          </m:r>
                        </m:den>
                      </m:f>
                      <m:r>
                        <a:rPr lang="en-US" i="1">
                          <a:latin typeface="Cambria Math" panose="02040503050406030204" pitchFamily="18" charset="0"/>
                          <a:ea typeface="Cambria Math" panose="02040503050406030204" pitchFamily="18" charset="0"/>
                          <a:cs typeface="Arial" panose="020B0604020202020204" pitchFamily="34" charset="0"/>
                        </a:rPr>
                        <m:t>𝜋</m:t>
                      </m:r>
                      <m:sSup>
                        <m:sSupPr>
                          <m:ctrlPr>
                            <a:rPr lang="en-US" i="1">
                              <a:latin typeface="Cambria Math" panose="02040503050406030204" pitchFamily="18" charset="0"/>
                              <a:ea typeface="Cambria Math" panose="02040503050406030204" pitchFamily="18" charset="0"/>
                              <a:cs typeface="Arial" panose="020B0604020202020204" pitchFamily="34" charset="0"/>
                            </a:rPr>
                          </m:ctrlPr>
                        </m:sSupPr>
                        <m:e>
                          <m:d>
                            <m:dPr>
                              <m:ctrlPr>
                                <a:rPr lang="en-US" i="1">
                                  <a:latin typeface="Cambria Math" panose="02040503050406030204" pitchFamily="18" charset="0"/>
                                  <a:ea typeface="Cambria Math" panose="02040503050406030204" pitchFamily="18" charset="0"/>
                                  <a:cs typeface="Arial" panose="020B0604020202020204" pitchFamily="34" charset="0"/>
                                </a:rPr>
                              </m:ctrlPr>
                            </m:dPr>
                            <m:e>
                              <m:f>
                                <m:fPr>
                                  <m:ctrlPr>
                                    <a:rPr lang="en-US" i="1">
                                      <a:latin typeface="Cambria Math" panose="02040503050406030204" pitchFamily="18" charset="0"/>
                                      <a:ea typeface="Cambria Math" panose="02040503050406030204" pitchFamily="18" charset="0"/>
                                      <a:cs typeface="Arial" panose="020B0604020202020204" pitchFamily="34" charset="0"/>
                                    </a:rPr>
                                  </m:ctrlPr>
                                </m:fPr>
                                <m:num>
                                  <m:r>
                                    <a:rPr lang="en-US" i="1">
                                      <a:latin typeface="Cambria Math" panose="02040503050406030204" pitchFamily="18" charset="0"/>
                                      <a:ea typeface="Cambria Math" panose="02040503050406030204" pitchFamily="18" charset="0"/>
                                      <a:cs typeface="Arial" panose="020B0604020202020204" pitchFamily="34" charset="0"/>
                                    </a:rPr>
                                    <m:t>𝐷</m:t>
                                  </m:r>
                                </m:num>
                                <m:den>
                                  <m:r>
                                    <a:rPr lang="en-US" i="1">
                                      <a:latin typeface="Cambria Math" panose="02040503050406030204" pitchFamily="18" charset="0"/>
                                      <a:ea typeface="Cambria Math" panose="02040503050406030204" pitchFamily="18" charset="0"/>
                                      <a:cs typeface="Arial" panose="020B0604020202020204" pitchFamily="34" charset="0"/>
                                    </a:rPr>
                                    <m:t>2</m:t>
                                  </m:r>
                                </m:den>
                              </m:f>
                            </m:e>
                          </m:d>
                        </m:e>
                        <m:sup>
                          <m:r>
                            <a:rPr lang="en-US" i="1">
                              <a:latin typeface="Cambria Math" panose="02040503050406030204" pitchFamily="18" charset="0"/>
                              <a:ea typeface="Cambria Math" panose="02040503050406030204" pitchFamily="18" charset="0"/>
                              <a:cs typeface="Arial" panose="020B0604020202020204" pitchFamily="34" charset="0"/>
                            </a:rPr>
                            <m:t>3</m:t>
                          </m:r>
                        </m:sup>
                      </m:sSup>
                    </m:oMath>
                  </m:oMathPara>
                </a14:m>
                <a:endParaRPr lang="en-US" dirty="0">
                  <a:latin typeface="Arial" panose="020B0604020202020204" pitchFamily="34" charset="0"/>
                  <a:cs typeface="Arial" panose="020B0604020202020204" pitchFamily="34" charset="0"/>
                </a:endParaRPr>
              </a:p>
            </p:txBody>
          </p:sp>
        </mc:Choice>
        <mc:Fallback xmlns="">
          <p:sp>
            <p:nvSpPr>
              <p:cNvPr id="53" name="TextBox 52">
                <a:extLst>
                  <a:ext uri="{FF2B5EF4-FFF2-40B4-BE49-F238E27FC236}">
                    <a16:creationId xmlns:a16="http://schemas.microsoft.com/office/drawing/2014/main" id="{BA8AD443-6FFB-AE4D-98EE-2C116D9DF0AD}"/>
                  </a:ext>
                </a:extLst>
              </p:cNvPr>
              <p:cNvSpPr txBox="1">
                <a:spLocks noRot="1" noChangeAspect="1" noMove="1" noResize="1" noEditPoints="1" noAdjustHandles="1" noChangeArrowheads="1" noChangeShapeType="1" noTextEdit="1"/>
              </p:cNvSpPr>
              <p:nvPr/>
            </p:nvSpPr>
            <p:spPr>
              <a:xfrm>
                <a:off x="1836294" y="5596575"/>
                <a:ext cx="3418821" cy="660181"/>
              </a:xfrm>
              <a:prstGeom prst="rect">
                <a:avLst/>
              </a:prstGeom>
              <a:blipFill>
                <a:blip r:embed="rId7"/>
                <a:stretch>
                  <a:fillRect l="-1111" b="-5660"/>
                </a:stretch>
              </a:blipFill>
            </p:spPr>
            <p:txBody>
              <a:bodyPr/>
              <a:lstStyle/>
              <a:p>
                <a:r>
                  <a:rPr lang="en-US">
                    <a:noFill/>
                  </a:rPr>
                  <a:t> </a:t>
                </a:r>
              </a:p>
            </p:txBody>
          </p:sp>
        </mc:Fallback>
      </mc:AlternateContent>
      <p:cxnSp>
        <p:nvCxnSpPr>
          <p:cNvPr id="8" name="Straight Connector 7">
            <a:extLst>
              <a:ext uri="{FF2B5EF4-FFF2-40B4-BE49-F238E27FC236}">
                <a16:creationId xmlns:a16="http://schemas.microsoft.com/office/drawing/2014/main" id="{5535A928-2A12-EB49-839F-237B6116CB81}"/>
              </a:ext>
            </a:extLst>
          </p:cNvPr>
          <p:cNvCxnSpPr>
            <a:cxnSpLocks/>
          </p:cNvCxnSpPr>
          <p:nvPr/>
        </p:nvCxnSpPr>
        <p:spPr>
          <a:xfrm>
            <a:off x="2228676" y="5805411"/>
            <a:ext cx="158549" cy="379642"/>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E2768E1E-00CC-0041-A708-52EED12F4B61}"/>
              </a:ext>
            </a:extLst>
          </p:cNvPr>
          <p:cNvCxnSpPr>
            <a:cxnSpLocks/>
          </p:cNvCxnSpPr>
          <p:nvPr/>
        </p:nvCxnSpPr>
        <p:spPr>
          <a:xfrm>
            <a:off x="2369984" y="5734529"/>
            <a:ext cx="158549" cy="379642"/>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4327533-A365-B34A-9C5D-D0CFEFEC8ADD}"/>
              </a:ext>
            </a:extLst>
          </p:cNvPr>
          <p:cNvCxnSpPr>
            <a:cxnSpLocks/>
          </p:cNvCxnSpPr>
          <p:nvPr/>
        </p:nvCxnSpPr>
        <p:spPr>
          <a:xfrm>
            <a:off x="2696972" y="5638790"/>
            <a:ext cx="221411" cy="617966"/>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3C57EEC7-7B7D-BA41-9A48-FDDF75C9C23B}"/>
              </a:ext>
            </a:extLst>
          </p:cNvPr>
          <p:cNvCxnSpPr>
            <a:cxnSpLocks/>
          </p:cNvCxnSpPr>
          <p:nvPr/>
        </p:nvCxnSpPr>
        <p:spPr>
          <a:xfrm>
            <a:off x="3860144" y="5722895"/>
            <a:ext cx="158549" cy="379642"/>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8CCCC3F-A9DE-4D46-B115-86BDFC6AF0CD}"/>
              </a:ext>
            </a:extLst>
          </p:cNvPr>
          <p:cNvCxnSpPr>
            <a:cxnSpLocks/>
          </p:cNvCxnSpPr>
          <p:nvPr/>
        </p:nvCxnSpPr>
        <p:spPr>
          <a:xfrm>
            <a:off x="4519131" y="5767135"/>
            <a:ext cx="158549" cy="379642"/>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6B45855F-B78F-6443-A4B0-18E2AFBEAC25}"/>
              </a:ext>
            </a:extLst>
          </p:cNvPr>
          <p:cNvCxnSpPr>
            <a:cxnSpLocks/>
          </p:cNvCxnSpPr>
          <p:nvPr/>
        </p:nvCxnSpPr>
        <p:spPr>
          <a:xfrm>
            <a:off x="4901167" y="5503354"/>
            <a:ext cx="158549" cy="379642"/>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751A1267-D9C2-0346-90E8-929173A2EDD2}"/>
              </a:ext>
            </a:extLst>
          </p:cNvPr>
          <p:cNvCxnSpPr>
            <a:cxnSpLocks/>
          </p:cNvCxnSpPr>
          <p:nvPr/>
        </p:nvCxnSpPr>
        <p:spPr>
          <a:xfrm>
            <a:off x="1836769" y="5934638"/>
            <a:ext cx="158549" cy="379642"/>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C5ABB77F-C4B6-5544-9D30-FE1974DAFC59}"/>
              </a:ext>
            </a:extLst>
          </p:cNvPr>
          <p:cNvCxnSpPr>
            <a:cxnSpLocks/>
          </p:cNvCxnSpPr>
          <p:nvPr/>
        </p:nvCxnSpPr>
        <p:spPr>
          <a:xfrm>
            <a:off x="4788165" y="5993417"/>
            <a:ext cx="158549" cy="379642"/>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F0BC102D-0C89-2441-B5B4-C6ECB22A49A0}"/>
                  </a:ext>
                </a:extLst>
              </p:cNvPr>
              <p:cNvSpPr txBox="1"/>
              <p:nvPr/>
            </p:nvSpPr>
            <p:spPr>
              <a:xfrm>
                <a:off x="5557067" y="5555957"/>
                <a:ext cx="1258613" cy="717569"/>
              </a:xfrm>
              <a:prstGeom prst="rect">
                <a:avLst/>
              </a:prstGeom>
              <a:solidFill>
                <a:schemeClr val="accent1">
                  <a:lumMod val="20000"/>
                  <a:lumOff val="80000"/>
                </a:schemeClr>
              </a:solid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sSubSup>
                            <m:sSubSupPr>
                              <m:ctrlPr>
                                <a:rPr lang="en-US"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𝑓</m:t>
                              </m:r>
                            </m:sub>
                            <m:sup>
                              <m:r>
                                <a:rPr lang="en-US" b="0" i="1" smtClean="0">
                                  <a:latin typeface="Cambria Math" panose="02040503050406030204" pitchFamily="18" charset="0"/>
                                  <a:cs typeface="Arial" panose="020B0604020202020204" pitchFamily="34" charset="0"/>
                                </a:rPr>
                                <m:t>2</m:t>
                              </m:r>
                            </m:sup>
                          </m:sSubSup>
                        </m:num>
                        <m:den>
                          <m:r>
                            <a:rPr lang="en-US" b="0" i="1" smtClean="0">
                              <a:latin typeface="Cambria Math" panose="02040503050406030204" pitchFamily="18" charset="0"/>
                              <a:cs typeface="Arial" panose="020B0604020202020204" pitchFamily="34" charset="0"/>
                            </a:rPr>
                            <m:t>𝑅𝑔𝐷</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4</m:t>
                          </m:r>
                        </m:num>
                        <m:den>
                          <m:r>
                            <a:rPr lang="en-US" b="0" i="1" smtClean="0">
                              <a:latin typeface="Cambria Math" panose="02040503050406030204" pitchFamily="18" charset="0"/>
                              <a:cs typeface="Arial" panose="020B0604020202020204" pitchFamily="34" charset="0"/>
                            </a:rPr>
                            <m:t>3</m:t>
                          </m:r>
                        </m:den>
                      </m:f>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𝜇</m:t>
                              </m:r>
                            </m:e>
                            <m:sub>
                              <m:r>
                                <a:rPr lang="en-US" b="0" i="1" smtClean="0">
                                  <a:latin typeface="Cambria Math" panose="02040503050406030204" pitchFamily="18" charset="0"/>
                                  <a:cs typeface="Arial" panose="020B0604020202020204" pitchFamily="34" charset="0"/>
                                </a:rPr>
                                <m:t>𝐶</m:t>
                              </m:r>
                            </m:sub>
                          </m:sSub>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𝐷</m:t>
                              </m:r>
                            </m:sub>
                          </m:sSub>
                        </m:den>
                      </m:f>
                    </m:oMath>
                  </m:oMathPara>
                </a14:m>
                <a:endParaRPr lang="en-US" dirty="0">
                  <a:latin typeface="Arial" panose="020B0604020202020204" pitchFamily="34" charset="0"/>
                  <a:cs typeface="Arial" panose="020B0604020202020204" pitchFamily="34" charset="0"/>
                </a:endParaRPr>
              </a:p>
            </p:txBody>
          </p:sp>
        </mc:Choice>
        <mc:Fallback xmlns="">
          <p:sp>
            <p:nvSpPr>
              <p:cNvPr id="43" name="TextBox 42">
                <a:extLst>
                  <a:ext uri="{FF2B5EF4-FFF2-40B4-BE49-F238E27FC236}">
                    <a16:creationId xmlns:a16="http://schemas.microsoft.com/office/drawing/2014/main" id="{F0BC102D-0C89-2441-B5B4-C6ECB22A49A0}"/>
                  </a:ext>
                </a:extLst>
              </p:cNvPr>
              <p:cNvSpPr txBox="1">
                <a:spLocks noRot="1" noChangeAspect="1" noMove="1" noResize="1" noEditPoints="1" noAdjustHandles="1" noChangeArrowheads="1" noChangeShapeType="1" noTextEdit="1"/>
              </p:cNvSpPr>
              <p:nvPr/>
            </p:nvSpPr>
            <p:spPr>
              <a:xfrm>
                <a:off x="5557067" y="5555957"/>
                <a:ext cx="1258613" cy="717569"/>
              </a:xfrm>
              <a:prstGeom prst="rect">
                <a:avLst/>
              </a:prstGeom>
              <a:blipFill>
                <a:blip r:embed="rId8"/>
                <a:stretch>
                  <a:fillRect l="-4000" b="-14035"/>
                </a:stretch>
              </a:blipFill>
            </p:spPr>
            <p:txBody>
              <a:bodyPr/>
              <a:lstStyle/>
              <a:p>
                <a:r>
                  <a:rPr lang="en-US">
                    <a:noFill/>
                  </a:rPr>
                  <a:t> </a:t>
                </a:r>
              </a:p>
            </p:txBody>
          </p:sp>
        </mc:Fallback>
      </mc:AlternateContent>
    </p:spTree>
    <p:extLst>
      <p:ext uri="{BB962C8B-B14F-4D97-AF65-F5344CB8AC3E}">
        <p14:creationId xmlns:p14="http://schemas.microsoft.com/office/powerpoint/2010/main" val="1254278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13</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85351" y="136525"/>
            <a:ext cx="11800703"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Threshold of motion, turbulent rough flow over a nearly flat bed</a:t>
            </a:r>
          </a:p>
        </p:txBody>
      </p:sp>
      <p:sp>
        <p:nvSpPr>
          <p:cNvPr id="9" name="TextBox 8">
            <a:extLst>
              <a:ext uri="{FF2B5EF4-FFF2-40B4-BE49-F238E27FC236}">
                <a16:creationId xmlns:a16="http://schemas.microsoft.com/office/drawing/2014/main" id="{1E817250-3C3A-BE4F-95CC-C14166F9648C}"/>
              </a:ext>
            </a:extLst>
          </p:cNvPr>
          <p:cNvSpPr txBox="1"/>
          <p:nvPr/>
        </p:nvSpPr>
        <p:spPr>
          <a:xfrm>
            <a:off x="580767" y="820523"/>
            <a:ext cx="11133437"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We need to determine </a:t>
            </a:r>
            <a:r>
              <a:rPr lang="en-US" dirty="0" err="1">
                <a:latin typeface="Arial" panose="020B0604020202020204" pitchFamily="34" charset="0"/>
                <a:cs typeface="Arial" panose="020B0604020202020204" pitchFamily="34" charset="0"/>
              </a:rPr>
              <a:t>u</a:t>
            </a:r>
            <a:r>
              <a:rPr lang="en-US" baseline="-25000" dirty="0" err="1">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a:t>
            </a:r>
          </a:p>
        </p:txBody>
      </p:sp>
      <p:sp>
        <p:nvSpPr>
          <p:cNvPr id="12" name="Rectangle 11">
            <a:extLst>
              <a:ext uri="{FF2B5EF4-FFF2-40B4-BE49-F238E27FC236}">
                <a16:creationId xmlns:a16="http://schemas.microsoft.com/office/drawing/2014/main" id="{E2D7EE96-F67F-5341-BB73-F651970EF039}"/>
              </a:ext>
            </a:extLst>
          </p:cNvPr>
          <p:cNvSpPr/>
          <p:nvPr/>
        </p:nvSpPr>
        <p:spPr>
          <a:xfrm>
            <a:off x="7736728" y="818099"/>
            <a:ext cx="3949993" cy="2047715"/>
          </a:xfrm>
          <a:prstGeom prst="rect">
            <a:avLst/>
          </a:prstGeom>
          <a:solidFill>
            <a:srgbClr val="00B0F0"/>
          </a:solid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1" name="Straight Connector 40">
            <a:extLst>
              <a:ext uri="{FF2B5EF4-FFF2-40B4-BE49-F238E27FC236}">
                <a16:creationId xmlns:a16="http://schemas.microsoft.com/office/drawing/2014/main" id="{54046B39-4842-5248-9227-7A2F3010F4A4}"/>
              </a:ext>
            </a:extLst>
          </p:cNvPr>
          <p:cNvCxnSpPr>
            <a:cxnSpLocks/>
          </p:cNvCxnSpPr>
          <p:nvPr/>
        </p:nvCxnSpPr>
        <p:spPr>
          <a:xfrm flipV="1">
            <a:off x="7489593" y="2875253"/>
            <a:ext cx="4315944" cy="536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6CC0E678-137A-F840-8BD8-781E2EDC0DA0}"/>
              </a:ext>
            </a:extLst>
          </p:cNvPr>
          <p:cNvSpPr>
            <a:spLocks noChangeAspect="1"/>
          </p:cNvSpPr>
          <p:nvPr/>
        </p:nvSpPr>
        <p:spPr>
          <a:xfrm rot="18685415">
            <a:off x="9410634" y="261235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7AFD7C5-9E0E-5647-AD2B-FFA65AD76866}"/>
              </a:ext>
            </a:extLst>
          </p:cNvPr>
          <p:cNvSpPr>
            <a:spLocks noChangeAspect="1"/>
          </p:cNvSpPr>
          <p:nvPr/>
        </p:nvSpPr>
        <p:spPr>
          <a:xfrm rot="18685415">
            <a:off x="9554648" y="260780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4EDD07C9-3B56-CF4A-9728-05185B8B29C4}"/>
              </a:ext>
            </a:extLst>
          </p:cNvPr>
          <p:cNvSpPr>
            <a:spLocks noChangeAspect="1"/>
          </p:cNvSpPr>
          <p:nvPr/>
        </p:nvSpPr>
        <p:spPr>
          <a:xfrm rot="18685415">
            <a:off x="9672950" y="2704075"/>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5B28DEA-4A7F-394E-82D6-DC448C42EB2A}"/>
              </a:ext>
            </a:extLst>
          </p:cNvPr>
          <p:cNvSpPr>
            <a:spLocks noChangeAspect="1"/>
          </p:cNvSpPr>
          <p:nvPr/>
        </p:nvSpPr>
        <p:spPr>
          <a:xfrm rot="18685415">
            <a:off x="9804067" y="2611015"/>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AC479B5-66DB-1949-A91D-C3348FC48648}"/>
              </a:ext>
            </a:extLst>
          </p:cNvPr>
          <p:cNvSpPr>
            <a:spLocks noChangeAspect="1"/>
          </p:cNvSpPr>
          <p:nvPr/>
        </p:nvSpPr>
        <p:spPr>
          <a:xfrm rot="18685415">
            <a:off x="9927826" y="269032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E5DFD9B-BC67-2E4E-BCA1-52A0749C078B}"/>
              </a:ext>
            </a:extLst>
          </p:cNvPr>
          <p:cNvSpPr>
            <a:spLocks noChangeAspect="1"/>
          </p:cNvSpPr>
          <p:nvPr/>
        </p:nvSpPr>
        <p:spPr>
          <a:xfrm rot="18685415">
            <a:off x="10039137" y="259649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5F16E2E7-965E-BC43-8ADC-FEDE7CBD4D1B}"/>
              </a:ext>
            </a:extLst>
          </p:cNvPr>
          <p:cNvSpPr>
            <a:spLocks noChangeAspect="1"/>
          </p:cNvSpPr>
          <p:nvPr/>
        </p:nvSpPr>
        <p:spPr>
          <a:xfrm rot="18685415">
            <a:off x="10312734" y="2580725"/>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FDAD8569-A1CA-A64E-945C-89EAF893F822}"/>
              </a:ext>
            </a:extLst>
          </p:cNvPr>
          <p:cNvSpPr>
            <a:spLocks noChangeAspect="1"/>
          </p:cNvSpPr>
          <p:nvPr/>
        </p:nvSpPr>
        <p:spPr>
          <a:xfrm rot="18685415">
            <a:off x="10182518" y="265787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025C60B-BFEA-AD43-8ACD-4B3548897E59}"/>
              </a:ext>
            </a:extLst>
          </p:cNvPr>
          <p:cNvSpPr>
            <a:spLocks noChangeAspect="1"/>
          </p:cNvSpPr>
          <p:nvPr/>
        </p:nvSpPr>
        <p:spPr>
          <a:xfrm rot="18685415">
            <a:off x="10420711" y="267599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A073F294-8B62-FA43-B89E-109D12135EAF}"/>
              </a:ext>
            </a:extLst>
          </p:cNvPr>
          <p:cNvSpPr>
            <a:spLocks noChangeAspect="1"/>
          </p:cNvSpPr>
          <p:nvPr/>
        </p:nvSpPr>
        <p:spPr>
          <a:xfrm rot="18685415">
            <a:off x="10564178" y="260207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D30016A7-DD38-C34F-A455-2A5F41AD5228}"/>
              </a:ext>
            </a:extLst>
          </p:cNvPr>
          <p:cNvSpPr>
            <a:spLocks noChangeAspect="1"/>
          </p:cNvSpPr>
          <p:nvPr/>
        </p:nvSpPr>
        <p:spPr>
          <a:xfrm rot="18685415">
            <a:off x="10710336" y="266272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3E4FA1FB-5B34-234B-A146-ECC93A81D761}"/>
              </a:ext>
            </a:extLst>
          </p:cNvPr>
          <p:cNvSpPr>
            <a:spLocks noChangeAspect="1"/>
          </p:cNvSpPr>
          <p:nvPr/>
        </p:nvSpPr>
        <p:spPr>
          <a:xfrm rot="18685415">
            <a:off x="10834622" y="260046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463FCB3C-F60F-1C4D-9717-85F85891DEB1}"/>
              </a:ext>
            </a:extLst>
          </p:cNvPr>
          <p:cNvSpPr>
            <a:spLocks noChangeAspect="1"/>
          </p:cNvSpPr>
          <p:nvPr/>
        </p:nvSpPr>
        <p:spPr>
          <a:xfrm rot="18685415">
            <a:off x="9810299" y="2756596"/>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33C3F489-A495-DD45-946E-CA08EAFEAB4D}"/>
              </a:ext>
            </a:extLst>
          </p:cNvPr>
          <p:cNvSpPr>
            <a:spLocks noChangeAspect="1"/>
          </p:cNvSpPr>
          <p:nvPr/>
        </p:nvSpPr>
        <p:spPr>
          <a:xfrm rot="18685415">
            <a:off x="9928601" y="285286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74612F88-9588-1540-805A-2FBDE8BCDA67}"/>
              </a:ext>
            </a:extLst>
          </p:cNvPr>
          <p:cNvSpPr>
            <a:spLocks noChangeAspect="1"/>
          </p:cNvSpPr>
          <p:nvPr/>
        </p:nvSpPr>
        <p:spPr>
          <a:xfrm rot="18685415">
            <a:off x="10059718" y="275980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E6169A6F-24FA-1943-AA09-78C34C997153}"/>
              </a:ext>
            </a:extLst>
          </p:cNvPr>
          <p:cNvSpPr>
            <a:spLocks noChangeAspect="1"/>
          </p:cNvSpPr>
          <p:nvPr/>
        </p:nvSpPr>
        <p:spPr>
          <a:xfrm rot="18685415">
            <a:off x="10183478" y="283911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B2785B08-4506-B34C-8A25-63B64C247B39}"/>
              </a:ext>
            </a:extLst>
          </p:cNvPr>
          <p:cNvSpPr>
            <a:spLocks noChangeAspect="1"/>
          </p:cNvSpPr>
          <p:nvPr/>
        </p:nvSpPr>
        <p:spPr>
          <a:xfrm rot="18685415">
            <a:off x="10294788" y="2745285"/>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22807328-B657-5144-869E-3350821FF819}"/>
              </a:ext>
            </a:extLst>
          </p:cNvPr>
          <p:cNvSpPr>
            <a:spLocks noChangeAspect="1"/>
          </p:cNvSpPr>
          <p:nvPr/>
        </p:nvSpPr>
        <p:spPr>
          <a:xfrm rot="18685415">
            <a:off x="10568386" y="272951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093AAF2-856A-594B-BEB3-FB73986D973D}"/>
              </a:ext>
            </a:extLst>
          </p:cNvPr>
          <p:cNvSpPr>
            <a:spLocks noChangeAspect="1"/>
          </p:cNvSpPr>
          <p:nvPr/>
        </p:nvSpPr>
        <p:spPr>
          <a:xfrm rot="18685415">
            <a:off x="10438170" y="280665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E32CD6E4-B2EA-F744-B882-F92A5AE848A8}"/>
              </a:ext>
            </a:extLst>
          </p:cNvPr>
          <p:cNvSpPr>
            <a:spLocks noChangeAspect="1"/>
          </p:cNvSpPr>
          <p:nvPr/>
        </p:nvSpPr>
        <p:spPr>
          <a:xfrm rot="18685415">
            <a:off x="10676362" y="282478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03D88D7C-9297-094E-8297-DD7F36D2707B}"/>
              </a:ext>
            </a:extLst>
          </p:cNvPr>
          <p:cNvSpPr>
            <a:spLocks noChangeAspect="1"/>
          </p:cNvSpPr>
          <p:nvPr/>
        </p:nvSpPr>
        <p:spPr>
          <a:xfrm rot="18685415">
            <a:off x="10829912" y="276823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3479E427-BD43-B94F-9A5A-99BF3ED5BB5E}"/>
              </a:ext>
            </a:extLst>
          </p:cNvPr>
          <p:cNvSpPr>
            <a:spLocks noChangeAspect="1"/>
          </p:cNvSpPr>
          <p:nvPr/>
        </p:nvSpPr>
        <p:spPr>
          <a:xfrm rot="18685415">
            <a:off x="10993599" y="2779776"/>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334E877B-4680-E242-80EA-A7C21B7FC99C}"/>
              </a:ext>
            </a:extLst>
          </p:cNvPr>
          <p:cNvSpPr>
            <a:spLocks noChangeAspect="1"/>
          </p:cNvSpPr>
          <p:nvPr/>
        </p:nvSpPr>
        <p:spPr>
          <a:xfrm rot="18685415">
            <a:off x="11121985" y="265350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66D96B5D-3AD9-174F-AAA2-DDE22EBD5670}"/>
              </a:ext>
            </a:extLst>
          </p:cNvPr>
          <p:cNvSpPr>
            <a:spLocks noChangeAspect="1"/>
          </p:cNvSpPr>
          <p:nvPr/>
        </p:nvSpPr>
        <p:spPr>
          <a:xfrm rot="18685415">
            <a:off x="9377900" y="2757581"/>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A7ED3CCF-00C4-CD41-8559-FABEA0E2C8B5}"/>
              </a:ext>
            </a:extLst>
          </p:cNvPr>
          <p:cNvSpPr>
            <a:spLocks noChangeAspect="1"/>
          </p:cNvSpPr>
          <p:nvPr/>
        </p:nvSpPr>
        <p:spPr>
          <a:xfrm rot="18685415">
            <a:off x="9680018" y="284203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9C5F22A5-69ED-5B4E-BFCF-1C57E5174F07}"/>
              </a:ext>
            </a:extLst>
          </p:cNvPr>
          <p:cNvSpPr>
            <a:spLocks noChangeAspect="1"/>
          </p:cNvSpPr>
          <p:nvPr/>
        </p:nvSpPr>
        <p:spPr>
          <a:xfrm rot="18685415">
            <a:off x="9528511" y="274625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9642AA75-6FD7-914B-8B7F-1001C2C824E2}"/>
              </a:ext>
            </a:extLst>
          </p:cNvPr>
          <p:cNvSpPr>
            <a:spLocks noChangeAspect="1"/>
          </p:cNvSpPr>
          <p:nvPr/>
        </p:nvSpPr>
        <p:spPr>
          <a:xfrm rot="18685415">
            <a:off x="10978023" y="264398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45776493-EADE-8E4E-A473-BF512CF686E1}"/>
              </a:ext>
            </a:extLst>
          </p:cNvPr>
          <p:cNvSpPr>
            <a:spLocks noChangeAspect="1"/>
          </p:cNvSpPr>
          <p:nvPr/>
        </p:nvSpPr>
        <p:spPr>
          <a:xfrm rot="13285415">
            <a:off x="9276922" y="264914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024CF6B4-9C1C-BF44-AAAD-B4563A16E98B}"/>
              </a:ext>
            </a:extLst>
          </p:cNvPr>
          <p:cNvSpPr>
            <a:spLocks noChangeAspect="1"/>
          </p:cNvSpPr>
          <p:nvPr/>
        </p:nvSpPr>
        <p:spPr>
          <a:xfrm rot="13285415">
            <a:off x="9258015" y="278532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1" name="Straight Connector 70">
            <a:extLst>
              <a:ext uri="{FF2B5EF4-FFF2-40B4-BE49-F238E27FC236}">
                <a16:creationId xmlns:a16="http://schemas.microsoft.com/office/drawing/2014/main" id="{5CA45ED1-3958-054E-BBA4-511B985FEE58}"/>
              </a:ext>
            </a:extLst>
          </p:cNvPr>
          <p:cNvCxnSpPr>
            <a:cxnSpLocks/>
          </p:cNvCxnSpPr>
          <p:nvPr/>
        </p:nvCxnSpPr>
        <p:spPr>
          <a:xfrm>
            <a:off x="9071261" y="2846275"/>
            <a:ext cx="2273949" cy="0"/>
          </a:xfrm>
          <a:prstGeom prst="line">
            <a:avLst/>
          </a:prstGeom>
          <a:ln w="50800">
            <a:solidFill>
              <a:srgbClr val="FFFF00"/>
            </a:solidFill>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xmlns:a16="http://schemas.microsoft.com/office/drawing/2014/main" id="{42937B82-7E21-1241-938B-B2AE9A11CB4C}"/>
              </a:ext>
            </a:extLst>
          </p:cNvPr>
          <p:cNvSpPr>
            <a:spLocks noChangeAspect="1"/>
          </p:cNvSpPr>
          <p:nvPr/>
        </p:nvSpPr>
        <p:spPr>
          <a:xfrm rot="18685415">
            <a:off x="10191537" y="155028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Arrow Connector 80">
            <a:extLst>
              <a:ext uri="{FF2B5EF4-FFF2-40B4-BE49-F238E27FC236}">
                <a16:creationId xmlns:a16="http://schemas.microsoft.com/office/drawing/2014/main" id="{047D5E7C-2DA9-134A-942E-D70244BB1A8D}"/>
              </a:ext>
            </a:extLst>
          </p:cNvPr>
          <p:cNvCxnSpPr/>
          <p:nvPr/>
        </p:nvCxnSpPr>
        <p:spPr>
          <a:xfrm>
            <a:off x="10340449" y="1622288"/>
            <a:ext cx="484825"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3621892B-8381-1947-B080-8F5333FCA368}"/>
              </a:ext>
            </a:extLst>
          </p:cNvPr>
          <p:cNvCxnSpPr>
            <a:cxnSpLocks/>
          </p:cNvCxnSpPr>
          <p:nvPr/>
        </p:nvCxnSpPr>
        <p:spPr>
          <a:xfrm flipH="1" flipV="1">
            <a:off x="9687942" y="1622288"/>
            <a:ext cx="486000"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7EBDF6AA-2C8D-2D42-9183-BA71CAADBE41}"/>
              </a:ext>
            </a:extLst>
          </p:cNvPr>
          <p:cNvSpPr txBox="1"/>
          <p:nvPr/>
        </p:nvSpPr>
        <p:spPr>
          <a:xfrm>
            <a:off x="10384733" y="1263763"/>
            <a:ext cx="563663"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F</a:t>
            </a:r>
            <a:r>
              <a:rPr lang="en-US" baseline="-25000" dirty="0">
                <a:latin typeface="Arial" panose="020B0604020202020204" pitchFamily="34" charset="0"/>
                <a:cs typeface="Arial" panose="020B0604020202020204" pitchFamily="34" charset="0"/>
              </a:rPr>
              <a:t>D</a:t>
            </a:r>
          </a:p>
        </p:txBody>
      </p:sp>
      <p:sp>
        <p:nvSpPr>
          <p:cNvPr id="85" name="TextBox 84">
            <a:extLst>
              <a:ext uri="{FF2B5EF4-FFF2-40B4-BE49-F238E27FC236}">
                <a16:creationId xmlns:a16="http://schemas.microsoft.com/office/drawing/2014/main" id="{2337642E-6EA7-D847-82A7-EAC6C2F177B2}"/>
              </a:ext>
            </a:extLst>
          </p:cNvPr>
          <p:cNvSpPr txBox="1"/>
          <p:nvPr/>
        </p:nvSpPr>
        <p:spPr>
          <a:xfrm>
            <a:off x="9774441" y="1243592"/>
            <a:ext cx="563663"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F</a:t>
            </a:r>
            <a:r>
              <a:rPr lang="en-US" baseline="-25000" dirty="0">
                <a:latin typeface="Arial" panose="020B0604020202020204" pitchFamily="34" charset="0"/>
                <a:cs typeface="Arial" panose="020B0604020202020204" pitchFamily="34" charset="0"/>
              </a:rPr>
              <a:t>C</a:t>
            </a:r>
          </a:p>
        </p:txBody>
      </p:sp>
      <p:cxnSp>
        <p:nvCxnSpPr>
          <p:cNvPr id="87" name="Straight Connector 86">
            <a:extLst>
              <a:ext uri="{FF2B5EF4-FFF2-40B4-BE49-F238E27FC236}">
                <a16:creationId xmlns:a16="http://schemas.microsoft.com/office/drawing/2014/main" id="{0845062A-23A0-6643-8848-7E568666512E}"/>
              </a:ext>
            </a:extLst>
          </p:cNvPr>
          <p:cNvCxnSpPr/>
          <p:nvPr/>
        </p:nvCxnSpPr>
        <p:spPr>
          <a:xfrm>
            <a:off x="8428709" y="818099"/>
            <a:ext cx="0" cy="20571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9" name="Freeform 88">
            <a:extLst>
              <a:ext uri="{FF2B5EF4-FFF2-40B4-BE49-F238E27FC236}">
                <a16:creationId xmlns:a16="http://schemas.microsoft.com/office/drawing/2014/main" id="{ACDA9AD3-DC32-F74D-9E41-D7F3B608761E}"/>
              </a:ext>
            </a:extLst>
          </p:cNvPr>
          <p:cNvSpPr/>
          <p:nvPr/>
        </p:nvSpPr>
        <p:spPr>
          <a:xfrm>
            <a:off x="8527563" y="831274"/>
            <a:ext cx="543698" cy="1902941"/>
          </a:xfrm>
          <a:custGeom>
            <a:avLst/>
            <a:gdLst>
              <a:gd name="connsiteX0" fmla="*/ 0 w 543698"/>
              <a:gd name="connsiteY0" fmla="*/ 1902941 h 1902941"/>
              <a:gd name="connsiteX1" fmla="*/ 148281 w 543698"/>
              <a:gd name="connsiteY1" fmla="*/ 1729946 h 1902941"/>
              <a:gd name="connsiteX2" fmla="*/ 321276 w 543698"/>
              <a:gd name="connsiteY2" fmla="*/ 1458097 h 1902941"/>
              <a:gd name="connsiteX3" fmla="*/ 444844 w 543698"/>
              <a:gd name="connsiteY3" fmla="*/ 1075038 h 1902941"/>
              <a:gd name="connsiteX4" fmla="*/ 506627 w 543698"/>
              <a:gd name="connsiteY4" fmla="*/ 580768 h 1902941"/>
              <a:gd name="connsiteX5" fmla="*/ 543698 w 543698"/>
              <a:gd name="connsiteY5" fmla="*/ 0 h 1902941"/>
              <a:gd name="connsiteX6" fmla="*/ 543698 w 543698"/>
              <a:gd name="connsiteY6" fmla="*/ 0 h 190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3698" h="1902941">
                <a:moveTo>
                  <a:pt x="0" y="1902941"/>
                </a:moveTo>
                <a:cubicBezTo>
                  <a:pt x="47367" y="1853514"/>
                  <a:pt x="94735" y="1804087"/>
                  <a:pt x="148281" y="1729946"/>
                </a:cubicBezTo>
                <a:cubicBezTo>
                  <a:pt x="201827" y="1655805"/>
                  <a:pt x="271849" y="1567248"/>
                  <a:pt x="321276" y="1458097"/>
                </a:cubicBezTo>
                <a:cubicBezTo>
                  <a:pt x="370703" y="1348946"/>
                  <a:pt x="413952" y="1221259"/>
                  <a:pt x="444844" y="1075038"/>
                </a:cubicBezTo>
                <a:cubicBezTo>
                  <a:pt x="475736" y="928817"/>
                  <a:pt x="490151" y="759941"/>
                  <a:pt x="506627" y="580768"/>
                </a:cubicBezTo>
                <a:cubicBezTo>
                  <a:pt x="523103" y="401595"/>
                  <a:pt x="543698" y="0"/>
                  <a:pt x="543698" y="0"/>
                </a:cubicBezTo>
                <a:lnTo>
                  <a:pt x="543698" y="0"/>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1" name="Straight Arrow Connector 90">
            <a:extLst>
              <a:ext uri="{FF2B5EF4-FFF2-40B4-BE49-F238E27FC236}">
                <a16:creationId xmlns:a16="http://schemas.microsoft.com/office/drawing/2014/main" id="{01CAB0C8-518E-D94E-94EB-A774E7F482A8}"/>
              </a:ext>
            </a:extLst>
          </p:cNvPr>
          <p:cNvCxnSpPr>
            <a:cxnSpLocks/>
          </p:cNvCxnSpPr>
          <p:nvPr/>
        </p:nvCxnSpPr>
        <p:spPr>
          <a:xfrm flipV="1">
            <a:off x="8428709" y="1683041"/>
            <a:ext cx="597584" cy="1"/>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4" name="Rectangle 93">
                <a:extLst>
                  <a:ext uri="{FF2B5EF4-FFF2-40B4-BE49-F238E27FC236}">
                    <a16:creationId xmlns:a16="http://schemas.microsoft.com/office/drawing/2014/main" id="{0696F1E4-0498-F642-9C7D-C1AD690A6F92}"/>
                  </a:ext>
                </a:extLst>
              </p:cNvPr>
              <p:cNvSpPr/>
              <p:nvPr/>
            </p:nvSpPr>
            <p:spPr>
              <a:xfrm>
                <a:off x="8396512" y="1337051"/>
                <a:ext cx="68422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d>
                        <m:dPr>
                          <m:ctrlPr>
                            <a:rPr lang="en-US"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𝑧</m:t>
                          </m:r>
                        </m:e>
                      </m:d>
                    </m:oMath>
                  </m:oMathPara>
                </a14:m>
                <a:endParaRPr lang="en-US" dirty="0"/>
              </a:p>
            </p:txBody>
          </p:sp>
        </mc:Choice>
        <mc:Fallback xmlns="">
          <p:sp>
            <p:nvSpPr>
              <p:cNvPr id="94" name="Rectangle 93">
                <a:extLst>
                  <a:ext uri="{FF2B5EF4-FFF2-40B4-BE49-F238E27FC236}">
                    <a16:creationId xmlns:a16="http://schemas.microsoft.com/office/drawing/2014/main" id="{0696F1E4-0498-F642-9C7D-C1AD690A6F92}"/>
                  </a:ext>
                </a:extLst>
              </p:cNvPr>
              <p:cNvSpPr>
                <a:spLocks noRot="1" noChangeAspect="1" noMove="1" noResize="1" noEditPoints="1" noAdjustHandles="1" noChangeArrowheads="1" noChangeShapeType="1" noTextEdit="1"/>
              </p:cNvSpPr>
              <p:nvPr/>
            </p:nvSpPr>
            <p:spPr>
              <a:xfrm>
                <a:off x="8396512" y="1337051"/>
                <a:ext cx="684226" cy="369332"/>
              </a:xfrm>
              <a:prstGeom prst="rect">
                <a:avLst/>
              </a:prstGeom>
              <a:blipFill>
                <a:blip r:embed="rId3"/>
                <a:stretch>
                  <a:fillRect/>
                </a:stretch>
              </a:blipFill>
            </p:spPr>
            <p:txBody>
              <a:bodyPr/>
              <a:lstStyle/>
              <a:p>
                <a:r>
                  <a:rPr lang="en-US">
                    <a:noFill/>
                  </a:rPr>
                  <a:t> </a:t>
                </a:r>
              </a:p>
            </p:txBody>
          </p:sp>
        </mc:Fallback>
      </mc:AlternateContent>
      <p:cxnSp>
        <p:nvCxnSpPr>
          <p:cNvPr id="98" name="Straight Arrow Connector 97">
            <a:extLst>
              <a:ext uri="{FF2B5EF4-FFF2-40B4-BE49-F238E27FC236}">
                <a16:creationId xmlns:a16="http://schemas.microsoft.com/office/drawing/2014/main" id="{ABE8FB50-C61B-B54C-8210-ACA3EB998C43}"/>
              </a:ext>
            </a:extLst>
          </p:cNvPr>
          <p:cNvCxnSpPr/>
          <p:nvPr/>
        </p:nvCxnSpPr>
        <p:spPr>
          <a:xfrm flipV="1">
            <a:off x="8058003" y="2375869"/>
            <a:ext cx="0" cy="499384"/>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DE684B16-96A2-7844-83A8-48B1BA54B468}"/>
              </a:ext>
            </a:extLst>
          </p:cNvPr>
          <p:cNvSpPr txBox="1"/>
          <p:nvPr/>
        </p:nvSpPr>
        <p:spPr>
          <a:xfrm>
            <a:off x="7774950" y="2275621"/>
            <a:ext cx="334786"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z</a:t>
            </a: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F0BC102D-0C89-2441-B5B4-C6ECB22A49A0}"/>
                  </a:ext>
                </a:extLst>
              </p:cNvPr>
              <p:cNvSpPr txBox="1"/>
              <p:nvPr/>
            </p:nvSpPr>
            <p:spPr>
              <a:xfrm>
                <a:off x="4694280" y="699984"/>
                <a:ext cx="1258613" cy="717569"/>
              </a:xfrm>
              <a:prstGeom prst="rect">
                <a:avLst/>
              </a:prstGeom>
              <a:solidFill>
                <a:schemeClr val="accent1">
                  <a:lumMod val="20000"/>
                  <a:lumOff val="80000"/>
                </a:schemeClr>
              </a:solid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sSubSup>
                            <m:sSubSupPr>
                              <m:ctrlPr>
                                <a:rPr lang="en-US"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𝑓</m:t>
                              </m:r>
                            </m:sub>
                            <m:sup>
                              <m:r>
                                <a:rPr lang="en-US" b="0" i="1" smtClean="0">
                                  <a:latin typeface="Cambria Math" panose="02040503050406030204" pitchFamily="18" charset="0"/>
                                  <a:cs typeface="Arial" panose="020B0604020202020204" pitchFamily="34" charset="0"/>
                                </a:rPr>
                                <m:t>2</m:t>
                              </m:r>
                            </m:sup>
                          </m:sSubSup>
                        </m:num>
                        <m:den>
                          <m:r>
                            <a:rPr lang="en-US" b="0" i="1" smtClean="0">
                              <a:latin typeface="Cambria Math" panose="02040503050406030204" pitchFamily="18" charset="0"/>
                              <a:cs typeface="Arial" panose="020B0604020202020204" pitchFamily="34" charset="0"/>
                            </a:rPr>
                            <m:t>𝑅𝑔𝐷</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4</m:t>
                          </m:r>
                        </m:num>
                        <m:den>
                          <m:r>
                            <a:rPr lang="en-US" b="0" i="1" smtClean="0">
                              <a:latin typeface="Cambria Math" panose="02040503050406030204" pitchFamily="18" charset="0"/>
                              <a:cs typeface="Arial" panose="020B0604020202020204" pitchFamily="34" charset="0"/>
                            </a:rPr>
                            <m:t>3</m:t>
                          </m:r>
                        </m:den>
                      </m:f>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𝜇</m:t>
                              </m:r>
                            </m:e>
                            <m:sub>
                              <m:r>
                                <a:rPr lang="en-US" b="0" i="1" smtClean="0">
                                  <a:latin typeface="Cambria Math" panose="02040503050406030204" pitchFamily="18" charset="0"/>
                                  <a:cs typeface="Arial" panose="020B0604020202020204" pitchFamily="34" charset="0"/>
                                </a:rPr>
                                <m:t>𝐶</m:t>
                              </m:r>
                            </m:sub>
                          </m:sSub>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𝐷</m:t>
                              </m:r>
                            </m:sub>
                          </m:sSub>
                        </m:den>
                      </m:f>
                    </m:oMath>
                  </m:oMathPara>
                </a14:m>
                <a:endParaRPr lang="en-US" dirty="0">
                  <a:latin typeface="Arial" panose="020B0604020202020204" pitchFamily="34" charset="0"/>
                  <a:cs typeface="Arial" panose="020B0604020202020204" pitchFamily="34" charset="0"/>
                </a:endParaRPr>
              </a:p>
            </p:txBody>
          </p:sp>
        </mc:Choice>
        <mc:Fallback xmlns="">
          <p:sp>
            <p:nvSpPr>
              <p:cNvPr id="43" name="TextBox 42">
                <a:extLst>
                  <a:ext uri="{FF2B5EF4-FFF2-40B4-BE49-F238E27FC236}">
                    <a16:creationId xmlns:a16="http://schemas.microsoft.com/office/drawing/2014/main" id="{F0BC102D-0C89-2441-B5B4-C6ECB22A49A0}"/>
                  </a:ext>
                </a:extLst>
              </p:cNvPr>
              <p:cNvSpPr txBox="1">
                <a:spLocks noRot="1" noChangeAspect="1" noMove="1" noResize="1" noEditPoints="1" noAdjustHandles="1" noChangeArrowheads="1" noChangeShapeType="1" noTextEdit="1"/>
              </p:cNvSpPr>
              <p:nvPr/>
            </p:nvSpPr>
            <p:spPr>
              <a:xfrm>
                <a:off x="4694280" y="699984"/>
                <a:ext cx="1258613" cy="717569"/>
              </a:xfrm>
              <a:prstGeom prst="rect">
                <a:avLst/>
              </a:prstGeom>
              <a:blipFill>
                <a:blip r:embed="rId4"/>
                <a:stretch>
                  <a:fillRect l="-4000" b="-14035"/>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3AA23DDB-004E-5B40-B861-CEDB9C4E22B0}"/>
              </a:ext>
            </a:extLst>
          </p:cNvPr>
          <p:cNvSpPr txBox="1"/>
          <p:nvPr/>
        </p:nvSpPr>
        <p:spPr>
          <a:xfrm>
            <a:off x="506139" y="1521594"/>
            <a:ext cx="7016067" cy="1013354"/>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As the roughness height and the elevation of the particle centroid are equal to the grain diameter times an order 1 number, the law of the wall is used to compute flow velocity acting on the particle </a:t>
            </a:r>
            <a:r>
              <a:rPr lang="en-US" dirty="0" err="1">
                <a:latin typeface="Arial" panose="020B0604020202020204" pitchFamily="34" charset="0"/>
                <a:cs typeface="Arial" panose="020B0604020202020204" pitchFamily="34" charset="0"/>
              </a:rPr>
              <a:t>u</a:t>
            </a:r>
            <a:r>
              <a:rPr lang="en-US" baseline="-25000" dirty="0" err="1">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29F3AF0-2136-4849-B86F-3C3210D5AD38}"/>
                  </a:ext>
                </a:extLst>
              </p:cNvPr>
              <p:cNvSpPr txBox="1"/>
              <p:nvPr/>
            </p:nvSpPr>
            <p:spPr>
              <a:xfrm>
                <a:off x="580767" y="3026489"/>
                <a:ext cx="3301225" cy="676147"/>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𝑓</m:t>
                              </m:r>
                            </m:sub>
                          </m:sSub>
                        </m:num>
                        <m:den>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sub>
                          </m:sSub>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sSub>
                            <m:sSubPr>
                              <m:ctrlPr>
                                <a:rPr lang="en-US" i="1" smtClean="0">
                                  <a:latin typeface="Cambria Math" panose="02040503050406030204" pitchFamily="18" charset="0"/>
                                  <a:cs typeface="Arial" panose="020B0604020202020204" pitchFamily="34" charset="0"/>
                                </a:rPr>
                              </m:ctrlPr>
                            </m:sSubPr>
                            <m:e>
                              <m:d>
                                <m:dPr>
                                  <m:begChr m:val=""/>
                                  <m:endChr m:val="|"/>
                                  <m:ctrlPr>
                                    <a:rPr lang="en-US" i="1" smtClean="0">
                                      <a:latin typeface="Cambria Math" panose="02040503050406030204" pitchFamily="18" charset="0"/>
                                      <a:cs typeface="Arial" panose="020B0604020202020204" pitchFamily="34" charset="0"/>
                                    </a:rPr>
                                  </m:ctrlPr>
                                </m:dPr>
                                <m:e>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e>
                              </m:d>
                            </m:e>
                            <m:sub>
                              <m:r>
                                <a:rPr lang="en-US" b="0" i="1" smtClean="0">
                                  <a:latin typeface="Cambria Math" panose="02040503050406030204" pitchFamily="18" charset="0"/>
                                  <a:cs typeface="Arial" panose="020B0604020202020204" pitchFamily="34" charset="0"/>
                                </a:rPr>
                                <m:t>𝑧</m:t>
                              </m:r>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𝑛</m:t>
                                  </m:r>
                                </m:e>
                                <m:sub>
                                  <m:r>
                                    <a:rPr lang="en-US" b="0" i="1" smtClean="0">
                                      <a:latin typeface="Cambria Math" panose="02040503050406030204" pitchFamily="18" charset="0"/>
                                      <a:cs typeface="Arial" panose="020B0604020202020204" pitchFamily="34" charset="0"/>
                                    </a:rPr>
                                    <m:t>𝑒</m:t>
                                  </m:r>
                                </m:sub>
                              </m:sSub>
                              <m:r>
                                <a:rPr lang="en-US" b="0" i="1" smtClean="0">
                                  <a:latin typeface="Cambria Math" panose="02040503050406030204" pitchFamily="18" charset="0"/>
                                  <a:cs typeface="Arial" panose="020B0604020202020204" pitchFamily="34" charset="0"/>
                                </a:rPr>
                                <m:t>𝐷</m:t>
                              </m:r>
                            </m:sub>
                          </m:sSub>
                        </m:num>
                        <m:den>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𝑢</m:t>
                              </m:r>
                            </m:e>
                            <m:sub>
                              <m:r>
                                <a:rPr lang="en-US" i="1">
                                  <a:latin typeface="Cambria Math" panose="02040503050406030204" pitchFamily="18" charset="0"/>
                                  <a:cs typeface="Arial" panose="020B0604020202020204" pitchFamily="34" charset="0"/>
                                </a:rPr>
                                <m:t>∗</m:t>
                              </m:r>
                            </m:sub>
                          </m:sSub>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
                            <a:rPr lang="en-US" b="0" i="1" smtClean="0">
                              <a:latin typeface="Cambria Math" panose="02040503050406030204" pitchFamily="18" charset="0"/>
                              <a:ea typeface="Cambria Math" panose="02040503050406030204" pitchFamily="18" charset="0"/>
                              <a:cs typeface="Arial" panose="020B0604020202020204" pitchFamily="34" charset="0"/>
                            </a:rPr>
                            <m:t>𝜅</m:t>
                          </m:r>
                        </m:den>
                      </m:f>
                      <m:r>
                        <a:rPr lang="en-US" b="0" i="1" smtClean="0">
                          <a:latin typeface="Cambria Math" panose="02040503050406030204" pitchFamily="18" charset="0"/>
                          <a:cs typeface="Arial" panose="020B0604020202020204" pitchFamily="34" charset="0"/>
                        </a:rPr>
                        <m:t>𝑙𝑛</m:t>
                      </m:r>
                      <m:d>
                        <m:dPr>
                          <m:ctrlPr>
                            <a:rPr lang="en-US" b="0" i="1" smtClean="0">
                              <a:latin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𝑛</m:t>
                                  </m:r>
                                </m:e>
                                <m:sub>
                                  <m:r>
                                    <a:rPr lang="en-US" i="1">
                                      <a:latin typeface="Cambria Math" panose="02040503050406030204" pitchFamily="18" charset="0"/>
                                      <a:cs typeface="Arial" panose="020B0604020202020204" pitchFamily="34" charset="0"/>
                                    </a:rPr>
                                    <m:t>𝑒</m:t>
                                  </m:r>
                                </m:sub>
                              </m:sSub>
                              <m:r>
                                <a:rPr lang="en-US" i="1">
                                  <a:latin typeface="Cambria Math" panose="02040503050406030204" pitchFamily="18" charset="0"/>
                                  <a:cs typeface="Arial" panose="020B0604020202020204" pitchFamily="34" charset="0"/>
                                </a:rPr>
                                <m:t>𝐷</m:t>
                              </m:r>
                            </m:num>
                            <m:den>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𝑛</m:t>
                                  </m:r>
                                </m:e>
                                <m:sub>
                                  <m:r>
                                    <a:rPr lang="en-US" b="0" i="1" smtClean="0">
                                      <a:latin typeface="Cambria Math" panose="02040503050406030204" pitchFamily="18" charset="0"/>
                                      <a:cs typeface="Arial" panose="020B0604020202020204" pitchFamily="34" charset="0"/>
                                    </a:rPr>
                                    <m:t>𝑘</m:t>
                                  </m:r>
                                </m:sub>
                              </m:sSub>
                              <m:r>
                                <a:rPr lang="en-US" i="1">
                                  <a:latin typeface="Cambria Math" panose="02040503050406030204" pitchFamily="18" charset="0"/>
                                  <a:cs typeface="Arial" panose="020B0604020202020204" pitchFamily="34" charset="0"/>
                                </a:rPr>
                                <m:t>𝐷</m:t>
                              </m:r>
                            </m:den>
                          </m:f>
                        </m:e>
                      </m:d>
                      <m:r>
                        <a:rPr lang="en-US" b="0" i="1" smtClean="0">
                          <a:latin typeface="Cambria Math" panose="02040503050406030204" pitchFamily="18" charset="0"/>
                          <a:cs typeface="Arial" panose="020B0604020202020204" pitchFamily="34" charset="0"/>
                        </a:rPr>
                        <m:t>+8.5</m:t>
                      </m:r>
                    </m:oMath>
                  </m:oMathPara>
                </a14:m>
                <a:endParaRPr lang="en-US" dirty="0">
                  <a:latin typeface="Arial" panose="020B0604020202020204" pitchFamily="34" charset="0"/>
                  <a:cs typeface="Arial" panose="020B0604020202020204" pitchFamily="34" charset="0"/>
                </a:endParaRPr>
              </a:p>
            </p:txBody>
          </p:sp>
        </mc:Choice>
        <mc:Fallback xmlns="">
          <p:sp>
            <p:nvSpPr>
              <p:cNvPr id="10" name="TextBox 9">
                <a:extLst>
                  <a:ext uri="{FF2B5EF4-FFF2-40B4-BE49-F238E27FC236}">
                    <a16:creationId xmlns:a16="http://schemas.microsoft.com/office/drawing/2014/main" id="{B29F3AF0-2136-4849-B86F-3C3210D5AD38}"/>
                  </a:ext>
                </a:extLst>
              </p:cNvPr>
              <p:cNvSpPr txBox="1">
                <a:spLocks noRot="1" noChangeAspect="1" noMove="1" noResize="1" noEditPoints="1" noAdjustHandles="1" noChangeArrowheads="1" noChangeShapeType="1" noTextEdit="1"/>
              </p:cNvSpPr>
              <p:nvPr/>
            </p:nvSpPr>
            <p:spPr>
              <a:xfrm>
                <a:off x="580767" y="3026489"/>
                <a:ext cx="3301225" cy="676147"/>
              </a:xfrm>
              <a:prstGeom prst="rect">
                <a:avLst/>
              </a:prstGeom>
              <a:blipFill>
                <a:blip r:embed="rId5"/>
                <a:stretch>
                  <a:fillRect t="-59259" r="-1149" b="-51852"/>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05F2B5FD-463A-AD43-8BDC-176A44F510BE}"/>
              </a:ext>
            </a:extLst>
          </p:cNvPr>
          <p:cNvSpPr txBox="1"/>
          <p:nvPr/>
        </p:nvSpPr>
        <p:spPr>
          <a:xfrm>
            <a:off x="4611242" y="3087010"/>
            <a:ext cx="6214032" cy="697050"/>
          </a:xfrm>
          <a:prstGeom prst="rect">
            <a:avLst/>
          </a:prstGeom>
          <a:solidFill>
            <a:srgbClr val="FFFF00"/>
          </a:solidFill>
          <a:ln w="38100">
            <a:solidFill>
              <a:srgbClr val="C00000"/>
            </a:solidFill>
          </a:ln>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NOTE we are assuming that the roughness Reynolds number u</a:t>
            </a:r>
            <a:r>
              <a:rPr lang="en-US" baseline="-25000"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k</a:t>
            </a:r>
            <a:r>
              <a:rPr lang="en-US" baseline="-25000" dirty="0" err="1">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a:t>
            </a:r>
            <a:r>
              <a:rPr lang="en-US" dirty="0">
                <a:latin typeface="Symbol" pitchFamily="2" charset="2"/>
                <a:cs typeface="Arial" panose="020B0604020202020204" pitchFamily="34" charset="0"/>
              </a:rPr>
              <a:t>n</a:t>
            </a:r>
            <a:r>
              <a:rPr lang="en-US" dirty="0">
                <a:latin typeface="Arial" panose="020B0604020202020204" pitchFamily="34" charset="0"/>
                <a:cs typeface="Arial" panose="020B0604020202020204" pitchFamily="34" charset="0"/>
              </a:rPr>
              <a:t> &gt; 100 (i.e. hydraulically rough flow)</a:t>
            </a:r>
          </a:p>
        </p:txBody>
      </p:sp>
    </p:spTree>
    <p:extLst>
      <p:ext uri="{BB962C8B-B14F-4D97-AF65-F5344CB8AC3E}">
        <p14:creationId xmlns:p14="http://schemas.microsoft.com/office/powerpoint/2010/main" val="2243473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82AF5DE5-B052-5C47-8835-6CE96713B944}"/>
              </a:ext>
            </a:extLst>
          </p:cNvPr>
          <p:cNvSpPr/>
          <p:nvPr/>
        </p:nvSpPr>
        <p:spPr>
          <a:xfrm>
            <a:off x="10152892" y="5807676"/>
            <a:ext cx="1200908" cy="370702"/>
          </a:xfrm>
          <a:prstGeom prst="ellipse">
            <a:avLst/>
          </a:prstGeom>
          <a:solidFill>
            <a:srgbClr val="FFFF00"/>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14</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85351" y="136525"/>
            <a:ext cx="11800703"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Threshold of motion, turbulent rough flow over a nearly flat bed</a:t>
            </a:r>
          </a:p>
        </p:txBody>
      </p:sp>
      <p:sp>
        <p:nvSpPr>
          <p:cNvPr id="9" name="TextBox 8">
            <a:extLst>
              <a:ext uri="{FF2B5EF4-FFF2-40B4-BE49-F238E27FC236}">
                <a16:creationId xmlns:a16="http://schemas.microsoft.com/office/drawing/2014/main" id="{1E817250-3C3A-BE4F-95CC-C14166F9648C}"/>
              </a:ext>
            </a:extLst>
          </p:cNvPr>
          <p:cNvSpPr txBox="1"/>
          <p:nvPr/>
        </p:nvSpPr>
        <p:spPr>
          <a:xfrm>
            <a:off x="580767" y="820523"/>
            <a:ext cx="11133437"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We need to determine </a:t>
            </a:r>
            <a:r>
              <a:rPr lang="en-US" dirty="0" err="1">
                <a:latin typeface="Arial" panose="020B0604020202020204" pitchFamily="34" charset="0"/>
                <a:cs typeface="Arial" panose="020B0604020202020204" pitchFamily="34" charset="0"/>
              </a:rPr>
              <a:t>u</a:t>
            </a:r>
            <a:r>
              <a:rPr lang="en-US" baseline="-25000" dirty="0" err="1">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a:t>
            </a:r>
          </a:p>
        </p:txBody>
      </p:sp>
      <p:sp>
        <p:nvSpPr>
          <p:cNvPr id="12" name="Rectangle 11">
            <a:extLst>
              <a:ext uri="{FF2B5EF4-FFF2-40B4-BE49-F238E27FC236}">
                <a16:creationId xmlns:a16="http://schemas.microsoft.com/office/drawing/2014/main" id="{E2D7EE96-F67F-5341-BB73-F651970EF039}"/>
              </a:ext>
            </a:extLst>
          </p:cNvPr>
          <p:cNvSpPr/>
          <p:nvPr/>
        </p:nvSpPr>
        <p:spPr>
          <a:xfrm>
            <a:off x="7736728" y="818099"/>
            <a:ext cx="3949993" cy="2047715"/>
          </a:xfrm>
          <a:prstGeom prst="rect">
            <a:avLst/>
          </a:prstGeom>
          <a:solidFill>
            <a:srgbClr val="00B0F0"/>
          </a:solidFill>
          <a:ln w="190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1" name="Straight Connector 40">
            <a:extLst>
              <a:ext uri="{FF2B5EF4-FFF2-40B4-BE49-F238E27FC236}">
                <a16:creationId xmlns:a16="http://schemas.microsoft.com/office/drawing/2014/main" id="{54046B39-4842-5248-9227-7A2F3010F4A4}"/>
              </a:ext>
            </a:extLst>
          </p:cNvPr>
          <p:cNvCxnSpPr>
            <a:cxnSpLocks/>
          </p:cNvCxnSpPr>
          <p:nvPr/>
        </p:nvCxnSpPr>
        <p:spPr>
          <a:xfrm flipV="1">
            <a:off x="7489593" y="2875253"/>
            <a:ext cx="4315944" cy="536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6CC0E678-137A-F840-8BD8-781E2EDC0DA0}"/>
              </a:ext>
            </a:extLst>
          </p:cNvPr>
          <p:cNvSpPr>
            <a:spLocks noChangeAspect="1"/>
          </p:cNvSpPr>
          <p:nvPr/>
        </p:nvSpPr>
        <p:spPr>
          <a:xfrm rot="18685415">
            <a:off x="9410634" y="261235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97AFD7C5-9E0E-5647-AD2B-FFA65AD76866}"/>
              </a:ext>
            </a:extLst>
          </p:cNvPr>
          <p:cNvSpPr>
            <a:spLocks noChangeAspect="1"/>
          </p:cNvSpPr>
          <p:nvPr/>
        </p:nvSpPr>
        <p:spPr>
          <a:xfrm rot="18685415">
            <a:off x="9554648" y="260780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4EDD07C9-3B56-CF4A-9728-05185B8B29C4}"/>
              </a:ext>
            </a:extLst>
          </p:cNvPr>
          <p:cNvSpPr>
            <a:spLocks noChangeAspect="1"/>
          </p:cNvSpPr>
          <p:nvPr/>
        </p:nvSpPr>
        <p:spPr>
          <a:xfrm rot="18685415">
            <a:off x="9672950" y="2704075"/>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5B28DEA-4A7F-394E-82D6-DC448C42EB2A}"/>
              </a:ext>
            </a:extLst>
          </p:cNvPr>
          <p:cNvSpPr>
            <a:spLocks noChangeAspect="1"/>
          </p:cNvSpPr>
          <p:nvPr/>
        </p:nvSpPr>
        <p:spPr>
          <a:xfrm rot="18685415">
            <a:off x="9804067" y="2611015"/>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AC479B5-66DB-1949-A91D-C3348FC48648}"/>
              </a:ext>
            </a:extLst>
          </p:cNvPr>
          <p:cNvSpPr>
            <a:spLocks noChangeAspect="1"/>
          </p:cNvSpPr>
          <p:nvPr/>
        </p:nvSpPr>
        <p:spPr>
          <a:xfrm rot="18685415">
            <a:off x="9927826" y="269032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2E5DFD9B-BC67-2E4E-BCA1-52A0749C078B}"/>
              </a:ext>
            </a:extLst>
          </p:cNvPr>
          <p:cNvSpPr>
            <a:spLocks noChangeAspect="1"/>
          </p:cNvSpPr>
          <p:nvPr/>
        </p:nvSpPr>
        <p:spPr>
          <a:xfrm rot="18685415">
            <a:off x="10039137" y="259649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5F16E2E7-965E-BC43-8ADC-FEDE7CBD4D1B}"/>
              </a:ext>
            </a:extLst>
          </p:cNvPr>
          <p:cNvSpPr>
            <a:spLocks noChangeAspect="1"/>
          </p:cNvSpPr>
          <p:nvPr/>
        </p:nvSpPr>
        <p:spPr>
          <a:xfrm rot="18685415">
            <a:off x="10312734" y="2580725"/>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FDAD8569-A1CA-A64E-945C-89EAF893F822}"/>
              </a:ext>
            </a:extLst>
          </p:cNvPr>
          <p:cNvSpPr>
            <a:spLocks noChangeAspect="1"/>
          </p:cNvSpPr>
          <p:nvPr/>
        </p:nvSpPr>
        <p:spPr>
          <a:xfrm rot="18685415">
            <a:off x="10182518" y="265787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D025C60B-BFEA-AD43-8ACD-4B3548897E59}"/>
              </a:ext>
            </a:extLst>
          </p:cNvPr>
          <p:cNvSpPr>
            <a:spLocks noChangeAspect="1"/>
          </p:cNvSpPr>
          <p:nvPr/>
        </p:nvSpPr>
        <p:spPr>
          <a:xfrm rot="18685415">
            <a:off x="10420711" y="267599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A073F294-8B62-FA43-B89E-109D12135EAF}"/>
              </a:ext>
            </a:extLst>
          </p:cNvPr>
          <p:cNvSpPr>
            <a:spLocks noChangeAspect="1"/>
          </p:cNvSpPr>
          <p:nvPr/>
        </p:nvSpPr>
        <p:spPr>
          <a:xfrm rot="18685415">
            <a:off x="10564178" y="260207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D30016A7-DD38-C34F-A455-2A5F41AD5228}"/>
              </a:ext>
            </a:extLst>
          </p:cNvPr>
          <p:cNvSpPr>
            <a:spLocks noChangeAspect="1"/>
          </p:cNvSpPr>
          <p:nvPr/>
        </p:nvSpPr>
        <p:spPr>
          <a:xfrm rot="18685415">
            <a:off x="10710336" y="266272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3E4FA1FB-5B34-234B-A146-ECC93A81D761}"/>
              </a:ext>
            </a:extLst>
          </p:cNvPr>
          <p:cNvSpPr>
            <a:spLocks noChangeAspect="1"/>
          </p:cNvSpPr>
          <p:nvPr/>
        </p:nvSpPr>
        <p:spPr>
          <a:xfrm rot="18685415">
            <a:off x="10834622" y="2600464"/>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463FCB3C-F60F-1C4D-9717-85F85891DEB1}"/>
              </a:ext>
            </a:extLst>
          </p:cNvPr>
          <p:cNvSpPr>
            <a:spLocks noChangeAspect="1"/>
          </p:cNvSpPr>
          <p:nvPr/>
        </p:nvSpPr>
        <p:spPr>
          <a:xfrm rot="18685415">
            <a:off x="9810299" y="2756596"/>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33C3F489-A495-DD45-946E-CA08EAFEAB4D}"/>
              </a:ext>
            </a:extLst>
          </p:cNvPr>
          <p:cNvSpPr>
            <a:spLocks noChangeAspect="1"/>
          </p:cNvSpPr>
          <p:nvPr/>
        </p:nvSpPr>
        <p:spPr>
          <a:xfrm rot="18685415">
            <a:off x="9928601" y="285286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74612F88-9588-1540-805A-2FBDE8BCDA67}"/>
              </a:ext>
            </a:extLst>
          </p:cNvPr>
          <p:cNvSpPr>
            <a:spLocks noChangeAspect="1"/>
          </p:cNvSpPr>
          <p:nvPr/>
        </p:nvSpPr>
        <p:spPr>
          <a:xfrm rot="18685415">
            <a:off x="10059718" y="275980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E6169A6F-24FA-1943-AA09-78C34C997153}"/>
              </a:ext>
            </a:extLst>
          </p:cNvPr>
          <p:cNvSpPr>
            <a:spLocks noChangeAspect="1"/>
          </p:cNvSpPr>
          <p:nvPr/>
        </p:nvSpPr>
        <p:spPr>
          <a:xfrm rot="18685415">
            <a:off x="10183478" y="283911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B2785B08-4506-B34C-8A25-63B64C247B39}"/>
              </a:ext>
            </a:extLst>
          </p:cNvPr>
          <p:cNvSpPr>
            <a:spLocks noChangeAspect="1"/>
          </p:cNvSpPr>
          <p:nvPr/>
        </p:nvSpPr>
        <p:spPr>
          <a:xfrm rot="18685415">
            <a:off x="10294788" y="2745285"/>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22807328-B657-5144-869E-3350821FF819}"/>
              </a:ext>
            </a:extLst>
          </p:cNvPr>
          <p:cNvSpPr>
            <a:spLocks noChangeAspect="1"/>
          </p:cNvSpPr>
          <p:nvPr/>
        </p:nvSpPr>
        <p:spPr>
          <a:xfrm rot="18685415">
            <a:off x="10568386" y="272951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093AAF2-856A-594B-BEB3-FB73986D973D}"/>
              </a:ext>
            </a:extLst>
          </p:cNvPr>
          <p:cNvSpPr>
            <a:spLocks noChangeAspect="1"/>
          </p:cNvSpPr>
          <p:nvPr/>
        </p:nvSpPr>
        <p:spPr>
          <a:xfrm rot="18685415">
            <a:off x="10438170" y="280665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E32CD6E4-B2EA-F744-B882-F92A5AE848A8}"/>
              </a:ext>
            </a:extLst>
          </p:cNvPr>
          <p:cNvSpPr>
            <a:spLocks noChangeAspect="1"/>
          </p:cNvSpPr>
          <p:nvPr/>
        </p:nvSpPr>
        <p:spPr>
          <a:xfrm rot="18685415">
            <a:off x="10676362" y="2824787"/>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03D88D7C-9297-094E-8297-DD7F36D2707B}"/>
              </a:ext>
            </a:extLst>
          </p:cNvPr>
          <p:cNvSpPr>
            <a:spLocks noChangeAspect="1"/>
          </p:cNvSpPr>
          <p:nvPr/>
        </p:nvSpPr>
        <p:spPr>
          <a:xfrm rot="18685415">
            <a:off x="10829912" y="276823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3479E427-BD43-B94F-9A5A-99BF3ED5BB5E}"/>
              </a:ext>
            </a:extLst>
          </p:cNvPr>
          <p:cNvSpPr>
            <a:spLocks noChangeAspect="1"/>
          </p:cNvSpPr>
          <p:nvPr/>
        </p:nvSpPr>
        <p:spPr>
          <a:xfrm rot="18685415">
            <a:off x="10993599" y="2779776"/>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334E877B-4680-E242-80EA-A7C21B7FC99C}"/>
              </a:ext>
            </a:extLst>
          </p:cNvPr>
          <p:cNvSpPr>
            <a:spLocks noChangeAspect="1"/>
          </p:cNvSpPr>
          <p:nvPr/>
        </p:nvSpPr>
        <p:spPr>
          <a:xfrm rot="18685415">
            <a:off x="11121985" y="2653509"/>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66D96B5D-3AD9-174F-AAA2-DDE22EBD5670}"/>
              </a:ext>
            </a:extLst>
          </p:cNvPr>
          <p:cNvSpPr>
            <a:spLocks noChangeAspect="1"/>
          </p:cNvSpPr>
          <p:nvPr/>
        </p:nvSpPr>
        <p:spPr>
          <a:xfrm rot="18685415">
            <a:off x="9377900" y="2757581"/>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A7ED3CCF-00C4-CD41-8559-FABEA0E2C8B5}"/>
              </a:ext>
            </a:extLst>
          </p:cNvPr>
          <p:cNvSpPr>
            <a:spLocks noChangeAspect="1"/>
          </p:cNvSpPr>
          <p:nvPr/>
        </p:nvSpPr>
        <p:spPr>
          <a:xfrm rot="18685415">
            <a:off x="9680018" y="284203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9C5F22A5-69ED-5B4E-BFCF-1C57E5174F07}"/>
              </a:ext>
            </a:extLst>
          </p:cNvPr>
          <p:cNvSpPr>
            <a:spLocks noChangeAspect="1"/>
          </p:cNvSpPr>
          <p:nvPr/>
        </p:nvSpPr>
        <p:spPr>
          <a:xfrm rot="18685415">
            <a:off x="9528511" y="274625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9642AA75-6FD7-914B-8B7F-1001C2C824E2}"/>
              </a:ext>
            </a:extLst>
          </p:cNvPr>
          <p:cNvSpPr>
            <a:spLocks noChangeAspect="1"/>
          </p:cNvSpPr>
          <p:nvPr/>
        </p:nvSpPr>
        <p:spPr>
          <a:xfrm rot="18685415">
            <a:off x="10978023" y="2643980"/>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45776493-EADE-8E4E-A473-BF512CF686E1}"/>
              </a:ext>
            </a:extLst>
          </p:cNvPr>
          <p:cNvSpPr>
            <a:spLocks noChangeAspect="1"/>
          </p:cNvSpPr>
          <p:nvPr/>
        </p:nvSpPr>
        <p:spPr>
          <a:xfrm rot="13285415">
            <a:off x="9276922" y="2649142"/>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024CF6B4-9C1C-BF44-AAAD-B4563A16E98B}"/>
              </a:ext>
            </a:extLst>
          </p:cNvPr>
          <p:cNvSpPr>
            <a:spLocks noChangeAspect="1"/>
          </p:cNvSpPr>
          <p:nvPr/>
        </p:nvSpPr>
        <p:spPr>
          <a:xfrm rot="13285415">
            <a:off x="9258015" y="2785323"/>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1" name="Straight Connector 70">
            <a:extLst>
              <a:ext uri="{FF2B5EF4-FFF2-40B4-BE49-F238E27FC236}">
                <a16:creationId xmlns:a16="http://schemas.microsoft.com/office/drawing/2014/main" id="{5CA45ED1-3958-054E-BBA4-511B985FEE58}"/>
              </a:ext>
            </a:extLst>
          </p:cNvPr>
          <p:cNvCxnSpPr>
            <a:cxnSpLocks/>
          </p:cNvCxnSpPr>
          <p:nvPr/>
        </p:nvCxnSpPr>
        <p:spPr>
          <a:xfrm>
            <a:off x="9071261" y="2846275"/>
            <a:ext cx="2273949" cy="0"/>
          </a:xfrm>
          <a:prstGeom prst="line">
            <a:avLst/>
          </a:prstGeom>
          <a:ln w="50800">
            <a:solidFill>
              <a:srgbClr val="FFFF00"/>
            </a:solidFill>
          </a:ln>
        </p:spPr>
        <p:style>
          <a:lnRef idx="1">
            <a:schemeClr val="accent1"/>
          </a:lnRef>
          <a:fillRef idx="0">
            <a:schemeClr val="accent1"/>
          </a:fillRef>
          <a:effectRef idx="0">
            <a:schemeClr val="accent1"/>
          </a:effectRef>
          <a:fontRef idx="minor">
            <a:schemeClr val="tx1"/>
          </a:fontRef>
        </p:style>
      </p:cxnSp>
      <p:sp>
        <p:nvSpPr>
          <p:cNvPr id="79" name="Oval 78">
            <a:extLst>
              <a:ext uri="{FF2B5EF4-FFF2-40B4-BE49-F238E27FC236}">
                <a16:creationId xmlns:a16="http://schemas.microsoft.com/office/drawing/2014/main" id="{42937B82-7E21-1241-938B-B2AE9A11CB4C}"/>
              </a:ext>
            </a:extLst>
          </p:cNvPr>
          <p:cNvSpPr>
            <a:spLocks noChangeAspect="1"/>
          </p:cNvSpPr>
          <p:nvPr/>
        </p:nvSpPr>
        <p:spPr>
          <a:xfrm rot="18685415">
            <a:off x="10191537" y="1550288"/>
            <a:ext cx="144000" cy="144000"/>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Arrow Connector 80">
            <a:extLst>
              <a:ext uri="{FF2B5EF4-FFF2-40B4-BE49-F238E27FC236}">
                <a16:creationId xmlns:a16="http://schemas.microsoft.com/office/drawing/2014/main" id="{047D5E7C-2DA9-134A-942E-D70244BB1A8D}"/>
              </a:ext>
            </a:extLst>
          </p:cNvPr>
          <p:cNvCxnSpPr/>
          <p:nvPr/>
        </p:nvCxnSpPr>
        <p:spPr>
          <a:xfrm>
            <a:off x="10340449" y="1622288"/>
            <a:ext cx="484825"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3621892B-8381-1947-B080-8F5333FCA368}"/>
              </a:ext>
            </a:extLst>
          </p:cNvPr>
          <p:cNvCxnSpPr>
            <a:cxnSpLocks/>
          </p:cNvCxnSpPr>
          <p:nvPr/>
        </p:nvCxnSpPr>
        <p:spPr>
          <a:xfrm flipH="1" flipV="1">
            <a:off x="9687942" y="1622288"/>
            <a:ext cx="486000"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4" name="TextBox 83">
            <a:extLst>
              <a:ext uri="{FF2B5EF4-FFF2-40B4-BE49-F238E27FC236}">
                <a16:creationId xmlns:a16="http://schemas.microsoft.com/office/drawing/2014/main" id="{7EBDF6AA-2C8D-2D42-9183-BA71CAADBE41}"/>
              </a:ext>
            </a:extLst>
          </p:cNvPr>
          <p:cNvSpPr txBox="1"/>
          <p:nvPr/>
        </p:nvSpPr>
        <p:spPr>
          <a:xfrm>
            <a:off x="10384733" y="1263763"/>
            <a:ext cx="563663"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F</a:t>
            </a:r>
            <a:r>
              <a:rPr lang="en-US" baseline="-25000" dirty="0">
                <a:latin typeface="Arial" panose="020B0604020202020204" pitchFamily="34" charset="0"/>
                <a:cs typeface="Arial" panose="020B0604020202020204" pitchFamily="34" charset="0"/>
              </a:rPr>
              <a:t>D</a:t>
            </a:r>
          </a:p>
        </p:txBody>
      </p:sp>
      <p:sp>
        <p:nvSpPr>
          <p:cNvPr id="85" name="TextBox 84">
            <a:extLst>
              <a:ext uri="{FF2B5EF4-FFF2-40B4-BE49-F238E27FC236}">
                <a16:creationId xmlns:a16="http://schemas.microsoft.com/office/drawing/2014/main" id="{2337642E-6EA7-D847-82A7-EAC6C2F177B2}"/>
              </a:ext>
            </a:extLst>
          </p:cNvPr>
          <p:cNvSpPr txBox="1"/>
          <p:nvPr/>
        </p:nvSpPr>
        <p:spPr>
          <a:xfrm>
            <a:off x="9774441" y="1243592"/>
            <a:ext cx="563663"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F</a:t>
            </a:r>
            <a:r>
              <a:rPr lang="en-US" baseline="-25000" dirty="0">
                <a:latin typeface="Arial" panose="020B0604020202020204" pitchFamily="34" charset="0"/>
                <a:cs typeface="Arial" panose="020B0604020202020204" pitchFamily="34" charset="0"/>
              </a:rPr>
              <a:t>C</a:t>
            </a:r>
          </a:p>
        </p:txBody>
      </p:sp>
      <p:cxnSp>
        <p:nvCxnSpPr>
          <p:cNvPr id="87" name="Straight Connector 86">
            <a:extLst>
              <a:ext uri="{FF2B5EF4-FFF2-40B4-BE49-F238E27FC236}">
                <a16:creationId xmlns:a16="http://schemas.microsoft.com/office/drawing/2014/main" id="{0845062A-23A0-6643-8848-7E568666512E}"/>
              </a:ext>
            </a:extLst>
          </p:cNvPr>
          <p:cNvCxnSpPr/>
          <p:nvPr/>
        </p:nvCxnSpPr>
        <p:spPr>
          <a:xfrm>
            <a:off x="8428709" y="818099"/>
            <a:ext cx="0" cy="20571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9" name="Freeform 88">
            <a:extLst>
              <a:ext uri="{FF2B5EF4-FFF2-40B4-BE49-F238E27FC236}">
                <a16:creationId xmlns:a16="http://schemas.microsoft.com/office/drawing/2014/main" id="{ACDA9AD3-DC32-F74D-9E41-D7F3B608761E}"/>
              </a:ext>
            </a:extLst>
          </p:cNvPr>
          <p:cNvSpPr/>
          <p:nvPr/>
        </p:nvSpPr>
        <p:spPr>
          <a:xfrm>
            <a:off x="8527563" y="831274"/>
            <a:ext cx="543698" cy="1902941"/>
          </a:xfrm>
          <a:custGeom>
            <a:avLst/>
            <a:gdLst>
              <a:gd name="connsiteX0" fmla="*/ 0 w 543698"/>
              <a:gd name="connsiteY0" fmla="*/ 1902941 h 1902941"/>
              <a:gd name="connsiteX1" fmla="*/ 148281 w 543698"/>
              <a:gd name="connsiteY1" fmla="*/ 1729946 h 1902941"/>
              <a:gd name="connsiteX2" fmla="*/ 321276 w 543698"/>
              <a:gd name="connsiteY2" fmla="*/ 1458097 h 1902941"/>
              <a:gd name="connsiteX3" fmla="*/ 444844 w 543698"/>
              <a:gd name="connsiteY3" fmla="*/ 1075038 h 1902941"/>
              <a:gd name="connsiteX4" fmla="*/ 506627 w 543698"/>
              <a:gd name="connsiteY4" fmla="*/ 580768 h 1902941"/>
              <a:gd name="connsiteX5" fmla="*/ 543698 w 543698"/>
              <a:gd name="connsiteY5" fmla="*/ 0 h 1902941"/>
              <a:gd name="connsiteX6" fmla="*/ 543698 w 543698"/>
              <a:gd name="connsiteY6" fmla="*/ 0 h 190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3698" h="1902941">
                <a:moveTo>
                  <a:pt x="0" y="1902941"/>
                </a:moveTo>
                <a:cubicBezTo>
                  <a:pt x="47367" y="1853514"/>
                  <a:pt x="94735" y="1804087"/>
                  <a:pt x="148281" y="1729946"/>
                </a:cubicBezTo>
                <a:cubicBezTo>
                  <a:pt x="201827" y="1655805"/>
                  <a:pt x="271849" y="1567248"/>
                  <a:pt x="321276" y="1458097"/>
                </a:cubicBezTo>
                <a:cubicBezTo>
                  <a:pt x="370703" y="1348946"/>
                  <a:pt x="413952" y="1221259"/>
                  <a:pt x="444844" y="1075038"/>
                </a:cubicBezTo>
                <a:cubicBezTo>
                  <a:pt x="475736" y="928817"/>
                  <a:pt x="490151" y="759941"/>
                  <a:pt x="506627" y="580768"/>
                </a:cubicBezTo>
                <a:cubicBezTo>
                  <a:pt x="523103" y="401595"/>
                  <a:pt x="543698" y="0"/>
                  <a:pt x="543698" y="0"/>
                </a:cubicBezTo>
                <a:lnTo>
                  <a:pt x="543698" y="0"/>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1" name="Straight Arrow Connector 90">
            <a:extLst>
              <a:ext uri="{FF2B5EF4-FFF2-40B4-BE49-F238E27FC236}">
                <a16:creationId xmlns:a16="http://schemas.microsoft.com/office/drawing/2014/main" id="{01CAB0C8-518E-D94E-94EB-A774E7F482A8}"/>
              </a:ext>
            </a:extLst>
          </p:cNvPr>
          <p:cNvCxnSpPr>
            <a:cxnSpLocks/>
          </p:cNvCxnSpPr>
          <p:nvPr/>
        </p:nvCxnSpPr>
        <p:spPr>
          <a:xfrm flipV="1">
            <a:off x="8428709" y="1683041"/>
            <a:ext cx="597584" cy="1"/>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4" name="Rectangle 93">
                <a:extLst>
                  <a:ext uri="{FF2B5EF4-FFF2-40B4-BE49-F238E27FC236}">
                    <a16:creationId xmlns:a16="http://schemas.microsoft.com/office/drawing/2014/main" id="{0696F1E4-0498-F642-9C7D-C1AD690A6F92}"/>
                  </a:ext>
                </a:extLst>
              </p:cNvPr>
              <p:cNvSpPr/>
              <p:nvPr/>
            </p:nvSpPr>
            <p:spPr>
              <a:xfrm>
                <a:off x="8396512" y="1337051"/>
                <a:ext cx="68422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d>
                        <m:dPr>
                          <m:ctrlPr>
                            <a:rPr lang="en-US"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𝑧</m:t>
                          </m:r>
                        </m:e>
                      </m:d>
                    </m:oMath>
                  </m:oMathPara>
                </a14:m>
                <a:endParaRPr lang="en-US" dirty="0"/>
              </a:p>
            </p:txBody>
          </p:sp>
        </mc:Choice>
        <mc:Fallback xmlns="">
          <p:sp>
            <p:nvSpPr>
              <p:cNvPr id="94" name="Rectangle 93">
                <a:extLst>
                  <a:ext uri="{FF2B5EF4-FFF2-40B4-BE49-F238E27FC236}">
                    <a16:creationId xmlns:a16="http://schemas.microsoft.com/office/drawing/2014/main" id="{0696F1E4-0498-F642-9C7D-C1AD690A6F92}"/>
                  </a:ext>
                </a:extLst>
              </p:cNvPr>
              <p:cNvSpPr>
                <a:spLocks noRot="1" noChangeAspect="1" noMove="1" noResize="1" noEditPoints="1" noAdjustHandles="1" noChangeArrowheads="1" noChangeShapeType="1" noTextEdit="1"/>
              </p:cNvSpPr>
              <p:nvPr/>
            </p:nvSpPr>
            <p:spPr>
              <a:xfrm>
                <a:off x="8396512" y="1337051"/>
                <a:ext cx="684226" cy="369332"/>
              </a:xfrm>
              <a:prstGeom prst="rect">
                <a:avLst/>
              </a:prstGeom>
              <a:blipFill>
                <a:blip r:embed="rId3"/>
                <a:stretch>
                  <a:fillRect/>
                </a:stretch>
              </a:blipFill>
            </p:spPr>
            <p:txBody>
              <a:bodyPr/>
              <a:lstStyle/>
              <a:p>
                <a:r>
                  <a:rPr lang="en-US">
                    <a:noFill/>
                  </a:rPr>
                  <a:t> </a:t>
                </a:r>
              </a:p>
            </p:txBody>
          </p:sp>
        </mc:Fallback>
      </mc:AlternateContent>
      <p:cxnSp>
        <p:nvCxnSpPr>
          <p:cNvPr id="98" name="Straight Arrow Connector 97">
            <a:extLst>
              <a:ext uri="{FF2B5EF4-FFF2-40B4-BE49-F238E27FC236}">
                <a16:creationId xmlns:a16="http://schemas.microsoft.com/office/drawing/2014/main" id="{ABE8FB50-C61B-B54C-8210-ACA3EB998C43}"/>
              </a:ext>
            </a:extLst>
          </p:cNvPr>
          <p:cNvCxnSpPr/>
          <p:nvPr/>
        </p:nvCxnSpPr>
        <p:spPr>
          <a:xfrm flipV="1">
            <a:off x="8058003" y="2375869"/>
            <a:ext cx="0" cy="499384"/>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9" name="TextBox 98">
            <a:extLst>
              <a:ext uri="{FF2B5EF4-FFF2-40B4-BE49-F238E27FC236}">
                <a16:creationId xmlns:a16="http://schemas.microsoft.com/office/drawing/2014/main" id="{DE684B16-96A2-7844-83A8-48B1BA54B468}"/>
              </a:ext>
            </a:extLst>
          </p:cNvPr>
          <p:cNvSpPr txBox="1"/>
          <p:nvPr/>
        </p:nvSpPr>
        <p:spPr>
          <a:xfrm>
            <a:off x="7774950" y="2275621"/>
            <a:ext cx="334786"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z</a:t>
            </a: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F0BC102D-0C89-2441-B5B4-C6ECB22A49A0}"/>
                  </a:ext>
                </a:extLst>
              </p:cNvPr>
              <p:cNvSpPr txBox="1"/>
              <p:nvPr/>
            </p:nvSpPr>
            <p:spPr>
              <a:xfrm>
                <a:off x="4694280" y="699984"/>
                <a:ext cx="1258613" cy="717569"/>
              </a:xfrm>
              <a:prstGeom prst="rect">
                <a:avLst/>
              </a:prstGeom>
              <a:solidFill>
                <a:schemeClr val="accent1">
                  <a:lumMod val="20000"/>
                  <a:lumOff val="80000"/>
                </a:schemeClr>
              </a:solid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sSubSup>
                            <m:sSubSupPr>
                              <m:ctrlPr>
                                <a:rPr lang="en-US"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𝑓</m:t>
                              </m:r>
                            </m:sub>
                            <m:sup>
                              <m:r>
                                <a:rPr lang="en-US" b="0" i="1" smtClean="0">
                                  <a:latin typeface="Cambria Math" panose="02040503050406030204" pitchFamily="18" charset="0"/>
                                  <a:cs typeface="Arial" panose="020B0604020202020204" pitchFamily="34" charset="0"/>
                                </a:rPr>
                                <m:t>2</m:t>
                              </m:r>
                            </m:sup>
                          </m:sSubSup>
                        </m:num>
                        <m:den>
                          <m:r>
                            <a:rPr lang="en-US" b="0" i="1" smtClean="0">
                              <a:latin typeface="Cambria Math" panose="02040503050406030204" pitchFamily="18" charset="0"/>
                              <a:cs typeface="Arial" panose="020B0604020202020204" pitchFamily="34" charset="0"/>
                            </a:rPr>
                            <m:t>𝑅𝑔𝐷</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4</m:t>
                          </m:r>
                        </m:num>
                        <m:den>
                          <m:r>
                            <a:rPr lang="en-US" b="0" i="1" smtClean="0">
                              <a:latin typeface="Cambria Math" panose="02040503050406030204" pitchFamily="18" charset="0"/>
                              <a:cs typeface="Arial" panose="020B0604020202020204" pitchFamily="34" charset="0"/>
                            </a:rPr>
                            <m:t>3</m:t>
                          </m:r>
                        </m:den>
                      </m:f>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𝜇</m:t>
                              </m:r>
                            </m:e>
                            <m:sub>
                              <m:r>
                                <a:rPr lang="en-US" b="0" i="1" smtClean="0">
                                  <a:latin typeface="Cambria Math" panose="02040503050406030204" pitchFamily="18" charset="0"/>
                                  <a:cs typeface="Arial" panose="020B0604020202020204" pitchFamily="34" charset="0"/>
                                </a:rPr>
                                <m:t>𝐶</m:t>
                              </m:r>
                            </m:sub>
                          </m:sSub>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𝐷</m:t>
                              </m:r>
                            </m:sub>
                          </m:sSub>
                        </m:den>
                      </m:f>
                    </m:oMath>
                  </m:oMathPara>
                </a14:m>
                <a:endParaRPr lang="en-US" dirty="0">
                  <a:latin typeface="Arial" panose="020B0604020202020204" pitchFamily="34" charset="0"/>
                  <a:cs typeface="Arial" panose="020B0604020202020204" pitchFamily="34" charset="0"/>
                </a:endParaRPr>
              </a:p>
            </p:txBody>
          </p:sp>
        </mc:Choice>
        <mc:Fallback xmlns="">
          <p:sp>
            <p:nvSpPr>
              <p:cNvPr id="43" name="TextBox 42">
                <a:extLst>
                  <a:ext uri="{FF2B5EF4-FFF2-40B4-BE49-F238E27FC236}">
                    <a16:creationId xmlns:a16="http://schemas.microsoft.com/office/drawing/2014/main" id="{F0BC102D-0C89-2441-B5B4-C6ECB22A49A0}"/>
                  </a:ext>
                </a:extLst>
              </p:cNvPr>
              <p:cNvSpPr txBox="1">
                <a:spLocks noRot="1" noChangeAspect="1" noMove="1" noResize="1" noEditPoints="1" noAdjustHandles="1" noChangeArrowheads="1" noChangeShapeType="1" noTextEdit="1"/>
              </p:cNvSpPr>
              <p:nvPr/>
            </p:nvSpPr>
            <p:spPr>
              <a:xfrm>
                <a:off x="4694280" y="699984"/>
                <a:ext cx="1258613" cy="717569"/>
              </a:xfrm>
              <a:prstGeom prst="rect">
                <a:avLst/>
              </a:prstGeom>
              <a:blipFill>
                <a:blip r:embed="rId4"/>
                <a:stretch>
                  <a:fillRect l="-4000" b="-14035"/>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3AA23DDB-004E-5B40-B861-CEDB9C4E22B0}"/>
              </a:ext>
            </a:extLst>
          </p:cNvPr>
          <p:cNvSpPr txBox="1"/>
          <p:nvPr/>
        </p:nvSpPr>
        <p:spPr>
          <a:xfrm>
            <a:off x="506139" y="1521594"/>
            <a:ext cx="7016067" cy="1013354"/>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As the roughness height and the elevation of the particle centroid are equal to the grain diameter times an order 1 number, the law of the wall is used to compute flow velocity acting on the particle </a:t>
            </a:r>
            <a:r>
              <a:rPr lang="en-US" dirty="0" err="1">
                <a:latin typeface="Arial" panose="020B0604020202020204" pitchFamily="34" charset="0"/>
                <a:cs typeface="Arial" panose="020B0604020202020204" pitchFamily="34" charset="0"/>
              </a:rPr>
              <a:t>u</a:t>
            </a:r>
            <a:r>
              <a:rPr lang="en-US" baseline="-25000" dirty="0" err="1">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a:t>
            </a: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29F3AF0-2136-4849-B86F-3C3210D5AD38}"/>
                  </a:ext>
                </a:extLst>
              </p:cNvPr>
              <p:cNvSpPr txBox="1"/>
              <p:nvPr/>
            </p:nvSpPr>
            <p:spPr>
              <a:xfrm>
                <a:off x="580767" y="3026489"/>
                <a:ext cx="3301225" cy="676147"/>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𝑓</m:t>
                              </m:r>
                            </m:sub>
                          </m:sSub>
                        </m:num>
                        <m:den>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sub>
                          </m:sSub>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sSub>
                            <m:sSubPr>
                              <m:ctrlPr>
                                <a:rPr lang="en-US" i="1" smtClean="0">
                                  <a:latin typeface="Cambria Math" panose="02040503050406030204" pitchFamily="18" charset="0"/>
                                  <a:cs typeface="Arial" panose="020B0604020202020204" pitchFamily="34" charset="0"/>
                                </a:rPr>
                              </m:ctrlPr>
                            </m:sSubPr>
                            <m:e>
                              <m:d>
                                <m:dPr>
                                  <m:begChr m:val=""/>
                                  <m:endChr m:val="|"/>
                                  <m:ctrlPr>
                                    <a:rPr lang="en-US" i="1" smtClean="0">
                                      <a:latin typeface="Cambria Math" panose="02040503050406030204" pitchFamily="18" charset="0"/>
                                      <a:cs typeface="Arial" panose="020B0604020202020204" pitchFamily="34" charset="0"/>
                                    </a:rPr>
                                  </m:ctrlPr>
                                </m:dPr>
                                <m:e>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e>
                              </m:d>
                            </m:e>
                            <m:sub>
                              <m:r>
                                <a:rPr lang="en-US" b="0" i="1" smtClean="0">
                                  <a:latin typeface="Cambria Math" panose="02040503050406030204" pitchFamily="18" charset="0"/>
                                  <a:cs typeface="Arial" panose="020B0604020202020204" pitchFamily="34" charset="0"/>
                                </a:rPr>
                                <m:t>𝑧</m:t>
                              </m:r>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𝑛</m:t>
                                  </m:r>
                                </m:e>
                                <m:sub>
                                  <m:r>
                                    <a:rPr lang="en-US" b="0" i="1" smtClean="0">
                                      <a:latin typeface="Cambria Math" panose="02040503050406030204" pitchFamily="18" charset="0"/>
                                      <a:cs typeface="Arial" panose="020B0604020202020204" pitchFamily="34" charset="0"/>
                                    </a:rPr>
                                    <m:t>𝑒</m:t>
                                  </m:r>
                                </m:sub>
                              </m:sSub>
                              <m:r>
                                <a:rPr lang="en-US" b="0" i="1" smtClean="0">
                                  <a:latin typeface="Cambria Math" panose="02040503050406030204" pitchFamily="18" charset="0"/>
                                  <a:cs typeface="Arial" panose="020B0604020202020204" pitchFamily="34" charset="0"/>
                                </a:rPr>
                                <m:t>𝐷</m:t>
                              </m:r>
                            </m:sub>
                          </m:sSub>
                        </m:num>
                        <m:den>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𝑢</m:t>
                              </m:r>
                            </m:e>
                            <m:sub>
                              <m:r>
                                <a:rPr lang="en-US" i="1">
                                  <a:latin typeface="Cambria Math" panose="02040503050406030204" pitchFamily="18" charset="0"/>
                                  <a:cs typeface="Arial" panose="020B0604020202020204" pitchFamily="34" charset="0"/>
                                </a:rPr>
                                <m:t>∗</m:t>
                              </m:r>
                            </m:sub>
                          </m:sSub>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
                            <a:rPr lang="en-US" b="0" i="1" smtClean="0">
                              <a:latin typeface="Cambria Math" panose="02040503050406030204" pitchFamily="18" charset="0"/>
                              <a:ea typeface="Cambria Math" panose="02040503050406030204" pitchFamily="18" charset="0"/>
                              <a:cs typeface="Arial" panose="020B0604020202020204" pitchFamily="34" charset="0"/>
                            </a:rPr>
                            <m:t>𝜅</m:t>
                          </m:r>
                        </m:den>
                      </m:f>
                      <m:r>
                        <a:rPr lang="en-US" b="0" i="1" smtClean="0">
                          <a:latin typeface="Cambria Math" panose="02040503050406030204" pitchFamily="18" charset="0"/>
                          <a:cs typeface="Arial" panose="020B0604020202020204" pitchFamily="34" charset="0"/>
                        </a:rPr>
                        <m:t>𝑙𝑛</m:t>
                      </m:r>
                      <m:d>
                        <m:dPr>
                          <m:ctrlPr>
                            <a:rPr lang="en-US" b="0" i="1" smtClean="0">
                              <a:latin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cs typeface="Arial" panose="020B0604020202020204" pitchFamily="34" charset="0"/>
                                </a:rPr>
                              </m:ctrlPr>
                            </m:fPr>
                            <m:num>
                              <m:sSub>
                                <m:sSubPr>
                                  <m:ctrlPr>
                                    <a:rPr lang="en-US" i="1" smtClean="0">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𝑛</m:t>
                                  </m:r>
                                </m:e>
                                <m:sub>
                                  <m:r>
                                    <a:rPr lang="en-US" i="1">
                                      <a:latin typeface="Cambria Math" panose="02040503050406030204" pitchFamily="18" charset="0"/>
                                      <a:cs typeface="Arial" panose="020B0604020202020204" pitchFamily="34" charset="0"/>
                                    </a:rPr>
                                    <m:t>𝑒</m:t>
                                  </m:r>
                                </m:sub>
                              </m:sSub>
                              <m:r>
                                <a:rPr lang="en-US" i="1">
                                  <a:latin typeface="Cambria Math" panose="02040503050406030204" pitchFamily="18" charset="0"/>
                                  <a:cs typeface="Arial" panose="020B0604020202020204" pitchFamily="34" charset="0"/>
                                </a:rPr>
                                <m:t>𝐷</m:t>
                              </m:r>
                            </m:num>
                            <m:den>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𝑛</m:t>
                                  </m:r>
                                </m:e>
                                <m:sub>
                                  <m:r>
                                    <a:rPr lang="en-US" b="0" i="1" smtClean="0">
                                      <a:latin typeface="Cambria Math" panose="02040503050406030204" pitchFamily="18" charset="0"/>
                                      <a:cs typeface="Arial" panose="020B0604020202020204" pitchFamily="34" charset="0"/>
                                    </a:rPr>
                                    <m:t>𝑘</m:t>
                                  </m:r>
                                </m:sub>
                              </m:sSub>
                              <m:r>
                                <a:rPr lang="en-US" i="1">
                                  <a:latin typeface="Cambria Math" panose="02040503050406030204" pitchFamily="18" charset="0"/>
                                  <a:cs typeface="Arial" panose="020B0604020202020204" pitchFamily="34" charset="0"/>
                                </a:rPr>
                                <m:t>𝐷</m:t>
                              </m:r>
                            </m:den>
                          </m:f>
                        </m:e>
                      </m:d>
                      <m:r>
                        <a:rPr lang="en-US" b="0" i="1" smtClean="0">
                          <a:latin typeface="Cambria Math" panose="02040503050406030204" pitchFamily="18" charset="0"/>
                          <a:cs typeface="Arial" panose="020B0604020202020204" pitchFamily="34" charset="0"/>
                        </a:rPr>
                        <m:t>+8.5</m:t>
                      </m:r>
                    </m:oMath>
                  </m:oMathPara>
                </a14:m>
                <a:endParaRPr lang="en-US" dirty="0">
                  <a:latin typeface="Arial" panose="020B0604020202020204" pitchFamily="34" charset="0"/>
                  <a:cs typeface="Arial" panose="020B0604020202020204" pitchFamily="34" charset="0"/>
                </a:endParaRPr>
              </a:p>
            </p:txBody>
          </p:sp>
        </mc:Choice>
        <mc:Fallback xmlns="">
          <p:sp>
            <p:nvSpPr>
              <p:cNvPr id="10" name="TextBox 9">
                <a:extLst>
                  <a:ext uri="{FF2B5EF4-FFF2-40B4-BE49-F238E27FC236}">
                    <a16:creationId xmlns:a16="http://schemas.microsoft.com/office/drawing/2014/main" id="{B29F3AF0-2136-4849-B86F-3C3210D5AD38}"/>
                  </a:ext>
                </a:extLst>
              </p:cNvPr>
              <p:cNvSpPr txBox="1">
                <a:spLocks noRot="1" noChangeAspect="1" noMove="1" noResize="1" noEditPoints="1" noAdjustHandles="1" noChangeArrowheads="1" noChangeShapeType="1" noTextEdit="1"/>
              </p:cNvSpPr>
              <p:nvPr/>
            </p:nvSpPr>
            <p:spPr>
              <a:xfrm>
                <a:off x="580767" y="3026489"/>
                <a:ext cx="3301225" cy="676147"/>
              </a:xfrm>
              <a:prstGeom prst="rect">
                <a:avLst/>
              </a:prstGeom>
              <a:blipFill>
                <a:blip r:embed="rId5"/>
                <a:stretch>
                  <a:fillRect t="-59259" r="-1149" b="-51852"/>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05F2B5FD-463A-AD43-8BDC-176A44F510BE}"/>
              </a:ext>
            </a:extLst>
          </p:cNvPr>
          <p:cNvSpPr txBox="1"/>
          <p:nvPr/>
        </p:nvSpPr>
        <p:spPr>
          <a:xfrm>
            <a:off x="4611242" y="3087010"/>
            <a:ext cx="6189044" cy="696986"/>
          </a:xfrm>
          <a:prstGeom prst="rect">
            <a:avLst/>
          </a:prstGeom>
          <a:solidFill>
            <a:srgbClr val="FFFF00"/>
          </a:solidFill>
          <a:ln w="38100">
            <a:solidFill>
              <a:srgbClr val="C00000"/>
            </a:solidFill>
          </a:ln>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NOTE we are assuming that the roughness Reynolds number u</a:t>
            </a:r>
            <a:r>
              <a:rPr lang="en-US" baseline="-25000" dirty="0">
                <a:latin typeface="Arial" panose="020B0604020202020204" pitchFamily="34" charset="0"/>
                <a:cs typeface="Arial" panose="020B0604020202020204" pitchFamily="34" charset="0"/>
              </a:rPr>
              <a:t>*</a:t>
            </a:r>
            <a:r>
              <a:rPr lang="en-US" dirty="0" err="1">
                <a:latin typeface="Arial" panose="020B0604020202020204" pitchFamily="34" charset="0"/>
                <a:cs typeface="Arial" panose="020B0604020202020204" pitchFamily="34" charset="0"/>
              </a:rPr>
              <a:t>k</a:t>
            </a:r>
            <a:r>
              <a:rPr lang="en-US" baseline="-25000" dirty="0" err="1">
                <a:latin typeface="Arial" panose="020B0604020202020204" pitchFamily="34" charset="0"/>
                <a:cs typeface="Arial" panose="020B0604020202020204" pitchFamily="34" charset="0"/>
              </a:rPr>
              <a:t>s</a:t>
            </a:r>
            <a:r>
              <a:rPr lang="en-US" dirty="0">
                <a:latin typeface="Arial" panose="020B0604020202020204" pitchFamily="34" charset="0"/>
                <a:cs typeface="Arial" panose="020B0604020202020204" pitchFamily="34" charset="0"/>
              </a:rPr>
              <a:t>/</a:t>
            </a:r>
            <a:r>
              <a:rPr lang="en-US" dirty="0">
                <a:latin typeface="Symbol" pitchFamily="2" charset="2"/>
                <a:cs typeface="Arial" panose="020B0604020202020204" pitchFamily="34" charset="0"/>
              </a:rPr>
              <a:t>n</a:t>
            </a:r>
            <a:r>
              <a:rPr lang="en-US" dirty="0">
                <a:latin typeface="Arial" panose="020B0604020202020204" pitchFamily="34" charset="0"/>
                <a:cs typeface="Arial" panose="020B0604020202020204" pitchFamily="34" charset="0"/>
              </a:rPr>
              <a:t> &gt; 100 (i.e. hydraulically rough flow)</a:t>
            </a:r>
          </a:p>
        </p:txBody>
      </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DD28C38E-DBEC-1C45-901A-C4DFDBEC2D78}"/>
                  </a:ext>
                </a:extLst>
              </p:cNvPr>
              <p:cNvSpPr txBox="1"/>
              <p:nvPr/>
            </p:nvSpPr>
            <p:spPr>
              <a:xfrm>
                <a:off x="580767" y="4298578"/>
                <a:ext cx="2594364" cy="646587"/>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𝑓</m:t>
                              </m:r>
                            </m:sub>
                          </m:sSub>
                        </m:num>
                        <m:den>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sub>
                          </m:sSub>
                        </m:den>
                      </m:f>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𝐹</m:t>
                          </m:r>
                        </m:e>
                        <m:sub>
                          <m:r>
                            <a:rPr lang="en-US" b="0" i="1" smtClean="0">
                              <a:latin typeface="Cambria Math" panose="02040503050406030204" pitchFamily="18" charset="0"/>
                              <a:cs typeface="Arial" panose="020B0604020202020204" pitchFamily="34" charset="0"/>
                            </a:rPr>
                            <m:t>𝑢</m:t>
                          </m:r>
                        </m:sub>
                      </m:sSub>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
                            <a:rPr lang="en-US" b="0" i="1" smtClean="0">
                              <a:latin typeface="Cambria Math" panose="02040503050406030204" pitchFamily="18" charset="0"/>
                              <a:ea typeface="Cambria Math" panose="02040503050406030204" pitchFamily="18" charset="0"/>
                              <a:cs typeface="Arial" panose="020B0604020202020204" pitchFamily="34" charset="0"/>
                            </a:rPr>
                            <m:t>𝜅</m:t>
                          </m:r>
                        </m:den>
                      </m:f>
                      <m:r>
                        <a:rPr lang="en-US" b="0" i="1" smtClean="0">
                          <a:latin typeface="Cambria Math" panose="02040503050406030204" pitchFamily="18" charset="0"/>
                          <a:cs typeface="Arial" panose="020B0604020202020204" pitchFamily="34" charset="0"/>
                        </a:rPr>
                        <m:t>𝑙𝑛</m:t>
                      </m:r>
                      <m:d>
                        <m:dPr>
                          <m:ctrlPr>
                            <a:rPr lang="en-US" b="0" i="1" smtClean="0">
                              <a:latin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𝑛</m:t>
                                  </m:r>
                                </m:e>
                                <m:sub>
                                  <m:r>
                                    <a:rPr lang="en-US" i="1">
                                      <a:latin typeface="Cambria Math" panose="02040503050406030204" pitchFamily="18" charset="0"/>
                                      <a:cs typeface="Arial" panose="020B0604020202020204" pitchFamily="34" charset="0"/>
                                    </a:rPr>
                                    <m:t>𝑒</m:t>
                                  </m:r>
                                </m:sub>
                              </m:sSub>
                            </m:num>
                            <m:den>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cs typeface="Arial" panose="020B0604020202020204" pitchFamily="34" charset="0"/>
                                    </a:rPr>
                                    <m:t>𝑛</m:t>
                                  </m:r>
                                </m:e>
                                <m:sub>
                                  <m:r>
                                    <a:rPr lang="en-US" b="0" i="1" smtClean="0">
                                      <a:latin typeface="Cambria Math" panose="02040503050406030204" pitchFamily="18" charset="0"/>
                                      <a:cs typeface="Arial" panose="020B0604020202020204" pitchFamily="34" charset="0"/>
                                    </a:rPr>
                                    <m:t>𝑘</m:t>
                                  </m:r>
                                </m:sub>
                              </m:sSub>
                            </m:den>
                          </m:f>
                        </m:e>
                      </m:d>
                      <m:r>
                        <a:rPr lang="en-US" b="0" i="1" smtClean="0">
                          <a:latin typeface="Cambria Math" panose="02040503050406030204" pitchFamily="18" charset="0"/>
                          <a:cs typeface="Arial" panose="020B0604020202020204" pitchFamily="34" charset="0"/>
                        </a:rPr>
                        <m:t>+8.5</m:t>
                      </m:r>
                    </m:oMath>
                  </m:oMathPara>
                </a14:m>
                <a:endParaRPr lang="en-US" dirty="0">
                  <a:latin typeface="Arial" panose="020B0604020202020204" pitchFamily="34" charset="0"/>
                  <a:cs typeface="Arial" panose="020B0604020202020204" pitchFamily="34" charset="0"/>
                </a:endParaRPr>
              </a:p>
            </p:txBody>
          </p:sp>
        </mc:Choice>
        <mc:Fallback xmlns="">
          <p:sp>
            <p:nvSpPr>
              <p:cNvPr id="68" name="TextBox 67">
                <a:extLst>
                  <a:ext uri="{FF2B5EF4-FFF2-40B4-BE49-F238E27FC236}">
                    <a16:creationId xmlns:a16="http://schemas.microsoft.com/office/drawing/2014/main" id="{DD28C38E-DBEC-1C45-901A-C4DFDBEC2D78}"/>
                  </a:ext>
                </a:extLst>
              </p:cNvPr>
              <p:cNvSpPr txBox="1">
                <a:spLocks noRot="1" noChangeAspect="1" noMove="1" noResize="1" noEditPoints="1" noAdjustHandles="1" noChangeArrowheads="1" noChangeShapeType="1" noTextEdit="1"/>
              </p:cNvSpPr>
              <p:nvPr/>
            </p:nvSpPr>
            <p:spPr>
              <a:xfrm>
                <a:off x="580767" y="4298578"/>
                <a:ext cx="2594364" cy="646587"/>
              </a:xfrm>
              <a:prstGeom prst="rect">
                <a:avLst/>
              </a:prstGeom>
              <a:blipFill>
                <a:blip r:embed="rId6"/>
                <a:stretch>
                  <a:fillRect l="-485" r="-1456" b="-7692"/>
                </a:stretch>
              </a:blipFill>
            </p:spPr>
            <p:txBody>
              <a:bodyPr/>
              <a:lstStyle/>
              <a:p>
                <a:r>
                  <a:rPr lang="en-US">
                    <a:noFill/>
                  </a:rPr>
                  <a:t> </a:t>
                </a:r>
              </a:p>
            </p:txBody>
          </p:sp>
        </mc:Fallback>
      </mc:AlternateContent>
      <p:pic>
        <p:nvPicPr>
          <p:cNvPr id="53" name="Picture 8">
            <a:extLst>
              <a:ext uri="{FF2B5EF4-FFF2-40B4-BE49-F238E27FC236}">
                <a16:creationId xmlns:a16="http://schemas.microsoft.com/office/drawing/2014/main" id="{BDA32D65-ABAD-6741-8970-30CCD1C663C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15544" y="3718210"/>
            <a:ext cx="5059683" cy="3105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4" name="TextBox 53">
            <a:extLst>
              <a:ext uri="{FF2B5EF4-FFF2-40B4-BE49-F238E27FC236}">
                <a16:creationId xmlns:a16="http://schemas.microsoft.com/office/drawing/2014/main" id="{544B2E0A-5B7B-2042-96BC-C4D45B4FF612}"/>
              </a:ext>
            </a:extLst>
          </p:cNvPr>
          <p:cNvSpPr txBox="1"/>
          <p:nvPr/>
        </p:nvSpPr>
        <p:spPr>
          <a:xfrm>
            <a:off x="506140" y="3839268"/>
            <a:ext cx="5866674"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above equation is rewritten as</a:t>
            </a:r>
          </a:p>
        </p:txBody>
      </p:sp>
      <p:sp>
        <p:nvSpPr>
          <p:cNvPr id="55" name="TextBox 54">
            <a:extLst>
              <a:ext uri="{FF2B5EF4-FFF2-40B4-BE49-F238E27FC236}">
                <a16:creationId xmlns:a16="http://schemas.microsoft.com/office/drawing/2014/main" id="{0878C5ED-C81B-1A43-92B4-0B50CE5477AC}"/>
              </a:ext>
            </a:extLst>
          </p:cNvPr>
          <p:cNvSpPr txBox="1"/>
          <p:nvPr/>
        </p:nvSpPr>
        <p:spPr>
          <a:xfrm>
            <a:off x="506139" y="5058921"/>
            <a:ext cx="5866674"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We further assume that </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E0D428D-504A-EE4C-B59A-C16FB22DBFCE}"/>
                  </a:ext>
                </a:extLst>
              </p:cNvPr>
              <p:cNvSpPr txBox="1"/>
              <p:nvPr/>
            </p:nvSpPr>
            <p:spPr>
              <a:xfrm>
                <a:off x="3175131" y="4998026"/>
                <a:ext cx="3144900" cy="469359"/>
              </a:xfrm>
              <a:prstGeom prst="rect">
                <a:avLst/>
              </a:prstGeom>
              <a:noFill/>
            </p:spPr>
            <p:txBody>
              <a:bodyPr wrap="none" lIns="0" tIns="0" rIns="0" bIns="0" rtlCol="0">
                <a:spAutoFit/>
              </a:bodyPr>
              <a:lstStyle/>
              <a:p>
                <a:pPr algn="l">
                  <a:lnSpc>
                    <a:spcPct val="114000"/>
                  </a:lnSpc>
                </a:pPr>
                <a14:m>
                  <m:oMath xmlns:m="http://schemas.openxmlformats.org/officeDocument/2006/math">
                    <m:f>
                      <m:fPr>
                        <m:ctrlPr>
                          <a:rPr lang="en-US" i="1" smtClean="0">
                            <a:latin typeface="Cambria Math" panose="02040503050406030204" pitchFamily="18" charset="0"/>
                            <a:cs typeface="Arial" panose="020B0604020202020204" pitchFamily="34" charset="0"/>
                          </a:rPr>
                        </m:ctrlPr>
                      </m:fPr>
                      <m:num>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𝑓</m:t>
                            </m:r>
                          </m:sub>
                        </m:sSub>
                        <m:r>
                          <a:rPr lang="en-US" b="0" i="1" smtClean="0">
                            <a:latin typeface="Cambria Math" panose="02040503050406030204" pitchFamily="18" charset="0"/>
                            <a:cs typeface="Arial" panose="020B0604020202020204" pitchFamily="34" charset="0"/>
                          </a:rPr>
                          <m:t>𝐷</m:t>
                        </m:r>
                      </m:num>
                      <m:den>
                        <m:r>
                          <a:rPr lang="en-US" i="1" smtClean="0">
                            <a:latin typeface="Cambria Math" panose="02040503050406030204" pitchFamily="18" charset="0"/>
                            <a:ea typeface="Cambria Math" panose="02040503050406030204" pitchFamily="18" charset="0"/>
                            <a:cs typeface="Arial" panose="020B0604020202020204" pitchFamily="34" charset="0"/>
                          </a:rPr>
                          <m:t>𝜈</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𝐹</m:t>
                            </m:r>
                          </m:e>
                          <m:sub>
                            <m:r>
                              <a:rPr lang="en-US" b="0" i="1" smtClean="0">
                                <a:latin typeface="Cambria Math" panose="02040503050406030204" pitchFamily="18" charset="0"/>
                                <a:cs typeface="Arial" panose="020B0604020202020204" pitchFamily="34" charset="0"/>
                              </a:rPr>
                              <m:t>𝑢</m:t>
                            </m:r>
                          </m:sub>
                        </m:sSub>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sub>
                        </m:sSub>
                        <m:r>
                          <a:rPr lang="en-US" b="0" i="1" smtClean="0">
                            <a:latin typeface="Cambria Math" panose="02040503050406030204" pitchFamily="18" charset="0"/>
                            <a:cs typeface="Arial" panose="020B0604020202020204" pitchFamily="34" charset="0"/>
                          </a:rPr>
                          <m:t>𝐷</m:t>
                        </m:r>
                      </m:num>
                      <m:den>
                        <m:r>
                          <a:rPr lang="en-US" b="0" i="1" smtClean="0">
                            <a:latin typeface="Cambria Math" panose="02040503050406030204" pitchFamily="18" charset="0"/>
                            <a:ea typeface="Cambria Math" panose="02040503050406030204" pitchFamily="18" charset="0"/>
                            <a:cs typeface="Arial" panose="020B0604020202020204" pitchFamily="34" charset="0"/>
                          </a:rPr>
                          <m:t>𝜈</m:t>
                        </m:r>
                      </m:den>
                    </m:f>
                    <m:r>
                      <a:rPr lang="en-US" b="0" i="1" smtClean="0">
                        <a:latin typeface="Cambria Math" panose="02040503050406030204" pitchFamily="18" charset="0"/>
                        <a:cs typeface="Arial" panose="020B0604020202020204" pitchFamily="34" charset="0"/>
                      </a:rPr>
                      <m:t>=1,000−100,000</m:t>
                    </m:r>
                  </m:oMath>
                </a14:m>
                <a:r>
                  <a:rPr lang="en-US" dirty="0">
                    <a:latin typeface="Arial" panose="020B0604020202020204" pitchFamily="34" charset="0"/>
                    <a:cs typeface="Arial" panose="020B0604020202020204" pitchFamily="34" charset="0"/>
                  </a:rPr>
                  <a:t> </a:t>
                </a:r>
              </a:p>
            </p:txBody>
          </p:sp>
        </mc:Choice>
        <mc:Fallback xmlns="">
          <p:sp>
            <p:nvSpPr>
              <p:cNvPr id="2" name="TextBox 1">
                <a:extLst>
                  <a:ext uri="{FF2B5EF4-FFF2-40B4-BE49-F238E27FC236}">
                    <a16:creationId xmlns:a16="http://schemas.microsoft.com/office/drawing/2014/main" id="{3E0D428D-504A-EE4C-B59A-C16FB22DBFCE}"/>
                  </a:ext>
                </a:extLst>
              </p:cNvPr>
              <p:cNvSpPr txBox="1">
                <a:spLocks noRot="1" noChangeAspect="1" noMove="1" noResize="1" noEditPoints="1" noAdjustHandles="1" noChangeArrowheads="1" noChangeShapeType="1" noTextEdit="1"/>
              </p:cNvSpPr>
              <p:nvPr/>
            </p:nvSpPr>
            <p:spPr>
              <a:xfrm>
                <a:off x="3175131" y="4998026"/>
                <a:ext cx="3144900" cy="469359"/>
              </a:xfrm>
              <a:prstGeom prst="rect">
                <a:avLst/>
              </a:prstGeom>
              <a:blipFill>
                <a:blip r:embed="rId8"/>
                <a:stretch>
                  <a:fillRect l="-1613" b="-7895"/>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F10DEA4F-E1D6-FA44-8828-2D370CE4AF0E}"/>
              </a:ext>
            </a:extLst>
          </p:cNvPr>
          <p:cNvSpPr txBox="1"/>
          <p:nvPr/>
        </p:nvSpPr>
        <p:spPr>
          <a:xfrm>
            <a:off x="10084232" y="5389447"/>
            <a:ext cx="1192955" cy="381708"/>
          </a:xfrm>
          <a:prstGeom prst="rect">
            <a:avLst/>
          </a:prstGeom>
          <a:noFill/>
        </p:spPr>
        <p:txBody>
          <a:bodyPr wrap="none" rtlCol="0">
            <a:spAutoFit/>
          </a:bodyPr>
          <a:lstStyle/>
          <a:p>
            <a:pPr algn="l">
              <a:lnSpc>
                <a:spcPct val="114000"/>
              </a:lnSpc>
            </a:pPr>
            <a:r>
              <a:rPr lang="en-US" dirty="0" err="1">
                <a:latin typeface="Arial" panose="020B0604020202020204" pitchFamily="34" charset="0"/>
                <a:cs typeface="Arial" panose="020B0604020202020204" pitchFamily="34" charset="0"/>
              </a:rPr>
              <a:t>c</a:t>
            </a:r>
            <a:r>
              <a:rPr lang="en-US" baseline="-25000" dirty="0" err="1">
                <a:latin typeface="Arial" panose="020B0604020202020204" pitchFamily="34" charset="0"/>
                <a:cs typeface="Arial" panose="020B0604020202020204" pitchFamily="34" charset="0"/>
              </a:rPr>
              <a:t>D</a:t>
            </a:r>
            <a:r>
              <a:rPr lang="en-US" dirty="0">
                <a:latin typeface="Arial" panose="020B0604020202020204" pitchFamily="34" charset="0"/>
                <a:cs typeface="Arial" panose="020B0604020202020204" pitchFamily="34" charset="0"/>
              </a:rPr>
              <a:t> =~0.45</a:t>
            </a:r>
          </a:p>
        </p:txBody>
      </p:sp>
      <p:sp>
        <p:nvSpPr>
          <p:cNvPr id="8" name="Freeform 7">
            <a:extLst>
              <a:ext uri="{FF2B5EF4-FFF2-40B4-BE49-F238E27FC236}">
                <a16:creationId xmlns:a16="http://schemas.microsoft.com/office/drawing/2014/main" id="{3756F850-4DEF-4A46-928E-A60D8F46B6AE}"/>
              </a:ext>
            </a:extLst>
          </p:cNvPr>
          <p:cNvSpPr/>
          <p:nvPr/>
        </p:nvSpPr>
        <p:spPr>
          <a:xfrm>
            <a:off x="6320032" y="4595848"/>
            <a:ext cx="3787796" cy="804055"/>
          </a:xfrm>
          <a:custGeom>
            <a:avLst/>
            <a:gdLst>
              <a:gd name="connsiteX0" fmla="*/ 0 w 3669957"/>
              <a:gd name="connsiteY0" fmla="*/ 680487 h 804055"/>
              <a:gd name="connsiteX1" fmla="*/ 1680519 w 3669957"/>
              <a:gd name="connsiteY1" fmla="*/ 866 h 804055"/>
              <a:gd name="connsiteX2" fmla="*/ 3669957 w 3669957"/>
              <a:gd name="connsiteY2" fmla="*/ 804055 h 804055"/>
              <a:gd name="connsiteX3" fmla="*/ 3669957 w 3669957"/>
              <a:gd name="connsiteY3" fmla="*/ 804055 h 804055"/>
            </a:gdLst>
            <a:ahLst/>
            <a:cxnLst>
              <a:cxn ang="0">
                <a:pos x="connsiteX0" y="connsiteY0"/>
              </a:cxn>
              <a:cxn ang="0">
                <a:pos x="connsiteX1" y="connsiteY1"/>
              </a:cxn>
              <a:cxn ang="0">
                <a:pos x="connsiteX2" y="connsiteY2"/>
              </a:cxn>
              <a:cxn ang="0">
                <a:pos x="connsiteX3" y="connsiteY3"/>
              </a:cxn>
            </a:cxnLst>
            <a:rect l="l" t="t" r="r" b="b"/>
            <a:pathLst>
              <a:path w="3669957" h="804055">
                <a:moveTo>
                  <a:pt x="0" y="680487"/>
                </a:moveTo>
                <a:cubicBezTo>
                  <a:pt x="534430" y="330379"/>
                  <a:pt x="1068860" y="-19729"/>
                  <a:pt x="1680519" y="866"/>
                </a:cubicBezTo>
                <a:cubicBezTo>
                  <a:pt x="2292178" y="21461"/>
                  <a:pt x="3669957" y="804055"/>
                  <a:pt x="3669957" y="804055"/>
                </a:cubicBezTo>
                <a:lnTo>
                  <a:pt x="3669957" y="804055"/>
                </a:lnTo>
              </a:path>
            </a:pathLst>
          </a:custGeom>
          <a:noFill/>
          <a:ln w="28575">
            <a:solidFill>
              <a:schemeClr val="tx1"/>
            </a:solidFill>
            <a:headEnd type="none" w="med" len="med"/>
            <a:tailEnd type="arrow"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984AD366-8329-C94A-9E69-B504AD32D399}"/>
              </a:ext>
            </a:extLst>
          </p:cNvPr>
          <p:cNvSpPr txBox="1"/>
          <p:nvPr/>
        </p:nvSpPr>
        <p:spPr>
          <a:xfrm>
            <a:off x="580766" y="5449696"/>
            <a:ext cx="6941439"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If n</a:t>
            </a:r>
            <a:r>
              <a:rPr lang="en-US" baseline="-25000" dirty="0">
                <a:latin typeface="Arial" panose="020B0604020202020204" pitchFamily="34" charset="0"/>
                <a:cs typeface="Arial" panose="020B0604020202020204" pitchFamily="34" charset="0"/>
              </a:rPr>
              <a:t>e</a:t>
            </a:r>
            <a:r>
              <a:rPr lang="en-US" dirty="0">
                <a:latin typeface="Arial" panose="020B0604020202020204" pitchFamily="34" charset="0"/>
                <a:cs typeface="Arial" panose="020B0604020202020204" pitchFamily="34" charset="0"/>
              </a:rPr>
              <a:t> = </a:t>
            </a:r>
            <a:r>
              <a:rPr lang="en-US" dirty="0" err="1">
                <a:latin typeface="Arial" panose="020B0604020202020204" pitchFamily="34" charset="0"/>
                <a:cs typeface="Arial" panose="020B0604020202020204" pitchFamily="34" charset="0"/>
              </a:rPr>
              <a:t>n</a:t>
            </a:r>
            <a:r>
              <a:rPr lang="en-US" baseline="-25000" dirty="0" err="1">
                <a:latin typeface="Arial" panose="020B0604020202020204" pitchFamily="34" charset="0"/>
                <a:cs typeface="Arial" panose="020B0604020202020204" pitchFamily="34" charset="0"/>
              </a:rPr>
              <a:t>k</a:t>
            </a:r>
            <a:r>
              <a:rPr lang="en-US" dirty="0">
                <a:latin typeface="Arial" panose="020B0604020202020204" pitchFamily="34" charset="0"/>
                <a:cs typeface="Arial" panose="020B0604020202020204" pitchFamily="34" charset="0"/>
              </a:rPr>
              <a:t> , F</a:t>
            </a:r>
            <a:r>
              <a:rPr lang="en-US" baseline="-25000" dirty="0">
                <a:latin typeface="Arial" panose="020B0604020202020204" pitchFamily="34" charset="0"/>
                <a:cs typeface="Arial" panose="020B0604020202020204" pitchFamily="34" charset="0"/>
              </a:rPr>
              <a:t>u</a:t>
            </a:r>
            <a:r>
              <a:rPr lang="en-US" dirty="0">
                <a:latin typeface="Arial" panose="020B0604020202020204" pitchFamily="34" charset="0"/>
                <a:cs typeface="Arial" panose="020B0604020202020204" pitchFamily="34" charset="0"/>
              </a:rPr>
              <a:t> = 8.5 and </a:t>
            </a:r>
            <a:r>
              <a:rPr lang="en-US" dirty="0" err="1">
                <a:latin typeface="Symbol" pitchFamily="2" charset="2"/>
                <a:cs typeface="Arial" panose="020B0604020202020204" pitchFamily="34" charset="0"/>
              </a:rPr>
              <a:t>m</a:t>
            </a:r>
            <a:r>
              <a:rPr lang="en-US" baseline="-25000" dirty="0" err="1">
                <a:latin typeface="Arial" panose="020B0604020202020204" pitchFamily="34" charset="0"/>
                <a:cs typeface="Arial" panose="020B0604020202020204" pitchFamily="34" charset="0"/>
              </a:rPr>
              <a:t>C</a:t>
            </a:r>
            <a:r>
              <a:rPr lang="en-US" dirty="0">
                <a:latin typeface="Arial" panose="020B0604020202020204" pitchFamily="34" charset="0"/>
                <a:cs typeface="Arial" panose="020B0604020202020204" pitchFamily="34" charset="0"/>
              </a:rPr>
              <a:t> = 0.7 the condition for the threshold of motion becomes </a:t>
            </a:r>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B07E4ECB-CBC0-5347-AF2D-F8098C7B6AE6}"/>
                  </a:ext>
                </a:extLst>
              </p:cNvPr>
              <p:cNvSpPr txBox="1"/>
              <p:nvPr/>
            </p:nvSpPr>
            <p:spPr>
              <a:xfrm>
                <a:off x="736856" y="6080835"/>
                <a:ext cx="3810209" cy="735842"/>
              </a:xfrm>
              <a:prstGeom prst="rect">
                <a:avLst/>
              </a:prstGeom>
              <a:solidFill>
                <a:schemeClr val="accent4">
                  <a:lumMod val="40000"/>
                  <a:lumOff val="60000"/>
                </a:schemeClr>
              </a:solid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sSubSup>
                            <m:sSubSupPr>
                              <m:ctrlPr>
                                <a:rPr lang="en-US"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𝑓</m:t>
                              </m:r>
                            </m:sub>
                            <m:sup>
                              <m:r>
                                <a:rPr lang="en-US" b="0" i="1" smtClean="0">
                                  <a:latin typeface="Cambria Math" panose="02040503050406030204" pitchFamily="18" charset="0"/>
                                  <a:cs typeface="Arial" panose="020B0604020202020204" pitchFamily="34" charset="0"/>
                                </a:rPr>
                                <m:t>2</m:t>
                              </m:r>
                            </m:sup>
                          </m:sSubSup>
                        </m:num>
                        <m:den>
                          <m:r>
                            <a:rPr lang="en-US" b="0" i="1" smtClean="0">
                              <a:latin typeface="Cambria Math" panose="02040503050406030204" pitchFamily="18" charset="0"/>
                              <a:cs typeface="Arial" panose="020B0604020202020204" pitchFamily="34" charset="0"/>
                            </a:rPr>
                            <m:t>𝑅𝑔𝐷</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sSubSup>
                            <m:sSubSupPr>
                              <m:ctrlPr>
                                <a:rPr lang="en-US" i="1">
                                  <a:latin typeface="Cambria Math" panose="02040503050406030204" pitchFamily="18" charset="0"/>
                                  <a:cs typeface="Arial" panose="020B0604020202020204" pitchFamily="34" charset="0"/>
                                </a:rPr>
                              </m:ctrlPr>
                            </m:sSubSupPr>
                            <m:e>
                              <m:r>
                                <a:rPr lang="en-US" i="1">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𝑐</m:t>
                              </m:r>
                            </m:sub>
                            <m:sup>
                              <m:r>
                                <a:rPr lang="en-US" i="1">
                                  <a:latin typeface="Cambria Math" panose="02040503050406030204" pitchFamily="18" charset="0"/>
                                  <a:cs typeface="Arial" panose="020B0604020202020204" pitchFamily="34" charset="0"/>
                                </a:rPr>
                                <m:t>2</m:t>
                              </m:r>
                            </m:sup>
                          </m:sSubSup>
                          <m:sSubSup>
                            <m:sSubSupPr>
                              <m:ctrlPr>
                                <a:rPr lang="en-US"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𝐹</m:t>
                              </m:r>
                            </m:e>
                            <m:sub>
                              <m:r>
                                <a:rPr lang="en-US" b="0" i="1" smtClean="0">
                                  <a:latin typeface="Cambria Math" panose="02040503050406030204" pitchFamily="18" charset="0"/>
                                  <a:cs typeface="Arial" panose="020B0604020202020204" pitchFamily="34" charset="0"/>
                                </a:rPr>
                                <m:t>𝑢</m:t>
                              </m:r>
                            </m:sub>
                            <m:sup>
                              <m:r>
                                <a:rPr lang="en-US" b="0" i="1" smtClean="0">
                                  <a:latin typeface="Cambria Math" panose="02040503050406030204" pitchFamily="18" charset="0"/>
                                  <a:cs typeface="Arial" panose="020B0604020202020204" pitchFamily="34" charset="0"/>
                                </a:rPr>
                                <m:t>2</m:t>
                              </m:r>
                            </m:sup>
                          </m:sSubSup>
                        </m:num>
                        <m:den>
                          <m:r>
                            <a:rPr lang="en-US" i="1">
                              <a:latin typeface="Cambria Math" panose="02040503050406030204" pitchFamily="18" charset="0"/>
                              <a:cs typeface="Arial" panose="020B0604020202020204" pitchFamily="34" charset="0"/>
                            </a:rPr>
                            <m:t>𝑅𝑔𝐷</m:t>
                          </m:r>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4</m:t>
                          </m:r>
                        </m:num>
                        <m:den>
                          <m:r>
                            <a:rPr lang="en-US" b="0" i="1" smtClean="0">
                              <a:latin typeface="Cambria Math" panose="02040503050406030204" pitchFamily="18" charset="0"/>
                              <a:cs typeface="Arial" panose="020B0604020202020204" pitchFamily="34" charset="0"/>
                            </a:rPr>
                            <m:t>3</m:t>
                          </m:r>
                        </m:den>
                      </m:f>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𝜇</m:t>
                              </m:r>
                            </m:e>
                            <m:sub>
                              <m:r>
                                <a:rPr lang="en-US" b="0" i="1" smtClean="0">
                                  <a:latin typeface="Cambria Math" panose="02040503050406030204" pitchFamily="18" charset="0"/>
                                  <a:cs typeface="Arial" panose="020B0604020202020204" pitchFamily="34" charset="0"/>
                                </a:rPr>
                                <m:t>𝐶</m:t>
                              </m:r>
                            </m:sub>
                          </m:sSub>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𝑐</m:t>
                              </m:r>
                            </m:e>
                            <m:sub>
                              <m:r>
                                <a:rPr lang="en-US" b="0" i="1" smtClean="0">
                                  <a:latin typeface="Cambria Math" panose="02040503050406030204" pitchFamily="18" charset="0"/>
                                  <a:cs typeface="Arial" panose="020B0604020202020204" pitchFamily="34" charset="0"/>
                                </a:rPr>
                                <m:t>𝐷</m:t>
                              </m:r>
                            </m:sub>
                          </m:sSub>
                        </m:den>
                      </m:f>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          </m:t>
                          </m:r>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𝑐</m:t>
                          </m:r>
                        </m:sub>
                        <m:sup>
                          <m:r>
                            <a:rPr lang="en-US" b="0" i="1" smtClean="0">
                              <a:latin typeface="Cambria Math" panose="02040503050406030204" pitchFamily="18" charset="0"/>
                              <a:cs typeface="Arial" panose="020B0604020202020204" pitchFamily="34" charset="0"/>
                            </a:rPr>
                            <m:t>∗</m:t>
                          </m:r>
                        </m:sup>
                      </m:sSubSup>
                      <m:r>
                        <a:rPr lang="en-US" b="0" i="1" smtClean="0">
                          <a:latin typeface="Cambria Math" panose="02040503050406030204" pitchFamily="18" charset="0"/>
                          <a:cs typeface="Arial" panose="020B0604020202020204" pitchFamily="34" charset="0"/>
                        </a:rPr>
                        <m:t>=0.0287</m:t>
                      </m:r>
                    </m:oMath>
                  </m:oMathPara>
                </a14:m>
                <a:endParaRPr lang="en-US" dirty="0">
                  <a:latin typeface="Arial" panose="020B0604020202020204" pitchFamily="34" charset="0"/>
                  <a:cs typeface="Arial" panose="020B0604020202020204" pitchFamily="34" charset="0"/>
                </a:endParaRPr>
              </a:p>
            </p:txBody>
          </p:sp>
        </mc:Choice>
        <mc:Fallback xmlns="">
          <p:sp>
            <p:nvSpPr>
              <p:cNvPr id="61" name="TextBox 60">
                <a:extLst>
                  <a:ext uri="{FF2B5EF4-FFF2-40B4-BE49-F238E27FC236}">
                    <a16:creationId xmlns:a16="http://schemas.microsoft.com/office/drawing/2014/main" id="{B07E4ECB-CBC0-5347-AF2D-F8098C7B6AE6}"/>
                  </a:ext>
                </a:extLst>
              </p:cNvPr>
              <p:cNvSpPr txBox="1">
                <a:spLocks noRot="1" noChangeAspect="1" noMove="1" noResize="1" noEditPoints="1" noAdjustHandles="1" noChangeArrowheads="1" noChangeShapeType="1" noTextEdit="1"/>
              </p:cNvSpPr>
              <p:nvPr/>
            </p:nvSpPr>
            <p:spPr>
              <a:xfrm>
                <a:off x="736856" y="6080835"/>
                <a:ext cx="3810209" cy="735842"/>
              </a:xfrm>
              <a:prstGeom prst="rect">
                <a:avLst/>
              </a:prstGeom>
              <a:blipFill>
                <a:blip r:embed="rId9"/>
                <a:stretch>
                  <a:fillRect l="-1661" r="-664" b="-10345"/>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97207AE2-E0B7-124C-AB6F-7447EDAE58F4}"/>
              </a:ext>
            </a:extLst>
          </p:cNvPr>
          <p:cNvSpPr txBox="1"/>
          <p:nvPr/>
        </p:nvSpPr>
        <p:spPr>
          <a:xfrm>
            <a:off x="4611242" y="6017488"/>
            <a:ext cx="2918646" cy="697563"/>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close to the 0.03 asymptotic value of slide 8</a:t>
            </a:r>
          </a:p>
        </p:txBody>
      </p:sp>
    </p:spTree>
    <p:extLst>
      <p:ext uri="{BB962C8B-B14F-4D97-AF65-F5344CB8AC3E}">
        <p14:creationId xmlns:p14="http://schemas.microsoft.com/office/powerpoint/2010/main" val="4308804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15</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85351" y="136525"/>
            <a:ext cx="11800703"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Sediment mixtures</a:t>
            </a:r>
          </a:p>
        </p:txBody>
      </p:sp>
      <p:sp>
        <p:nvSpPr>
          <p:cNvPr id="9" name="TextBox 8">
            <a:extLst>
              <a:ext uri="{FF2B5EF4-FFF2-40B4-BE49-F238E27FC236}">
                <a16:creationId xmlns:a16="http://schemas.microsoft.com/office/drawing/2014/main" id="{1E817250-3C3A-BE4F-95CC-C14166F9648C}"/>
              </a:ext>
            </a:extLst>
          </p:cNvPr>
          <p:cNvSpPr txBox="1"/>
          <p:nvPr/>
        </p:nvSpPr>
        <p:spPr>
          <a:xfrm>
            <a:off x="580767" y="820523"/>
            <a:ext cx="11133437"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How does the threshold of motion vary if the sediment is a mixture of particles differing in size?</a:t>
            </a:r>
          </a:p>
        </p:txBody>
      </p:sp>
      <p:sp>
        <p:nvSpPr>
          <p:cNvPr id="63" name="TextBox 62">
            <a:extLst>
              <a:ext uri="{FF2B5EF4-FFF2-40B4-BE49-F238E27FC236}">
                <a16:creationId xmlns:a16="http://schemas.microsoft.com/office/drawing/2014/main" id="{DBA76812-3056-4941-8C76-575498698926}"/>
              </a:ext>
            </a:extLst>
          </p:cNvPr>
          <p:cNvSpPr txBox="1"/>
          <p:nvPr/>
        </p:nvSpPr>
        <p:spPr>
          <a:xfrm>
            <a:off x="580767" y="1363009"/>
            <a:ext cx="11133437"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Let’s consider the case of uniform coarse gravel. The modified Shields diagram of slide 8 predicts a critical Shields number equal to 0.03. The critical boundary shear stress will thus be</a:t>
            </a: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EED548F8-8658-1445-982E-25A2FB21DBD0}"/>
                  </a:ext>
                </a:extLst>
              </p:cNvPr>
              <p:cNvSpPr txBox="1"/>
              <p:nvPr/>
            </p:nvSpPr>
            <p:spPr>
              <a:xfrm>
                <a:off x="716692" y="2221286"/>
                <a:ext cx="1467453"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𝑏𝑐</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𝑅𝑔𝐷</m:t>
                      </m:r>
                      <m:sSubSup>
                        <m:sSub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𝑐</m:t>
                          </m:r>
                        </m:sub>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bSup>
                    </m:oMath>
                  </m:oMathPara>
                </a14:m>
                <a:endParaRPr lang="en-US" dirty="0">
                  <a:latin typeface="Arial" panose="020B0604020202020204" pitchFamily="34" charset="0"/>
                  <a:cs typeface="Arial" panose="020B0604020202020204" pitchFamily="34" charset="0"/>
                </a:endParaRPr>
              </a:p>
            </p:txBody>
          </p:sp>
        </mc:Choice>
        <mc:Fallback xmlns="">
          <p:sp>
            <p:nvSpPr>
              <p:cNvPr id="44" name="TextBox 43">
                <a:extLst>
                  <a:ext uri="{FF2B5EF4-FFF2-40B4-BE49-F238E27FC236}">
                    <a16:creationId xmlns:a16="http://schemas.microsoft.com/office/drawing/2014/main" id="{EED548F8-8658-1445-982E-25A2FB21DBD0}"/>
                  </a:ext>
                </a:extLst>
              </p:cNvPr>
              <p:cNvSpPr txBox="1">
                <a:spLocks noRot="1" noChangeAspect="1" noMove="1" noResize="1" noEditPoints="1" noAdjustHandles="1" noChangeArrowheads="1" noChangeShapeType="1" noTextEdit="1"/>
              </p:cNvSpPr>
              <p:nvPr/>
            </p:nvSpPr>
            <p:spPr>
              <a:xfrm>
                <a:off x="716692" y="2221286"/>
                <a:ext cx="1467453" cy="315792"/>
              </a:xfrm>
              <a:prstGeom prst="rect">
                <a:avLst/>
              </a:prstGeom>
              <a:blipFill>
                <a:blip r:embed="rId3"/>
                <a:stretch>
                  <a:fillRect l="-862" b="-19231"/>
                </a:stretch>
              </a:blipFill>
            </p:spPr>
            <p:txBody>
              <a:bodyPr/>
              <a:lstStyle/>
              <a:p>
                <a:r>
                  <a:rPr lang="en-US">
                    <a:noFill/>
                  </a:rPr>
                  <a:t> </a:t>
                </a:r>
              </a:p>
            </p:txBody>
          </p:sp>
        </mc:Fallback>
      </mc:AlternateContent>
      <p:sp>
        <p:nvSpPr>
          <p:cNvPr id="66" name="TextBox 65">
            <a:extLst>
              <a:ext uri="{FF2B5EF4-FFF2-40B4-BE49-F238E27FC236}">
                <a16:creationId xmlns:a16="http://schemas.microsoft.com/office/drawing/2014/main" id="{E04C9BC1-B556-6A43-80FC-F8F52ACBC5EC}"/>
              </a:ext>
            </a:extLst>
          </p:cNvPr>
          <p:cNvSpPr txBox="1"/>
          <p:nvPr/>
        </p:nvSpPr>
        <p:spPr>
          <a:xfrm>
            <a:off x="580767" y="2765641"/>
            <a:ext cx="11133437" cy="1644874"/>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We now replace this uniform gravel with a mixture of gravel sizes D</a:t>
            </a:r>
            <a:r>
              <a:rPr lang="en-US" baseline="-25000" dirty="0">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such that the geometric mean diameter of the mixture D</a:t>
            </a:r>
            <a:r>
              <a:rPr lang="en-US" baseline="-25000" dirty="0">
                <a:latin typeface="Arial" panose="020B0604020202020204" pitchFamily="34" charset="0"/>
                <a:cs typeface="Arial" panose="020B0604020202020204" pitchFamily="34" charset="0"/>
              </a:rPr>
              <a:t>g</a:t>
            </a:r>
            <a:r>
              <a:rPr lang="en-US" dirty="0">
                <a:latin typeface="Arial" panose="020B0604020202020204" pitchFamily="34" charset="0"/>
                <a:cs typeface="Arial" panose="020B0604020202020204" pitchFamily="34" charset="0"/>
              </a:rPr>
              <a:t> is identical to the size D of the uniform gravel. </a:t>
            </a:r>
          </a:p>
          <a:p>
            <a:pPr algn="l">
              <a:lnSpc>
                <a:spcPct val="114000"/>
              </a:lnSpc>
            </a:pPr>
            <a:endParaRPr lang="en-US" dirty="0">
              <a:latin typeface="Arial" panose="020B0604020202020204" pitchFamily="34" charset="0"/>
              <a:cs typeface="Arial" panose="020B0604020202020204" pitchFamily="34" charset="0"/>
            </a:endParaRPr>
          </a:p>
          <a:p>
            <a:pPr algn="l">
              <a:lnSpc>
                <a:spcPct val="114000"/>
              </a:lnSpc>
            </a:pPr>
            <a:r>
              <a:rPr lang="en-US" dirty="0">
                <a:latin typeface="Arial" panose="020B0604020202020204" pitchFamily="34" charset="0"/>
                <a:cs typeface="Arial" panose="020B0604020202020204" pitchFamily="34" charset="0"/>
              </a:rPr>
              <a:t>For simplicity, we assume that each grain size D</a:t>
            </a:r>
            <a:r>
              <a:rPr lang="en-US" baseline="-25000" dirty="0">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is coarse enough so that the critical Shields number of uniform sediment with grain size D</a:t>
            </a:r>
            <a:r>
              <a:rPr lang="en-US" baseline="-25000" dirty="0">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is equal to 0.03. </a:t>
            </a:r>
          </a:p>
        </p:txBody>
      </p:sp>
    </p:spTree>
    <p:extLst>
      <p:ext uri="{BB962C8B-B14F-4D97-AF65-F5344CB8AC3E}">
        <p14:creationId xmlns:p14="http://schemas.microsoft.com/office/powerpoint/2010/main" val="9726933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16</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85351" y="136525"/>
            <a:ext cx="11800703"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Sediment mixtures</a:t>
            </a:r>
          </a:p>
        </p:txBody>
      </p:sp>
      <p:sp>
        <p:nvSpPr>
          <p:cNvPr id="9" name="TextBox 8">
            <a:extLst>
              <a:ext uri="{FF2B5EF4-FFF2-40B4-BE49-F238E27FC236}">
                <a16:creationId xmlns:a16="http://schemas.microsoft.com/office/drawing/2014/main" id="{1E817250-3C3A-BE4F-95CC-C14166F9648C}"/>
              </a:ext>
            </a:extLst>
          </p:cNvPr>
          <p:cNvSpPr txBox="1"/>
          <p:nvPr/>
        </p:nvSpPr>
        <p:spPr>
          <a:xfrm>
            <a:off x="580767" y="820523"/>
            <a:ext cx="11133437"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How does the threshold of motion vary if the sediment is a mixture of particles differing in size?</a:t>
            </a:r>
          </a:p>
        </p:txBody>
      </p:sp>
      <p:sp>
        <p:nvSpPr>
          <p:cNvPr id="63" name="TextBox 62">
            <a:extLst>
              <a:ext uri="{FF2B5EF4-FFF2-40B4-BE49-F238E27FC236}">
                <a16:creationId xmlns:a16="http://schemas.microsoft.com/office/drawing/2014/main" id="{DBA76812-3056-4941-8C76-575498698926}"/>
              </a:ext>
            </a:extLst>
          </p:cNvPr>
          <p:cNvSpPr txBox="1"/>
          <p:nvPr/>
        </p:nvSpPr>
        <p:spPr>
          <a:xfrm>
            <a:off x="580767" y="1363009"/>
            <a:ext cx="11133437"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Let’s consider the case of uniform coarse gravel. The modified Shields diagram of slide 8 predicts a critical Shields number equal to 0.03. The critical boundary shear stress will thus be</a:t>
            </a: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EED548F8-8658-1445-982E-25A2FB21DBD0}"/>
                  </a:ext>
                </a:extLst>
              </p:cNvPr>
              <p:cNvSpPr txBox="1"/>
              <p:nvPr/>
            </p:nvSpPr>
            <p:spPr>
              <a:xfrm>
                <a:off x="716692" y="2221286"/>
                <a:ext cx="1467453"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𝑏𝑐</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𝑅𝑔𝐷</m:t>
                      </m:r>
                      <m:sSubSup>
                        <m:sSub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𝑐</m:t>
                          </m:r>
                        </m:sub>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bSup>
                    </m:oMath>
                  </m:oMathPara>
                </a14:m>
                <a:endParaRPr lang="en-US" dirty="0">
                  <a:latin typeface="Arial" panose="020B0604020202020204" pitchFamily="34" charset="0"/>
                  <a:cs typeface="Arial" panose="020B0604020202020204" pitchFamily="34" charset="0"/>
                </a:endParaRPr>
              </a:p>
            </p:txBody>
          </p:sp>
        </mc:Choice>
        <mc:Fallback xmlns="">
          <p:sp>
            <p:nvSpPr>
              <p:cNvPr id="44" name="TextBox 43">
                <a:extLst>
                  <a:ext uri="{FF2B5EF4-FFF2-40B4-BE49-F238E27FC236}">
                    <a16:creationId xmlns:a16="http://schemas.microsoft.com/office/drawing/2014/main" id="{EED548F8-8658-1445-982E-25A2FB21DBD0}"/>
                  </a:ext>
                </a:extLst>
              </p:cNvPr>
              <p:cNvSpPr txBox="1">
                <a:spLocks noRot="1" noChangeAspect="1" noMove="1" noResize="1" noEditPoints="1" noAdjustHandles="1" noChangeArrowheads="1" noChangeShapeType="1" noTextEdit="1"/>
              </p:cNvSpPr>
              <p:nvPr/>
            </p:nvSpPr>
            <p:spPr>
              <a:xfrm>
                <a:off x="716692" y="2221286"/>
                <a:ext cx="1467453" cy="315792"/>
              </a:xfrm>
              <a:prstGeom prst="rect">
                <a:avLst/>
              </a:prstGeom>
              <a:blipFill>
                <a:blip r:embed="rId3"/>
                <a:stretch>
                  <a:fillRect l="-862" b="-192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E04C9BC1-B556-6A43-80FC-F8F52ACBC5EC}"/>
                  </a:ext>
                </a:extLst>
              </p:cNvPr>
              <p:cNvSpPr txBox="1"/>
              <p:nvPr/>
            </p:nvSpPr>
            <p:spPr>
              <a:xfrm>
                <a:off x="580767" y="2765641"/>
                <a:ext cx="11133437" cy="2949975"/>
              </a:xfrm>
              <a:prstGeom prst="rect">
                <a:avLst/>
              </a:prstGeom>
              <a:noFill/>
            </p:spPr>
            <p:txBody>
              <a:bodyPr wrap="square" rtlCol="0">
                <a:spAutoFit/>
              </a:bodyPr>
              <a:lstStyle/>
              <a:p>
                <a:pPr algn="l">
                  <a:lnSpc>
                    <a:spcPct val="114000"/>
                  </a:lnSpc>
                </a:pPr>
                <a:r>
                  <a:rPr lang="en-US">
                    <a:latin typeface="Arial" panose="020B0604020202020204" pitchFamily="34" charset="0"/>
                    <a:cs typeface="Arial" panose="020B0604020202020204" pitchFamily="34" charset="0"/>
                  </a:rPr>
                  <a:t>We now replace this uniform gravel with a mixture of gravel sizes D</a:t>
                </a:r>
                <a:r>
                  <a:rPr lang="en-US" baseline="-25000">
                    <a:latin typeface="Arial" panose="020B0604020202020204" pitchFamily="34" charset="0"/>
                    <a:cs typeface="Arial" panose="020B0604020202020204" pitchFamily="34" charset="0"/>
                  </a:rPr>
                  <a:t>i</a:t>
                </a:r>
                <a:r>
                  <a:rPr lang="en-US">
                    <a:latin typeface="Arial" panose="020B0604020202020204" pitchFamily="34" charset="0"/>
                    <a:cs typeface="Arial" panose="020B0604020202020204" pitchFamily="34" charset="0"/>
                  </a:rPr>
                  <a:t> such that the geometric mean diameter of the mixture D</a:t>
                </a:r>
                <a:r>
                  <a:rPr lang="en-US" baseline="-25000">
                    <a:latin typeface="Arial" panose="020B0604020202020204" pitchFamily="34" charset="0"/>
                    <a:cs typeface="Arial" panose="020B0604020202020204" pitchFamily="34" charset="0"/>
                  </a:rPr>
                  <a:t>g</a:t>
                </a:r>
                <a:r>
                  <a:rPr lang="en-US">
                    <a:latin typeface="Arial" panose="020B0604020202020204" pitchFamily="34" charset="0"/>
                    <a:cs typeface="Arial" panose="020B0604020202020204" pitchFamily="34" charset="0"/>
                  </a:rPr>
                  <a:t> is identical to the size D of the uniform gravel. </a:t>
                </a:r>
              </a:p>
              <a:p>
                <a:pPr algn="l">
                  <a:lnSpc>
                    <a:spcPct val="114000"/>
                  </a:lnSpc>
                </a:pPr>
                <a:endParaRPr lang="en-US" dirty="0">
                  <a:latin typeface="Arial" panose="020B0604020202020204" pitchFamily="34" charset="0"/>
                  <a:cs typeface="Arial" panose="020B0604020202020204" pitchFamily="34" charset="0"/>
                </a:endParaRPr>
              </a:p>
              <a:p>
                <a:pPr algn="l">
                  <a:lnSpc>
                    <a:spcPct val="114000"/>
                  </a:lnSpc>
                </a:pPr>
                <a:r>
                  <a:rPr lang="en-US" dirty="0">
                    <a:latin typeface="Arial" panose="020B0604020202020204" pitchFamily="34" charset="0"/>
                    <a:cs typeface="Arial" panose="020B0604020202020204" pitchFamily="34" charset="0"/>
                  </a:rPr>
                  <a:t>For simplicity, we assume that each grain size D</a:t>
                </a:r>
                <a:r>
                  <a:rPr lang="en-US" baseline="-25000" dirty="0">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is coarse enough so that the critical Shields number of uniform sediment with grain size D</a:t>
                </a:r>
                <a:r>
                  <a:rPr lang="en-US" baseline="-25000" dirty="0">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is equal to 0.03. </a:t>
                </a:r>
              </a:p>
              <a:p>
                <a:pPr algn="l">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If every grain size of the mixture acted as if it was surrounded by grains of the same size, the critical Shields number for each grain size </a:t>
                </a:r>
                <a14:m>
                  <m:oMath xmlns:m="http://schemas.openxmlformats.org/officeDocument/2006/math">
                    <m:sSubSup>
                      <m:sSubSupPr>
                        <m:ctrlPr>
                          <a:rPr lang="en-US" i="1" smtClean="0">
                            <a:latin typeface="Cambria Math" panose="02040503050406030204" pitchFamily="18" charset="0"/>
                            <a:cs typeface="Arial" panose="020B0604020202020204" pitchFamily="34" charset="0"/>
                          </a:rPr>
                        </m:ctrlPr>
                      </m:sSub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𝑐𝑖</m:t>
                        </m:r>
                      </m:sub>
                      <m:sup>
                        <m:r>
                          <a:rPr lang="en-US" b="0" i="1" smtClean="0">
                            <a:latin typeface="Cambria Math" panose="02040503050406030204" pitchFamily="18" charset="0"/>
                            <a:cs typeface="Arial" panose="020B0604020202020204" pitchFamily="34" charset="0"/>
                          </a:rPr>
                          <m:t>∗</m:t>
                        </m:r>
                      </m:sup>
                    </m:sSubSup>
                  </m:oMath>
                </a14:m>
                <a:r>
                  <a:rPr lang="en-US" dirty="0">
                    <a:latin typeface="Arial" panose="020B0604020202020204" pitchFamily="34" charset="0"/>
                    <a:cs typeface="Arial" panose="020B0604020202020204" pitchFamily="34" charset="0"/>
                  </a:rPr>
                  <a:t> would be 0.03, which would also be the critical Shields number for the geometric mean size D</a:t>
                </a:r>
                <a:r>
                  <a:rPr lang="en-US" baseline="-25000" dirty="0">
                    <a:latin typeface="Arial" panose="020B0604020202020204" pitchFamily="34" charset="0"/>
                    <a:cs typeface="Arial" panose="020B0604020202020204" pitchFamily="34" charset="0"/>
                  </a:rPr>
                  <a:t>g</a:t>
                </a:r>
                <a:r>
                  <a:rPr lang="en-US" dirty="0">
                    <a:latin typeface="Arial" panose="020B0604020202020204" pitchFamily="34" charset="0"/>
                    <a:cs typeface="Arial" panose="020B0604020202020204" pitchFamily="34" charset="0"/>
                  </a:rPr>
                  <a:t>, </a:t>
                </a:r>
                <a14:m>
                  <m:oMath xmlns:m="http://schemas.openxmlformats.org/officeDocument/2006/math">
                    <m:sSubSup>
                      <m:sSubSupPr>
                        <m:ctrlPr>
                          <a:rPr lang="en-US" i="1">
                            <a:latin typeface="Cambria Math" panose="02040503050406030204" pitchFamily="18" charset="0"/>
                            <a:cs typeface="Arial" panose="020B0604020202020204" pitchFamily="34" charset="0"/>
                          </a:rPr>
                        </m:ctrlPr>
                      </m:sSubSup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cs typeface="Arial" panose="020B0604020202020204" pitchFamily="34" charset="0"/>
                          </a:rPr>
                          <m:t>𝑐</m:t>
                        </m:r>
                        <m:r>
                          <a:rPr lang="en-US" b="0" i="1" smtClean="0">
                            <a:latin typeface="Cambria Math" panose="02040503050406030204" pitchFamily="18" charset="0"/>
                            <a:cs typeface="Arial" panose="020B0604020202020204" pitchFamily="34" charset="0"/>
                          </a:rPr>
                          <m:t>𝑔</m:t>
                        </m:r>
                      </m:sub>
                      <m:sup>
                        <m:r>
                          <a:rPr lang="en-US" i="1">
                            <a:latin typeface="Cambria Math" panose="02040503050406030204" pitchFamily="18" charset="0"/>
                            <a:cs typeface="Arial" panose="020B0604020202020204" pitchFamily="34" charset="0"/>
                          </a:rPr>
                          <m:t>∗</m:t>
                        </m:r>
                      </m:sup>
                    </m:sSubSup>
                  </m:oMath>
                </a14:m>
                <a:r>
                  <a:rPr lang="en-US" dirty="0">
                    <a:latin typeface="Arial" panose="020B0604020202020204" pitchFamily="34" charset="0"/>
                    <a:cs typeface="Arial" panose="020B0604020202020204" pitchFamily="34" charset="0"/>
                  </a:rPr>
                  <a:t> </a:t>
                </a:r>
              </a:p>
            </p:txBody>
          </p:sp>
        </mc:Choice>
        <mc:Fallback xmlns="">
          <p:sp>
            <p:nvSpPr>
              <p:cNvPr id="66" name="TextBox 65">
                <a:extLst>
                  <a:ext uri="{FF2B5EF4-FFF2-40B4-BE49-F238E27FC236}">
                    <a16:creationId xmlns:a16="http://schemas.microsoft.com/office/drawing/2014/main" id="{E04C9BC1-B556-6A43-80FC-F8F52ACBC5EC}"/>
                  </a:ext>
                </a:extLst>
              </p:cNvPr>
              <p:cNvSpPr txBox="1">
                <a:spLocks noRot="1" noChangeAspect="1" noMove="1" noResize="1" noEditPoints="1" noAdjustHandles="1" noChangeArrowheads="1" noChangeShapeType="1" noTextEdit="1"/>
              </p:cNvSpPr>
              <p:nvPr/>
            </p:nvSpPr>
            <p:spPr>
              <a:xfrm>
                <a:off x="580767" y="2765641"/>
                <a:ext cx="11133437" cy="2949975"/>
              </a:xfrm>
              <a:prstGeom prst="rect">
                <a:avLst/>
              </a:prstGeom>
              <a:blipFill>
                <a:blip r:embed="rId4"/>
                <a:stretch>
                  <a:fillRect l="-456" t="-855" r="-569" b="-12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CA84D4C-F453-3646-A624-A6942B756DF9}"/>
                  </a:ext>
                </a:extLst>
              </p:cNvPr>
              <p:cNvSpPr txBox="1"/>
              <p:nvPr/>
            </p:nvSpPr>
            <p:spPr>
              <a:xfrm>
                <a:off x="716692" y="5944179"/>
                <a:ext cx="1678858" cy="341504"/>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cs typeface="Arial" panose="020B0604020202020204" pitchFamily="34" charset="0"/>
                            </a:rPr>
                          </m:ctrlPr>
                        </m:sSub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𝑐𝑖</m:t>
                          </m:r>
                        </m:sub>
                        <m:sup>
                          <m:r>
                            <a:rPr lang="en-US" b="0" i="1" smtClean="0">
                              <a:latin typeface="Cambria Math" panose="02040503050406030204" pitchFamily="18" charset="0"/>
                              <a:cs typeface="Arial" panose="020B0604020202020204" pitchFamily="34" charset="0"/>
                            </a:rPr>
                            <m:t>∗</m:t>
                          </m:r>
                        </m:sup>
                      </m:sSubSup>
                      <m:r>
                        <a:rPr lang="en-US" b="0" i="1" smtClean="0">
                          <a:latin typeface="Cambria Math" panose="02040503050406030204" pitchFamily="18" charset="0"/>
                          <a:cs typeface="Arial" panose="020B0604020202020204" pitchFamily="34" charset="0"/>
                        </a:rPr>
                        <m:t>=</m:t>
                      </m:r>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𝑐𝑔</m:t>
                          </m:r>
                        </m:sub>
                        <m:sup>
                          <m:r>
                            <a:rPr lang="en-US" b="0" i="1" smtClean="0">
                              <a:latin typeface="Cambria Math" panose="02040503050406030204" pitchFamily="18" charset="0"/>
                              <a:cs typeface="Arial" panose="020B0604020202020204" pitchFamily="34" charset="0"/>
                            </a:rPr>
                            <m:t>∗</m:t>
                          </m:r>
                        </m:sup>
                      </m:sSubSup>
                      <m:r>
                        <a:rPr lang="en-US" b="0" i="1" smtClean="0">
                          <a:latin typeface="Cambria Math" panose="02040503050406030204" pitchFamily="18" charset="0"/>
                          <a:cs typeface="Arial" panose="020B0604020202020204" pitchFamily="34" charset="0"/>
                        </a:rPr>
                        <m:t>=0.03</m:t>
                      </m:r>
                    </m:oMath>
                  </m:oMathPara>
                </a14:m>
                <a:endParaRPr lang="en-US" dirty="0">
                  <a:latin typeface="Arial" panose="020B0604020202020204" pitchFamily="34" charset="0"/>
                  <a:cs typeface="Arial" panose="020B0604020202020204" pitchFamily="34" charset="0"/>
                </a:endParaRPr>
              </a:p>
            </p:txBody>
          </p:sp>
        </mc:Choice>
        <mc:Fallback xmlns="">
          <p:sp>
            <p:nvSpPr>
              <p:cNvPr id="2" name="TextBox 1">
                <a:extLst>
                  <a:ext uri="{FF2B5EF4-FFF2-40B4-BE49-F238E27FC236}">
                    <a16:creationId xmlns:a16="http://schemas.microsoft.com/office/drawing/2014/main" id="{1CA84D4C-F453-3646-A624-A6942B756DF9}"/>
                  </a:ext>
                </a:extLst>
              </p:cNvPr>
              <p:cNvSpPr txBox="1">
                <a:spLocks noRot="1" noChangeAspect="1" noMove="1" noResize="1" noEditPoints="1" noAdjustHandles="1" noChangeArrowheads="1" noChangeShapeType="1" noTextEdit="1"/>
              </p:cNvSpPr>
              <p:nvPr/>
            </p:nvSpPr>
            <p:spPr>
              <a:xfrm>
                <a:off x="716692" y="5944179"/>
                <a:ext cx="1678858" cy="341504"/>
              </a:xfrm>
              <a:prstGeom prst="rect">
                <a:avLst/>
              </a:prstGeom>
              <a:blipFill>
                <a:blip r:embed="rId5"/>
                <a:stretch>
                  <a:fillRect l="-752" r="-2256" b="-18519"/>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564516C4-16B5-8743-B9D8-2BC458C11935}"/>
              </a:ext>
            </a:extLst>
          </p:cNvPr>
          <p:cNvSpPr txBox="1"/>
          <p:nvPr/>
        </p:nvSpPr>
        <p:spPr>
          <a:xfrm>
            <a:off x="2582563" y="5903975"/>
            <a:ext cx="1544012" cy="381708"/>
          </a:xfrm>
          <a:prstGeom prst="rect">
            <a:avLst/>
          </a:prstGeom>
          <a:noFill/>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consequently</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2DC2C59-A179-DD4A-BC91-A864D4D068D1}"/>
                  </a:ext>
                </a:extLst>
              </p:cNvPr>
              <p:cNvSpPr txBox="1"/>
              <p:nvPr/>
            </p:nvSpPr>
            <p:spPr>
              <a:xfrm>
                <a:off x="4417540" y="5588183"/>
                <a:ext cx="1641027" cy="316049"/>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𝑏𝑐𝑖</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𝑅𝑔</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𝐷</m:t>
                          </m:r>
                        </m:e>
                        <m:sub>
                          <m:r>
                            <a:rPr lang="en-US" b="0" i="1" smtClean="0">
                              <a:latin typeface="Cambria Math" panose="02040503050406030204" pitchFamily="18" charset="0"/>
                              <a:ea typeface="Cambria Math" panose="02040503050406030204" pitchFamily="18" charset="0"/>
                              <a:cs typeface="Arial" panose="020B0604020202020204" pitchFamily="34" charset="0"/>
                            </a:rPr>
                            <m:t>𝑖</m:t>
                          </m:r>
                        </m:sub>
                      </m:sSub>
                      <m:sSubSup>
                        <m:sSub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𝑐𝑖</m:t>
                          </m:r>
                        </m:sub>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bSup>
                    </m:oMath>
                  </m:oMathPara>
                </a14:m>
                <a:endParaRPr lang="en-US" dirty="0">
                  <a:latin typeface="Arial" panose="020B0604020202020204" pitchFamily="34"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82DC2C59-A179-DD4A-BC91-A864D4D068D1}"/>
                  </a:ext>
                </a:extLst>
              </p:cNvPr>
              <p:cNvSpPr txBox="1">
                <a:spLocks noRot="1" noChangeAspect="1" noMove="1" noResize="1" noEditPoints="1" noAdjustHandles="1" noChangeArrowheads="1" noChangeShapeType="1" noTextEdit="1"/>
              </p:cNvSpPr>
              <p:nvPr/>
            </p:nvSpPr>
            <p:spPr>
              <a:xfrm>
                <a:off x="4417540" y="5588183"/>
                <a:ext cx="1641027" cy="316049"/>
              </a:xfrm>
              <a:prstGeom prst="rect">
                <a:avLst/>
              </a:prstGeom>
              <a:blipFill>
                <a:blip r:embed="rId6"/>
                <a:stretch>
                  <a:fillRect l="-1538" b="-192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D8EF180-0ED0-8447-A71D-8A47FF766518}"/>
                  </a:ext>
                </a:extLst>
              </p:cNvPr>
              <p:cNvSpPr txBox="1"/>
              <p:nvPr/>
            </p:nvSpPr>
            <p:spPr>
              <a:xfrm>
                <a:off x="4444675" y="6114931"/>
                <a:ext cx="1841786" cy="341504"/>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𝑏𝑐𝑔</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𝑅𝑔</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𝐷</m:t>
                          </m:r>
                        </m:e>
                        <m:sub>
                          <m:r>
                            <a:rPr lang="en-US" b="0" i="1" smtClean="0">
                              <a:latin typeface="Cambria Math" panose="02040503050406030204" pitchFamily="18" charset="0"/>
                              <a:ea typeface="Cambria Math" panose="02040503050406030204" pitchFamily="18" charset="0"/>
                              <a:cs typeface="Arial" panose="020B0604020202020204" pitchFamily="34" charset="0"/>
                            </a:rPr>
                            <m:t>𝑔</m:t>
                          </m:r>
                        </m:sub>
                      </m:sSub>
                      <m:sSubSup>
                        <m:sSub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𝑐𝑔</m:t>
                          </m:r>
                        </m:sub>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bSup>
                    </m:oMath>
                  </m:oMathPara>
                </a14:m>
                <a:endParaRPr lang="en-US" dirty="0">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1D8EF180-0ED0-8447-A71D-8A47FF766518}"/>
                  </a:ext>
                </a:extLst>
              </p:cNvPr>
              <p:cNvSpPr txBox="1">
                <a:spLocks noRot="1" noChangeAspect="1" noMove="1" noResize="1" noEditPoints="1" noAdjustHandles="1" noChangeArrowheads="1" noChangeShapeType="1" noTextEdit="1"/>
              </p:cNvSpPr>
              <p:nvPr/>
            </p:nvSpPr>
            <p:spPr>
              <a:xfrm>
                <a:off x="4444675" y="6114931"/>
                <a:ext cx="1841786" cy="341504"/>
              </a:xfrm>
              <a:prstGeom prst="rect">
                <a:avLst/>
              </a:prstGeom>
              <a:blipFill>
                <a:blip r:embed="rId7"/>
                <a:stretch>
                  <a:fillRect b="-2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77E56EB-FF03-7143-A2EA-E9B295080168}"/>
                  </a:ext>
                </a:extLst>
              </p:cNvPr>
              <p:cNvSpPr txBox="1"/>
              <p:nvPr/>
            </p:nvSpPr>
            <p:spPr>
              <a:xfrm>
                <a:off x="7347870" y="5588183"/>
                <a:ext cx="1040220" cy="680507"/>
              </a:xfrm>
              <a:prstGeom prst="rect">
                <a:avLst/>
              </a:prstGeom>
              <a:solidFill>
                <a:schemeClr val="bg2"/>
              </a:solid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cs typeface="Arial" panose="020B0604020202020204" pitchFamily="34" charset="0"/>
                                </a:rPr>
                                <m:t>𝑏𝑐𝑖</m:t>
                              </m:r>
                            </m:sub>
                          </m:sSub>
                        </m:num>
                        <m:den>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cs typeface="Arial" panose="020B0604020202020204" pitchFamily="34" charset="0"/>
                                </a:rPr>
                                <m:t>𝑏𝑐𝑔</m:t>
                              </m:r>
                            </m:sub>
                          </m:sSub>
                        </m:den>
                      </m:f>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𝐷</m:t>
                              </m:r>
                            </m:e>
                            <m:sub>
                              <m:r>
                                <a:rPr lang="en-US" i="1">
                                  <a:latin typeface="Cambria Math" panose="02040503050406030204" pitchFamily="18" charset="0"/>
                                  <a:ea typeface="Cambria Math" panose="02040503050406030204" pitchFamily="18" charset="0"/>
                                  <a:cs typeface="Arial" panose="020B0604020202020204" pitchFamily="34" charset="0"/>
                                </a:rPr>
                                <m:t>𝑖</m:t>
                              </m:r>
                            </m:sub>
                          </m:sSub>
                        </m:num>
                        <m:den>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𝐷</m:t>
                              </m:r>
                            </m:e>
                            <m:sub>
                              <m:r>
                                <a:rPr lang="en-US" i="1">
                                  <a:latin typeface="Cambria Math" panose="02040503050406030204" pitchFamily="18" charset="0"/>
                                  <a:ea typeface="Cambria Math" panose="02040503050406030204" pitchFamily="18" charset="0"/>
                                  <a:cs typeface="Arial" panose="020B0604020202020204" pitchFamily="34" charset="0"/>
                                </a:rPr>
                                <m:t>𝑔</m:t>
                              </m:r>
                            </m:sub>
                          </m:sSub>
                        </m:den>
                      </m:f>
                    </m:oMath>
                  </m:oMathPara>
                </a14:m>
                <a:endParaRPr lang="en-US" dirty="0">
                  <a:latin typeface="Arial" panose="020B0604020202020204" pitchFamily="34" charset="0"/>
                  <a:cs typeface="Arial" panose="020B0604020202020204" pitchFamily="34" charset="0"/>
                </a:endParaRPr>
              </a:p>
            </p:txBody>
          </p:sp>
        </mc:Choice>
        <mc:Fallback xmlns="">
          <p:sp>
            <p:nvSpPr>
              <p:cNvPr id="7" name="TextBox 6">
                <a:extLst>
                  <a:ext uri="{FF2B5EF4-FFF2-40B4-BE49-F238E27FC236}">
                    <a16:creationId xmlns:a16="http://schemas.microsoft.com/office/drawing/2014/main" id="{377E56EB-FF03-7143-A2EA-E9B295080168}"/>
                  </a:ext>
                </a:extLst>
              </p:cNvPr>
              <p:cNvSpPr txBox="1">
                <a:spLocks noRot="1" noChangeAspect="1" noMove="1" noResize="1" noEditPoints="1" noAdjustHandles="1" noChangeArrowheads="1" noChangeShapeType="1" noTextEdit="1"/>
              </p:cNvSpPr>
              <p:nvPr/>
            </p:nvSpPr>
            <p:spPr>
              <a:xfrm>
                <a:off x="7347870" y="5588183"/>
                <a:ext cx="1040220" cy="680507"/>
              </a:xfrm>
              <a:prstGeom prst="rect">
                <a:avLst/>
              </a:prstGeom>
              <a:blipFill>
                <a:blip r:embed="rId8"/>
                <a:stretch>
                  <a:fillRect l="-1205" r="-1205" b="-11111"/>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C217E0F1-3935-C54C-9A87-0C53EBD62F0A}"/>
              </a:ext>
            </a:extLst>
          </p:cNvPr>
          <p:cNvSpPr txBox="1"/>
          <p:nvPr/>
        </p:nvSpPr>
        <p:spPr>
          <a:xfrm>
            <a:off x="6418525" y="5785850"/>
            <a:ext cx="569387" cy="381708"/>
          </a:xfrm>
          <a:prstGeom prst="rect">
            <a:avLst/>
          </a:prstGeom>
          <a:noFill/>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and</a:t>
            </a:r>
          </a:p>
        </p:txBody>
      </p:sp>
    </p:spTree>
    <p:extLst>
      <p:ext uri="{BB962C8B-B14F-4D97-AF65-F5344CB8AC3E}">
        <p14:creationId xmlns:p14="http://schemas.microsoft.com/office/powerpoint/2010/main" val="15965216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17</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85351" y="136525"/>
            <a:ext cx="11800703"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Grain independence</a:t>
            </a:r>
          </a:p>
        </p:txBody>
      </p:sp>
      <p:sp>
        <p:nvSpPr>
          <p:cNvPr id="9" name="TextBox 8">
            <a:extLst>
              <a:ext uri="{FF2B5EF4-FFF2-40B4-BE49-F238E27FC236}">
                <a16:creationId xmlns:a16="http://schemas.microsoft.com/office/drawing/2014/main" id="{1E817250-3C3A-BE4F-95CC-C14166F9648C}"/>
              </a:ext>
            </a:extLst>
          </p:cNvPr>
          <p:cNvSpPr txBox="1"/>
          <p:nvPr/>
        </p:nvSpPr>
        <p:spPr>
          <a:xfrm>
            <a:off x="580767" y="820523"/>
            <a:ext cx="11133437" cy="1013291"/>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If every grain of the mixture acts as if it was surrounded by particles of its size, the critical Shields number would be the same for all grains and the critical boundary shear stress would linearly increase with grain size D</a:t>
            </a:r>
            <a:r>
              <a:rPr lang="en-US" baseline="-25000" dirty="0">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CA84D4C-F453-3646-A624-A6942B756DF9}"/>
                  </a:ext>
                </a:extLst>
              </p:cNvPr>
              <p:cNvSpPr txBox="1"/>
              <p:nvPr/>
            </p:nvSpPr>
            <p:spPr>
              <a:xfrm>
                <a:off x="1272746" y="2414559"/>
                <a:ext cx="1678858" cy="341504"/>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cs typeface="Arial" panose="020B0604020202020204" pitchFamily="34" charset="0"/>
                            </a:rPr>
                          </m:ctrlPr>
                        </m:sSub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𝑐𝑖</m:t>
                          </m:r>
                        </m:sub>
                        <m:sup>
                          <m:r>
                            <a:rPr lang="en-US" b="0" i="1" smtClean="0">
                              <a:latin typeface="Cambria Math" panose="02040503050406030204" pitchFamily="18" charset="0"/>
                              <a:cs typeface="Arial" panose="020B0604020202020204" pitchFamily="34" charset="0"/>
                            </a:rPr>
                            <m:t>∗</m:t>
                          </m:r>
                        </m:sup>
                      </m:sSubSup>
                      <m:r>
                        <a:rPr lang="en-US" b="0" i="1" smtClean="0">
                          <a:latin typeface="Cambria Math" panose="02040503050406030204" pitchFamily="18" charset="0"/>
                          <a:cs typeface="Arial" panose="020B0604020202020204" pitchFamily="34" charset="0"/>
                        </a:rPr>
                        <m:t>=</m:t>
                      </m:r>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𝑐𝑔</m:t>
                          </m:r>
                        </m:sub>
                        <m:sup>
                          <m:r>
                            <a:rPr lang="en-US" b="0" i="1" smtClean="0">
                              <a:latin typeface="Cambria Math" panose="02040503050406030204" pitchFamily="18" charset="0"/>
                              <a:cs typeface="Arial" panose="020B0604020202020204" pitchFamily="34" charset="0"/>
                            </a:rPr>
                            <m:t>∗</m:t>
                          </m:r>
                        </m:sup>
                      </m:sSubSup>
                      <m:r>
                        <a:rPr lang="en-US" b="0" i="1" smtClean="0">
                          <a:latin typeface="Cambria Math" panose="02040503050406030204" pitchFamily="18" charset="0"/>
                          <a:cs typeface="Arial" panose="020B0604020202020204" pitchFamily="34" charset="0"/>
                        </a:rPr>
                        <m:t>=0.03</m:t>
                      </m:r>
                    </m:oMath>
                  </m:oMathPara>
                </a14:m>
                <a:endParaRPr lang="en-US" dirty="0">
                  <a:latin typeface="Arial" panose="020B0604020202020204" pitchFamily="34" charset="0"/>
                  <a:cs typeface="Arial" panose="020B0604020202020204" pitchFamily="34" charset="0"/>
                </a:endParaRPr>
              </a:p>
            </p:txBody>
          </p:sp>
        </mc:Choice>
        <mc:Fallback xmlns="">
          <p:sp>
            <p:nvSpPr>
              <p:cNvPr id="2" name="TextBox 1">
                <a:extLst>
                  <a:ext uri="{FF2B5EF4-FFF2-40B4-BE49-F238E27FC236}">
                    <a16:creationId xmlns:a16="http://schemas.microsoft.com/office/drawing/2014/main" id="{1CA84D4C-F453-3646-A624-A6942B756DF9}"/>
                  </a:ext>
                </a:extLst>
              </p:cNvPr>
              <p:cNvSpPr txBox="1">
                <a:spLocks noRot="1" noChangeAspect="1" noMove="1" noResize="1" noEditPoints="1" noAdjustHandles="1" noChangeArrowheads="1" noChangeShapeType="1" noTextEdit="1"/>
              </p:cNvSpPr>
              <p:nvPr/>
            </p:nvSpPr>
            <p:spPr>
              <a:xfrm>
                <a:off x="1272746" y="2414559"/>
                <a:ext cx="1678858" cy="341504"/>
              </a:xfrm>
              <a:prstGeom prst="rect">
                <a:avLst/>
              </a:prstGeom>
              <a:blipFill>
                <a:blip r:embed="rId3"/>
                <a:stretch>
                  <a:fillRect l="-1504" r="-2256" b="-18519"/>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564516C4-16B5-8743-B9D8-2BC458C11935}"/>
              </a:ext>
            </a:extLst>
          </p:cNvPr>
          <p:cNvSpPr txBox="1"/>
          <p:nvPr/>
        </p:nvSpPr>
        <p:spPr>
          <a:xfrm>
            <a:off x="3138617" y="2374355"/>
            <a:ext cx="1544012" cy="381708"/>
          </a:xfrm>
          <a:prstGeom prst="rect">
            <a:avLst/>
          </a:prstGeom>
          <a:noFill/>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consequently</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82DC2C59-A179-DD4A-BC91-A864D4D068D1}"/>
                  </a:ext>
                </a:extLst>
              </p:cNvPr>
              <p:cNvSpPr txBox="1"/>
              <p:nvPr/>
            </p:nvSpPr>
            <p:spPr>
              <a:xfrm>
                <a:off x="4973594" y="2058563"/>
                <a:ext cx="1641027" cy="316049"/>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𝑏𝑐𝑖</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𝑅𝑔</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𝐷</m:t>
                          </m:r>
                        </m:e>
                        <m:sub>
                          <m:r>
                            <a:rPr lang="en-US" b="0" i="1" smtClean="0">
                              <a:latin typeface="Cambria Math" panose="02040503050406030204" pitchFamily="18" charset="0"/>
                              <a:ea typeface="Cambria Math" panose="02040503050406030204" pitchFamily="18" charset="0"/>
                              <a:cs typeface="Arial" panose="020B0604020202020204" pitchFamily="34" charset="0"/>
                            </a:rPr>
                            <m:t>𝑖</m:t>
                          </m:r>
                        </m:sub>
                      </m:sSub>
                      <m:sSubSup>
                        <m:sSub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𝑐𝑖</m:t>
                          </m:r>
                        </m:sub>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bSup>
                    </m:oMath>
                  </m:oMathPara>
                </a14:m>
                <a:endParaRPr lang="en-US" dirty="0">
                  <a:latin typeface="Arial" panose="020B0604020202020204" pitchFamily="34"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82DC2C59-A179-DD4A-BC91-A864D4D068D1}"/>
                  </a:ext>
                </a:extLst>
              </p:cNvPr>
              <p:cNvSpPr txBox="1">
                <a:spLocks noRot="1" noChangeAspect="1" noMove="1" noResize="1" noEditPoints="1" noAdjustHandles="1" noChangeArrowheads="1" noChangeShapeType="1" noTextEdit="1"/>
              </p:cNvSpPr>
              <p:nvPr/>
            </p:nvSpPr>
            <p:spPr>
              <a:xfrm>
                <a:off x="4973594" y="2058563"/>
                <a:ext cx="1641027" cy="316049"/>
              </a:xfrm>
              <a:prstGeom prst="rect">
                <a:avLst/>
              </a:prstGeom>
              <a:blipFill>
                <a:blip r:embed="rId4"/>
                <a:stretch>
                  <a:fillRect l="-769" r="-769" b="-1923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D8EF180-0ED0-8447-A71D-8A47FF766518}"/>
                  </a:ext>
                </a:extLst>
              </p:cNvPr>
              <p:cNvSpPr txBox="1"/>
              <p:nvPr/>
            </p:nvSpPr>
            <p:spPr>
              <a:xfrm>
                <a:off x="5000729" y="2585311"/>
                <a:ext cx="1841786" cy="341504"/>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𝑏𝑐𝑔</m:t>
                          </m:r>
                        </m:sub>
                      </m:s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𝑅𝑔</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𝐷</m:t>
                          </m:r>
                        </m:e>
                        <m:sub>
                          <m:r>
                            <a:rPr lang="en-US" b="0" i="1" smtClean="0">
                              <a:latin typeface="Cambria Math" panose="02040503050406030204" pitchFamily="18" charset="0"/>
                              <a:ea typeface="Cambria Math" panose="02040503050406030204" pitchFamily="18" charset="0"/>
                              <a:cs typeface="Arial" panose="020B0604020202020204" pitchFamily="34" charset="0"/>
                            </a:rPr>
                            <m:t>𝑔</m:t>
                          </m:r>
                        </m:sub>
                      </m:sSub>
                      <m:sSubSup>
                        <m:sSubSup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SupPr>
                        <m:e>
                          <m:r>
                            <a:rPr lang="en-US" b="0"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ea typeface="Cambria Math" panose="02040503050406030204" pitchFamily="18" charset="0"/>
                              <a:cs typeface="Arial" panose="020B0604020202020204" pitchFamily="34" charset="0"/>
                            </a:rPr>
                            <m:t>𝑐𝑔</m:t>
                          </m:r>
                        </m:sub>
                        <m:sup>
                          <m:r>
                            <a:rPr lang="en-US" b="0" i="1" smtClean="0">
                              <a:latin typeface="Cambria Math" panose="02040503050406030204" pitchFamily="18" charset="0"/>
                              <a:ea typeface="Cambria Math" panose="02040503050406030204" pitchFamily="18" charset="0"/>
                              <a:cs typeface="Arial" panose="020B0604020202020204" pitchFamily="34" charset="0"/>
                            </a:rPr>
                            <m:t>∗</m:t>
                          </m:r>
                        </m:sup>
                      </m:sSubSup>
                    </m:oMath>
                  </m:oMathPara>
                </a14:m>
                <a:endParaRPr lang="en-US" dirty="0">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1D8EF180-0ED0-8447-A71D-8A47FF766518}"/>
                  </a:ext>
                </a:extLst>
              </p:cNvPr>
              <p:cNvSpPr txBox="1">
                <a:spLocks noRot="1" noChangeAspect="1" noMove="1" noResize="1" noEditPoints="1" noAdjustHandles="1" noChangeArrowheads="1" noChangeShapeType="1" noTextEdit="1"/>
              </p:cNvSpPr>
              <p:nvPr/>
            </p:nvSpPr>
            <p:spPr>
              <a:xfrm>
                <a:off x="5000729" y="2585311"/>
                <a:ext cx="1841786" cy="341504"/>
              </a:xfrm>
              <a:prstGeom prst="rect">
                <a:avLst/>
              </a:prstGeom>
              <a:blipFill>
                <a:blip r:embed="rId5"/>
                <a:stretch>
                  <a:fillRect b="-2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377E56EB-FF03-7143-A2EA-E9B295080168}"/>
                  </a:ext>
                </a:extLst>
              </p:cNvPr>
              <p:cNvSpPr txBox="1"/>
              <p:nvPr/>
            </p:nvSpPr>
            <p:spPr>
              <a:xfrm>
                <a:off x="7903924" y="2058563"/>
                <a:ext cx="1445076" cy="680507"/>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cs typeface="Arial" panose="020B0604020202020204" pitchFamily="34" charset="0"/>
                            </a:rPr>
                            <m:t>𝑏𝑐𝑖</m:t>
                          </m:r>
                        </m:sub>
                      </m:sSub>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𝐷</m:t>
                              </m:r>
                            </m:e>
                            <m:sub>
                              <m:r>
                                <a:rPr lang="en-US" i="1">
                                  <a:latin typeface="Cambria Math" panose="02040503050406030204" pitchFamily="18" charset="0"/>
                                  <a:ea typeface="Cambria Math" panose="02040503050406030204" pitchFamily="18" charset="0"/>
                                  <a:cs typeface="Arial" panose="020B0604020202020204" pitchFamily="34" charset="0"/>
                                </a:rPr>
                                <m:t>𝑖</m:t>
                              </m:r>
                            </m:sub>
                          </m:sSub>
                        </m:num>
                        <m:den>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𝐷</m:t>
                              </m:r>
                            </m:e>
                            <m:sub>
                              <m:r>
                                <a:rPr lang="en-US" i="1">
                                  <a:latin typeface="Cambria Math" panose="02040503050406030204" pitchFamily="18" charset="0"/>
                                  <a:ea typeface="Cambria Math" panose="02040503050406030204" pitchFamily="18" charset="0"/>
                                  <a:cs typeface="Arial" panose="020B0604020202020204" pitchFamily="34" charset="0"/>
                                </a:rPr>
                                <m:t>𝑔</m:t>
                              </m:r>
                            </m:sub>
                          </m:sSub>
                        </m:den>
                      </m:f>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cs typeface="Arial" panose="020B0604020202020204" pitchFamily="34" charset="0"/>
                            </a:rPr>
                            <m:t>𝑏𝑐𝑔</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7" name="TextBox 6">
                <a:extLst>
                  <a:ext uri="{FF2B5EF4-FFF2-40B4-BE49-F238E27FC236}">
                    <a16:creationId xmlns:a16="http://schemas.microsoft.com/office/drawing/2014/main" id="{377E56EB-FF03-7143-A2EA-E9B295080168}"/>
                  </a:ext>
                </a:extLst>
              </p:cNvPr>
              <p:cNvSpPr txBox="1">
                <a:spLocks noRot="1" noChangeAspect="1" noMove="1" noResize="1" noEditPoints="1" noAdjustHandles="1" noChangeArrowheads="1" noChangeShapeType="1" noTextEdit="1"/>
              </p:cNvSpPr>
              <p:nvPr/>
            </p:nvSpPr>
            <p:spPr>
              <a:xfrm>
                <a:off x="7903924" y="2058563"/>
                <a:ext cx="1445076" cy="680507"/>
              </a:xfrm>
              <a:prstGeom prst="rect">
                <a:avLst/>
              </a:prstGeom>
              <a:blipFill>
                <a:blip r:embed="rId6"/>
                <a:stretch>
                  <a:fillRect l="-870" r="-870" b="-9259"/>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C217E0F1-3935-C54C-9A87-0C53EBD62F0A}"/>
              </a:ext>
            </a:extLst>
          </p:cNvPr>
          <p:cNvSpPr txBox="1"/>
          <p:nvPr/>
        </p:nvSpPr>
        <p:spPr>
          <a:xfrm>
            <a:off x="6974579" y="2256230"/>
            <a:ext cx="569387" cy="381708"/>
          </a:xfrm>
          <a:prstGeom prst="rect">
            <a:avLst/>
          </a:prstGeom>
          <a:noFill/>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and</a:t>
            </a:r>
          </a:p>
        </p:txBody>
      </p:sp>
      <p:sp>
        <p:nvSpPr>
          <p:cNvPr id="14" name="TextBox 13">
            <a:extLst>
              <a:ext uri="{FF2B5EF4-FFF2-40B4-BE49-F238E27FC236}">
                <a16:creationId xmlns:a16="http://schemas.microsoft.com/office/drawing/2014/main" id="{58F11BB7-26C7-5E4A-82B8-1D640DC8DA4D}"/>
              </a:ext>
            </a:extLst>
          </p:cNvPr>
          <p:cNvSpPr txBox="1"/>
          <p:nvPr/>
        </p:nvSpPr>
        <p:spPr>
          <a:xfrm>
            <a:off x="580767" y="3236688"/>
            <a:ext cx="11133437" cy="1644874"/>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If each grain of the mixture acted as if it were surrounded by grains of the same size of itself, a grain that is twice the size of another grain would require twice the boundary shear stress to be mobilized. </a:t>
            </a:r>
          </a:p>
          <a:p>
            <a:pPr algn="l">
              <a:lnSpc>
                <a:spcPct val="114000"/>
              </a:lnSpc>
            </a:pPr>
            <a:endParaRPr lang="en-US" dirty="0">
              <a:latin typeface="Arial" panose="020B0604020202020204" pitchFamily="34" charset="0"/>
              <a:cs typeface="Arial" panose="020B0604020202020204" pitchFamily="34" charset="0"/>
            </a:endParaRPr>
          </a:p>
          <a:p>
            <a:pPr algn="l">
              <a:lnSpc>
                <a:spcPct val="114000"/>
              </a:lnSpc>
            </a:pPr>
            <a:r>
              <a:rPr lang="en-US" dirty="0">
                <a:latin typeface="Arial" panose="020B0604020202020204" pitchFamily="34" charset="0"/>
                <a:cs typeface="Arial" panose="020B0604020202020204" pitchFamily="34" charset="0"/>
              </a:rPr>
              <a:t>This behavior is called grain independence and it is only mediated by differing grain mass.  Large grains are harder to mobilize because they have more mass. </a:t>
            </a:r>
          </a:p>
        </p:txBody>
      </p:sp>
    </p:spTree>
    <p:extLst>
      <p:ext uri="{BB962C8B-B14F-4D97-AF65-F5344CB8AC3E}">
        <p14:creationId xmlns:p14="http://schemas.microsoft.com/office/powerpoint/2010/main" val="8823791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CD3FA2E-AD61-2C4B-8808-A1FF43CD3CD9}"/>
              </a:ext>
            </a:extLst>
          </p:cNvPr>
          <p:cNvSpPr/>
          <p:nvPr/>
        </p:nvSpPr>
        <p:spPr>
          <a:xfrm>
            <a:off x="6310118" y="4142550"/>
            <a:ext cx="4712065" cy="2114817"/>
          </a:xfrm>
          <a:prstGeom prst="rect">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18</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85351" y="136525"/>
            <a:ext cx="11800703"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Hiding/exposure</a:t>
            </a:r>
          </a:p>
        </p:txBody>
      </p:sp>
      <p:sp>
        <p:nvSpPr>
          <p:cNvPr id="9" name="TextBox 8">
            <a:extLst>
              <a:ext uri="{FF2B5EF4-FFF2-40B4-BE49-F238E27FC236}">
                <a16:creationId xmlns:a16="http://schemas.microsoft.com/office/drawing/2014/main" id="{1E817250-3C3A-BE4F-95CC-C14166F9648C}"/>
              </a:ext>
            </a:extLst>
          </p:cNvPr>
          <p:cNvSpPr txBox="1"/>
          <p:nvPr/>
        </p:nvSpPr>
        <p:spPr>
          <a:xfrm>
            <a:off x="580767" y="820523"/>
            <a:ext cx="11133437" cy="3223831"/>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A particle in a mixture does not act as if it was surrounded by particles with its grain size. </a:t>
            </a:r>
          </a:p>
          <a:p>
            <a:pPr algn="l">
              <a:lnSpc>
                <a:spcPct val="114000"/>
              </a:lnSpc>
            </a:pPr>
            <a:endParaRPr lang="en-US" dirty="0">
              <a:latin typeface="Arial" panose="020B0604020202020204" pitchFamily="34" charset="0"/>
              <a:cs typeface="Arial" panose="020B0604020202020204" pitchFamily="34" charset="0"/>
            </a:endParaRPr>
          </a:p>
          <a:p>
            <a:pPr algn="l">
              <a:lnSpc>
                <a:spcPct val="114000"/>
              </a:lnSpc>
            </a:pPr>
            <a:r>
              <a:rPr lang="en-US" dirty="0">
                <a:latin typeface="Arial" panose="020B0604020202020204" pitchFamily="34" charset="0"/>
                <a:cs typeface="Arial" panose="020B0604020202020204" pitchFamily="34" charset="0"/>
              </a:rPr>
              <a:t>Coarse particles are expected to protrude more into the flow compared to the case of uniform coarse sediment. Thus, coarse particles in a mixture feel a larger drag (see slide 11) than in the case of uniform coarse sediment and, consequently, tend to be more mobile than when they are surrounded by particles with the same coarse grain size (exposure effect). </a:t>
            </a:r>
          </a:p>
          <a:p>
            <a:pPr algn="l">
              <a:lnSpc>
                <a:spcPct val="114000"/>
              </a:lnSpc>
            </a:pPr>
            <a:endParaRPr lang="en-US" dirty="0">
              <a:latin typeface="Arial" panose="020B0604020202020204" pitchFamily="34" charset="0"/>
              <a:cs typeface="Arial" panose="020B0604020202020204" pitchFamily="34" charset="0"/>
            </a:endParaRPr>
          </a:p>
          <a:p>
            <a:pPr algn="l">
              <a:lnSpc>
                <a:spcPct val="114000"/>
              </a:lnSpc>
            </a:pPr>
            <a:r>
              <a:rPr lang="en-US" dirty="0">
                <a:latin typeface="Arial" panose="020B0604020202020204" pitchFamily="34" charset="0"/>
                <a:cs typeface="Arial" panose="020B0604020202020204" pitchFamily="34" charset="0"/>
              </a:rPr>
              <a:t>Fine particles tend to hide between coarse grains and, on average, feel a smaller drag compared to the case of uniform fine sediment. Consequently, fine particles in a mixture tend to be less mobile than in the case of uniform fine sediment (hiding effect). </a:t>
            </a:r>
          </a:p>
        </p:txBody>
      </p:sp>
      <p:sp>
        <p:nvSpPr>
          <p:cNvPr id="8" name="Oval 7">
            <a:extLst>
              <a:ext uri="{FF2B5EF4-FFF2-40B4-BE49-F238E27FC236}">
                <a16:creationId xmlns:a16="http://schemas.microsoft.com/office/drawing/2014/main" id="{D6DADD85-FDF0-974F-BB26-4D871A36FB81}"/>
              </a:ext>
            </a:extLst>
          </p:cNvPr>
          <p:cNvSpPr>
            <a:spLocks noChangeAspect="1"/>
          </p:cNvSpPr>
          <p:nvPr/>
        </p:nvSpPr>
        <p:spPr>
          <a:xfrm>
            <a:off x="7138021" y="6100503"/>
            <a:ext cx="518984" cy="518984"/>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5C6399BF-C831-614A-B015-9DC0EDA25B76}"/>
              </a:ext>
            </a:extLst>
          </p:cNvPr>
          <p:cNvSpPr>
            <a:spLocks noChangeAspect="1"/>
          </p:cNvSpPr>
          <p:nvPr/>
        </p:nvSpPr>
        <p:spPr>
          <a:xfrm>
            <a:off x="7996814" y="5853865"/>
            <a:ext cx="518984" cy="518984"/>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D4E5E8CC-453D-6748-8A01-C06AEC30B1D1}"/>
              </a:ext>
            </a:extLst>
          </p:cNvPr>
          <p:cNvSpPr>
            <a:spLocks noChangeAspect="1"/>
          </p:cNvSpPr>
          <p:nvPr/>
        </p:nvSpPr>
        <p:spPr>
          <a:xfrm>
            <a:off x="8653783" y="6209871"/>
            <a:ext cx="518984" cy="518984"/>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95C6CEB7-8EC5-254D-8333-943597B2D619}"/>
              </a:ext>
            </a:extLst>
          </p:cNvPr>
          <p:cNvSpPr>
            <a:spLocks noChangeAspect="1"/>
          </p:cNvSpPr>
          <p:nvPr/>
        </p:nvSpPr>
        <p:spPr>
          <a:xfrm>
            <a:off x="9461091" y="5938023"/>
            <a:ext cx="518984" cy="518984"/>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398FDEE4-09F0-584F-80E0-FA9D6E807993}"/>
              </a:ext>
            </a:extLst>
          </p:cNvPr>
          <p:cNvSpPr>
            <a:spLocks noChangeAspect="1"/>
          </p:cNvSpPr>
          <p:nvPr/>
        </p:nvSpPr>
        <p:spPr>
          <a:xfrm>
            <a:off x="9040963" y="5964304"/>
            <a:ext cx="411892" cy="411892"/>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97469E58-6938-7D49-A9EA-4F83AE7DC55E}"/>
              </a:ext>
            </a:extLst>
          </p:cNvPr>
          <p:cNvSpPr>
            <a:spLocks noChangeAspect="1"/>
          </p:cNvSpPr>
          <p:nvPr/>
        </p:nvSpPr>
        <p:spPr>
          <a:xfrm>
            <a:off x="10079960" y="5819644"/>
            <a:ext cx="411892" cy="411892"/>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C545CAC7-5430-904D-AF0E-A2947993D4C0}"/>
              </a:ext>
            </a:extLst>
          </p:cNvPr>
          <p:cNvSpPr>
            <a:spLocks noChangeAspect="1"/>
          </p:cNvSpPr>
          <p:nvPr/>
        </p:nvSpPr>
        <p:spPr>
          <a:xfrm>
            <a:off x="7657009" y="6175850"/>
            <a:ext cx="411892" cy="411892"/>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6064A32A-BE6E-A842-9CF4-E0A312DB4202}"/>
              </a:ext>
            </a:extLst>
          </p:cNvPr>
          <p:cNvSpPr>
            <a:spLocks noChangeAspect="1"/>
          </p:cNvSpPr>
          <p:nvPr/>
        </p:nvSpPr>
        <p:spPr>
          <a:xfrm>
            <a:off x="7574623" y="6041917"/>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E4CC02CA-3640-5643-80D0-F2827CE89BE1}"/>
              </a:ext>
            </a:extLst>
          </p:cNvPr>
          <p:cNvSpPr>
            <a:spLocks noChangeAspect="1"/>
          </p:cNvSpPr>
          <p:nvPr/>
        </p:nvSpPr>
        <p:spPr>
          <a:xfrm>
            <a:off x="8489035" y="6199855"/>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6A4B2C3C-9D91-144F-84EC-71953AFEE621}"/>
              </a:ext>
            </a:extLst>
          </p:cNvPr>
          <p:cNvSpPr>
            <a:spLocks noChangeAspect="1"/>
          </p:cNvSpPr>
          <p:nvPr/>
        </p:nvSpPr>
        <p:spPr>
          <a:xfrm>
            <a:off x="8539483" y="6000591"/>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21235A39-53FE-B342-8101-AAA624F52043}"/>
              </a:ext>
            </a:extLst>
          </p:cNvPr>
          <p:cNvSpPr>
            <a:spLocks noChangeAspect="1"/>
          </p:cNvSpPr>
          <p:nvPr/>
        </p:nvSpPr>
        <p:spPr>
          <a:xfrm>
            <a:off x="8720720" y="6049668"/>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CB5659DE-3726-EF4B-B5D9-5F85A8110E69}"/>
              </a:ext>
            </a:extLst>
          </p:cNvPr>
          <p:cNvSpPr>
            <a:spLocks noChangeAspect="1"/>
          </p:cNvSpPr>
          <p:nvPr/>
        </p:nvSpPr>
        <p:spPr>
          <a:xfrm>
            <a:off x="8910188" y="5964304"/>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FF9D7AB0-7EC0-7B4C-A529-27E0A875044E}"/>
              </a:ext>
            </a:extLst>
          </p:cNvPr>
          <p:cNvSpPr>
            <a:spLocks noChangeAspect="1"/>
          </p:cNvSpPr>
          <p:nvPr/>
        </p:nvSpPr>
        <p:spPr>
          <a:xfrm>
            <a:off x="10400205" y="6162012"/>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08CCB6B9-3E4C-4C4C-A340-75189C743E7B}"/>
              </a:ext>
            </a:extLst>
          </p:cNvPr>
          <p:cNvSpPr>
            <a:spLocks noChangeAspect="1"/>
          </p:cNvSpPr>
          <p:nvPr/>
        </p:nvSpPr>
        <p:spPr>
          <a:xfrm>
            <a:off x="9892557" y="5878315"/>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F0614BC0-53E9-394B-AC0E-D4564EF2B910}"/>
              </a:ext>
            </a:extLst>
          </p:cNvPr>
          <p:cNvSpPr>
            <a:spLocks noChangeAspect="1"/>
          </p:cNvSpPr>
          <p:nvPr/>
        </p:nvSpPr>
        <p:spPr>
          <a:xfrm>
            <a:off x="9368419" y="5865450"/>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976A5151-6A06-2E41-847D-E78E52C7D169}"/>
              </a:ext>
            </a:extLst>
          </p:cNvPr>
          <p:cNvSpPr>
            <a:spLocks noChangeAspect="1"/>
          </p:cNvSpPr>
          <p:nvPr/>
        </p:nvSpPr>
        <p:spPr>
          <a:xfrm>
            <a:off x="7784179" y="6031422"/>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E64E709-14F5-6D49-8F89-1B07687842C2}"/>
              </a:ext>
            </a:extLst>
          </p:cNvPr>
          <p:cNvSpPr>
            <a:spLocks noChangeAspect="1"/>
          </p:cNvSpPr>
          <p:nvPr/>
        </p:nvSpPr>
        <p:spPr>
          <a:xfrm>
            <a:off x="8390181" y="6297978"/>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17148884-E3E0-1746-8AE0-5E1AC7F3B871}"/>
              </a:ext>
            </a:extLst>
          </p:cNvPr>
          <p:cNvSpPr>
            <a:spLocks noChangeAspect="1"/>
          </p:cNvSpPr>
          <p:nvPr/>
        </p:nvSpPr>
        <p:spPr>
          <a:xfrm>
            <a:off x="9956941" y="6087125"/>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2B896FE3-D476-BA43-849C-069A5098D90C}"/>
              </a:ext>
            </a:extLst>
          </p:cNvPr>
          <p:cNvSpPr>
            <a:spLocks noChangeAspect="1"/>
          </p:cNvSpPr>
          <p:nvPr/>
        </p:nvSpPr>
        <p:spPr>
          <a:xfrm>
            <a:off x="9996042" y="6260866"/>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1824EEE2-223B-0042-B81A-815D2E46DBCA}"/>
              </a:ext>
            </a:extLst>
          </p:cNvPr>
          <p:cNvSpPr>
            <a:spLocks noChangeAspect="1"/>
          </p:cNvSpPr>
          <p:nvPr/>
        </p:nvSpPr>
        <p:spPr>
          <a:xfrm>
            <a:off x="10193750" y="6247376"/>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62D159E0-7E14-B340-8447-6C34A7A28641}"/>
              </a:ext>
            </a:extLst>
          </p:cNvPr>
          <p:cNvSpPr>
            <a:spLocks noChangeAspect="1"/>
          </p:cNvSpPr>
          <p:nvPr/>
        </p:nvSpPr>
        <p:spPr>
          <a:xfrm>
            <a:off x="7562278" y="6436275"/>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1044C42C-4657-8D4A-84C7-B070BDE032A4}"/>
              </a:ext>
            </a:extLst>
          </p:cNvPr>
          <p:cNvSpPr>
            <a:spLocks noChangeAspect="1"/>
          </p:cNvSpPr>
          <p:nvPr/>
        </p:nvSpPr>
        <p:spPr>
          <a:xfrm>
            <a:off x="7004239" y="6110836"/>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56A81B9A-47C5-E44C-93B7-B9D426B21616}"/>
              </a:ext>
            </a:extLst>
          </p:cNvPr>
          <p:cNvSpPr>
            <a:spLocks noChangeAspect="1"/>
          </p:cNvSpPr>
          <p:nvPr/>
        </p:nvSpPr>
        <p:spPr>
          <a:xfrm>
            <a:off x="9353494" y="6260866"/>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 name="Straight Connector 68">
            <a:extLst>
              <a:ext uri="{FF2B5EF4-FFF2-40B4-BE49-F238E27FC236}">
                <a16:creationId xmlns:a16="http://schemas.microsoft.com/office/drawing/2014/main" id="{CACF8A4C-2379-6844-B078-9F9D15BC84CB}"/>
              </a:ext>
            </a:extLst>
          </p:cNvPr>
          <p:cNvCxnSpPr/>
          <p:nvPr/>
        </p:nvCxnSpPr>
        <p:spPr>
          <a:xfrm>
            <a:off x="6784119" y="4135114"/>
            <a:ext cx="0" cy="20571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0" name="Freeform 69">
            <a:extLst>
              <a:ext uri="{FF2B5EF4-FFF2-40B4-BE49-F238E27FC236}">
                <a16:creationId xmlns:a16="http://schemas.microsoft.com/office/drawing/2014/main" id="{580FE802-6907-034C-A564-816D3EC6DCF6}"/>
              </a:ext>
            </a:extLst>
          </p:cNvPr>
          <p:cNvSpPr/>
          <p:nvPr/>
        </p:nvSpPr>
        <p:spPr>
          <a:xfrm>
            <a:off x="6882973" y="4148289"/>
            <a:ext cx="543698" cy="1902941"/>
          </a:xfrm>
          <a:custGeom>
            <a:avLst/>
            <a:gdLst>
              <a:gd name="connsiteX0" fmla="*/ 0 w 543698"/>
              <a:gd name="connsiteY0" fmla="*/ 1902941 h 1902941"/>
              <a:gd name="connsiteX1" fmla="*/ 148281 w 543698"/>
              <a:gd name="connsiteY1" fmla="*/ 1729946 h 1902941"/>
              <a:gd name="connsiteX2" fmla="*/ 321276 w 543698"/>
              <a:gd name="connsiteY2" fmla="*/ 1458097 h 1902941"/>
              <a:gd name="connsiteX3" fmla="*/ 444844 w 543698"/>
              <a:gd name="connsiteY3" fmla="*/ 1075038 h 1902941"/>
              <a:gd name="connsiteX4" fmla="*/ 506627 w 543698"/>
              <a:gd name="connsiteY4" fmla="*/ 580768 h 1902941"/>
              <a:gd name="connsiteX5" fmla="*/ 543698 w 543698"/>
              <a:gd name="connsiteY5" fmla="*/ 0 h 1902941"/>
              <a:gd name="connsiteX6" fmla="*/ 543698 w 543698"/>
              <a:gd name="connsiteY6" fmla="*/ 0 h 190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3698" h="1902941">
                <a:moveTo>
                  <a:pt x="0" y="1902941"/>
                </a:moveTo>
                <a:cubicBezTo>
                  <a:pt x="47367" y="1853514"/>
                  <a:pt x="94735" y="1804087"/>
                  <a:pt x="148281" y="1729946"/>
                </a:cubicBezTo>
                <a:cubicBezTo>
                  <a:pt x="201827" y="1655805"/>
                  <a:pt x="271849" y="1567248"/>
                  <a:pt x="321276" y="1458097"/>
                </a:cubicBezTo>
                <a:cubicBezTo>
                  <a:pt x="370703" y="1348946"/>
                  <a:pt x="413952" y="1221259"/>
                  <a:pt x="444844" y="1075038"/>
                </a:cubicBezTo>
                <a:cubicBezTo>
                  <a:pt x="475736" y="928817"/>
                  <a:pt x="490151" y="759941"/>
                  <a:pt x="506627" y="580768"/>
                </a:cubicBezTo>
                <a:cubicBezTo>
                  <a:pt x="523103" y="401595"/>
                  <a:pt x="543698" y="0"/>
                  <a:pt x="543698" y="0"/>
                </a:cubicBezTo>
                <a:lnTo>
                  <a:pt x="543698" y="0"/>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1" name="Straight Arrow Connector 70">
            <a:extLst>
              <a:ext uri="{FF2B5EF4-FFF2-40B4-BE49-F238E27FC236}">
                <a16:creationId xmlns:a16="http://schemas.microsoft.com/office/drawing/2014/main" id="{6EB28CE7-556D-AE44-BC78-F44D301D5414}"/>
              </a:ext>
            </a:extLst>
          </p:cNvPr>
          <p:cNvCxnSpPr>
            <a:cxnSpLocks/>
          </p:cNvCxnSpPr>
          <p:nvPr/>
        </p:nvCxnSpPr>
        <p:spPr>
          <a:xfrm flipV="1">
            <a:off x="6784119" y="5000056"/>
            <a:ext cx="597584" cy="1"/>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2" name="Rectangle 71">
                <a:extLst>
                  <a:ext uri="{FF2B5EF4-FFF2-40B4-BE49-F238E27FC236}">
                    <a16:creationId xmlns:a16="http://schemas.microsoft.com/office/drawing/2014/main" id="{89BDA22D-DF86-5845-BC29-122E391652DE}"/>
                  </a:ext>
                </a:extLst>
              </p:cNvPr>
              <p:cNvSpPr/>
              <p:nvPr/>
            </p:nvSpPr>
            <p:spPr>
              <a:xfrm>
                <a:off x="6751922" y="4654066"/>
                <a:ext cx="68422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d>
                        <m:dPr>
                          <m:ctrlPr>
                            <a:rPr lang="en-US"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𝑧</m:t>
                          </m:r>
                        </m:e>
                      </m:d>
                    </m:oMath>
                  </m:oMathPara>
                </a14:m>
                <a:endParaRPr lang="en-US" dirty="0"/>
              </a:p>
            </p:txBody>
          </p:sp>
        </mc:Choice>
        <mc:Fallback xmlns="">
          <p:sp>
            <p:nvSpPr>
              <p:cNvPr id="72" name="Rectangle 71">
                <a:extLst>
                  <a:ext uri="{FF2B5EF4-FFF2-40B4-BE49-F238E27FC236}">
                    <a16:creationId xmlns:a16="http://schemas.microsoft.com/office/drawing/2014/main" id="{89BDA22D-DF86-5845-BC29-122E391652DE}"/>
                  </a:ext>
                </a:extLst>
              </p:cNvPr>
              <p:cNvSpPr>
                <a:spLocks noRot="1" noChangeAspect="1" noMove="1" noResize="1" noEditPoints="1" noAdjustHandles="1" noChangeArrowheads="1" noChangeShapeType="1" noTextEdit="1"/>
              </p:cNvSpPr>
              <p:nvPr/>
            </p:nvSpPr>
            <p:spPr>
              <a:xfrm>
                <a:off x="6751922" y="4654066"/>
                <a:ext cx="684226" cy="369332"/>
              </a:xfrm>
              <a:prstGeom prst="rect">
                <a:avLst/>
              </a:prstGeom>
              <a:blipFill>
                <a:blip r:embed="rId3"/>
                <a:stretch>
                  <a:fillRect/>
                </a:stretch>
              </a:blipFill>
            </p:spPr>
            <p:txBody>
              <a:bodyPr/>
              <a:lstStyle/>
              <a:p>
                <a:r>
                  <a:rPr lang="en-US">
                    <a:noFill/>
                  </a:rPr>
                  <a:t> </a:t>
                </a:r>
              </a:p>
            </p:txBody>
          </p:sp>
        </mc:Fallback>
      </mc:AlternateContent>
      <p:cxnSp>
        <p:nvCxnSpPr>
          <p:cNvPr id="73" name="Straight Arrow Connector 72">
            <a:extLst>
              <a:ext uri="{FF2B5EF4-FFF2-40B4-BE49-F238E27FC236}">
                <a16:creationId xmlns:a16="http://schemas.microsoft.com/office/drawing/2014/main" id="{A229730E-D867-B244-8C42-1434A84F816A}"/>
              </a:ext>
            </a:extLst>
          </p:cNvPr>
          <p:cNvCxnSpPr/>
          <p:nvPr/>
        </p:nvCxnSpPr>
        <p:spPr>
          <a:xfrm flipV="1">
            <a:off x="6413413" y="5692884"/>
            <a:ext cx="0" cy="499384"/>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C0AD9843-636B-1747-BEED-F297C97431B6}"/>
              </a:ext>
            </a:extLst>
          </p:cNvPr>
          <p:cNvSpPr txBox="1"/>
          <p:nvPr/>
        </p:nvSpPr>
        <p:spPr>
          <a:xfrm>
            <a:off x="6130360" y="5592636"/>
            <a:ext cx="334786"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z</a:t>
            </a:r>
          </a:p>
        </p:txBody>
      </p:sp>
      <p:cxnSp>
        <p:nvCxnSpPr>
          <p:cNvPr id="83" name="Straight Connector 82">
            <a:extLst>
              <a:ext uri="{FF2B5EF4-FFF2-40B4-BE49-F238E27FC236}">
                <a16:creationId xmlns:a16="http://schemas.microsoft.com/office/drawing/2014/main" id="{0E2B9504-6945-AC42-87F0-313B249DBFA8}"/>
              </a:ext>
            </a:extLst>
          </p:cNvPr>
          <p:cNvCxnSpPr/>
          <p:nvPr/>
        </p:nvCxnSpPr>
        <p:spPr>
          <a:xfrm>
            <a:off x="5369975" y="6229130"/>
            <a:ext cx="673443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70260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19</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85351" y="136525"/>
            <a:ext cx="11800703"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Hiding/exposure</a:t>
            </a:r>
          </a:p>
        </p:txBody>
      </p:sp>
      <p:sp>
        <p:nvSpPr>
          <p:cNvPr id="9" name="TextBox 8">
            <a:extLst>
              <a:ext uri="{FF2B5EF4-FFF2-40B4-BE49-F238E27FC236}">
                <a16:creationId xmlns:a16="http://schemas.microsoft.com/office/drawing/2014/main" id="{1E817250-3C3A-BE4F-95CC-C14166F9648C}"/>
              </a:ext>
            </a:extLst>
          </p:cNvPr>
          <p:cNvSpPr txBox="1"/>
          <p:nvPr/>
        </p:nvSpPr>
        <p:spPr>
          <a:xfrm>
            <a:off x="580767" y="820523"/>
            <a:ext cx="11133437" cy="3223831"/>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A particle in a mixture does not act as if it was surrounded by particles with its grain size. </a:t>
            </a:r>
          </a:p>
          <a:p>
            <a:pPr algn="l">
              <a:lnSpc>
                <a:spcPct val="114000"/>
              </a:lnSpc>
            </a:pPr>
            <a:endParaRPr lang="en-US" dirty="0">
              <a:latin typeface="Arial" panose="020B0604020202020204" pitchFamily="34" charset="0"/>
              <a:cs typeface="Arial" panose="020B0604020202020204" pitchFamily="34" charset="0"/>
            </a:endParaRPr>
          </a:p>
          <a:p>
            <a:pPr algn="l">
              <a:lnSpc>
                <a:spcPct val="114000"/>
              </a:lnSpc>
            </a:pPr>
            <a:r>
              <a:rPr lang="en-US" dirty="0">
                <a:latin typeface="Arial" panose="020B0604020202020204" pitchFamily="34" charset="0"/>
                <a:cs typeface="Arial" panose="020B0604020202020204" pitchFamily="34" charset="0"/>
              </a:rPr>
              <a:t>Coarse particles are expected to protrude more into the flow compared to the case of uniform coarse sediment. Thus, coarse particles in a mixture feel a larger drag (see slide 11) than in the case of uniform coarse sediment and, consequently, tend to be more mobile than when they are surrounded by particles with the same coarse grain size (exposure effect). </a:t>
            </a:r>
          </a:p>
          <a:p>
            <a:pPr algn="l">
              <a:lnSpc>
                <a:spcPct val="114000"/>
              </a:lnSpc>
            </a:pPr>
            <a:endParaRPr lang="en-US" dirty="0">
              <a:latin typeface="Arial" panose="020B0604020202020204" pitchFamily="34" charset="0"/>
              <a:cs typeface="Arial" panose="020B0604020202020204" pitchFamily="34" charset="0"/>
            </a:endParaRPr>
          </a:p>
          <a:p>
            <a:pPr algn="l">
              <a:lnSpc>
                <a:spcPct val="114000"/>
              </a:lnSpc>
            </a:pPr>
            <a:r>
              <a:rPr lang="en-US" dirty="0">
                <a:latin typeface="Arial" panose="020B0604020202020204" pitchFamily="34" charset="0"/>
                <a:cs typeface="Arial" panose="020B0604020202020204" pitchFamily="34" charset="0"/>
              </a:rPr>
              <a:t>Fine particles tend to hide between coarse grains and, on average, feel a smaller drag compared to the case of uniform fine sediment. Consequently, fine particles in a mixture tend to be less mobile than in the case of uniform fine sediment (hiding effect). </a:t>
            </a:r>
          </a:p>
        </p:txBody>
      </p:sp>
      <p:sp>
        <p:nvSpPr>
          <p:cNvPr id="2" name="TextBox 1">
            <a:extLst>
              <a:ext uri="{FF2B5EF4-FFF2-40B4-BE49-F238E27FC236}">
                <a16:creationId xmlns:a16="http://schemas.microsoft.com/office/drawing/2014/main" id="{8966909D-2689-C441-A39A-E65B37BE19D8}"/>
              </a:ext>
            </a:extLst>
          </p:cNvPr>
          <p:cNvSpPr txBox="1"/>
          <p:nvPr/>
        </p:nvSpPr>
        <p:spPr>
          <a:xfrm>
            <a:off x="499140" y="4551974"/>
            <a:ext cx="5314540" cy="1013291"/>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Hiding/exposure effects reduce the difference between the critical boundary shear stress required to mobilize particles in a mixture.</a:t>
            </a:r>
          </a:p>
        </p:txBody>
      </p:sp>
      <p:sp>
        <p:nvSpPr>
          <p:cNvPr id="37" name="Rectangle 36">
            <a:extLst>
              <a:ext uri="{FF2B5EF4-FFF2-40B4-BE49-F238E27FC236}">
                <a16:creationId xmlns:a16="http://schemas.microsoft.com/office/drawing/2014/main" id="{1426E85C-8E88-A141-AC8E-ADC86FB138C5}"/>
              </a:ext>
            </a:extLst>
          </p:cNvPr>
          <p:cNvSpPr/>
          <p:nvPr/>
        </p:nvSpPr>
        <p:spPr>
          <a:xfrm>
            <a:off x="6310118" y="4142550"/>
            <a:ext cx="4712065" cy="2114817"/>
          </a:xfrm>
          <a:prstGeom prst="rect">
            <a:avLst/>
          </a:prstGeom>
          <a:solidFill>
            <a:srgbClr val="00B0F0"/>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059799D2-9203-6F44-9C72-06A566B032A5}"/>
              </a:ext>
            </a:extLst>
          </p:cNvPr>
          <p:cNvSpPr>
            <a:spLocks noChangeAspect="1"/>
          </p:cNvSpPr>
          <p:nvPr/>
        </p:nvSpPr>
        <p:spPr>
          <a:xfrm>
            <a:off x="7138021" y="6100503"/>
            <a:ext cx="518984" cy="518984"/>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4FAA1833-FBF9-B440-B648-47E333F615D0}"/>
              </a:ext>
            </a:extLst>
          </p:cNvPr>
          <p:cNvSpPr>
            <a:spLocks noChangeAspect="1"/>
          </p:cNvSpPr>
          <p:nvPr/>
        </p:nvSpPr>
        <p:spPr>
          <a:xfrm>
            <a:off x="7996814" y="5853865"/>
            <a:ext cx="518984" cy="518984"/>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8EDD9329-9D33-2C4A-964D-9225308FD4C1}"/>
              </a:ext>
            </a:extLst>
          </p:cNvPr>
          <p:cNvSpPr>
            <a:spLocks noChangeAspect="1"/>
          </p:cNvSpPr>
          <p:nvPr/>
        </p:nvSpPr>
        <p:spPr>
          <a:xfrm>
            <a:off x="8653783" y="6209871"/>
            <a:ext cx="518984" cy="518984"/>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1EBD63A9-1A57-3F42-9760-650FBF4F8E15}"/>
              </a:ext>
            </a:extLst>
          </p:cNvPr>
          <p:cNvSpPr>
            <a:spLocks noChangeAspect="1"/>
          </p:cNvSpPr>
          <p:nvPr/>
        </p:nvSpPr>
        <p:spPr>
          <a:xfrm>
            <a:off x="9461091" y="5938023"/>
            <a:ext cx="518984" cy="518984"/>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F366D292-B95F-E540-A637-5F2BF23265E9}"/>
              </a:ext>
            </a:extLst>
          </p:cNvPr>
          <p:cNvSpPr>
            <a:spLocks noChangeAspect="1"/>
          </p:cNvSpPr>
          <p:nvPr/>
        </p:nvSpPr>
        <p:spPr>
          <a:xfrm>
            <a:off x="9040963" y="5964304"/>
            <a:ext cx="411892" cy="411892"/>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A43B8E44-5ED4-0747-A4C6-B39A40EDA509}"/>
              </a:ext>
            </a:extLst>
          </p:cNvPr>
          <p:cNvSpPr>
            <a:spLocks noChangeAspect="1"/>
          </p:cNvSpPr>
          <p:nvPr/>
        </p:nvSpPr>
        <p:spPr>
          <a:xfrm>
            <a:off x="10079960" y="5819644"/>
            <a:ext cx="411892" cy="411892"/>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6FEFBCB3-13AC-6546-8DCD-7EA4C98D9B08}"/>
              </a:ext>
            </a:extLst>
          </p:cNvPr>
          <p:cNvSpPr>
            <a:spLocks noChangeAspect="1"/>
          </p:cNvSpPr>
          <p:nvPr/>
        </p:nvSpPr>
        <p:spPr>
          <a:xfrm>
            <a:off x="7657009" y="6175850"/>
            <a:ext cx="411892" cy="411892"/>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CDC34413-DF24-2041-A6FB-354698115A81}"/>
              </a:ext>
            </a:extLst>
          </p:cNvPr>
          <p:cNvSpPr>
            <a:spLocks noChangeAspect="1"/>
          </p:cNvSpPr>
          <p:nvPr/>
        </p:nvSpPr>
        <p:spPr>
          <a:xfrm>
            <a:off x="7574623" y="6041917"/>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5FB37184-C21A-C448-8E4C-21D1ECB22A01}"/>
              </a:ext>
            </a:extLst>
          </p:cNvPr>
          <p:cNvSpPr>
            <a:spLocks noChangeAspect="1"/>
          </p:cNvSpPr>
          <p:nvPr/>
        </p:nvSpPr>
        <p:spPr>
          <a:xfrm>
            <a:off x="8489035" y="6199855"/>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9C056A62-8084-3942-B31B-6AEF577F8B8C}"/>
              </a:ext>
            </a:extLst>
          </p:cNvPr>
          <p:cNvSpPr>
            <a:spLocks noChangeAspect="1"/>
          </p:cNvSpPr>
          <p:nvPr/>
        </p:nvSpPr>
        <p:spPr>
          <a:xfrm>
            <a:off x="8539483" y="6000591"/>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5A6C6C43-4BF6-4341-B054-DC1DC457DA0A}"/>
              </a:ext>
            </a:extLst>
          </p:cNvPr>
          <p:cNvSpPr>
            <a:spLocks noChangeAspect="1"/>
          </p:cNvSpPr>
          <p:nvPr/>
        </p:nvSpPr>
        <p:spPr>
          <a:xfrm>
            <a:off x="8720720" y="6049668"/>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Oval 63">
            <a:extLst>
              <a:ext uri="{FF2B5EF4-FFF2-40B4-BE49-F238E27FC236}">
                <a16:creationId xmlns:a16="http://schemas.microsoft.com/office/drawing/2014/main" id="{AD1AB9DE-05C5-BF49-B9EC-2D4518C85D9A}"/>
              </a:ext>
            </a:extLst>
          </p:cNvPr>
          <p:cNvSpPr>
            <a:spLocks noChangeAspect="1"/>
          </p:cNvSpPr>
          <p:nvPr/>
        </p:nvSpPr>
        <p:spPr>
          <a:xfrm>
            <a:off x="8910188" y="5964304"/>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C2DE2EF9-8960-9C40-80FC-75BA649D4019}"/>
              </a:ext>
            </a:extLst>
          </p:cNvPr>
          <p:cNvSpPr>
            <a:spLocks noChangeAspect="1"/>
          </p:cNvSpPr>
          <p:nvPr/>
        </p:nvSpPr>
        <p:spPr>
          <a:xfrm>
            <a:off x="10400205" y="6162012"/>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DBE28E08-5516-3548-B70E-5797B8ACA2AA}"/>
              </a:ext>
            </a:extLst>
          </p:cNvPr>
          <p:cNvSpPr>
            <a:spLocks noChangeAspect="1"/>
          </p:cNvSpPr>
          <p:nvPr/>
        </p:nvSpPr>
        <p:spPr>
          <a:xfrm>
            <a:off x="9892557" y="5878315"/>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C6EEF0F5-F15F-1D4F-A984-D65496F19DD9}"/>
              </a:ext>
            </a:extLst>
          </p:cNvPr>
          <p:cNvSpPr>
            <a:spLocks noChangeAspect="1"/>
          </p:cNvSpPr>
          <p:nvPr/>
        </p:nvSpPr>
        <p:spPr>
          <a:xfrm>
            <a:off x="9368419" y="5865450"/>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Oval 74">
            <a:extLst>
              <a:ext uri="{FF2B5EF4-FFF2-40B4-BE49-F238E27FC236}">
                <a16:creationId xmlns:a16="http://schemas.microsoft.com/office/drawing/2014/main" id="{97F702D6-AEBA-2B4C-958A-90AD2A205247}"/>
              </a:ext>
            </a:extLst>
          </p:cNvPr>
          <p:cNvSpPr>
            <a:spLocks noChangeAspect="1"/>
          </p:cNvSpPr>
          <p:nvPr/>
        </p:nvSpPr>
        <p:spPr>
          <a:xfrm>
            <a:off x="7784179" y="6031422"/>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4B37B37A-0371-9B42-A888-EC547C3A78C8}"/>
              </a:ext>
            </a:extLst>
          </p:cNvPr>
          <p:cNvSpPr>
            <a:spLocks noChangeAspect="1"/>
          </p:cNvSpPr>
          <p:nvPr/>
        </p:nvSpPr>
        <p:spPr>
          <a:xfrm>
            <a:off x="8390181" y="6297978"/>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Oval 76">
            <a:extLst>
              <a:ext uri="{FF2B5EF4-FFF2-40B4-BE49-F238E27FC236}">
                <a16:creationId xmlns:a16="http://schemas.microsoft.com/office/drawing/2014/main" id="{B93C886C-E288-DF40-8590-BD44AB310285}"/>
              </a:ext>
            </a:extLst>
          </p:cNvPr>
          <p:cNvSpPr>
            <a:spLocks noChangeAspect="1"/>
          </p:cNvSpPr>
          <p:nvPr/>
        </p:nvSpPr>
        <p:spPr>
          <a:xfrm>
            <a:off x="9956941" y="6087125"/>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E8302C23-CD68-FE44-95DD-301AAA2332E7}"/>
              </a:ext>
            </a:extLst>
          </p:cNvPr>
          <p:cNvSpPr>
            <a:spLocks noChangeAspect="1"/>
          </p:cNvSpPr>
          <p:nvPr/>
        </p:nvSpPr>
        <p:spPr>
          <a:xfrm>
            <a:off x="9996042" y="6260866"/>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00B15A98-F174-6944-AE76-1BE3DA192474}"/>
              </a:ext>
            </a:extLst>
          </p:cNvPr>
          <p:cNvSpPr>
            <a:spLocks noChangeAspect="1"/>
          </p:cNvSpPr>
          <p:nvPr/>
        </p:nvSpPr>
        <p:spPr>
          <a:xfrm>
            <a:off x="10193750" y="6247376"/>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C6C9FB22-F16F-114F-B465-14643BAB1E04}"/>
              </a:ext>
            </a:extLst>
          </p:cNvPr>
          <p:cNvSpPr>
            <a:spLocks noChangeAspect="1"/>
          </p:cNvSpPr>
          <p:nvPr/>
        </p:nvSpPr>
        <p:spPr>
          <a:xfrm>
            <a:off x="7562278" y="6436275"/>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942EF780-CE11-FF48-9B82-8A2FBE573E49}"/>
              </a:ext>
            </a:extLst>
          </p:cNvPr>
          <p:cNvSpPr>
            <a:spLocks noChangeAspect="1"/>
          </p:cNvSpPr>
          <p:nvPr/>
        </p:nvSpPr>
        <p:spPr>
          <a:xfrm>
            <a:off x="7004239" y="6110836"/>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7A01078A-796F-CE4D-ACFC-B9CF0A1527D6}"/>
              </a:ext>
            </a:extLst>
          </p:cNvPr>
          <p:cNvSpPr>
            <a:spLocks noChangeAspect="1"/>
          </p:cNvSpPr>
          <p:nvPr/>
        </p:nvSpPr>
        <p:spPr>
          <a:xfrm>
            <a:off x="9353494" y="6260866"/>
            <a:ext cx="197708" cy="197708"/>
          </a:xfrm>
          <a:prstGeom prst="ellipse">
            <a:avLst/>
          </a:prstGeom>
          <a:solidFill>
            <a:schemeClr val="accent4">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4" name="Straight Connector 83">
            <a:extLst>
              <a:ext uri="{FF2B5EF4-FFF2-40B4-BE49-F238E27FC236}">
                <a16:creationId xmlns:a16="http://schemas.microsoft.com/office/drawing/2014/main" id="{C0EEFDB7-D571-8D4B-B922-EAEF16847655}"/>
              </a:ext>
            </a:extLst>
          </p:cNvPr>
          <p:cNvCxnSpPr/>
          <p:nvPr/>
        </p:nvCxnSpPr>
        <p:spPr>
          <a:xfrm>
            <a:off x="6784119" y="4135114"/>
            <a:ext cx="0" cy="205715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5" name="Freeform 84">
            <a:extLst>
              <a:ext uri="{FF2B5EF4-FFF2-40B4-BE49-F238E27FC236}">
                <a16:creationId xmlns:a16="http://schemas.microsoft.com/office/drawing/2014/main" id="{A05D4E5E-5683-4348-99E3-F3F8CD8B810D}"/>
              </a:ext>
            </a:extLst>
          </p:cNvPr>
          <p:cNvSpPr/>
          <p:nvPr/>
        </p:nvSpPr>
        <p:spPr>
          <a:xfrm>
            <a:off x="6882973" y="4148289"/>
            <a:ext cx="543698" cy="1902941"/>
          </a:xfrm>
          <a:custGeom>
            <a:avLst/>
            <a:gdLst>
              <a:gd name="connsiteX0" fmla="*/ 0 w 543698"/>
              <a:gd name="connsiteY0" fmla="*/ 1902941 h 1902941"/>
              <a:gd name="connsiteX1" fmla="*/ 148281 w 543698"/>
              <a:gd name="connsiteY1" fmla="*/ 1729946 h 1902941"/>
              <a:gd name="connsiteX2" fmla="*/ 321276 w 543698"/>
              <a:gd name="connsiteY2" fmla="*/ 1458097 h 1902941"/>
              <a:gd name="connsiteX3" fmla="*/ 444844 w 543698"/>
              <a:gd name="connsiteY3" fmla="*/ 1075038 h 1902941"/>
              <a:gd name="connsiteX4" fmla="*/ 506627 w 543698"/>
              <a:gd name="connsiteY4" fmla="*/ 580768 h 1902941"/>
              <a:gd name="connsiteX5" fmla="*/ 543698 w 543698"/>
              <a:gd name="connsiteY5" fmla="*/ 0 h 1902941"/>
              <a:gd name="connsiteX6" fmla="*/ 543698 w 543698"/>
              <a:gd name="connsiteY6" fmla="*/ 0 h 19029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3698" h="1902941">
                <a:moveTo>
                  <a:pt x="0" y="1902941"/>
                </a:moveTo>
                <a:cubicBezTo>
                  <a:pt x="47367" y="1853514"/>
                  <a:pt x="94735" y="1804087"/>
                  <a:pt x="148281" y="1729946"/>
                </a:cubicBezTo>
                <a:cubicBezTo>
                  <a:pt x="201827" y="1655805"/>
                  <a:pt x="271849" y="1567248"/>
                  <a:pt x="321276" y="1458097"/>
                </a:cubicBezTo>
                <a:cubicBezTo>
                  <a:pt x="370703" y="1348946"/>
                  <a:pt x="413952" y="1221259"/>
                  <a:pt x="444844" y="1075038"/>
                </a:cubicBezTo>
                <a:cubicBezTo>
                  <a:pt x="475736" y="928817"/>
                  <a:pt x="490151" y="759941"/>
                  <a:pt x="506627" y="580768"/>
                </a:cubicBezTo>
                <a:cubicBezTo>
                  <a:pt x="523103" y="401595"/>
                  <a:pt x="543698" y="0"/>
                  <a:pt x="543698" y="0"/>
                </a:cubicBezTo>
                <a:lnTo>
                  <a:pt x="543698" y="0"/>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6" name="Straight Arrow Connector 85">
            <a:extLst>
              <a:ext uri="{FF2B5EF4-FFF2-40B4-BE49-F238E27FC236}">
                <a16:creationId xmlns:a16="http://schemas.microsoft.com/office/drawing/2014/main" id="{BE583DDD-C25A-CD4E-BBD0-5A04D85D6515}"/>
              </a:ext>
            </a:extLst>
          </p:cNvPr>
          <p:cNvCxnSpPr>
            <a:cxnSpLocks/>
          </p:cNvCxnSpPr>
          <p:nvPr/>
        </p:nvCxnSpPr>
        <p:spPr>
          <a:xfrm flipV="1">
            <a:off x="6784119" y="5000056"/>
            <a:ext cx="597584" cy="1"/>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7" name="Rectangle 86">
                <a:extLst>
                  <a:ext uri="{FF2B5EF4-FFF2-40B4-BE49-F238E27FC236}">
                    <a16:creationId xmlns:a16="http://schemas.microsoft.com/office/drawing/2014/main" id="{D1F5AFCF-F2BB-1240-967B-6F762E493FE8}"/>
                  </a:ext>
                </a:extLst>
              </p:cNvPr>
              <p:cNvSpPr/>
              <p:nvPr/>
            </p:nvSpPr>
            <p:spPr>
              <a:xfrm>
                <a:off x="6751922" y="4654066"/>
                <a:ext cx="68422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i="1" smtClean="0">
                              <a:latin typeface="Cambria Math" panose="02040503050406030204" pitchFamily="18" charset="0"/>
                              <a:cs typeface="Arial" panose="020B0604020202020204" pitchFamily="34" charset="0"/>
                            </a:rPr>
                          </m:ctrlPr>
                        </m:accPr>
                        <m:e>
                          <m:r>
                            <a:rPr lang="en-US" b="0" i="1" smtClean="0">
                              <a:latin typeface="Cambria Math" panose="02040503050406030204" pitchFamily="18" charset="0"/>
                              <a:cs typeface="Arial" panose="020B0604020202020204" pitchFamily="34" charset="0"/>
                            </a:rPr>
                            <m:t>𝑢</m:t>
                          </m:r>
                        </m:e>
                      </m:acc>
                      <m:d>
                        <m:dPr>
                          <m:ctrlPr>
                            <a:rPr lang="en-US" i="1" smtClean="0">
                              <a:latin typeface="Cambria Math" panose="02040503050406030204" pitchFamily="18" charset="0"/>
                              <a:cs typeface="Arial" panose="020B0604020202020204" pitchFamily="34" charset="0"/>
                            </a:rPr>
                          </m:ctrlPr>
                        </m:dPr>
                        <m:e>
                          <m:r>
                            <a:rPr lang="en-US" b="0" i="1" smtClean="0">
                              <a:latin typeface="Cambria Math" panose="02040503050406030204" pitchFamily="18" charset="0"/>
                              <a:cs typeface="Arial" panose="020B0604020202020204" pitchFamily="34" charset="0"/>
                            </a:rPr>
                            <m:t>𝑧</m:t>
                          </m:r>
                        </m:e>
                      </m:d>
                    </m:oMath>
                  </m:oMathPara>
                </a14:m>
                <a:endParaRPr lang="en-US" dirty="0"/>
              </a:p>
            </p:txBody>
          </p:sp>
        </mc:Choice>
        <mc:Fallback xmlns="">
          <p:sp>
            <p:nvSpPr>
              <p:cNvPr id="87" name="Rectangle 86">
                <a:extLst>
                  <a:ext uri="{FF2B5EF4-FFF2-40B4-BE49-F238E27FC236}">
                    <a16:creationId xmlns:a16="http://schemas.microsoft.com/office/drawing/2014/main" id="{D1F5AFCF-F2BB-1240-967B-6F762E493FE8}"/>
                  </a:ext>
                </a:extLst>
              </p:cNvPr>
              <p:cNvSpPr>
                <a:spLocks noRot="1" noChangeAspect="1" noMove="1" noResize="1" noEditPoints="1" noAdjustHandles="1" noChangeArrowheads="1" noChangeShapeType="1" noTextEdit="1"/>
              </p:cNvSpPr>
              <p:nvPr/>
            </p:nvSpPr>
            <p:spPr>
              <a:xfrm>
                <a:off x="6751922" y="4654066"/>
                <a:ext cx="684226" cy="369332"/>
              </a:xfrm>
              <a:prstGeom prst="rect">
                <a:avLst/>
              </a:prstGeom>
              <a:blipFill>
                <a:blip r:embed="rId3"/>
                <a:stretch>
                  <a:fillRect/>
                </a:stretch>
              </a:blipFill>
            </p:spPr>
            <p:txBody>
              <a:bodyPr/>
              <a:lstStyle/>
              <a:p>
                <a:r>
                  <a:rPr lang="en-US">
                    <a:noFill/>
                  </a:rPr>
                  <a:t> </a:t>
                </a:r>
              </a:p>
            </p:txBody>
          </p:sp>
        </mc:Fallback>
      </mc:AlternateContent>
      <p:cxnSp>
        <p:nvCxnSpPr>
          <p:cNvPr id="88" name="Straight Arrow Connector 87">
            <a:extLst>
              <a:ext uri="{FF2B5EF4-FFF2-40B4-BE49-F238E27FC236}">
                <a16:creationId xmlns:a16="http://schemas.microsoft.com/office/drawing/2014/main" id="{AFEBCB50-95A5-F64C-9179-4E478CB68433}"/>
              </a:ext>
            </a:extLst>
          </p:cNvPr>
          <p:cNvCxnSpPr/>
          <p:nvPr/>
        </p:nvCxnSpPr>
        <p:spPr>
          <a:xfrm flipV="1">
            <a:off x="6413413" y="5692884"/>
            <a:ext cx="0" cy="499384"/>
          </a:xfrm>
          <a:prstGeom prst="straightConnector1">
            <a:avLst/>
          </a:prstGeom>
          <a:ln w="19050">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BB33C358-021A-3043-95C5-769E26D723BD}"/>
              </a:ext>
            </a:extLst>
          </p:cNvPr>
          <p:cNvSpPr txBox="1"/>
          <p:nvPr/>
        </p:nvSpPr>
        <p:spPr>
          <a:xfrm>
            <a:off x="6130360" y="5592636"/>
            <a:ext cx="334786"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z</a:t>
            </a:r>
          </a:p>
        </p:txBody>
      </p:sp>
      <p:cxnSp>
        <p:nvCxnSpPr>
          <p:cNvPr id="90" name="Straight Connector 89">
            <a:extLst>
              <a:ext uri="{FF2B5EF4-FFF2-40B4-BE49-F238E27FC236}">
                <a16:creationId xmlns:a16="http://schemas.microsoft.com/office/drawing/2014/main" id="{0EA23B85-A61D-8A4F-89B8-C21E14D97FB2}"/>
              </a:ext>
            </a:extLst>
          </p:cNvPr>
          <p:cNvCxnSpPr/>
          <p:nvPr/>
        </p:nvCxnSpPr>
        <p:spPr>
          <a:xfrm>
            <a:off x="5369975" y="6229130"/>
            <a:ext cx="673443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66582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20</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85351" y="136525"/>
            <a:ext cx="11800703"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Hiding/exposure</a:t>
            </a:r>
          </a:p>
        </p:txBody>
      </p:sp>
      <p:sp>
        <p:nvSpPr>
          <p:cNvPr id="9" name="TextBox 8">
            <a:extLst>
              <a:ext uri="{FF2B5EF4-FFF2-40B4-BE49-F238E27FC236}">
                <a16:creationId xmlns:a16="http://schemas.microsoft.com/office/drawing/2014/main" id="{1E817250-3C3A-BE4F-95CC-C14166F9648C}"/>
              </a:ext>
            </a:extLst>
          </p:cNvPr>
          <p:cNvSpPr txBox="1"/>
          <p:nvPr/>
        </p:nvSpPr>
        <p:spPr>
          <a:xfrm>
            <a:off x="580767" y="820523"/>
            <a:ext cx="11133437"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To account for hiding/exposure effects, the relation between the critical boundary shear stress for particles with grain size D</a:t>
            </a:r>
            <a:r>
              <a:rPr lang="en-US" baseline="-25000" dirty="0">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and for the geometric mean size of the mixture D</a:t>
            </a:r>
            <a:r>
              <a:rPr lang="en-US" baseline="-25000" dirty="0">
                <a:latin typeface="Arial" panose="020B0604020202020204" pitchFamily="34" charset="0"/>
                <a:cs typeface="Arial" panose="020B0604020202020204" pitchFamily="34" charset="0"/>
              </a:rPr>
              <a:t>g</a:t>
            </a:r>
            <a:r>
              <a:rPr lang="en-US" dirty="0">
                <a:latin typeface="Arial" panose="020B0604020202020204" pitchFamily="34" charset="0"/>
                <a:cs typeface="Arial" panose="020B0604020202020204" pitchFamily="34" charset="0"/>
              </a:rPr>
              <a:t> is modified as</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9C830329-0C8D-2147-8849-64173F342358}"/>
                  </a:ext>
                </a:extLst>
              </p:cNvPr>
              <p:cNvSpPr txBox="1"/>
              <p:nvPr/>
            </p:nvSpPr>
            <p:spPr>
              <a:xfrm>
                <a:off x="699935" y="1678800"/>
                <a:ext cx="1633139" cy="778290"/>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cs typeface="Arial" panose="020B0604020202020204" pitchFamily="34" charset="0"/>
                                </a:rPr>
                                <m:t>𝑏𝑐𝑖</m:t>
                              </m:r>
                            </m:sub>
                          </m:sSub>
                        </m:num>
                        <m:den>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cs typeface="Arial" panose="020B0604020202020204" pitchFamily="34" charset="0"/>
                                </a:rPr>
                                <m:t>𝑏𝑐𝑔</m:t>
                              </m:r>
                            </m:sub>
                          </m:sSub>
                        </m:den>
                      </m:f>
                      <m:r>
                        <a:rPr lang="en-US" b="0" i="1" smtClean="0">
                          <a:latin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cs typeface="Arial" panose="020B0604020202020204" pitchFamily="34" charset="0"/>
                            </a:rPr>
                          </m:ctrlPr>
                        </m:sSupPr>
                        <m:e>
                          <m:d>
                            <m:dPr>
                              <m:ctrlPr>
                                <a:rPr lang="en-US" b="0" i="1" smtClean="0">
                                  <a:latin typeface="Cambria Math" panose="02040503050406030204" pitchFamily="18" charset="0"/>
                                  <a:cs typeface="Arial" panose="020B0604020202020204" pitchFamily="34" charset="0"/>
                                </a:rPr>
                              </m:ctrlPr>
                            </m:dPr>
                            <m:e>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𝐷</m:t>
                                      </m:r>
                                    </m:e>
                                    <m:sub>
                                      <m:r>
                                        <a:rPr lang="en-US" i="1">
                                          <a:latin typeface="Cambria Math" panose="02040503050406030204" pitchFamily="18" charset="0"/>
                                          <a:ea typeface="Cambria Math" panose="02040503050406030204" pitchFamily="18" charset="0"/>
                                          <a:cs typeface="Arial" panose="020B0604020202020204" pitchFamily="34" charset="0"/>
                                        </a:rPr>
                                        <m:t>𝑖</m:t>
                                      </m:r>
                                    </m:sub>
                                  </m:sSub>
                                </m:num>
                                <m:den>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𝐷</m:t>
                                      </m:r>
                                    </m:e>
                                    <m:sub>
                                      <m:r>
                                        <a:rPr lang="en-US" i="1">
                                          <a:latin typeface="Cambria Math" panose="02040503050406030204" pitchFamily="18" charset="0"/>
                                          <a:ea typeface="Cambria Math" panose="02040503050406030204" pitchFamily="18" charset="0"/>
                                          <a:cs typeface="Arial" panose="020B0604020202020204" pitchFamily="34" charset="0"/>
                                        </a:rPr>
                                        <m:t>𝑔</m:t>
                                      </m:r>
                                    </m:sub>
                                  </m:sSub>
                                </m:den>
                              </m:f>
                            </m:e>
                          </m:d>
                        </m:e>
                        <m:sup>
                          <m:r>
                            <a:rPr lang="en-US" b="0" i="1" smtClean="0">
                              <a:latin typeface="Cambria Math" panose="02040503050406030204" pitchFamily="18" charset="0"/>
                              <a:cs typeface="Arial" panose="020B0604020202020204" pitchFamily="34" charset="0"/>
                            </a:rPr>
                            <m:t>1−</m:t>
                          </m:r>
                          <m:r>
                            <a:rPr lang="en-US" b="0" i="1" smtClean="0">
                              <a:latin typeface="Cambria Math" panose="02040503050406030204" pitchFamily="18" charset="0"/>
                              <a:ea typeface="Cambria Math" panose="02040503050406030204" pitchFamily="18" charset="0"/>
                              <a:cs typeface="Arial" panose="020B0604020202020204" pitchFamily="34" charset="0"/>
                            </a:rPr>
                            <m:t>𝛾</m:t>
                          </m:r>
                        </m:sup>
                      </m:sSup>
                    </m:oMath>
                  </m:oMathPara>
                </a14:m>
                <a:endParaRPr lang="en-US" dirty="0">
                  <a:latin typeface="Arial" panose="020B0604020202020204" pitchFamily="34" charset="0"/>
                  <a:cs typeface="Arial" panose="020B0604020202020204" pitchFamily="34" charset="0"/>
                </a:endParaRPr>
              </a:p>
            </p:txBody>
          </p:sp>
        </mc:Choice>
        <mc:Fallback xmlns="">
          <p:sp>
            <p:nvSpPr>
              <p:cNvPr id="40" name="TextBox 39">
                <a:extLst>
                  <a:ext uri="{FF2B5EF4-FFF2-40B4-BE49-F238E27FC236}">
                    <a16:creationId xmlns:a16="http://schemas.microsoft.com/office/drawing/2014/main" id="{9C830329-0C8D-2147-8849-64173F342358}"/>
                  </a:ext>
                </a:extLst>
              </p:cNvPr>
              <p:cNvSpPr txBox="1">
                <a:spLocks noRot="1" noChangeAspect="1" noMove="1" noResize="1" noEditPoints="1" noAdjustHandles="1" noChangeArrowheads="1" noChangeShapeType="1" noTextEdit="1"/>
              </p:cNvSpPr>
              <p:nvPr/>
            </p:nvSpPr>
            <p:spPr>
              <a:xfrm>
                <a:off x="699935" y="1678800"/>
                <a:ext cx="1633139" cy="778290"/>
              </a:xfrm>
              <a:prstGeom prst="rect">
                <a:avLst/>
              </a:prstGeom>
              <a:blipFill>
                <a:blip r:embed="rId3"/>
                <a:stretch>
                  <a:fillRect l="-1550" r="-775" b="-8065"/>
                </a:stretch>
              </a:blipFill>
            </p:spPr>
            <p:txBody>
              <a:bodyPr/>
              <a:lstStyle/>
              <a:p>
                <a:r>
                  <a:rPr lang="en-US">
                    <a:noFill/>
                  </a:rPr>
                  <a:t> </a:t>
                </a:r>
              </a:p>
            </p:txBody>
          </p:sp>
        </mc:Fallback>
      </mc:AlternateContent>
      <p:sp>
        <p:nvSpPr>
          <p:cNvPr id="41" name="TextBox 40">
            <a:extLst>
              <a:ext uri="{FF2B5EF4-FFF2-40B4-BE49-F238E27FC236}">
                <a16:creationId xmlns:a16="http://schemas.microsoft.com/office/drawing/2014/main" id="{5D51A217-1A13-2246-8AC9-F3D361AB7AF1}"/>
              </a:ext>
            </a:extLst>
          </p:cNvPr>
          <p:cNvSpPr txBox="1"/>
          <p:nvPr/>
        </p:nvSpPr>
        <p:spPr>
          <a:xfrm>
            <a:off x="699935" y="2728440"/>
            <a:ext cx="11133437"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where </a:t>
            </a:r>
            <a:r>
              <a:rPr lang="en-US" dirty="0">
                <a:latin typeface="Symbol" pitchFamily="2" charset="2"/>
                <a:cs typeface="Arial" panose="020B0604020202020204" pitchFamily="34" charset="0"/>
              </a:rPr>
              <a:t>g</a:t>
            </a:r>
            <a:r>
              <a:rPr lang="en-US" dirty="0">
                <a:latin typeface="Arial" panose="020B0604020202020204" pitchFamily="34" charset="0"/>
                <a:cs typeface="Arial" panose="020B0604020202020204" pitchFamily="34" charset="0"/>
              </a:rPr>
              <a:t> is, in general, a number between 0 and 1.</a:t>
            </a:r>
          </a:p>
        </p:txBody>
      </p:sp>
    </p:spTree>
    <p:extLst>
      <p:ext uri="{BB962C8B-B14F-4D97-AF65-F5344CB8AC3E}">
        <p14:creationId xmlns:p14="http://schemas.microsoft.com/office/powerpoint/2010/main" val="31512309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21</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85351" y="136525"/>
            <a:ext cx="11800703"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Hiding/exposure</a:t>
            </a:r>
          </a:p>
        </p:txBody>
      </p:sp>
      <p:sp>
        <p:nvSpPr>
          <p:cNvPr id="9" name="TextBox 8">
            <a:extLst>
              <a:ext uri="{FF2B5EF4-FFF2-40B4-BE49-F238E27FC236}">
                <a16:creationId xmlns:a16="http://schemas.microsoft.com/office/drawing/2014/main" id="{1E817250-3C3A-BE4F-95CC-C14166F9648C}"/>
              </a:ext>
            </a:extLst>
          </p:cNvPr>
          <p:cNvSpPr txBox="1"/>
          <p:nvPr/>
        </p:nvSpPr>
        <p:spPr>
          <a:xfrm>
            <a:off x="580767" y="820523"/>
            <a:ext cx="11133437"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To account for hiding/exposure effects, the relation between the critical boundary shear stress for particles with grain size D</a:t>
            </a:r>
            <a:r>
              <a:rPr lang="en-US" baseline="-25000" dirty="0">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and for the geometric mean size of the mixture D</a:t>
            </a:r>
            <a:r>
              <a:rPr lang="en-US" baseline="-25000" dirty="0">
                <a:latin typeface="Arial" panose="020B0604020202020204" pitchFamily="34" charset="0"/>
                <a:cs typeface="Arial" panose="020B0604020202020204" pitchFamily="34" charset="0"/>
              </a:rPr>
              <a:t>g</a:t>
            </a:r>
            <a:r>
              <a:rPr lang="en-US" dirty="0">
                <a:latin typeface="Arial" panose="020B0604020202020204" pitchFamily="34" charset="0"/>
                <a:cs typeface="Arial" panose="020B0604020202020204" pitchFamily="34" charset="0"/>
              </a:rPr>
              <a:t> is modified as</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9C830329-0C8D-2147-8849-64173F342358}"/>
                  </a:ext>
                </a:extLst>
              </p:cNvPr>
              <p:cNvSpPr txBox="1"/>
              <p:nvPr/>
            </p:nvSpPr>
            <p:spPr>
              <a:xfrm>
                <a:off x="699935" y="1678800"/>
                <a:ext cx="1633139" cy="778290"/>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cs typeface="Arial" panose="020B0604020202020204" pitchFamily="34" charset="0"/>
                                </a:rPr>
                                <m:t>𝑏𝑐𝑖</m:t>
                              </m:r>
                            </m:sub>
                          </m:sSub>
                        </m:num>
                        <m:den>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cs typeface="Arial" panose="020B0604020202020204" pitchFamily="34" charset="0"/>
                                </a:rPr>
                                <m:t>𝑏𝑐𝑔</m:t>
                              </m:r>
                            </m:sub>
                          </m:sSub>
                        </m:den>
                      </m:f>
                      <m:r>
                        <a:rPr lang="en-US" b="0" i="1" smtClean="0">
                          <a:latin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cs typeface="Arial" panose="020B0604020202020204" pitchFamily="34" charset="0"/>
                            </a:rPr>
                          </m:ctrlPr>
                        </m:sSupPr>
                        <m:e>
                          <m:d>
                            <m:dPr>
                              <m:ctrlPr>
                                <a:rPr lang="en-US" b="0" i="1" smtClean="0">
                                  <a:latin typeface="Cambria Math" panose="02040503050406030204" pitchFamily="18" charset="0"/>
                                  <a:cs typeface="Arial" panose="020B0604020202020204" pitchFamily="34" charset="0"/>
                                </a:rPr>
                              </m:ctrlPr>
                            </m:dPr>
                            <m:e>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𝐷</m:t>
                                      </m:r>
                                    </m:e>
                                    <m:sub>
                                      <m:r>
                                        <a:rPr lang="en-US" i="1">
                                          <a:latin typeface="Cambria Math" panose="02040503050406030204" pitchFamily="18" charset="0"/>
                                          <a:ea typeface="Cambria Math" panose="02040503050406030204" pitchFamily="18" charset="0"/>
                                          <a:cs typeface="Arial" panose="020B0604020202020204" pitchFamily="34" charset="0"/>
                                        </a:rPr>
                                        <m:t>𝑖</m:t>
                                      </m:r>
                                    </m:sub>
                                  </m:sSub>
                                </m:num>
                                <m:den>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𝐷</m:t>
                                      </m:r>
                                    </m:e>
                                    <m:sub>
                                      <m:r>
                                        <a:rPr lang="en-US" i="1">
                                          <a:latin typeface="Cambria Math" panose="02040503050406030204" pitchFamily="18" charset="0"/>
                                          <a:ea typeface="Cambria Math" panose="02040503050406030204" pitchFamily="18" charset="0"/>
                                          <a:cs typeface="Arial" panose="020B0604020202020204" pitchFamily="34" charset="0"/>
                                        </a:rPr>
                                        <m:t>𝑔</m:t>
                                      </m:r>
                                    </m:sub>
                                  </m:sSub>
                                </m:den>
                              </m:f>
                            </m:e>
                          </m:d>
                        </m:e>
                        <m:sup>
                          <m:r>
                            <a:rPr lang="en-US" b="0" i="1" smtClean="0">
                              <a:latin typeface="Cambria Math" panose="02040503050406030204" pitchFamily="18" charset="0"/>
                              <a:cs typeface="Arial" panose="020B0604020202020204" pitchFamily="34" charset="0"/>
                            </a:rPr>
                            <m:t>1−</m:t>
                          </m:r>
                          <m:r>
                            <a:rPr lang="en-US" b="0" i="1" smtClean="0">
                              <a:latin typeface="Cambria Math" panose="02040503050406030204" pitchFamily="18" charset="0"/>
                              <a:ea typeface="Cambria Math" panose="02040503050406030204" pitchFamily="18" charset="0"/>
                              <a:cs typeface="Arial" panose="020B0604020202020204" pitchFamily="34" charset="0"/>
                            </a:rPr>
                            <m:t>𝛾</m:t>
                          </m:r>
                        </m:sup>
                      </m:sSup>
                    </m:oMath>
                  </m:oMathPara>
                </a14:m>
                <a:endParaRPr lang="en-US" dirty="0">
                  <a:latin typeface="Arial" panose="020B0604020202020204" pitchFamily="34" charset="0"/>
                  <a:cs typeface="Arial" panose="020B0604020202020204" pitchFamily="34" charset="0"/>
                </a:endParaRPr>
              </a:p>
            </p:txBody>
          </p:sp>
        </mc:Choice>
        <mc:Fallback xmlns="">
          <p:sp>
            <p:nvSpPr>
              <p:cNvPr id="40" name="TextBox 39">
                <a:extLst>
                  <a:ext uri="{FF2B5EF4-FFF2-40B4-BE49-F238E27FC236}">
                    <a16:creationId xmlns:a16="http://schemas.microsoft.com/office/drawing/2014/main" id="{9C830329-0C8D-2147-8849-64173F342358}"/>
                  </a:ext>
                </a:extLst>
              </p:cNvPr>
              <p:cNvSpPr txBox="1">
                <a:spLocks noRot="1" noChangeAspect="1" noMove="1" noResize="1" noEditPoints="1" noAdjustHandles="1" noChangeArrowheads="1" noChangeShapeType="1" noTextEdit="1"/>
              </p:cNvSpPr>
              <p:nvPr/>
            </p:nvSpPr>
            <p:spPr>
              <a:xfrm>
                <a:off x="699935" y="1678800"/>
                <a:ext cx="1633139" cy="778290"/>
              </a:xfrm>
              <a:prstGeom prst="rect">
                <a:avLst/>
              </a:prstGeom>
              <a:blipFill>
                <a:blip r:embed="rId3"/>
                <a:stretch>
                  <a:fillRect l="-1550" r="-775" b="-8065"/>
                </a:stretch>
              </a:blipFill>
            </p:spPr>
            <p:txBody>
              <a:bodyPr/>
              <a:lstStyle/>
              <a:p>
                <a:r>
                  <a:rPr lang="en-US">
                    <a:noFill/>
                  </a:rPr>
                  <a:t> </a:t>
                </a:r>
              </a:p>
            </p:txBody>
          </p:sp>
        </mc:Fallback>
      </mc:AlternateContent>
      <p:sp>
        <p:nvSpPr>
          <p:cNvPr id="41" name="TextBox 40">
            <a:extLst>
              <a:ext uri="{FF2B5EF4-FFF2-40B4-BE49-F238E27FC236}">
                <a16:creationId xmlns:a16="http://schemas.microsoft.com/office/drawing/2014/main" id="{5D51A217-1A13-2246-8AC9-F3D361AB7AF1}"/>
              </a:ext>
            </a:extLst>
          </p:cNvPr>
          <p:cNvSpPr txBox="1"/>
          <p:nvPr/>
        </p:nvSpPr>
        <p:spPr>
          <a:xfrm>
            <a:off x="699935" y="2728440"/>
            <a:ext cx="11133437"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where </a:t>
            </a:r>
            <a:r>
              <a:rPr lang="en-US" dirty="0">
                <a:latin typeface="Symbol" pitchFamily="2" charset="2"/>
                <a:cs typeface="Arial" panose="020B0604020202020204" pitchFamily="34" charset="0"/>
              </a:rPr>
              <a:t>g</a:t>
            </a:r>
            <a:r>
              <a:rPr lang="en-US" dirty="0">
                <a:latin typeface="Arial" panose="020B0604020202020204" pitchFamily="34" charset="0"/>
                <a:cs typeface="Arial" panose="020B0604020202020204" pitchFamily="34" charset="0"/>
              </a:rPr>
              <a:t> is, in general, a number between 0 and 1.</a:t>
            </a:r>
          </a:p>
        </p:txBody>
      </p:sp>
      <p:sp>
        <p:nvSpPr>
          <p:cNvPr id="7" name="TextBox 6">
            <a:extLst>
              <a:ext uri="{FF2B5EF4-FFF2-40B4-BE49-F238E27FC236}">
                <a16:creationId xmlns:a16="http://schemas.microsoft.com/office/drawing/2014/main" id="{7D3E787C-D81D-824F-A77C-D492123A4C81}"/>
              </a:ext>
            </a:extLst>
          </p:cNvPr>
          <p:cNvSpPr txBox="1"/>
          <p:nvPr/>
        </p:nvSpPr>
        <p:spPr>
          <a:xfrm>
            <a:off x="699935" y="3285800"/>
            <a:ext cx="11133437"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Recalling that			and</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4CB9007C-8B19-0244-A2E5-4426D051B4B8}"/>
                  </a:ext>
                </a:extLst>
              </p:cNvPr>
              <p:cNvSpPr/>
              <p:nvPr/>
            </p:nvSpPr>
            <p:spPr>
              <a:xfrm>
                <a:off x="2333074" y="3169967"/>
                <a:ext cx="1448089" cy="61337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cs typeface="Arial" panose="020B0604020202020204" pitchFamily="34" charset="0"/>
                            </a:rPr>
                          </m:ctrlPr>
                        </m:sSubSup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cs typeface="Arial" panose="020B0604020202020204" pitchFamily="34" charset="0"/>
                            </a:rPr>
                            <m:t>𝑐𝑖</m:t>
                          </m:r>
                        </m:sub>
                        <m:sup>
                          <m:r>
                            <a:rPr lang="en-US" i="1">
                              <a:latin typeface="Cambria Math" panose="02040503050406030204" pitchFamily="18" charset="0"/>
                              <a:cs typeface="Arial" panose="020B0604020202020204" pitchFamily="34" charset="0"/>
                            </a:rPr>
                            <m:t>∗</m:t>
                          </m:r>
                        </m:sup>
                      </m:sSubSup>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cs typeface="Arial" panose="020B0604020202020204" pitchFamily="34" charset="0"/>
                                </a:rPr>
                                <m:t>𝑏𝑐𝑖</m:t>
                              </m:r>
                            </m:sub>
                          </m:sSub>
                        </m:num>
                        <m:den>
                          <m:r>
                            <a:rPr lang="en-US"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𝑅𝑔</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𝐷</m:t>
                              </m:r>
                            </m:e>
                            <m:sub>
                              <m:r>
                                <a:rPr lang="en-US" b="0" i="1" smtClean="0">
                                  <a:latin typeface="Cambria Math" panose="02040503050406030204" pitchFamily="18" charset="0"/>
                                  <a:ea typeface="Cambria Math" panose="02040503050406030204" pitchFamily="18" charset="0"/>
                                  <a:cs typeface="Arial" panose="020B0604020202020204" pitchFamily="34" charset="0"/>
                                </a:rPr>
                                <m:t>𝑖</m:t>
                              </m:r>
                            </m:sub>
                          </m:sSub>
                        </m:den>
                      </m:f>
                    </m:oMath>
                  </m:oMathPara>
                </a14:m>
                <a:endParaRPr lang="en-US" dirty="0"/>
              </a:p>
            </p:txBody>
          </p:sp>
        </mc:Choice>
        <mc:Fallback xmlns="">
          <p:sp>
            <p:nvSpPr>
              <p:cNvPr id="2" name="Rectangle 1">
                <a:extLst>
                  <a:ext uri="{FF2B5EF4-FFF2-40B4-BE49-F238E27FC236}">
                    <a16:creationId xmlns:a16="http://schemas.microsoft.com/office/drawing/2014/main" id="{4CB9007C-8B19-0244-A2E5-4426D051B4B8}"/>
                  </a:ext>
                </a:extLst>
              </p:cNvPr>
              <p:cNvSpPr>
                <a:spLocks noRot="1" noChangeAspect="1" noMove="1" noResize="1" noEditPoints="1" noAdjustHandles="1" noChangeArrowheads="1" noChangeShapeType="1" noTextEdit="1"/>
              </p:cNvSpPr>
              <p:nvPr/>
            </p:nvSpPr>
            <p:spPr>
              <a:xfrm>
                <a:off x="2333074" y="3169967"/>
                <a:ext cx="1448089" cy="613373"/>
              </a:xfrm>
              <a:prstGeom prst="rect">
                <a:avLst/>
              </a:prstGeom>
              <a:blipFill>
                <a:blip r:embed="rId4"/>
                <a:stretch>
                  <a:fillRect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B4ED8E70-213E-B345-8A53-2BC9C7DC4509}"/>
                  </a:ext>
                </a:extLst>
              </p:cNvPr>
              <p:cNvSpPr/>
              <p:nvPr/>
            </p:nvSpPr>
            <p:spPr>
              <a:xfrm>
                <a:off x="5105106" y="3169967"/>
                <a:ext cx="1535036" cy="6513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cs typeface="Arial" panose="020B0604020202020204" pitchFamily="34" charset="0"/>
                            </a:rPr>
                          </m:ctrlPr>
                        </m:sSubSup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cs typeface="Arial" panose="020B0604020202020204" pitchFamily="34" charset="0"/>
                            </a:rPr>
                            <m:t>𝑐</m:t>
                          </m:r>
                          <m:r>
                            <a:rPr lang="en-US" b="0" i="1" smtClean="0">
                              <a:latin typeface="Cambria Math" panose="02040503050406030204" pitchFamily="18" charset="0"/>
                              <a:cs typeface="Arial" panose="020B0604020202020204" pitchFamily="34" charset="0"/>
                            </a:rPr>
                            <m:t>𝑔</m:t>
                          </m:r>
                        </m:sub>
                        <m:sup>
                          <m:r>
                            <a:rPr lang="en-US" i="1">
                              <a:latin typeface="Cambria Math" panose="02040503050406030204" pitchFamily="18" charset="0"/>
                              <a:cs typeface="Arial" panose="020B0604020202020204" pitchFamily="34" charset="0"/>
                            </a:rPr>
                            <m:t>∗</m:t>
                          </m:r>
                        </m:sup>
                      </m:sSubSup>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cs typeface="Arial" panose="020B0604020202020204" pitchFamily="34" charset="0"/>
                                </a:rPr>
                                <m:t>𝑏𝑐</m:t>
                              </m:r>
                              <m:r>
                                <a:rPr lang="en-US" b="0" i="1" smtClean="0">
                                  <a:latin typeface="Cambria Math" panose="02040503050406030204" pitchFamily="18" charset="0"/>
                                  <a:cs typeface="Arial" panose="020B0604020202020204" pitchFamily="34" charset="0"/>
                                </a:rPr>
                                <m:t>𝑔</m:t>
                              </m:r>
                            </m:sub>
                          </m:sSub>
                        </m:num>
                        <m:den>
                          <m:r>
                            <a:rPr lang="en-US"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𝑅𝑔</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𝐷</m:t>
                              </m:r>
                            </m:e>
                            <m:sub>
                              <m:r>
                                <a:rPr lang="en-US" b="0" i="1" smtClean="0">
                                  <a:latin typeface="Cambria Math" panose="02040503050406030204" pitchFamily="18" charset="0"/>
                                  <a:ea typeface="Cambria Math" panose="02040503050406030204" pitchFamily="18" charset="0"/>
                                  <a:cs typeface="Arial" panose="020B0604020202020204" pitchFamily="34" charset="0"/>
                                </a:rPr>
                                <m:t>𝑔</m:t>
                              </m:r>
                            </m:sub>
                          </m:sSub>
                        </m:den>
                      </m:f>
                    </m:oMath>
                  </m:oMathPara>
                </a14:m>
                <a:endParaRPr lang="en-US" dirty="0"/>
              </a:p>
            </p:txBody>
          </p:sp>
        </mc:Choice>
        <mc:Fallback xmlns="">
          <p:sp>
            <p:nvSpPr>
              <p:cNvPr id="10" name="Rectangle 9">
                <a:extLst>
                  <a:ext uri="{FF2B5EF4-FFF2-40B4-BE49-F238E27FC236}">
                    <a16:creationId xmlns:a16="http://schemas.microsoft.com/office/drawing/2014/main" id="{B4ED8E70-213E-B345-8A53-2BC9C7DC4509}"/>
                  </a:ext>
                </a:extLst>
              </p:cNvPr>
              <p:cNvSpPr>
                <a:spLocks noRot="1" noChangeAspect="1" noMove="1" noResize="1" noEditPoints="1" noAdjustHandles="1" noChangeArrowheads="1" noChangeShapeType="1" noTextEdit="1"/>
              </p:cNvSpPr>
              <p:nvPr/>
            </p:nvSpPr>
            <p:spPr>
              <a:xfrm>
                <a:off x="5105106" y="3169967"/>
                <a:ext cx="1535036" cy="651397"/>
              </a:xfrm>
              <a:prstGeom prst="rect">
                <a:avLst/>
              </a:prstGeom>
              <a:blipFill>
                <a:blip r:embed="rId5"/>
                <a:stretch>
                  <a:fillRect b="-3846"/>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BDFCC2CE-8755-D246-90AF-BF21C5CDD040}"/>
              </a:ext>
            </a:extLst>
          </p:cNvPr>
          <p:cNvSpPr txBox="1"/>
          <p:nvPr/>
        </p:nvSpPr>
        <p:spPr>
          <a:xfrm>
            <a:off x="699935" y="3882007"/>
            <a:ext cx="11133437"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relation between the critical Shields numbers in the case of sediment mixtures becomes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82B9E59-780F-3249-ACF8-5AAA51B4CEBF}"/>
                  </a:ext>
                </a:extLst>
              </p:cNvPr>
              <p:cNvSpPr txBox="1"/>
              <p:nvPr/>
            </p:nvSpPr>
            <p:spPr>
              <a:xfrm>
                <a:off x="796851" y="4276270"/>
                <a:ext cx="1439305" cy="753989"/>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sSubSup>
                            <m:sSubSupPr>
                              <m:ctrlPr>
                                <a:rPr lang="en-US" i="1" smtClean="0">
                                  <a:latin typeface="Cambria Math" panose="02040503050406030204" pitchFamily="18" charset="0"/>
                                  <a:cs typeface="Arial" panose="020B0604020202020204" pitchFamily="34" charset="0"/>
                                </a:rPr>
                              </m:ctrlPr>
                            </m:sSub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𝑐𝑖</m:t>
                              </m:r>
                            </m:sub>
                            <m:sup>
                              <m:r>
                                <a:rPr lang="en-US" b="0" i="1" smtClean="0">
                                  <a:latin typeface="Cambria Math" panose="02040503050406030204" pitchFamily="18" charset="0"/>
                                  <a:cs typeface="Arial" panose="020B0604020202020204" pitchFamily="34" charset="0"/>
                                </a:rPr>
                                <m:t>∗</m:t>
                              </m:r>
                            </m:sup>
                          </m:sSubSup>
                        </m:num>
                        <m:den>
                          <m:sSubSup>
                            <m:sSubSupPr>
                              <m:ctrlPr>
                                <a:rPr lang="en-US" i="1" smtClean="0">
                                  <a:latin typeface="Cambria Math" panose="02040503050406030204" pitchFamily="18" charset="0"/>
                                  <a:cs typeface="Arial" panose="020B0604020202020204" pitchFamily="34" charset="0"/>
                                </a:rPr>
                              </m:ctrlPr>
                            </m:sSub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𝑐𝑔</m:t>
                              </m:r>
                            </m:sub>
                            <m:sup>
                              <m:r>
                                <a:rPr lang="en-US" b="0" i="1" smtClean="0">
                                  <a:latin typeface="Cambria Math" panose="02040503050406030204" pitchFamily="18" charset="0"/>
                                  <a:cs typeface="Arial" panose="020B0604020202020204" pitchFamily="34" charset="0"/>
                                </a:rPr>
                                <m:t>∗</m:t>
                              </m:r>
                            </m:sup>
                          </m:sSubSup>
                        </m:den>
                      </m:f>
                      <m:r>
                        <a:rPr lang="en-US" b="0" i="1" smtClean="0">
                          <a:latin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cs typeface="Arial" panose="020B0604020202020204" pitchFamily="34" charset="0"/>
                            </a:rPr>
                          </m:ctrlPr>
                        </m:sSupPr>
                        <m:e>
                          <m:d>
                            <m:dPr>
                              <m:ctrlPr>
                                <a:rPr lang="en-US" b="0" i="1" smtClean="0">
                                  <a:latin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𝑖</m:t>
                                      </m:r>
                                    </m:sub>
                                  </m:sSub>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𝑔</m:t>
                                      </m:r>
                                    </m:sub>
                                  </m:sSub>
                                </m:den>
                              </m:f>
                            </m:e>
                          </m:d>
                        </m:e>
                        <m:sup>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𝛾</m:t>
                          </m:r>
                        </m:sup>
                      </m:sSup>
                    </m:oMath>
                  </m:oMathPara>
                </a14:m>
                <a:endParaRPr lang="en-US" dirty="0">
                  <a:latin typeface="Arial" panose="020B0604020202020204" pitchFamily="34" charset="0"/>
                  <a:cs typeface="Arial" panose="020B0604020202020204" pitchFamily="34" charset="0"/>
                </a:endParaRPr>
              </a:p>
            </p:txBody>
          </p:sp>
        </mc:Choice>
        <mc:Fallback xmlns="">
          <p:sp>
            <p:nvSpPr>
              <p:cNvPr id="3" name="TextBox 2">
                <a:extLst>
                  <a:ext uri="{FF2B5EF4-FFF2-40B4-BE49-F238E27FC236}">
                    <a16:creationId xmlns:a16="http://schemas.microsoft.com/office/drawing/2014/main" id="{682B9E59-780F-3249-ACF8-5AAA51B4CEBF}"/>
                  </a:ext>
                </a:extLst>
              </p:cNvPr>
              <p:cNvSpPr txBox="1">
                <a:spLocks noRot="1" noChangeAspect="1" noMove="1" noResize="1" noEditPoints="1" noAdjustHandles="1" noChangeArrowheads="1" noChangeShapeType="1" noTextEdit="1"/>
              </p:cNvSpPr>
              <p:nvPr/>
            </p:nvSpPr>
            <p:spPr>
              <a:xfrm>
                <a:off x="796851" y="4276270"/>
                <a:ext cx="1439305" cy="753989"/>
              </a:xfrm>
              <a:prstGeom prst="rect">
                <a:avLst/>
              </a:prstGeom>
              <a:blipFill>
                <a:blip r:embed="rId6"/>
                <a:stretch>
                  <a:fillRect l="-870" r="-870" b="-8333"/>
                </a:stretch>
              </a:blipFill>
            </p:spPr>
            <p:txBody>
              <a:bodyPr/>
              <a:lstStyle/>
              <a:p>
                <a:r>
                  <a:rPr lang="en-US">
                    <a:noFill/>
                  </a:rPr>
                  <a:t> </a:t>
                </a:r>
              </a:p>
            </p:txBody>
          </p:sp>
        </mc:Fallback>
      </mc:AlternateContent>
    </p:spTree>
    <p:extLst>
      <p:ext uri="{BB962C8B-B14F-4D97-AF65-F5344CB8AC3E}">
        <p14:creationId xmlns:p14="http://schemas.microsoft.com/office/powerpoint/2010/main" val="12765361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22</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85351" y="136525"/>
            <a:ext cx="11800703"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Hiding/exposure</a:t>
            </a:r>
          </a:p>
        </p:txBody>
      </p:sp>
      <p:sp>
        <p:nvSpPr>
          <p:cNvPr id="9" name="TextBox 8">
            <a:extLst>
              <a:ext uri="{FF2B5EF4-FFF2-40B4-BE49-F238E27FC236}">
                <a16:creationId xmlns:a16="http://schemas.microsoft.com/office/drawing/2014/main" id="{1E817250-3C3A-BE4F-95CC-C14166F9648C}"/>
              </a:ext>
            </a:extLst>
          </p:cNvPr>
          <p:cNvSpPr txBox="1"/>
          <p:nvPr/>
        </p:nvSpPr>
        <p:spPr>
          <a:xfrm>
            <a:off x="580767" y="820523"/>
            <a:ext cx="11133437"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To account for hiding/exposure effects, the relation between the critical boundary shear stress for particles with grain size D</a:t>
            </a:r>
            <a:r>
              <a:rPr lang="en-US" baseline="-25000" dirty="0">
                <a:latin typeface="Arial" panose="020B0604020202020204" pitchFamily="34" charset="0"/>
                <a:cs typeface="Arial" panose="020B0604020202020204" pitchFamily="34" charset="0"/>
              </a:rPr>
              <a:t>i</a:t>
            </a:r>
            <a:r>
              <a:rPr lang="en-US" dirty="0">
                <a:latin typeface="Arial" panose="020B0604020202020204" pitchFamily="34" charset="0"/>
                <a:cs typeface="Arial" panose="020B0604020202020204" pitchFamily="34" charset="0"/>
              </a:rPr>
              <a:t> and for the geometric mean size of the mixture D</a:t>
            </a:r>
            <a:r>
              <a:rPr lang="en-US" baseline="-25000" dirty="0">
                <a:latin typeface="Arial" panose="020B0604020202020204" pitchFamily="34" charset="0"/>
                <a:cs typeface="Arial" panose="020B0604020202020204" pitchFamily="34" charset="0"/>
              </a:rPr>
              <a:t>g</a:t>
            </a:r>
            <a:r>
              <a:rPr lang="en-US" dirty="0">
                <a:latin typeface="Arial" panose="020B0604020202020204" pitchFamily="34" charset="0"/>
                <a:cs typeface="Arial" panose="020B0604020202020204" pitchFamily="34" charset="0"/>
              </a:rPr>
              <a:t> is modified as</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9C830329-0C8D-2147-8849-64173F342358}"/>
                  </a:ext>
                </a:extLst>
              </p:cNvPr>
              <p:cNvSpPr txBox="1"/>
              <p:nvPr/>
            </p:nvSpPr>
            <p:spPr>
              <a:xfrm>
                <a:off x="699935" y="1678800"/>
                <a:ext cx="1633139" cy="778290"/>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cs typeface="Arial" panose="020B0604020202020204" pitchFamily="34" charset="0"/>
                                </a:rPr>
                                <m:t>𝑏𝑐𝑖</m:t>
                              </m:r>
                            </m:sub>
                          </m:sSub>
                        </m:num>
                        <m:den>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cs typeface="Arial" panose="020B0604020202020204" pitchFamily="34" charset="0"/>
                                </a:rPr>
                                <m:t>𝑏𝑐𝑔</m:t>
                              </m:r>
                            </m:sub>
                          </m:sSub>
                        </m:den>
                      </m:f>
                      <m:r>
                        <a:rPr lang="en-US" b="0" i="1" smtClean="0">
                          <a:latin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cs typeface="Arial" panose="020B0604020202020204" pitchFamily="34" charset="0"/>
                            </a:rPr>
                          </m:ctrlPr>
                        </m:sSupPr>
                        <m:e>
                          <m:d>
                            <m:dPr>
                              <m:ctrlPr>
                                <a:rPr lang="en-US" b="0" i="1" smtClean="0">
                                  <a:latin typeface="Cambria Math" panose="02040503050406030204" pitchFamily="18" charset="0"/>
                                  <a:cs typeface="Arial" panose="020B0604020202020204" pitchFamily="34" charset="0"/>
                                </a:rPr>
                              </m:ctrlPr>
                            </m:dPr>
                            <m:e>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𝐷</m:t>
                                      </m:r>
                                    </m:e>
                                    <m:sub>
                                      <m:r>
                                        <a:rPr lang="en-US" i="1">
                                          <a:latin typeface="Cambria Math" panose="02040503050406030204" pitchFamily="18" charset="0"/>
                                          <a:ea typeface="Cambria Math" panose="02040503050406030204" pitchFamily="18" charset="0"/>
                                          <a:cs typeface="Arial" panose="020B0604020202020204" pitchFamily="34" charset="0"/>
                                        </a:rPr>
                                        <m:t>𝑖</m:t>
                                      </m:r>
                                    </m:sub>
                                  </m:sSub>
                                </m:num>
                                <m:den>
                                  <m:sSub>
                                    <m:sSubPr>
                                      <m:ctrlPr>
                                        <a:rPr lang="en-US" i="1">
                                          <a:latin typeface="Cambria Math" panose="02040503050406030204" pitchFamily="18" charset="0"/>
                                          <a:ea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𝐷</m:t>
                                      </m:r>
                                    </m:e>
                                    <m:sub>
                                      <m:r>
                                        <a:rPr lang="en-US" i="1">
                                          <a:latin typeface="Cambria Math" panose="02040503050406030204" pitchFamily="18" charset="0"/>
                                          <a:ea typeface="Cambria Math" panose="02040503050406030204" pitchFamily="18" charset="0"/>
                                          <a:cs typeface="Arial" panose="020B0604020202020204" pitchFamily="34" charset="0"/>
                                        </a:rPr>
                                        <m:t>𝑔</m:t>
                                      </m:r>
                                    </m:sub>
                                  </m:sSub>
                                </m:den>
                              </m:f>
                            </m:e>
                          </m:d>
                        </m:e>
                        <m:sup>
                          <m:r>
                            <a:rPr lang="en-US" b="0" i="1" smtClean="0">
                              <a:latin typeface="Cambria Math" panose="02040503050406030204" pitchFamily="18" charset="0"/>
                              <a:cs typeface="Arial" panose="020B0604020202020204" pitchFamily="34" charset="0"/>
                            </a:rPr>
                            <m:t>1−</m:t>
                          </m:r>
                          <m:r>
                            <a:rPr lang="en-US" b="0" i="1" smtClean="0">
                              <a:latin typeface="Cambria Math" panose="02040503050406030204" pitchFamily="18" charset="0"/>
                              <a:ea typeface="Cambria Math" panose="02040503050406030204" pitchFamily="18" charset="0"/>
                              <a:cs typeface="Arial" panose="020B0604020202020204" pitchFamily="34" charset="0"/>
                            </a:rPr>
                            <m:t>𝛾</m:t>
                          </m:r>
                        </m:sup>
                      </m:sSup>
                    </m:oMath>
                  </m:oMathPara>
                </a14:m>
                <a:endParaRPr lang="en-US" dirty="0">
                  <a:latin typeface="Arial" panose="020B0604020202020204" pitchFamily="34" charset="0"/>
                  <a:cs typeface="Arial" panose="020B0604020202020204" pitchFamily="34" charset="0"/>
                </a:endParaRPr>
              </a:p>
            </p:txBody>
          </p:sp>
        </mc:Choice>
        <mc:Fallback xmlns="">
          <p:sp>
            <p:nvSpPr>
              <p:cNvPr id="40" name="TextBox 39">
                <a:extLst>
                  <a:ext uri="{FF2B5EF4-FFF2-40B4-BE49-F238E27FC236}">
                    <a16:creationId xmlns:a16="http://schemas.microsoft.com/office/drawing/2014/main" id="{9C830329-0C8D-2147-8849-64173F342358}"/>
                  </a:ext>
                </a:extLst>
              </p:cNvPr>
              <p:cNvSpPr txBox="1">
                <a:spLocks noRot="1" noChangeAspect="1" noMove="1" noResize="1" noEditPoints="1" noAdjustHandles="1" noChangeArrowheads="1" noChangeShapeType="1" noTextEdit="1"/>
              </p:cNvSpPr>
              <p:nvPr/>
            </p:nvSpPr>
            <p:spPr>
              <a:xfrm>
                <a:off x="699935" y="1678800"/>
                <a:ext cx="1633139" cy="778290"/>
              </a:xfrm>
              <a:prstGeom prst="rect">
                <a:avLst/>
              </a:prstGeom>
              <a:blipFill>
                <a:blip r:embed="rId3"/>
                <a:stretch>
                  <a:fillRect l="-1550" r="-775" b="-8065"/>
                </a:stretch>
              </a:blipFill>
            </p:spPr>
            <p:txBody>
              <a:bodyPr/>
              <a:lstStyle/>
              <a:p>
                <a:r>
                  <a:rPr lang="en-US">
                    <a:noFill/>
                  </a:rPr>
                  <a:t> </a:t>
                </a:r>
              </a:p>
            </p:txBody>
          </p:sp>
        </mc:Fallback>
      </mc:AlternateContent>
      <p:sp>
        <p:nvSpPr>
          <p:cNvPr id="41" name="TextBox 40">
            <a:extLst>
              <a:ext uri="{FF2B5EF4-FFF2-40B4-BE49-F238E27FC236}">
                <a16:creationId xmlns:a16="http://schemas.microsoft.com/office/drawing/2014/main" id="{5D51A217-1A13-2246-8AC9-F3D361AB7AF1}"/>
              </a:ext>
            </a:extLst>
          </p:cNvPr>
          <p:cNvSpPr txBox="1"/>
          <p:nvPr/>
        </p:nvSpPr>
        <p:spPr>
          <a:xfrm>
            <a:off x="699935" y="2728440"/>
            <a:ext cx="11133437"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where </a:t>
            </a:r>
            <a:r>
              <a:rPr lang="en-US" dirty="0">
                <a:latin typeface="Symbol" pitchFamily="2" charset="2"/>
                <a:cs typeface="Arial" panose="020B0604020202020204" pitchFamily="34" charset="0"/>
              </a:rPr>
              <a:t>g</a:t>
            </a:r>
            <a:r>
              <a:rPr lang="en-US" dirty="0">
                <a:latin typeface="Arial" panose="020B0604020202020204" pitchFamily="34" charset="0"/>
                <a:cs typeface="Arial" panose="020B0604020202020204" pitchFamily="34" charset="0"/>
              </a:rPr>
              <a:t> is, in general, a number between 0 and 1.</a:t>
            </a:r>
          </a:p>
        </p:txBody>
      </p:sp>
      <p:sp>
        <p:nvSpPr>
          <p:cNvPr id="7" name="TextBox 6">
            <a:extLst>
              <a:ext uri="{FF2B5EF4-FFF2-40B4-BE49-F238E27FC236}">
                <a16:creationId xmlns:a16="http://schemas.microsoft.com/office/drawing/2014/main" id="{7D3E787C-D81D-824F-A77C-D492123A4C81}"/>
              </a:ext>
            </a:extLst>
          </p:cNvPr>
          <p:cNvSpPr txBox="1"/>
          <p:nvPr/>
        </p:nvSpPr>
        <p:spPr>
          <a:xfrm>
            <a:off x="699935" y="3285800"/>
            <a:ext cx="11133437"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Recalling that			and</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4CB9007C-8B19-0244-A2E5-4426D051B4B8}"/>
                  </a:ext>
                </a:extLst>
              </p:cNvPr>
              <p:cNvSpPr/>
              <p:nvPr/>
            </p:nvSpPr>
            <p:spPr>
              <a:xfrm>
                <a:off x="2333074" y="3169967"/>
                <a:ext cx="1448089" cy="61337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cs typeface="Arial" panose="020B0604020202020204" pitchFamily="34" charset="0"/>
                            </a:rPr>
                          </m:ctrlPr>
                        </m:sSubSup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cs typeface="Arial" panose="020B0604020202020204" pitchFamily="34" charset="0"/>
                            </a:rPr>
                            <m:t>𝑐𝑖</m:t>
                          </m:r>
                        </m:sub>
                        <m:sup>
                          <m:r>
                            <a:rPr lang="en-US" i="1">
                              <a:latin typeface="Cambria Math" panose="02040503050406030204" pitchFamily="18" charset="0"/>
                              <a:cs typeface="Arial" panose="020B0604020202020204" pitchFamily="34" charset="0"/>
                            </a:rPr>
                            <m:t>∗</m:t>
                          </m:r>
                        </m:sup>
                      </m:sSubSup>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cs typeface="Arial" panose="020B0604020202020204" pitchFamily="34" charset="0"/>
                                </a:rPr>
                                <m:t>𝑏𝑐𝑖</m:t>
                              </m:r>
                            </m:sub>
                          </m:sSub>
                        </m:num>
                        <m:den>
                          <m:r>
                            <a:rPr lang="en-US"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𝑅𝑔</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𝐷</m:t>
                              </m:r>
                            </m:e>
                            <m:sub>
                              <m:r>
                                <a:rPr lang="en-US" b="0" i="1" smtClean="0">
                                  <a:latin typeface="Cambria Math" panose="02040503050406030204" pitchFamily="18" charset="0"/>
                                  <a:ea typeface="Cambria Math" panose="02040503050406030204" pitchFamily="18" charset="0"/>
                                  <a:cs typeface="Arial" panose="020B0604020202020204" pitchFamily="34" charset="0"/>
                                </a:rPr>
                                <m:t>𝑖</m:t>
                              </m:r>
                            </m:sub>
                          </m:sSub>
                        </m:den>
                      </m:f>
                    </m:oMath>
                  </m:oMathPara>
                </a14:m>
                <a:endParaRPr lang="en-US" dirty="0"/>
              </a:p>
            </p:txBody>
          </p:sp>
        </mc:Choice>
        <mc:Fallback xmlns="">
          <p:sp>
            <p:nvSpPr>
              <p:cNvPr id="2" name="Rectangle 1">
                <a:extLst>
                  <a:ext uri="{FF2B5EF4-FFF2-40B4-BE49-F238E27FC236}">
                    <a16:creationId xmlns:a16="http://schemas.microsoft.com/office/drawing/2014/main" id="{4CB9007C-8B19-0244-A2E5-4426D051B4B8}"/>
                  </a:ext>
                </a:extLst>
              </p:cNvPr>
              <p:cNvSpPr>
                <a:spLocks noRot="1" noChangeAspect="1" noMove="1" noResize="1" noEditPoints="1" noAdjustHandles="1" noChangeArrowheads="1" noChangeShapeType="1" noTextEdit="1"/>
              </p:cNvSpPr>
              <p:nvPr/>
            </p:nvSpPr>
            <p:spPr>
              <a:xfrm>
                <a:off x="2333074" y="3169967"/>
                <a:ext cx="1448089" cy="613373"/>
              </a:xfrm>
              <a:prstGeom prst="rect">
                <a:avLst/>
              </a:prstGeom>
              <a:blipFill>
                <a:blip r:embed="rId4"/>
                <a:stretch>
                  <a:fillRect b="-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B4ED8E70-213E-B345-8A53-2BC9C7DC4509}"/>
                  </a:ext>
                </a:extLst>
              </p:cNvPr>
              <p:cNvSpPr/>
              <p:nvPr/>
            </p:nvSpPr>
            <p:spPr>
              <a:xfrm>
                <a:off x="5105106" y="3169967"/>
                <a:ext cx="1535036" cy="65139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cs typeface="Arial" panose="020B0604020202020204" pitchFamily="34" charset="0"/>
                            </a:rPr>
                          </m:ctrlPr>
                        </m:sSubSup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cs typeface="Arial" panose="020B0604020202020204" pitchFamily="34" charset="0"/>
                            </a:rPr>
                            <m:t>𝑐</m:t>
                          </m:r>
                          <m:r>
                            <a:rPr lang="en-US" b="0" i="1" smtClean="0">
                              <a:latin typeface="Cambria Math" panose="02040503050406030204" pitchFamily="18" charset="0"/>
                              <a:cs typeface="Arial" panose="020B0604020202020204" pitchFamily="34" charset="0"/>
                            </a:rPr>
                            <m:t>𝑔</m:t>
                          </m:r>
                        </m:sub>
                        <m:sup>
                          <m:r>
                            <a:rPr lang="en-US" i="1">
                              <a:latin typeface="Cambria Math" panose="02040503050406030204" pitchFamily="18" charset="0"/>
                              <a:cs typeface="Arial" panose="020B0604020202020204" pitchFamily="34" charset="0"/>
                            </a:rPr>
                            <m:t>∗</m:t>
                          </m:r>
                        </m:sup>
                      </m:sSubSup>
                      <m:r>
                        <a:rPr lang="en-US" i="1">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sSub>
                            <m:sSubPr>
                              <m:ctrlPr>
                                <a:rPr lang="en-US" i="1">
                                  <a:latin typeface="Cambria Math" panose="02040503050406030204" pitchFamily="18" charset="0"/>
                                  <a:cs typeface="Arial" panose="020B0604020202020204" pitchFamily="34" charset="0"/>
                                </a:rPr>
                              </m:ctrlPr>
                            </m:sSubPr>
                            <m:e>
                              <m:r>
                                <a:rPr lang="en-US" i="1">
                                  <a:latin typeface="Cambria Math" panose="02040503050406030204" pitchFamily="18" charset="0"/>
                                  <a:ea typeface="Cambria Math" panose="02040503050406030204" pitchFamily="18" charset="0"/>
                                  <a:cs typeface="Arial" panose="020B0604020202020204" pitchFamily="34" charset="0"/>
                                </a:rPr>
                                <m:t>𝜏</m:t>
                              </m:r>
                            </m:e>
                            <m:sub>
                              <m:r>
                                <a:rPr lang="en-US" i="1">
                                  <a:latin typeface="Cambria Math" panose="02040503050406030204" pitchFamily="18" charset="0"/>
                                  <a:cs typeface="Arial" panose="020B0604020202020204" pitchFamily="34" charset="0"/>
                                </a:rPr>
                                <m:t>𝑏𝑐</m:t>
                              </m:r>
                              <m:r>
                                <a:rPr lang="en-US" b="0" i="1" smtClean="0">
                                  <a:latin typeface="Cambria Math" panose="02040503050406030204" pitchFamily="18" charset="0"/>
                                  <a:cs typeface="Arial" panose="020B0604020202020204" pitchFamily="34" charset="0"/>
                                </a:rPr>
                                <m:t>𝑔</m:t>
                              </m:r>
                            </m:sub>
                          </m:sSub>
                        </m:num>
                        <m:den>
                          <m:r>
                            <a:rPr lang="en-US" i="1" smtClean="0">
                              <a:latin typeface="Cambria Math" panose="02040503050406030204" pitchFamily="18" charset="0"/>
                              <a:ea typeface="Cambria Math" panose="02040503050406030204" pitchFamily="18" charset="0"/>
                              <a:cs typeface="Arial" panose="020B0604020202020204" pitchFamily="34" charset="0"/>
                            </a:rPr>
                            <m:t>𝜌</m:t>
                          </m:r>
                          <m:r>
                            <a:rPr lang="en-US" b="0" i="1" smtClean="0">
                              <a:latin typeface="Cambria Math" panose="02040503050406030204" pitchFamily="18" charset="0"/>
                              <a:ea typeface="Cambria Math" panose="02040503050406030204" pitchFamily="18" charset="0"/>
                              <a:cs typeface="Arial" panose="020B0604020202020204" pitchFamily="34" charset="0"/>
                            </a:rPr>
                            <m:t>𝑅𝑔</m:t>
                          </m:r>
                          <m:sSub>
                            <m:sSubPr>
                              <m:ctrlPr>
                                <a:rPr lang="en-US" b="0" i="1" smtClean="0">
                                  <a:latin typeface="Cambria Math" panose="02040503050406030204" pitchFamily="18" charset="0"/>
                                  <a:ea typeface="Cambria Math" panose="02040503050406030204" pitchFamily="18" charset="0"/>
                                  <a:cs typeface="Arial" panose="020B0604020202020204" pitchFamily="34" charset="0"/>
                                </a:rPr>
                              </m:ctrlPr>
                            </m:sSubPr>
                            <m:e>
                              <m:r>
                                <a:rPr lang="en-US" b="0" i="1" smtClean="0">
                                  <a:latin typeface="Cambria Math" panose="02040503050406030204" pitchFamily="18" charset="0"/>
                                  <a:ea typeface="Cambria Math" panose="02040503050406030204" pitchFamily="18" charset="0"/>
                                  <a:cs typeface="Arial" panose="020B0604020202020204" pitchFamily="34" charset="0"/>
                                </a:rPr>
                                <m:t>𝐷</m:t>
                              </m:r>
                            </m:e>
                            <m:sub>
                              <m:r>
                                <a:rPr lang="en-US" b="0" i="1" smtClean="0">
                                  <a:latin typeface="Cambria Math" panose="02040503050406030204" pitchFamily="18" charset="0"/>
                                  <a:ea typeface="Cambria Math" panose="02040503050406030204" pitchFamily="18" charset="0"/>
                                  <a:cs typeface="Arial" panose="020B0604020202020204" pitchFamily="34" charset="0"/>
                                </a:rPr>
                                <m:t>𝑔</m:t>
                              </m:r>
                            </m:sub>
                          </m:sSub>
                        </m:den>
                      </m:f>
                    </m:oMath>
                  </m:oMathPara>
                </a14:m>
                <a:endParaRPr lang="en-US" dirty="0"/>
              </a:p>
            </p:txBody>
          </p:sp>
        </mc:Choice>
        <mc:Fallback xmlns="">
          <p:sp>
            <p:nvSpPr>
              <p:cNvPr id="10" name="Rectangle 9">
                <a:extLst>
                  <a:ext uri="{FF2B5EF4-FFF2-40B4-BE49-F238E27FC236}">
                    <a16:creationId xmlns:a16="http://schemas.microsoft.com/office/drawing/2014/main" id="{B4ED8E70-213E-B345-8A53-2BC9C7DC4509}"/>
                  </a:ext>
                </a:extLst>
              </p:cNvPr>
              <p:cNvSpPr>
                <a:spLocks noRot="1" noChangeAspect="1" noMove="1" noResize="1" noEditPoints="1" noAdjustHandles="1" noChangeArrowheads="1" noChangeShapeType="1" noTextEdit="1"/>
              </p:cNvSpPr>
              <p:nvPr/>
            </p:nvSpPr>
            <p:spPr>
              <a:xfrm>
                <a:off x="5105106" y="3169967"/>
                <a:ext cx="1535036" cy="651397"/>
              </a:xfrm>
              <a:prstGeom prst="rect">
                <a:avLst/>
              </a:prstGeom>
              <a:blipFill>
                <a:blip r:embed="rId5"/>
                <a:stretch>
                  <a:fillRect b="-3846"/>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BDFCC2CE-8755-D246-90AF-BF21C5CDD040}"/>
              </a:ext>
            </a:extLst>
          </p:cNvPr>
          <p:cNvSpPr txBox="1"/>
          <p:nvPr/>
        </p:nvSpPr>
        <p:spPr>
          <a:xfrm>
            <a:off x="699935" y="3882007"/>
            <a:ext cx="11133437"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relation between the critical Shields numbers in the case of sediment mixtures becomes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682B9E59-780F-3249-ACF8-5AAA51B4CEBF}"/>
                  </a:ext>
                </a:extLst>
              </p:cNvPr>
              <p:cNvSpPr txBox="1"/>
              <p:nvPr/>
            </p:nvSpPr>
            <p:spPr>
              <a:xfrm>
                <a:off x="796851" y="4276270"/>
                <a:ext cx="1439305" cy="753989"/>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sSubSup>
                            <m:sSubSupPr>
                              <m:ctrlPr>
                                <a:rPr lang="en-US" i="1" smtClean="0">
                                  <a:latin typeface="Cambria Math" panose="02040503050406030204" pitchFamily="18" charset="0"/>
                                  <a:cs typeface="Arial" panose="020B0604020202020204" pitchFamily="34" charset="0"/>
                                </a:rPr>
                              </m:ctrlPr>
                            </m:sSub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𝑐𝑖</m:t>
                              </m:r>
                            </m:sub>
                            <m:sup>
                              <m:r>
                                <a:rPr lang="en-US" b="0" i="1" smtClean="0">
                                  <a:latin typeface="Cambria Math" panose="02040503050406030204" pitchFamily="18" charset="0"/>
                                  <a:cs typeface="Arial" panose="020B0604020202020204" pitchFamily="34" charset="0"/>
                                </a:rPr>
                                <m:t>∗</m:t>
                              </m:r>
                            </m:sup>
                          </m:sSubSup>
                        </m:num>
                        <m:den>
                          <m:sSubSup>
                            <m:sSubSupPr>
                              <m:ctrlPr>
                                <a:rPr lang="en-US" i="1" smtClean="0">
                                  <a:latin typeface="Cambria Math" panose="02040503050406030204" pitchFamily="18" charset="0"/>
                                  <a:cs typeface="Arial" panose="020B0604020202020204" pitchFamily="34" charset="0"/>
                                </a:rPr>
                              </m:ctrlPr>
                            </m:sSub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𝑐𝑔</m:t>
                              </m:r>
                            </m:sub>
                            <m:sup>
                              <m:r>
                                <a:rPr lang="en-US" b="0" i="1" smtClean="0">
                                  <a:latin typeface="Cambria Math" panose="02040503050406030204" pitchFamily="18" charset="0"/>
                                  <a:cs typeface="Arial" panose="020B0604020202020204" pitchFamily="34" charset="0"/>
                                </a:rPr>
                                <m:t>∗</m:t>
                              </m:r>
                            </m:sup>
                          </m:sSubSup>
                        </m:den>
                      </m:f>
                      <m:r>
                        <a:rPr lang="en-US" b="0" i="1" smtClean="0">
                          <a:latin typeface="Cambria Math" panose="02040503050406030204" pitchFamily="18" charset="0"/>
                          <a:cs typeface="Arial" panose="020B0604020202020204" pitchFamily="34" charset="0"/>
                        </a:rPr>
                        <m:t>=</m:t>
                      </m:r>
                      <m:sSup>
                        <m:sSupPr>
                          <m:ctrlPr>
                            <a:rPr lang="en-US" b="0" i="1" smtClean="0">
                              <a:latin typeface="Cambria Math" panose="02040503050406030204" pitchFamily="18" charset="0"/>
                              <a:cs typeface="Arial" panose="020B0604020202020204" pitchFamily="34" charset="0"/>
                            </a:rPr>
                          </m:ctrlPr>
                        </m:sSupPr>
                        <m:e>
                          <m:d>
                            <m:dPr>
                              <m:ctrlPr>
                                <a:rPr lang="en-US" b="0" i="1" smtClean="0">
                                  <a:latin typeface="Cambria Math" panose="02040503050406030204" pitchFamily="18" charset="0"/>
                                  <a:cs typeface="Arial" panose="020B0604020202020204" pitchFamily="34" charset="0"/>
                                </a:rPr>
                              </m:ctrlPr>
                            </m:dPr>
                            <m:e>
                              <m:f>
                                <m:fPr>
                                  <m:ctrlPr>
                                    <a:rPr lang="en-US" b="0" i="1" smtClean="0">
                                      <a:latin typeface="Cambria Math" panose="02040503050406030204" pitchFamily="18" charset="0"/>
                                      <a:cs typeface="Arial" panose="020B0604020202020204" pitchFamily="34" charset="0"/>
                                    </a:rPr>
                                  </m:ctrlPr>
                                </m:fPr>
                                <m:num>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𝑖</m:t>
                                      </m:r>
                                    </m:sub>
                                  </m:sSub>
                                </m:num>
                                <m:den>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𝑔</m:t>
                                      </m:r>
                                    </m:sub>
                                  </m:sSub>
                                </m:den>
                              </m:f>
                            </m:e>
                          </m:d>
                        </m:e>
                        <m:sup>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ea typeface="Cambria Math" panose="02040503050406030204" pitchFamily="18" charset="0"/>
                              <a:cs typeface="Arial" panose="020B0604020202020204" pitchFamily="34" charset="0"/>
                            </a:rPr>
                            <m:t>𝛾</m:t>
                          </m:r>
                        </m:sup>
                      </m:sSup>
                    </m:oMath>
                  </m:oMathPara>
                </a14:m>
                <a:endParaRPr lang="en-US" dirty="0">
                  <a:latin typeface="Arial" panose="020B0604020202020204" pitchFamily="34" charset="0"/>
                  <a:cs typeface="Arial" panose="020B0604020202020204" pitchFamily="34" charset="0"/>
                </a:endParaRPr>
              </a:p>
            </p:txBody>
          </p:sp>
        </mc:Choice>
        <mc:Fallback xmlns="">
          <p:sp>
            <p:nvSpPr>
              <p:cNvPr id="3" name="TextBox 2">
                <a:extLst>
                  <a:ext uri="{FF2B5EF4-FFF2-40B4-BE49-F238E27FC236}">
                    <a16:creationId xmlns:a16="http://schemas.microsoft.com/office/drawing/2014/main" id="{682B9E59-780F-3249-ACF8-5AAA51B4CEBF}"/>
                  </a:ext>
                </a:extLst>
              </p:cNvPr>
              <p:cNvSpPr txBox="1">
                <a:spLocks noRot="1" noChangeAspect="1" noMove="1" noResize="1" noEditPoints="1" noAdjustHandles="1" noChangeArrowheads="1" noChangeShapeType="1" noTextEdit="1"/>
              </p:cNvSpPr>
              <p:nvPr/>
            </p:nvSpPr>
            <p:spPr>
              <a:xfrm>
                <a:off x="796851" y="4276270"/>
                <a:ext cx="1439305" cy="753989"/>
              </a:xfrm>
              <a:prstGeom prst="rect">
                <a:avLst/>
              </a:prstGeom>
              <a:blipFill>
                <a:blip r:embed="rId6"/>
                <a:stretch>
                  <a:fillRect l="-870" r="-870" b="-8333"/>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41185D1E-E0D2-104B-B358-F2F2B9D5C2B8}"/>
              </a:ext>
            </a:extLst>
          </p:cNvPr>
          <p:cNvSpPr txBox="1"/>
          <p:nvPr/>
        </p:nvSpPr>
        <p:spPr>
          <a:xfrm>
            <a:off x="2341765" y="4276270"/>
            <a:ext cx="9372439" cy="2375522"/>
          </a:xfrm>
          <a:prstGeom prst="rect">
            <a:avLst/>
          </a:prstGeom>
          <a:noFill/>
        </p:spPr>
        <p:txBody>
          <a:bodyPr wrap="square" rtlCol="0">
            <a:spAutoFit/>
          </a:bodyPr>
          <a:lstStyle/>
          <a:p>
            <a:pPr algn="l">
              <a:lnSpc>
                <a:spcPct val="114000"/>
              </a:lnSpc>
            </a:pPr>
            <a:r>
              <a:rPr lang="en-US" sz="2000" b="1" dirty="0">
                <a:latin typeface="Symbol" pitchFamily="2" charset="2"/>
                <a:cs typeface="Arial" panose="020B0604020202020204" pitchFamily="34" charset="0"/>
              </a:rPr>
              <a:t>g</a:t>
            </a:r>
            <a:r>
              <a:rPr lang="en-US" b="1" dirty="0">
                <a:latin typeface="Arial" panose="020B0604020202020204" pitchFamily="34" charset="0"/>
                <a:cs typeface="Arial" panose="020B0604020202020204" pitchFamily="34" charset="0"/>
              </a:rPr>
              <a:t> = 0 </a:t>
            </a:r>
            <a:r>
              <a:rPr lang="en-US" dirty="0">
                <a:latin typeface="Arial" panose="020B0604020202020204" pitchFamily="34" charset="0"/>
                <a:cs typeface="Arial" panose="020B0604020202020204" pitchFamily="34" charset="0"/>
              </a:rPr>
              <a:t>corresponds to the case of grain independence: the critical Shields number is the same for all particle sizes and the critical bed shear stress linearly increases with the sediment size (larger grains are harder to move because they have more mass).</a:t>
            </a:r>
          </a:p>
          <a:p>
            <a:pPr>
              <a:lnSpc>
                <a:spcPct val="114000"/>
              </a:lnSpc>
            </a:pPr>
            <a:r>
              <a:rPr lang="en-US" sz="2000" b="1" dirty="0">
                <a:latin typeface="Symbol" pitchFamily="2" charset="2"/>
                <a:cs typeface="Arial" panose="020B0604020202020204" pitchFamily="34" charset="0"/>
              </a:rPr>
              <a:t>g</a:t>
            </a:r>
            <a:r>
              <a:rPr lang="en-US" b="1" dirty="0">
                <a:latin typeface="Arial" panose="020B0604020202020204" pitchFamily="34" charset="0"/>
                <a:cs typeface="Arial" panose="020B0604020202020204" pitchFamily="34" charset="0"/>
              </a:rPr>
              <a:t> = 1 </a:t>
            </a:r>
            <a:r>
              <a:rPr lang="en-US" dirty="0">
                <a:latin typeface="Arial" panose="020B0604020202020204" pitchFamily="34" charset="0"/>
                <a:cs typeface="Arial" panose="020B0604020202020204" pitchFamily="34" charset="0"/>
              </a:rPr>
              <a:t>corresponds to the equal threshold case: the critical Shields number </a:t>
            </a:r>
            <a:r>
              <a:rPr lang="en-US">
                <a:latin typeface="Arial" panose="020B0604020202020204" pitchFamily="34" charset="0"/>
                <a:cs typeface="Arial" panose="020B0604020202020204" pitchFamily="34" charset="0"/>
              </a:rPr>
              <a:t>linearly decreases </a:t>
            </a:r>
            <a:r>
              <a:rPr lang="en-US" dirty="0">
                <a:latin typeface="Arial" panose="020B0604020202020204" pitchFamily="34" charset="0"/>
                <a:cs typeface="Arial" panose="020B0604020202020204" pitchFamily="34" charset="0"/>
              </a:rPr>
              <a:t>with grain size and all the particles are mobilized at the same value of the boundary shear stress. </a:t>
            </a:r>
          </a:p>
          <a:p>
            <a:pPr>
              <a:lnSpc>
                <a:spcPct val="114000"/>
              </a:lnSpc>
            </a:pPr>
            <a:r>
              <a:rPr lang="en-US" dirty="0">
                <a:latin typeface="Arial" panose="020B0604020202020204" pitchFamily="34" charset="0"/>
                <a:cs typeface="Arial" panose="020B0604020202020204" pitchFamily="34" charset="0"/>
              </a:rPr>
              <a:t>In real rivers </a:t>
            </a:r>
            <a:r>
              <a:rPr lang="en-US" sz="2000" dirty="0">
                <a:latin typeface="Symbol" pitchFamily="2" charset="2"/>
                <a:cs typeface="Arial" panose="020B0604020202020204" pitchFamily="34" charset="0"/>
              </a:rPr>
              <a:t>g </a:t>
            </a:r>
            <a:r>
              <a:rPr lang="en-US" dirty="0">
                <a:latin typeface="Arial" panose="020B0604020202020204" pitchFamily="34" charset="0"/>
                <a:cs typeface="Arial" panose="020B0604020202020204" pitchFamily="34" charset="0"/>
              </a:rPr>
              <a:t>varies between 0 and 1 (but tends to be closer to 1). </a:t>
            </a:r>
          </a:p>
        </p:txBody>
      </p:sp>
    </p:spTree>
    <p:extLst>
      <p:ext uri="{BB962C8B-B14F-4D97-AF65-F5344CB8AC3E}">
        <p14:creationId xmlns:p14="http://schemas.microsoft.com/office/powerpoint/2010/main" val="9891091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23</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85351" y="136525"/>
            <a:ext cx="11800703"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Critical Shields number for mixtures of sediments differing in size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CF9367B-C27D-6A47-BA50-695DA3B7EABB}"/>
                  </a:ext>
                </a:extLst>
              </p:cNvPr>
              <p:cNvSpPr txBox="1"/>
              <p:nvPr/>
            </p:nvSpPr>
            <p:spPr>
              <a:xfrm>
                <a:off x="3222116" y="2804841"/>
                <a:ext cx="377924" cy="703206"/>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sSubSup>
                            <m:sSubSupPr>
                              <m:ctrlPr>
                                <a:rPr lang="en-US" i="1" smtClean="0">
                                  <a:latin typeface="Cambria Math" panose="02040503050406030204" pitchFamily="18" charset="0"/>
                                  <a:cs typeface="Arial" panose="020B0604020202020204" pitchFamily="34" charset="0"/>
                                </a:rPr>
                              </m:ctrlPr>
                            </m:sSub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𝑐𝑖</m:t>
                              </m:r>
                            </m:sub>
                            <m:sup>
                              <m:r>
                                <a:rPr lang="en-US" b="0" i="1" smtClean="0">
                                  <a:latin typeface="Cambria Math" panose="02040503050406030204" pitchFamily="18" charset="0"/>
                                  <a:cs typeface="Arial" panose="020B0604020202020204" pitchFamily="34" charset="0"/>
                                </a:rPr>
                                <m:t>∗</m:t>
                              </m:r>
                            </m:sup>
                          </m:sSubSup>
                        </m:num>
                        <m:den>
                          <m:sSubSup>
                            <m:sSubSupPr>
                              <m:ctrlPr>
                                <a:rPr lang="en-US" i="1" smtClean="0">
                                  <a:latin typeface="Cambria Math" panose="02040503050406030204" pitchFamily="18" charset="0"/>
                                  <a:cs typeface="Arial" panose="020B0604020202020204" pitchFamily="34" charset="0"/>
                                </a:rPr>
                              </m:ctrlPr>
                            </m:sSub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𝑐𝑔</m:t>
                              </m:r>
                            </m:sub>
                            <m:sup>
                              <m:r>
                                <a:rPr lang="en-US" b="0" i="1" smtClean="0">
                                  <a:latin typeface="Cambria Math" panose="02040503050406030204" pitchFamily="18" charset="0"/>
                                  <a:cs typeface="Arial" panose="020B0604020202020204" pitchFamily="34" charset="0"/>
                                </a:rPr>
                                <m:t>∗</m:t>
                              </m:r>
                            </m:sup>
                          </m:sSubSup>
                        </m:den>
                      </m:f>
                    </m:oMath>
                  </m:oMathPara>
                </a14:m>
                <a:endParaRPr lang="en-US" dirty="0">
                  <a:latin typeface="Arial" panose="020B0604020202020204" pitchFamily="34" charset="0"/>
                  <a:cs typeface="Arial" panose="020B0604020202020204" pitchFamily="34" charset="0"/>
                </a:endParaRPr>
              </a:p>
            </p:txBody>
          </p:sp>
        </mc:Choice>
        <mc:Fallback xmlns="">
          <p:sp>
            <p:nvSpPr>
              <p:cNvPr id="6" name="TextBox 5">
                <a:extLst>
                  <a:ext uri="{FF2B5EF4-FFF2-40B4-BE49-F238E27FC236}">
                    <a16:creationId xmlns:a16="http://schemas.microsoft.com/office/drawing/2014/main" id="{0CF9367B-C27D-6A47-BA50-695DA3B7EABB}"/>
                  </a:ext>
                </a:extLst>
              </p:cNvPr>
              <p:cNvSpPr txBox="1">
                <a:spLocks noRot="1" noChangeAspect="1" noMove="1" noResize="1" noEditPoints="1" noAdjustHandles="1" noChangeArrowheads="1" noChangeShapeType="1" noTextEdit="1"/>
              </p:cNvSpPr>
              <p:nvPr/>
            </p:nvSpPr>
            <p:spPr>
              <a:xfrm>
                <a:off x="3222116" y="2804841"/>
                <a:ext cx="377924" cy="703206"/>
              </a:xfrm>
              <a:prstGeom prst="rect">
                <a:avLst/>
              </a:prstGeom>
              <a:blipFill>
                <a:blip r:embed="rId3"/>
                <a:stretch>
                  <a:fillRect l="-3226" r="-3226" b="-89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3DE83F4-54AD-3742-9CE0-D4249EE54056}"/>
                  </a:ext>
                </a:extLst>
              </p:cNvPr>
              <p:cNvSpPr txBox="1"/>
              <p:nvPr/>
            </p:nvSpPr>
            <p:spPr>
              <a:xfrm>
                <a:off x="6777681" y="5371571"/>
                <a:ext cx="324063" cy="680507"/>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𝑖</m:t>
                              </m:r>
                            </m:sub>
                          </m:sSub>
                        </m:num>
                        <m:den>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𝑔</m:t>
                              </m:r>
                            </m:sub>
                          </m:sSub>
                        </m:den>
                      </m:f>
                    </m:oMath>
                  </m:oMathPara>
                </a14:m>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33DE83F4-54AD-3742-9CE0-D4249EE54056}"/>
                  </a:ext>
                </a:extLst>
              </p:cNvPr>
              <p:cNvSpPr txBox="1">
                <a:spLocks noRot="1" noChangeAspect="1" noMove="1" noResize="1" noEditPoints="1" noAdjustHandles="1" noChangeArrowheads="1" noChangeShapeType="1" noTextEdit="1"/>
              </p:cNvSpPr>
              <p:nvPr/>
            </p:nvSpPr>
            <p:spPr>
              <a:xfrm>
                <a:off x="6777681" y="5371571"/>
                <a:ext cx="324063" cy="680507"/>
              </a:xfrm>
              <a:prstGeom prst="rect">
                <a:avLst/>
              </a:prstGeom>
              <a:blipFill>
                <a:blip r:embed="rId4"/>
                <a:stretch>
                  <a:fillRect l="-14815" r="-3704" b="-9091"/>
                </a:stretch>
              </a:blipFill>
            </p:spPr>
            <p:txBody>
              <a:bodyPr/>
              <a:lstStyle/>
              <a:p>
                <a:r>
                  <a:rPr lang="en-US">
                    <a:noFill/>
                  </a:rPr>
                  <a:t> </a:t>
                </a:r>
              </a:p>
            </p:txBody>
          </p:sp>
        </mc:Fallback>
      </mc:AlternateContent>
      <p:graphicFrame>
        <p:nvGraphicFramePr>
          <p:cNvPr id="17" name="Chart 16">
            <a:extLst>
              <a:ext uri="{FF2B5EF4-FFF2-40B4-BE49-F238E27FC236}">
                <a16:creationId xmlns:a16="http://schemas.microsoft.com/office/drawing/2014/main" id="{D38AA219-6401-2649-BA82-8783F8F94C7B}"/>
              </a:ext>
            </a:extLst>
          </p:cNvPr>
          <p:cNvGraphicFramePr>
            <a:graphicFrameLocks/>
          </p:cNvGraphicFramePr>
          <p:nvPr/>
        </p:nvGraphicFramePr>
        <p:xfrm>
          <a:off x="3298825" y="1146175"/>
          <a:ext cx="5594350" cy="4565650"/>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1795678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24</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85351" y="136525"/>
            <a:ext cx="11800703"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Critical Shields number for mixtures of sediments differing in size</a:t>
            </a:r>
          </a:p>
        </p:txBody>
      </p:sp>
      <p:sp>
        <p:nvSpPr>
          <p:cNvPr id="2" name="TextBox 1">
            <a:extLst>
              <a:ext uri="{FF2B5EF4-FFF2-40B4-BE49-F238E27FC236}">
                <a16:creationId xmlns:a16="http://schemas.microsoft.com/office/drawing/2014/main" id="{2A7DBC7C-A923-3243-BA86-44D9A28F1AE0}"/>
              </a:ext>
            </a:extLst>
          </p:cNvPr>
          <p:cNvSpPr txBox="1"/>
          <p:nvPr/>
        </p:nvSpPr>
        <p:spPr>
          <a:xfrm>
            <a:off x="642552" y="827903"/>
            <a:ext cx="4794422" cy="4171206"/>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Laboratory experiments and field measurements suggest that a single power law may not be sufficient to describe the variability of the critical Shields number for sediment mixtures. </a:t>
            </a:r>
          </a:p>
          <a:p>
            <a:pPr algn="l">
              <a:lnSpc>
                <a:spcPct val="114000"/>
              </a:lnSpc>
            </a:pPr>
            <a:endParaRPr lang="en-US" dirty="0">
              <a:latin typeface="Arial" panose="020B0604020202020204" pitchFamily="34" charset="0"/>
              <a:cs typeface="Arial" panose="020B0604020202020204" pitchFamily="34" charset="0"/>
            </a:endParaRPr>
          </a:p>
          <a:p>
            <a:pPr algn="l">
              <a:lnSpc>
                <a:spcPct val="114000"/>
              </a:lnSpc>
            </a:pPr>
            <a:r>
              <a:rPr lang="en-US" dirty="0">
                <a:latin typeface="Arial" panose="020B0604020202020204" pitchFamily="34" charset="0"/>
                <a:cs typeface="Arial" panose="020B0604020202020204" pitchFamily="34" charset="0"/>
              </a:rPr>
              <a:t>In particular, as the sediment coarsen, the variability of the critical Shields number with the sediment size decreases. In other words, gamma tends to decrease so that the coarsest fractions tend toward a condition of size independence with a critical Shields number close to 0.015 – 0.02. </a:t>
            </a:r>
          </a:p>
        </p:txBody>
      </p:sp>
      <p:graphicFrame>
        <p:nvGraphicFramePr>
          <p:cNvPr id="9" name="Chart 8">
            <a:extLst>
              <a:ext uri="{FF2B5EF4-FFF2-40B4-BE49-F238E27FC236}">
                <a16:creationId xmlns:a16="http://schemas.microsoft.com/office/drawing/2014/main" id="{D38AA219-6401-2649-BA82-8783F8F94C7B}"/>
              </a:ext>
            </a:extLst>
          </p:cNvPr>
          <p:cNvGraphicFramePr>
            <a:graphicFrameLocks/>
          </p:cNvGraphicFramePr>
          <p:nvPr>
            <p:extLst>
              <p:ext uri="{D42A27DB-BD31-4B8C-83A1-F6EECF244321}">
                <p14:modId xmlns:p14="http://schemas.microsoft.com/office/powerpoint/2010/main" val="712035049"/>
              </p:ext>
            </p:extLst>
          </p:nvPr>
        </p:nvGraphicFramePr>
        <p:xfrm>
          <a:off x="5813425" y="984721"/>
          <a:ext cx="5594350" cy="4565650"/>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F05A3D2-2F6F-DC46-96D5-1B14751EBF5D}"/>
                  </a:ext>
                </a:extLst>
              </p:cNvPr>
              <p:cNvSpPr txBox="1"/>
              <p:nvPr/>
            </p:nvSpPr>
            <p:spPr>
              <a:xfrm>
                <a:off x="5813425" y="2643387"/>
                <a:ext cx="377924" cy="703206"/>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sSubSup>
                            <m:sSubSupPr>
                              <m:ctrlPr>
                                <a:rPr lang="en-US" i="1" smtClean="0">
                                  <a:latin typeface="Cambria Math" panose="02040503050406030204" pitchFamily="18" charset="0"/>
                                  <a:cs typeface="Arial" panose="020B0604020202020204" pitchFamily="34" charset="0"/>
                                </a:rPr>
                              </m:ctrlPr>
                            </m:sSub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𝑐𝑖</m:t>
                              </m:r>
                            </m:sub>
                            <m:sup>
                              <m:r>
                                <a:rPr lang="en-US" b="0" i="1" smtClean="0">
                                  <a:latin typeface="Cambria Math" panose="02040503050406030204" pitchFamily="18" charset="0"/>
                                  <a:cs typeface="Arial" panose="020B0604020202020204" pitchFamily="34" charset="0"/>
                                </a:rPr>
                                <m:t>∗</m:t>
                              </m:r>
                            </m:sup>
                          </m:sSubSup>
                        </m:num>
                        <m:den>
                          <m:sSubSup>
                            <m:sSubSupPr>
                              <m:ctrlPr>
                                <a:rPr lang="en-US" i="1" smtClean="0">
                                  <a:latin typeface="Cambria Math" panose="02040503050406030204" pitchFamily="18" charset="0"/>
                                  <a:cs typeface="Arial" panose="020B0604020202020204" pitchFamily="34" charset="0"/>
                                </a:rPr>
                              </m:ctrlPr>
                            </m:sSub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𝑐𝑔</m:t>
                              </m:r>
                            </m:sub>
                            <m:sup>
                              <m:r>
                                <a:rPr lang="en-US" b="0" i="1" smtClean="0">
                                  <a:latin typeface="Cambria Math" panose="02040503050406030204" pitchFamily="18" charset="0"/>
                                  <a:cs typeface="Arial" panose="020B0604020202020204" pitchFamily="34" charset="0"/>
                                </a:rPr>
                                <m:t>∗</m:t>
                              </m:r>
                            </m:sup>
                          </m:sSubSup>
                        </m:den>
                      </m:f>
                    </m:oMath>
                  </m:oMathPara>
                </a14:m>
                <a:endParaRPr lang="en-US" dirty="0">
                  <a:latin typeface="Arial" panose="020B0604020202020204" pitchFamily="34" charset="0"/>
                  <a:cs typeface="Arial" panose="020B0604020202020204" pitchFamily="34" charset="0"/>
                </a:endParaRPr>
              </a:p>
            </p:txBody>
          </p:sp>
        </mc:Choice>
        <mc:Fallback xmlns="">
          <p:sp>
            <p:nvSpPr>
              <p:cNvPr id="10" name="TextBox 9">
                <a:extLst>
                  <a:ext uri="{FF2B5EF4-FFF2-40B4-BE49-F238E27FC236}">
                    <a16:creationId xmlns:a16="http://schemas.microsoft.com/office/drawing/2014/main" id="{9F05A3D2-2F6F-DC46-96D5-1B14751EBF5D}"/>
                  </a:ext>
                </a:extLst>
              </p:cNvPr>
              <p:cNvSpPr txBox="1">
                <a:spLocks noRot="1" noChangeAspect="1" noMove="1" noResize="1" noEditPoints="1" noAdjustHandles="1" noChangeArrowheads="1" noChangeShapeType="1" noTextEdit="1"/>
              </p:cNvSpPr>
              <p:nvPr/>
            </p:nvSpPr>
            <p:spPr>
              <a:xfrm>
                <a:off x="5813425" y="2643387"/>
                <a:ext cx="377924" cy="703206"/>
              </a:xfrm>
              <a:prstGeom prst="rect">
                <a:avLst/>
              </a:prstGeom>
              <a:blipFill>
                <a:blip r:embed="rId4"/>
                <a:stretch>
                  <a:fillRect l="-3226" r="-3226" b="-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D5FB82E-63C3-0743-A204-A156DDA90302}"/>
                  </a:ext>
                </a:extLst>
              </p:cNvPr>
              <p:cNvSpPr txBox="1"/>
              <p:nvPr/>
            </p:nvSpPr>
            <p:spPr>
              <a:xfrm>
                <a:off x="9368990" y="5210117"/>
                <a:ext cx="324063" cy="680507"/>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cs typeface="Arial" panose="020B0604020202020204" pitchFamily="34" charset="0"/>
                            </a:rPr>
                          </m:ctrlPr>
                        </m:fPr>
                        <m:num>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𝑖</m:t>
                              </m:r>
                            </m:sub>
                          </m:sSub>
                        </m:num>
                        <m:den>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𝐷</m:t>
                              </m:r>
                            </m:e>
                            <m:sub>
                              <m:r>
                                <a:rPr lang="en-US" b="0" i="1" smtClean="0">
                                  <a:latin typeface="Cambria Math" panose="02040503050406030204" pitchFamily="18" charset="0"/>
                                  <a:cs typeface="Arial" panose="020B0604020202020204" pitchFamily="34" charset="0"/>
                                </a:rPr>
                                <m:t>𝑔</m:t>
                              </m:r>
                            </m:sub>
                          </m:sSub>
                        </m:den>
                      </m:f>
                    </m:oMath>
                  </m:oMathPara>
                </a14:m>
                <a:endParaRPr lang="en-US" dirty="0">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AD5FB82E-63C3-0743-A204-A156DDA90302}"/>
                  </a:ext>
                </a:extLst>
              </p:cNvPr>
              <p:cNvSpPr txBox="1">
                <a:spLocks noRot="1" noChangeAspect="1" noMove="1" noResize="1" noEditPoints="1" noAdjustHandles="1" noChangeArrowheads="1" noChangeShapeType="1" noTextEdit="1"/>
              </p:cNvSpPr>
              <p:nvPr/>
            </p:nvSpPr>
            <p:spPr>
              <a:xfrm>
                <a:off x="9368990" y="5210117"/>
                <a:ext cx="324063" cy="680507"/>
              </a:xfrm>
              <a:prstGeom prst="rect">
                <a:avLst/>
              </a:prstGeom>
              <a:blipFill>
                <a:blip r:embed="rId5"/>
                <a:stretch>
                  <a:fillRect l="-14815" r="-3704" b="-9259"/>
                </a:stretch>
              </a:blipFill>
            </p:spPr>
            <p:txBody>
              <a:bodyPr/>
              <a:lstStyle/>
              <a:p>
                <a:r>
                  <a:rPr lang="en-US">
                    <a:noFill/>
                  </a:rPr>
                  <a:t> </a:t>
                </a:r>
              </a:p>
            </p:txBody>
          </p:sp>
        </mc:Fallback>
      </mc:AlternateContent>
    </p:spTree>
    <p:extLst>
      <p:ext uri="{BB962C8B-B14F-4D97-AF65-F5344CB8AC3E}">
        <p14:creationId xmlns:p14="http://schemas.microsoft.com/office/powerpoint/2010/main" val="35541643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25</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85351" y="136525"/>
            <a:ext cx="11800703"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Does a threshold of motion really exist?</a:t>
            </a:r>
          </a:p>
        </p:txBody>
      </p:sp>
      <p:sp>
        <p:nvSpPr>
          <p:cNvPr id="8" name="TextBox 7">
            <a:extLst>
              <a:ext uri="{FF2B5EF4-FFF2-40B4-BE49-F238E27FC236}">
                <a16:creationId xmlns:a16="http://schemas.microsoft.com/office/drawing/2014/main" id="{902551EE-3F05-084D-9EBB-B167C44BA34D}"/>
              </a:ext>
            </a:extLst>
          </p:cNvPr>
          <p:cNvSpPr txBox="1"/>
          <p:nvPr/>
        </p:nvSpPr>
        <p:spPr>
          <a:xfrm>
            <a:off x="642552" y="827903"/>
            <a:ext cx="11046940" cy="3223831"/>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In reality there is not a precise threshold of motion.  </a:t>
            </a:r>
          </a:p>
          <a:p>
            <a:pPr algn="l">
              <a:lnSpc>
                <a:spcPct val="114000"/>
              </a:lnSpc>
            </a:pPr>
            <a:endParaRPr lang="en-US" dirty="0">
              <a:latin typeface="Arial" panose="020B0604020202020204" pitchFamily="34" charset="0"/>
              <a:cs typeface="Arial" panose="020B0604020202020204" pitchFamily="34" charset="0"/>
            </a:endParaRPr>
          </a:p>
          <a:p>
            <a:pPr algn="l">
              <a:lnSpc>
                <a:spcPct val="114000"/>
              </a:lnSpc>
            </a:pPr>
            <a:r>
              <a:rPr lang="en-US" dirty="0">
                <a:latin typeface="Arial" panose="020B0604020202020204" pitchFamily="34" charset="0"/>
                <a:cs typeface="Arial" panose="020B0604020202020204" pitchFamily="34" charset="0"/>
              </a:rPr>
              <a:t>Very long experiments with Shields numbers significantly smaller than the critical values showed extremely low rates of sediment transport . </a:t>
            </a:r>
          </a:p>
          <a:p>
            <a:pPr algn="l">
              <a:lnSpc>
                <a:spcPct val="114000"/>
              </a:lnSpc>
            </a:pPr>
            <a:endParaRPr lang="en-US" dirty="0">
              <a:latin typeface="Arial" panose="020B0604020202020204" pitchFamily="34" charset="0"/>
              <a:cs typeface="Arial" panose="020B0604020202020204" pitchFamily="34" charset="0"/>
            </a:endParaRPr>
          </a:p>
          <a:p>
            <a:pPr algn="l">
              <a:lnSpc>
                <a:spcPct val="114000"/>
              </a:lnSpc>
            </a:pPr>
            <a:r>
              <a:rPr lang="en-US" dirty="0">
                <a:latin typeface="Arial" panose="020B0604020202020204" pitchFamily="34" charset="0"/>
                <a:cs typeface="Arial" panose="020B0604020202020204" pitchFamily="34" charset="0"/>
              </a:rPr>
              <a:t>Thus, the concept of threshold of motion is invalid but useful. </a:t>
            </a:r>
          </a:p>
          <a:p>
            <a:pPr algn="l">
              <a:lnSpc>
                <a:spcPct val="114000"/>
              </a:lnSpc>
            </a:pPr>
            <a:endParaRPr lang="en-US" dirty="0">
              <a:latin typeface="Arial" panose="020B0604020202020204" pitchFamily="34" charset="0"/>
              <a:cs typeface="Arial" panose="020B0604020202020204" pitchFamily="34" charset="0"/>
            </a:endParaRPr>
          </a:p>
          <a:p>
            <a:pPr algn="l">
              <a:lnSpc>
                <a:spcPct val="114000"/>
              </a:lnSpc>
            </a:pPr>
            <a:r>
              <a:rPr lang="en-US" dirty="0">
                <a:latin typeface="Arial" panose="020B0604020202020204" pitchFamily="34" charset="0"/>
                <a:cs typeface="Arial" panose="020B0604020202020204" pitchFamily="34" charset="0"/>
              </a:rPr>
              <a:t>It denotes conditions in which the sediment transport rate is so small that a deviation from that rate will not cause any morphological change to the channel bed for the time scales of interest (several decades, up to many centuries depending on the problem). </a:t>
            </a:r>
          </a:p>
        </p:txBody>
      </p:sp>
    </p:spTree>
    <p:extLst>
      <p:ext uri="{BB962C8B-B14F-4D97-AF65-F5344CB8AC3E}">
        <p14:creationId xmlns:p14="http://schemas.microsoft.com/office/powerpoint/2010/main" val="38082248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26</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85351" y="136525"/>
            <a:ext cx="11800703"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Condition for significant suspension</a:t>
            </a:r>
          </a:p>
        </p:txBody>
      </p:sp>
      <p:sp>
        <p:nvSpPr>
          <p:cNvPr id="6" name="TextBox 5">
            <a:extLst>
              <a:ext uri="{FF2B5EF4-FFF2-40B4-BE49-F238E27FC236}">
                <a16:creationId xmlns:a16="http://schemas.microsoft.com/office/drawing/2014/main" id="{4A6C3C33-BF76-3240-A309-197C1F20CDA8}"/>
              </a:ext>
            </a:extLst>
          </p:cNvPr>
          <p:cNvSpPr txBox="1"/>
          <p:nvPr/>
        </p:nvSpPr>
        <p:spPr>
          <a:xfrm>
            <a:off x="642552" y="827903"/>
            <a:ext cx="11046940"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To maintain a significant amount of sediment in suspension, some measure of the turbulent fluctuations of the flow should be of the same order of magnitude as the particle fall velocity v</a:t>
            </a:r>
            <a:r>
              <a:rPr lang="en-US" baseline="-25000" dirty="0">
                <a:latin typeface="Arial" panose="020B0604020202020204" pitchFamily="34" charset="0"/>
                <a:cs typeface="Arial" panose="020B0604020202020204" pitchFamily="34" charset="0"/>
              </a:rPr>
              <a:t>s </a:t>
            </a:r>
            <a:r>
              <a:rPr lang="en-US" dirty="0">
                <a:latin typeface="Arial" panose="020B0604020202020204" pitchFamily="34" charset="0"/>
                <a:cs typeface="Arial" panose="020B0604020202020204" pitchFamily="34" charset="0"/>
              </a:rPr>
              <a:t>of the sediment itself. </a:t>
            </a:r>
          </a:p>
        </p:txBody>
      </p:sp>
      <p:sp>
        <p:nvSpPr>
          <p:cNvPr id="7" name="TextBox 6">
            <a:extLst>
              <a:ext uri="{FF2B5EF4-FFF2-40B4-BE49-F238E27FC236}">
                <a16:creationId xmlns:a16="http://schemas.microsoft.com/office/drawing/2014/main" id="{B762A099-E38C-9A4E-9560-6BDCFBBD18AD}"/>
              </a:ext>
            </a:extLst>
          </p:cNvPr>
          <p:cNvSpPr txBox="1"/>
          <p:nvPr/>
        </p:nvSpPr>
        <p:spPr>
          <a:xfrm>
            <a:off x="642552" y="1781968"/>
            <a:ext cx="11046940"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Let’s use the root mean square of the velocity fluctuations near the bed </a:t>
            </a:r>
            <a:r>
              <a:rPr lang="en-US" dirty="0" err="1">
                <a:latin typeface="Arial" panose="020B0604020202020204" pitchFamily="34" charset="0"/>
                <a:cs typeface="Arial" panose="020B0604020202020204" pitchFamily="34" charset="0"/>
              </a:rPr>
              <a:t>u</a:t>
            </a:r>
            <a:r>
              <a:rPr lang="en-US" baseline="-25000" dirty="0" err="1">
                <a:latin typeface="Arial" panose="020B0604020202020204" pitchFamily="34" charset="0"/>
                <a:cs typeface="Arial" panose="020B0604020202020204" pitchFamily="34" charset="0"/>
              </a:rPr>
              <a:t>rms</a:t>
            </a:r>
            <a:r>
              <a:rPr lang="en-US" dirty="0">
                <a:latin typeface="Arial" panose="020B0604020202020204" pitchFamily="34" charset="0"/>
                <a:cs typeface="Arial" panose="020B0604020202020204" pitchFamily="34" charset="0"/>
              </a:rPr>
              <a:t> as characteristic near bed velocity</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39E4521-5C64-0049-9F75-90AE72C736EB}"/>
                  </a:ext>
                </a:extLst>
              </p:cNvPr>
              <p:cNvSpPr txBox="1"/>
              <p:nvPr/>
            </p:nvSpPr>
            <p:spPr>
              <a:xfrm>
                <a:off x="817917" y="2479467"/>
                <a:ext cx="3098028" cy="598754"/>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𝑟𝑚𝑠</m:t>
                          </m:r>
                        </m:sub>
                        <m:sup>
                          <m:r>
                            <a:rPr lang="en-US" b="0" i="1" smtClean="0">
                              <a:latin typeface="Cambria Math" panose="02040503050406030204" pitchFamily="18" charset="0"/>
                              <a:cs typeface="Arial" panose="020B0604020202020204" pitchFamily="34" charset="0"/>
                            </a:rPr>
                            <m:t>2</m:t>
                          </m:r>
                        </m:sup>
                      </m:sSubSup>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
                            <a:rPr lang="en-US" b="0" i="1" smtClean="0">
                              <a:latin typeface="Cambria Math" panose="02040503050406030204" pitchFamily="18" charset="0"/>
                              <a:cs typeface="Arial" panose="020B0604020202020204" pitchFamily="34" charset="0"/>
                            </a:rPr>
                            <m:t>1</m:t>
                          </m:r>
                        </m:num>
                        <m:den>
                          <m:r>
                            <a:rPr lang="en-US" b="0" i="1" smtClean="0">
                              <a:latin typeface="Cambria Math" panose="02040503050406030204" pitchFamily="18" charset="0"/>
                              <a:cs typeface="Arial" panose="020B0604020202020204" pitchFamily="34" charset="0"/>
                            </a:rPr>
                            <m:t>3</m:t>
                          </m:r>
                        </m:den>
                      </m:f>
                      <m:sSub>
                        <m:sSubPr>
                          <m:ctrlPr>
                            <a:rPr lang="en-US" b="0" i="1" smtClean="0">
                              <a:latin typeface="Cambria Math" panose="02040503050406030204" pitchFamily="18" charset="0"/>
                              <a:cs typeface="Arial" panose="020B0604020202020204" pitchFamily="34" charset="0"/>
                            </a:rPr>
                          </m:ctrlPr>
                        </m:sSubPr>
                        <m:e>
                          <m:d>
                            <m:dPr>
                              <m:begChr m:val=""/>
                              <m:endChr m:val="|"/>
                              <m:ctrlPr>
                                <a:rPr lang="en-US" b="0" i="1" smtClean="0">
                                  <a:latin typeface="Cambria Math" panose="02040503050406030204" pitchFamily="18" charset="0"/>
                                  <a:cs typeface="Arial" panose="020B0604020202020204" pitchFamily="34" charset="0"/>
                                </a:rPr>
                              </m:ctrlPr>
                            </m:dPr>
                            <m:e>
                              <m:d>
                                <m:dPr>
                                  <m:ctrlPr>
                                    <a:rPr lang="en-US" b="0" i="1" smtClean="0">
                                      <a:latin typeface="Cambria Math" panose="02040503050406030204" pitchFamily="18" charset="0"/>
                                      <a:cs typeface="Arial" panose="020B0604020202020204" pitchFamily="34" charset="0"/>
                                    </a:rPr>
                                  </m:ctrlPr>
                                </m:dPr>
                                <m:e>
                                  <m:acc>
                                    <m:accPr>
                                      <m:chr m:val="̅"/>
                                      <m:ctrlPr>
                                        <a:rPr lang="en-US" b="0" i="1" smtClean="0">
                                          <a:latin typeface="Cambria Math" panose="02040503050406030204" pitchFamily="18" charset="0"/>
                                          <a:cs typeface="Arial" panose="020B0604020202020204" pitchFamily="34" charset="0"/>
                                        </a:rPr>
                                      </m:ctrlPr>
                                    </m:accPr>
                                    <m:e>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𝑢</m:t>
                                          </m:r>
                                          <m:r>
                                            <a:rPr lang="en-US" b="0" i="1" smtClean="0">
                                              <a:latin typeface="Cambria Math" panose="02040503050406030204" pitchFamily="18" charset="0"/>
                                              <a:cs typeface="Arial" panose="020B0604020202020204" pitchFamily="34" charset="0"/>
                                            </a:rPr>
                                            <m:t>′</m:t>
                                          </m:r>
                                        </m:e>
                                        <m:sup>
                                          <m:r>
                                            <a:rPr lang="en-US" b="0" i="1" smtClean="0">
                                              <a:latin typeface="Cambria Math" panose="02040503050406030204" pitchFamily="18" charset="0"/>
                                              <a:cs typeface="Arial" panose="020B0604020202020204" pitchFamily="34" charset="0"/>
                                            </a:rPr>
                                            <m:t>2</m:t>
                                          </m:r>
                                        </m:sup>
                                      </m:sSup>
                                    </m:e>
                                  </m:acc>
                                  <m:r>
                                    <a:rPr lang="en-US" b="0" i="1" smtClean="0">
                                      <a:latin typeface="Cambria Math" panose="02040503050406030204" pitchFamily="18" charset="0"/>
                                      <a:cs typeface="Arial" panose="020B0604020202020204" pitchFamily="34" charset="0"/>
                                    </a:rPr>
                                    <m:t>+</m:t>
                                  </m:r>
                                  <m:acc>
                                    <m:accPr>
                                      <m:chr m:val="̅"/>
                                      <m:ctrlPr>
                                        <a:rPr lang="en-US" i="1">
                                          <a:latin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𝑣</m:t>
                                          </m:r>
                                          <m:r>
                                            <a:rPr lang="en-US" i="1">
                                              <a:latin typeface="Cambria Math" panose="02040503050406030204" pitchFamily="18" charset="0"/>
                                              <a:cs typeface="Arial" panose="020B0604020202020204" pitchFamily="34" charset="0"/>
                                            </a:rPr>
                                            <m:t>′</m:t>
                                          </m:r>
                                        </m:e>
                                        <m:sup>
                                          <m:r>
                                            <a:rPr lang="en-US" i="1">
                                              <a:latin typeface="Cambria Math" panose="02040503050406030204" pitchFamily="18" charset="0"/>
                                              <a:cs typeface="Arial" panose="020B0604020202020204" pitchFamily="34" charset="0"/>
                                            </a:rPr>
                                            <m:t>2</m:t>
                                          </m:r>
                                        </m:sup>
                                      </m:sSup>
                                    </m:e>
                                  </m:acc>
                                  <m:r>
                                    <a:rPr lang="en-US" b="0" i="1" smtClean="0">
                                      <a:latin typeface="Cambria Math" panose="02040503050406030204" pitchFamily="18" charset="0"/>
                                      <a:cs typeface="Arial" panose="020B0604020202020204" pitchFamily="34" charset="0"/>
                                    </a:rPr>
                                    <m:t>+</m:t>
                                  </m:r>
                                  <m:acc>
                                    <m:accPr>
                                      <m:chr m:val="̅"/>
                                      <m:ctrlPr>
                                        <a:rPr lang="en-US" i="1">
                                          <a:latin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𝑤</m:t>
                                          </m:r>
                                          <m:r>
                                            <a:rPr lang="en-US" i="1">
                                              <a:latin typeface="Cambria Math" panose="02040503050406030204" pitchFamily="18" charset="0"/>
                                              <a:cs typeface="Arial" panose="020B0604020202020204" pitchFamily="34" charset="0"/>
                                            </a:rPr>
                                            <m:t>′</m:t>
                                          </m:r>
                                        </m:e>
                                        <m:sup>
                                          <m:r>
                                            <a:rPr lang="en-US" i="1">
                                              <a:latin typeface="Cambria Math" panose="02040503050406030204" pitchFamily="18" charset="0"/>
                                              <a:cs typeface="Arial" panose="020B0604020202020204" pitchFamily="34" charset="0"/>
                                            </a:rPr>
                                            <m:t>2</m:t>
                                          </m:r>
                                        </m:sup>
                                      </m:sSup>
                                    </m:e>
                                  </m:acc>
                                </m:e>
                              </m:d>
                            </m:e>
                          </m:d>
                        </m:e>
                        <m:sub>
                          <m:r>
                            <a:rPr lang="en-US" b="0" i="1" smtClean="0">
                              <a:latin typeface="Cambria Math" panose="02040503050406030204" pitchFamily="18" charset="0"/>
                              <a:cs typeface="Arial" panose="020B0604020202020204" pitchFamily="34" charset="0"/>
                            </a:rPr>
                            <m:t>𝑧</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𝑏</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2" name="TextBox 1">
                <a:extLst>
                  <a:ext uri="{FF2B5EF4-FFF2-40B4-BE49-F238E27FC236}">
                    <a16:creationId xmlns:a16="http://schemas.microsoft.com/office/drawing/2014/main" id="{C39E4521-5C64-0049-9F75-90AE72C736EB}"/>
                  </a:ext>
                </a:extLst>
              </p:cNvPr>
              <p:cNvSpPr txBox="1">
                <a:spLocks noRot="1" noChangeAspect="1" noMove="1" noResize="1" noEditPoints="1" noAdjustHandles="1" noChangeArrowheads="1" noChangeShapeType="1" noTextEdit="1"/>
              </p:cNvSpPr>
              <p:nvPr/>
            </p:nvSpPr>
            <p:spPr>
              <a:xfrm>
                <a:off x="817917" y="2479467"/>
                <a:ext cx="3098028" cy="598754"/>
              </a:xfrm>
              <a:prstGeom prst="rect">
                <a:avLst/>
              </a:prstGeom>
              <a:blipFill>
                <a:blip r:embed="rId3"/>
                <a:stretch>
                  <a:fillRect l="-408" t="-129167" r="-10204" b="-21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8ACE2DA-45BC-1644-BAA4-ED392488E521}"/>
                  </a:ext>
                </a:extLst>
              </p:cNvPr>
              <p:cNvSpPr txBox="1"/>
              <p:nvPr/>
            </p:nvSpPr>
            <p:spPr>
              <a:xfrm>
                <a:off x="738059" y="3371660"/>
                <a:ext cx="11046940" cy="1960665"/>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where u’, v’ and w’ denote the turbulent velocity fluctuations and z = b indicates a near bed elevation such that b/H&lt;&lt;1. </a:t>
                </a:r>
              </a:p>
              <a:p>
                <a:pPr algn="l">
                  <a:lnSpc>
                    <a:spcPct val="114000"/>
                  </a:lnSpc>
                </a:pPr>
                <a:endParaRPr lang="en-US" dirty="0">
                  <a:latin typeface="Arial" panose="020B0604020202020204" pitchFamily="34" charset="0"/>
                  <a:cs typeface="Arial" panose="020B0604020202020204" pitchFamily="34" charset="0"/>
                </a:endParaRPr>
              </a:p>
              <a:p>
                <a:pPr algn="l">
                  <a:lnSpc>
                    <a:spcPct val="114000"/>
                  </a:lnSpc>
                </a:pPr>
                <a:r>
                  <a:rPr lang="en-US" dirty="0">
                    <a:latin typeface="Arial" panose="020B0604020202020204" pitchFamily="34" charset="0"/>
                    <a:cs typeface="Arial" panose="020B0604020202020204" pitchFamily="34" charset="0"/>
                  </a:rPr>
                  <a:t>In the case of a rough turbulent flow, the shear velocity can be evaluated as</a:t>
                </a:r>
              </a:p>
              <a:p>
                <a:pPr algn="l">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Since turbulence tends to be well-correlated </a:t>
                </a:r>
                <a14:m>
                  <m:oMath xmlns:m="http://schemas.openxmlformats.org/officeDocument/2006/math">
                    <m:acc>
                      <m:accPr>
                        <m:chr m:val="̅"/>
                        <m:ctrlPr>
                          <a:rPr lang="en-US" i="1">
                            <a:latin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𝑢</m:t>
                            </m:r>
                          </m:e>
                          <m:sup>
                            <m:r>
                              <a:rPr lang="en-US" i="1">
                                <a:latin typeface="Cambria Math" panose="02040503050406030204" pitchFamily="18" charset="0"/>
                                <a:cs typeface="Arial" panose="020B0604020202020204" pitchFamily="34" charset="0"/>
                              </a:rPr>
                              <m:t>′</m:t>
                            </m:r>
                          </m:sup>
                        </m:sSup>
                        <m:r>
                          <a:rPr lang="en-US" i="1">
                            <a:latin typeface="Cambria Math" panose="02040503050406030204" pitchFamily="18" charset="0"/>
                            <a:cs typeface="Arial" panose="020B0604020202020204" pitchFamily="34" charset="0"/>
                          </a:rPr>
                          <m:t>𝑤</m:t>
                        </m:r>
                        <m:r>
                          <a:rPr lang="en-US" i="1">
                            <a:latin typeface="Cambria Math" panose="02040503050406030204" pitchFamily="18" charset="0"/>
                            <a:cs typeface="Arial" panose="020B0604020202020204" pitchFamily="34" charset="0"/>
                          </a:rPr>
                          <m:t>′</m:t>
                        </m:r>
                      </m:e>
                    </m:acc>
                    <m:r>
                      <a:rPr lang="en-US" dirty="0">
                        <a:latin typeface="Cambria Math" panose="02040503050406030204" pitchFamily="18" charset="0"/>
                        <a:ea typeface="Cambria Math" panose="02040503050406030204" pitchFamily="18" charset="0"/>
                        <a:cs typeface="Arial" panose="020B0604020202020204" pitchFamily="34" charset="0"/>
                      </a:rPr>
                      <m:t>≠</m:t>
                    </m:r>
                    <m:r>
                      <a:rPr lang="en-US" b="0" i="0" dirty="0" smtClean="0">
                        <a:latin typeface="Cambria Math" panose="02040503050406030204" pitchFamily="18" charset="0"/>
                        <a:ea typeface="Cambria Math" panose="02040503050406030204" pitchFamily="18" charset="0"/>
                        <a:cs typeface="Arial" panose="020B0604020202020204" pitchFamily="34" charset="0"/>
                      </a:rPr>
                      <m:t>0</m:t>
                    </m:r>
                  </m:oMath>
                </a14:m>
                <a:endParaRPr lang="en-US" dirty="0">
                  <a:latin typeface="Arial" panose="020B0604020202020204" pitchFamily="34" charset="0"/>
                  <a:cs typeface="Arial" panose="020B0604020202020204" pitchFamily="34" charset="0"/>
                </a:endParaRPr>
              </a:p>
            </p:txBody>
          </p:sp>
        </mc:Choice>
        <mc:Fallback xmlns="">
          <p:sp>
            <p:nvSpPr>
              <p:cNvPr id="8" name="TextBox 7">
                <a:extLst>
                  <a:ext uri="{FF2B5EF4-FFF2-40B4-BE49-F238E27FC236}">
                    <a16:creationId xmlns:a16="http://schemas.microsoft.com/office/drawing/2014/main" id="{58ACE2DA-45BC-1644-BAA4-ED392488E521}"/>
                  </a:ext>
                </a:extLst>
              </p:cNvPr>
              <p:cNvSpPr txBox="1">
                <a:spLocks noRot="1" noChangeAspect="1" noMove="1" noResize="1" noEditPoints="1" noAdjustHandles="1" noChangeArrowheads="1" noChangeShapeType="1" noTextEdit="1"/>
              </p:cNvSpPr>
              <p:nvPr/>
            </p:nvSpPr>
            <p:spPr>
              <a:xfrm>
                <a:off x="738059" y="3371660"/>
                <a:ext cx="11046940" cy="1960665"/>
              </a:xfrm>
              <a:prstGeom prst="rect">
                <a:avLst/>
              </a:prstGeom>
              <a:blipFill>
                <a:blip r:embed="rId4"/>
                <a:stretch>
                  <a:fillRect l="-460" t="-1282" b="-448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4669824-4EC0-3E48-87ED-BA39A702C160}"/>
                  </a:ext>
                </a:extLst>
              </p:cNvPr>
              <p:cNvSpPr txBox="1"/>
              <p:nvPr/>
            </p:nvSpPr>
            <p:spPr>
              <a:xfrm>
                <a:off x="8610600" y="4187653"/>
                <a:ext cx="1664686" cy="513089"/>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sub>
                        <m:sup>
                          <m:r>
                            <a:rPr lang="en-US" b="0" i="1" smtClean="0">
                              <a:latin typeface="Cambria Math" panose="02040503050406030204" pitchFamily="18" charset="0"/>
                              <a:cs typeface="Arial" panose="020B0604020202020204" pitchFamily="34" charset="0"/>
                            </a:rPr>
                            <m:t>2</m:t>
                          </m:r>
                        </m:sup>
                      </m:sSubSup>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d>
                            <m:dPr>
                              <m:begChr m:val=""/>
                              <m:endChr m:val="|"/>
                              <m:ctrlPr>
                                <a:rPr lang="en-US" b="0" i="1" smtClean="0">
                                  <a:latin typeface="Cambria Math" panose="02040503050406030204" pitchFamily="18" charset="0"/>
                                  <a:cs typeface="Arial" panose="020B0604020202020204" pitchFamily="34" charset="0"/>
                                </a:rPr>
                              </m:ctrlPr>
                            </m:dPr>
                            <m:e>
                              <m:acc>
                                <m:accPr>
                                  <m:chr m:val="̅"/>
                                  <m:ctrlPr>
                                    <a:rPr lang="en-US" b="0" i="1" smtClean="0">
                                      <a:latin typeface="Cambria Math" panose="02040503050406030204" pitchFamily="18" charset="0"/>
                                      <a:cs typeface="Arial" panose="020B0604020202020204" pitchFamily="34" charset="0"/>
                                    </a:rPr>
                                  </m:ctrlPr>
                                </m:accPr>
                                <m:e>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𝑢</m:t>
                                      </m:r>
                                    </m:e>
                                    <m:sup>
                                      <m:r>
                                        <a:rPr lang="en-US" b="0" i="1" smtClean="0">
                                          <a:latin typeface="Cambria Math" panose="02040503050406030204" pitchFamily="18" charset="0"/>
                                          <a:cs typeface="Arial" panose="020B0604020202020204" pitchFamily="34" charset="0"/>
                                        </a:rPr>
                                        <m:t>′</m:t>
                                      </m:r>
                                    </m:sup>
                                  </m:sSup>
                                  <m:r>
                                    <a:rPr lang="en-US" b="0" i="1" smtClean="0">
                                      <a:latin typeface="Cambria Math" panose="02040503050406030204" pitchFamily="18" charset="0"/>
                                      <a:cs typeface="Arial" panose="020B0604020202020204" pitchFamily="34" charset="0"/>
                                    </a:rPr>
                                    <m:t>𝑤</m:t>
                                  </m:r>
                                  <m:r>
                                    <a:rPr lang="en-US" b="0" i="1" smtClean="0">
                                      <a:latin typeface="Cambria Math" panose="02040503050406030204" pitchFamily="18" charset="0"/>
                                      <a:cs typeface="Arial" panose="020B0604020202020204" pitchFamily="34" charset="0"/>
                                    </a:rPr>
                                    <m:t>′</m:t>
                                  </m:r>
                                </m:e>
                              </m:acc>
                            </m:e>
                          </m:d>
                        </m:e>
                        <m:sub>
                          <m:r>
                            <a:rPr lang="en-US" b="0" i="1" smtClean="0">
                              <a:latin typeface="Cambria Math" panose="02040503050406030204" pitchFamily="18" charset="0"/>
                              <a:cs typeface="Arial" panose="020B0604020202020204" pitchFamily="34" charset="0"/>
                            </a:rPr>
                            <m:t>𝑧</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𝑏</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10" name="TextBox 9">
                <a:extLst>
                  <a:ext uri="{FF2B5EF4-FFF2-40B4-BE49-F238E27FC236}">
                    <a16:creationId xmlns:a16="http://schemas.microsoft.com/office/drawing/2014/main" id="{B4669824-4EC0-3E48-87ED-BA39A702C160}"/>
                  </a:ext>
                </a:extLst>
              </p:cNvPr>
              <p:cNvSpPr txBox="1">
                <a:spLocks noRot="1" noChangeAspect="1" noMove="1" noResize="1" noEditPoints="1" noAdjustHandles="1" noChangeArrowheads="1" noChangeShapeType="1" noTextEdit="1"/>
              </p:cNvSpPr>
              <p:nvPr/>
            </p:nvSpPr>
            <p:spPr>
              <a:xfrm>
                <a:off x="8610600" y="4187653"/>
                <a:ext cx="1664686" cy="513089"/>
              </a:xfrm>
              <a:prstGeom prst="rect">
                <a:avLst/>
              </a:prstGeom>
              <a:blipFill>
                <a:blip r:embed="rId5"/>
                <a:stretch>
                  <a:fillRect l="-1515" t="-161905" r="-18939" b="-2404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4CF5F5D-8BC5-2B41-B9C8-F7653051E2D8}"/>
                  </a:ext>
                </a:extLst>
              </p:cNvPr>
              <p:cNvSpPr txBox="1"/>
              <p:nvPr/>
            </p:nvSpPr>
            <p:spPr>
              <a:xfrm>
                <a:off x="817917" y="5517008"/>
                <a:ext cx="3481466" cy="447495"/>
              </a:xfrm>
              <a:prstGeom prst="rect">
                <a:avLst/>
              </a:prstGeom>
              <a:noFill/>
            </p:spPr>
            <p:txBody>
              <a:bodyPr wrap="none" lIns="0" tIns="0" rIns="0" bIns="0" rtlCol="0">
                <a:spAutoFit/>
              </a:bodyPr>
              <a:lstStyle/>
              <a:p>
                <a:pPr>
                  <a:lnSpc>
                    <a:spcPct val="114000"/>
                  </a:lnSpc>
                </a:pPr>
                <a14:m>
                  <m:oMath xmlns:m="http://schemas.openxmlformats.org/officeDocument/2006/math">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d>
                          <m:dPr>
                            <m:begChr m:val=""/>
                            <m:endChr m:val="|"/>
                            <m:ctrlPr>
                              <a:rPr lang="en-US" b="0" i="1" smtClean="0">
                                <a:latin typeface="Cambria Math" panose="02040503050406030204" pitchFamily="18" charset="0"/>
                                <a:cs typeface="Arial" panose="020B0604020202020204" pitchFamily="34" charset="0"/>
                              </a:rPr>
                            </m:ctrlPr>
                          </m:dPr>
                          <m:e>
                            <m:acc>
                              <m:accPr>
                                <m:chr m:val="̅"/>
                                <m:ctrlPr>
                                  <a:rPr lang="en-US" b="0" i="1" smtClean="0">
                                    <a:latin typeface="Cambria Math" panose="02040503050406030204" pitchFamily="18" charset="0"/>
                                    <a:cs typeface="Arial" panose="020B0604020202020204" pitchFamily="34" charset="0"/>
                                  </a:rPr>
                                </m:ctrlPr>
                              </m:accPr>
                              <m:e>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𝑢</m:t>
                                    </m:r>
                                  </m:e>
                                  <m:sup>
                                    <m:r>
                                      <a:rPr lang="en-US" b="0" i="1" smtClean="0">
                                        <a:latin typeface="Cambria Math" panose="02040503050406030204" pitchFamily="18" charset="0"/>
                                        <a:cs typeface="Arial" panose="020B0604020202020204" pitchFamily="34" charset="0"/>
                                      </a:rPr>
                                      <m:t>′</m:t>
                                    </m:r>
                                  </m:sup>
                                </m:sSup>
                                <m:sSup>
                                  <m:sSupPr>
                                    <m:ctrlPr>
                                      <a:rPr lang="en-US" b="0" i="1" smtClean="0">
                                        <a:latin typeface="Cambria Math" panose="02040503050406030204" pitchFamily="18" charset="0"/>
                                        <a:cs typeface="Arial" panose="020B0604020202020204" pitchFamily="34" charset="0"/>
                                      </a:rPr>
                                    </m:ctrlPr>
                                  </m:sSupPr>
                                  <m:e>
                                    <m:r>
                                      <a:rPr lang="en-US" b="0" i="1" smtClean="0">
                                        <a:latin typeface="Cambria Math" panose="02040503050406030204" pitchFamily="18" charset="0"/>
                                        <a:cs typeface="Arial" panose="020B0604020202020204" pitchFamily="34" charset="0"/>
                                      </a:rPr>
                                      <m:t>𝑤</m:t>
                                    </m:r>
                                  </m:e>
                                  <m:sup>
                                    <m:r>
                                      <a:rPr lang="en-US" b="0" i="1" smtClean="0">
                                        <a:latin typeface="Cambria Math" panose="02040503050406030204" pitchFamily="18" charset="0"/>
                                        <a:cs typeface="Arial" panose="020B0604020202020204" pitchFamily="34" charset="0"/>
                                      </a:rPr>
                                      <m:t>′</m:t>
                                    </m:r>
                                  </m:sup>
                                </m:sSup>
                              </m:e>
                            </m:acc>
                          </m:e>
                        </m:d>
                      </m:e>
                      <m:sub>
                        <m:r>
                          <a:rPr lang="en-US" b="0" i="1" smtClean="0">
                            <a:latin typeface="Cambria Math" panose="02040503050406030204" pitchFamily="18" charset="0"/>
                            <a:cs typeface="Arial" panose="020B0604020202020204" pitchFamily="34" charset="0"/>
                          </a:rPr>
                          <m:t>𝑧</m:t>
                        </m:r>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𝑏</m:t>
                        </m:r>
                      </m:sub>
                    </m:sSub>
                    <m:r>
                      <a:rPr lang="en-US" b="0" i="1" smtClean="0">
                        <a:latin typeface="Cambria Math" panose="02040503050406030204" pitchFamily="18" charset="0"/>
                        <a:cs typeface="Arial" panose="020B0604020202020204" pitchFamily="34" charset="0"/>
                      </a:rPr>
                      <m:t>~</m:t>
                    </m:r>
                  </m:oMath>
                </a14:m>
                <a:r>
                  <a:rPr lang="en-US" dirty="0">
                    <a:cs typeface="Arial" panose="020B0604020202020204" pitchFamily="34" charset="0"/>
                  </a:rPr>
                  <a:t> </a:t>
                </a:r>
                <a14:m>
                  <m:oMath xmlns:m="http://schemas.openxmlformats.org/officeDocument/2006/math">
                    <m:f>
                      <m:fPr>
                        <m:ctrlPr>
                          <a:rPr lang="en-US" i="1">
                            <a:latin typeface="Cambria Math" panose="02040503050406030204" pitchFamily="18" charset="0"/>
                            <a:cs typeface="Arial" panose="020B0604020202020204" pitchFamily="34" charset="0"/>
                          </a:rPr>
                        </m:ctrlPr>
                      </m:fPr>
                      <m:num>
                        <m:r>
                          <a:rPr lang="en-US" i="1">
                            <a:latin typeface="Cambria Math" panose="02040503050406030204" pitchFamily="18" charset="0"/>
                            <a:cs typeface="Arial" panose="020B0604020202020204" pitchFamily="34" charset="0"/>
                          </a:rPr>
                          <m:t>1</m:t>
                        </m:r>
                      </m:num>
                      <m:den>
                        <m:r>
                          <a:rPr lang="en-US" i="1">
                            <a:latin typeface="Cambria Math" panose="02040503050406030204" pitchFamily="18" charset="0"/>
                            <a:cs typeface="Arial" panose="020B0604020202020204" pitchFamily="34" charset="0"/>
                          </a:rPr>
                          <m:t>3</m:t>
                        </m:r>
                      </m:den>
                    </m:f>
                    <m:sSub>
                      <m:sSubPr>
                        <m:ctrlPr>
                          <a:rPr lang="en-US" i="1">
                            <a:latin typeface="Cambria Math" panose="02040503050406030204" pitchFamily="18" charset="0"/>
                            <a:cs typeface="Arial" panose="020B0604020202020204" pitchFamily="34" charset="0"/>
                          </a:rPr>
                        </m:ctrlPr>
                      </m:sSubPr>
                      <m:e>
                        <m:d>
                          <m:dPr>
                            <m:begChr m:val=""/>
                            <m:endChr m:val="|"/>
                            <m:ctrlPr>
                              <a:rPr lang="en-US" i="1">
                                <a:latin typeface="Cambria Math" panose="02040503050406030204" pitchFamily="18" charset="0"/>
                                <a:cs typeface="Arial" panose="020B0604020202020204" pitchFamily="34" charset="0"/>
                              </a:rPr>
                            </m:ctrlPr>
                          </m:dPr>
                          <m:e>
                            <m:d>
                              <m:dPr>
                                <m:ctrlPr>
                                  <a:rPr lang="en-US" i="1">
                                    <a:latin typeface="Cambria Math" panose="02040503050406030204" pitchFamily="18" charset="0"/>
                                    <a:cs typeface="Arial" panose="020B0604020202020204" pitchFamily="34" charset="0"/>
                                  </a:rPr>
                                </m:ctrlPr>
                              </m:dPr>
                              <m:e>
                                <m:acc>
                                  <m:accPr>
                                    <m:chr m:val="̅"/>
                                    <m:ctrlPr>
                                      <a:rPr lang="en-US" i="1">
                                        <a:latin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𝑢</m:t>
                                        </m:r>
                                        <m:r>
                                          <a:rPr lang="en-US" i="1">
                                            <a:latin typeface="Cambria Math" panose="02040503050406030204" pitchFamily="18" charset="0"/>
                                            <a:cs typeface="Arial" panose="020B0604020202020204" pitchFamily="34" charset="0"/>
                                          </a:rPr>
                                          <m:t>′</m:t>
                                        </m:r>
                                      </m:e>
                                      <m:sup>
                                        <m:r>
                                          <a:rPr lang="en-US" i="1">
                                            <a:latin typeface="Cambria Math" panose="02040503050406030204" pitchFamily="18" charset="0"/>
                                            <a:cs typeface="Arial" panose="020B0604020202020204" pitchFamily="34" charset="0"/>
                                          </a:rPr>
                                          <m:t>2</m:t>
                                        </m:r>
                                      </m:sup>
                                    </m:sSup>
                                  </m:e>
                                </m:acc>
                                <m:r>
                                  <a:rPr lang="en-US" i="1">
                                    <a:latin typeface="Cambria Math" panose="02040503050406030204" pitchFamily="18" charset="0"/>
                                    <a:cs typeface="Arial" panose="020B0604020202020204" pitchFamily="34" charset="0"/>
                                  </a:rPr>
                                  <m:t>+</m:t>
                                </m:r>
                                <m:acc>
                                  <m:accPr>
                                    <m:chr m:val="̅"/>
                                    <m:ctrlPr>
                                      <a:rPr lang="en-US" i="1">
                                        <a:latin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𝑣</m:t>
                                        </m:r>
                                        <m:r>
                                          <a:rPr lang="en-US" i="1">
                                            <a:latin typeface="Cambria Math" panose="02040503050406030204" pitchFamily="18" charset="0"/>
                                            <a:cs typeface="Arial" panose="020B0604020202020204" pitchFamily="34" charset="0"/>
                                          </a:rPr>
                                          <m:t>′</m:t>
                                        </m:r>
                                      </m:e>
                                      <m:sup>
                                        <m:r>
                                          <a:rPr lang="en-US" i="1">
                                            <a:latin typeface="Cambria Math" panose="02040503050406030204" pitchFamily="18" charset="0"/>
                                            <a:cs typeface="Arial" panose="020B0604020202020204" pitchFamily="34" charset="0"/>
                                          </a:rPr>
                                          <m:t>2</m:t>
                                        </m:r>
                                      </m:sup>
                                    </m:sSup>
                                  </m:e>
                                </m:acc>
                                <m:r>
                                  <a:rPr lang="en-US" i="1">
                                    <a:latin typeface="Cambria Math" panose="02040503050406030204" pitchFamily="18" charset="0"/>
                                    <a:cs typeface="Arial" panose="020B0604020202020204" pitchFamily="34" charset="0"/>
                                  </a:rPr>
                                  <m:t>+</m:t>
                                </m:r>
                                <m:acc>
                                  <m:accPr>
                                    <m:chr m:val="̅"/>
                                    <m:ctrlPr>
                                      <a:rPr lang="en-US" i="1">
                                        <a:latin typeface="Cambria Math" panose="02040503050406030204" pitchFamily="18" charset="0"/>
                                        <a:cs typeface="Arial" panose="020B0604020202020204" pitchFamily="34" charset="0"/>
                                      </a:rPr>
                                    </m:ctrlPr>
                                  </m:accPr>
                                  <m:e>
                                    <m:sSup>
                                      <m:sSupPr>
                                        <m:ctrlPr>
                                          <a:rPr lang="en-US" i="1">
                                            <a:latin typeface="Cambria Math" panose="02040503050406030204" pitchFamily="18" charset="0"/>
                                            <a:cs typeface="Arial" panose="020B0604020202020204" pitchFamily="34" charset="0"/>
                                          </a:rPr>
                                        </m:ctrlPr>
                                      </m:sSupPr>
                                      <m:e>
                                        <m:r>
                                          <a:rPr lang="en-US" i="1">
                                            <a:latin typeface="Cambria Math" panose="02040503050406030204" pitchFamily="18" charset="0"/>
                                            <a:cs typeface="Arial" panose="020B0604020202020204" pitchFamily="34" charset="0"/>
                                          </a:rPr>
                                          <m:t>𝑤</m:t>
                                        </m:r>
                                        <m:r>
                                          <a:rPr lang="en-US" i="1">
                                            <a:latin typeface="Cambria Math" panose="02040503050406030204" pitchFamily="18" charset="0"/>
                                            <a:cs typeface="Arial" panose="020B0604020202020204" pitchFamily="34" charset="0"/>
                                          </a:rPr>
                                          <m:t>′</m:t>
                                        </m:r>
                                      </m:e>
                                      <m:sup>
                                        <m:r>
                                          <a:rPr lang="en-US" i="1">
                                            <a:latin typeface="Cambria Math" panose="02040503050406030204" pitchFamily="18" charset="0"/>
                                            <a:cs typeface="Arial" panose="020B0604020202020204" pitchFamily="34" charset="0"/>
                                          </a:rPr>
                                          <m:t>2</m:t>
                                        </m:r>
                                      </m:sup>
                                    </m:sSup>
                                  </m:e>
                                </m:acc>
                              </m:e>
                            </m:d>
                          </m:e>
                        </m:d>
                      </m:e>
                      <m:sub>
                        <m:r>
                          <a:rPr lang="en-US" i="1">
                            <a:latin typeface="Cambria Math" panose="02040503050406030204" pitchFamily="18" charset="0"/>
                            <a:cs typeface="Arial" panose="020B0604020202020204" pitchFamily="34" charset="0"/>
                          </a:rPr>
                          <m:t>𝑧</m:t>
                        </m:r>
                        <m:r>
                          <a:rPr lang="en-US" i="1">
                            <a:latin typeface="Cambria Math" panose="02040503050406030204" pitchFamily="18" charset="0"/>
                            <a:cs typeface="Arial" panose="020B0604020202020204" pitchFamily="34" charset="0"/>
                          </a:rPr>
                          <m:t>=</m:t>
                        </m:r>
                        <m:r>
                          <a:rPr lang="en-US" i="1">
                            <a:latin typeface="Cambria Math" panose="02040503050406030204" pitchFamily="18" charset="0"/>
                            <a:cs typeface="Arial" panose="020B0604020202020204" pitchFamily="34" charset="0"/>
                          </a:rPr>
                          <m:t>𝑏</m:t>
                        </m:r>
                      </m:sub>
                    </m:sSub>
                  </m:oMath>
                </a14:m>
                <a:endParaRPr lang="en-US" dirty="0">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94CF5F5D-8BC5-2B41-B9C8-F7653051E2D8}"/>
                  </a:ext>
                </a:extLst>
              </p:cNvPr>
              <p:cNvSpPr txBox="1">
                <a:spLocks noRot="1" noChangeAspect="1" noMove="1" noResize="1" noEditPoints="1" noAdjustHandles="1" noChangeArrowheads="1" noChangeShapeType="1" noTextEdit="1"/>
              </p:cNvSpPr>
              <p:nvPr/>
            </p:nvSpPr>
            <p:spPr>
              <a:xfrm>
                <a:off x="817917" y="5517008"/>
                <a:ext cx="3481466" cy="447495"/>
              </a:xfrm>
              <a:prstGeom prst="rect">
                <a:avLst/>
              </a:prstGeom>
              <a:blipFill>
                <a:blip r:embed="rId6"/>
                <a:stretch>
                  <a:fillRect l="-1455" t="-125000" r="-3636" b="-205556"/>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84E08985-3682-3648-929A-44215DAB6B7F}"/>
              </a:ext>
            </a:extLst>
          </p:cNvPr>
          <p:cNvSpPr txBox="1"/>
          <p:nvPr/>
        </p:nvSpPr>
        <p:spPr>
          <a:xfrm>
            <a:off x="4910202" y="5549901"/>
            <a:ext cx="569387" cy="381708"/>
          </a:xfrm>
          <a:prstGeom prst="rect">
            <a:avLst/>
          </a:prstGeom>
          <a:noFill/>
        </p:spPr>
        <p:txBody>
          <a:bodyPr wrap="none" rtlCol="0">
            <a:spAutoFit/>
          </a:bodyPr>
          <a:lstStyle/>
          <a:p>
            <a:pPr algn="l">
              <a:lnSpc>
                <a:spcPct val="114000"/>
              </a:lnSpc>
            </a:pPr>
            <a:r>
              <a:rPr lang="en-US" dirty="0">
                <a:latin typeface="Arial" panose="020B0604020202020204" pitchFamily="34" charset="0"/>
                <a:cs typeface="Arial" panose="020B0604020202020204" pitchFamily="34" charset="0"/>
              </a:rPr>
              <a:t>and</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309229B-1B49-EA4D-940D-0801743872EC}"/>
                  </a:ext>
                </a:extLst>
              </p:cNvPr>
              <p:cNvSpPr txBox="1"/>
              <p:nvPr/>
            </p:nvSpPr>
            <p:spPr>
              <a:xfrm>
                <a:off x="6085702" y="5549901"/>
                <a:ext cx="928267"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sub>
                      </m:sSub>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𝑟𝑚𝑠</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14" name="TextBox 13">
                <a:extLst>
                  <a:ext uri="{FF2B5EF4-FFF2-40B4-BE49-F238E27FC236}">
                    <a16:creationId xmlns:a16="http://schemas.microsoft.com/office/drawing/2014/main" id="{E309229B-1B49-EA4D-940D-0801743872EC}"/>
                  </a:ext>
                </a:extLst>
              </p:cNvPr>
              <p:cNvSpPr txBox="1">
                <a:spLocks noRot="1" noChangeAspect="1" noMove="1" noResize="1" noEditPoints="1" noAdjustHandles="1" noChangeArrowheads="1" noChangeShapeType="1" noTextEdit="1"/>
              </p:cNvSpPr>
              <p:nvPr/>
            </p:nvSpPr>
            <p:spPr>
              <a:xfrm>
                <a:off x="6085702" y="5549901"/>
                <a:ext cx="928267" cy="315792"/>
              </a:xfrm>
              <a:prstGeom prst="rect">
                <a:avLst/>
              </a:prstGeom>
              <a:blipFill>
                <a:blip r:embed="rId7"/>
                <a:stretch>
                  <a:fillRect l="-2703"/>
                </a:stretch>
              </a:blipFill>
            </p:spPr>
            <p:txBody>
              <a:bodyPr/>
              <a:lstStyle/>
              <a:p>
                <a:r>
                  <a:rPr lang="en-US">
                    <a:noFill/>
                  </a:rPr>
                  <a:t> </a:t>
                </a:r>
              </a:p>
            </p:txBody>
          </p:sp>
        </mc:Fallback>
      </mc:AlternateContent>
    </p:spTree>
    <p:extLst>
      <p:ext uri="{BB962C8B-B14F-4D97-AF65-F5344CB8AC3E}">
        <p14:creationId xmlns:p14="http://schemas.microsoft.com/office/powerpoint/2010/main" val="22748824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27</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85351" y="136525"/>
            <a:ext cx="11800703"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Condition for significant suspension</a:t>
            </a:r>
          </a:p>
        </p:txBody>
      </p:sp>
      <p:sp>
        <p:nvSpPr>
          <p:cNvPr id="12" name="TextBox 11">
            <a:extLst>
              <a:ext uri="{FF2B5EF4-FFF2-40B4-BE49-F238E27FC236}">
                <a16:creationId xmlns:a16="http://schemas.microsoft.com/office/drawing/2014/main" id="{8ECC0A3D-583B-0F49-BEDB-F2113EA5E81B}"/>
              </a:ext>
            </a:extLst>
          </p:cNvPr>
          <p:cNvSpPr txBox="1"/>
          <p:nvPr/>
        </p:nvSpPr>
        <p:spPr>
          <a:xfrm>
            <a:off x="642552" y="827903"/>
            <a:ext cx="11046940" cy="697499"/>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A loose criterion for the onset of significant suspension is that the characteristic near bed velocity </a:t>
            </a:r>
            <a:r>
              <a:rPr lang="en-US" dirty="0" err="1">
                <a:latin typeface="Arial" panose="020B0604020202020204" pitchFamily="34" charset="0"/>
                <a:cs typeface="Arial" panose="020B0604020202020204" pitchFamily="34" charset="0"/>
              </a:rPr>
              <a:t>u</a:t>
            </a:r>
            <a:r>
              <a:rPr lang="en-US" baseline="-25000" dirty="0" err="1">
                <a:latin typeface="Arial" panose="020B0604020202020204" pitchFamily="34" charset="0"/>
                <a:cs typeface="Arial" panose="020B0604020202020204" pitchFamily="34" charset="0"/>
              </a:rPr>
              <a:t>rms</a:t>
            </a:r>
            <a:r>
              <a:rPr lang="en-US" baseline="-25000"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is not too different from the particle settling velocity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102AD0C-E333-4949-B455-50643CC2657B}"/>
                  </a:ext>
                </a:extLst>
              </p:cNvPr>
              <p:cNvSpPr txBox="1"/>
              <p:nvPr/>
            </p:nvSpPr>
            <p:spPr>
              <a:xfrm>
                <a:off x="3008488" y="1619290"/>
                <a:ext cx="910185" cy="315792"/>
              </a:xfrm>
              <a:prstGeom prst="rect">
                <a:avLst/>
              </a:prstGeom>
              <a:solidFill>
                <a:schemeClr val="bg2"/>
              </a:solid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𝑟𝑚𝑠</m:t>
                          </m:r>
                        </m:sub>
                      </m:sSub>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𝑣</m:t>
                          </m:r>
                        </m:e>
                        <m:sub>
                          <m:r>
                            <a:rPr lang="en-US" b="0" i="1" smtClean="0">
                              <a:latin typeface="Cambria Math" panose="02040503050406030204" pitchFamily="18" charset="0"/>
                              <a:cs typeface="Arial" panose="020B0604020202020204" pitchFamily="34" charset="0"/>
                            </a:rPr>
                            <m:t>𝑠</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3" name="TextBox 2">
                <a:extLst>
                  <a:ext uri="{FF2B5EF4-FFF2-40B4-BE49-F238E27FC236}">
                    <a16:creationId xmlns:a16="http://schemas.microsoft.com/office/drawing/2014/main" id="{8102AD0C-E333-4949-B455-50643CC2657B}"/>
                  </a:ext>
                </a:extLst>
              </p:cNvPr>
              <p:cNvSpPr txBox="1">
                <a:spLocks noRot="1" noChangeAspect="1" noMove="1" noResize="1" noEditPoints="1" noAdjustHandles="1" noChangeArrowheads="1" noChangeShapeType="1" noTextEdit="1"/>
              </p:cNvSpPr>
              <p:nvPr/>
            </p:nvSpPr>
            <p:spPr>
              <a:xfrm>
                <a:off x="3008488" y="1619290"/>
                <a:ext cx="910185" cy="315792"/>
              </a:xfrm>
              <a:prstGeom prst="rect">
                <a:avLst/>
              </a:prstGeom>
              <a:blipFill>
                <a:blip r:embed="rId3"/>
                <a:stretch>
                  <a:fillRect l="-2778"/>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3B2371DF-54FE-5547-A45B-85180216845D}"/>
              </a:ext>
            </a:extLst>
          </p:cNvPr>
          <p:cNvSpPr txBox="1"/>
          <p:nvPr/>
        </p:nvSpPr>
        <p:spPr>
          <a:xfrm>
            <a:off x="642552" y="2028970"/>
            <a:ext cx="11046940"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Recalling that in the case of rough turbulent flow</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0C578E71-D3AE-5E4B-9D2D-A4F354081353}"/>
                  </a:ext>
                </a:extLst>
              </p:cNvPr>
              <p:cNvSpPr txBox="1"/>
              <p:nvPr/>
            </p:nvSpPr>
            <p:spPr>
              <a:xfrm>
                <a:off x="5701888" y="2028970"/>
                <a:ext cx="928267"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sub>
                      </m:sSub>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𝑟𝑚𝑠</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15" name="TextBox 14">
                <a:extLst>
                  <a:ext uri="{FF2B5EF4-FFF2-40B4-BE49-F238E27FC236}">
                    <a16:creationId xmlns:a16="http://schemas.microsoft.com/office/drawing/2014/main" id="{0C578E71-D3AE-5E4B-9D2D-A4F354081353}"/>
                  </a:ext>
                </a:extLst>
              </p:cNvPr>
              <p:cNvSpPr txBox="1">
                <a:spLocks noRot="1" noChangeAspect="1" noMove="1" noResize="1" noEditPoints="1" noAdjustHandles="1" noChangeArrowheads="1" noChangeShapeType="1" noTextEdit="1"/>
              </p:cNvSpPr>
              <p:nvPr/>
            </p:nvSpPr>
            <p:spPr>
              <a:xfrm>
                <a:off x="5701888" y="2028970"/>
                <a:ext cx="928267" cy="315792"/>
              </a:xfrm>
              <a:prstGeom prst="rect">
                <a:avLst/>
              </a:prstGeom>
              <a:blipFill>
                <a:blip r:embed="rId4"/>
                <a:stretch>
                  <a:fillRect l="-2667"/>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5C53A744-B199-1546-AD02-1C3667B51B94}"/>
              </a:ext>
            </a:extLst>
          </p:cNvPr>
          <p:cNvSpPr txBox="1"/>
          <p:nvPr/>
        </p:nvSpPr>
        <p:spPr>
          <a:xfrm>
            <a:off x="642552" y="2555234"/>
            <a:ext cx="11046940"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A criterion for the onset of significant suspension is </a:t>
            </a: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84D1E06E-8E72-0D4D-83E4-7BB3E277E734}"/>
                  </a:ext>
                </a:extLst>
              </p:cNvPr>
              <p:cNvSpPr txBox="1"/>
              <p:nvPr/>
            </p:nvSpPr>
            <p:spPr>
              <a:xfrm>
                <a:off x="5932242" y="2588192"/>
                <a:ext cx="1107354" cy="315792"/>
              </a:xfrm>
              <a:prstGeom prst="rect">
                <a:avLst/>
              </a:prstGeom>
              <a:solidFill>
                <a:schemeClr val="accent2">
                  <a:lumMod val="20000"/>
                  <a:lumOff val="80000"/>
                </a:schemeClr>
              </a:solid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𝑠𝑢𝑠</m:t>
                          </m:r>
                        </m:sub>
                      </m:sSub>
                      <m:r>
                        <a:rPr lang="en-US" b="0" i="1" smtClean="0">
                          <a:latin typeface="Cambria Math" panose="02040503050406030204" pitchFamily="18" charset="0"/>
                          <a:cs typeface="Arial" panose="020B0604020202020204" pitchFamily="34" charset="0"/>
                        </a:rPr>
                        <m:t>=</m:t>
                      </m:r>
                      <m:sSub>
                        <m:sSubPr>
                          <m:ctrlPr>
                            <a:rPr lang="en-US" b="0"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𝑣</m:t>
                          </m:r>
                        </m:e>
                        <m:sub>
                          <m:r>
                            <a:rPr lang="en-US" b="0" i="1" smtClean="0">
                              <a:latin typeface="Cambria Math" panose="02040503050406030204" pitchFamily="18" charset="0"/>
                              <a:cs typeface="Arial" panose="020B0604020202020204" pitchFamily="34" charset="0"/>
                            </a:rPr>
                            <m:t>𝑠</m:t>
                          </m:r>
                        </m:sub>
                      </m:sSub>
                    </m:oMath>
                  </m:oMathPara>
                </a14:m>
                <a:endParaRPr lang="en-US" dirty="0">
                  <a:latin typeface="Arial" panose="020B0604020202020204" pitchFamily="34" charset="0"/>
                  <a:cs typeface="Arial" panose="020B0604020202020204" pitchFamily="34" charset="0"/>
                </a:endParaRPr>
              </a:p>
            </p:txBody>
          </p:sp>
        </mc:Choice>
        <mc:Fallback xmlns="">
          <p:sp>
            <p:nvSpPr>
              <p:cNvPr id="17" name="TextBox 16">
                <a:extLst>
                  <a:ext uri="{FF2B5EF4-FFF2-40B4-BE49-F238E27FC236}">
                    <a16:creationId xmlns:a16="http://schemas.microsoft.com/office/drawing/2014/main" id="{84D1E06E-8E72-0D4D-83E4-7BB3E277E734}"/>
                  </a:ext>
                </a:extLst>
              </p:cNvPr>
              <p:cNvSpPr txBox="1">
                <a:spLocks noRot="1" noChangeAspect="1" noMove="1" noResize="1" noEditPoints="1" noAdjustHandles="1" noChangeArrowheads="1" noChangeShapeType="1" noTextEdit="1"/>
              </p:cNvSpPr>
              <p:nvPr/>
            </p:nvSpPr>
            <p:spPr>
              <a:xfrm>
                <a:off x="5932242" y="2588192"/>
                <a:ext cx="1107354" cy="315792"/>
              </a:xfrm>
              <a:prstGeom prst="rect">
                <a:avLst/>
              </a:prstGeom>
              <a:blipFill>
                <a:blip r:embed="rId5"/>
                <a:stretch>
                  <a:fillRect l="-1136"/>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42D6CBB2-D5E0-9C4D-B69A-4FED2F36C035}"/>
              </a:ext>
            </a:extLst>
          </p:cNvPr>
          <p:cNvSpPr txBox="1"/>
          <p:nvPr/>
        </p:nvSpPr>
        <p:spPr>
          <a:xfrm>
            <a:off x="642552" y="3162401"/>
            <a:ext cx="11046940"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The above criterion may be expressed in terms of Shields number as</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201428E-FF87-E643-AE8C-F89E1B18F73F}"/>
                  </a:ext>
                </a:extLst>
              </p:cNvPr>
              <p:cNvSpPr txBox="1"/>
              <p:nvPr/>
            </p:nvSpPr>
            <p:spPr>
              <a:xfrm>
                <a:off x="642552" y="3769568"/>
                <a:ext cx="2821029" cy="697050"/>
              </a:xfrm>
              <a:prstGeom prst="rect">
                <a:avLst/>
              </a:prstGeom>
              <a:noFill/>
            </p:spPr>
            <p:txBody>
              <a:bodyPr wrap="none" lIns="0" tIns="0" rIns="0" bIns="0" rtlCol="0">
                <a:spAutoFit/>
              </a:bodyPr>
              <a:lstStyle/>
              <a:p>
                <a:pPr>
                  <a:lnSpc>
                    <a:spcPct val="114000"/>
                  </a:lnSpc>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cs typeface="Arial" panose="020B0604020202020204" pitchFamily="34" charset="0"/>
                            </a:rPr>
                          </m:ctrlPr>
                        </m:sSub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𝑠𝑢𝑠𝑝</m:t>
                          </m:r>
                        </m:sub>
                        <m:sup>
                          <m:r>
                            <a:rPr lang="en-US" b="0" i="1" smtClean="0">
                              <a:latin typeface="Cambria Math" panose="02040503050406030204" pitchFamily="18" charset="0"/>
                              <a:cs typeface="Arial" panose="020B0604020202020204" pitchFamily="34" charset="0"/>
                            </a:rPr>
                            <m:t>∗</m:t>
                          </m:r>
                        </m:sup>
                      </m:sSubSup>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𝑢</m:t>
                              </m:r>
                            </m:e>
                            <m:sub>
                              <m:r>
                                <a:rPr lang="en-US" b="0" i="1" smtClean="0">
                                  <a:latin typeface="Cambria Math" panose="02040503050406030204" pitchFamily="18" charset="0"/>
                                  <a:cs typeface="Arial" panose="020B0604020202020204" pitchFamily="34" charset="0"/>
                                </a:rPr>
                                <m:t>∗,</m:t>
                              </m:r>
                              <m:r>
                                <a:rPr lang="en-US" b="0" i="1" smtClean="0">
                                  <a:latin typeface="Cambria Math" panose="02040503050406030204" pitchFamily="18" charset="0"/>
                                  <a:cs typeface="Arial" panose="020B0604020202020204" pitchFamily="34" charset="0"/>
                                </a:rPr>
                                <m:t>𝑠𝑢𝑠𝑝</m:t>
                              </m:r>
                            </m:sub>
                            <m:sup>
                              <m:r>
                                <a:rPr lang="en-US" b="0" i="1" smtClean="0">
                                  <a:latin typeface="Cambria Math" panose="02040503050406030204" pitchFamily="18" charset="0"/>
                                  <a:cs typeface="Arial" panose="020B0604020202020204" pitchFamily="34" charset="0"/>
                                </a:rPr>
                                <m:t>2</m:t>
                              </m:r>
                            </m:sup>
                          </m:sSubSup>
                        </m:num>
                        <m:den>
                          <m:r>
                            <a:rPr lang="en-US" b="0" i="1" smtClean="0">
                              <a:latin typeface="Cambria Math" panose="02040503050406030204" pitchFamily="18" charset="0"/>
                              <a:cs typeface="Arial" panose="020B0604020202020204" pitchFamily="34" charset="0"/>
                            </a:rPr>
                            <m:t>𝑅𝑔𝐷</m:t>
                          </m:r>
                        </m:den>
                      </m:f>
                      <m:r>
                        <a:rPr lang="en-US" b="0" i="1" smtClean="0">
                          <a:latin typeface="Cambria Math" panose="02040503050406030204" pitchFamily="18" charset="0"/>
                          <a:cs typeface="Arial" panose="020B0604020202020204" pitchFamily="34" charset="0"/>
                        </a:rPr>
                        <m:t>=</m:t>
                      </m:r>
                      <m:f>
                        <m:fPr>
                          <m:ctrlPr>
                            <a:rPr lang="en-US" i="1">
                              <a:latin typeface="Cambria Math" panose="02040503050406030204" pitchFamily="18" charset="0"/>
                              <a:cs typeface="Arial" panose="020B0604020202020204" pitchFamily="34" charset="0"/>
                            </a:rPr>
                          </m:ctrlPr>
                        </m:fPr>
                        <m:num>
                          <m:sSubSup>
                            <m:sSubSupPr>
                              <m:ctrlPr>
                                <a:rPr lang="en-US" i="1">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𝑣</m:t>
                              </m:r>
                            </m:e>
                            <m:sub>
                              <m:r>
                                <a:rPr lang="en-US" b="0" i="1" smtClean="0">
                                  <a:latin typeface="Cambria Math" panose="02040503050406030204" pitchFamily="18" charset="0"/>
                                  <a:cs typeface="Arial" panose="020B0604020202020204" pitchFamily="34" charset="0"/>
                                </a:rPr>
                                <m:t>𝑠</m:t>
                              </m:r>
                            </m:sub>
                            <m:sup>
                              <m:r>
                                <a:rPr lang="en-US" i="1">
                                  <a:latin typeface="Cambria Math" panose="02040503050406030204" pitchFamily="18" charset="0"/>
                                  <a:cs typeface="Arial" panose="020B0604020202020204" pitchFamily="34" charset="0"/>
                                </a:rPr>
                                <m:t>2</m:t>
                              </m:r>
                            </m:sup>
                          </m:sSubSup>
                        </m:num>
                        <m:den>
                          <m:r>
                            <a:rPr lang="en-US" i="1">
                              <a:latin typeface="Cambria Math" panose="02040503050406030204" pitchFamily="18" charset="0"/>
                              <a:cs typeface="Arial" panose="020B0604020202020204" pitchFamily="34" charset="0"/>
                            </a:rPr>
                            <m:t>𝑅𝑔𝐷</m:t>
                          </m:r>
                        </m:den>
                      </m:f>
                      <m:r>
                        <a:rPr lang="en-US" b="0" i="1" smtClean="0">
                          <a:latin typeface="Cambria Math" panose="02040503050406030204" pitchFamily="18" charset="0"/>
                          <a:cs typeface="Arial" panose="020B0604020202020204" pitchFamily="34" charset="0"/>
                        </a:rPr>
                        <m:t>=</m:t>
                      </m:r>
                      <m:sSubSup>
                        <m:sSubSupPr>
                          <m:ctrlPr>
                            <a:rPr lang="en-US" b="0" i="1" smtClean="0">
                              <a:latin typeface="Cambria Math" panose="02040503050406030204" pitchFamily="18" charset="0"/>
                              <a:cs typeface="Arial" panose="020B0604020202020204" pitchFamily="34" charset="0"/>
                            </a:rPr>
                          </m:ctrlPr>
                        </m:sSubSupPr>
                        <m:e>
                          <m:r>
                            <a:rPr lang="en-US" b="0" i="1" smtClean="0">
                              <a:latin typeface="Cambria Math" panose="02040503050406030204" pitchFamily="18" charset="0"/>
                              <a:cs typeface="Arial" panose="020B0604020202020204" pitchFamily="34" charset="0"/>
                            </a:rPr>
                            <m:t>𝑅</m:t>
                          </m:r>
                        </m:e>
                        <m:sub>
                          <m:r>
                            <a:rPr lang="en-US" b="0" i="1" smtClean="0">
                              <a:latin typeface="Cambria Math" panose="02040503050406030204" pitchFamily="18" charset="0"/>
                              <a:cs typeface="Arial" panose="020B0604020202020204" pitchFamily="34" charset="0"/>
                            </a:rPr>
                            <m:t>𝑓</m:t>
                          </m:r>
                        </m:sub>
                        <m:sup>
                          <m:r>
                            <a:rPr lang="en-US" b="0" i="1" smtClean="0">
                              <a:latin typeface="Cambria Math" panose="02040503050406030204" pitchFamily="18" charset="0"/>
                              <a:cs typeface="Arial" panose="020B0604020202020204" pitchFamily="34" charset="0"/>
                            </a:rPr>
                            <m:t>2</m:t>
                          </m:r>
                        </m:sup>
                      </m:sSubSup>
                    </m:oMath>
                  </m:oMathPara>
                </a14:m>
                <a:endParaRPr lang="en-US" dirty="0">
                  <a:latin typeface="Arial" panose="020B0604020202020204" pitchFamily="34" charset="0"/>
                  <a:cs typeface="Arial" panose="020B0604020202020204" pitchFamily="34" charset="0"/>
                </a:endParaRPr>
              </a:p>
            </p:txBody>
          </p:sp>
        </mc:Choice>
        <mc:Fallback xmlns="">
          <p:sp>
            <p:nvSpPr>
              <p:cNvPr id="9" name="TextBox 8">
                <a:extLst>
                  <a:ext uri="{FF2B5EF4-FFF2-40B4-BE49-F238E27FC236}">
                    <a16:creationId xmlns:a16="http://schemas.microsoft.com/office/drawing/2014/main" id="{1201428E-FF87-E643-AE8C-F89E1B18F73F}"/>
                  </a:ext>
                </a:extLst>
              </p:cNvPr>
              <p:cNvSpPr txBox="1">
                <a:spLocks noRot="1" noChangeAspect="1" noMove="1" noResize="1" noEditPoints="1" noAdjustHandles="1" noChangeArrowheads="1" noChangeShapeType="1" noTextEdit="1"/>
              </p:cNvSpPr>
              <p:nvPr/>
            </p:nvSpPr>
            <p:spPr>
              <a:xfrm>
                <a:off x="642552" y="3769568"/>
                <a:ext cx="2821029" cy="697050"/>
              </a:xfrm>
              <a:prstGeom prst="rect">
                <a:avLst/>
              </a:prstGeom>
              <a:blipFill>
                <a:blip r:embed="rId6"/>
                <a:stretch>
                  <a:fillRect l="-448" b="-14286"/>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2D5DE5FC-CA1F-CF4A-AF39-A25373909547}"/>
              </a:ext>
            </a:extLst>
          </p:cNvPr>
          <p:cNvSpPr txBox="1"/>
          <p:nvPr/>
        </p:nvSpPr>
        <p:spPr>
          <a:xfrm>
            <a:off x="572530" y="4692077"/>
            <a:ext cx="11046940"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where R</a:t>
            </a:r>
            <a:r>
              <a:rPr lang="en-US" baseline="-25000" dirty="0">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is a function of the particle Reynolds number Re</a:t>
            </a:r>
            <a:r>
              <a:rPr lang="en-US" baseline="-25000" dirty="0">
                <a:latin typeface="Arial" panose="020B0604020202020204" pitchFamily="34" charset="0"/>
                <a:cs typeface="Arial" panose="020B0604020202020204" pitchFamily="34" charset="0"/>
              </a:rPr>
              <a:t>p</a:t>
            </a:r>
            <a:r>
              <a:rPr lang="en-US" dirty="0">
                <a:latin typeface="Arial" panose="020B0604020202020204" pitchFamily="34" charset="0"/>
                <a:cs typeface="Arial" panose="020B0604020202020204" pitchFamily="34" charset="0"/>
              </a:rPr>
              <a:t> (see notes on sediment characteristics) and  </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EEC3BDF1-11E1-D54C-8141-9DF7D318AF23}"/>
                  </a:ext>
                </a:extLst>
              </p:cNvPr>
              <p:cNvSpPr txBox="1"/>
              <p:nvPr/>
            </p:nvSpPr>
            <p:spPr>
              <a:xfrm>
                <a:off x="642552" y="5250266"/>
                <a:ext cx="1531510" cy="675506"/>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cs typeface="Arial" panose="020B0604020202020204" pitchFamily="34" charset="0"/>
                            </a:rPr>
                          </m:ctrlPr>
                        </m:sSubPr>
                        <m:e>
                          <m:r>
                            <a:rPr lang="en-US" b="0" i="1" smtClean="0">
                              <a:latin typeface="Cambria Math" panose="02040503050406030204" pitchFamily="18" charset="0"/>
                              <a:cs typeface="Arial" panose="020B0604020202020204" pitchFamily="34" charset="0"/>
                            </a:rPr>
                            <m:t>𝑅𝑒</m:t>
                          </m:r>
                        </m:e>
                        <m:sub>
                          <m:r>
                            <a:rPr lang="en-US" b="0" i="1" smtClean="0">
                              <a:latin typeface="Cambria Math" panose="02040503050406030204" pitchFamily="18" charset="0"/>
                              <a:cs typeface="Arial" panose="020B0604020202020204" pitchFamily="34" charset="0"/>
                            </a:rPr>
                            <m:t>𝑝</m:t>
                          </m:r>
                        </m:sub>
                      </m:sSub>
                      <m:r>
                        <a:rPr lang="en-US" b="0" i="1" smtClean="0">
                          <a:latin typeface="Cambria Math" panose="02040503050406030204" pitchFamily="18" charset="0"/>
                          <a:cs typeface="Arial" panose="020B0604020202020204" pitchFamily="34" charset="0"/>
                        </a:rPr>
                        <m:t>=</m:t>
                      </m:r>
                      <m:f>
                        <m:fPr>
                          <m:ctrlPr>
                            <a:rPr lang="en-US" b="0" i="1" smtClean="0">
                              <a:latin typeface="Cambria Math" panose="02040503050406030204" pitchFamily="18" charset="0"/>
                              <a:cs typeface="Arial" panose="020B0604020202020204" pitchFamily="34" charset="0"/>
                            </a:rPr>
                          </m:ctrlPr>
                        </m:fPr>
                        <m:num>
                          <m:rad>
                            <m:radPr>
                              <m:degHide m:val="on"/>
                              <m:ctrlPr>
                                <a:rPr lang="en-US" b="0" i="1" smtClean="0">
                                  <a:latin typeface="Cambria Math" panose="02040503050406030204" pitchFamily="18" charset="0"/>
                                  <a:cs typeface="Arial" panose="020B0604020202020204" pitchFamily="34" charset="0"/>
                                </a:rPr>
                              </m:ctrlPr>
                            </m:radPr>
                            <m:deg/>
                            <m:e>
                              <m:r>
                                <a:rPr lang="en-US" b="0" i="1" smtClean="0">
                                  <a:latin typeface="Cambria Math" panose="02040503050406030204" pitchFamily="18" charset="0"/>
                                  <a:cs typeface="Arial" panose="020B0604020202020204" pitchFamily="34" charset="0"/>
                                </a:rPr>
                                <m:t>𝑅𝑔𝐷</m:t>
                              </m:r>
                            </m:e>
                          </m:rad>
                          <m:r>
                            <a:rPr lang="en-US" b="0" i="1" smtClean="0">
                              <a:latin typeface="Cambria Math" panose="02040503050406030204" pitchFamily="18" charset="0"/>
                              <a:cs typeface="Arial" panose="020B0604020202020204" pitchFamily="34" charset="0"/>
                            </a:rPr>
                            <m:t>𝐷</m:t>
                          </m:r>
                        </m:num>
                        <m:den>
                          <m:r>
                            <a:rPr lang="en-US" b="0" i="1" smtClean="0">
                              <a:latin typeface="Cambria Math" panose="02040503050406030204" pitchFamily="18" charset="0"/>
                              <a:ea typeface="Cambria Math" panose="02040503050406030204" pitchFamily="18" charset="0"/>
                              <a:cs typeface="Arial" panose="020B0604020202020204" pitchFamily="34" charset="0"/>
                            </a:rPr>
                            <m:t>𝜈</m:t>
                          </m:r>
                        </m:den>
                      </m:f>
                    </m:oMath>
                  </m:oMathPara>
                </a14:m>
                <a:endParaRPr lang="en-US" dirty="0">
                  <a:latin typeface="Arial" panose="020B0604020202020204" pitchFamily="34" charset="0"/>
                  <a:cs typeface="Arial" panose="020B0604020202020204" pitchFamily="34" charset="0"/>
                </a:endParaRPr>
              </a:p>
            </p:txBody>
          </p:sp>
        </mc:Choice>
        <mc:Fallback xmlns="">
          <p:sp>
            <p:nvSpPr>
              <p:cNvPr id="20" name="TextBox 19">
                <a:extLst>
                  <a:ext uri="{FF2B5EF4-FFF2-40B4-BE49-F238E27FC236}">
                    <a16:creationId xmlns:a16="http://schemas.microsoft.com/office/drawing/2014/main" id="{EEC3BDF1-11E1-D54C-8141-9DF7D318AF23}"/>
                  </a:ext>
                </a:extLst>
              </p:cNvPr>
              <p:cNvSpPr txBox="1">
                <a:spLocks noRot="1" noChangeAspect="1" noMove="1" noResize="1" noEditPoints="1" noAdjustHandles="1" noChangeArrowheads="1" noChangeShapeType="1" noTextEdit="1"/>
              </p:cNvSpPr>
              <p:nvPr/>
            </p:nvSpPr>
            <p:spPr>
              <a:xfrm>
                <a:off x="642552" y="5250266"/>
                <a:ext cx="1531510" cy="675506"/>
              </a:xfrm>
              <a:prstGeom prst="rect">
                <a:avLst/>
              </a:prstGeom>
              <a:blipFill>
                <a:blip r:embed="rId7"/>
                <a:stretch>
                  <a:fillRect l="-2459" r="-1639" b="-3704"/>
                </a:stretch>
              </a:blipFill>
            </p:spPr>
            <p:txBody>
              <a:bodyPr/>
              <a:lstStyle/>
              <a:p>
                <a:r>
                  <a:rPr lang="en-US">
                    <a:noFill/>
                  </a:rPr>
                  <a:t> </a:t>
                </a:r>
              </a:p>
            </p:txBody>
          </p:sp>
        </mc:Fallback>
      </mc:AlternateContent>
    </p:spTree>
    <p:extLst>
      <p:ext uri="{BB962C8B-B14F-4D97-AF65-F5344CB8AC3E}">
        <p14:creationId xmlns:p14="http://schemas.microsoft.com/office/powerpoint/2010/main" val="23603763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181D69E-EF58-1418-9DFC-DBFB42D302AA}"/>
              </a:ext>
            </a:extLst>
          </p:cNvPr>
          <p:cNvSpPr/>
          <p:nvPr/>
        </p:nvSpPr>
        <p:spPr>
          <a:xfrm>
            <a:off x="6376086" y="1359243"/>
            <a:ext cx="3268246" cy="3534033"/>
          </a:xfrm>
          <a:prstGeom prst="rect">
            <a:avLst/>
          </a:prstGeom>
          <a:solidFill>
            <a:schemeClr val="accent6">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3FC9D75-7EFA-2FF2-21AB-91755ABB71A7}"/>
              </a:ext>
            </a:extLst>
          </p:cNvPr>
          <p:cNvSpPr/>
          <p:nvPr/>
        </p:nvSpPr>
        <p:spPr>
          <a:xfrm>
            <a:off x="4250725" y="1359243"/>
            <a:ext cx="2125361" cy="3534033"/>
          </a:xfrm>
          <a:prstGeom prst="rect">
            <a:avLst/>
          </a:prstGeom>
          <a:solidFill>
            <a:schemeClr val="accent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66CF95BC-8E1D-CF9E-AD2A-A822048B5D04}"/>
              </a:ext>
            </a:extLst>
          </p:cNvPr>
          <p:cNvSpPr/>
          <p:nvPr/>
        </p:nvSpPr>
        <p:spPr>
          <a:xfrm>
            <a:off x="3002693" y="1359243"/>
            <a:ext cx="1248032" cy="3534033"/>
          </a:xfrm>
          <a:prstGeom prst="rect">
            <a:avLst/>
          </a:prstGeom>
          <a:solidFill>
            <a:schemeClr val="tx2">
              <a:lumMod val="20000"/>
              <a:lumOff val="80000"/>
            </a:scheme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54657994-553B-998C-32C2-0E400D45D776}"/>
              </a:ext>
            </a:extLst>
          </p:cNvPr>
          <p:cNvSpPr txBox="1"/>
          <p:nvPr/>
        </p:nvSpPr>
        <p:spPr>
          <a:xfrm>
            <a:off x="5070410" y="1345739"/>
            <a:ext cx="90822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sand</a:t>
            </a:r>
          </a:p>
        </p:txBody>
      </p:sp>
      <p:sp>
        <p:nvSpPr>
          <p:cNvPr id="10" name="TextBox 9">
            <a:extLst>
              <a:ext uri="{FF2B5EF4-FFF2-40B4-BE49-F238E27FC236}">
                <a16:creationId xmlns:a16="http://schemas.microsoft.com/office/drawing/2014/main" id="{336622DD-70BB-1426-23FE-B8CE1EC9F1F9}"/>
              </a:ext>
            </a:extLst>
          </p:cNvPr>
          <p:cNvSpPr txBox="1"/>
          <p:nvPr/>
        </p:nvSpPr>
        <p:spPr>
          <a:xfrm>
            <a:off x="3127368" y="1345739"/>
            <a:ext cx="593125"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silt</a:t>
            </a:r>
          </a:p>
        </p:txBody>
      </p:sp>
      <p:sp>
        <p:nvSpPr>
          <p:cNvPr id="11" name="TextBox 10">
            <a:extLst>
              <a:ext uri="{FF2B5EF4-FFF2-40B4-BE49-F238E27FC236}">
                <a16:creationId xmlns:a16="http://schemas.microsoft.com/office/drawing/2014/main" id="{22374A97-462E-09B2-53AD-D6C2E1AF489F}"/>
              </a:ext>
            </a:extLst>
          </p:cNvPr>
          <p:cNvSpPr txBox="1"/>
          <p:nvPr/>
        </p:nvSpPr>
        <p:spPr>
          <a:xfrm>
            <a:off x="6930158" y="1345739"/>
            <a:ext cx="908221"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gravel</a:t>
            </a:r>
          </a:p>
        </p:txBody>
      </p:sp>
      <p:graphicFrame>
        <p:nvGraphicFramePr>
          <p:cNvPr id="3" name="Chart 2">
            <a:extLst>
              <a:ext uri="{FF2B5EF4-FFF2-40B4-BE49-F238E27FC236}">
                <a16:creationId xmlns:a16="http://schemas.microsoft.com/office/drawing/2014/main" id="{829B5409-4842-454B-8988-21A823CC3068}"/>
              </a:ext>
            </a:extLst>
          </p:cNvPr>
          <p:cNvGraphicFramePr>
            <a:graphicFrameLocks/>
          </p:cNvGraphicFramePr>
          <p:nvPr>
            <p:extLst>
              <p:ext uri="{D42A27DB-BD31-4B8C-83A1-F6EECF244321}">
                <p14:modId xmlns:p14="http://schemas.microsoft.com/office/powerpoint/2010/main" val="977421010"/>
              </p:ext>
            </p:extLst>
          </p:nvPr>
        </p:nvGraphicFramePr>
        <p:xfrm>
          <a:off x="2003425" y="1184275"/>
          <a:ext cx="8185150" cy="4489450"/>
        </p:xfrm>
        <a:graphic>
          <a:graphicData uri="http://schemas.openxmlformats.org/drawingml/2006/chart">
            <c:chart xmlns:c="http://schemas.openxmlformats.org/drawingml/2006/chart" xmlns:r="http://schemas.openxmlformats.org/officeDocument/2006/relationships" r:id="rId3"/>
          </a:graphicData>
        </a:graphic>
      </p:graphicFrame>
      <p:sp>
        <p:nvSpPr>
          <p:cNvPr id="4" name="Slide Number Placeholder 3">
            <a:extLst>
              <a:ext uri="{FF2B5EF4-FFF2-40B4-BE49-F238E27FC236}">
                <a16:creationId xmlns:a16="http://schemas.microsoft.com/office/drawing/2014/main" id="{1E12BEBB-EA85-934C-BCF2-58371126930C}"/>
              </a:ext>
            </a:extLst>
          </p:cNvPr>
          <p:cNvSpPr>
            <a:spLocks noGrp="1"/>
          </p:cNvSpPr>
          <p:nvPr>
            <p:ph type="sldNum" sz="quarter" idx="12"/>
          </p:nvPr>
        </p:nvSpPr>
        <p:spPr/>
        <p:txBody>
          <a:bodyPr/>
          <a:lstStyle/>
          <a:p>
            <a:fld id="{2386C454-E1BD-5A43-901A-CA4ACC7380B7}" type="slidenum">
              <a:rPr lang="en-US" smtClean="0"/>
              <a:t>28</a:t>
            </a:fld>
            <a:endParaRPr lang="en-US" dirty="0"/>
          </a:p>
        </p:txBody>
      </p:sp>
      <p:sp>
        <p:nvSpPr>
          <p:cNvPr id="5" name="TextBox 4">
            <a:extLst>
              <a:ext uri="{FF2B5EF4-FFF2-40B4-BE49-F238E27FC236}">
                <a16:creationId xmlns:a16="http://schemas.microsoft.com/office/drawing/2014/main" id="{FE26F3B4-9DA8-7245-8E6E-F1D070C26EBA}"/>
              </a:ext>
            </a:extLst>
          </p:cNvPr>
          <p:cNvSpPr txBox="1"/>
          <p:nvPr/>
        </p:nvSpPr>
        <p:spPr>
          <a:xfrm>
            <a:off x="185351" y="136525"/>
            <a:ext cx="11800703" cy="954107"/>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Thresholds of motion and preferential mode of bed material transport</a:t>
            </a:r>
          </a:p>
        </p:txBody>
      </p:sp>
      <p:sp>
        <p:nvSpPr>
          <p:cNvPr id="2" name="TextBox 1">
            <a:extLst>
              <a:ext uri="{FF2B5EF4-FFF2-40B4-BE49-F238E27FC236}">
                <a16:creationId xmlns:a16="http://schemas.microsoft.com/office/drawing/2014/main" id="{BAE2BB14-BD9E-684B-BC0B-A55613A99D5B}"/>
              </a:ext>
            </a:extLst>
          </p:cNvPr>
          <p:cNvSpPr txBox="1"/>
          <p:nvPr/>
        </p:nvSpPr>
        <p:spPr>
          <a:xfrm>
            <a:off x="7240043" y="4484318"/>
            <a:ext cx="1565753"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no motion</a:t>
            </a:r>
          </a:p>
        </p:txBody>
      </p:sp>
      <p:sp>
        <p:nvSpPr>
          <p:cNvPr id="21" name="TextBox 20">
            <a:extLst>
              <a:ext uri="{FF2B5EF4-FFF2-40B4-BE49-F238E27FC236}">
                <a16:creationId xmlns:a16="http://schemas.microsoft.com/office/drawing/2014/main" id="{0F782447-C7AC-0B4A-A468-C0F1E2935610}"/>
              </a:ext>
            </a:extLst>
          </p:cNvPr>
          <p:cNvSpPr txBox="1"/>
          <p:nvPr/>
        </p:nvSpPr>
        <p:spPr>
          <a:xfrm>
            <a:off x="3167882" y="3946532"/>
            <a:ext cx="1565753"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no motion</a:t>
            </a:r>
          </a:p>
        </p:txBody>
      </p:sp>
      <p:sp>
        <p:nvSpPr>
          <p:cNvPr id="22" name="TextBox 21">
            <a:extLst>
              <a:ext uri="{FF2B5EF4-FFF2-40B4-BE49-F238E27FC236}">
                <a16:creationId xmlns:a16="http://schemas.microsoft.com/office/drawing/2014/main" id="{52284EFF-5C07-5646-AF3A-461AF8612689}"/>
              </a:ext>
            </a:extLst>
          </p:cNvPr>
          <p:cNvSpPr txBox="1"/>
          <p:nvPr/>
        </p:nvSpPr>
        <p:spPr>
          <a:xfrm>
            <a:off x="7044847" y="3761298"/>
            <a:ext cx="2099153"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bedload transport</a:t>
            </a:r>
          </a:p>
        </p:txBody>
      </p:sp>
      <p:sp>
        <p:nvSpPr>
          <p:cNvPr id="23" name="TextBox 22">
            <a:extLst>
              <a:ext uri="{FF2B5EF4-FFF2-40B4-BE49-F238E27FC236}">
                <a16:creationId xmlns:a16="http://schemas.microsoft.com/office/drawing/2014/main" id="{AAFA4EDE-B04F-F547-AF9A-323BC4F4075B}"/>
              </a:ext>
            </a:extLst>
          </p:cNvPr>
          <p:cNvSpPr txBox="1"/>
          <p:nvPr/>
        </p:nvSpPr>
        <p:spPr>
          <a:xfrm>
            <a:off x="6669067" y="2501112"/>
            <a:ext cx="2099153"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no suspension</a:t>
            </a:r>
          </a:p>
        </p:txBody>
      </p:sp>
      <p:sp>
        <p:nvSpPr>
          <p:cNvPr id="24" name="TextBox 23">
            <a:extLst>
              <a:ext uri="{FF2B5EF4-FFF2-40B4-BE49-F238E27FC236}">
                <a16:creationId xmlns:a16="http://schemas.microsoft.com/office/drawing/2014/main" id="{B0FBB6F7-DC95-E640-AC57-A2437342553E}"/>
              </a:ext>
            </a:extLst>
          </p:cNvPr>
          <p:cNvSpPr txBox="1"/>
          <p:nvPr/>
        </p:nvSpPr>
        <p:spPr>
          <a:xfrm>
            <a:off x="3722979" y="2075910"/>
            <a:ext cx="2507293" cy="381708"/>
          </a:xfrm>
          <a:prstGeom prst="rect">
            <a:avLst/>
          </a:prstGeom>
          <a:noFill/>
        </p:spPr>
        <p:txBody>
          <a:bodyPr wrap="square" rtlCol="0">
            <a:spAutoFit/>
          </a:bodyPr>
          <a:lstStyle/>
          <a:p>
            <a:pPr algn="l">
              <a:lnSpc>
                <a:spcPct val="114000"/>
              </a:lnSpc>
            </a:pPr>
            <a:r>
              <a:rPr lang="en-US" dirty="0">
                <a:latin typeface="Arial" panose="020B0604020202020204" pitchFamily="34" charset="0"/>
                <a:cs typeface="Arial" panose="020B0604020202020204" pitchFamily="34" charset="0"/>
              </a:rPr>
              <a:t>suspended transport</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FF0ECD-A3A1-CE46-46A8-B7770599BABD}"/>
                  </a:ext>
                </a:extLst>
              </p:cNvPr>
              <p:cNvSpPr txBox="1"/>
              <p:nvPr/>
            </p:nvSpPr>
            <p:spPr>
              <a:xfrm>
                <a:off x="9144000" y="3979490"/>
                <a:ext cx="274049" cy="315792"/>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cs typeface="Arial" panose="020B0604020202020204" pitchFamily="34" charset="0"/>
                            </a:rPr>
                          </m:ctrlPr>
                        </m:sSub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𝑐</m:t>
                          </m:r>
                        </m:sub>
                        <m:sup>
                          <m:r>
                            <a:rPr lang="en-US" b="0" i="1" smtClean="0">
                              <a:latin typeface="Cambria Math" panose="02040503050406030204" pitchFamily="18" charset="0"/>
                              <a:cs typeface="Arial" panose="020B0604020202020204" pitchFamily="34" charset="0"/>
                            </a:rPr>
                            <m:t>∗</m:t>
                          </m:r>
                        </m:sup>
                      </m:sSubSup>
                    </m:oMath>
                  </m:oMathPara>
                </a14:m>
                <a:endParaRPr lang="en-US" dirty="0">
                  <a:latin typeface="Arial" panose="020B0604020202020204" pitchFamily="34" charset="0"/>
                  <a:cs typeface="Arial" panose="020B0604020202020204" pitchFamily="34" charset="0"/>
                </a:endParaRPr>
              </a:p>
            </p:txBody>
          </p:sp>
        </mc:Choice>
        <mc:Fallback xmlns="">
          <p:sp>
            <p:nvSpPr>
              <p:cNvPr id="12" name="TextBox 11">
                <a:extLst>
                  <a:ext uri="{FF2B5EF4-FFF2-40B4-BE49-F238E27FC236}">
                    <a16:creationId xmlns:a16="http://schemas.microsoft.com/office/drawing/2014/main" id="{75FF0ECD-A3A1-CE46-46A8-B7770599BABD}"/>
                  </a:ext>
                </a:extLst>
              </p:cNvPr>
              <p:cNvSpPr txBox="1">
                <a:spLocks noRot="1" noChangeAspect="1" noMove="1" noResize="1" noEditPoints="1" noAdjustHandles="1" noChangeArrowheads="1" noChangeShapeType="1" noTextEdit="1"/>
              </p:cNvSpPr>
              <p:nvPr/>
            </p:nvSpPr>
            <p:spPr>
              <a:xfrm>
                <a:off x="9144000" y="3979490"/>
                <a:ext cx="274049" cy="315792"/>
              </a:xfrm>
              <a:prstGeom prst="rect">
                <a:avLst/>
              </a:prstGeom>
              <a:blipFill>
                <a:blip r:embed="rId4"/>
                <a:stretch>
                  <a:fillRect l="-9091" r="-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CC21EC1-A3B0-E842-D861-6DAA2B8C0788}"/>
                  </a:ext>
                </a:extLst>
              </p:cNvPr>
              <p:cNvSpPr txBox="1"/>
              <p:nvPr/>
            </p:nvSpPr>
            <p:spPr>
              <a:xfrm>
                <a:off x="8668771" y="1856768"/>
                <a:ext cx="559833" cy="340221"/>
              </a:xfrm>
              <a:prstGeom prst="rect">
                <a:avLst/>
              </a:prstGeom>
              <a:noFill/>
            </p:spPr>
            <p:txBody>
              <a:bodyPr wrap="none" lIns="0" tIns="0" rIns="0" bIns="0" rtlCol="0">
                <a:spAutoFit/>
              </a:bodyPr>
              <a:lstStyle/>
              <a:p>
                <a:pPr algn="l">
                  <a:lnSpc>
                    <a:spcPct val="114000"/>
                  </a:lnSpc>
                </a:pPr>
                <a14:m>
                  <m:oMathPara xmlns:m="http://schemas.openxmlformats.org/officeDocument/2006/math">
                    <m:oMathParaPr>
                      <m:jc m:val="centerGroup"/>
                    </m:oMathParaPr>
                    <m:oMath xmlns:m="http://schemas.openxmlformats.org/officeDocument/2006/math">
                      <m:sSubSup>
                        <m:sSubSupPr>
                          <m:ctrlPr>
                            <a:rPr lang="en-US" i="1" smtClean="0">
                              <a:latin typeface="Cambria Math" panose="02040503050406030204" pitchFamily="18" charset="0"/>
                              <a:cs typeface="Arial" panose="020B0604020202020204" pitchFamily="34" charset="0"/>
                            </a:rPr>
                          </m:ctrlPr>
                        </m:sSubSupPr>
                        <m:e>
                          <m:r>
                            <a:rPr lang="en-US" i="1" smtClean="0">
                              <a:latin typeface="Cambria Math" panose="02040503050406030204" pitchFamily="18" charset="0"/>
                              <a:ea typeface="Cambria Math" panose="02040503050406030204" pitchFamily="18" charset="0"/>
                              <a:cs typeface="Arial" panose="020B0604020202020204" pitchFamily="34" charset="0"/>
                            </a:rPr>
                            <m:t>𝜏</m:t>
                          </m:r>
                        </m:e>
                        <m:sub>
                          <m:r>
                            <a:rPr lang="en-US" b="0" i="1" smtClean="0">
                              <a:latin typeface="Cambria Math" panose="02040503050406030204" pitchFamily="18" charset="0"/>
                              <a:cs typeface="Arial" panose="020B0604020202020204" pitchFamily="34" charset="0"/>
                            </a:rPr>
                            <m:t>𝑠𝑢𝑠𝑝</m:t>
                          </m:r>
                        </m:sub>
                        <m:sup>
                          <m:r>
                            <a:rPr lang="en-US" b="0" i="1" smtClean="0">
                              <a:latin typeface="Cambria Math" panose="02040503050406030204" pitchFamily="18" charset="0"/>
                              <a:cs typeface="Arial" panose="020B0604020202020204" pitchFamily="34" charset="0"/>
                            </a:rPr>
                            <m:t>∗</m:t>
                          </m:r>
                        </m:sup>
                      </m:sSubSup>
                    </m:oMath>
                  </m:oMathPara>
                </a14:m>
                <a:endParaRPr lang="en-US" dirty="0">
                  <a:latin typeface="Arial" panose="020B0604020202020204" pitchFamily="34" charset="0"/>
                  <a:cs typeface="Arial" panose="020B0604020202020204" pitchFamily="34" charset="0"/>
                </a:endParaRPr>
              </a:p>
            </p:txBody>
          </p:sp>
        </mc:Choice>
        <mc:Fallback xmlns="">
          <p:sp>
            <p:nvSpPr>
              <p:cNvPr id="13" name="TextBox 12">
                <a:extLst>
                  <a:ext uri="{FF2B5EF4-FFF2-40B4-BE49-F238E27FC236}">
                    <a16:creationId xmlns:a16="http://schemas.microsoft.com/office/drawing/2014/main" id="{8CC21EC1-A3B0-E842-D861-6DAA2B8C0788}"/>
                  </a:ext>
                </a:extLst>
              </p:cNvPr>
              <p:cNvSpPr txBox="1">
                <a:spLocks noRot="1" noChangeAspect="1" noMove="1" noResize="1" noEditPoints="1" noAdjustHandles="1" noChangeArrowheads="1" noChangeShapeType="1" noTextEdit="1"/>
              </p:cNvSpPr>
              <p:nvPr/>
            </p:nvSpPr>
            <p:spPr>
              <a:xfrm>
                <a:off x="8668771" y="1856768"/>
                <a:ext cx="559833" cy="340221"/>
              </a:xfrm>
              <a:prstGeom prst="rect">
                <a:avLst/>
              </a:prstGeom>
              <a:blipFill>
                <a:blip r:embed="rId5"/>
                <a:stretch>
                  <a:fillRect l="-2222" r="-2222" b="-18519"/>
                </a:stretch>
              </a:blipFill>
            </p:spPr>
            <p:txBody>
              <a:bodyPr/>
              <a:lstStyle/>
              <a:p>
                <a:r>
                  <a:rPr lang="en-US">
                    <a:noFill/>
                  </a:rPr>
                  <a:t> </a:t>
                </a:r>
              </a:p>
            </p:txBody>
          </p:sp>
        </mc:Fallback>
      </mc:AlternateContent>
    </p:spTree>
    <p:extLst>
      <p:ext uri="{BB962C8B-B14F-4D97-AF65-F5344CB8AC3E}">
        <p14:creationId xmlns:p14="http://schemas.microsoft.com/office/powerpoint/2010/main" val="19226279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E26F3B4-9DA8-7245-8E6E-F1D070C26EBA}"/>
              </a:ext>
            </a:extLst>
          </p:cNvPr>
          <p:cNvSpPr txBox="1"/>
          <p:nvPr/>
        </p:nvSpPr>
        <p:spPr>
          <a:xfrm>
            <a:off x="1155370" y="136525"/>
            <a:ext cx="9881259" cy="523220"/>
          </a:xfrm>
          <a:prstGeom prst="rect">
            <a:avLst/>
          </a:prstGeom>
          <a:noFill/>
        </p:spPr>
        <p:txBody>
          <a:bodyPr wrap="square" rtlCol="0">
            <a:spAutoFit/>
          </a:bodyPr>
          <a:lstStyle/>
          <a:p>
            <a:pPr algn="ctr"/>
            <a:r>
              <a:rPr lang="en-US" sz="2800" b="1" dirty="0">
                <a:latin typeface="Arial" panose="020B0604020202020204" pitchFamily="34" charset="0"/>
                <a:cs typeface="Arial" panose="020B0604020202020204" pitchFamily="34" charset="0"/>
              </a:rPr>
              <a:t>References</a:t>
            </a:r>
          </a:p>
        </p:txBody>
      </p:sp>
      <p:sp>
        <p:nvSpPr>
          <p:cNvPr id="64" name="Slide Number Placeholder 3">
            <a:extLst>
              <a:ext uri="{FF2B5EF4-FFF2-40B4-BE49-F238E27FC236}">
                <a16:creationId xmlns:a16="http://schemas.microsoft.com/office/drawing/2014/main" id="{8D3BDA59-59CE-814F-BFB3-6679FAD7D350}"/>
              </a:ext>
            </a:extLst>
          </p:cNvPr>
          <p:cNvSpPr>
            <a:spLocks noGrp="1"/>
          </p:cNvSpPr>
          <p:nvPr>
            <p:ph type="sldNum" sz="quarter" idx="12"/>
          </p:nvPr>
        </p:nvSpPr>
        <p:spPr>
          <a:xfrm>
            <a:off x="8610600" y="6356350"/>
            <a:ext cx="2743200" cy="365125"/>
          </a:xfrm>
        </p:spPr>
        <p:txBody>
          <a:bodyPr/>
          <a:lstStyle/>
          <a:p>
            <a:fld id="{2386C454-E1BD-5A43-901A-CA4ACC7380B7}" type="slidenum">
              <a:rPr lang="en-US" smtClean="0"/>
              <a:t>29</a:t>
            </a:fld>
            <a:endParaRPr lang="en-US" dirty="0"/>
          </a:p>
        </p:txBody>
      </p:sp>
      <p:sp>
        <p:nvSpPr>
          <p:cNvPr id="10" name="TextBox 9">
            <a:extLst>
              <a:ext uri="{FF2B5EF4-FFF2-40B4-BE49-F238E27FC236}">
                <a16:creationId xmlns:a16="http://schemas.microsoft.com/office/drawing/2014/main" id="{F20C5C7A-3C38-A944-8FA3-91CAB054E168}"/>
              </a:ext>
            </a:extLst>
          </p:cNvPr>
          <p:cNvSpPr txBox="1"/>
          <p:nvPr/>
        </p:nvSpPr>
        <p:spPr>
          <a:xfrm>
            <a:off x="211015" y="984738"/>
            <a:ext cx="11651471" cy="4171270"/>
          </a:xfrm>
          <a:prstGeom prst="rect">
            <a:avLst/>
          </a:prstGeom>
          <a:noFill/>
        </p:spPr>
        <p:txBody>
          <a:bodyPr wrap="square" rtlCol="0">
            <a:spAutoFit/>
          </a:bodyPr>
          <a:lstStyle/>
          <a:p>
            <a:pPr>
              <a:lnSpc>
                <a:spcPct val="114000"/>
              </a:lnSpc>
            </a:pPr>
            <a:r>
              <a:rPr lang="en-US" dirty="0" err="1">
                <a:latin typeface="Arial" panose="020B0604020202020204" pitchFamily="34" charset="0"/>
                <a:cs typeface="Arial" panose="020B0604020202020204" pitchFamily="34" charset="0"/>
              </a:rPr>
              <a:t>Brownlie</a:t>
            </a:r>
            <a:r>
              <a:rPr lang="en-US" dirty="0">
                <a:latin typeface="Arial" panose="020B0604020202020204" pitchFamily="34" charset="0"/>
                <a:cs typeface="Arial" panose="020B0604020202020204" pitchFamily="34" charset="0"/>
              </a:rPr>
              <a:t>, W. R. (1981). Prediction of flow depth and sediment discharge in open channels. Report No. KH-R-43A California Institute of Technology, Pasadena, California. </a:t>
            </a:r>
          </a:p>
          <a:p>
            <a:pPr>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Ikeda, S. (1982). Incipient motion of sand particles on side slopes. Journal of the Hydraulic Division 108 HY1, 95-114.</a:t>
            </a:r>
          </a:p>
          <a:p>
            <a:pPr>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a:latin typeface="Arial" panose="020B0604020202020204" pitchFamily="34" charset="0"/>
                <a:cs typeface="Arial" panose="020B0604020202020204" pitchFamily="34" charset="0"/>
              </a:rPr>
              <a:t>Parker, G., Toro-Escobar, C. M., Ramey, M. and Beck, S. (2003). Effect of floodwater extraction on mountain stream morphology. Journal of Hydraulic Engineering 129 (11), 885-895.</a:t>
            </a:r>
          </a:p>
          <a:p>
            <a:pPr>
              <a:lnSpc>
                <a:spcPct val="114000"/>
              </a:lnSpc>
            </a:pPr>
            <a:endParaRPr lang="en-US" dirty="0">
              <a:latin typeface="Arial" panose="020B0604020202020204" pitchFamily="34" charset="0"/>
              <a:cs typeface="Arial" panose="020B0604020202020204" pitchFamily="34" charset="0"/>
            </a:endParaRPr>
          </a:p>
          <a:p>
            <a:pPr>
              <a:lnSpc>
                <a:spcPct val="114000"/>
              </a:lnSpc>
            </a:pPr>
            <a:r>
              <a:rPr lang="en-US" dirty="0" err="1">
                <a:latin typeface="Arial" panose="020B0604020202020204" pitchFamily="34" charset="0"/>
                <a:cs typeface="Arial" panose="020B0604020202020204" pitchFamily="34" charset="0"/>
              </a:rPr>
              <a:t>Wiberg</a:t>
            </a:r>
            <a:r>
              <a:rPr lang="en-US" dirty="0">
                <a:latin typeface="Arial" panose="020B0604020202020204" pitchFamily="34" charset="0"/>
                <a:cs typeface="Arial" panose="020B0604020202020204" pitchFamily="34" charset="0"/>
              </a:rPr>
              <a:t>, P. L. and Smith, J. D. (1987). Calculations of the critical shear stress for motion of uniform and heterogeneous sediments. Water Resources Research 23 (8), 1471 – 1480. </a:t>
            </a:r>
          </a:p>
          <a:p>
            <a:pPr>
              <a:lnSpc>
                <a:spcPct val="114000"/>
              </a:lnSpc>
            </a:pPr>
            <a:endParaRPr lang="en-US" dirty="0">
              <a:latin typeface="Arial" panose="020B0604020202020204" pitchFamily="34" charset="0"/>
              <a:cs typeface="Arial" panose="020B0604020202020204" pitchFamily="34" charset="0"/>
            </a:endParaRPr>
          </a:p>
          <a:p>
            <a:pPr>
              <a:lnSpc>
                <a:spcPct val="114000"/>
              </a:lnSpc>
            </a:pP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623020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9050">
          <a:solidFill>
            <a:schemeClr val="tx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114000"/>
          </a:lnSpc>
          <a:defRPr dirty="0" smtClean="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2642</TotalTime>
  <Words>3317</Words>
  <Application>Microsoft Office PowerPoint</Application>
  <PresentationFormat>Widescreen</PresentationFormat>
  <Paragraphs>357</Paragraphs>
  <Slides>29</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Calibri Light</vt:lpstr>
      <vt:lpstr>Cambria Math</vt:lpstr>
      <vt:lpstr>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VIPARELLI, ENRICA</dc:creator>
  <cp:lastModifiedBy>Viparelli, Enrica</cp:lastModifiedBy>
  <cp:revision>464</cp:revision>
  <dcterms:created xsi:type="dcterms:W3CDTF">2021-02-08T21:22:29Z</dcterms:created>
  <dcterms:modified xsi:type="dcterms:W3CDTF">2026-07-30T01:14:55Z</dcterms:modified>
</cp:coreProperties>
</file>