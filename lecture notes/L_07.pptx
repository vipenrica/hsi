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0"/>
  </p:notesMasterIdLst>
  <p:handoutMasterIdLst>
    <p:handoutMasterId r:id="rId61"/>
  </p:handoutMasterIdLst>
  <p:sldIdLst>
    <p:sldId id="256" r:id="rId2"/>
    <p:sldId id="352" r:id="rId3"/>
    <p:sldId id="353" r:id="rId4"/>
    <p:sldId id="354" r:id="rId5"/>
    <p:sldId id="355" r:id="rId6"/>
    <p:sldId id="356" r:id="rId7"/>
    <p:sldId id="357" r:id="rId8"/>
    <p:sldId id="358" r:id="rId9"/>
    <p:sldId id="359" r:id="rId10"/>
    <p:sldId id="360" r:id="rId11"/>
    <p:sldId id="400" r:id="rId12"/>
    <p:sldId id="401" r:id="rId13"/>
    <p:sldId id="361" r:id="rId14"/>
    <p:sldId id="412" r:id="rId15"/>
    <p:sldId id="363" r:id="rId16"/>
    <p:sldId id="365" r:id="rId17"/>
    <p:sldId id="366" r:id="rId18"/>
    <p:sldId id="367" r:id="rId19"/>
    <p:sldId id="368" r:id="rId20"/>
    <p:sldId id="369" r:id="rId21"/>
    <p:sldId id="370" r:id="rId22"/>
    <p:sldId id="371" r:id="rId23"/>
    <p:sldId id="372" r:id="rId24"/>
    <p:sldId id="391" r:id="rId25"/>
    <p:sldId id="392" r:id="rId26"/>
    <p:sldId id="393" r:id="rId27"/>
    <p:sldId id="396" r:id="rId28"/>
    <p:sldId id="397" r:id="rId29"/>
    <p:sldId id="398" r:id="rId30"/>
    <p:sldId id="399" r:id="rId31"/>
    <p:sldId id="402" r:id="rId32"/>
    <p:sldId id="373" r:id="rId33"/>
    <p:sldId id="374" r:id="rId34"/>
    <p:sldId id="375" r:id="rId35"/>
    <p:sldId id="376" r:id="rId36"/>
    <p:sldId id="377" r:id="rId37"/>
    <p:sldId id="378" r:id="rId38"/>
    <p:sldId id="379" r:id="rId39"/>
    <p:sldId id="380" r:id="rId40"/>
    <p:sldId id="381" r:id="rId41"/>
    <p:sldId id="385" r:id="rId42"/>
    <p:sldId id="384" r:id="rId43"/>
    <p:sldId id="395" r:id="rId44"/>
    <p:sldId id="386" r:id="rId45"/>
    <p:sldId id="387" r:id="rId46"/>
    <p:sldId id="388" r:id="rId47"/>
    <p:sldId id="389" r:id="rId48"/>
    <p:sldId id="390" r:id="rId49"/>
    <p:sldId id="394" r:id="rId50"/>
    <p:sldId id="403" r:id="rId51"/>
    <p:sldId id="404" r:id="rId52"/>
    <p:sldId id="405" r:id="rId53"/>
    <p:sldId id="406" r:id="rId54"/>
    <p:sldId id="407" r:id="rId55"/>
    <p:sldId id="408" r:id="rId56"/>
    <p:sldId id="409" r:id="rId57"/>
    <p:sldId id="410" r:id="rId58"/>
    <p:sldId id="411"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AF3"/>
    <a:srgbClr val="F9D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FDBEA5-513E-4FD5-A772-8591AD3586B9}" v="2" dt="2026-08-05T00:22:51.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84" autoAdjust="0"/>
    <p:restoredTop sz="92951" autoAdjust="0"/>
  </p:normalViewPr>
  <p:slideViewPr>
    <p:cSldViewPr snapToGrid="0" snapToObjects="1">
      <p:cViewPr varScale="1">
        <p:scale>
          <a:sx n="62" d="100"/>
          <a:sy n="62" d="100"/>
        </p:scale>
        <p:origin x="585" y="33"/>
      </p:cViewPr>
      <p:guideLst/>
    </p:cSldViewPr>
  </p:slideViewPr>
  <p:outlineViewPr>
    <p:cViewPr>
      <p:scale>
        <a:sx n="33" d="100"/>
        <a:sy n="33" d="100"/>
      </p:scale>
      <p:origin x="0" y="-4860"/>
    </p:cViewPr>
  </p:outlineViewPr>
  <p:notesTextViewPr>
    <p:cViewPr>
      <p:scale>
        <a:sx n="1" d="1"/>
        <a:sy n="1" d="1"/>
      </p:scale>
      <p:origin x="0" y="0"/>
    </p:cViewPr>
  </p:notesTextViewPr>
  <p:sorterViewPr>
    <p:cViewPr>
      <p:scale>
        <a:sx n="66" d="100"/>
        <a:sy n="66" d="100"/>
      </p:scale>
      <p:origin x="0" y="-5400"/>
    </p:cViewPr>
  </p:sorterViewPr>
  <p:notesViewPr>
    <p:cSldViewPr snapToGrid="0" snapToObjects="1">
      <p:cViewPr varScale="1">
        <p:scale>
          <a:sx n="42" d="100"/>
          <a:sy n="42" d="100"/>
        </p:scale>
        <p:origin x="2454" y="4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parelli, Enrica" userId="e6d7b4aa-a798-4692-bd7e-df2e77cda6e3" providerId="ADAL" clId="{AED95555-86AE-4DAC-9C4C-6A607A963546}"/>
    <pc:docChg chg="addSld modSld">
      <pc:chgData name="Viparelli, Enrica" userId="e6d7b4aa-a798-4692-bd7e-df2e77cda6e3" providerId="ADAL" clId="{AED95555-86AE-4DAC-9C4C-6A607A963546}" dt="2026-08-05T00:22:51.961" v="1" actId="767"/>
      <pc:docMkLst>
        <pc:docMk/>
      </pc:docMkLst>
      <pc:sldChg chg="addSp modSp">
        <pc:chgData name="Viparelli, Enrica" userId="e6d7b4aa-a798-4692-bd7e-df2e77cda6e3" providerId="ADAL" clId="{AED95555-86AE-4DAC-9C4C-6A607A963546}" dt="2026-08-05T00:22:51.961" v="1" actId="767"/>
        <pc:sldMkLst>
          <pc:docMk/>
          <pc:sldMk cId="1946517848" sldId="361"/>
        </pc:sldMkLst>
        <pc:spChg chg="add mod">
          <ac:chgData name="Viparelli, Enrica" userId="e6d7b4aa-a798-4692-bd7e-df2e77cda6e3" providerId="ADAL" clId="{AED95555-86AE-4DAC-9C4C-6A607A963546}" dt="2026-08-05T00:22:51.961" v="1" actId="767"/>
          <ac:spMkLst>
            <pc:docMk/>
            <pc:sldMk cId="1946517848" sldId="361"/>
            <ac:spMk id="2" creationId="{D4CA5DA0-0B90-57CF-7F68-C9D7D10FD4A6}"/>
          </ac:spMkLst>
        </pc:spChg>
      </pc:sldChg>
      <pc:sldChg chg="add">
        <pc:chgData name="Viparelli, Enrica" userId="e6d7b4aa-a798-4692-bd7e-df2e77cda6e3" providerId="ADAL" clId="{AED95555-86AE-4DAC-9C4C-6A607A963546}" dt="2026-08-05T00:20:21.191" v="0"/>
        <pc:sldMkLst>
          <pc:docMk/>
          <pc:sldMk cId="346745656" sldId="403"/>
        </pc:sldMkLst>
      </pc:sldChg>
      <pc:sldChg chg="add">
        <pc:chgData name="Viparelli, Enrica" userId="e6d7b4aa-a798-4692-bd7e-df2e77cda6e3" providerId="ADAL" clId="{AED95555-86AE-4DAC-9C4C-6A607A963546}" dt="2026-08-05T00:20:21.191" v="0"/>
        <pc:sldMkLst>
          <pc:docMk/>
          <pc:sldMk cId="2512530255" sldId="404"/>
        </pc:sldMkLst>
      </pc:sldChg>
      <pc:sldChg chg="add">
        <pc:chgData name="Viparelli, Enrica" userId="e6d7b4aa-a798-4692-bd7e-df2e77cda6e3" providerId="ADAL" clId="{AED95555-86AE-4DAC-9C4C-6A607A963546}" dt="2026-08-05T00:20:21.191" v="0"/>
        <pc:sldMkLst>
          <pc:docMk/>
          <pc:sldMk cId="594541645" sldId="405"/>
        </pc:sldMkLst>
      </pc:sldChg>
      <pc:sldChg chg="add">
        <pc:chgData name="Viparelli, Enrica" userId="e6d7b4aa-a798-4692-bd7e-df2e77cda6e3" providerId="ADAL" clId="{AED95555-86AE-4DAC-9C4C-6A607A963546}" dt="2026-08-05T00:20:21.191" v="0"/>
        <pc:sldMkLst>
          <pc:docMk/>
          <pc:sldMk cId="1975580331" sldId="406"/>
        </pc:sldMkLst>
      </pc:sldChg>
      <pc:sldChg chg="add">
        <pc:chgData name="Viparelli, Enrica" userId="e6d7b4aa-a798-4692-bd7e-df2e77cda6e3" providerId="ADAL" clId="{AED95555-86AE-4DAC-9C4C-6A607A963546}" dt="2026-08-05T00:20:21.191" v="0"/>
        <pc:sldMkLst>
          <pc:docMk/>
          <pc:sldMk cId="1185361964" sldId="407"/>
        </pc:sldMkLst>
      </pc:sldChg>
      <pc:sldChg chg="add">
        <pc:chgData name="Viparelli, Enrica" userId="e6d7b4aa-a798-4692-bd7e-df2e77cda6e3" providerId="ADAL" clId="{AED95555-86AE-4DAC-9C4C-6A607A963546}" dt="2026-08-05T00:20:21.191" v="0"/>
        <pc:sldMkLst>
          <pc:docMk/>
          <pc:sldMk cId="1938548253" sldId="408"/>
        </pc:sldMkLst>
      </pc:sldChg>
      <pc:sldChg chg="add">
        <pc:chgData name="Viparelli, Enrica" userId="e6d7b4aa-a798-4692-bd7e-df2e77cda6e3" providerId="ADAL" clId="{AED95555-86AE-4DAC-9C4C-6A607A963546}" dt="2026-08-05T00:20:21.191" v="0"/>
        <pc:sldMkLst>
          <pc:docMk/>
          <pc:sldMk cId="532157121" sldId="409"/>
        </pc:sldMkLst>
      </pc:sldChg>
      <pc:sldChg chg="add">
        <pc:chgData name="Viparelli, Enrica" userId="e6d7b4aa-a798-4692-bd7e-df2e77cda6e3" providerId="ADAL" clId="{AED95555-86AE-4DAC-9C4C-6A607A963546}" dt="2026-08-05T00:20:21.191" v="0"/>
        <pc:sldMkLst>
          <pc:docMk/>
          <pc:sldMk cId="541566044" sldId="410"/>
        </pc:sldMkLst>
      </pc:sldChg>
      <pc:sldChg chg="add">
        <pc:chgData name="Viparelli, Enrica" userId="e6d7b4aa-a798-4692-bd7e-df2e77cda6e3" providerId="ADAL" clId="{AED95555-86AE-4DAC-9C4C-6A607A963546}" dt="2026-08-05T00:20:21.191" v="0"/>
        <pc:sldMkLst>
          <pc:docMk/>
          <pc:sldMk cId="2319243507" sldId="41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48828C2-F0F5-9908-0E07-B2937ECE132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C06EE2E-13E6-14CE-D99C-FCA6B7CEBCF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402AF62-C460-40D9-9079-6927D216098A}" type="datetimeFigureOut">
              <a:rPr lang="en-US" smtClean="0"/>
              <a:t>8/4/2026</a:t>
            </a:fld>
            <a:endParaRPr lang="en-US"/>
          </a:p>
        </p:txBody>
      </p:sp>
      <p:sp>
        <p:nvSpPr>
          <p:cNvPr id="4" name="Footer Placeholder 3">
            <a:extLst>
              <a:ext uri="{FF2B5EF4-FFF2-40B4-BE49-F238E27FC236}">
                <a16:creationId xmlns:a16="http://schemas.microsoft.com/office/drawing/2014/main" id="{5226E447-6925-D38D-65F4-6A50F7EB4A1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C55A2E9-F359-F6C6-32B7-5FEAD5C8C65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47197F8-985E-4CF3-AD56-DA92BAE09641}" type="slidenum">
              <a:rPr lang="en-US" smtClean="0"/>
              <a:t>‹#›</a:t>
            </a:fld>
            <a:endParaRPr lang="en-US"/>
          </a:p>
        </p:txBody>
      </p:sp>
    </p:spTree>
    <p:extLst>
      <p:ext uri="{BB962C8B-B14F-4D97-AF65-F5344CB8AC3E}">
        <p14:creationId xmlns:p14="http://schemas.microsoft.com/office/powerpoint/2010/main" val="20515137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364E3B-2BD9-864E-AEBF-C16A4A7C077A}" type="datetimeFigureOut">
              <a:rPr lang="en-US" smtClean="0"/>
              <a:t>8/4/2026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83F09F-D818-3049-9A05-0F1DC139FC7C}" type="slidenum">
              <a:rPr lang="en-US" smtClean="0"/>
              <a:t>‹#›</a:t>
            </a:fld>
            <a:endParaRPr lang="en-US"/>
          </a:p>
        </p:txBody>
      </p:sp>
    </p:spTree>
    <p:extLst>
      <p:ext uri="{BB962C8B-B14F-4D97-AF65-F5344CB8AC3E}">
        <p14:creationId xmlns:p14="http://schemas.microsoft.com/office/powerpoint/2010/main" val="3269747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11</a:t>
            </a:fld>
            <a:endParaRPr lang="en-US"/>
          </a:p>
        </p:txBody>
      </p:sp>
    </p:spTree>
    <p:extLst>
      <p:ext uri="{BB962C8B-B14F-4D97-AF65-F5344CB8AC3E}">
        <p14:creationId xmlns:p14="http://schemas.microsoft.com/office/powerpoint/2010/main" val="5514830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12</a:t>
            </a:fld>
            <a:endParaRPr lang="en-US"/>
          </a:p>
        </p:txBody>
      </p:sp>
    </p:spTree>
    <p:extLst>
      <p:ext uri="{BB962C8B-B14F-4D97-AF65-F5344CB8AC3E}">
        <p14:creationId xmlns:p14="http://schemas.microsoft.com/office/powerpoint/2010/main" val="18762361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24</a:t>
            </a:fld>
            <a:endParaRPr lang="en-US"/>
          </a:p>
        </p:txBody>
      </p:sp>
    </p:spTree>
    <p:extLst>
      <p:ext uri="{BB962C8B-B14F-4D97-AF65-F5344CB8AC3E}">
        <p14:creationId xmlns:p14="http://schemas.microsoft.com/office/powerpoint/2010/main" val="31086984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25</a:t>
            </a:fld>
            <a:endParaRPr lang="en-US"/>
          </a:p>
        </p:txBody>
      </p:sp>
    </p:spTree>
    <p:extLst>
      <p:ext uri="{BB962C8B-B14F-4D97-AF65-F5344CB8AC3E}">
        <p14:creationId xmlns:p14="http://schemas.microsoft.com/office/powerpoint/2010/main" val="9449429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26</a:t>
            </a:fld>
            <a:endParaRPr lang="en-US"/>
          </a:p>
        </p:txBody>
      </p:sp>
    </p:spTree>
    <p:extLst>
      <p:ext uri="{BB962C8B-B14F-4D97-AF65-F5344CB8AC3E}">
        <p14:creationId xmlns:p14="http://schemas.microsoft.com/office/powerpoint/2010/main" val="8702392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27</a:t>
            </a:fld>
            <a:endParaRPr lang="en-US"/>
          </a:p>
        </p:txBody>
      </p:sp>
    </p:spTree>
    <p:extLst>
      <p:ext uri="{BB962C8B-B14F-4D97-AF65-F5344CB8AC3E}">
        <p14:creationId xmlns:p14="http://schemas.microsoft.com/office/powerpoint/2010/main" val="6749049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28</a:t>
            </a:fld>
            <a:endParaRPr lang="en-US"/>
          </a:p>
        </p:txBody>
      </p:sp>
    </p:spTree>
    <p:extLst>
      <p:ext uri="{BB962C8B-B14F-4D97-AF65-F5344CB8AC3E}">
        <p14:creationId xmlns:p14="http://schemas.microsoft.com/office/powerpoint/2010/main" val="27302184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29</a:t>
            </a:fld>
            <a:endParaRPr lang="en-US"/>
          </a:p>
        </p:txBody>
      </p:sp>
    </p:spTree>
    <p:extLst>
      <p:ext uri="{BB962C8B-B14F-4D97-AF65-F5344CB8AC3E}">
        <p14:creationId xmlns:p14="http://schemas.microsoft.com/office/powerpoint/2010/main" val="28039355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30</a:t>
            </a:fld>
            <a:endParaRPr lang="en-US"/>
          </a:p>
        </p:txBody>
      </p:sp>
    </p:spTree>
    <p:extLst>
      <p:ext uri="{BB962C8B-B14F-4D97-AF65-F5344CB8AC3E}">
        <p14:creationId xmlns:p14="http://schemas.microsoft.com/office/powerpoint/2010/main" val="2673296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35</a:t>
            </a:fld>
            <a:endParaRPr lang="en-US"/>
          </a:p>
        </p:txBody>
      </p:sp>
    </p:spTree>
    <p:extLst>
      <p:ext uri="{BB962C8B-B14F-4D97-AF65-F5344CB8AC3E}">
        <p14:creationId xmlns:p14="http://schemas.microsoft.com/office/powerpoint/2010/main" val="14185631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36</a:t>
            </a:fld>
            <a:endParaRPr lang="en-US"/>
          </a:p>
        </p:txBody>
      </p:sp>
    </p:spTree>
    <p:extLst>
      <p:ext uri="{BB962C8B-B14F-4D97-AF65-F5344CB8AC3E}">
        <p14:creationId xmlns:p14="http://schemas.microsoft.com/office/powerpoint/2010/main" val="6274640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37</a:t>
            </a:fld>
            <a:endParaRPr lang="en-US"/>
          </a:p>
        </p:txBody>
      </p:sp>
    </p:spTree>
    <p:extLst>
      <p:ext uri="{BB962C8B-B14F-4D97-AF65-F5344CB8AC3E}">
        <p14:creationId xmlns:p14="http://schemas.microsoft.com/office/powerpoint/2010/main" val="28575119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38</a:t>
            </a:fld>
            <a:endParaRPr lang="en-US"/>
          </a:p>
        </p:txBody>
      </p:sp>
    </p:spTree>
    <p:extLst>
      <p:ext uri="{BB962C8B-B14F-4D97-AF65-F5344CB8AC3E}">
        <p14:creationId xmlns:p14="http://schemas.microsoft.com/office/powerpoint/2010/main" val="26569764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39</a:t>
            </a:fld>
            <a:endParaRPr lang="en-US"/>
          </a:p>
        </p:txBody>
      </p:sp>
    </p:spTree>
    <p:extLst>
      <p:ext uri="{BB962C8B-B14F-4D97-AF65-F5344CB8AC3E}">
        <p14:creationId xmlns:p14="http://schemas.microsoft.com/office/powerpoint/2010/main" val="18380253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40</a:t>
            </a:fld>
            <a:endParaRPr lang="en-US"/>
          </a:p>
        </p:txBody>
      </p:sp>
    </p:spTree>
    <p:extLst>
      <p:ext uri="{BB962C8B-B14F-4D97-AF65-F5344CB8AC3E}">
        <p14:creationId xmlns:p14="http://schemas.microsoft.com/office/powerpoint/2010/main" val="24849957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41</a:t>
            </a:fld>
            <a:endParaRPr lang="en-US"/>
          </a:p>
        </p:txBody>
      </p:sp>
    </p:spTree>
    <p:extLst>
      <p:ext uri="{BB962C8B-B14F-4D97-AF65-F5344CB8AC3E}">
        <p14:creationId xmlns:p14="http://schemas.microsoft.com/office/powerpoint/2010/main" val="20033753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42</a:t>
            </a:fld>
            <a:endParaRPr lang="en-US"/>
          </a:p>
        </p:txBody>
      </p:sp>
    </p:spTree>
    <p:extLst>
      <p:ext uri="{BB962C8B-B14F-4D97-AF65-F5344CB8AC3E}">
        <p14:creationId xmlns:p14="http://schemas.microsoft.com/office/powerpoint/2010/main" val="14855155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43</a:t>
            </a:fld>
            <a:endParaRPr lang="en-US"/>
          </a:p>
        </p:txBody>
      </p:sp>
    </p:spTree>
    <p:extLst>
      <p:ext uri="{BB962C8B-B14F-4D97-AF65-F5344CB8AC3E}">
        <p14:creationId xmlns:p14="http://schemas.microsoft.com/office/powerpoint/2010/main" val="15814128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44</a:t>
            </a:fld>
            <a:endParaRPr lang="en-US"/>
          </a:p>
        </p:txBody>
      </p:sp>
    </p:spTree>
    <p:extLst>
      <p:ext uri="{BB962C8B-B14F-4D97-AF65-F5344CB8AC3E}">
        <p14:creationId xmlns:p14="http://schemas.microsoft.com/office/powerpoint/2010/main" val="15197399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45</a:t>
            </a:fld>
            <a:endParaRPr lang="en-US"/>
          </a:p>
        </p:txBody>
      </p:sp>
    </p:spTree>
    <p:extLst>
      <p:ext uri="{BB962C8B-B14F-4D97-AF65-F5344CB8AC3E}">
        <p14:creationId xmlns:p14="http://schemas.microsoft.com/office/powerpoint/2010/main" val="23665329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46</a:t>
            </a:fld>
            <a:endParaRPr lang="en-US"/>
          </a:p>
        </p:txBody>
      </p:sp>
    </p:spTree>
    <p:extLst>
      <p:ext uri="{BB962C8B-B14F-4D97-AF65-F5344CB8AC3E}">
        <p14:creationId xmlns:p14="http://schemas.microsoft.com/office/powerpoint/2010/main" val="42795828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47</a:t>
            </a:fld>
            <a:endParaRPr lang="en-US"/>
          </a:p>
        </p:txBody>
      </p:sp>
    </p:spTree>
    <p:extLst>
      <p:ext uri="{BB962C8B-B14F-4D97-AF65-F5344CB8AC3E}">
        <p14:creationId xmlns:p14="http://schemas.microsoft.com/office/powerpoint/2010/main" val="17403185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48</a:t>
            </a:fld>
            <a:endParaRPr lang="en-US"/>
          </a:p>
        </p:txBody>
      </p:sp>
    </p:spTree>
    <p:extLst>
      <p:ext uri="{BB962C8B-B14F-4D97-AF65-F5344CB8AC3E}">
        <p14:creationId xmlns:p14="http://schemas.microsoft.com/office/powerpoint/2010/main" val="12126032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49</a:t>
            </a:fld>
            <a:endParaRPr lang="en-US"/>
          </a:p>
        </p:txBody>
      </p:sp>
    </p:spTree>
    <p:extLst>
      <p:ext uri="{BB962C8B-B14F-4D97-AF65-F5344CB8AC3E}">
        <p14:creationId xmlns:p14="http://schemas.microsoft.com/office/powerpoint/2010/main" val="9544743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50</a:t>
            </a:fld>
            <a:endParaRPr lang="en-US"/>
          </a:p>
        </p:txBody>
      </p:sp>
    </p:spTree>
    <p:extLst>
      <p:ext uri="{BB962C8B-B14F-4D97-AF65-F5344CB8AC3E}">
        <p14:creationId xmlns:p14="http://schemas.microsoft.com/office/powerpoint/2010/main" val="31086984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51</a:t>
            </a:fld>
            <a:endParaRPr lang="en-US"/>
          </a:p>
        </p:txBody>
      </p:sp>
    </p:spTree>
    <p:extLst>
      <p:ext uri="{BB962C8B-B14F-4D97-AF65-F5344CB8AC3E}">
        <p14:creationId xmlns:p14="http://schemas.microsoft.com/office/powerpoint/2010/main" val="9449429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52</a:t>
            </a:fld>
            <a:endParaRPr lang="en-US"/>
          </a:p>
        </p:txBody>
      </p:sp>
    </p:spTree>
    <p:extLst>
      <p:ext uri="{BB962C8B-B14F-4D97-AF65-F5344CB8AC3E}">
        <p14:creationId xmlns:p14="http://schemas.microsoft.com/office/powerpoint/2010/main" val="8702392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53</a:t>
            </a:fld>
            <a:endParaRPr lang="en-US"/>
          </a:p>
        </p:txBody>
      </p:sp>
    </p:spTree>
    <p:extLst>
      <p:ext uri="{BB962C8B-B14F-4D97-AF65-F5344CB8AC3E}">
        <p14:creationId xmlns:p14="http://schemas.microsoft.com/office/powerpoint/2010/main" val="6749049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54</a:t>
            </a:fld>
            <a:endParaRPr lang="en-US"/>
          </a:p>
        </p:txBody>
      </p:sp>
    </p:spTree>
    <p:extLst>
      <p:ext uri="{BB962C8B-B14F-4D97-AF65-F5344CB8AC3E}">
        <p14:creationId xmlns:p14="http://schemas.microsoft.com/office/powerpoint/2010/main" val="27302184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55</a:t>
            </a:fld>
            <a:endParaRPr lang="en-US"/>
          </a:p>
        </p:txBody>
      </p:sp>
    </p:spTree>
    <p:extLst>
      <p:ext uri="{BB962C8B-B14F-4D97-AF65-F5344CB8AC3E}">
        <p14:creationId xmlns:p14="http://schemas.microsoft.com/office/powerpoint/2010/main" val="28039355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56</a:t>
            </a:fld>
            <a:endParaRPr lang="en-US"/>
          </a:p>
        </p:txBody>
      </p:sp>
    </p:spTree>
    <p:extLst>
      <p:ext uri="{BB962C8B-B14F-4D97-AF65-F5344CB8AC3E}">
        <p14:creationId xmlns:p14="http://schemas.microsoft.com/office/powerpoint/2010/main" val="2673296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57</a:t>
            </a:fld>
            <a:endParaRPr lang="en-US"/>
          </a:p>
        </p:txBody>
      </p:sp>
    </p:spTree>
    <p:extLst>
      <p:ext uri="{BB962C8B-B14F-4D97-AF65-F5344CB8AC3E}">
        <p14:creationId xmlns:p14="http://schemas.microsoft.com/office/powerpoint/2010/main" val="64297252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58</a:t>
            </a:fld>
            <a:endParaRPr lang="en-US"/>
          </a:p>
        </p:txBody>
      </p:sp>
    </p:spTree>
    <p:extLst>
      <p:ext uri="{BB962C8B-B14F-4D97-AF65-F5344CB8AC3E}">
        <p14:creationId xmlns:p14="http://schemas.microsoft.com/office/powerpoint/2010/main" val="212198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E8994-0DAE-BA4A-8C5F-86004274DF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247246A-AE36-5847-8679-85EF93546A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EE9708-7D64-9D40-9BA1-ED83FEBE5D2F}"/>
              </a:ext>
            </a:extLst>
          </p:cNvPr>
          <p:cNvSpPr>
            <a:spLocks noGrp="1"/>
          </p:cNvSpPr>
          <p:nvPr>
            <p:ph type="dt" sz="half" idx="10"/>
          </p:nvPr>
        </p:nvSpPr>
        <p:spPr/>
        <p:txBody>
          <a:bodyPr/>
          <a:lstStyle/>
          <a:p>
            <a:fld id="{8A37238B-29DE-EB4E-9020-BE375A8A0F26}" type="datetime1">
              <a:rPr lang="en-US" smtClean="0"/>
              <a:t>8/4/2026</a:t>
            </a:fld>
            <a:endParaRPr lang="en-US"/>
          </a:p>
        </p:txBody>
      </p:sp>
      <p:sp>
        <p:nvSpPr>
          <p:cNvPr id="5" name="Footer Placeholder 4">
            <a:extLst>
              <a:ext uri="{FF2B5EF4-FFF2-40B4-BE49-F238E27FC236}">
                <a16:creationId xmlns:a16="http://schemas.microsoft.com/office/drawing/2014/main" id="{CDDFCB2B-A583-0249-8BD1-6592C1796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C1B40A-AC48-1947-9F50-AB6A64155F3C}"/>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4074541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6B3A4-B62D-9241-8974-F5261E837B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42ACE9-D07C-5249-A7E9-354344B800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7501A1-3D3D-A74F-94B2-51EE1B5377B0}"/>
              </a:ext>
            </a:extLst>
          </p:cNvPr>
          <p:cNvSpPr>
            <a:spLocks noGrp="1"/>
          </p:cNvSpPr>
          <p:nvPr>
            <p:ph type="dt" sz="half" idx="10"/>
          </p:nvPr>
        </p:nvSpPr>
        <p:spPr/>
        <p:txBody>
          <a:bodyPr/>
          <a:lstStyle/>
          <a:p>
            <a:fld id="{75E58A9D-BD02-9643-A672-D987A03D5C72}" type="datetime1">
              <a:rPr lang="en-US" smtClean="0"/>
              <a:t>8/4/2026</a:t>
            </a:fld>
            <a:endParaRPr lang="en-US"/>
          </a:p>
        </p:txBody>
      </p:sp>
      <p:sp>
        <p:nvSpPr>
          <p:cNvPr id="5" name="Footer Placeholder 4">
            <a:extLst>
              <a:ext uri="{FF2B5EF4-FFF2-40B4-BE49-F238E27FC236}">
                <a16:creationId xmlns:a16="http://schemas.microsoft.com/office/drawing/2014/main" id="{D7933242-79FF-9A43-83D5-008BB1175A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3767A8-E0B3-FA48-B9CD-3265054B2BBA}"/>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798452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27466-BFD9-334B-ACCB-7AB1B4FBD4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81FD474-FFC4-F947-912C-8C3A62B0754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33BEE4-0BA4-334D-888B-751ABF383DA2}"/>
              </a:ext>
            </a:extLst>
          </p:cNvPr>
          <p:cNvSpPr>
            <a:spLocks noGrp="1"/>
          </p:cNvSpPr>
          <p:nvPr>
            <p:ph type="dt" sz="half" idx="10"/>
          </p:nvPr>
        </p:nvSpPr>
        <p:spPr/>
        <p:txBody>
          <a:bodyPr/>
          <a:lstStyle/>
          <a:p>
            <a:fld id="{A9F582B2-23B9-D74E-AF1E-23FE314EE57C}" type="datetime1">
              <a:rPr lang="en-US" smtClean="0"/>
              <a:t>8/4/2026</a:t>
            </a:fld>
            <a:endParaRPr lang="en-US"/>
          </a:p>
        </p:txBody>
      </p:sp>
      <p:sp>
        <p:nvSpPr>
          <p:cNvPr id="5" name="Footer Placeholder 4">
            <a:extLst>
              <a:ext uri="{FF2B5EF4-FFF2-40B4-BE49-F238E27FC236}">
                <a16:creationId xmlns:a16="http://schemas.microsoft.com/office/drawing/2014/main" id="{C37732D5-CFCB-464B-B406-E6F58E8C88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8D58E7-9E61-3644-822F-14C8AA657D41}"/>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2582330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B4BC6-D29B-1F4F-938F-07E9F8E6CE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5784D0-6CC0-AC43-BB44-2AEE77C32F9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38E12C2-99E7-0F46-B4EB-C64AC10E215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AA25515-4688-0F44-B939-B8AA309B47EF}"/>
              </a:ext>
            </a:extLst>
          </p:cNvPr>
          <p:cNvSpPr>
            <a:spLocks noGrp="1"/>
          </p:cNvSpPr>
          <p:nvPr>
            <p:ph type="dt" sz="half" idx="10"/>
          </p:nvPr>
        </p:nvSpPr>
        <p:spPr/>
        <p:txBody>
          <a:bodyPr/>
          <a:lstStyle/>
          <a:p>
            <a:fld id="{30046F22-E104-EA49-A6E4-3FA4D6AC1D65}" type="datetime1">
              <a:rPr lang="en-US" smtClean="0"/>
              <a:t>8/4/2026</a:t>
            </a:fld>
            <a:endParaRPr lang="en-US"/>
          </a:p>
        </p:txBody>
      </p:sp>
      <p:sp>
        <p:nvSpPr>
          <p:cNvPr id="6" name="Footer Placeholder 5">
            <a:extLst>
              <a:ext uri="{FF2B5EF4-FFF2-40B4-BE49-F238E27FC236}">
                <a16:creationId xmlns:a16="http://schemas.microsoft.com/office/drawing/2014/main" id="{0D2B21F8-84DD-7B4B-9D24-A91D89CE98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E6C87B-C3BC-5A41-846A-A31318112337}"/>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1202003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5F0F5-8358-9741-98DA-949BAC1AA4F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CE32334-11D4-1F4B-A8C2-2E3156A51F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99C116-4A36-C748-BD11-9226FA84995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9937EE1-3285-3C4B-953D-B6AC9DA5AD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B6637E0-FA89-3D4A-9B4B-EBFDCBBC6A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8EC8A58-E296-DF4E-9A7C-61F091D5BCFB}"/>
              </a:ext>
            </a:extLst>
          </p:cNvPr>
          <p:cNvSpPr>
            <a:spLocks noGrp="1"/>
          </p:cNvSpPr>
          <p:nvPr>
            <p:ph type="dt" sz="half" idx="10"/>
          </p:nvPr>
        </p:nvSpPr>
        <p:spPr/>
        <p:txBody>
          <a:bodyPr/>
          <a:lstStyle/>
          <a:p>
            <a:fld id="{503513B9-56A2-894E-84AC-78DB7954EA7D}" type="datetime1">
              <a:rPr lang="en-US" smtClean="0"/>
              <a:t>8/4/2026</a:t>
            </a:fld>
            <a:endParaRPr lang="en-US"/>
          </a:p>
        </p:txBody>
      </p:sp>
      <p:sp>
        <p:nvSpPr>
          <p:cNvPr id="8" name="Footer Placeholder 7">
            <a:extLst>
              <a:ext uri="{FF2B5EF4-FFF2-40B4-BE49-F238E27FC236}">
                <a16:creationId xmlns:a16="http://schemas.microsoft.com/office/drawing/2014/main" id="{E8610E29-4C91-BF45-813E-7733F7ED382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33D1DBF-548B-C44B-A9CA-A4AA75DE6CB2}"/>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11861871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C4A0C-1B4A-A148-83BE-FBC36C4E7E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2A99E5A-BC58-684A-854A-986712C603E8}"/>
              </a:ext>
            </a:extLst>
          </p:cNvPr>
          <p:cNvSpPr>
            <a:spLocks noGrp="1"/>
          </p:cNvSpPr>
          <p:nvPr>
            <p:ph type="dt" sz="half" idx="10"/>
          </p:nvPr>
        </p:nvSpPr>
        <p:spPr/>
        <p:txBody>
          <a:bodyPr/>
          <a:lstStyle/>
          <a:p>
            <a:fld id="{EED52E1C-DAC7-2845-A34C-154E7BA2B192}" type="datetime1">
              <a:rPr lang="en-US" smtClean="0"/>
              <a:t>8/4/2026</a:t>
            </a:fld>
            <a:endParaRPr lang="en-US"/>
          </a:p>
        </p:txBody>
      </p:sp>
      <p:sp>
        <p:nvSpPr>
          <p:cNvPr id="4" name="Footer Placeholder 3">
            <a:extLst>
              <a:ext uri="{FF2B5EF4-FFF2-40B4-BE49-F238E27FC236}">
                <a16:creationId xmlns:a16="http://schemas.microsoft.com/office/drawing/2014/main" id="{78365D2C-58DF-8546-9A33-9471F565375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0F503D0-879B-B745-9E62-78E679ADCCC3}"/>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3069295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4E2FDA-EE2D-8E4E-99B0-9FE6349507C2}"/>
              </a:ext>
            </a:extLst>
          </p:cNvPr>
          <p:cNvSpPr>
            <a:spLocks noGrp="1"/>
          </p:cNvSpPr>
          <p:nvPr>
            <p:ph type="dt" sz="half" idx="10"/>
          </p:nvPr>
        </p:nvSpPr>
        <p:spPr/>
        <p:txBody>
          <a:bodyPr/>
          <a:lstStyle/>
          <a:p>
            <a:fld id="{1F7A6845-556B-7F47-8826-F6A7D696CD17}" type="datetime1">
              <a:rPr lang="en-US" smtClean="0"/>
              <a:t>8/4/2026</a:t>
            </a:fld>
            <a:endParaRPr lang="en-US"/>
          </a:p>
        </p:txBody>
      </p:sp>
      <p:sp>
        <p:nvSpPr>
          <p:cNvPr id="3" name="Footer Placeholder 2">
            <a:extLst>
              <a:ext uri="{FF2B5EF4-FFF2-40B4-BE49-F238E27FC236}">
                <a16:creationId xmlns:a16="http://schemas.microsoft.com/office/drawing/2014/main" id="{47B317BC-A40C-4D45-9279-7698A6E5A5A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667FDD1-E6FF-404D-96BA-26CA56C45F2A}"/>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36810218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CB305-4ED0-8848-857A-E423B37ED2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F7600C4-68D3-C94C-9AF4-CA9B3E94F4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6F295DC-F288-604F-BD95-93F79EE389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E19FFC-BF69-4146-8145-D535568DCA5A}"/>
              </a:ext>
            </a:extLst>
          </p:cNvPr>
          <p:cNvSpPr>
            <a:spLocks noGrp="1"/>
          </p:cNvSpPr>
          <p:nvPr>
            <p:ph type="dt" sz="half" idx="10"/>
          </p:nvPr>
        </p:nvSpPr>
        <p:spPr/>
        <p:txBody>
          <a:bodyPr/>
          <a:lstStyle/>
          <a:p>
            <a:fld id="{B77A45C0-1509-8147-9A5F-C30BF7F14D05}" type="datetime1">
              <a:rPr lang="en-US" smtClean="0"/>
              <a:t>8/4/2026</a:t>
            </a:fld>
            <a:endParaRPr lang="en-US"/>
          </a:p>
        </p:txBody>
      </p:sp>
      <p:sp>
        <p:nvSpPr>
          <p:cNvPr id="6" name="Footer Placeholder 5">
            <a:extLst>
              <a:ext uri="{FF2B5EF4-FFF2-40B4-BE49-F238E27FC236}">
                <a16:creationId xmlns:a16="http://schemas.microsoft.com/office/drawing/2014/main" id="{AA608AC6-8B2A-FA4E-9882-5B496E5BE2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034A4A-F50E-544A-9F28-D3EB594478BD}"/>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33411833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E3E71-AC1E-C546-8205-BBC894B6B5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2264831-E62D-F44C-B453-47BECFAC00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47F079C-96D8-5949-95F5-AA24C7FC97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002139-6EFA-9D40-B25C-BFE15F955ABE}"/>
              </a:ext>
            </a:extLst>
          </p:cNvPr>
          <p:cNvSpPr>
            <a:spLocks noGrp="1"/>
          </p:cNvSpPr>
          <p:nvPr>
            <p:ph type="dt" sz="half" idx="10"/>
          </p:nvPr>
        </p:nvSpPr>
        <p:spPr/>
        <p:txBody>
          <a:bodyPr/>
          <a:lstStyle/>
          <a:p>
            <a:fld id="{01E656B4-90FD-0A4F-8DBE-B85ABF5FC91C}" type="datetime1">
              <a:rPr lang="en-US" smtClean="0"/>
              <a:t>8/4/2026</a:t>
            </a:fld>
            <a:endParaRPr lang="en-US"/>
          </a:p>
        </p:txBody>
      </p:sp>
      <p:sp>
        <p:nvSpPr>
          <p:cNvPr id="6" name="Footer Placeholder 5">
            <a:extLst>
              <a:ext uri="{FF2B5EF4-FFF2-40B4-BE49-F238E27FC236}">
                <a16:creationId xmlns:a16="http://schemas.microsoft.com/office/drawing/2014/main" id="{8B9DA5C2-E09C-884C-8DA8-222389B101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50D65F-F9D2-914F-8503-61B3B469FB65}"/>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3207716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6541B-E467-E148-88CE-8DAF5AC34E0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217E00B-38A8-A443-8739-DCF9048A7E4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29A2A1-58B2-0948-BE4A-3BCD5AAA9792}"/>
              </a:ext>
            </a:extLst>
          </p:cNvPr>
          <p:cNvSpPr>
            <a:spLocks noGrp="1"/>
          </p:cNvSpPr>
          <p:nvPr>
            <p:ph type="dt" sz="half" idx="10"/>
          </p:nvPr>
        </p:nvSpPr>
        <p:spPr/>
        <p:txBody>
          <a:bodyPr/>
          <a:lstStyle/>
          <a:p>
            <a:fld id="{EDB61274-1F15-EA40-93D3-4BC61ECCB93D}" type="datetime1">
              <a:rPr lang="en-US" smtClean="0"/>
              <a:t>8/4/2026</a:t>
            </a:fld>
            <a:endParaRPr lang="en-US"/>
          </a:p>
        </p:txBody>
      </p:sp>
      <p:sp>
        <p:nvSpPr>
          <p:cNvPr id="5" name="Footer Placeholder 4">
            <a:extLst>
              <a:ext uri="{FF2B5EF4-FFF2-40B4-BE49-F238E27FC236}">
                <a16:creationId xmlns:a16="http://schemas.microsoft.com/office/drawing/2014/main" id="{664DAC2D-4814-8D4C-8DF1-29C266D11B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F63EDF-3CAD-AA43-A340-424306E5BE4F}"/>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1731734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7AA97A-3649-AD44-919F-132E8CBC257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A1188B4-4FD1-094D-B953-2B345E4F71B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0AA260-2036-114D-8F21-44E761C2D0AF}"/>
              </a:ext>
            </a:extLst>
          </p:cNvPr>
          <p:cNvSpPr>
            <a:spLocks noGrp="1"/>
          </p:cNvSpPr>
          <p:nvPr>
            <p:ph type="dt" sz="half" idx="10"/>
          </p:nvPr>
        </p:nvSpPr>
        <p:spPr/>
        <p:txBody>
          <a:bodyPr/>
          <a:lstStyle/>
          <a:p>
            <a:fld id="{C8C284A1-19A6-034D-814C-A159F760189F}" type="datetime1">
              <a:rPr lang="en-US" smtClean="0"/>
              <a:t>8/4/2026</a:t>
            </a:fld>
            <a:endParaRPr lang="en-US"/>
          </a:p>
        </p:txBody>
      </p:sp>
      <p:sp>
        <p:nvSpPr>
          <p:cNvPr id="5" name="Footer Placeholder 4">
            <a:extLst>
              <a:ext uri="{FF2B5EF4-FFF2-40B4-BE49-F238E27FC236}">
                <a16:creationId xmlns:a16="http://schemas.microsoft.com/office/drawing/2014/main" id="{4771FDA6-C06A-9640-8812-E6BC491E97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FE6085-E504-6947-9DE8-BBE0BA9131D2}"/>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161687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3EA77F-5A2B-ED45-AF55-19811C2AC1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572D507-DDC9-E940-8AC6-87B8A768B5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9D1271-3A6D-4F47-9F42-BEBA65019C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91252B-53CD-FD48-8F41-AFAB0984D5BF}" type="datetime1">
              <a:rPr lang="en-US" smtClean="0"/>
              <a:t>8/4/2026</a:t>
            </a:fld>
            <a:endParaRPr lang="en-US"/>
          </a:p>
        </p:txBody>
      </p:sp>
      <p:sp>
        <p:nvSpPr>
          <p:cNvPr id="5" name="Footer Placeholder 4">
            <a:extLst>
              <a:ext uri="{FF2B5EF4-FFF2-40B4-BE49-F238E27FC236}">
                <a16:creationId xmlns:a16="http://schemas.microsoft.com/office/drawing/2014/main" id="{7C9A1370-B33E-034B-8489-5ABBEE195F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B5240A2-DA22-7343-AC6E-1C3776139F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86C454-E1BD-5A43-901A-CA4ACC7380B7}" type="slidenum">
              <a:rPr lang="en-US" smtClean="0"/>
              <a:t>‹#›</a:t>
            </a:fld>
            <a:endParaRPr lang="en-US"/>
          </a:p>
        </p:txBody>
      </p:sp>
    </p:spTree>
    <p:extLst>
      <p:ext uri="{BB962C8B-B14F-4D97-AF65-F5344CB8AC3E}">
        <p14:creationId xmlns:p14="http://schemas.microsoft.com/office/powerpoint/2010/main" val="31029226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10.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10.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 Id="rId9" Type="http://schemas.openxmlformats.org/officeDocument/2006/relationships/image" Target="../media/image46.png"/></Relationships>
</file>

<file path=ppt/slides/_rels/slide11.xml.rels><?xml version="1.0" encoding="UTF-8" standalone="yes"?>
<Relationships xmlns="http://schemas.openxmlformats.org/package/2006/relationships"><Relationship Id="rId8" Type="http://schemas.openxmlformats.org/officeDocument/2006/relationships/image" Target="../media/image146.png"/><Relationship Id="rId3" Type="http://schemas.openxmlformats.org/officeDocument/2006/relationships/image" Target="../media/image141.png"/><Relationship Id="rId7" Type="http://schemas.openxmlformats.org/officeDocument/2006/relationships/image" Target="../media/image14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44.png"/><Relationship Id="rId5" Type="http://schemas.openxmlformats.org/officeDocument/2006/relationships/image" Target="../media/image143.png"/><Relationship Id="rId4" Type="http://schemas.openxmlformats.org/officeDocument/2006/relationships/image" Target="../media/image142.png"/><Relationship Id="rId9"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47.png"/><Relationship Id="rId7" Type="http://schemas.openxmlformats.org/officeDocument/2006/relationships/image" Target="../media/image15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50.png"/><Relationship Id="rId5" Type="http://schemas.openxmlformats.org/officeDocument/2006/relationships/image" Target="../media/image149.png"/><Relationship Id="rId4" Type="http://schemas.openxmlformats.org/officeDocument/2006/relationships/image" Target="../media/image14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png"/><Relationship Id="rId1" Type="http://schemas.openxmlformats.org/officeDocument/2006/relationships/slideLayout" Target="../slideLayouts/slideLayout7.xml"/><Relationship Id="rId6" Type="http://schemas.openxmlformats.org/officeDocument/2006/relationships/image" Target="../media/image52.png"/><Relationship Id="rId11" Type="http://schemas.openxmlformats.org/officeDocument/2006/relationships/image" Target="../media/image57.png"/><Relationship Id="rId5" Type="http://schemas.openxmlformats.org/officeDocument/2006/relationships/image" Target="../media/image51.png"/><Relationship Id="rId10" Type="http://schemas.openxmlformats.org/officeDocument/2006/relationships/image" Target="../media/image56.png"/><Relationship Id="rId4" Type="http://schemas.openxmlformats.org/officeDocument/2006/relationships/image" Target="../media/image50.png"/><Relationship Id="rId9" Type="http://schemas.openxmlformats.org/officeDocument/2006/relationships/image" Target="../media/image55.png"/></Relationships>
</file>

<file path=ppt/slides/_rels/slide1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7.xml"/><Relationship Id="rId4" Type="http://schemas.openxmlformats.org/officeDocument/2006/relationships/image" Target="../media/image60.png"/></Relationships>
</file>

<file path=ppt/slides/_rels/slide2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7.xml"/><Relationship Id="rId5" Type="http://schemas.openxmlformats.org/officeDocument/2006/relationships/image" Target="../media/image61.png"/><Relationship Id="rId4" Type="http://schemas.openxmlformats.org/officeDocument/2006/relationships/image" Target="../media/image600.png"/></Relationships>
</file>

<file path=ppt/slides/_rels/slide2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7.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0.png"/></Relationships>
</file>

<file path=ppt/slides/_rels/slide2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7.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0.png"/></Relationships>
</file>

<file path=ppt/slides/_rels/slide24.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image" Target="../media/image110.png"/><Relationship Id="rId7" Type="http://schemas.openxmlformats.org/officeDocument/2006/relationships/image" Target="../media/image112.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11.png"/><Relationship Id="rId5" Type="http://schemas.openxmlformats.org/officeDocument/2006/relationships/image" Target="../media/image96.png"/><Relationship Id="rId4" Type="http://schemas.openxmlformats.org/officeDocument/2006/relationships/image" Target="../media/image95.png"/></Relationships>
</file>

<file path=ppt/slides/_rels/slide25.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image" Target="../media/image110.png"/><Relationship Id="rId7" Type="http://schemas.openxmlformats.org/officeDocument/2006/relationships/image" Target="../media/image114.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11.png"/><Relationship Id="rId5" Type="http://schemas.openxmlformats.org/officeDocument/2006/relationships/image" Target="../media/image96.png"/><Relationship Id="rId4" Type="http://schemas.openxmlformats.org/officeDocument/2006/relationships/image" Target="../media/image95.png"/></Relationships>
</file>

<file path=ppt/slides/_rels/slide26.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image" Target="../media/image110.png"/><Relationship Id="rId7" Type="http://schemas.openxmlformats.org/officeDocument/2006/relationships/image" Target="../media/image113.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14.png"/><Relationship Id="rId5" Type="http://schemas.openxmlformats.org/officeDocument/2006/relationships/image" Target="../media/image96.png"/><Relationship Id="rId4" Type="http://schemas.openxmlformats.org/officeDocument/2006/relationships/image" Target="../media/image95.png"/><Relationship Id="rId9" Type="http://schemas.openxmlformats.org/officeDocument/2006/relationships/image" Target="../media/image116.png"/></Relationships>
</file>

<file path=ppt/slides/_rels/slide27.xml.rels><?xml version="1.0" encoding="UTF-8" standalone="yes"?>
<Relationships xmlns="http://schemas.openxmlformats.org/package/2006/relationships"><Relationship Id="rId3" Type="http://schemas.openxmlformats.org/officeDocument/2006/relationships/image" Target="../media/image117.png"/><Relationship Id="rId7" Type="http://schemas.openxmlformats.org/officeDocument/2006/relationships/image" Target="../media/image12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20.png"/><Relationship Id="rId5" Type="http://schemas.openxmlformats.org/officeDocument/2006/relationships/image" Target="../media/image119.png"/><Relationship Id="rId4" Type="http://schemas.openxmlformats.org/officeDocument/2006/relationships/image" Target="../media/image118.png"/></Relationships>
</file>

<file path=ppt/slides/_rels/slide28.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25.png"/><Relationship Id="rId5" Type="http://schemas.openxmlformats.org/officeDocument/2006/relationships/image" Target="../media/image124.png"/><Relationship Id="rId4" Type="http://schemas.openxmlformats.org/officeDocument/2006/relationships/image" Target="../media/image123.png"/></Relationships>
</file>

<file path=ppt/slides/_rels/slide29.xml.rels><?xml version="1.0" encoding="UTF-8" standalone="yes"?>
<Relationships xmlns="http://schemas.openxmlformats.org/package/2006/relationships"><Relationship Id="rId8" Type="http://schemas.openxmlformats.org/officeDocument/2006/relationships/image" Target="../media/image131.png"/><Relationship Id="rId3" Type="http://schemas.openxmlformats.org/officeDocument/2006/relationships/image" Target="../media/image126.png"/><Relationship Id="rId7" Type="http://schemas.openxmlformats.org/officeDocument/2006/relationships/image" Target="../media/image130.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29.png"/><Relationship Id="rId5" Type="http://schemas.openxmlformats.org/officeDocument/2006/relationships/image" Target="../media/image128.png"/><Relationship Id="rId4" Type="http://schemas.openxmlformats.org/officeDocument/2006/relationships/image" Target="../media/image127.png"/></Relationships>
</file>

<file path=ppt/slides/_rels/slide30.xml.rels><?xml version="1.0" encoding="UTF-8" standalone="yes"?>
<Relationships xmlns="http://schemas.openxmlformats.org/package/2006/relationships"><Relationship Id="rId8" Type="http://schemas.openxmlformats.org/officeDocument/2006/relationships/image" Target="../media/image137.png"/><Relationship Id="rId3" Type="http://schemas.openxmlformats.org/officeDocument/2006/relationships/image" Target="../media/image132.png"/><Relationship Id="rId7" Type="http://schemas.openxmlformats.org/officeDocument/2006/relationships/image" Target="../media/image136.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35.png"/><Relationship Id="rId11" Type="http://schemas.openxmlformats.org/officeDocument/2006/relationships/image" Target="../media/image140.png"/><Relationship Id="rId5" Type="http://schemas.openxmlformats.org/officeDocument/2006/relationships/image" Target="../media/image134.png"/><Relationship Id="rId10" Type="http://schemas.openxmlformats.org/officeDocument/2006/relationships/image" Target="../media/image139.png"/><Relationship Id="rId4" Type="http://schemas.openxmlformats.org/officeDocument/2006/relationships/image" Target="../media/image133.png"/><Relationship Id="rId9" Type="http://schemas.openxmlformats.org/officeDocument/2006/relationships/image" Target="../media/image13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63.png"/><Relationship Id="rId1" Type="http://schemas.openxmlformats.org/officeDocument/2006/relationships/slideLayout" Target="../slideLayouts/slideLayout7.xml"/><Relationship Id="rId6" Type="http://schemas.openxmlformats.org/officeDocument/2006/relationships/image" Target="../media/image67.png"/><Relationship Id="rId11" Type="http://schemas.openxmlformats.org/officeDocument/2006/relationships/image" Target="../media/image72.png"/><Relationship Id="rId5" Type="http://schemas.openxmlformats.org/officeDocument/2006/relationships/image" Target="../media/image66.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png"/></Relationships>
</file>

<file path=ppt/slides/_rels/slide34.xml.rels><?xml version="1.0" encoding="UTF-8" standalone="yes"?>
<Relationships xmlns="http://schemas.openxmlformats.org/package/2006/relationships"><Relationship Id="rId3" Type="http://schemas.openxmlformats.org/officeDocument/2006/relationships/image" Target="../media/image69.png"/><Relationship Id="rId7" Type="http://schemas.openxmlformats.org/officeDocument/2006/relationships/image" Target="../media/image67.png"/><Relationship Id="rId2" Type="http://schemas.openxmlformats.org/officeDocument/2006/relationships/image" Target="../media/image68.png"/><Relationship Id="rId1" Type="http://schemas.openxmlformats.org/officeDocument/2006/relationships/slideLayout" Target="../slideLayouts/slideLayout7.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35.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73.png"/><Relationship Id="rId7" Type="http://schemas.openxmlformats.org/officeDocument/2006/relationships/image" Target="../media/image65.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64.png"/><Relationship Id="rId5" Type="http://schemas.openxmlformats.org/officeDocument/2006/relationships/image" Target="../media/image69.png"/><Relationship Id="rId4" Type="http://schemas.openxmlformats.org/officeDocument/2006/relationships/image" Target="../media/image68.png"/><Relationship Id="rId9" Type="http://schemas.openxmlformats.org/officeDocument/2006/relationships/image" Target="../media/image67.png"/></Relationships>
</file>

<file path=ppt/slides/_rels/slide3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75.png"/><Relationship Id="rId7" Type="http://schemas.openxmlformats.org/officeDocument/2006/relationships/image" Target="../media/image74.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38.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75.png"/><Relationship Id="rId7" Type="http://schemas.openxmlformats.org/officeDocument/2006/relationships/image" Target="../media/image74.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79.png"/><Relationship Id="rId5" Type="http://schemas.openxmlformats.org/officeDocument/2006/relationships/image" Target="../media/image77.png"/><Relationship Id="rId4" Type="http://schemas.openxmlformats.org/officeDocument/2006/relationships/image" Target="../media/image76.png"/></Relationships>
</file>

<file path=ppt/slides/_rels/slide39.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75.png"/><Relationship Id="rId7" Type="http://schemas.openxmlformats.org/officeDocument/2006/relationships/image" Target="../media/image74.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79.png"/><Relationship Id="rId5" Type="http://schemas.openxmlformats.org/officeDocument/2006/relationships/image" Target="../media/image77.png"/><Relationship Id="rId4" Type="http://schemas.openxmlformats.org/officeDocument/2006/relationships/image" Target="../media/image76.png"/></Relationships>
</file>

<file path=ppt/slides/_rels/slide40.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75.png"/><Relationship Id="rId7" Type="http://schemas.openxmlformats.org/officeDocument/2006/relationships/image" Target="../media/image74.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80.png"/><Relationship Id="rId5" Type="http://schemas.openxmlformats.org/officeDocument/2006/relationships/image" Target="../media/image77.png"/><Relationship Id="rId4" Type="http://schemas.openxmlformats.org/officeDocument/2006/relationships/image" Target="../media/image76.png"/></Relationships>
</file>

<file path=ppt/slides/_rels/slide4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82.png"/><Relationship Id="rId4" Type="http://schemas.openxmlformats.org/officeDocument/2006/relationships/image" Target="../media/image81.png"/></Relationships>
</file>

<file path=ppt/slides/_rels/slide42.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86.png"/><Relationship Id="rId7" Type="http://schemas.openxmlformats.org/officeDocument/2006/relationships/image" Target="../media/image90.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811.png"/><Relationship Id="rId10" Type="http://schemas.openxmlformats.org/officeDocument/2006/relationships/image" Target="../media/image82.png"/><Relationship Id="rId9" Type="http://schemas.openxmlformats.org/officeDocument/2006/relationships/image" Target="../media/image83.png"/></Relationships>
</file>

<file path=ppt/slides/_rels/slide43.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810.png"/><Relationship Id="rId7" Type="http://schemas.openxmlformats.org/officeDocument/2006/relationships/image" Target="../media/image85.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84.png"/><Relationship Id="rId5" Type="http://schemas.openxmlformats.org/officeDocument/2006/relationships/image" Target="../media/image830.png"/><Relationship Id="rId4" Type="http://schemas.openxmlformats.org/officeDocument/2006/relationships/image" Target="../media/image820.png"/><Relationship Id="rId9" Type="http://schemas.openxmlformats.org/officeDocument/2006/relationships/image" Target="../media/image93.png"/></Relationships>
</file>

<file path=ppt/slides/_rels/slide44.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96.png"/><Relationship Id="rId4" Type="http://schemas.openxmlformats.org/officeDocument/2006/relationships/image" Target="../media/image95.png"/></Relationships>
</file>

<file path=ppt/slides/_rels/slide46.xml.rels><?xml version="1.0" encoding="UTF-8" standalone="yes"?>
<Relationships xmlns="http://schemas.openxmlformats.org/package/2006/relationships"><Relationship Id="rId3" Type="http://schemas.openxmlformats.org/officeDocument/2006/relationships/image" Target="../media/image87.png"/><Relationship Id="rId7" Type="http://schemas.openxmlformats.org/officeDocument/2006/relationships/image" Target="../media/image98.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88.png"/><Relationship Id="rId5" Type="http://schemas.openxmlformats.org/officeDocument/2006/relationships/image" Target="../media/image96.png"/><Relationship Id="rId4" Type="http://schemas.openxmlformats.org/officeDocument/2006/relationships/image" Target="../media/image95.png"/></Relationships>
</file>

<file path=ppt/slides/_rels/slide47.xml.rels><?xml version="1.0" encoding="UTF-8" standalone="yes"?>
<Relationships xmlns="http://schemas.openxmlformats.org/package/2006/relationships"><Relationship Id="rId3" Type="http://schemas.openxmlformats.org/officeDocument/2006/relationships/image" Target="../media/image97.png"/><Relationship Id="rId7" Type="http://schemas.openxmlformats.org/officeDocument/2006/relationships/image" Target="../media/image1000.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88.png"/><Relationship Id="rId5" Type="http://schemas.openxmlformats.org/officeDocument/2006/relationships/image" Target="../media/image96.png"/><Relationship Id="rId4" Type="http://schemas.openxmlformats.org/officeDocument/2006/relationships/image" Target="../media/image95.png"/></Relationships>
</file>

<file path=ppt/slides/_rels/slide48.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8" Type="http://schemas.openxmlformats.org/officeDocument/2006/relationships/image" Target="../media/image107.png"/><Relationship Id="rId3" Type="http://schemas.openxmlformats.org/officeDocument/2006/relationships/image" Target="../media/image102.png"/><Relationship Id="rId7" Type="http://schemas.openxmlformats.org/officeDocument/2006/relationships/image" Target="../media/image106.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105.png"/><Relationship Id="rId5" Type="http://schemas.openxmlformats.org/officeDocument/2006/relationships/image" Target="../media/image104.png"/><Relationship Id="rId10" Type="http://schemas.openxmlformats.org/officeDocument/2006/relationships/image" Target="../media/image109.png"/><Relationship Id="rId4" Type="http://schemas.openxmlformats.org/officeDocument/2006/relationships/image" Target="../media/image103.png"/><Relationship Id="rId9" Type="http://schemas.openxmlformats.org/officeDocument/2006/relationships/image" Target="../media/image108.png"/></Relationships>
</file>

<file path=ppt/slides/_rels/slide50.xml.rels><?xml version="1.0" encoding="UTF-8" standalone="yes"?>
<Relationships xmlns="http://schemas.openxmlformats.org/package/2006/relationships"><Relationship Id="rId8" Type="http://schemas.openxmlformats.org/officeDocument/2006/relationships/image" Target="../media/image1130.png"/><Relationship Id="rId3" Type="http://schemas.openxmlformats.org/officeDocument/2006/relationships/image" Target="../media/image1100.png"/><Relationship Id="rId7" Type="http://schemas.openxmlformats.org/officeDocument/2006/relationships/image" Target="../media/image1120.pn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1110.png"/><Relationship Id="rId5" Type="http://schemas.openxmlformats.org/officeDocument/2006/relationships/image" Target="../media/image960.png"/><Relationship Id="rId4" Type="http://schemas.openxmlformats.org/officeDocument/2006/relationships/image" Target="../media/image950.png"/></Relationships>
</file>

<file path=ppt/slides/_rels/slide51.xml.rels><?xml version="1.0" encoding="UTF-8" standalone="yes"?>
<Relationships xmlns="http://schemas.openxmlformats.org/package/2006/relationships"><Relationship Id="rId8" Type="http://schemas.openxmlformats.org/officeDocument/2006/relationships/image" Target="../media/image1130.png"/><Relationship Id="rId3" Type="http://schemas.openxmlformats.org/officeDocument/2006/relationships/image" Target="../media/image1100.png"/><Relationship Id="rId7" Type="http://schemas.openxmlformats.org/officeDocument/2006/relationships/image" Target="../media/image1140.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1110.png"/><Relationship Id="rId5" Type="http://schemas.openxmlformats.org/officeDocument/2006/relationships/image" Target="../media/image960.png"/><Relationship Id="rId4" Type="http://schemas.openxmlformats.org/officeDocument/2006/relationships/image" Target="../media/image950.png"/></Relationships>
</file>

<file path=ppt/slides/_rels/slide52.xml.rels><?xml version="1.0" encoding="UTF-8" standalone="yes"?>
<Relationships xmlns="http://schemas.openxmlformats.org/package/2006/relationships"><Relationship Id="rId8" Type="http://schemas.openxmlformats.org/officeDocument/2006/relationships/image" Target="../media/image1150.png"/><Relationship Id="rId3" Type="http://schemas.openxmlformats.org/officeDocument/2006/relationships/image" Target="../media/image1100.png"/><Relationship Id="rId7" Type="http://schemas.openxmlformats.org/officeDocument/2006/relationships/image" Target="../media/image1130.pn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1140.png"/><Relationship Id="rId5" Type="http://schemas.openxmlformats.org/officeDocument/2006/relationships/image" Target="../media/image960.png"/><Relationship Id="rId4" Type="http://schemas.openxmlformats.org/officeDocument/2006/relationships/image" Target="../media/image950.png"/><Relationship Id="rId9" Type="http://schemas.openxmlformats.org/officeDocument/2006/relationships/image" Target="../media/image1160.png"/></Relationships>
</file>

<file path=ppt/slides/_rels/slide53.xml.rels><?xml version="1.0" encoding="UTF-8" standalone="yes"?>
<Relationships xmlns="http://schemas.openxmlformats.org/package/2006/relationships"><Relationship Id="rId3" Type="http://schemas.openxmlformats.org/officeDocument/2006/relationships/image" Target="../media/image1170.png"/><Relationship Id="rId7" Type="http://schemas.openxmlformats.org/officeDocument/2006/relationships/image" Target="../media/image1210.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1200.png"/><Relationship Id="rId5" Type="http://schemas.openxmlformats.org/officeDocument/2006/relationships/image" Target="../media/image1190.png"/><Relationship Id="rId4" Type="http://schemas.openxmlformats.org/officeDocument/2006/relationships/image" Target="../media/image1180.png"/></Relationships>
</file>

<file path=ppt/slides/_rels/slide54.xml.rels><?xml version="1.0" encoding="UTF-8" standalone="yes"?>
<Relationships xmlns="http://schemas.openxmlformats.org/package/2006/relationships"><Relationship Id="rId3" Type="http://schemas.openxmlformats.org/officeDocument/2006/relationships/image" Target="../media/image1220.pn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1250.png"/><Relationship Id="rId5" Type="http://schemas.openxmlformats.org/officeDocument/2006/relationships/image" Target="../media/image1240.png"/><Relationship Id="rId4" Type="http://schemas.openxmlformats.org/officeDocument/2006/relationships/image" Target="../media/image1230.png"/></Relationships>
</file>

<file path=ppt/slides/_rels/slide55.xml.rels><?xml version="1.0" encoding="UTF-8" standalone="yes"?>
<Relationships xmlns="http://schemas.openxmlformats.org/package/2006/relationships"><Relationship Id="rId8" Type="http://schemas.openxmlformats.org/officeDocument/2006/relationships/image" Target="../media/image1310.png"/><Relationship Id="rId3" Type="http://schemas.openxmlformats.org/officeDocument/2006/relationships/image" Target="../media/image1260.png"/><Relationship Id="rId7" Type="http://schemas.openxmlformats.org/officeDocument/2006/relationships/image" Target="../media/image1300.png"/><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image" Target="../media/image1290.png"/><Relationship Id="rId5" Type="http://schemas.openxmlformats.org/officeDocument/2006/relationships/image" Target="../media/image1280.png"/><Relationship Id="rId4" Type="http://schemas.openxmlformats.org/officeDocument/2006/relationships/image" Target="../media/image1270.png"/></Relationships>
</file>

<file path=ppt/slides/_rels/slide56.xml.rels><?xml version="1.0" encoding="UTF-8" standalone="yes"?>
<Relationships xmlns="http://schemas.openxmlformats.org/package/2006/relationships"><Relationship Id="rId8" Type="http://schemas.openxmlformats.org/officeDocument/2006/relationships/image" Target="../media/image1370.png"/><Relationship Id="rId3" Type="http://schemas.openxmlformats.org/officeDocument/2006/relationships/image" Target="../media/image1320.png"/><Relationship Id="rId7" Type="http://schemas.openxmlformats.org/officeDocument/2006/relationships/image" Target="../media/image1360.png"/><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image" Target="../media/image1350.png"/><Relationship Id="rId11" Type="http://schemas.openxmlformats.org/officeDocument/2006/relationships/image" Target="../media/image1400.png"/><Relationship Id="rId5" Type="http://schemas.openxmlformats.org/officeDocument/2006/relationships/image" Target="../media/image1340.png"/><Relationship Id="rId10" Type="http://schemas.openxmlformats.org/officeDocument/2006/relationships/image" Target="../media/image1390.png"/><Relationship Id="rId4" Type="http://schemas.openxmlformats.org/officeDocument/2006/relationships/image" Target="../media/image1330.png"/><Relationship Id="rId9" Type="http://schemas.openxmlformats.org/officeDocument/2006/relationships/image" Target="../media/image1380.png"/></Relationships>
</file>

<file path=ppt/slides/_rels/slide57.xml.rels><?xml version="1.0" encoding="UTF-8" standalone="yes"?>
<Relationships xmlns="http://schemas.openxmlformats.org/package/2006/relationships"><Relationship Id="rId8" Type="http://schemas.openxmlformats.org/officeDocument/2006/relationships/image" Target="../media/image1460.png"/><Relationship Id="rId3" Type="http://schemas.openxmlformats.org/officeDocument/2006/relationships/image" Target="../media/image1410.png"/><Relationship Id="rId7" Type="http://schemas.openxmlformats.org/officeDocument/2006/relationships/image" Target="../media/image1450.pn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1440.png"/><Relationship Id="rId5" Type="http://schemas.openxmlformats.org/officeDocument/2006/relationships/image" Target="../media/image1430.png"/><Relationship Id="rId4" Type="http://schemas.openxmlformats.org/officeDocument/2006/relationships/image" Target="../media/image1420.png"/></Relationships>
</file>

<file path=ppt/slides/_rels/slide58.xml.rels><?xml version="1.0" encoding="UTF-8" standalone="yes"?>
<Relationships xmlns="http://schemas.openxmlformats.org/package/2006/relationships"><Relationship Id="rId3" Type="http://schemas.openxmlformats.org/officeDocument/2006/relationships/image" Target="../media/image1470.png"/><Relationship Id="rId7" Type="http://schemas.openxmlformats.org/officeDocument/2006/relationships/image" Target="../media/image1510.png"/><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image" Target="../media/image1500.png"/><Relationship Id="rId5" Type="http://schemas.openxmlformats.org/officeDocument/2006/relationships/image" Target="../media/image1490.png"/><Relationship Id="rId4" Type="http://schemas.openxmlformats.org/officeDocument/2006/relationships/image" Target="../media/image148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z="1400" smtClean="0"/>
              <a:t>1</a:t>
            </a:fld>
            <a:endParaRPr lang="en-US" sz="1400"/>
          </a:p>
        </p:txBody>
      </p:sp>
      <p:sp>
        <p:nvSpPr>
          <p:cNvPr id="5" name="TextBox 4">
            <a:extLst>
              <a:ext uri="{FF2B5EF4-FFF2-40B4-BE49-F238E27FC236}">
                <a16:creationId xmlns:a16="http://schemas.microsoft.com/office/drawing/2014/main" id="{FE26F3B4-9DA8-7245-8E6E-F1D070C26EBA}"/>
              </a:ext>
            </a:extLst>
          </p:cNvPr>
          <p:cNvSpPr txBox="1"/>
          <p:nvPr/>
        </p:nvSpPr>
        <p:spPr>
          <a:xfrm>
            <a:off x="866898" y="136525"/>
            <a:ext cx="10497783" cy="707886"/>
          </a:xfrm>
          <a:prstGeom prst="rect">
            <a:avLst/>
          </a:prstGeom>
          <a:noFill/>
        </p:spPr>
        <p:txBody>
          <a:bodyPr wrap="square" rtlCol="0">
            <a:spAutoFit/>
          </a:bodyPr>
          <a:lstStyle/>
          <a:p>
            <a:pPr algn="ctr"/>
            <a:r>
              <a:rPr lang="en-US" sz="4000" b="1" dirty="0">
                <a:latin typeface="Arial" panose="020B0604020202020204" pitchFamily="34" charset="0"/>
                <a:cs typeface="Arial" panose="020B0604020202020204" pitchFamily="34" charset="0"/>
              </a:rPr>
              <a:t>Suspended bed material load</a:t>
            </a:r>
          </a:p>
        </p:txBody>
      </p:sp>
    </p:spTree>
    <p:extLst>
      <p:ext uri="{BB962C8B-B14F-4D97-AF65-F5344CB8AC3E}">
        <p14:creationId xmlns:p14="http://schemas.microsoft.com/office/powerpoint/2010/main" val="27419480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38BAF1C-F9C7-F147-9764-50678FF368AF}"/>
              </a:ext>
            </a:extLst>
          </p:cNvPr>
          <p:cNvSpPr/>
          <p:nvPr/>
        </p:nvSpPr>
        <p:spPr>
          <a:xfrm>
            <a:off x="1954844" y="857781"/>
            <a:ext cx="8362122" cy="1770419"/>
          </a:xfrm>
          <a:prstGeom prst="rect">
            <a:avLst/>
          </a:prstGeom>
          <a:gradFill flip="none" rotWithShape="1">
            <a:gsLst>
              <a:gs pos="0">
                <a:schemeClr val="accent5">
                  <a:lumMod val="42000"/>
                  <a:lumOff val="58000"/>
                </a:schemeClr>
              </a:gs>
              <a:gs pos="100000">
                <a:schemeClr val="accent4">
                  <a:lumMod val="75000"/>
                </a:schemeClr>
              </a:gs>
            </a:gsLst>
            <a:lin ang="5400000" scaled="1"/>
            <a:tileRect/>
          </a:gra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2</a:t>
            </a:fld>
            <a:endParaRPr lang="en-US"/>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Definitions</a:t>
            </a:r>
          </a:p>
        </p:txBody>
      </p:sp>
      <p:sp>
        <p:nvSpPr>
          <p:cNvPr id="8" name="Rectangle 7">
            <a:extLst>
              <a:ext uri="{FF2B5EF4-FFF2-40B4-BE49-F238E27FC236}">
                <a16:creationId xmlns:a16="http://schemas.microsoft.com/office/drawing/2014/main" id="{16B80E6B-291A-DE40-B1E7-987502E4133B}"/>
              </a:ext>
            </a:extLst>
          </p:cNvPr>
          <p:cNvSpPr/>
          <p:nvPr/>
        </p:nvSpPr>
        <p:spPr>
          <a:xfrm>
            <a:off x="1954844" y="2088215"/>
            <a:ext cx="8362122" cy="540000"/>
          </a:xfrm>
          <a:prstGeom prst="rect">
            <a:avLst/>
          </a:prstGeom>
          <a:pattFill prst="pct25">
            <a:fgClr>
              <a:schemeClr val="accent4">
                <a:lumMod val="75000"/>
              </a:schemeClr>
            </a:fgClr>
            <a:bgClr>
              <a:schemeClr val="bg1"/>
            </a:bgClr>
          </a:patt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Arrow 13">
            <a:extLst>
              <a:ext uri="{FF2B5EF4-FFF2-40B4-BE49-F238E27FC236}">
                <a16:creationId xmlns:a16="http://schemas.microsoft.com/office/drawing/2014/main" id="{728298C0-14C5-3940-960D-4A2D85664DB4}"/>
              </a:ext>
            </a:extLst>
          </p:cNvPr>
          <p:cNvSpPr/>
          <p:nvPr/>
        </p:nvSpPr>
        <p:spPr>
          <a:xfrm>
            <a:off x="854384" y="1503770"/>
            <a:ext cx="936994" cy="374754"/>
          </a:xfrm>
          <a:prstGeom prst="right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52CAF9E7-8191-6D4D-8448-C7491D11C1E7}"/>
              </a:ext>
            </a:extLst>
          </p:cNvPr>
          <p:cNvSpPr txBox="1"/>
          <p:nvPr/>
        </p:nvSpPr>
        <p:spPr>
          <a:xfrm>
            <a:off x="856828" y="1243283"/>
            <a:ext cx="936994"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flow</a:t>
            </a:r>
          </a:p>
        </p:txBody>
      </p:sp>
      <p:cxnSp>
        <p:nvCxnSpPr>
          <p:cNvPr id="18" name="Straight Arrow Connector 17">
            <a:extLst>
              <a:ext uri="{FF2B5EF4-FFF2-40B4-BE49-F238E27FC236}">
                <a16:creationId xmlns:a16="http://schemas.microsoft.com/office/drawing/2014/main" id="{4A78755E-D2E9-A74C-A49D-2B21EAF46BFC}"/>
              </a:ext>
            </a:extLst>
          </p:cNvPr>
          <p:cNvCxnSpPr>
            <a:cxnSpLocks/>
          </p:cNvCxnSpPr>
          <p:nvPr/>
        </p:nvCxnSpPr>
        <p:spPr>
          <a:xfrm>
            <a:off x="869430" y="2841714"/>
            <a:ext cx="10484370" cy="0"/>
          </a:xfrm>
          <a:prstGeom prst="straightConnector1">
            <a:avLst/>
          </a:prstGeom>
          <a:ln w="19050">
            <a:solidFill>
              <a:schemeClr val="tx1"/>
            </a:solidFill>
            <a:headEnd type="none" w="lg" len="lg"/>
            <a:tailEnd type="arrow" w="lg" len="lg"/>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1A18B94B-61EE-1440-8FBC-B323D7706A75}"/>
              </a:ext>
            </a:extLst>
          </p:cNvPr>
          <p:cNvSpPr txBox="1"/>
          <p:nvPr/>
        </p:nvSpPr>
        <p:spPr>
          <a:xfrm>
            <a:off x="594911" y="2970464"/>
            <a:ext cx="1024569"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where</a:t>
            </a:r>
          </a:p>
        </p:txBody>
      </p:sp>
      <p:sp>
        <p:nvSpPr>
          <p:cNvPr id="37" name="TextBox 36">
            <a:extLst>
              <a:ext uri="{FF2B5EF4-FFF2-40B4-BE49-F238E27FC236}">
                <a16:creationId xmlns:a16="http://schemas.microsoft.com/office/drawing/2014/main" id="{0421290A-A255-E745-9D1B-2153EAF639A4}"/>
              </a:ext>
            </a:extLst>
          </p:cNvPr>
          <p:cNvSpPr txBox="1"/>
          <p:nvPr/>
        </p:nvSpPr>
        <p:spPr>
          <a:xfrm>
            <a:off x="11131038" y="2864360"/>
            <a:ext cx="46605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x</a:t>
            </a:r>
          </a:p>
        </p:txBody>
      </p:sp>
      <p:cxnSp>
        <p:nvCxnSpPr>
          <p:cNvPr id="39" name="Straight Arrow Connector 38">
            <a:extLst>
              <a:ext uri="{FF2B5EF4-FFF2-40B4-BE49-F238E27FC236}">
                <a16:creationId xmlns:a16="http://schemas.microsoft.com/office/drawing/2014/main" id="{FC0AC240-A8AC-C447-BD4D-C677E655A3D0}"/>
              </a:ext>
            </a:extLst>
          </p:cNvPr>
          <p:cNvCxnSpPr/>
          <p:nvPr/>
        </p:nvCxnSpPr>
        <p:spPr>
          <a:xfrm flipV="1">
            <a:off x="3207895" y="1409080"/>
            <a:ext cx="0" cy="679135"/>
          </a:xfrm>
          <a:prstGeom prst="straightConnector1">
            <a:avLst/>
          </a:prstGeom>
          <a:ln w="190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CE8370CB-8BA4-9644-9B27-F0EC08DB0174}"/>
              </a:ext>
            </a:extLst>
          </p:cNvPr>
          <p:cNvSpPr txBox="1"/>
          <p:nvPr/>
        </p:nvSpPr>
        <p:spPr>
          <a:xfrm>
            <a:off x="2893357" y="1243283"/>
            <a:ext cx="46605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z</a:t>
            </a:r>
          </a:p>
        </p:txBody>
      </p:sp>
      <p:cxnSp>
        <p:nvCxnSpPr>
          <p:cNvPr id="42" name="Straight Connector 41">
            <a:extLst>
              <a:ext uri="{FF2B5EF4-FFF2-40B4-BE49-F238E27FC236}">
                <a16:creationId xmlns:a16="http://schemas.microsoft.com/office/drawing/2014/main" id="{F788809A-FA4A-3F43-9DDB-1D2581555A2E}"/>
              </a:ext>
            </a:extLst>
          </p:cNvPr>
          <p:cNvCxnSpPr/>
          <p:nvPr/>
        </p:nvCxnSpPr>
        <p:spPr>
          <a:xfrm>
            <a:off x="5366479" y="857781"/>
            <a:ext cx="0" cy="12304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4368278E-1D88-B54A-BC7A-2DC87F3EFA50}"/>
              </a:ext>
            </a:extLst>
          </p:cNvPr>
          <p:cNvCxnSpPr/>
          <p:nvPr/>
        </p:nvCxnSpPr>
        <p:spPr>
          <a:xfrm>
            <a:off x="7122827" y="846328"/>
            <a:ext cx="0" cy="12304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Freeform 46">
            <a:extLst>
              <a:ext uri="{FF2B5EF4-FFF2-40B4-BE49-F238E27FC236}">
                <a16:creationId xmlns:a16="http://schemas.microsoft.com/office/drawing/2014/main" id="{12CD6DE8-2154-C347-8967-579FE7DBEA93}"/>
              </a:ext>
            </a:extLst>
          </p:cNvPr>
          <p:cNvSpPr/>
          <p:nvPr/>
        </p:nvSpPr>
        <p:spPr>
          <a:xfrm>
            <a:off x="5660036" y="881347"/>
            <a:ext cx="584617" cy="1184223"/>
          </a:xfrm>
          <a:custGeom>
            <a:avLst/>
            <a:gdLst>
              <a:gd name="connsiteX0" fmla="*/ 0 w 584617"/>
              <a:gd name="connsiteY0" fmla="*/ 0 h 1184223"/>
              <a:gd name="connsiteX1" fmla="*/ 44971 w 584617"/>
              <a:gd name="connsiteY1" fmla="*/ 329784 h 1184223"/>
              <a:gd name="connsiteX2" fmla="*/ 179882 w 584617"/>
              <a:gd name="connsiteY2" fmla="*/ 749508 h 1184223"/>
              <a:gd name="connsiteX3" fmla="*/ 389745 w 584617"/>
              <a:gd name="connsiteY3" fmla="*/ 1019331 h 1184223"/>
              <a:gd name="connsiteX4" fmla="*/ 524656 w 584617"/>
              <a:gd name="connsiteY4" fmla="*/ 1094282 h 1184223"/>
              <a:gd name="connsiteX5" fmla="*/ 584617 w 584617"/>
              <a:gd name="connsiteY5" fmla="*/ 1184223 h 1184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4617" h="1184223">
                <a:moveTo>
                  <a:pt x="0" y="0"/>
                </a:moveTo>
                <a:cubicBezTo>
                  <a:pt x="7495" y="102433"/>
                  <a:pt x="14991" y="204866"/>
                  <a:pt x="44971" y="329784"/>
                </a:cubicBezTo>
                <a:cubicBezTo>
                  <a:pt x="74951" y="454702"/>
                  <a:pt x="122420" y="634584"/>
                  <a:pt x="179882" y="749508"/>
                </a:cubicBezTo>
                <a:cubicBezTo>
                  <a:pt x="237344" y="864432"/>
                  <a:pt x="332283" y="961869"/>
                  <a:pt x="389745" y="1019331"/>
                </a:cubicBezTo>
                <a:cubicBezTo>
                  <a:pt x="447207" y="1076793"/>
                  <a:pt x="492177" y="1066800"/>
                  <a:pt x="524656" y="1094282"/>
                </a:cubicBezTo>
                <a:cubicBezTo>
                  <a:pt x="557135" y="1121764"/>
                  <a:pt x="570876" y="1152993"/>
                  <a:pt x="584617" y="1184223"/>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reeform 47">
            <a:extLst>
              <a:ext uri="{FF2B5EF4-FFF2-40B4-BE49-F238E27FC236}">
                <a16:creationId xmlns:a16="http://schemas.microsoft.com/office/drawing/2014/main" id="{249211EC-9695-A94F-A8CD-AA79E94829F2}"/>
              </a:ext>
            </a:extLst>
          </p:cNvPr>
          <p:cNvSpPr/>
          <p:nvPr/>
        </p:nvSpPr>
        <p:spPr>
          <a:xfrm>
            <a:off x="7135318" y="839454"/>
            <a:ext cx="854439" cy="1214203"/>
          </a:xfrm>
          <a:custGeom>
            <a:avLst/>
            <a:gdLst>
              <a:gd name="connsiteX0" fmla="*/ 0 w 854439"/>
              <a:gd name="connsiteY0" fmla="*/ 1214203 h 1214203"/>
              <a:gd name="connsiteX1" fmla="*/ 539646 w 854439"/>
              <a:gd name="connsiteY1" fmla="*/ 1154242 h 1214203"/>
              <a:gd name="connsiteX2" fmla="*/ 704538 w 854439"/>
              <a:gd name="connsiteY2" fmla="*/ 974360 h 1214203"/>
              <a:gd name="connsiteX3" fmla="*/ 824459 w 854439"/>
              <a:gd name="connsiteY3" fmla="*/ 404734 h 1214203"/>
              <a:gd name="connsiteX4" fmla="*/ 854439 w 854439"/>
              <a:gd name="connsiteY4" fmla="*/ 0 h 12142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439" h="1214203">
                <a:moveTo>
                  <a:pt x="0" y="1214203"/>
                </a:moveTo>
                <a:cubicBezTo>
                  <a:pt x="211111" y="1204209"/>
                  <a:pt x="422223" y="1194216"/>
                  <a:pt x="539646" y="1154242"/>
                </a:cubicBezTo>
                <a:cubicBezTo>
                  <a:pt x="657069" y="1114268"/>
                  <a:pt x="657069" y="1099278"/>
                  <a:pt x="704538" y="974360"/>
                </a:cubicBezTo>
                <a:cubicBezTo>
                  <a:pt x="752007" y="849442"/>
                  <a:pt x="799476" y="567127"/>
                  <a:pt x="824459" y="404734"/>
                </a:cubicBezTo>
                <a:cubicBezTo>
                  <a:pt x="849443" y="242341"/>
                  <a:pt x="851941" y="121170"/>
                  <a:pt x="854439" y="0"/>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Arrow Connector 49">
            <a:extLst>
              <a:ext uri="{FF2B5EF4-FFF2-40B4-BE49-F238E27FC236}">
                <a16:creationId xmlns:a16="http://schemas.microsoft.com/office/drawing/2014/main" id="{C69360E6-E11E-E347-9AE5-9D65AB24B8FB}"/>
              </a:ext>
            </a:extLst>
          </p:cNvPr>
          <p:cNvCxnSpPr>
            <a:cxnSpLocks/>
          </p:cNvCxnSpPr>
          <p:nvPr/>
        </p:nvCxnSpPr>
        <p:spPr>
          <a:xfrm>
            <a:off x="5366479" y="1742990"/>
            <a:ext cx="585865"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E1FA35E2-DF91-EA47-A696-BE403D77165D}"/>
              </a:ext>
            </a:extLst>
          </p:cNvPr>
          <p:cNvCxnSpPr>
            <a:cxnSpLocks/>
          </p:cNvCxnSpPr>
          <p:nvPr/>
        </p:nvCxnSpPr>
        <p:spPr>
          <a:xfrm>
            <a:off x="7135318" y="1616626"/>
            <a:ext cx="749508"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2263483F-9C16-6A41-9235-D62CC873EB60}"/>
                  </a:ext>
                </a:extLst>
              </p:cNvPr>
              <p:cNvSpPr txBox="1"/>
              <p:nvPr/>
            </p:nvSpPr>
            <p:spPr>
              <a:xfrm>
                <a:off x="5429377" y="1446555"/>
                <a:ext cx="177228"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oMath>
                  </m:oMathPara>
                </a14:m>
                <a:endParaRPr lang="en-US" dirty="0">
                  <a:latin typeface="Arial" panose="020B0604020202020204" pitchFamily="34" charset="0"/>
                  <a:cs typeface="Arial" panose="020B0604020202020204" pitchFamily="34" charset="0"/>
                </a:endParaRPr>
              </a:p>
            </p:txBody>
          </p:sp>
        </mc:Choice>
        <mc:Fallback xmlns="">
          <p:sp>
            <p:nvSpPr>
              <p:cNvPr id="55" name="TextBox 54">
                <a:extLst>
                  <a:ext uri="{FF2B5EF4-FFF2-40B4-BE49-F238E27FC236}">
                    <a16:creationId xmlns:a16="http://schemas.microsoft.com/office/drawing/2014/main" id="{2263483F-9C16-6A41-9235-D62CC873EB60}"/>
                  </a:ext>
                </a:extLst>
              </p:cNvPr>
              <p:cNvSpPr txBox="1">
                <a:spLocks noRot="1" noChangeAspect="1" noMove="1" noResize="1" noEditPoints="1" noAdjustHandles="1" noChangeArrowheads="1" noChangeShapeType="1" noTextEdit="1"/>
              </p:cNvSpPr>
              <p:nvPr/>
            </p:nvSpPr>
            <p:spPr>
              <a:xfrm>
                <a:off x="5429377" y="1446555"/>
                <a:ext cx="177228" cy="315792"/>
              </a:xfrm>
              <a:prstGeom prst="rect">
                <a:avLst/>
              </a:prstGeom>
              <a:blipFill>
                <a:blip r:embed="rId2"/>
                <a:stretch>
                  <a:fillRect l="-13333" r="-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06E5AA61-37EA-C24E-9FAA-0C32B9C9464B}"/>
                  </a:ext>
                </a:extLst>
              </p:cNvPr>
              <p:cNvSpPr txBox="1"/>
              <p:nvPr/>
            </p:nvSpPr>
            <p:spPr>
              <a:xfrm>
                <a:off x="7362952" y="1270129"/>
                <a:ext cx="203004"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𝑢</m:t>
                          </m:r>
                        </m:e>
                      </m:acc>
                    </m:oMath>
                  </m:oMathPara>
                </a14:m>
                <a:endParaRPr lang="en-US" dirty="0">
                  <a:latin typeface="Arial" panose="020B0604020202020204" pitchFamily="34" charset="0"/>
                  <a:cs typeface="Arial" panose="020B0604020202020204" pitchFamily="34" charset="0"/>
                </a:endParaRPr>
              </a:p>
            </p:txBody>
          </p:sp>
        </mc:Choice>
        <mc:Fallback xmlns="">
          <p:sp>
            <p:nvSpPr>
              <p:cNvPr id="57" name="TextBox 56">
                <a:extLst>
                  <a:ext uri="{FF2B5EF4-FFF2-40B4-BE49-F238E27FC236}">
                    <a16:creationId xmlns:a16="http://schemas.microsoft.com/office/drawing/2014/main" id="{06E5AA61-37EA-C24E-9FAA-0C32B9C9464B}"/>
                  </a:ext>
                </a:extLst>
              </p:cNvPr>
              <p:cNvSpPr txBox="1">
                <a:spLocks noRot="1" noChangeAspect="1" noMove="1" noResize="1" noEditPoints="1" noAdjustHandles="1" noChangeArrowheads="1" noChangeShapeType="1" noTextEdit="1"/>
              </p:cNvSpPr>
              <p:nvPr/>
            </p:nvSpPr>
            <p:spPr>
              <a:xfrm>
                <a:off x="7362952" y="1270129"/>
                <a:ext cx="203004" cy="315792"/>
              </a:xfrm>
              <a:prstGeom prst="rect">
                <a:avLst/>
              </a:prstGeom>
              <a:blipFill>
                <a:blip r:embed="rId3"/>
                <a:stretch>
                  <a:fillRect l="-11765" r="-117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AFFD8544-CFB8-2946-95B4-BB15DB555ABC}"/>
                  </a:ext>
                </a:extLst>
              </p:cNvPr>
              <p:cNvSpPr txBox="1"/>
              <p:nvPr/>
            </p:nvSpPr>
            <p:spPr>
              <a:xfrm>
                <a:off x="594911" y="3460804"/>
                <a:ext cx="9024077" cy="1960730"/>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x is a streamwise coordinate</a:t>
                </a:r>
              </a:p>
              <a:p>
                <a:pPr algn="l">
                  <a:lnSpc>
                    <a:spcPct val="114000"/>
                  </a:lnSpc>
                </a:pPr>
                <a:r>
                  <a:rPr lang="en-US" dirty="0">
                    <a:latin typeface="Arial" panose="020B0604020202020204" pitchFamily="34" charset="0"/>
                    <a:cs typeface="Arial" panose="020B0604020202020204" pitchFamily="34" charset="0"/>
                  </a:rPr>
                  <a:t>z is a vertical coordinate with origin on the channel bed</a:t>
                </a:r>
              </a:p>
              <a:p>
                <a:pPr algn="l">
                  <a:lnSpc>
                    <a:spcPct val="114000"/>
                  </a:lnSpc>
                </a:pP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𝑢</m:t>
                        </m:r>
                      </m:e>
                    </m:acc>
                  </m:oMath>
                </a14:m>
                <a:r>
                  <a:rPr lang="en-US" dirty="0">
                    <a:latin typeface="Arial" panose="020B0604020202020204" pitchFamily="34" charset="0"/>
                    <a:cs typeface="Arial" panose="020B0604020202020204" pitchFamily="34" charset="0"/>
                  </a:rPr>
                  <a:t> is the local streamwise component of the velocity averaged over turbulence</a:t>
                </a:r>
              </a:p>
              <a:p>
                <a:pPr algn="l">
                  <a:lnSpc>
                    <a:spcPct val="114000"/>
                  </a:lnSpc>
                </a:pP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oMath>
                </a14:m>
                <a:r>
                  <a:rPr lang="en-US" dirty="0">
                    <a:latin typeface="Arial" panose="020B0604020202020204" pitchFamily="34" charset="0"/>
                    <a:cs typeface="Arial" panose="020B0604020202020204" pitchFamily="34" charset="0"/>
                  </a:rPr>
                  <a:t> is the local volume concentration of suspended sediment averaged over turbulence</a:t>
                </a:r>
              </a:p>
              <a:p>
                <a:pPr algn="l">
                  <a:lnSpc>
                    <a:spcPct val="114000"/>
                  </a:lnSpc>
                </a:pPr>
                <a:r>
                  <a:rPr lang="en-US" dirty="0" err="1">
                    <a:latin typeface="Arial" panose="020B0604020202020204" pitchFamily="34" charset="0"/>
                    <a:cs typeface="Arial" panose="020B0604020202020204" pitchFamily="34" charset="0"/>
                  </a:rPr>
                  <a:t>q</a:t>
                </a:r>
                <a:r>
                  <a:rPr lang="en-US" baseline="-25000" dirty="0" err="1">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is the volumetric transport rate of suspended sediment per unit width</a:t>
                </a:r>
              </a:p>
              <a:p>
                <a:pPr algn="l">
                  <a:lnSpc>
                    <a:spcPct val="114000"/>
                  </a:lnSpc>
                </a:pPr>
                <a:r>
                  <a:rPr lang="en-US" dirty="0">
                    <a:latin typeface="Arial" panose="020B0604020202020204" pitchFamily="34" charset="0"/>
                    <a:cs typeface="Arial" panose="020B0604020202020204" pitchFamily="34" charset="0"/>
                  </a:rPr>
                  <a:t>C is the vertically averaged suspended sediment concentration</a:t>
                </a:r>
              </a:p>
            </p:txBody>
          </p:sp>
        </mc:Choice>
        <mc:Fallback xmlns="">
          <p:sp>
            <p:nvSpPr>
              <p:cNvPr id="58" name="TextBox 57">
                <a:extLst>
                  <a:ext uri="{FF2B5EF4-FFF2-40B4-BE49-F238E27FC236}">
                    <a16:creationId xmlns:a16="http://schemas.microsoft.com/office/drawing/2014/main" id="{AFFD8544-CFB8-2946-95B4-BB15DB555ABC}"/>
                  </a:ext>
                </a:extLst>
              </p:cNvPr>
              <p:cNvSpPr txBox="1">
                <a:spLocks noRot="1" noChangeAspect="1" noMove="1" noResize="1" noEditPoints="1" noAdjustHandles="1" noChangeArrowheads="1" noChangeShapeType="1" noTextEdit="1"/>
              </p:cNvSpPr>
              <p:nvPr/>
            </p:nvSpPr>
            <p:spPr>
              <a:xfrm>
                <a:off x="594911" y="3460804"/>
                <a:ext cx="9024077" cy="1960730"/>
              </a:xfrm>
              <a:prstGeom prst="rect">
                <a:avLst/>
              </a:prstGeom>
              <a:blipFill>
                <a:blip r:embed="rId4"/>
                <a:stretch>
                  <a:fillRect l="-703" t="-1290" b="-4516"/>
                </a:stretch>
              </a:blipFill>
            </p:spPr>
            <p:txBody>
              <a:bodyPr/>
              <a:lstStyle/>
              <a:p>
                <a:r>
                  <a:rPr lang="en-US">
                    <a:noFill/>
                  </a:rPr>
                  <a:t> </a:t>
                </a:r>
              </a:p>
            </p:txBody>
          </p:sp>
        </mc:Fallback>
      </mc:AlternateContent>
      <p:cxnSp>
        <p:nvCxnSpPr>
          <p:cNvPr id="60" name="Straight Arrow Connector 59">
            <a:extLst>
              <a:ext uri="{FF2B5EF4-FFF2-40B4-BE49-F238E27FC236}">
                <a16:creationId xmlns:a16="http://schemas.microsoft.com/office/drawing/2014/main" id="{7C634A12-8638-A948-808F-11FB7D821F24}"/>
              </a:ext>
            </a:extLst>
          </p:cNvPr>
          <p:cNvCxnSpPr/>
          <p:nvPr/>
        </p:nvCxnSpPr>
        <p:spPr>
          <a:xfrm>
            <a:off x="9084039" y="857781"/>
            <a:ext cx="0" cy="1230434"/>
          </a:xfrm>
          <a:prstGeom prst="straightConnector1">
            <a:avLst/>
          </a:prstGeom>
          <a:ln w="19050">
            <a:solidFill>
              <a:schemeClr val="tx1"/>
            </a:solidFill>
            <a:headEnd type="arrow" w="lg" len="lg"/>
            <a:tailEnd type="arrow" w="lg" len="lg"/>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081EE49D-4BC9-A947-965D-8C1C2DA8E7CC}"/>
              </a:ext>
            </a:extLst>
          </p:cNvPr>
          <p:cNvSpPr txBox="1"/>
          <p:nvPr/>
        </p:nvSpPr>
        <p:spPr>
          <a:xfrm>
            <a:off x="8752899" y="1185849"/>
            <a:ext cx="46605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H</a:t>
            </a:r>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E30D5D46-42ED-8342-8BC8-0A26393F215D}"/>
                  </a:ext>
                </a:extLst>
              </p:cNvPr>
              <p:cNvSpPr txBox="1"/>
              <p:nvPr/>
            </p:nvSpPr>
            <p:spPr>
              <a:xfrm>
                <a:off x="3951665" y="5617575"/>
                <a:ext cx="2159950" cy="415883"/>
              </a:xfrm>
              <a:prstGeom prst="rect">
                <a:avLst/>
              </a:prstGeom>
              <a:noFill/>
            </p:spPr>
            <p:txBody>
              <a:bodyPr wrap="none" lIns="0" tIns="0" rIns="0" bIns="0" rtlCol="0">
                <a:spAutoFit/>
              </a:bodyPr>
              <a:lstStyle/>
              <a:p>
                <a:pPr algn="l">
                  <a:lnSpc>
                    <a:spcPct val="114000"/>
                  </a:lnSpc>
                </a:pPr>
                <a14:m>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𝑞</m:t>
                        </m:r>
                      </m:e>
                      <m:sub>
                        <m:r>
                          <a:rPr lang="en-US" b="0" i="1" smtClean="0">
                            <a:latin typeface="Cambria Math" panose="02040503050406030204" pitchFamily="18" charset="0"/>
                            <a:cs typeface="Arial" panose="020B0604020202020204" pitchFamily="34" charset="0"/>
                          </a:rPr>
                          <m:t>𝑠</m:t>
                        </m:r>
                      </m:sub>
                    </m:sSub>
                    <m:r>
                      <a:rPr lang="en-US" b="0" i="1" smtClean="0">
                        <a:latin typeface="Cambria Math" panose="02040503050406030204" pitchFamily="18" charset="0"/>
                        <a:cs typeface="Arial" panose="020B0604020202020204" pitchFamily="34" charset="0"/>
                      </a:rPr>
                      <m:t>=</m:t>
                    </m:r>
                    <m:nary>
                      <m:naryPr>
                        <m:limLoc m:val="undOvr"/>
                        <m:ctrlPr>
                          <a:rPr lang="en-US" b="0" i="1" smtClean="0">
                            <a:latin typeface="Cambria Math" panose="02040503050406030204" pitchFamily="18" charset="0"/>
                            <a:cs typeface="Arial" panose="020B0604020202020204" pitchFamily="34" charset="0"/>
                          </a:rPr>
                        </m:ctrlPr>
                      </m:naryPr>
                      <m:sub>
                        <m:r>
                          <m:rPr>
                            <m:brk m:alnAt="24"/>
                          </m:rPr>
                          <a:rPr lang="en-US" b="0" i="1" smtClean="0">
                            <a:latin typeface="Cambria Math" panose="02040503050406030204" pitchFamily="18" charset="0"/>
                            <a:cs typeface="Arial" panose="020B0604020202020204" pitchFamily="34" charset="0"/>
                          </a:rPr>
                          <m:t>0</m:t>
                        </m:r>
                      </m:sub>
                      <m:sup>
                        <m:r>
                          <a:rPr lang="en-US" b="0" i="1" smtClean="0">
                            <a:latin typeface="Cambria Math" panose="02040503050406030204" pitchFamily="18" charset="0"/>
                            <a:cs typeface="Arial" panose="020B0604020202020204" pitchFamily="34" charset="0"/>
                          </a:rPr>
                          <m:t>𝐻</m:t>
                        </m:r>
                      </m:sup>
                      <m:e>
                        <m:acc>
                          <m:accPr>
                            <m:chr m:val="̅"/>
                            <m:ctrlPr>
                              <a:rPr lang="en-US" b="0"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𝑢</m:t>
                            </m:r>
                          </m:e>
                        </m:acc>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r>
                          <a:rPr lang="en-US" b="0" i="1" smtClean="0">
                            <a:latin typeface="Cambria Math" panose="02040503050406030204" pitchFamily="18" charset="0"/>
                            <a:cs typeface="Arial" panose="020B0604020202020204" pitchFamily="34" charset="0"/>
                          </a:rPr>
                          <m:t>𝑑𝑧</m:t>
                        </m:r>
                      </m:e>
                    </m:nary>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𝑈𝐶𝐻</m:t>
                    </m:r>
                  </m:oMath>
                </a14:m>
                <a:r>
                  <a:rPr lang="en-US" dirty="0">
                    <a:latin typeface="Arial" panose="020B0604020202020204" pitchFamily="34" charset="0"/>
                    <a:cs typeface="Arial" panose="020B0604020202020204" pitchFamily="34" charset="0"/>
                  </a:rPr>
                  <a:t> </a:t>
                </a:r>
              </a:p>
            </p:txBody>
          </p:sp>
        </mc:Choice>
        <mc:Fallback xmlns="">
          <p:sp>
            <p:nvSpPr>
              <p:cNvPr id="62" name="TextBox 61">
                <a:extLst>
                  <a:ext uri="{FF2B5EF4-FFF2-40B4-BE49-F238E27FC236}">
                    <a16:creationId xmlns:a16="http://schemas.microsoft.com/office/drawing/2014/main" id="{E30D5D46-42ED-8342-8BC8-0A26393F215D}"/>
                  </a:ext>
                </a:extLst>
              </p:cNvPr>
              <p:cNvSpPr txBox="1">
                <a:spLocks noRot="1" noChangeAspect="1" noMove="1" noResize="1" noEditPoints="1" noAdjustHandles="1" noChangeArrowheads="1" noChangeShapeType="1" noTextEdit="1"/>
              </p:cNvSpPr>
              <p:nvPr/>
            </p:nvSpPr>
            <p:spPr>
              <a:xfrm>
                <a:off x="3951665" y="5617575"/>
                <a:ext cx="2159950" cy="415883"/>
              </a:xfrm>
              <a:prstGeom prst="rect">
                <a:avLst/>
              </a:prstGeom>
              <a:blipFill>
                <a:blip r:embed="rId5"/>
                <a:stretch>
                  <a:fillRect l="-4094" t="-108824" b="-1852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CF1C6798-FA8B-2D46-9FDC-A94D95C7C6F2}"/>
                  </a:ext>
                </a:extLst>
              </p:cNvPr>
              <p:cNvSpPr txBox="1"/>
              <p:nvPr/>
            </p:nvSpPr>
            <p:spPr>
              <a:xfrm>
                <a:off x="809468" y="5617576"/>
                <a:ext cx="1983748" cy="415883"/>
              </a:xfrm>
              <a:prstGeom prst="rect">
                <a:avLst/>
              </a:prstGeom>
              <a:noFill/>
            </p:spPr>
            <p:txBody>
              <a:bodyPr wrap="none" lIns="0" tIns="0" rIns="0" bIns="0" rtlCol="0">
                <a:spAutoFit/>
              </a:bodyPr>
              <a:lstStyle/>
              <a:p>
                <a:pPr algn="l">
                  <a:lnSpc>
                    <a:spcPct val="114000"/>
                  </a:lnSpc>
                </a:pPr>
                <a14:m>
                  <m:oMath xmlns:m="http://schemas.openxmlformats.org/officeDocument/2006/math">
                    <m:r>
                      <a:rPr lang="en-US" i="1" smtClean="0">
                        <a:latin typeface="Cambria Math" panose="02040503050406030204" pitchFamily="18" charset="0"/>
                        <a:cs typeface="Arial" panose="020B0604020202020204" pitchFamily="34" charset="0"/>
                      </a:rPr>
                      <m:t>𝑈</m:t>
                    </m:r>
                    <m:r>
                      <a:rPr lang="en-US" b="0" i="1" smtClean="0">
                        <a:latin typeface="Cambria Math" panose="02040503050406030204" pitchFamily="18" charset="0"/>
                        <a:cs typeface="Arial" panose="020B0604020202020204" pitchFamily="34" charset="0"/>
                      </a:rPr>
                      <m:t>𝐻</m:t>
                    </m:r>
                    <m:r>
                      <a:rPr lang="en-US" b="0" i="1" smtClean="0">
                        <a:latin typeface="Cambria Math" panose="02040503050406030204" pitchFamily="18" charset="0"/>
                        <a:cs typeface="Arial" panose="020B0604020202020204" pitchFamily="34" charset="0"/>
                      </a:rPr>
                      <m:t>=</m:t>
                    </m:r>
                    <m:nary>
                      <m:naryPr>
                        <m:limLoc m:val="undOvr"/>
                        <m:ctrlPr>
                          <a:rPr lang="en-US" b="0" i="1" smtClean="0">
                            <a:latin typeface="Cambria Math" panose="02040503050406030204" pitchFamily="18" charset="0"/>
                            <a:cs typeface="Arial" panose="020B0604020202020204" pitchFamily="34" charset="0"/>
                          </a:rPr>
                        </m:ctrlPr>
                      </m:naryPr>
                      <m:sub>
                        <m:r>
                          <m:rPr>
                            <m:brk m:alnAt="24"/>
                          </m:rPr>
                          <a:rPr lang="en-US" b="0" i="1" smtClean="0">
                            <a:latin typeface="Cambria Math" panose="02040503050406030204" pitchFamily="18" charset="0"/>
                            <a:cs typeface="Arial" panose="020B0604020202020204" pitchFamily="34" charset="0"/>
                          </a:rPr>
                          <m:t>0</m:t>
                        </m:r>
                      </m:sub>
                      <m:sup>
                        <m:r>
                          <a:rPr lang="en-US" b="0" i="1" smtClean="0">
                            <a:latin typeface="Cambria Math" panose="02040503050406030204" pitchFamily="18" charset="0"/>
                            <a:cs typeface="Arial" panose="020B0604020202020204" pitchFamily="34" charset="0"/>
                          </a:rPr>
                          <m:t>𝐻</m:t>
                        </m:r>
                      </m:sup>
                      <m:e>
                        <m:acc>
                          <m:accPr>
                            <m:chr m:val="̅"/>
                            <m:ctrlPr>
                              <a:rPr lang="en-US" b="0"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𝑢</m:t>
                            </m:r>
                          </m:e>
                        </m:acc>
                        <m:r>
                          <a:rPr lang="en-US" b="0" i="1" smtClean="0">
                            <a:latin typeface="Cambria Math" panose="02040503050406030204" pitchFamily="18" charset="0"/>
                            <a:cs typeface="Arial" panose="020B0604020202020204" pitchFamily="34" charset="0"/>
                          </a:rPr>
                          <m:t>𝑑𝑧</m:t>
                        </m:r>
                      </m:e>
                    </m:nary>
                    <m:r>
                      <a:rPr lang="en-US" b="0" i="0"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𝑞</m:t>
                        </m:r>
                      </m:e>
                      <m:sub>
                        <m:r>
                          <a:rPr lang="en-US" b="0" i="1" smtClean="0">
                            <a:latin typeface="Cambria Math" panose="02040503050406030204" pitchFamily="18" charset="0"/>
                            <a:cs typeface="Arial" panose="020B0604020202020204" pitchFamily="34" charset="0"/>
                          </a:rPr>
                          <m:t>𝑤</m:t>
                        </m:r>
                      </m:sub>
                    </m:sSub>
                  </m:oMath>
                </a14:m>
                <a:r>
                  <a:rPr lang="en-US" dirty="0">
                    <a:latin typeface="Arial" panose="020B0604020202020204" pitchFamily="34" charset="0"/>
                    <a:cs typeface="Arial" panose="020B0604020202020204" pitchFamily="34" charset="0"/>
                  </a:rPr>
                  <a:t> </a:t>
                </a:r>
              </a:p>
            </p:txBody>
          </p:sp>
        </mc:Choice>
        <mc:Fallback xmlns="">
          <p:sp>
            <p:nvSpPr>
              <p:cNvPr id="63" name="TextBox 62">
                <a:extLst>
                  <a:ext uri="{FF2B5EF4-FFF2-40B4-BE49-F238E27FC236}">
                    <a16:creationId xmlns:a16="http://schemas.microsoft.com/office/drawing/2014/main" id="{CF1C6798-FA8B-2D46-9FDC-A94D95C7C6F2}"/>
                  </a:ext>
                </a:extLst>
              </p:cNvPr>
              <p:cNvSpPr txBox="1">
                <a:spLocks noRot="1" noChangeAspect="1" noMove="1" noResize="1" noEditPoints="1" noAdjustHandles="1" noChangeArrowheads="1" noChangeShapeType="1" noTextEdit="1"/>
              </p:cNvSpPr>
              <p:nvPr/>
            </p:nvSpPr>
            <p:spPr>
              <a:xfrm>
                <a:off x="809468" y="5617576"/>
                <a:ext cx="1983748" cy="415883"/>
              </a:xfrm>
              <a:prstGeom prst="rect">
                <a:avLst/>
              </a:prstGeom>
              <a:blipFill>
                <a:blip r:embed="rId6"/>
                <a:stretch>
                  <a:fillRect l="-3822" t="-108824" b="-185294"/>
                </a:stretch>
              </a:blipFill>
            </p:spPr>
            <p:txBody>
              <a:bodyPr/>
              <a:lstStyle/>
              <a:p>
                <a:r>
                  <a:rPr lang="en-US">
                    <a:noFill/>
                  </a:rPr>
                  <a:t> </a:t>
                </a:r>
              </a:p>
            </p:txBody>
          </p:sp>
        </mc:Fallback>
      </mc:AlternateContent>
    </p:spTree>
    <p:extLst>
      <p:ext uri="{BB962C8B-B14F-4D97-AF65-F5344CB8AC3E}">
        <p14:creationId xmlns:p14="http://schemas.microsoft.com/office/powerpoint/2010/main" val="4046510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38BAF1C-F9C7-F147-9764-50678FF368AF}"/>
              </a:ext>
            </a:extLst>
          </p:cNvPr>
          <p:cNvSpPr/>
          <p:nvPr/>
        </p:nvSpPr>
        <p:spPr>
          <a:xfrm>
            <a:off x="2076029" y="1933973"/>
            <a:ext cx="8362122" cy="1770419"/>
          </a:xfrm>
          <a:prstGeom prst="rect">
            <a:avLst/>
          </a:prstGeom>
          <a:gradFill flip="none" rotWithShape="1">
            <a:gsLst>
              <a:gs pos="0">
                <a:schemeClr val="accent5">
                  <a:lumMod val="42000"/>
                  <a:lumOff val="58000"/>
                </a:schemeClr>
              </a:gs>
              <a:gs pos="100000">
                <a:schemeClr val="accent4">
                  <a:lumMod val="75000"/>
                </a:schemeClr>
              </a:gs>
            </a:gsLst>
            <a:lin ang="5400000" scaled="1"/>
            <a:tileRect/>
          </a:gra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3</a:t>
            </a:fld>
            <a:endParaRPr lang="en-US"/>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1D conservation of suspended bed material in the water column</a:t>
            </a:r>
          </a:p>
        </p:txBody>
      </p:sp>
      <p:sp>
        <p:nvSpPr>
          <p:cNvPr id="24" name="TextBox 23">
            <a:extLst>
              <a:ext uri="{FF2B5EF4-FFF2-40B4-BE49-F238E27FC236}">
                <a16:creationId xmlns:a16="http://schemas.microsoft.com/office/drawing/2014/main" id="{974FD763-C9F2-F34A-A70B-502115AE228A}"/>
              </a:ext>
            </a:extLst>
          </p:cNvPr>
          <p:cNvSpPr txBox="1"/>
          <p:nvPr/>
        </p:nvSpPr>
        <p:spPr>
          <a:xfrm>
            <a:off x="463138" y="751888"/>
            <a:ext cx="11435937" cy="1013291"/>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The time rate of change of suspended sediment mass in a control volume is equal to the net mass inflow rate of suspended sediment, plus mass rate of sediment entrained from the bed  minus the mass rate of sediment deposited on the bed. </a:t>
            </a:r>
          </a:p>
        </p:txBody>
      </p:sp>
      <p:cxnSp>
        <p:nvCxnSpPr>
          <p:cNvPr id="3" name="Straight Connector 2">
            <a:extLst>
              <a:ext uri="{FF2B5EF4-FFF2-40B4-BE49-F238E27FC236}">
                <a16:creationId xmlns:a16="http://schemas.microsoft.com/office/drawing/2014/main" id="{4E5AA9B2-6385-2F47-83DB-EC57ED9191C3}"/>
              </a:ext>
            </a:extLst>
          </p:cNvPr>
          <p:cNvCxnSpPr>
            <a:cxnSpLocks/>
          </p:cNvCxnSpPr>
          <p:nvPr/>
        </p:nvCxnSpPr>
        <p:spPr>
          <a:xfrm>
            <a:off x="1347160" y="3704433"/>
            <a:ext cx="1008159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16B80E6B-291A-DE40-B1E7-987502E4133B}"/>
              </a:ext>
            </a:extLst>
          </p:cNvPr>
          <p:cNvSpPr/>
          <p:nvPr/>
        </p:nvSpPr>
        <p:spPr>
          <a:xfrm>
            <a:off x="2076029" y="3164407"/>
            <a:ext cx="8362122" cy="540000"/>
          </a:xfrm>
          <a:prstGeom prst="rect">
            <a:avLst/>
          </a:prstGeom>
          <a:pattFill prst="pct25">
            <a:fgClr>
              <a:schemeClr val="accent4">
                <a:lumMod val="75000"/>
              </a:schemeClr>
            </a:fgClr>
            <a:bgClr>
              <a:schemeClr val="bg1"/>
            </a:bgClr>
          </a:patt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34130C07-DFC0-6645-9498-CC656344F248}"/>
              </a:ext>
            </a:extLst>
          </p:cNvPr>
          <p:cNvCxnSpPr>
            <a:cxnSpLocks/>
          </p:cNvCxnSpPr>
          <p:nvPr/>
        </p:nvCxnSpPr>
        <p:spPr>
          <a:xfrm>
            <a:off x="4721902" y="1765179"/>
            <a:ext cx="0" cy="19392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C651F6D-576E-F84C-874B-74FA829DBE2E}"/>
              </a:ext>
            </a:extLst>
          </p:cNvPr>
          <p:cNvCxnSpPr>
            <a:cxnSpLocks/>
          </p:cNvCxnSpPr>
          <p:nvPr/>
        </p:nvCxnSpPr>
        <p:spPr>
          <a:xfrm>
            <a:off x="8307049" y="1765179"/>
            <a:ext cx="0" cy="19392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ight Arrow 13">
            <a:extLst>
              <a:ext uri="{FF2B5EF4-FFF2-40B4-BE49-F238E27FC236}">
                <a16:creationId xmlns:a16="http://schemas.microsoft.com/office/drawing/2014/main" id="{728298C0-14C5-3940-960D-4A2D85664DB4}"/>
              </a:ext>
            </a:extLst>
          </p:cNvPr>
          <p:cNvSpPr/>
          <p:nvPr/>
        </p:nvSpPr>
        <p:spPr>
          <a:xfrm>
            <a:off x="1012267" y="2462884"/>
            <a:ext cx="936994" cy="374754"/>
          </a:xfrm>
          <a:prstGeom prst="right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52CAF9E7-8191-6D4D-8448-C7491D11C1E7}"/>
              </a:ext>
            </a:extLst>
          </p:cNvPr>
          <p:cNvSpPr txBox="1"/>
          <p:nvPr/>
        </p:nvSpPr>
        <p:spPr>
          <a:xfrm>
            <a:off x="1031833" y="2178829"/>
            <a:ext cx="936994"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flow</a:t>
            </a:r>
          </a:p>
        </p:txBody>
      </p:sp>
      <p:cxnSp>
        <p:nvCxnSpPr>
          <p:cNvPr id="18" name="Straight Arrow Connector 17">
            <a:extLst>
              <a:ext uri="{FF2B5EF4-FFF2-40B4-BE49-F238E27FC236}">
                <a16:creationId xmlns:a16="http://schemas.microsoft.com/office/drawing/2014/main" id="{4A78755E-D2E9-A74C-A49D-2B21EAF46BFC}"/>
              </a:ext>
            </a:extLst>
          </p:cNvPr>
          <p:cNvCxnSpPr/>
          <p:nvPr/>
        </p:nvCxnSpPr>
        <p:spPr>
          <a:xfrm>
            <a:off x="4721902" y="3994532"/>
            <a:ext cx="3585147" cy="0"/>
          </a:xfrm>
          <a:prstGeom prst="straightConnector1">
            <a:avLst/>
          </a:prstGeom>
          <a:ln w="19050">
            <a:solidFill>
              <a:schemeClr val="tx1"/>
            </a:solidFill>
            <a:headEnd type="arrow" w="lg" len="lg"/>
            <a:tailEnd type="arrow" w="lg" len="lg"/>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2BF4A2DB-001F-6848-A03E-C2A8E6BBBFD4}"/>
              </a:ext>
            </a:extLst>
          </p:cNvPr>
          <p:cNvSpPr txBox="1"/>
          <p:nvPr/>
        </p:nvSpPr>
        <p:spPr>
          <a:xfrm>
            <a:off x="6096000" y="3667909"/>
            <a:ext cx="569626" cy="381708"/>
          </a:xfrm>
          <a:prstGeom prst="rect">
            <a:avLst/>
          </a:prstGeom>
          <a:noFill/>
        </p:spPr>
        <p:txBody>
          <a:bodyPr wrap="square" rtlCol="0">
            <a:spAutoFit/>
          </a:bodyPr>
          <a:lstStyle/>
          <a:p>
            <a:pPr algn="l">
              <a:lnSpc>
                <a:spcPct val="114000"/>
              </a:lnSpc>
            </a:pPr>
            <a:r>
              <a:rPr lang="en-US" dirty="0">
                <a:latin typeface="Symbol" pitchFamily="2" charset="2"/>
                <a:cs typeface="Arial" panose="020B0604020202020204" pitchFamily="34" charset="0"/>
              </a:rPr>
              <a:t>D</a:t>
            </a:r>
            <a:r>
              <a:rPr lang="en-US" dirty="0">
                <a:latin typeface="Arial" panose="020B0604020202020204" pitchFamily="34" charset="0"/>
                <a:cs typeface="Arial" panose="020B0604020202020204" pitchFamily="34" charset="0"/>
              </a:rPr>
              <a:t>x</a:t>
            </a:r>
          </a:p>
        </p:txBody>
      </p:sp>
      <p:cxnSp>
        <p:nvCxnSpPr>
          <p:cNvPr id="21" name="Straight Arrow Connector 20">
            <a:extLst>
              <a:ext uri="{FF2B5EF4-FFF2-40B4-BE49-F238E27FC236}">
                <a16:creationId xmlns:a16="http://schemas.microsoft.com/office/drawing/2014/main" id="{D603FD9A-F0E2-534F-B6C7-FF85ACC5BEA8}"/>
              </a:ext>
            </a:extLst>
          </p:cNvPr>
          <p:cNvCxnSpPr>
            <a:cxnSpLocks/>
          </p:cNvCxnSpPr>
          <p:nvPr/>
        </p:nvCxnSpPr>
        <p:spPr>
          <a:xfrm>
            <a:off x="3260252" y="2484398"/>
            <a:ext cx="1236797" cy="0"/>
          </a:xfrm>
          <a:prstGeom prst="straightConnector1">
            <a:avLst/>
          </a:prstGeom>
          <a:ln w="38100">
            <a:solidFill>
              <a:schemeClr val="accent4">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ABE99FA-CA80-744E-9760-3D461642C789}"/>
                  </a:ext>
                </a:extLst>
              </p:cNvPr>
              <p:cNvSpPr txBox="1"/>
              <p:nvPr/>
            </p:nvSpPr>
            <p:spPr>
              <a:xfrm>
                <a:off x="3265762" y="1949795"/>
                <a:ext cx="938782" cy="513089"/>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d>
                            <m:dPr>
                              <m:begChr m:val=""/>
                              <m:endChr m:val="|"/>
                              <m:ctrlPr>
                                <a:rPr lang="en-US" i="1" smtClean="0">
                                  <a:latin typeface="Cambria Math" panose="02040503050406030204" pitchFamily="18" charset="0"/>
                                  <a:cs typeface="Arial" panose="020B0604020202020204" pitchFamily="34" charset="0"/>
                                </a:rPr>
                              </m:ctrlPr>
                            </m:dPr>
                            <m:e>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𝜌</m:t>
                                  </m:r>
                                </m:e>
                                <m:sub>
                                  <m:r>
                                    <a:rPr lang="en-US" i="1">
                                      <a:latin typeface="Cambria Math" panose="02040503050406030204" pitchFamily="18" charset="0"/>
                                      <a:cs typeface="Arial" panose="020B0604020202020204" pitchFamily="34" charset="0"/>
                                    </a:rPr>
                                    <m:t>𝑠</m:t>
                                  </m:r>
                                </m:sub>
                              </m:sSub>
                              <m:r>
                                <a:rPr lang="en-US" i="1">
                                  <a:latin typeface="Cambria Math" panose="02040503050406030204" pitchFamily="18" charset="0"/>
                                  <a:cs typeface="Arial" panose="020B0604020202020204" pitchFamily="34" charset="0"/>
                                </a:rPr>
                                <m:t>𝐶𝑈𝐻</m:t>
                              </m:r>
                            </m:e>
                          </m:d>
                        </m:e>
                        <m:sub>
                          <m:r>
                            <a:rPr lang="en-US" b="0" i="1" smtClean="0">
                              <a:latin typeface="Cambria Math" panose="02040503050406030204" pitchFamily="18" charset="0"/>
                              <a:cs typeface="Arial" panose="020B0604020202020204" pitchFamily="34" charset="0"/>
                            </a:rPr>
                            <m:t>𝑥</m:t>
                          </m:r>
                        </m:sub>
                      </m:sSub>
                    </m:oMath>
                  </m:oMathPara>
                </a14:m>
                <a:endParaRPr lang="en-US" dirty="0">
                  <a:latin typeface="Arial" panose="020B0604020202020204" pitchFamily="34" charset="0"/>
                  <a:cs typeface="Arial" panose="020B0604020202020204" pitchFamily="34" charset="0"/>
                </a:endParaRPr>
              </a:p>
            </p:txBody>
          </p:sp>
        </mc:Choice>
        <mc:Fallback xmlns="">
          <p:sp>
            <p:nvSpPr>
              <p:cNvPr id="22" name="TextBox 21">
                <a:extLst>
                  <a:ext uri="{FF2B5EF4-FFF2-40B4-BE49-F238E27FC236}">
                    <a16:creationId xmlns:a16="http://schemas.microsoft.com/office/drawing/2014/main" id="{7ABE99FA-CA80-744E-9760-3D461642C789}"/>
                  </a:ext>
                </a:extLst>
              </p:cNvPr>
              <p:cNvSpPr txBox="1">
                <a:spLocks noRot="1" noChangeAspect="1" noMove="1" noResize="1" noEditPoints="1" noAdjustHandles="1" noChangeArrowheads="1" noChangeShapeType="1" noTextEdit="1"/>
              </p:cNvSpPr>
              <p:nvPr/>
            </p:nvSpPr>
            <p:spPr>
              <a:xfrm>
                <a:off x="3265762" y="1949795"/>
                <a:ext cx="938782" cy="513089"/>
              </a:xfrm>
              <a:prstGeom prst="rect">
                <a:avLst/>
              </a:prstGeom>
              <a:blipFill>
                <a:blip r:embed="rId2"/>
                <a:stretch>
                  <a:fillRect l="-5333" t="-165854" r="-56000" b="-248780"/>
                </a:stretch>
              </a:blipFill>
            </p:spPr>
            <p:txBody>
              <a:bodyPr/>
              <a:lstStyle/>
              <a:p>
                <a:r>
                  <a:rPr lang="en-US">
                    <a:noFill/>
                  </a:rPr>
                  <a:t> </a:t>
                </a:r>
              </a:p>
            </p:txBody>
          </p:sp>
        </mc:Fallback>
      </mc:AlternateContent>
      <p:cxnSp>
        <p:nvCxnSpPr>
          <p:cNvPr id="25" name="Straight Arrow Connector 24">
            <a:extLst>
              <a:ext uri="{FF2B5EF4-FFF2-40B4-BE49-F238E27FC236}">
                <a16:creationId xmlns:a16="http://schemas.microsoft.com/office/drawing/2014/main" id="{EAC69E70-C049-8946-BE9E-33E42454B88A}"/>
              </a:ext>
            </a:extLst>
          </p:cNvPr>
          <p:cNvCxnSpPr>
            <a:cxnSpLocks/>
          </p:cNvCxnSpPr>
          <p:nvPr/>
        </p:nvCxnSpPr>
        <p:spPr>
          <a:xfrm>
            <a:off x="8414252" y="2560537"/>
            <a:ext cx="1236797" cy="0"/>
          </a:xfrm>
          <a:prstGeom prst="straightConnector1">
            <a:avLst/>
          </a:prstGeom>
          <a:ln w="38100">
            <a:solidFill>
              <a:schemeClr val="accent4">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6D3876B1-36DC-E544-8D0C-CA24410DA3E4}"/>
                  </a:ext>
                </a:extLst>
              </p:cNvPr>
              <p:cNvSpPr txBox="1"/>
              <p:nvPr/>
            </p:nvSpPr>
            <p:spPr>
              <a:xfrm>
                <a:off x="8433818" y="1984023"/>
                <a:ext cx="1265475" cy="513089"/>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d>
                            <m:dPr>
                              <m:begChr m:val=""/>
                              <m:endChr m:val="|"/>
                              <m:ctrlPr>
                                <a:rPr lang="en-US" i="1" smtClean="0">
                                  <a:latin typeface="Cambria Math" panose="02040503050406030204" pitchFamily="18" charset="0"/>
                                  <a:cs typeface="Arial" panose="020B0604020202020204" pitchFamily="34" charset="0"/>
                                </a:rPr>
                              </m:ctrlPr>
                            </m:dPr>
                            <m:e>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𝜌</m:t>
                                  </m:r>
                                </m:e>
                                <m:sub>
                                  <m:r>
                                    <a:rPr lang="en-US" i="1">
                                      <a:latin typeface="Cambria Math" panose="02040503050406030204" pitchFamily="18" charset="0"/>
                                      <a:cs typeface="Arial" panose="020B0604020202020204" pitchFamily="34" charset="0"/>
                                    </a:rPr>
                                    <m:t>𝑠</m:t>
                                  </m:r>
                                </m:sub>
                              </m:sSub>
                              <m:r>
                                <a:rPr lang="en-US" i="1">
                                  <a:latin typeface="Cambria Math" panose="02040503050406030204" pitchFamily="18" charset="0"/>
                                  <a:cs typeface="Arial" panose="020B0604020202020204" pitchFamily="34" charset="0"/>
                                </a:rPr>
                                <m:t>𝐶𝑈𝐻</m:t>
                              </m:r>
                            </m:e>
                          </m:d>
                        </m:e>
                        <m:sub>
                          <m:r>
                            <a:rPr lang="en-US" b="0" i="1" smtClean="0">
                              <a:latin typeface="Cambria Math" panose="02040503050406030204" pitchFamily="18" charset="0"/>
                              <a:cs typeface="Arial" panose="020B0604020202020204" pitchFamily="34" charset="0"/>
                            </a:rPr>
                            <m:t>𝑥</m:t>
                          </m:r>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sub>
                      </m:sSub>
                    </m:oMath>
                  </m:oMathPara>
                </a14:m>
                <a:endParaRPr lang="en-US" dirty="0">
                  <a:latin typeface="Arial" panose="020B0604020202020204" pitchFamily="34" charset="0"/>
                  <a:cs typeface="Arial" panose="020B0604020202020204" pitchFamily="34" charset="0"/>
                </a:endParaRPr>
              </a:p>
            </p:txBody>
          </p:sp>
        </mc:Choice>
        <mc:Fallback xmlns="">
          <p:sp>
            <p:nvSpPr>
              <p:cNvPr id="27" name="TextBox 26">
                <a:extLst>
                  <a:ext uri="{FF2B5EF4-FFF2-40B4-BE49-F238E27FC236}">
                    <a16:creationId xmlns:a16="http://schemas.microsoft.com/office/drawing/2014/main" id="{6D3876B1-36DC-E544-8D0C-CA24410DA3E4}"/>
                  </a:ext>
                </a:extLst>
              </p:cNvPr>
              <p:cNvSpPr txBox="1">
                <a:spLocks noRot="1" noChangeAspect="1" noMove="1" noResize="1" noEditPoints="1" noAdjustHandles="1" noChangeArrowheads="1" noChangeShapeType="1" noTextEdit="1"/>
              </p:cNvSpPr>
              <p:nvPr/>
            </p:nvSpPr>
            <p:spPr>
              <a:xfrm>
                <a:off x="8433818" y="1984023"/>
                <a:ext cx="1265475" cy="513089"/>
              </a:xfrm>
              <a:prstGeom prst="rect">
                <a:avLst/>
              </a:prstGeom>
              <a:blipFill>
                <a:blip r:embed="rId3"/>
                <a:stretch>
                  <a:fillRect l="-4000" t="-168293" r="-17000" b="-248780"/>
                </a:stretch>
              </a:blipFill>
            </p:spPr>
            <p:txBody>
              <a:bodyPr/>
              <a:lstStyle/>
              <a:p>
                <a:r>
                  <a:rPr lang="en-US">
                    <a:noFill/>
                  </a:rPr>
                  <a:t> </a:t>
                </a:r>
              </a:p>
            </p:txBody>
          </p:sp>
        </mc:Fallback>
      </mc:AlternateContent>
      <p:cxnSp>
        <p:nvCxnSpPr>
          <p:cNvPr id="29" name="Straight Arrow Connector 28">
            <a:extLst>
              <a:ext uri="{FF2B5EF4-FFF2-40B4-BE49-F238E27FC236}">
                <a16:creationId xmlns:a16="http://schemas.microsoft.com/office/drawing/2014/main" id="{9906F2B5-2804-AA40-9AC9-01BD59014663}"/>
              </a:ext>
            </a:extLst>
          </p:cNvPr>
          <p:cNvCxnSpPr/>
          <p:nvPr/>
        </p:nvCxnSpPr>
        <p:spPr>
          <a:xfrm flipV="1">
            <a:off x="5831174" y="2819182"/>
            <a:ext cx="0" cy="345225"/>
          </a:xfrm>
          <a:prstGeom prst="straightConnector1">
            <a:avLst/>
          </a:prstGeom>
          <a:ln w="38100">
            <a:solidFill>
              <a:schemeClr val="accent4">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B31DA98-608B-4947-B9C0-7F56C43A0EBB}"/>
              </a:ext>
            </a:extLst>
          </p:cNvPr>
          <p:cNvCxnSpPr/>
          <p:nvPr/>
        </p:nvCxnSpPr>
        <p:spPr>
          <a:xfrm flipV="1">
            <a:off x="6867994" y="2819181"/>
            <a:ext cx="0" cy="345225"/>
          </a:xfrm>
          <a:prstGeom prst="straightConnector1">
            <a:avLst/>
          </a:prstGeom>
          <a:ln w="38100">
            <a:solidFill>
              <a:schemeClr val="accent4">
                <a:lumMod val="50000"/>
              </a:schemeClr>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1CE4FC70-058B-5041-BDFF-598308BFE931}"/>
                  </a:ext>
                </a:extLst>
              </p:cNvPr>
              <p:cNvSpPr txBox="1"/>
              <p:nvPr/>
            </p:nvSpPr>
            <p:spPr>
              <a:xfrm>
                <a:off x="5256280" y="2453257"/>
                <a:ext cx="774636"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𝜌</m:t>
                              </m:r>
                            </m:e>
                            <m:sub>
                              <m:r>
                                <a:rPr lang="en-US" b="0" i="1" smtClean="0">
                                  <a:latin typeface="Cambria Math" panose="02040503050406030204" pitchFamily="18" charset="0"/>
                                  <a:cs typeface="Arial" panose="020B0604020202020204" pitchFamily="34" charset="0"/>
                                </a:rPr>
                                <m:t>𝑠</m:t>
                              </m:r>
                            </m:sub>
                          </m:sSub>
                          <m:r>
                            <a:rPr lang="en-US" b="0" i="1" smtClean="0">
                              <a:latin typeface="Cambria Math" panose="02040503050406030204" pitchFamily="18" charset="0"/>
                              <a:cs typeface="Arial" panose="020B0604020202020204" pitchFamily="34" charset="0"/>
                            </a:rPr>
                            <m:t>𝐸</m:t>
                          </m:r>
                        </m:e>
                        <m:sub>
                          <m:r>
                            <a:rPr lang="en-US" b="0" i="1" smtClean="0">
                              <a:latin typeface="Cambria Math" panose="02040503050406030204" pitchFamily="18" charset="0"/>
                              <a:cs typeface="Arial" panose="020B0604020202020204" pitchFamily="34" charset="0"/>
                            </a:rPr>
                            <m:t>𝑠</m:t>
                          </m:r>
                        </m:sub>
                      </m:sSub>
                      <m:r>
                        <m:rPr>
                          <m:sty m:val="p"/>
                        </m:rPr>
                        <a:rPr lang="el-GR" i="1" smtClean="0">
                          <a:latin typeface="Cambria Math" panose="02040503050406030204" pitchFamily="18" charset="0"/>
                          <a:ea typeface="Cambria Math" panose="02040503050406030204" pitchFamily="18" charset="0"/>
                          <a:cs typeface="Arial" panose="020B0604020202020204" pitchFamily="34" charset="0"/>
                        </a:rPr>
                        <m:t>Δ</m:t>
                      </m:r>
                      <m:r>
                        <a:rPr lang="en-US" b="0" i="1" smtClean="0">
                          <a:latin typeface="Cambria Math" panose="02040503050406030204" pitchFamily="18" charset="0"/>
                          <a:ea typeface="Cambria Math" panose="02040503050406030204" pitchFamily="18" charset="0"/>
                          <a:cs typeface="Arial" panose="020B0604020202020204" pitchFamily="34" charset="0"/>
                        </a:rPr>
                        <m:t>𝑥</m:t>
                      </m:r>
                    </m:oMath>
                  </m:oMathPara>
                </a14:m>
                <a:endParaRPr lang="en-US" dirty="0">
                  <a:latin typeface="Arial" panose="020B0604020202020204" pitchFamily="34" charset="0"/>
                  <a:cs typeface="Arial" panose="020B0604020202020204" pitchFamily="34" charset="0"/>
                </a:endParaRPr>
              </a:p>
            </p:txBody>
          </p:sp>
        </mc:Choice>
        <mc:Fallback xmlns="">
          <p:sp>
            <p:nvSpPr>
              <p:cNvPr id="31" name="TextBox 30">
                <a:extLst>
                  <a:ext uri="{FF2B5EF4-FFF2-40B4-BE49-F238E27FC236}">
                    <a16:creationId xmlns:a16="http://schemas.microsoft.com/office/drawing/2014/main" id="{1CE4FC70-058B-5041-BDFF-598308BFE931}"/>
                  </a:ext>
                </a:extLst>
              </p:cNvPr>
              <p:cNvSpPr txBox="1">
                <a:spLocks noRot="1" noChangeAspect="1" noMove="1" noResize="1" noEditPoints="1" noAdjustHandles="1" noChangeArrowheads="1" noChangeShapeType="1" noTextEdit="1"/>
              </p:cNvSpPr>
              <p:nvPr/>
            </p:nvSpPr>
            <p:spPr>
              <a:xfrm>
                <a:off x="5256280" y="2453257"/>
                <a:ext cx="774636" cy="315792"/>
              </a:xfrm>
              <a:prstGeom prst="rect">
                <a:avLst/>
              </a:prstGeom>
              <a:blipFill>
                <a:blip r:embed="rId4"/>
                <a:stretch>
                  <a:fillRect l="-6452" r="-3226" b="-15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6334AF4E-0523-2641-8E47-4D31C34D547C}"/>
                  </a:ext>
                </a:extLst>
              </p:cNvPr>
              <p:cNvSpPr txBox="1"/>
              <p:nvPr/>
            </p:nvSpPr>
            <p:spPr>
              <a:xfrm>
                <a:off x="6593140" y="2467378"/>
                <a:ext cx="789512"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𝜌</m:t>
                              </m:r>
                            </m:e>
                            <m:sub>
                              <m:r>
                                <a:rPr lang="en-US" b="0" i="1" smtClean="0">
                                  <a:latin typeface="Cambria Math" panose="02040503050406030204" pitchFamily="18" charset="0"/>
                                  <a:cs typeface="Arial" panose="020B0604020202020204" pitchFamily="34" charset="0"/>
                                </a:rPr>
                                <m:t>𝑠</m:t>
                              </m:r>
                            </m:sub>
                          </m:sSub>
                          <m:r>
                            <a:rPr lang="en-US" b="0" i="1" smtClean="0">
                              <a:latin typeface="Cambria Math" panose="02040503050406030204" pitchFamily="18" charset="0"/>
                              <a:cs typeface="Arial" panose="020B0604020202020204" pitchFamily="34" charset="0"/>
                            </a:rPr>
                            <m:t>𝐷</m:t>
                          </m:r>
                        </m:e>
                        <m:sub>
                          <m:r>
                            <a:rPr lang="en-US" b="0" i="1" smtClean="0">
                              <a:latin typeface="Cambria Math" panose="02040503050406030204" pitchFamily="18" charset="0"/>
                              <a:cs typeface="Arial" panose="020B0604020202020204" pitchFamily="34" charset="0"/>
                            </a:rPr>
                            <m:t>𝑠</m:t>
                          </m:r>
                        </m:sub>
                      </m:sSub>
                      <m:r>
                        <m:rPr>
                          <m:sty m:val="p"/>
                        </m:rPr>
                        <a:rPr lang="el-GR" i="1" smtClean="0">
                          <a:latin typeface="Cambria Math" panose="02040503050406030204" pitchFamily="18" charset="0"/>
                          <a:ea typeface="Cambria Math" panose="02040503050406030204" pitchFamily="18" charset="0"/>
                          <a:cs typeface="Arial" panose="020B0604020202020204" pitchFamily="34" charset="0"/>
                        </a:rPr>
                        <m:t>Δ</m:t>
                      </m:r>
                      <m:r>
                        <a:rPr lang="en-US" b="0" i="1" smtClean="0">
                          <a:latin typeface="Cambria Math" panose="02040503050406030204" pitchFamily="18" charset="0"/>
                          <a:ea typeface="Cambria Math" panose="02040503050406030204" pitchFamily="18" charset="0"/>
                          <a:cs typeface="Arial" panose="020B0604020202020204" pitchFamily="34" charset="0"/>
                        </a:rPr>
                        <m:t>𝑥</m:t>
                      </m:r>
                    </m:oMath>
                  </m:oMathPara>
                </a14:m>
                <a:endParaRPr lang="en-US" dirty="0">
                  <a:latin typeface="Arial" panose="020B0604020202020204" pitchFamily="34" charset="0"/>
                  <a:cs typeface="Arial" panose="020B0604020202020204" pitchFamily="34" charset="0"/>
                </a:endParaRPr>
              </a:p>
            </p:txBody>
          </p:sp>
        </mc:Choice>
        <mc:Fallback xmlns="">
          <p:sp>
            <p:nvSpPr>
              <p:cNvPr id="32" name="TextBox 31">
                <a:extLst>
                  <a:ext uri="{FF2B5EF4-FFF2-40B4-BE49-F238E27FC236}">
                    <a16:creationId xmlns:a16="http://schemas.microsoft.com/office/drawing/2014/main" id="{6334AF4E-0523-2641-8E47-4D31C34D547C}"/>
                  </a:ext>
                </a:extLst>
              </p:cNvPr>
              <p:cNvSpPr txBox="1">
                <a:spLocks noRot="1" noChangeAspect="1" noMove="1" noResize="1" noEditPoints="1" noAdjustHandles="1" noChangeArrowheads="1" noChangeShapeType="1" noTextEdit="1"/>
              </p:cNvSpPr>
              <p:nvPr/>
            </p:nvSpPr>
            <p:spPr>
              <a:xfrm>
                <a:off x="6593140" y="2467378"/>
                <a:ext cx="789512" cy="315792"/>
              </a:xfrm>
              <a:prstGeom prst="rect">
                <a:avLst/>
              </a:prstGeom>
              <a:blipFill>
                <a:blip r:embed="rId5"/>
                <a:stretch>
                  <a:fillRect l="-6349" r="-1587" b="-15385"/>
                </a:stretch>
              </a:blipFill>
            </p:spPr>
            <p:txBody>
              <a:bodyPr/>
              <a:lstStyle/>
              <a:p>
                <a:r>
                  <a:rPr lang="en-US">
                    <a:noFill/>
                  </a:rPr>
                  <a:t> </a:t>
                </a:r>
              </a:p>
            </p:txBody>
          </p:sp>
        </mc:Fallback>
      </mc:AlternateContent>
      <p:sp>
        <p:nvSpPr>
          <p:cNvPr id="33" name="TextBox 32">
            <a:extLst>
              <a:ext uri="{FF2B5EF4-FFF2-40B4-BE49-F238E27FC236}">
                <a16:creationId xmlns:a16="http://schemas.microsoft.com/office/drawing/2014/main" id="{1A18B94B-61EE-1440-8FBC-B323D7706A75}"/>
              </a:ext>
            </a:extLst>
          </p:cNvPr>
          <p:cNvSpPr txBox="1"/>
          <p:nvPr/>
        </p:nvSpPr>
        <p:spPr>
          <a:xfrm>
            <a:off x="705079" y="3850502"/>
            <a:ext cx="11114484" cy="1960665"/>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where</a:t>
            </a:r>
          </a:p>
          <a:p>
            <a:pPr algn="l">
              <a:lnSpc>
                <a:spcPct val="114000"/>
              </a:lnSpc>
            </a:pPr>
            <a:r>
              <a:rPr lang="en-US" dirty="0">
                <a:latin typeface="Arial" panose="020B0604020202020204" pitchFamily="34" charset="0"/>
                <a:cs typeface="Arial" panose="020B0604020202020204" pitchFamily="34" charset="0"/>
              </a:rPr>
              <a:t>E</a:t>
            </a:r>
            <a:r>
              <a:rPr lang="en-US" baseline="-25000" dirty="0">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is the volume rate per unit bed area of sediment entrained in suspension from the bed</a:t>
            </a:r>
          </a:p>
          <a:p>
            <a:pPr algn="l">
              <a:lnSpc>
                <a:spcPct val="114000"/>
              </a:lnSpc>
            </a:pPr>
            <a:r>
              <a:rPr lang="en-US" dirty="0">
                <a:latin typeface="Arial" panose="020B0604020202020204" pitchFamily="34" charset="0"/>
                <a:cs typeface="Arial" panose="020B0604020202020204" pitchFamily="34" charset="0"/>
              </a:rPr>
              <a:t>D</a:t>
            </a:r>
            <a:r>
              <a:rPr lang="en-US" baseline="-25000" dirty="0">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is the volume rate per unit bed area of sediment deposited from suspension on the bed</a:t>
            </a:r>
          </a:p>
          <a:p>
            <a:pPr algn="l">
              <a:lnSpc>
                <a:spcPct val="114000"/>
              </a:lnSpc>
            </a:pPr>
            <a:endParaRPr lang="en-US" dirty="0">
              <a:latin typeface="Arial" panose="020B0604020202020204" pitchFamily="34" charset="0"/>
              <a:cs typeface="Arial" panose="020B0604020202020204" pitchFamily="34" charset="0"/>
            </a:endParaRPr>
          </a:p>
          <a:p>
            <a:pPr algn="l">
              <a:lnSpc>
                <a:spcPct val="114000"/>
              </a:lnSpc>
            </a:pPr>
            <a:r>
              <a:rPr lang="en-US" dirty="0">
                <a:latin typeface="Arial" panose="020B0604020202020204" pitchFamily="34" charset="0"/>
                <a:cs typeface="Arial" panose="020B0604020202020204" pitchFamily="34" charset="0"/>
              </a:rPr>
              <a:t>For the case of dilute suspension considered here</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2801E77-2145-444D-B7B1-EF1B285AA658}"/>
                  </a:ext>
                </a:extLst>
              </p:cNvPr>
              <p:cNvSpPr txBox="1"/>
              <p:nvPr/>
            </p:nvSpPr>
            <p:spPr>
              <a:xfrm>
                <a:off x="6371832" y="5140525"/>
                <a:ext cx="1028487" cy="315792"/>
              </a:xfrm>
              <a:prstGeom prst="rect">
                <a:avLst/>
              </a:prstGeom>
              <a:solidFill>
                <a:schemeClr val="accent4">
                  <a:lumMod val="20000"/>
                  <a:lumOff val="80000"/>
                </a:schemeClr>
              </a:solid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𝐷</m:t>
                          </m:r>
                        </m:e>
                        <m:sub>
                          <m:r>
                            <a:rPr lang="en-US" b="0" i="1" smtClean="0">
                              <a:latin typeface="Cambria Math" panose="02040503050406030204" pitchFamily="18" charset="0"/>
                              <a:cs typeface="Arial" panose="020B0604020202020204" pitchFamily="34" charset="0"/>
                            </a:rPr>
                            <m:t>𝑠</m:t>
                          </m:r>
                        </m:sub>
                      </m:sSub>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𝑣</m:t>
                          </m:r>
                        </m:e>
                        <m:sub>
                          <m:r>
                            <a:rPr lang="en-US" b="0" i="1" smtClean="0">
                              <a:latin typeface="Cambria Math" panose="02040503050406030204" pitchFamily="18" charset="0"/>
                              <a:cs typeface="Arial" panose="020B0604020202020204" pitchFamily="34" charset="0"/>
                            </a:rPr>
                            <m:t>𝑠</m:t>
                          </m:r>
                        </m:sub>
                      </m:sSub>
                      <m:acc>
                        <m:accPr>
                          <m:chr m:val="̅"/>
                          <m:ctrlPr>
                            <a:rPr lang="en-US" b="0" i="1" smtClean="0">
                              <a:latin typeface="Cambria Math" panose="02040503050406030204" pitchFamily="18" charset="0"/>
                              <a:cs typeface="Arial" panose="020B0604020202020204" pitchFamily="34" charset="0"/>
                            </a:rPr>
                          </m:ctrlPr>
                        </m:accPr>
                        <m:e>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𝑐</m:t>
                              </m:r>
                            </m:e>
                            <m:sub>
                              <m:r>
                                <a:rPr lang="en-US" b="0" i="1" smtClean="0">
                                  <a:latin typeface="Cambria Math" panose="02040503050406030204" pitchFamily="18" charset="0"/>
                                  <a:cs typeface="Arial" panose="020B0604020202020204" pitchFamily="34" charset="0"/>
                                </a:rPr>
                                <m:t>𝑏</m:t>
                              </m:r>
                            </m:sub>
                          </m:sSub>
                        </m:e>
                      </m:acc>
                    </m:oMath>
                  </m:oMathPara>
                </a14:m>
                <a:endParaRPr lang="en-US" dirty="0">
                  <a:latin typeface="Arial" panose="020B0604020202020204" pitchFamily="34" charset="0"/>
                  <a:cs typeface="Arial" panose="020B0604020202020204" pitchFamily="34" charset="0"/>
                </a:endParaRPr>
              </a:p>
            </p:txBody>
          </p:sp>
        </mc:Choice>
        <mc:Fallback xmlns="">
          <p:sp>
            <p:nvSpPr>
              <p:cNvPr id="7" name="TextBox 6">
                <a:extLst>
                  <a:ext uri="{FF2B5EF4-FFF2-40B4-BE49-F238E27FC236}">
                    <a16:creationId xmlns:a16="http://schemas.microsoft.com/office/drawing/2014/main" id="{72801E77-2145-444D-B7B1-EF1B285AA658}"/>
                  </a:ext>
                </a:extLst>
              </p:cNvPr>
              <p:cNvSpPr txBox="1">
                <a:spLocks noRot="1" noChangeAspect="1" noMove="1" noResize="1" noEditPoints="1" noAdjustHandles="1" noChangeArrowheads="1" noChangeShapeType="1" noTextEdit="1"/>
              </p:cNvSpPr>
              <p:nvPr/>
            </p:nvSpPr>
            <p:spPr>
              <a:xfrm>
                <a:off x="6371832" y="5140525"/>
                <a:ext cx="1028487" cy="315792"/>
              </a:xfrm>
              <a:prstGeom prst="rect">
                <a:avLst/>
              </a:prstGeom>
              <a:blipFill>
                <a:blip r:embed="rId6"/>
                <a:stretch>
                  <a:fillRect l="-3659" b="-38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DA68E787-9DFA-4E46-B420-C5D6E1E6B333}"/>
                  </a:ext>
                </a:extLst>
              </p:cNvPr>
              <p:cNvSpPr txBox="1"/>
              <p:nvPr/>
            </p:nvSpPr>
            <p:spPr>
              <a:xfrm>
                <a:off x="8134732" y="5140525"/>
                <a:ext cx="951735" cy="315792"/>
              </a:xfrm>
              <a:prstGeom prst="rect">
                <a:avLst/>
              </a:prstGeom>
              <a:solidFill>
                <a:schemeClr val="accent5">
                  <a:lumMod val="20000"/>
                  <a:lumOff val="80000"/>
                </a:schemeClr>
              </a:solid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𝐸</m:t>
                          </m:r>
                        </m:e>
                        <m:sub>
                          <m:r>
                            <a:rPr lang="en-US" b="0" i="1" smtClean="0">
                              <a:latin typeface="Cambria Math" panose="02040503050406030204" pitchFamily="18" charset="0"/>
                              <a:cs typeface="Arial" panose="020B0604020202020204" pitchFamily="34" charset="0"/>
                            </a:rPr>
                            <m:t>𝑠</m:t>
                          </m:r>
                        </m:sub>
                      </m:sSub>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𝑣</m:t>
                          </m:r>
                        </m:e>
                        <m:sub>
                          <m:r>
                            <a:rPr lang="en-US" b="0" i="1" smtClean="0">
                              <a:latin typeface="Cambria Math" panose="02040503050406030204" pitchFamily="18" charset="0"/>
                              <a:cs typeface="Arial" panose="020B0604020202020204" pitchFamily="34" charset="0"/>
                            </a:rPr>
                            <m:t>𝑠</m:t>
                          </m:r>
                        </m:sub>
                      </m:sSub>
                      <m:r>
                        <a:rPr lang="en-US" b="0" i="1" smtClean="0">
                          <a:latin typeface="Cambria Math" panose="02040503050406030204" pitchFamily="18" charset="0"/>
                          <a:cs typeface="Arial" panose="020B0604020202020204" pitchFamily="34" charset="0"/>
                        </a:rPr>
                        <m:t>𝐸</m:t>
                      </m:r>
                    </m:oMath>
                  </m:oMathPara>
                </a14:m>
                <a:endParaRPr lang="en-US" dirty="0">
                  <a:latin typeface="Arial" panose="020B0604020202020204" pitchFamily="34" charset="0"/>
                  <a:cs typeface="Arial" panose="020B0604020202020204" pitchFamily="34" charset="0"/>
                </a:endParaRPr>
              </a:p>
            </p:txBody>
          </p:sp>
        </mc:Choice>
        <mc:Fallback xmlns="">
          <p:sp>
            <p:nvSpPr>
              <p:cNvPr id="26" name="TextBox 25">
                <a:extLst>
                  <a:ext uri="{FF2B5EF4-FFF2-40B4-BE49-F238E27FC236}">
                    <a16:creationId xmlns:a16="http://schemas.microsoft.com/office/drawing/2014/main" id="{DA68E787-9DFA-4E46-B420-C5D6E1E6B333}"/>
                  </a:ext>
                </a:extLst>
              </p:cNvPr>
              <p:cNvSpPr txBox="1">
                <a:spLocks noRot="1" noChangeAspect="1" noMove="1" noResize="1" noEditPoints="1" noAdjustHandles="1" noChangeArrowheads="1" noChangeShapeType="1" noTextEdit="1"/>
              </p:cNvSpPr>
              <p:nvPr/>
            </p:nvSpPr>
            <p:spPr>
              <a:xfrm>
                <a:off x="8134732" y="5140525"/>
                <a:ext cx="951735" cy="315792"/>
              </a:xfrm>
              <a:prstGeom prst="rect">
                <a:avLst/>
              </a:prstGeom>
              <a:blipFill>
                <a:blip r:embed="rId7"/>
                <a:stretch>
                  <a:fillRect l="-5263" r="-3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1ACAFD3A-0B21-D84D-8E1F-D024B88E663E}"/>
                  </a:ext>
                </a:extLst>
              </p:cNvPr>
              <p:cNvSpPr/>
              <p:nvPr/>
            </p:nvSpPr>
            <p:spPr>
              <a:xfrm>
                <a:off x="705079" y="5643646"/>
                <a:ext cx="11193996" cy="1021690"/>
              </a:xfrm>
              <a:prstGeom prst="rect">
                <a:avLst/>
              </a:prstGeom>
            </p:spPr>
            <p:txBody>
              <a:bodyPr wrap="square">
                <a:spAutoFit/>
              </a:bodyPr>
              <a:lstStyle/>
              <a:p>
                <a:pPr>
                  <a:lnSpc>
                    <a:spcPct val="114000"/>
                  </a:lnSpc>
                </a:pPr>
                <a:r>
                  <a:rPr lang="en-US" dirty="0">
                    <a:latin typeface="Arial" panose="020B0604020202020204" pitchFamily="34" charset="0"/>
                    <a:cs typeface="Arial" panose="020B0604020202020204" pitchFamily="34" charset="0"/>
                  </a:rPr>
                  <a:t>where</a:t>
                </a:r>
              </a:p>
              <a:p>
                <a:pPr>
                  <a:lnSpc>
                    <a:spcPct val="114000"/>
                  </a:lnSpc>
                </a:pP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𝑐</m:t>
                            </m:r>
                          </m:e>
                          <m:sub>
                            <m:r>
                              <a:rPr lang="en-US" b="0" i="1" smtClean="0">
                                <a:latin typeface="Cambria Math" panose="02040503050406030204" pitchFamily="18" charset="0"/>
                                <a:cs typeface="Arial" panose="020B0604020202020204" pitchFamily="34" charset="0"/>
                              </a:rPr>
                              <m:t>𝑏</m:t>
                            </m:r>
                          </m:sub>
                        </m:sSub>
                      </m:e>
                    </m:acc>
                  </m:oMath>
                </a14:m>
                <a:r>
                  <a:rPr lang="en-US" dirty="0">
                    <a:latin typeface="Arial" panose="020B0604020202020204" pitchFamily="34" charset="0"/>
                    <a:cs typeface="Arial" panose="020B0604020202020204" pitchFamily="34" charset="0"/>
                  </a:rPr>
                  <a:t> is the near-bed volume concentration of suspended bed material averaged over turbulence</a:t>
                </a:r>
              </a:p>
              <a:p>
                <a:pPr>
                  <a:lnSpc>
                    <a:spcPct val="114000"/>
                  </a:lnSpc>
                </a:pPr>
                <a:r>
                  <a:rPr lang="en-US" dirty="0">
                    <a:latin typeface="Arial" panose="020B0604020202020204" pitchFamily="34" charset="0"/>
                    <a:cs typeface="Arial" panose="020B0604020202020204" pitchFamily="34" charset="0"/>
                  </a:rPr>
                  <a:t>E is a dimensionless entrainment rate </a:t>
                </a:r>
                <a:endParaRPr lang="en-US" dirty="0"/>
              </a:p>
            </p:txBody>
          </p:sp>
        </mc:Choice>
        <mc:Fallback xmlns="">
          <p:sp>
            <p:nvSpPr>
              <p:cNvPr id="9" name="Rectangle 8">
                <a:extLst>
                  <a:ext uri="{FF2B5EF4-FFF2-40B4-BE49-F238E27FC236}">
                    <a16:creationId xmlns:a16="http://schemas.microsoft.com/office/drawing/2014/main" id="{1ACAFD3A-0B21-D84D-8E1F-D024B88E663E}"/>
                  </a:ext>
                </a:extLst>
              </p:cNvPr>
              <p:cNvSpPr>
                <a:spLocks noRot="1" noChangeAspect="1" noMove="1" noResize="1" noEditPoints="1" noAdjustHandles="1" noChangeArrowheads="1" noChangeShapeType="1" noTextEdit="1"/>
              </p:cNvSpPr>
              <p:nvPr/>
            </p:nvSpPr>
            <p:spPr>
              <a:xfrm>
                <a:off x="705079" y="5643646"/>
                <a:ext cx="11193996" cy="1021690"/>
              </a:xfrm>
              <a:prstGeom prst="rect">
                <a:avLst/>
              </a:prstGeom>
              <a:blipFill>
                <a:blip r:embed="rId8"/>
                <a:stretch>
                  <a:fillRect l="-454" t="-2469" b="-8642"/>
                </a:stretch>
              </a:blipFill>
            </p:spPr>
            <p:txBody>
              <a:bodyPr/>
              <a:lstStyle/>
              <a:p>
                <a:r>
                  <a:rPr lang="en-US">
                    <a:noFill/>
                  </a:rPr>
                  <a:t> </a:t>
                </a:r>
              </a:p>
            </p:txBody>
          </p:sp>
        </mc:Fallback>
      </mc:AlternateContent>
    </p:spTree>
    <p:extLst>
      <p:ext uri="{BB962C8B-B14F-4D97-AF65-F5344CB8AC3E}">
        <p14:creationId xmlns:p14="http://schemas.microsoft.com/office/powerpoint/2010/main" val="1578094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38BAF1C-F9C7-F147-9764-50678FF368AF}"/>
              </a:ext>
            </a:extLst>
          </p:cNvPr>
          <p:cNvSpPr/>
          <p:nvPr/>
        </p:nvSpPr>
        <p:spPr>
          <a:xfrm>
            <a:off x="2076029" y="1933973"/>
            <a:ext cx="8362122" cy="1770419"/>
          </a:xfrm>
          <a:prstGeom prst="rect">
            <a:avLst/>
          </a:prstGeom>
          <a:gradFill flip="none" rotWithShape="1">
            <a:gsLst>
              <a:gs pos="0">
                <a:schemeClr val="accent5">
                  <a:lumMod val="42000"/>
                  <a:lumOff val="58000"/>
                </a:schemeClr>
              </a:gs>
              <a:gs pos="100000">
                <a:schemeClr val="accent4">
                  <a:lumMod val="75000"/>
                </a:schemeClr>
              </a:gs>
            </a:gsLst>
            <a:lin ang="5400000" scaled="1"/>
            <a:tileRect/>
          </a:gra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4</a:t>
            </a:fld>
            <a:endParaRPr lang="en-US"/>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1D conservation of suspended bed material in the water column</a:t>
            </a:r>
          </a:p>
        </p:txBody>
      </p:sp>
      <p:sp>
        <p:nvSpPr>
          <p:cNvPr id="24" name="TextBox 23">
            <a:extLst>
              <a:ext uri="{FF2B5EF4-FFF2-40B4-BE49-F238E27FC236}">
                <a16:creationId xmlns:a16="http://schemas.microsoft.com/office/drawing/2014/main" id="{974FD763-C9F2-F34A-A70B-502115AE228A}"/>
              </a:ext>
            </a:extLst>
          </p:cNvPr>
          <p:cNvSpPr txBox="1"/>
          <p:nvPr/>
        </p:nvSpPr>
        <p:spPr>
          <a:xfrm>
            <a:off x="463138" y="751888"/>
            <a:ext cx="11435937" cy="1013291"/>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The time rate of change of suspended sediment mass in a control volume is equal to the net mass inflow rate of suspended sediment, plus mass rate of sediment entrained from the bed  minus the mass rate of sediment deposited on the bed. </a:t>
            </a:r>
          </a:p>
        </p:txBody>
      </p:sp>
      <p:cxnSp>
        <p:nvCxnSpPr>
          <p:cNvPr id="3" name="Straight Connector 2">
            <a:extLst>
              <a:ext uri="{FF2B5EF4-FFF2-40B4-BE49-F238E27FC236}">
                <a16:creationId xmlns:a16="http://schemas.microsoft.com/office/drawing/2014/main" id="{4E5AA9B2-6385-2F47-83DB-EC57ED9191C3}"/>
              </a:ext>
            </a:extLst>
          </p:cNvPr>
          <p:cNvCxnSpPr>
            <a:cxnSpLocks/>
          </p:cNvCxnSpPr>
          <p:nvPr/>
        </p:nvCxnSpPr>
        <p:spPr>
          <a:xfrm>
            <a:off x="1347160" y="3704433"/>
            <a:ext cx="1008159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16B80E6B-291A-DE40-B1E7-987502E4133B}"/>
              </a:ext>
            </a:extLst>
          </p:cNvPr>
          <p:cNvSpPr/>
          <p:nvPr/>
        </p:nvSpPr>
        <p:spPr>
          <a:xfrm>
            <a:off x="2076029" y="3164407"/>
            <a:ext cx="8362122" cy="540000"/>
          </a:xfrm>
          <a:prstGeom prst="rect">
            <a:avLst/>
          </a:prstGeom>
          <a:pattFill prst="pct25">
            <a:fgClr>
              <a:schemeClr val="accent4">
                <a:lumMod val="75000"/>
              </a:schemeClr>
            </a:fgClr>
            <a:bgClr>
              <a:schemeClr val="bg1"/>
            </a:bgClr>
          </a:patt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34130C07-DFC0-6645-9498-CC656344F248}"/>
              </a:ext>
            </a:extLst>
          </p:cNvPr>
          <p:cNvCxnSpPr>
            <a:cxnSpLocks/>
          </p:cNvCxnSpPr>
          <p:nvPr/>
        </p:nvCxnSpPr>
        <p:spPr>
          <a:xfrm>
            <a:off x="4721902" y="1765179"/>
            <a:ext cx="0" cy="19392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C651F6D-576E-F84C-874B-74FA829DBE2E}"/>
              </a:ext>
            </a:extLst>
          </p:cNvPr>
          <p:cNvCxnSpPr>
            <a:cxnSpLocks/>
          </p:cNvCxnSpPr>
          <p:nvPr/>
        </p:nvCxnSpPr>
        <p:spPr>
          <a:xfrm>
            <a:off x="8307049" y="1765179"/>
            <a:ext cx="0" cy="19392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ight Arrow 13">
            <a:extLst>
              <a:ext uri="{FF2B5EF4-FFF2-40B4-BE49-F238E27FC236}">
                <a16:creationId xmlns:a16="http://schemas.microsoft.com/office/drawing/2014/main" id="{728298C0-14C5-3940-960D-4A2D85664DB4}"/>
              </a:ext>
            </a:extLst>
          </p:cNvPr>
          <p:cNvSpPr/>
          <p:nvPr/>
        </p:nvSpPr>
        <p:spPr>
          <a:xfrm>
            <a:off x="1012267" y="2462884"/>
            <a:ext cx="936994" cy="374754"/>
          </a:xfrm>
          <a:prstGeom prst="right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52CAF9E7-8191-6D4D-8448-C7491D11C1E7}"/>
              </a:ext>
            </a:extLst>
          </p:cNvPr>
          <p:cNvSpPr txBox="1"/>
          <p:nvPr/>
        </p:nvSpPr>
        <p:spPr>
          <a:xfrm>
            <a:off x="1031833" y="2178829"/>
            <a:ext cx="936994"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flow</a:t>
            </a:r>
          </a:p>
        </p:txBody>
      </p:sp>
      <p:cxnSp>
        <p:nvCxnSpPr>
          <p:cNvPr id="18" name="Straight Arrow Connector 17">
            <a:extLst>
              <a:ext uri="{FF2B5EF4-FFF2-40B4-BE49-F238E27FC236}">
                <a16:creationId xmlns:a16="http://schemas.microsoft.com/office/drawing/2014/main" id="{4A78755E-D2E9-A74C-A49D-2B21EAF46BFC}"/>
              </a:ext>
            </a:extLst>
          </p:cNvPr>
          <p:cNvCxnSpPr/>
          <p:nvPr/>
        </p:nvCxnSpPr>
        <p:spPr>
          <a:xfrm>
            <a:off x="4721902" y="3994532"/>
            <a:ext cx="3585147" cy="0"/>
          </a:xfrm>
          <a:prstGeom prst="straightConnector1">
            <a:avLst/>
          </a:prstGeom>
          <a:ln w="19050">
            <a:solidFill>
              <a:schemeClr val="tx1"/>
            </a:solidFill>
            <a:headEnd type="arrow" w="lg" len="lg"/>
            <a:tailEnd type="arrow" w="lg" len="lg"/>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2BF4A2DB-001F-6848-A03E-C2A8E6BBBFD4}"/>
              </a:ext>
            </a:extLst>
          </p:cNvPr>
          <p:cNvSpPr txBox="1"/>
          <p:nvPr/>
        </p:nvSpPr>
        <p:spPr>
          <a:xfrm>
            <a:off x="6096000" y="3667909"/>
            <a:ext cx="569626" cy="381708"/>
          </a:xfrm>
          <a:prstGeom prst="rect">
            <a:avLst/>
          </a:prstGeom>
          <a:noFill/>
        </p:spPr>
        <p:txBody>
          <a:bodyPr wrap="square" rtlCol="0">
            <a:spAutoFit/>
          </a:bodyPr>
          <a:lstStyle/>
          <a:p>
            <a:pPr algn="l">
              <a:lnSpc>
                <a:spcPct val="114000"/>
              </a:lnSpc>
            </a:pPr>
            <a:r>
              <a:rPr lang="en-US" dirty="0">
                <a:latin typeface="Symbol" pitchFamily="2" charset="2"/>
                <a:cs typeface="Arial" panose="020B0604020202020204" pitchFamily="34" charset="0"/>
              </a:rPr>
              <a:t>D</a:t>
            </a:r>
            <a:r>
              <a:rPr lang="en-US" dirty="0">
                <a:latin typeface="Arial" panose="020B0604020202020204" pitchFamily="34" charset="0"/>
                <a:cs typeface="Arial" panose="020B0604020202020204" pitchFamily="34" charset="0"/>
              </a:rPr>
              <a:t>x</a:t>
            </a:r>
          </a:p>
        </p:txBody>
      </p:sp>
      <p:cxnSp>
        <p:nvCxnSpPr>
          <p:cNvPr id="21" name="Straight Arrow Connector 20">
            <a:extLst>
              <a:ext uri="{FF2B5EF4-FFF2-40B4-BE49-F238E27FC236}">
                <a16:creationId xmlns:a16="http://schemas.microsoft.com/office/drawing/2014/main" id="{D603FD9A-F0E2-534F-B6C7-FF85ACC5BEA8}"/>
              </a:ext>
            </a:extLst>
          </p:cNvPr>
          <p:cNvCxnSpPr>
            <a:cxnSpLocks/>
          </p:cNvCxnSpPr>
          <p:nvPr/>
        </p:nvCxnSpPr>
        <p:spPr>
          <a:xfrm>
            <a:off x="3260252" y="2484398"/>
            <a:ext cx="1236797" cy="0"/>
          </a:xfrm>
          <a:prstGeom prst="straightConnector1">
            <a:avLst/>
          </a:prstGeom>
          <a:ln w="38100">
            <a:solidFill>
              <a:schemeClr val="accent4">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ABE99FA-CA80-744E-9760-3D461642C789}"/>
                  </a:ext>
                </a:extLst>
              </p:cNvPr>
              <p:cNvSpPr txBox="1"/>
              <p:nvPr/>
            </p:nvSpPr>
            <p:spPr>
              <a:xfrm>
                <a:off x="3265762" y="1949795"/>
                <a:ext cx="938782" cy="513089"/>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d>
                            <m:dPr>
                              <m:begChr m:val=""/>
                              <m:endChr m:val="|"/>
                              <m:ctrlPr>
                                <a:rPr lang="en-US" i="1" smtClean="0">
                                  <a:latin typeface="Cambria Math" panose="02040503050406030204" pitchFamily="18" charset="0"/>
                                  <a:cs typeface="Arial" panose="020B0604020202020204" pitchFamily="34" charset="0"/>
                                </a:rPr>
                              </m:ctrlPr>
                            </m:dPr>
                            <m:e>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𝜌</m:t>
                                  </m:r>
                                </m:e>
                                <m:sub>
                                  <m:r>
                                    <a:rPr lang="en-US" i="1">
                                      <a:latin typeface="Cambria Math" panose="02040503050406030204" pitchFamily="18" charset="0"/>
                                      <a:cs typeface="Arial" panose="020B0604020202020204" pitchFamily="34" charset="0"/>
                                    </a:rPr>
                                    <m:t>𝑠</m:t>
                                  </m:r>
                                </m:sub>
                              </m:sSub>
                              <m:r>
                                <a:rPr lang="en-US" i="1">
                                  <a:latin typeface="Cambria Math" panose="02040503050406030204" pitchFamily="18" charset="0"/>
                                  <a:cs typeface="Arial" panose="020B0604020202020204" pitchFamily="34" charset="0"/>
                                </a:rPr>
                                <m:t>𝐶𝑈𝐻</m:t>
                              </m:r>
                            </m:e>
                          </m:d>
                        </m:e>
                        <m:sub>
                          <m:r>
                            <a:rPr lang="en-US" b="0" i="1" smtClean="0">
                              <a:latin typeface="Cambria Math" panose="02040503050406030204" pitchFamily="18" charset="0"/>
                              <a:cs typeface="Arial" panose="020B0604020202020204" pitchFamily="34" charset="0"/>
                            </a:rPr>
                            <m:t>𝑥</m:t>
                          </m:r>
                        </m:sub>
                      </m:sSub>
                    </m:oMath>
                  </m:oMathPara>
                </a14:m>
                <a:endParaRPr lang="en-US" dirty="0">
                  <a:latin typeface="Arial" panose="020B0604020202020204" pitchFamily="34" charset="0"/>
                  <a:cs typeface="Arial" panose="020B0604020202020204" pitchFamily="34" charset="0"/>
                </a:endParaRPr>
              </a:p>
            </p:txBody>
          </p:sp>
        </mc:Choice>
        <mc:Fallback xmlns="">
          <p:sp>
            <p:nvSpPr>
              <p:cNvPr id="22" name="TextBox 21">
                <a:extLst>
                  <a:ext uri="{FF2B5EF4-FFF2-40B4-BE49-F238E27FC236}">
                    <a16:creationId xmlns:a16="http://schemas.microsoft.com/office/drawing/2014/main" id="{7ABE99FA-CA80-744E-9760-3D461642C789}"/>
                  </a:ext>
                </a:extLst>
              </p:cNvPr>
              <p:cNvSpPr txBox="1">
                <a:spLocks noRot="1" noChangeAspect="1" noMove="1" noResize="1" noEditPoints="1" noAdjustHandles="1" noChangeArrowheads="1" noChangeShapeType="1" noTextEdit="1"/>
              </p:cNvSpPr>
              <p:nvPr/>
            </p:nvSpPr>
            <p:spPr>
              <a:xfrm>
                <a:off x="3265762" y="1949795"/>
                <a:ext cx="938782" cy="513089"/>
              </a:xfrm>
              <a:prstGeom prst="rect">
                <a:avLst/>
              </a:prstGeom>
              <a:blipFill>
                <a:blip r:embed="rId2"/>
                <a:stretch>
                  <a:fillRect l="-5333" t="-165854" r="-56000" b="-248780"/>
                </a:stretch>
              </a:blipFill>
            </p:spPr>
            <p:txBody>
              <a:bodyPr/>
              <a:lstStyle/>
              <a:p>
                <a:r>
                  <a:rPr lang="en-US">
                    <a:noFill/>
                  </a:rPr>
                  <a:t> </a:t>
                </a:r>
              </a:p>
            </p:txBody>
          </p:sp>
        </mc:Fallback>
      </mc:AlternateContent>
      <p:cxnSp>
        <p:nvCxnSpPr>
          <p:cNvPr id="25" name="Straight Arrow Connector 24">
            <a:extLst>
              <a:ext uri="{FF2B5EF4-FFF2-40B4-BE49-F238E27FC236}">
                <a16:creationId xmlns:a16="http://schemas.microsoft.com/office/drawing/2014/main" id="{EAC69E70-C049-8946-BE9E-33E42454B88A}"/>
              </a:ext>
            </a:extLst>
          </p:cNvPr>
          <p:cNvCxnSpPr>
            <a:cxnSpLocks/>
          </p:cNvCxnSpPr>
          <p:nvPr/>
        </p:nvCxnSpPr>
        <p:spPr>
          <a:xfrm>
            <a:off x="8414252" y="2560537"/>
            <a:ext cx="1236797" cy="0"/>
          </a:xfrm>
          <a:prstGeom prst="straightConnector1">
            <a:avLst/>
          </a:prstGeom>
          <a:ln w="38100">
            <a:solidFill>
              <a:schemeClr val="accent4">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6D3876B1-36DC-E544-8D0C-CA24410DA3E4}"/>
                  </a:ext>
                </a:extLst>
              </p:cNvPr>
              <p:cNvSpPr txBox="1"/>
              <p:nvPr/>
            </p:nvSpPr>
            <p:spPr>
              <a:xfrm>
                <a:off x="8433818" y="1984023"/>
                <a:ext cx="1265475" cy="513089"/>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d>
                            <m:dPr>
                              <m:begChr m:val=""/>
                              <m:endChr m:val="|"/>
                              <m:ctrlPr>
                                <a:rPr lang="en-US" i="1" smtClean="0">
                                  <a:latin typeface="Cambria Math" panose="02040503050406030204" pitchFamily="18" charset="0"/>
                                  <a:cs typeface="Arial" panose="020B0604020202020204" pitchFamily="34" charset="0"/>
                                </a:rPr>
                              </m:ctrlPr>
                            </m:dPr>
                            <m:e>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𝜌</m:t>
                                  </m:r>
                                </m:e>
                                <m:sub>
                                  <m:r>
                                    <a:rPr lang="en-US" i="1">
                                      <a:latin typeface="Cambria Math" panose="02040503050406030204" pitchFamily="18" charset="0"/>
                                      <a:cs typeface="Arial" panose="020B0604020202020204" pitchFamily="34" charset="0"/>
                                    </a:rPr>
                                    <m:t>𝑠</m:t>
                                  </m:r>
                                </m:sub>
                              </m:sSub>
                              <m:r>
                                <a:rPr lang="en-US" i="1">
                                  <a:latin typeface="Cambria Math" panose="02040503050406030204" pitchFamily="18" charset="0"/>
                                  <a:cs typeface="Arial" panose="020B0604020202020204" pitchFamily="34" charset="0"/>
                                </a:rPr>
                                <m:t>𝐶𝑈𝐻</m:t>
                              </m:r>
                            </m:e>
                          </m:d>
                        </m:e>
                        <m:sub>
                          <m:r>
                            <a:rPr lang="en-US" b="0" i="1" smtClean="0">
                              <a:latin typeface="Cambria Math" panose="02040503050406030204" pitchFamily="18" charset="0"/>
                              <a:cs typeface="Arial" panose="020B0604020202020204" pitchFamily="34" charset="0"/>
                            </a:rPr>
                            <m:t>𝑥</m:t>
                          </m:r>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sub>
                      </m:sSub>
                    </m:oMath>
                  </m:oMathPara>
                </a14:m>
                <a:endParaRPr lang="en-US" dirty="0">
                  <a:latin typeface="Arial" panose="020B0604020202020204" pitchFamily="34" charset="0"/>
                  <a:cs typeface="Arial" panose="020B0604020202020204" pitchFamily="34" charset="0"/>
                </a:endParaRPr>
              </a:p>
            </p:txBody>
          </p:sp>
        </mc:Choice>
        <mc:Fallback xmlns="">
          <p:sp>
            <p:nvSpPr>
              <p:cNvPr id="27" name="TextBox 26">
                <a:extLst>
                  <a:ext uri="{FF2B5EF4-FFF2-40B4-BE49-F238E27FC236}">
                    <a16:creationId xmlns:a16="http://schemas.microsoft.com/office/drawing/2014/main" id="{6D3876B1-36DC-E544-8D0C-CA24410DA3E4}"/>
                  </a:ext>
                </a:extLst>
              </p:cNvPr>
              <p:cNvSpPr txBox="1">
                <a:spLocks noRot="1" noChangeAspect="1" noMove="1" noResize="1" noEditPoints="1" noAdjustHandles="1" noChangeArrowheads="1" noChangeShapeType="1" noTextEdit="1"/>
              </p:cNvSpPr>
              <p:nvPr/>
            </p:nvSpPr>
            <p:spPr>
              <a:xfrm>
                <a:off x="8433818" y="1984023"/>
                <a:ext cx="1265475" cy="513089"/>
              </a:xfrm>
              <a:prstGeom prst="rect">
                <a:avLst/>
              </a:prstGeom>
              <a:blipFill>
                <a:blip r:embed="rId3"/>
                <a:stretch>
                  <a:fillRect l="-4000" t="-168293" r="-17000" b="-248780"/>
                </a:stretch>
              </a:blipFill>
            </p:spPr>
            <p:txBody>
              <a:bodyPr/>
              <a:lstStyle/>
              <a:p>
                <a:r>
                  <a:rPr lang="en-US">
                    <a:noFill/>
                  </a:rPr>
                  <a:t> </a:t>
                </a:r>
              </a:p>
            </p:txBody>
          </p:sp>
        </mc:Fallback>
      </mc:AlternateContent>
      <p:cxnSp>
        <p:nvCxnSpPr>
          <p:cNvPr id="29" name="Straight Arrow Connector 28">
            <a:extLst>
              <a:ext uri="{FF2B5EF4-FFF2-40B4-BE49-F238E27FC236}">
                <a16:creationId xmlns:a16="http://schemas.microsoft.com/office/drawing/2014/main" id="{9906F2B5-2804-AA40-9AC9-01BD59014663}"/>
              </a:ext>
            </a:extLst>
          </p:cNvPr>
          <p:cNvCxnSpPr/>
          <p:nvPr/>
        </p:nvCxnSpPr>
        <p:spPr>
          <a:xfrm flipV="1">
            <a:off x="5831174" y="2819182"/>
            <a:ext cx="0" cy="345225"/>
          </a:xfrm>
          <a:prstGeom prst="straightConnector1">
            <a:avLst/>
          </a:prstGeom>
          <a:ln w="38100">
            <a:solidFill>
              <a:schemeClr val="accent4">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B31DA98-608B-4947-B9C0-7F56C43A0EBB}"/>
              </a:ext>
            </a:extLst>
          </p:cNvPr>
          <p:cNvCxnSpPr/>
          <p:nvPr/>
        </p:nvCxnSpPr>
        <p:spPr>
          <a:xfrm flipV="1">
            <a:off x="6867994" y="2819181"/>
            <a:ext cx="0" cy="345225"/>
          </a:xfrm>
          <a:prstGeom prst="straightConnector1">
            <a:avLst/>
          </a:prstGeom>
          <a:ln w="38100">
            <a:solidFill>
              <a:schemeClr val="accent4">
                <a:lumMod val="50000"/>
              </a:schemeClr>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1CE4FC70-058B-5041-BDFF-598308BFE931}"/>
                  </a:ext>
                </a:extLst>
              </p:cNvPr>
              <p:cNvSpPr txBox="1"/>
              <p:nvPr/>
            </p:nvSpPr>
            <p:spPr>
              <a:xfrm>
                <a:off x="5256280" y="2453257"/>
                <a:ext cx="774636"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𝜌</m:t>
                              </m:r>
                            </m:e>
                            <m:sub>
                              <m:r>
                                <a:rPr lang="en-US" b="0" i="1" smtClean="0">
                                  <a:latin typeface="Cambria Math" panose="02040503050406030204" pitchFamily="18" charset="0"/>
                                  <a:cs typeface="Arial" panose="020B0604020202020204" pitchFamily="34" charset="0"/>
                                </a:rPr>
                                <m:t>𝑠</m:t>
                              </m:r>
                            </m:sub>
                          </m:sSub>
                          <m:r>
                            <a:rPr lang="en-US" b="0" i="1" smtClean="0">
                              <a:latin typeface="Cambria Math" panose="02040503050406030204" pitchFamily="18" charset="0"/>
                              <a:cs typeface="Arial" panose="020B0604020202020204" pitchFamily="34" charset="0"/>
                            </a:rPr>
                            <m:t>𝐸</m:t>
                          </m:r>
                        </m:e>
                        <m:sub>
                          <m:r>
                            <a:rPr lang="en-US" b="0" i="1" smtClean="0">
                              <a:latin typeface="Cambria Math" panose="02040503050406030204" pitchFamily="18" charset="0"/>
                              <a:cs typeface="Arial" panose="020B0604020202020204" pitchFamily="34" charset="0"/>
                            </a:rPr>
                            <m:t>𝑠</m:t>
                          </m:r>
                        </m:sub>
                      </m:sSub>
                      <m:r>
                        <m:rPr>
                          <m:sty m:val="p"/>
                        </m:rPr>
                        <a:rPr lang="el-GR" i="1" smtClean="0">
                          <a:latin typeface="Cambria Math" panose="02040503050406030204" pitchFamily="18" charset="0"/>
                          <a:ea typeface="Cambria Math" panose="02040503050406030204" pitchFamily="18" charset="0"/>
                          <a:cs typeface="Arial" panose="020B0604020202020204" pitchFamily="34" charset="0"/>
                        </a:rPr>
                        <m:t>Δ</m:t>
                      </m:r>
                      <m:r>
                        <a:rPr lang="en-US" b="0" i="1" smtClean="0">
                          <a:latin typeface="Cambria Math" panose="02040503050406030204" pitchFamily="18" charset="0"/>
                          <a:ea typeface="Cambria Math" panose="02040503050406030204" pitchFamily="18" charset="0"/>
                          <a:cs typeface="Arial" panose="020B0604020202020204" pitchFamily="34" charset="0"/>
                        </a:rPr>
                        <m:t>𝑥</m:t>
                      </m:r>
                    </m:oMath>
                  </m:oMathPara>
                </a14:m>
                <a:endParaRPr lang="en-US" dirty="0">
                  <a:latin typeface="Arial" panose="020B0604020202020204" pitchFamily="34" charset="0"/>
                  <a:cs typeface="Arial" panose="020B0604020202020204" pitchFamily="34" charset="0"/>
                </a:endParaRPr>
              </a:p>
            </p:txBody>
          </p:sp>
        </mc:Choice>
        <mc:Fallback xmlns="">
          <p:sp>
            <p:nvSpPr>
              <p:cNvPr id="31" name="TextBox 30">
                <a:extLst>
                  <a:ext uri="{FF2B5EF4-FFF2-40B4-BE49-F238E27FC236}">
                    <a16:creationId xmlns:a16="http://schemas.microsoft.com/office/drawing/2014/main" id="{1CE4FC70-058B-5041-BDFF-598308BFE931}"/>
                  </a:ext>
                </a:extLst>
              </p:cNvPr>
              <p:cNvSpPr txBox="1">
                <a:spLocks noRot="1" noChangeAspect="1" noMove="1" noResize="1" noEditPoints="1" noAdjustHandles="1" noChangeArrowheads="1" noChangeShapeType="1" noTextEdit="1"/>
              </p:cNvSpPr>
              <p:nvPr/>
            </p:nvSpPr>
            <p:spPr>
              <a:xfrm>
                <a:off x="5256280" y="2453257"/>
                <a:ext cx="774636" cy="315792"/>
              </a:xfrm>
              <a:prstGeom prst="rect">
                <a:avLst/>
              </a:prstGeom>
              <a:blipFill>
                <a:blip r:embed="rId4"/>
                <a:stretch>
                  <a:fillRect l="-6452" r="-3226" b="-15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6334AF4E-0523-2641-8E47-4D31C34D547C}"/>
                  </a:ext>
                </a:extLst>
              </p:cNvPr>
              <p:cNvSpPr txBox="1"/>
              <p:nvPr/>
            </p:nvSpPr>
            <p:spPr>
              <a:xfrm>
                <a:off x="6593140" y="2467378"/>
                <a:ext cx="789512"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𝜌</m:t>
                              </m:r>
                            </m:e>
                            <m:sub>
                              <m:r>
                                <a:rPr lang="en-US" b="0" i="1" smtClean="0">
                                  <a:latin typeface="Cambria Math" panose="02040503050406030204" pitchFamily="18" charset="0"/>
                                  <a:cs typeface="Arial" panose="020B0604020202020204" pitchFamily="34" charset="0"/>
                                </a:rPr>
                                <m:t>𝑠</m:t>
                              </m:r>
                            </m:sub>
                          </m:sSub>
                          <m:r>
                            <a:rPr lang="en-US" b="0" i="1" smtClean="0">
                              <a:latin typeface="Cambria Math" panose="02040503050406030204" pitchFamily="18" charset="0"/>
                              <a:cs typeface="Arial" panose="020B0604020202020204" pitchFamily="34" charset="0"/>
                            </a:rPr>
                            <m:t>𝐷</m:t>
                          </m:r>
                        </m:e>
                        <m:sub>
                          <m:r>
                            <a:rPr lang="en-US" b="0" i="1" smtClean="0">
                              <a:latin typeface="Cambria Math" panose="02040503050406030204" pitchFamily="18" charset="0"/>
                              <a:cs typeface="Arial" panose="020B0604020202020204" pitchFamily="34" charset="0"/>
                            </a:rPr>
                            <m:t>𝑠</m:t>
                          </m:r>
                        </m:sub>
                      </m:sSub>
                      <m:r>
                        <m:rPr>
                          <m:sty m:val="p"/>
                        </m:rPr>
                        <a:rPr lang="el-GR" i="1" smtClean="0">
                          <a:latin typeface="Cambria Math" panose="02040503050406030204" pitchFamily="18" charset="0"/>
                          <a:ea typeface="Cambria Math" panose="02040503050406030204" pitchFamily="18" charset="0"/>
                          <a:cs typeface="Arial" panose="020B0604020202020204" pitchFamily="34" charset="0"/>
                        </a:rPr>
                        <m:t>Δ</m:t>
                      </m:r>
                      <m:r>
                        <a:rPr lang="en-US" b="0" i="1" smtClean="0">
                          <a:latin typeface="Cambria Math" panose="02040503050406030204" pitchFamily="18" charset="0"/>
                          <a:ea typeface="Cambria Math" panose="02040503050406030204" pitchFamily="18" charset="0"/>
                          <a:cs typeface="Arial" panose="020B0604020202020204" pitchFamily="34" charset="0"/>
                        </a:rPr>
                        <m:t>𝑥</m:t>
                      </m:r>
                    </m:oMath>
                  </m:oMathPara>
                </a14:m>
                <a:endParaRPr lang="en-US" dirty="0">
                  <a:latin typeface="Arial" panose="020B0604020202020204" pitchFamily="34" charset="0"/>
                  <a:cs typeface="Arial" panose="020B0604020202020204" pitchFamily="34" charset="0"/>
                </a:endParaRPr>
              </a:p>
            </p:txBody>
          </p:sp>
        </mc:Choice>
        <mc:Fallback xmlns="">
          <p:sp>
            <p:nvSpPr>
              <p:cNvPr id="32" name="TextBox 31">
                <a:extLst>
                  <a:ext uri="{FF2B5EF4-FFF2-40B4-BE49-F238E27FC236}">
                    <a16:creationId xmlns:a16="http://schemas.microsoft.com/office/drawing/2014/main" id="{6334AF4E-0523-2641-8E47-4D31C34D547C}"/>
                  </a:ext>
                </a:extLst>
              </p:cNvPr>
              <p:cNvSpPr txBox="1">
                <a:spLocks noRot="1" noChangeAspect="1" noMove="1" noResize="1" noEditPoints="1" noAdjustHandles="1" noChangeArrowheads="1" noChangeShapeType="1" noTextEdit="1"/>
              </p:cNvSpPr>
              <p:nvPr/>
            </p:nvSpPr>
            <p:spPr>
              <a:xfrm>
                <a:off x="6593140" y="2467378"/>
                <a:ext cx="789512" cy="315792"/>
              </a:xfrm>
              <a:prstGeom prst="rect">
                <a:avLst/>
              </a:prstGeom>
              <a:blipFill>
                <a:blip r:embed="rId5"/>
                <a:stretch>
                  <a:fillRect l="-6349" r="-1587" b="-15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237372B-CCEE-8E46-9330-E62744810F0B}"/>
                  </a:ext>
                </a:extLst>
              </p:cNvPr>
              <p:cNvSpPr txBox="1"/>
              <p:nvPr/>
            </p:nvSpPr>
            <p:spPr>
              <a:xfrm>
                <a:off x="919746" y="4171913"/>
                <a:ext cx="6339364" cy="472565"/>
              </a:xfrm>
              <a:prstGeom prst="rect">
                <a:avLst/>
              </a:prstGeom>
              <a:noFill/>
            </p:spPr>
            <p:txBody>
              <a:bodyPr wrap="none" lIns="0" tIns="0" rIns="0" bIns="0" rtlCol="0">
                <a:spAutoFit/>
              </a:bodyPr>
              <a:lstStyle/>
              <a:p>
                <a:pPr>
                  <a:lnSpc>
                    <a:spcPct val="114000"/>
                  </a:lnSpc>
                </a:pPr>
                <a14:m>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m:t>
                        </m:r>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d>
                      <m:dPr>
                        <m:ctrlPr>
                          <a:rPr lang="en-US" i="1" smtClean="0">
                            <a:latin typeface="Cambria Math" panose="02040503050406030204" pitchFamily="18" charset="0"/>
                            <a:cs typeface="Arial" panose="020B0604020202020204" pitchFamily="34" charset="0"/>
                          </a:rPr>
                        </m:ctrlPr>
                      </m:dPr>
                      <m:e>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𝜌</m:t>
                            </m:r>
                          </m:e>
                          <m:sub>
                            <m:r>
                              <a:rPr lang="en-US" b="0" i="1" smtClean="0">
                                <a:latin typeface="Cambria Math" panose="02040503050406030204" pitchFamily="18" charset="0"/>
                                <a:cs typeface="Arial" panose="020B0604020202020204" pitchFamily="34" charset="0"/>
                              </a:rPr>
                              <m:t>𝑠</m:t>
                            </m:r>
                          </m:sub>
                        </m:sSub>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nary>
                          <m:naryPr>
                            <m:limLoc m:val="undOvr"/>
                            <m:ctrlPr>
                              <a:rPr lang="en-US" i="1" smtClean="0">
                                <a:latin typeface="Cambria Math" panose="02040503050406030204" pitchFamily="18" charset="0"/>
                                <a:cs typeface="Arial" panose="020B0604020202020204" pitchFamily="34" charset="0"/>
                              </a:rPr>
                            </m:ctrlPr>
                          </m:naryPr>
                          <m:sub>
                            <m:r>
                              <m:rPr>
                                <m:brk m:alnAt="24"/>
                              </m:rPr>
                              <a:rPr lang="en-US" b="0" i="1" smtClean="0">
                                <a:latin typeface="Cambria Math" panose="02040503050406030204" pitchFamily="18" charset="0"/>
                                <a:cs typeface="Arial" panose="020B0604020202020204" pitchFamily="34" charset="0"/>
                              </a:rPr>
                              <m:t>0</m:t>
                            </m:r>
                          </m:sub>
                          <m:sup>
                            <m:r>
                              <a:rPr lang="en-US" b="0" i="1" smtClean="0">
                                <a:latin typeface="Cambria Math" panose="02040503050406030204" pitchFamily="18" charset="0"/>
                                <a:cs typeface="Arial" panose="020B0604020202020204" pitchFamily="34" charset="0"/>
                              </a:rPr>
                              <m:t>𝐻</m:t>
                            </m:r>
                          </m:sup>
                          <m:e>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r>
                              <a:rPr lang="en-US" b="0" i="1" smtClean="0">
                                <a:latin typeface="Cambria Math" panose="02040503050406030204" pitchFamily="18" charset="0"/>
                                <a:cs typeface="Arial" panose="020B0604020202020204" pitchFamily="34" charset="0"/>
                              </a:rPr>
                              <m:t>𝑑𝑧</m:t>
                            </m:r>
                          </m:e>
                        </m:nary>
                      </m:e>
                    </m:d>
                    <m:r>
                      <a:rPr lang="en-US" b="0" i="1" smtClean="0">
                        <a:latin typeface="Cambria Math" panose="02040503050406030204" pitchFamily="18" charset="0"/>
                        <a:cs typeface="Arial" panose="020B0604020202020204" pitchFamily="34" charset="0"/>
                      </a:rPr>
                      <m:t>=</m:t>
                    </m:r>
                    <m:sSub>
                      <m:sSubPr>
                        <m:ctrlPr>
                          <a:rPr lang="en-US" i="1">
                            <a:latin typeface="Cambria Math" panose="02040503050406030204" pitchFamily="18" charset="0"/>
                            <a:cs typeface="Arial" panose="020B0604020202020204" pitchFamily="34" charset="0"/>
                          </a:rPr>
                        </m:ctrlPr>
                      </m:sSubPr>
                      <m:e>
                        <m:d>
                          <m:dPr>
                            <m:begChr m:val=""/>
                            <m:endChr m:val="|"/>
                            <m:ctrlPr>
                              <a:rPr lang="en-US" i="1">
                                <a:latin typeface="Cambria Math" panose="02040503050406030204" pitchFamily="18" charset="0"/>
                                <a:cs typeface="Arial" panose="020B0604020202020204" pitchFamily="34" charset="0"/>
                              </a:rPr>
                            </m:ctrlPr>
                          </m:dPr>
                          <m:e>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𝜌</m:t>
                                </m:r>
                              </m:e>
                              <m:sub>
                                <m:r>
                                  <a:rPr lang="en-US" i="1">
                                    <a:latin typeface="Cambria Math" panose="02040503050406030204" pitchFamily="18" charset="0"/>
                                    <a:cs typeface="Arial" panose="020B0604020202020204" pitchFamily="34" charset="0"/>
                                  </a:rPr>
                                  <m:t>𝑠</m:t>
                                </m:r>
                              </m:sub>
                            </m:sSub>
                            <m:r>
                              <a:rPr lang="en-US" i="1">
                                <a:latin typeface="Cambria Math" panose="02040503050406030204" pitchFamily="18" charset="0"/>
                                <a:cs typeface="Arial" panose="020B0604020202020204" pitchFamily="34" charset="0"/>
                              </a:rPr>
                              <m:t>𝐶𝑈𝐻</m:t>
                            </m:r>
                          </m:e>
                        </m:d>
                      </m:e>
                      <m:sub>
                        <m:r>
                          <a:rPr lang="en-US" i="1">
                            <a:latin typeface="Cambria Math" panose="02040503050406030204" pitchFamily="18" charset="0"/>
                            <a:cs typeface="Arial" panose="020B0604020202020204" pitchFamily="34" charset="0"/>
                          </a:rPr>
                          <m:t>𝑥</m:t>
                        </m:r>
                      </m:sub>
                    </m:sSub>
                    <m:r>
                      <a:rPr lang="en-US" b="0" i="1" smtClean="0">
                        <a:latin typeface="Cambria Math" panose="02040503050406030204" pitchFamily="18" charset="0"/>
                        <a:cs typeface="Arial" panose="020B0604020202020204" pitchFamily="34" charset="0"/>
                      </a:rPr>
                      <m:t>−</m:t>
                    </m:r>
                    <m:sSub>
                      <m:sSubPr>
                        <m:ctrlPr>
                          <a:rPr lang="en-US" i="1">
                            <a:latin typeface="Cambria Math" panose="02040503050406030204" pitchFamily="18" charset="0"/>
                            <a:cs typeface="Arial" panose="020B0604020202020204" pitchFamily="34" charset="0"/>
                          </a:rPr>
                        </m:ctrlPr>
                      </m:sSubPr>
                      <m:e>
                        <m:d>
                          <m:dPr>
                            <m:begChr m:val=""/>
                            <m:endChr m:val="|"/>
                            <m:ctrlPr>
                              <a:rPr lang="en-US" i="1">
                                <a:latin typeface="Cambria Math" panose="02040503050406030204" pitchFamily="18" charset="0"/>
                                <a:cs typeface="Arial" panose="020B0604020202020204" pitchFamily="34" charset="0"/>
                              </a:rPr>
                            </m:ctrlPr>
                          </m:dPr>
                          <m:e>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𝜌</m:t>
                                </m:r>
                              </m:e>
                              <m:sub>
                                <m:r>
                                  <a:rPr lang="en-US" i="1">
                                    <a:latin typeface="Cambria Math" panose="02040503050406030204" pitchFamily="18" charset="0"/>
                                    <a:cs typeface="Arial" panose="020B0604020202020204" pitchFamily="34" charset="0"/>
                                  </a:rPr>
                                  <m:t>𝑠</m:t>
                                </m:r>
                              </m:sub>
                            </m:sSub>
                            <m:r>
                              <a:rPr lang="en-US" i="1">
                                <a:latin typeface="Cambria Math" panose="02040503050406030204" pitchFamily="18" charset="0"/>
                                <a:cs typeface="Arial" panose="020B0604020202020204" pitchFamily="34" charset="0"/>
                              </a:rPr>
                              <m:t>𝐶𝑈𝐻</m:t>
                            </m:r>
                          </m:e>
                        </m:d>
                      </m:e>
                      <m:sub>
                        <m:r>
                          <a:rPr lang="en-US" i="1">
                            <a:latin typeface="Cambria Math" panose="02040503050406030204" pitchFamily="18" charset="0"/>
                            <a:cs typeface="Arial" panose="020B0604020202020204" pitchFamily="34" charset="0"/>
                          </a:rPr>
                          <m:t>𝑥</m:t>
                        </m:r>
                        <m:r>
                          <a:rPr lang="en-US" i="1">
                            <a:latin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𝑥</m:t>
                        </m:r>
                      </m:sub>
                    </m:sSub>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cs typeface="Arial" panose="020B0604020202020204" pitchFamily="34" charset="0"/>
                          </a:rPr>
                        </m:ctrlPr>
                      </m:sSubPr>
                      <m:e>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𝜌</m:t>
                            </m:r>
                          </m:e>
                          <m:sub>
                            <m:r>
                              <a:rPr lang="en-US" i="1">
                                <a:latin typeface="Cambria Math" panose="02040503050406030204" pitchFamily="18" charset="0"/>
                                <a:cs typeface="Arial" panose="020B0604020202020204" pitchFamily="34" charset="0"/>
                              </a:rPr>
                              <m:t>𝑠</m:t>
                            </m:r>
                          </m:sub>
                        </m:sSub>
                        <m:r>
                          <a:rPr lang="en-US" i="1">
                            <a:latin typeface="Cambria Math" panose="02040503050406030204" pitchFamily="18" charset="0"/>
                            <a:cs typeface="Arial" panose="020B0604020202020204" pitchFamily="34" charset="0"/>
                          </a:rPr>
                          <m:t>𝐸</m:t>
                        </m:r>
                      </m:e>
                      <m:sub>
                        <m:r>
                          <a:rPr lang="en-US" i="1">
                            <a:latin typeface="Cambria Math" panose="02040503050406030204" pitchFamily="18" charset="0"/>
                            <a:cs typeface="Arial" panose="020B0604020202020204" pitchFamily="34" charset="0"/>
                          </a:rPr>
                          <m:t>𝑠</m:t>
                        </m:r>
                      </m:sub>
                    </m:sSub>
                    <m:r>
                      <m:rPr>
                        <m:sty m:val="p"/>
                      </m:rPr>
                      <a:rPr lang="el-GR" i="1">
                        <a:latin typeface="Cambria Math" panose="02040503050406030204" pitchFamily="18" charset="0"/>
                        <a:ea typeface="Cambria Math" panose="02040503050406030204" pitchFamily="18" charset="0"/>
                        <a:cs typeface="Arial" panose="020B0604020202020204" pitchFamily="34" charset="0"/>
                      </a:rPr>
                      <m:t>Δ</m:t>
                    </m:r>
                    <m:r>
                      <a:rPr lang="en-US" i="1">
                        <a:latin typeface="Cambria Math" panose="02040503050406030204" pitchFamily="18" charset="0"/>
                        <a:ea typeface="Cambria Math" panose="02040503050406030204" pitchFamily="18" charset="0"/>
                        <a:cs typeface="Arial" panose="020B0604020202020204" pitchFamily="34" charset="0"/>
                      </a:rPr>
                      <m:t>𝑥</m:t>
                    </m:r>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cs typeface="Arial" panose="020B0604020202020204" pitchFamily="34" charset="0"/>
                          </a:rPr>
                        </m:ctrlPr>
                      </m:sSubPr>
                      <m:e>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𝜌</m:t>
                            </m:r>
                          </m:e>
                          <m:sub>
                            <m:r>
                              <a:rPr lang="en-US" i="1">
                                <a:latin typeface="Cambria Math" panose="02040503050406030204" pitchFamily="18" charset="0"/>
                                <a:cs typeface="Arial" panose="020B0604020202020204" pitchFamily="34" charset="0"/>
                              </a:rPr>
                              <m:t>𝑠</m:t>
                            </m:r>
                          </m:sub>
                        </m:sSub>
                        <m:r>
                          <a:rPr lang="en-US" i="1">
                            <a:latin typeface="Cambria Math" panose="02040503050406030204" pitchFamily="18" charset="0"/>
                            <a:cs typeface="Arial" panose="020B0604020202020204" pitchFamily="34" charset="0"/>
                          </a:rPr>
                          <m:t>𝐷</m:t>
                        </m:r>
                      </m:e>
                      <m:sub>
                        <m:r>
                          <a:rPr lang="en-US" i="1">
                            <a:latin typeface="Cambria Math" panose="02040503050406030204" pitchFamily="18" charset="0"/>
                            <a:cs typeface="Arial" panose="020B0604020202020204" pitchFamily="34" charset="0"/>
                          </a:rPr>
                          <m:t>𝑠</m:t>
                        </m:r>
                      </m:sub>
                    </m:sSub>
                    <m:r>
                      <m:rPr>
                        <m:sty m:val="p"/>
                      </m:rPr>
                      <a:rPr lang="el-GR" i="1">
                        <a:latin typeface="Cambria Math" panose="02040503050406030204" pitchFamily="18" charset="0"/>
                        <a:ea typeface="Cambria Math" panose="02040503050406030204" pitchFamily="18" charset="0"/>
                        <a:cs typeface="Arial" panose="020B0604020202020204" pitchFamily="34" charset="0"/>
                      </a:rPr>
                      <m:t>Δ</m:t>
                    </m:r>
                    <m:r>
                      <a:rPr lang="en-US" i="1">
                        <a:latin typeface="Cambria Math" panose="02040503050406030204" pitchFamily="18" charset="0"/>
                        <a:ea typeface="Cambria Math" panose="02040503050406030204" pitchFamily="18" charset="0"/>
                        <a:cs typeface="Arial" panose="020B0604020202020204" pitchFamily="34" charset="0"/>
                      </a:rPr>
                      <m:t>𝑥</m:t>
                    </m:r>
                  </m:oMath>
                </a14:m>
                <a:r>
                  <a:rPr lang="en-US" dirty="0">
                    <a:latin typeface="Arial" panose="020B0604020202020204" pitchFamily="34" charset="0"/>
                    <a:cs typeface="Arial" panose="020B0604020202020204" pitchFamily="34" charset="0"/>
                  </a:rPr>
                  <a:t> </a:t>
                </a:r>
              </a:p>
            </p:txBody>
          </p:sp>
        </mc:Choice>
        <mc:Fallback xmlns="">
          <p:sp>
            <p:nvSpPr>
              <p:cNvPr id="2" name="TextBox 1">
                <a:extLst>
                  <a:ext uri="{FF2B5EF4-FFF2-40B4-BE49-F238E27FC236}">
                    <a16:creationId xmlns:a16="http://schemas.microsoft.com/office/drawing/2014/main" id="{A237372B-CCEE-8E46-9330-E62744810F0B}"/>
                  </a:ext>
                </a:extLst>
              </p:cNvPr>
              <p:cNvSpPr txBox="1">
                <a:spLocks noRot="1" noChangeAspect="1" noMove="1" noResize="1" noEditPoints="1" noAdjustHandles="1" noChangeArrowheads="1" noChangeShapeType="1" noTextEdit="1"/>
              </p:cNvSpPr>
              <p:nvPr/>
            </p:nvSpPr>
            <p:spPr>
              <a:xfrm>
                <a:off x="919746" y="4171913"/>
                <a:ext cx="6339364" cy="472565"/>
              </a:xfrm>
              <a:prstGeom prst="rect">
                <a:avLst/>
              </a:prstGeom>
              <a:blipFill>
                <a:blip r:embed="rId6"/>
                <a:stretch>
                  <a:fillRect l="-1000" t="-92105" b="-160526"/>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B630F977-0C23-E346-AAB1-5FC870FAE525}"/>
              </a:ext>
            </a:extLst>
          </p:cNvPr>
          <p:cNvSpPr txBox="1"/>
          <p:nvPr/>
        </p:nvSpPr>
        <p:spPr>
          <a:xfrm>
            <a:off x="463138" y="4821859"/>
            <a:ext cx="11082539" cy="381195"/>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dividing both members by </a:t>
            </a:r>
            <a:r>
              <a:rPr lang="en-US" dirty="0" err="1">
                <a:latin typeface="Symbol" pitchFamily="2" charset="2"/>
                <a:cs typeface="Arial" panose="020B0604020202020204" pitchFamily="34" charset="0"/>
              </a:rPr>
              <a:t>r</a:t>
            </a:r>
            <a:r>
              <a:rPr lang="en-US" baseline="-25000" dirty="0" err="1">
                <a:latin typeface="Arial" panose="020B0604020202020204" pitchFamily="34" charset="0"/>
                <a:cs typeface="Arial" panose="020B0604020202020204" pitchFamily="34" charset="0"/>
              </a:rPr>
              <a:t>s</a:t>
            </a:r>
            <a:r>
              <a:rPr lang="en-US"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x</a:t>
            </a:r>
            <a:r>
              <a:rPr lang="en-US" dirty="0">
                <a:latin typeface="Arial" panose="020B0604020202020204" pitchFamily="34" charset="0"/>
                <a:cs typeface="Arial" panose="020B0604020202020204" pitchFamily="34" charset="0"/>
              </a:rPr>
              <a:t> and reducing this equation with the relations for </a:t>
            </a:r>
            <a:r>
              <a:rPr lang="en-US" dirty="0" err="1">
                <a:latin typeface="Arial" panose="020B0604020202020204" pitchFamily="34" charset="0"/>
                <a:cs typeface="Arial" panose="020B0604020202020204" pitchFamily="34" charset="0"/>
              </a:rPr>
              <a:t>q</a:t>
            </a:r>
            <a:r>
              <a:rPr lang="en-US" baseline="-25000" dirty="0" err="1">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E</a:t>
            </a:r>
            <a:r>
              <a:rPr lang="en-US" baseline="-25000" dirty="0">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and D</a:t>
            </a:r>
            <a:r>
              <a:rPr lang="en-US" baseline="-25000" dirty="0">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it is found that </a:t>
            </a: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0070A194-98F7-B04C-8268-2A3416C272D2}"/>
                  </a:ext>
                </a:extLst>
              </p:cNvPr>
              <p:cNvSpPr txBox="1"/>
              <p:nvPr/>
            </p:nvSpPr>
            <p:spPr>
              <a:xfrm>
                <a:off x="865097" y="5303919"/>
                <a:ext cx="3292376" cy="472565"/>
              </a:xfrm>
              <a:prstGeom prst="rect">
                <a:avLst/>
              </a:prstGeom>
              <a:noFill/>
            </p:spPr>
            <p:txBody>
              <a:bodyPr wrap="none" lIns="0" tIns="0" rIns="0" bIns="0" rtlCol="0">
                <a:spAutoFit/>
              </a:bodyPr>
              <a:lstStyle/>
              <a:p>
                <a:pPr>
                  <a:lnSpc>
                    <a:spcPct val="114000"/>
                  </a:lnSpc>
                </a:pPr>
                <a14:m>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m:t>
                        </m:r>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d>
                      <m:dPr>
                        <m:ctrlPr>
                          <a:rPr lang="en-US" i="1" smtClean="0">
                            <a:latin typeface="Cambria Math" panose="02040503050406030204" pitchFamily="18" charset="0"/>
                            <a:cs typeface="Arial" panose="020B0604020202020204" pitchFamily="34" charset="0"/>
                          </a:rPr>
                        </m:ctrlPr>
                      </m:dPr>
                      <m:e>
                        <m:nary>
                          <m:naryPr>
                            <m:limLoc m:val="undOvr"/>
                            <m:ctrlPr>
                              <a:rPr lang="en-US" i="1" smtClean="0">
                                <a:latin typeface="Cambria Math" panose="02040503050406030204" pitchFamily="18" charset="0"/>
                                <a:cs typeface="Arial" panose="020B0604020202020204" pitchFamily="34" charset="0"/>
                              </a:rPr>
                            </m:ctrlPr>
                          </m:naryPr>
                          <m:sub>
                            <m:r>
                              <m:rPr>
                                <m:brk m:alnAt="24"/>
                              </m:rPr>
                              <a:rPr lang="en-US" b="0" i="1" smtClean="0">
                                <a:latin typeface="Cambria Math" panose="02040503050406030204" pitchFamily="18" charset="0"/>
                                <a:cs typeface="Arial" panose="020B0604020202020204" pitchFamily="34" charset="0"/>
                              </a:rPr>
                              <m:t>0</m:t>
                            </m:r>
                          </m:sub>
                          <m:sup>
                            <m:r>
                              <a:rPr lang="en-US" b="0" i="1" smtClean="0">
                                <a:latin typeface="Cambria Math" panose="02040503050406030204" pitchFamily="18" charset="0"/>
                                <a:cs typeface="Arial" panose="020B0604020202020204" pitchFamily="34" charset="0"/>
                              </a:rPr>
                              <m:t>𝐻</m:t>
                            </m:r>
                          </m:sup>
                          <m:e>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r>
                              <a:rPr lang="en-US" b="0" i="1" smtClean="0">
                                <a:latin typeface="Cambria Math" panose="02040503050406030204" pitchFamily="18" charset="0"/>
                                <a:cs typeface="Arial" panose="020B0604020202020204" pitchFamily="34" charset="0"/>
                              </a:rPr>
                              <m:t>𝑑𝑧</m:t>
                            </m:r>
                          </m:e>
                        </m:nary>
                      </m:e>
                    </m:d>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𝑞</m:t>
                            </m:r>
                          </m:e>
                          <m:sub>
                            <m:r>
                              <a:rPr lang="en-US" b="0" i="1" smtClean="0">
                                <a:latin typeface="Cambria Math" panose="02040503050406030204" pitchFamily="18" charset="0"/>
                                <a:ea typeface="Cambria Math" panose="02040503050406030204" pitchFamily="18" charset="0"/>
                                <a:cs typeface="Arial" panose="020B0604020202020204" pitchFamily="34" charset="0"/>
                              </a:rPr>
                              <m:t>𝑠</m:t>
                            </m:r>
                          </m:sub>
                        </m:sSub>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d>
                      <m:dPr>
                        <m:ctrlPr>
                          <a:rPr lang="en-US"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𝐸</m:t>
                        </m:r>
                        <m:r>
                          <a:rPr lang="en-US" b="0" i="1" smtClean="0">
                            <a:latin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cs typeface="Arial" panose="020B0604020202020204" pitchFamily="34" charset="0"/>
                              </a:rPr>
                            </m:ctrlPr>
                          </m:accPr>
                          <m:e>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𝑐</m:t>
                                </m:r>
                              </m:e>
                              <m:sub>
                                <m:r>
                                  <a:rPr lang="en-US" b="0" i="1" smtClean="0">
                                    <a:latin typeface="Cambria Math" panose="02040503050406030204" pitchFamily="18" charset="0"/>
                                    <a:cs typeface="Arial" panose="020B0604020202020204" pitchFamily="34" charset="0"/>
                                  </a:rPr>
                                  <m:t>𝑏</m:t>
                                </m:r>
                              </m:sub>
                            </m:sSub>
                          </m:e>
                        </m:acc>
                      </m:e>
                    </m:d>
                  </m:oMath>
                </a14:m>
                <a:r>
                  <a:rPr lang="en-US" dirty="0">
                    <a:latin typeface="Arial" panose="020B0604020202020204" pitchFamily="34" charset="0"/>
                    <a:cs typeface="Arial" panose="020B0604020202020204" pitchFamily="34" charset="0"/>
                  </a:rPr>
                  <a:t> </a:t>
                </a:r>
              </a:p>
            </p:txBody>
          </p:sp>
        </mc:Choice>
        <mc:Fallback xmlns="">
          <p:sp>
            <p:nvSpPr>
              <p:cNvPr id="28" name="TextBox 27">
                <a:extLst>
                  <a:ext uri="{FF2B5EF4-FFF2-40B4-BE49-F238E27FC236}">
                    <a16:creationId xmlns:a16="http://schemas.microsoft.com/office/drawing/2014/main" id="{0070A194-98F7-B04C-8268-2A3416C272D2}"/>
                  </a:ext>
                </a:extLst>
              </p:cNvPr>
              <p:cNvSpPr txBox="1">
                <a:spLocks noRot="1" noChangeAspect="1" noMove="1" noResize="1" noEditPoints="1" noAdjustHandles="1" noChangeArrowheads="1" noChangeShapeType="1" noTextEdit="1"/>
              </p:cNvSpPr>
              <p:nvPr/>
            </p:nvSpPr>
            <p:spPr>
              <a:xfrm>
                <a:off x="865097" y="5303919"/>
                <a:ext cx="3292376" cy="472565"/>
              </a:xfrm>
              <a:prstGeom prst="rect">
                <a:avLst/>
              </a:prstGeom>
              <a:blipFill>
                <a:blip r:embed="rId7"/>
                <a:stretch>
                  <a:fillRect l="-4615" t="-89744" b="-1538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CA18E155-50B0-684C-9B3A-38C0BE020988}"/>
                  </a:ext>
                </a:extLst>
              </p:cNvPr>
              <p:cNvSpPr txBox="1"/>
              <p:nvPr/>
            </p:nvSpPr>
            <p:spPr>
              <a:xfrm>
                <a:off x="346213" y="5975155"/>
                <a:ext cx="5749788"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In most cases </a:t>
                </a: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r>
                      <a:rPr lang="en-US" b="0" i="1" smtClean="0">
                        <a:latin typeface="Cambria Math" panose="02040503050406030204" pitchFamily="18" charset="0"/>
                        <a:cs typeface="Arial" panose="020B0604020202020204" pitchFamily="34" charset="0"/>
                      </a:rPr>
                      <m:t>≪1</m:t>
                    </m:r>
                  </m:oMath>
                </a14:m>
                <a:r>
                  <a:rPr lang="en-US" dirty="0">
                    <a:latin typeface="Arial" panose="020B0604020202020204" pitchFamily="34" charset="0"/>
                    <a:cs typeface="Arial" panose="020B0604020202020204" pitchFamily="34" charset="0"/>
                  </a:rPr>
                  <a:t> and the above equation becomes</a:t>
                </a:r>
              </a:p>
            </p:txBody>
          </p:sp>
        </mc:Choice>
        <mc:Fallback xmlns="">
          <p:sp>
            <p:nvSpPr>
              <p:cNvPr id="34" name="TextBox 33">
                <a:extLst>
                  <a:ext uri="{FF2B5EF4-FFF2-40B4-BE49-F238E27FC236}">
                    <a16:creationId xmlns:a16="http://schemas.microsoft.com/office/drawing/2014/main" id="{CA18E155-50B0-684C-9B3A-38C0BE020988}"/>
                  </a:ext>
                </a:extLst>
              </p:cNvPr>
              <p:cNvSpPr txBox="1">
                <a:spLocks noRot="1" noChangeAspect="1" noMove="1" noResize="1" noEditPoints="1" noAdjustHandles="1" noChangeArrowheads="1" noChangeShapeType="1" noTextEdit="1"/>
              </p:cNvSpPr>
              <p:nvPr/>
            </p:nvSpPr>
            <p:spPr>
              <a:xfrm>
                <a:off x="346213" y="5975155"/>
                <a:ext cx="5749788" cy="381708"/>
              </a:xfrm>
              <a:prstGeom prst="rect">
                <a:avLst/>
              </a:prstGeom>
              <a:blipFill>
                <a:blip r:embed="rId8"/>
                <a:stretch>
                  <a:fillRect l="-881" t="-6452" b="-225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1DCE9DD3-F5BE-C848-A977-0AA398CCBC7B}"/>
                  </a:ext>
                </a:extLst>
              </p:cNvPr>
              <p:cNvSpPr txBox="1"/>
              <p:nvPr/>
            </p:nvSpPr>
            <p:spPr>
              <a:xfrm>
                <a:off x="6257090" y="5856249"/>
                <a:ext cx="1690527" cy="464230"/>
              </a:xfrm>
              <a:prstGeom prst="rect">
                <a:avLst/>
              </a:prstGeom>
              <a:noFill/>
            </p:spPr>
            <p:txBody>
              <a:bodyPr wrap="none" lIns="0" tIns="0" rIns="0" bIns="0" rtlCol="0">
                <a:spAutoFit/>
              </a:bodyPr>
              <a:lstStyle/>
              <a:p>
                <a:pPr>
                  <a:lnSpc>
                    <a:spcPct val="114000"/>
                  </a:lnSpc>
                </a:pPr>
                <a14:m>
                  <m:oMath xmlns:m="http://schemas.openxmlformats.org/officeDocument/2006/math">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𝑞</m:t>
                            </m:r>
                          </m:e>
                          <m:sub>
                            <m:r>
                              <a:rPr lang="en-US" i="1">
                                <a:latin typeface="Cambria Math" panose="02040503050406030204" pitchFamily="18" charset="0"/>
                                <a:ea typeface="Cambria Math" panose="02040503050406030204" pitchFamily="18" charset="0"/>
                                <a:cs typeface="Arial" panose="020B0604020202020204" pitchFamily="34" charset="0"/>
                              </a:rPr>
                              <m:t>𝑠</m:t>
                            </m:r>
                          </m:sub>
                        </m:sSub>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cs typeface="Arial" panose="020B0604020202020204" pitchFamily="34" charset="0"/>
                      </a:rPr>
                      <m:t>=</m:t>
                    </m:r>
                    <m:sSub>
                      <m:sSubPr>
                        <m:ctrlPr>
                          <a:rPr lang="en-US" i="1">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d>
                      <m:dPr>
                        <m:ctrlPr>
                          <a:rPr lang="en-US"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𝐸</m:t>
                        </m:r>
                        <m:r>
                          <a:rPr lang="en-US" b="0" i="1" smtClean="0">
                            <a:latin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cs typeface="Arial" panose="020B0604020202020204" pitchFamily="34" charset="0"/>
                              </a:rPr>
                            </m:ctrlPr>
                          </m:accPr>
                          <m:e>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𝑐</m:t>
                                </m:r>
                              </m:e>
                              <m:sub>
                                <m:r>
                                  <a:rPr lang="en-US" b="0" i="1" smtClean="0">
                                    <a:latin typeface="Cambria Math" panose="02040503050406030204" pitchFamily="18" charset="0"/>
                                    <a:cs typeface="Arial" panose="020B0604020202020204" pitchFamily="34" charset="0"/>
                                  </a:rPr>
                                  <m:t>𝑏</m:t>
                                </m:r>
                              </m:sub>
                            </m:sSub>
                          </m:e>
                        </m:acc>
                      </m:e>
                    </m:d>
                  </m:oMath>
                </a14:m>
                <a:r>
                  <a:rPr lang="en-US" dirty="0">
                    <a:latin typeface="Arial" panose="020B0604020202020204" pitchFamily="34" charset="0"/>
                    <a:cs typeface="Arial" panose="020B0604020202020204" pitchFamily="34" charset="0"/>
                  </a:rPr>
                  <a:t> </a:t>
                </a:r>
              </a:p>
            </p:txBody>
          </p:sp>
        </mc:Choice>
        <mc:Fallback xmlns="">
          <p:sp>
            <p:nvSpPr>
              <p:cNvPr id="35" name="TextBox 34">
                <a:extLst>
                  <a:ext uri="{FF2B5EF4-FFF2-40B4-BE49-F238E27FC236}">
                    <a16:creationId xmlns:a16="http://schemas.microsoft.com/office/drawing/2014/main" id="{1DCE9DD3-F5BE-C848-A977-0AA398CCBC7B}"/>
                  </a:ext>
                </a:extLst>
              </p:cNvPr>
              <p:cNvSpPr txBox="1">
                <a:spLocks noRot="1" noChangeAspect="1" noMove="1" noResize="1" noEditPoints="1" noAdjustHandles="1" noChangeArrowheads="1" noChangeShapeType="1" noTextEdit="1"/>
              </p:cNvSpPr>
              <p:nvPr/>
            </p:nvSpPr>
            <p:spPr>
              <a:xfrm>
                <a:off x="6257090" y="5856249"/>
                <a:ext cx="1690527" cy="464230"/>
              </a:xfrm>
              <a:prstGeom prst="rect">
                <a:avLst/>
              </a:prstGeom>
              <a:blipFill>
                <a:blip r:embed="rId9"/>
                <a:stretch>
                  <a:fillRect l="-3731" b="-13514"/>
                </a:stretch>
              </a:blipFill>
            </p:spPr>
            <p:txBody>
              <a:bodyPr/>
              <a:lstStyle/>
              <a:p>
                <a:r>
                  <a:rPr lang="en-US">
                    <a:noFill/>
                  </a:rPr>
                  <a:t> </a:t>
                </a:r>
              </a:p>
            </p:txBody>
          </p:sp>
        </mc:Fallback>
      </mc:AlternateContent>
    </p:spTree>
    <p:extLst>
      <p:ext uri="{BB962C8B-B14F-4D97-AF65-F5344CB8AC3E}">
        <p14:creationId xmlns:p14="http://schemas.microsoft.com/office/powerpoint/2010/main" val="2059000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5</a:t>
            </a:fld>
            <a:endParaRPr lang="en-US"/>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The approach</a:t>
            </a:r>
          </a:p>
        </p:txBody>
      </p:sp>
      <p:sp>
        <p:nvSpPr>
          <p:cNvPr id="24" name="TextBox 23">
            <a:extLst>
              <a:ext uri="{FF2B5EF4-FFF2-40B4-BE49-F238E27FC236}">
                <a16:creationId xmlns:a16="http://schemas.microsoft.com/office/drawing/2014/main" id="{974FD763-C9F2-F34A-A70B-502115AE228A}"/>
              </a:ext>
            </a:extLst>
          </p:cNvPr>
          <p:cNvSpPr txBox="1"/>
          <p:nvPr/>
        </p:nvSpPr>
        <p:spPr>
          <a:xfrm>
            <a:off x="463138" y="751888"/>
            <a:ext cx="11592228" cy="697499"/>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In the case of equilibrium suspension, the suspended bed material load does not change in the flow direction (x) and the equation of conservation of suspended bed material load reduces to </a:t>
            </a: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1DCE9DD3-F5BE-C848-A977-0AA398CCBC7B}"/>
                  </a:ext>
                </a:extLst>
              </p:cNvPr>
              <p:cNvSpPr txBox="1"/>
              <p:nvPr/>
            </p:nvSpPr>
            <p:spPr>
              <a:xfrm>
                <a:off x="595340" y="1541530"/>
                <a:ext cx="1535805" cy="289375"/>
              </a:xfrm>
              <a:prstGeom prst="rect">
                <a:avLst/>
              </a:prstGeom>
              <a:noFill/>
            </p:spPr>
            <p:txBody>
              <a:bodyPr wrap="none" lIns="0" tIns="0" rIns="0" bIns="0" rtlCol="0">
                <a:spAutoFit/>
              </a:bodyPr>
              <a:lstStyle/>
              <a:p>
                <a:pPr>
                  <a:lnSpc>
                    <a:spcPct val="114000"/>
                  </a:lnSpc>
                </a:pPr>
                <a14:m>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d>
                      <m:dPr>
                        <m:ctrlPr>
                          <a:rPr lang="en-US"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𝐸</m:t>
                        </m:r>
                        <m:r>
                          <a:rPr lang="en-US" b="0" i="1" smtClean="0">
                            <a:latin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cs typeface="Arial" panose="020B0604020202020204" pitchFamily="34" charset="0"/>
                              </a:rPr>
                            </m:ctrlPr>
                          </m:accPr>
                          <m:e>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𝑐</m:t>
                                </m:r>
                              </m:e>
                              <m:sub>
                                <m:r>
                                  <a:rPr lang="en-US" b="0" i="1" smtClean="0">
                                    <a:latin typeface="Cambria Math" panose="02040503050406030204" pitchFamily="18" charset="0"/>
                                    <a:cs typeface="Arial" panose="020B0604020202020204" pitchFamily="34" charset="0"/>
                                  </a:rPr>
                                  <m:t>𝑏</m:t>
                                </m:r>
                              </m:sub>
                            </m:sSub>
                          </m:e>
                        </m:acc>
                      </m:e>
                    </m:d>
                    <m:r>
                      <a:rPr lang="en-US" b="0" i="1" smtClean="0">
                        <a:latin typeface="Cambria Math" panose="02040503050406030204" pitchFamily="18" charset="0"/>
                        <a:cs typeface="Arial" panose="020B0604020202020204" pitchFamily="34" charset="0"/>
                      </a:rPr>
                      <m:t>=0</m:t>
                    </m:r>
                  </m:oMath>
                </a14:m>
                <a:r>
                  <a:rPr lang="en-US" dirty="0">
                    <a:latin typeface="Arial" panose="020B0604020202020204" pitchFamily="34" charset="0"/>
                    <a:cs typeface="Arial" panose="020B0604020202020204" pitchFamily="34" charset="0"/>
                  </a:rPr>
                  <a:t> </a:t>
                </a:r>
              </a:p>
            </p:txBody>
          </p:sp>
        </mc:Choice>
        <mc:Fallback xmlns="">
          <p:sp>
            <p:nvSpPr>
              <p:cNvPr id="35" name="TextBox 34">
                <a:extLst>
                  <a:ext uri="{FF2B5EF4-FFF2-40B4-BE49-F238E27FC236}">
                    <a16:creationId xmlns:a16="http://schemas.microsoft.com/office/drawing/2014/main" id="{1DCE9DD3-F5BE-C848-A977-0AA398CCBC7B}"/>
                  </a:ext>
                </a:extLst>
              </p:cNvPr>
              <p:cNvSpPr txBox="1">
                <a:spLocks noRot="1" noChangeAspect="1" noMove="1" noResize="1" noEditPoints="1" noAdjustHandles="1" noChangeArrowheads="1" noChangeShapeType="1" noTextEdit="1"/>
              </p:cNvSpPr>
              <p:nvPr/>
            </p:nvSpPr>
            <p:spPr>
              <a:xfrm>
                <a:off x="595340" y="1541530"/>
                <a:ext cx="1535805" cy="289375"/>
              </a:xfrm>
              <a:prstGeom prst="rect">
                <a:avLst/>
              </a:prstGeom>
              <a:blipFill>
                <a:blip r:embed="rId2"/>
                <a:stretch>
                  <a:fillRect l="-4132" b="-173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31549852-82B9-6942-B52A-F61A1F44D9B6}"/>
                  </a:ext>
                </a:extLst>
              </p:cNvPr>
              <p:cNvSpPr txBox="1"/>
              <p:nvPr/>
            </p:nvSpPr>
            <p:spPr>
              <a:xfrm>
                <a:off x="3777378" y="1514592"/>
                <a:ext cx="733983" cy="315792"/>
              </a:xfrm>
              <a:prstGeom prst="rect">
                <a:avLst/>
              </a:prstGeom>
              <a:solidFill>
                <a:schemeClr val="accent4">
                  <a:lumMod val="20000"/>
                  <a:lumOff val="80000"/>
                </a:schemeClr>
              </a:solid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cs typeface="Arial" panose="020B0604020202020204" pitchFamily="34" charset="0"/>
                        </a:rPr>
                        <m:t>𝐸</m:t>
                      </m:r>
                      <m:r>
                        <a:rPr lang="en-US" b="0" i="1" smtClean="0">
                          <a:latin typeface="Cambria Math" panose="02040503050406030204" pitchFamily="18" charset="0"/>
                          <a:cs typeface="Arial" panose="020B0604020202020204" pitchFamily="34" charset="0"/>
                        </a:rPr>
                        <m:t>=</m:t>
                      </m:r>
                      <m:acc>
                        <m:accPr>
                          <m:chr m:val="̅"/>
                          <m:ctrlPr>
                            <a:rPr lang="en-US" i="1">
                              <a:latin typeface="Cambria Math" panose="02040503050406030204" pitchFamily="18" charset="0"/>
                              <a:cs typeface="Arial" panose="020B0604020202020204" pitchFamily="34" charset="0"/>
                            </a:rPr>
                          </m:ctrlPr>
                        </m:accPr>
                        <m:e>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𝑐</m:t>
                              </m:r>
                            </m:e>
                            <m:sub>
                              <m:r>
                                <a:rPr lang="en-US" i="1">
                                  <a:latin typeface="Cambria Math" panose="02040503050406030204" pitchFamily="18" charset="0"/>
                                  <a:cs typeface="Arial" panose="020B0604020202020204" pitchFamily="34" charset="0"/>
                                </a:rPr>
                                <m:t>𝑏</m:t>
                              </m:r>
                            </m:sub>
                          </m:sSub>
                        </m:e>
                      </m:acc>
                    </m:oMath>
                  </m:oMathPara>
                </a14:m>
                <a:endParaRPr lang="en-US" dirty="0">
                  <a:latin typeface="Arial" panose="020B0604020202020204" pitchFamily="34" charset="0"/>
                  <a:cs typeface="Arial" panose="020B0604020202020204" pitchFamily="34" charset="0"/>
                </a:endParaRPr>
              </a:p>
            </p:txBody>
          </p:sp>
        </mc:Choice>
        <mc:Fallback xmlns="">
          <p:sp>
            <p:nvSpPr>
              <p:cNvPr id="33" name="TextBox 32">
                <a:extLst>
                  <a:ext uri="{FF2B5EF4-FFF2-40B4-BE49-F238E27FC236}">
                    <a16:creationId xmlns:a16="http://schemas.microsoft.com/office/drawing/2014/main" id="{31549852-82B9-6942-B52A-F61A1F44D9B6}"/>
                  </a:ext>
                </a:extLst>
              </p:cNvPr>
              <p:cNvSpPr txBox="1">
                <a:spLocks noRot="1" noChangeAspect="1" noMove="1" noResize="1" noEditPoints="1" noAdjustHandles="1" noChangeArrowheads="1" noChangeShapeType="1" noTextEdit="1"/>
              </p:cNvSpPr>
              <p:nvPr/>
            </p:nvSpPr>
            <p:spPr>
              <a:xfrm>
                <a:off x="3777378" y="1514592"/>
                <a:ext cx="733983" cy="315792"/>
              </a:xfrm>
              <a:prstGeom prst="rect">
                <a:avLst/>
              </a:prstGeom>
              <a:blipFill>
                <a:blip r:embed="rId3"/>
                <a:stretch>
                  <a:fillRect l="-6780" b="-4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D21192C8-D622-554E-B0D4-4A249A686B41}"/>
                  </a:ext>
                </a:extLst>
              </p:cNvPr>
              <p:cNvSpPr txBox="1"/>
              <p:nvPr/>
            </p:nvSpPr>
            <p:spPr>
              <a:xfrm>
                <a:off x="463137" y="2149194"/>
                <a:ext cx="11435937" cy="2276457"/>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Under equilibrium conditions the dimensionless entrainment rate E is equal to the local near-bed volume concentration averaged over turbulence. </a:t>
                </a:r>
              </a:p>
              <a:p>
                <a:pPr>
                  <a:lnSpc>
                    <a:spcPct val="114000"/>
                  </a:lnSpc>
                </a:pPr>
                <a:endParaRPr lang="en-US" dirty="0">
                  <a:latin typeface="Arial" panose="020B0604020202020204" pitchFamily="34" charset="0"/>
                  <a:cs typeface="Arial" panose="020B0604020202020204" pitchFamily="34" charset="0"/>
                </a:endParaRPr>
              </a:p>
              <a:p>
                <a:pPr>
                  <a:lnSpc>
                    <a:spcPct val="114000"/>
                  </a:lnSpc>
                </a:pPr>
                <a:r>
                  <a:rPr lang="en-US" dirty="0">
                    <a:latin typeface="Arial" panose="020B0604020202020204" pitchFamily="34" charset="0"/>
                    <a:cs typeface="Arial" panose="020B0604020202020204" pitchFamily="34" charset="0"/>
                  </a:rPr>
                  <a:t>In this condition we can measure </a:t>
                </a: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𝑐</m:t>
                            </m:r>
                          </m:e>
                          <m:sub>
                            <m:r>
                              <a:rPr lang="en-US" b="0" i="1" smtClean="0">
                                <a:latin typeface="Cambria Math" panose="02040503050406030204" pitchFamily="18" charset="0"/>
                                <a:cs typeface="Arial" panose="020B0604020202020204" pitchFamily="34" charset="0"/>
                              </a:rPr>
                              <m:t>𝑏</m:t>
                            </m:r>
                          </m:sub>
                        </m:sSub>
                      </m:e>
                    </m:acc>
                  </m:oMath>
                </a14:m>
                <a:r>
                  <a:rPr lang="en-US" dirty="0">
                    <a:latin typeface="Arial" panose="020B0604020202020204" pitchFamily="34" charset="0"/>
                    <a:cs typeface="Arial" panose="020B0604020202020204" pitchFamily="34" charset="0"/>
                  </a:rPr>
                  <a:t> and then obtain empirical relations to compute E as a function of the bed shear stress associated with skin friction, the characteristics of the fluid and of the sediment. </a:t>
                </a:r>
              </a:p>
              <a:p>
                <a:pPr>
                  <a:lnSpc>
                    <a:spcPct val="114000"/>
                  </a:lnSpc>
                </a:pPr>
                <a:endParaRPr lang="en-US" dirty="0">
                  <a:latin typeface="Arial" panose="020B0604020202020204" pitchFamily="34" charset="0"/>
                  <a:cs typeface="Arial" panose="020B0604020202020204" pitchFamily="34" charset="0"/>
                </a:endParaRPr>
              </a:p>
              <a:p>
                <a:pPr>
                  <a:lnSpc>
                    <a:spcPct val="114000"/>
                  </a:lnSpc>
                </a:pPr>
                <a:r>
                  <a:rPr lang="en-US" dirty="0">
                    <a:latin typeface="Arial" panose="020B0604020202020204" pitchFamily="34" charset="0"/>
                    <a:cs typeface="Arial" panose="020B0604020202020204" pitchFamily="34" charset="0"/>
                  </a:rPr>
                  <a:t>We then hope that these relations can be applied to conditions that are not too far from equilibrium</a:t>
                </a:r>
              </a:p>
            </p:txBody>
          </p:sp>
        </mc:Choice>
        <mc:Fallback xmlns="">
          <p:sp>
            <p:nvSpPr>
              <p:cNvPr id="37" name="TextBox 36">
                <a:extLst>
                  <a:ext uri="{FF2B5EF4-FFF2-40B4-BE49-F238E27FC236}">
                    <a16:creationId xmlns:a16="http://schemas.microsoft.com/office/drawing/2014/main" id="{D21192C8-D622-554E-B0D4-4A249A686B41}"/>
                  </a:ext>
                </a:extLst>
              </p:cNvPr>
              <p:cNvSpPr txBox="1">
                <a:spLocks noRot="1" noChangeAspect="1" noMove="1" noResize="1" noEditPoints="1" noAdjustHandles="1" noChangeArrowheads="1" noChangeShapeType="1" noTextEdit="1"/>
              </p:cNvSpPr>
              <p:nvPr/>
            </p:nvSpPr>
            <p:spPr>
              <a:xfrm>
                <a:off x="463137" y="2149194"/>
                <a:ext cx="11435937" cy="2276457"/>
              </a:xfrm>
              <a:prstGeom prst="rect">
                <a:avLst/>
              </a:prstGeom>
              <a:blipFill>
                <a:blip r:embed="rId4"/>
                <a:stretch>
                  <a:fillRect l="-444" t="-1111" b="-3333"/>
                </a:stretch>
              </a:blipFill>
            </p:spPr>
            <p:txBody>
              <a:bodyPr/>
              <a:lstStyle/>
              <a:p>
                <a:r>
                  <a:rPr lang="en-US">
                    <a:noFill/>
                  </a:rPr>
                  <a:t> </a:t>
                </a:r>
              </a:p>
            </p:txBody>
          </p:sp>
        </mc:Fallback>
      </mc:AlternateContent>
    </p:spTree>
    <p:extLst>
      <p:ext uri="{BB962C8B-B14F-4D97-AF65-F5344CB8AC3E}">
        <p14:creationId xmlns:p14="http://schemas.microsoft.com/office/powerpoint/2010/main" val="32763813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6</a:t>
            </a:fld>
            <a:endParaRPr lang="en-US"/>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The approach</a:t>
            </a:r>
          </a:p>
        </p:txBody>
      </p:sp>
      <p:sp>
        <p:nvSpPr>
          <p:cNvPr id="24" name="TextBox 23">
            <a:extLst>
              <a:ext uri="{FF2B5EF4-FFF2-40B4-BE49-F238E27FC236}">
                <a16:creationId xmlns:a16="http://schemas.microsoft.com/office/drawing/2014/main" id="{974FD763-C9F2-F34A-A70B-502115AE228A}"/>
              </a:ext>
            </a:extLst>
          </p:cNvPr>
          <p:cNvSpPr txBox="1"/>
          <p:nvPr/>
        </p:nvSpPr>
        <p:spPr>
          <a:xfrm>
            <a:off x="463138" y="751888"/>
            <a:ext cx="11613248" cy="697499"/>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In the case of equilibrium suspension, the suspended bed material load does not change in the flow direction (x) and the equation of conservation of suspended bed material load reduces to </a:t>
            </a: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1DCE9DD3-F5BE-C848-A977-0AA398CCBC7B}"/>
                  </a:ext>
                </a:extLst>
              </p:cNvPr>
              <p:cNvSpPr txBox="1"/>
              <p:nvPr/>
            </p:nvSpPr>
            <p:spPr>
              <a:xfrm>
                <a:off x="595340" y="1541530"/>
                <a:ext cx="1535805" cy="289375"/>
              </a:xfrm>
              <a:prstGeom prst="rect">
                <a:avLst/>
              </a:prstGeom>
              <a:noFill/>
            </p:spPr>
            <p:txBody>
              <a:bodyPr wrap="none" lIns="0" tIns="0" rIns="0" bIns="0" rtlCol="0">
                <a:spAutoFit/>
              </a:bodyPr>
              <a:lstStyle/>
              <a:p>
                <a:pPr>
                  <a:lnSpc>
                    <a:spcPct val="114000"/>
                  </a:lnSpc>
                </a:pPr>
                <a14:m>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d>
                      <m:dPr>
                        <m:ctrlPr>
                          <a:rPr lang="en-US"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𝐸</m:t>
                        </m:r>
                        <m:r>
                          <a:rPr lang="en-US" b="0" i="1" smtClean="0">
                            <a:latin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cs typeface="Arial" panose="020B0604020202020204" pitchFamily="34" charset="0"/>
                              </a:rPr>
                            </m:ctrlPr>
                          </m:accPr>
                          <m:e>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𝑐</m:t>
                                </m:r>
                              </m:e>
                              <m:sub>
                                <m:r>
                                  <a:rPr lang="en-US" b="0" i="1" smtClean="0">
                                    <a:latin typeface="Cambria Math" panose="02040503050406030204" pitchFamily="18" charset="0"/>
                                    <a:cs typeface="Arial" panose="020B0604020202020204" pitchFamily="34" charset="0"/>
                                  </a:rPr>
                                  <m:t>𝑏</m:t>
                                </m:r>
                              </m:sub>
                            </m:sSub>
                          </m:e>
                        </m:acc>
                      </m:e>
                    </m:d>
                    <m:r>
                      <a:rPr lang="en-US" b="0" i="1" smtClean="0">
                        <a:latin typeface="Cambria Math" panose="02040503050406030204" pitchFamily="18" charset="0"/>
                        <a:cs typeface="Arial" panose="020B0604020202020204" pitchFamily="34" charset="0"/>
                      </a:rPr>
                      <m:t>=0</m:t>
                    </m:r>
                  </m:oMath>
                </a14:m>
                <a:r>
                  <a:rPr lang="en-US" dirty="0">
                    <a:latin typeface="Arial" panose="020B0604020202020204" pitchFamily="34" charset="0"/>
                    <a:cs typeface="Arial" panose="020B0604020202020204" pitchFamily="34" charset="0"/>
                  </a:rPr>
                  <a:t> </a:t>
                </a:r>
              </a:p>
            </p:txBody>
          </p:sp>
        </mc:Choice>
        <mc:Fallback xmlns="">
          <p:sp>
            <p:nvSpPr>
              <p:cNvPr id="35" name="TextBox 34">
                <a:extLst>
                  <a:ext uri="{FF2B5EF4-FFF2-40B4-BE49-F238E27FC236}">
                    <a16:creationId xmlns:a16="http://schemas.microsoft.com/office/drawing/2014/main" id="{1DCE9DD3-F5BE-C848-A977-0AA398CCBC7B}"/>
                  </a:ext>
                </a:extLst>
              </p:cNvPr>
              <p:cNvSpPr txBox="1">
                <a:spLocks noRot="1" noChangeAspect="1" noMove="1" noResize="1" noEditPoints="1" noAdjustHandles="1" noChangeArrowheads="1" noChangeShapeType="1" noTextEdit="1"/>
              </p:cNvSpPr>
              <p:nvPr/>
            </p:nvSpPr>
            <p:spPr>
              <a:xfrm>
                <a:off x="595340" y="1541530"/>
                <a:ext cx="1535805" cy="289375"/>
              </a:xfrm>
              <a:prstGeom prst="rect">
                <a:avLst/>
              </a:prstGeom>
              <a:blipFill>
                <a:blip r:embed="rId2"/>
                <a:stretch>
                  <a:fillRect l="-4132" b="-173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31549852-82B9-6942-B52A-F61A1F44D9B6}"/>
                  </a:ext>
                </a:extLst>
              </p:cNvPr>
              <p:cNvSpPr txBox="1"/>
              <p:nvPr/>
            </p:nvSpPr>
            <p:spPr>
              <a:xfrm>
                <a:off x="3777378" y="1514592"/>
                <a:ext cx="733983" cy="315792"/>
              </a:xfrm>
              <a:prstGeom prst="rect">
                <a:avLst/>
              </a:prstGeom>
              <a:solidFill>
                <a:schemeClr val="accent4">
                  <a:lumMod val="20000"/>
                  <a:lumOff val="80000"/>
                </a:schemeClr>
              </a:solid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cs typeface="Arial" panose="020B0604020202020204" pitchFamily="34" charset="0"/>
                        </a:rPr>
                        <m:t>𝐸</m:t>
                      </m:r>
                      <m:r>
                        <a:rPr lang="en-US" b="0" i="1" smtClean="0">
                          <a:latin typeface="Cambria Math" panose="02040503050406030204" pitchFamily="18" charset="0"/>
                          <a:cs typeface="Arial" panose="020B0604020202020204" pitchFamily="34" charset="0"/>
                        </a:rPr>
                        <m:t>=</m:t>
                      </m:r>
                      <m:acc>
                        <m:accPr>
                          <m:chr m:val="̅"/>
                          <m:ctrlPr>
                            <a:rPr lang="en-US" i="1">
                              <a:latin typeface="Cambria Math" panose="02040503050406030204" pitchFamily="18" charset="0"/>
                              <a:cs typeface="Arial" panose="020B0604020202020204" pitchFamily="34" charset="0"/>
                            </a:rPr>
                          </m:ctrlPr>
                        </m:accPr>
                        <m:e>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𝑐</m:t>
                              </m:r>
                            </m:e>
                            <m:sub>
                              <m:r>
                                <a:rPr lang="en-US" i="1">
                                  <a:latin typeface="Cambria Math" panose="02040503050406030204" pitchFamily="18" charset="0"/>
                                  <a:cs typeface="Arial" panose="020B0604020202020204" pitchFamily="34" charset="0"/>
                                </a:rPr>
                                <m:t>𝑏</m:t>
                              </m:r>
                            </m:sub>
                          </m:sSub>
                        </m:e>
                      </m:acc>
                    </m:oMath>
                  </m:oMathPara>
                </a14:m>
                <a:endParaRPr lang="en-US" dirty="0">
                  <a:latin typeface="Arial" panose="020B0604020202020204" pitchFamily="34" charset="0"/>
                  <a:cs typeface="Arial" panose="020B0604020202020204" pitchFamily="34" charset="0"/>
                </a:endParaRPr>
              </a:p>
            </p:txBody>
          </p:sp>
        </mc:Choice>
        <mc:Fallback xmlns="">
          <p:sp>
            <p:nvSpPr>
              <p:cNvPr id="33" name="TextBox 32">
                <a:extLst>
                  <a:ext uri="{FF2B5EF4-FFF2-40B4-BE49-F238E27FC236}">
                    <a16:creationId xmlns:a16="http://schemas.microsoft.com/office/drawing/2014/main" id="{31549852-82B9-6942-B52A-F61A1F44D9B6}"/>
                  </a:ext>
                </a:extLst>
              </p:cNvPr>
              <p:cNvSpPr txBox="1">
                <a:spLocks noRot="1" noChangeAspect="1" noMove="1" noResize="1" noEditPoints="1" noAdjustHandles="1" noChangeArrowheads="1" noChangeShapeType="1" noTextEdit="1"/>
              </p:cNvSpPr>
              <p:nvPr/>
            </p:nvSpPr>
            <p:spPr>
              <a:xfrm>
                <a:off x="3777378" y="1514592"/>
                <a:ext cx="733983" cy="315792"/>
              </a:xfrm>
              <a:prstGeom prst="rect">
                <a:avLst/>
              </a:prstGeom>
              <a:blipFill>
                <a:blip r:embed="rId3"/>
                <a:stretch>
                  <a:fillRect l="-6780" b="-4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AE4C8D6D-241F-8343-9796-960C23095F69}"/>
                  </a:ext>
                </a:extLst>
              </p:cNvPr>
              <p:cNvSpPr txBox="1"/>
              <p:nvPr/>
            </p:nvSpPr>
            <p:spPr>
              <a:xfrm>
                <a:off x="463137" y="2149194"/>
                <a:ext cx="11435937" cy="2276457"/>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Under equilibrium conditions the dimensionless entrainment rate E is equal to the local near-bed volume concentration averaged over turbulence. </a:t>
                </a:r>
              </a:p>
              <a:p>
                <a:pPr>
                  <a:lnSpc>
                    <a:spcPct val="114000"/>
                  </a:lnSpc>
                </a:pPr>
                <a:endParaRPr lang="en-US" dirty="0">
                  <a:latin typeface="Arial" panose="020B0604020202020204" pitchFamily="34" charset="0"/>
                  <a:cs typeface="Arial" panose="020B0604020202020204" pitchFamily="34" charset="0"/>
                </a:endParaRPr>
              </a:p>
              <a:p>
                <a:pPr>
                  <a:lnSpc>
                    <a:spcPct val="114000"/>
                  </a:lnSpc>
                </a:pPr>
                <a:r>
                  <a:rPr lang="en-US" dirty="0">
                    <a:latin typeface="Arial" panose="020B0604020202020204" pitchFamily="34" charset="0"/>
                    <a:cs typeface="Arial" panose="020B0604020202020204" pitchFamily="34" charset="0"/>
                  </a:rPr>
                  <a:t>In this condition we can measure </a:t>
                </a: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𝑐</m:t>
                            </m:r>
                          </m:e>
                          <m:sub>
                            <m:r>
                              <a:rPr lang="en-US" b="0" i="1" smtClean="0">
                                <a:latin typeface="Cambria Math" panose="02040503050406030204" pitchFamily="18" charset="0"/>
                                <a:cs typeface="Arial" panose="020B0604020202020204" pitchFamily="34" charset="0"/>
                              </a:rPr>
                              <m:t>𝑏</m:t>
                            </m:r>
                          </m:sub>
                        </m:sSub>
                      </m:e>
                    </m:acc>
                  </m:oMath>
                </a14:m>
                <a:r>
                  <a:rPr lang="en-US" dirty="0">
                    <a:latin typeface="Arial" panose="020B0604020202020204" pitchFamily="34" charset="0"/>
                    <a:cs typeface="Arial" panose="020B0604020202020204" pitchFamily="34" charset="0"/>
                  </a:rPr>
                  <a:t> and then obtain empirical relations to compute E as a function of the bed shear stress associated with skin friction, the characteristics of the fluid and of the sediment. </a:t>
                </a:r>
              </a:p>
              <a:p>
                <a:pPr>
                  <a:lnSpc>
                    <a:spcPct val="114000"/>
                  </a:lnSpc>
                </a:pPr>
                <a:endParaRPr lang="en-US" dirty="0">
                  <a:latin typeface="Arial" panose="020B0604020202020204" pitchFamily="34" charset="0"/>
                  <a:cs typeface="Arial" panose="020B0604020202020204" pitchFamily="34" charset="0"/>
                </a:endParaRPr>
              </a:p>
              <a:p>
                <a:pPr>
                  <a:lnSpc>
                    <a:spcPct val="114000"/>
                  </a:lnSpc>
                </a:pPr>
                <a:r>
                  <a:rPr lang="en-US" dirty="0">
                    <a:latin typeface="Arial" panose="020B0604020202020204" pitchFamily="34" charset="0"/>
                    <a:cs typeface="Arial" panose="020B0604020202020204" pitchFamily="34" charset="0"/>
                  </a:rPr>
                  <a:t>We then hope that these relations can be applied to conditions that are not too far from equilibrium</a:t>
                </a:r>
              </a:p>
            </p:txBody>
          </p:sp>
        </mc:Choice>
        <mc:Fallback xmlns="">
          <p:sp>
            <p:nvSpPr>
              <p:cNvPr id="36" name="TextBox 35">
                <a:extLst>
                  <a:ext uri="{FF2B5EF4-FFF2-40B4-BE49-F238E27FC236}">
                    <a16:creationId xmlns:a16="http://schemas.microsoft.com/office/drawing/2014/main" id="{AE4C8D6D-241F-8343-9796-960C23095F69}"/>
                  </a:ext>
                </a:extLst>
              </p:cNvPr>
              <p:cNvSpPr txBox="1">
                <a:spLocks noRot="1" noChangeAspect="1" noMove="1" noResize="1" noEditPoints="1" noAdjustHandles="1" noChangeArrowheads="1" noChangeShapeType="1" noTextEdit="1"/>
              </p:cNvSpPr>
              <p:nvPr/>
            </p:nvSpPr>
            <p:spPr>
              <a:xfrm>
                <a:off x="463137" y="2149194"/>
                <a:ext cx="11435937" cy="2276457"/>
              </a:xfrm>
              <a:prstGeom prst="rect">
                <a:avLst/>
              </a:prstGeom>
              <a:blipFill>
                <a:blip r:embed="rId4"/>
                <a:stretch>
                  <a:fillRect l="-444" t="-1111" b="-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B3500B4-512F-8E4F-AD74-EA45C187BA89}"/>
                  </a:ext>
                </a:extLst>
              </p:cNvPr>
              <p:cNvSpPr txBox="1"/>
              <p:nvPr/>
            </p:nvSpPr>
            <p:spPr>
              <a:xfrm>
                <a:off x="463138" y="4967720"/>
                <a:ext cx="10890662" cy="697499"/>
              </a:xfrm>
              <a:prstGeom prst="rect">
                <a:avLst/>
              </a:prstGeom>
              <a:noFill/>
            </p:spPr>
            <p:txBody>
              <a:bodyPr wrap="square" rtlCol="0">
                <a:spAutoFit/>
              </a:bodyPr>
              <a:lstStyle/>
              <a:p>
                <a:pPr>
                  <a:lnSpc>
                    <a:spcPct val="114000"/>
                  </a:lnSpc>
                </a:pPr>
                <a:r>
                  <a:rPr lang="en-US" dirty="0">
                    <a:solidFill>
                      <a:srgbClr val="FF0000"/>
                    </a:solidFill>
                    <a:latin typeface="Arial" panose="020B0604020202020204" pitchFamily="34" charset="0"/>
                    <a:cs typeface="Arial" panose="020B0604020202020204" pitchFamily="34" charset="0"/>
                  </a:rPr>
                  <a:t>How close to the bed we need to measure </a:t>
                </a:r>
                <a14:m>
                  <m:oMath xmlns:m="http://schemas.openxmlformats.org/officeDocument/2006/math">
                    <m:acc>
                      <m:accPr>
                        <m:chr m:val="̅"/>
                        <m:ctrlPr>
                          <a:rPr lang="en-US" i="1">
                            <a:solidFill>
                              <a:srgbClr val="FF0000"/>
                            </a:solidFill>
                            <a:latin typeface="Cambria Math" panose="02040503050406030204" pitchFamily="18" charset="0"/>
                            <a:cs typeface="Arial" panose="020B0604020202020204" pitchFamily="34" charset="0"/>
                          </a:rPr>
                        </m:ctrlPr>
                      </m:accPr>
                      <m:e>
                        <m:sSub>
                          <m:sSubPr>
                            <m:ctrlPr>
                              <a:rPr lang="en-US" i="1">
                                <a:solidFill>
                                  <a:srgbClr val="FF0000"/>
                                </a:solidFill>
                                <a:latin typeface="Cambria Math" panose="02040503050406030204" pitchFamily="18" charset="0"/>
                                <a:cs typeface="Arial" panose="020B0604020202020204" pitchFamily="34" charset="0"/>
                              </a:rPr>
                            </m:ctrlPr>
                          </m:sSubPr>
                          <m:e>
                            <m:r>
                              <a:rPr lang="en-US" i="1">
                                <a:solidFill>
                                  <a:srgbClr val="FF0000"/>
                                </a:solidFill>
                                <a:latin typeface="Cambria Math" panose="02040503050406030204" pitchFamily="18" charset="0"/>
                                <a:cs typeface="Arial" panose="020B0604020202020204" pitchFamily="34" charset="0"/>
                              </a:rPr>
                              <m:t>𝑐</m:t>
                            </m:r>
                          </m:e>
                          <m:sub>
                            <m:r>
                              <a:rPr lang="en-US" i="1">
                                <a:solidFill>
                                  <a:srgbClr val="FF0000"/>
                                </a:solidFill>
                                <a:latin typeface="Cambria Math" panose="02040503050406030204" pitchFamily="18" charset="0"/>
                                <a:cs typeface="Arial" panose="020B0604020202020204" pitchFamily="34" charset="0"/>
                              </a:rPr>
                              <m:t>𝑏</m:t>
                            </m:r>
                          </m:sub>
                        </m:sSub>
                      </m:e>
                    </m:acc>
                  </m:oMath>
                </a14:m>
                <a:r>
                  <a:rPr lang="en-US" dirty="0">
                    <a:solidFill>
                      <a:srgbClr val="FF0000"/>
                    </a:solidFill>
                    <a:latin typeface="Arial" panose="020B0604020202020204" pitchFamily="34" charset="0"/>
                    <a:cs typeface="Arial" panose="020B0604020202020204" pitchFamily="34" charset="0"/>
                  </a:rPr>
                  <a:t>?</a:t>
                </a:r>
              </a:p>
              <a:p>
                <a:pPr>
                  <a:lnSpc>
                    <a:spcPct val="114000"/>
                  </a:lnSpc>
                </a:pPr>
                <a:r>
                  <a:rPr lang="en-US" dirty="0">
                    <a:latin typeface="Arial" panose="020B0604020202020204" pitchFamily="34" charset="0"/>
                    <a:cs typeface="Arial" panose="020B0604020202020204" pitchFamily="34" charset="0"/>
                  </a:rPr>
                  <a:t>we measure </a:t>
                </a:r>
                <a14:m>
                  <m:oMath xmlns:m="http://schemas.openxmlformats.org/officeDocument/2006/math">
                    <m:acc>
                      <m:accPr>
                        <m:chr m:val="̅"/>
                        <m:ctrlPr>
                          <a:rPr lang="en-US" i="1">
                            <a:latin typeface="Cambria Math" panose="02040503050406030204" pitchFamily="18" charset="0"/>
                            <a:cs typeface="Arial" panose="020B0604020202020204" pitchFamily="34" charset="0"/>
                          </a:rPr>
                        </m:ctrlPr>
                      </m:accPr>
                      <m:e>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𝑐</m:t>
                            </m:r>
                          </m:e>
                          <m:sub>
                            <m:r>
                              <a:rPr lang="en-US" i="1">
                                <a:latin typeface="Cambria Math" panose="02040503050406030204" pitchFamily="18" charset="0"/>
                                <a:cs typeface="Arial" panose="020B0604020202020204" pitchFamily="34" charset="0"/>
                              </a:rPr>
                              <m:t>𝑏</m:t>
                            </m:r>
                          </m:sub>
                        </m:sSub>
                      </m:e>
                    </m:acc>
                  </m:oMath>
                </a14:m>
                <a:r>
                  <a:rPr lang="en-US" dirty="0">
                    <a:latin typeface="Arial" panose="020B0604020202020204" pitchFamily="34" charset="0"/>
                    <a:cs typeface="Arial" panose="020B0604020202020204" pitchFamily="34" charset="0"/>
                  </a:rPr>
                  <a:t> at an elevation z = b such that b/H&lt;&lt;1 (different researchers pick different values of b)</a:t>
                </a:r>
              </a:p>
            </p:txBody>
          </p:sp>
        </mc:Choice>
        <mc:Fallback xmlns="">
          <p:sp>
            <p:nvSpPr>
              <p:cNvPr id="2" name="TextBox 1">
                <a:extLst>
                  <a:ext uri="{FF2B5EF4-FFF2-40B4-BE49-F238E27FC236}">
                    <a16:creationId xmlns:a16="http://schemas.microsoft.com/office/drawing/2014/main" id="{2B3500B4-512F-8E4F-AD74-EA45C187BA89}"/>
                  </a:ext>
                </a:extLst>
              </p:cNvPr>
              <p:cNvSpPr txBox="1">
                <a:spLocks noRot="1" noChangeAspect="1" noMove="1" noResize="1" noEditPoints="1" noAdjustHandles="1" noChangeArrowheads="1" noChangeShapeType="1" noTextEdit="1"/>
              </p:cNvSpPr>
              <p:nvPr/>
            </p:nvSpPr>
            <p:spPr>
              <a:xfrm>
                <a:off x="463138" y="4967720"/>
                <a:ext cx="10890662" cy="697499"/>
              </a:xfrm>
              <a:prstGeom prst="rect">
                <a:avLst/>
              </a:prstGeom>
              <a:blipFill>
                <a:blip r:embed="rId5"/>
                <a:stretch>
                  <a:fillRect l="-466" t="-5455" b="-14545"/>
                </a:stretch>
              </a:blipFill>
            </p:spPr>
            <p:txBody>
              <a:bodyPr/>
              <a:lstStyle/>
              <a:p>
                <a:r>
                  <a:rPr lang="en-US">
                    <a:noFill/>
                  </a:rPr>
                  <a:t> </a:t>
                </a:r>
              </a:p>
            </p:txBody>
          </p:sp>
        </mc:Fallback>
      </mc:AlternateContent>
    </p:spTree>
    <p:extLst>
      <p:ext uri="{BB962C8B-B14F-4D97-AF65-F5344CB8AC3E}">
        <p14:creationId xmlns:p14="http://schemas.microsoft.com/office/powerpoint/2010/main" val="19044360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7</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Smith and McLean entrainment relation for uniform material</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3BC04EF-E754-7A41-AA88-D274A547D9B6}"/>
                  </a:ext>
                </a:extLst>
              </p:cNvPr>
              <p:cNvSpPr txBox="1"/>
              <p:nvPr/>
            </p:nvSpPr>
            <p:spPr>
              <a:xfrm>
                <a:off x="881349" y="815248"/>
                <a:ext cx="2773901" cy="1069203"/>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cs typeface="Arial" panose="020B0604020202020204" pitchFamily="34" charset="0"/>
                        </a:rPr>
                        <m:t>E</m:t>
                      </m:r>
                      <m:r>
                        <a:rPr lang="en-US" b="0" i="0" smtClean="0">
                          <a:latin typeface="Cambria Math" panose="02040503050406030204" pitchFamily="18" charset="0"/>
                          <a:cs typeface="Arial" panose="020B0604020202020204" pitchFamily="34" charset="0"/>
                        </a:rPr>
                        <m:t>=0.65</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𝛾</m:t>
                          </m:r>
                        </m:e>
                        <m:sub>
                          <m:r>
                            <a:rPr lang="en-US" b="0" i="1" smtClean="0">
                              <a:latin typeface="Cambria Math" panose="02040503050406030204" pitchFamily="18" charset="0"/>
                              <a:cs typeface="Arial" panose="020B0604020202020204" pitchFamily="34" charset="0"/>
                            </a:rPr>
                            <m:t>𝑜</m:t>
                          </m:r>
                        </m:sub>
                      </m:sSub>
                      <m:f>
                        <m:fPr>
                          <m:ctrlPr>
                            <a:rPr lang="en-US" b="0" i="1" smtClean="0">
                              <a:latin typeface="Cambria Math" panose="02040503050406030204" pitchFamily="18" charset="0"/>
                              <a:cs typeface="Arial" panose="020B0604020202020204" pitchFamily="34" charset="0"/>
                            </a:rPr>
                          </m:ctrlPr>
                        </m:fPr>
                        <m:num>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𝑏𝑠</m:t>
                                  </m:r>
                                </m:sub>
                              </m:sSub>
                            </m:num>
                            <m:den>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cs typeface="Arial" panose="020B0604020202020204" pitchFamily="34" charset="0"/>
                                    </a:rPr>
                                    <m:t>𝑏</m:t>
                                  </m:r>
                                  <m:r>
                                    <a:rPr lang="en-US" b="0" i="1" smtClean="0">
                                      <a:latin typeface="Cambria Math" panose="02040503050406030204" pitchFamily="18" charset="0"/>
                                      <a:cs typeface="Arial" panose="020B0604020202020204" pitchFamily="34" charset="0"/>
                                    </a:rPr>
                                    <m:t>𝑐</m:t>
                                  </m:r>
                                </m:sub>
                              </m:sSub>
                            </m:den>
                          </m:f>
                          <m:r>
                            <a:rPr lang="en-US" b="0" i="1" smtClean="0">
                              <a:latin typeface="Cambria Math" panose="02040503050406030204" pitchFamily="18" charset="0"/>
                              <a:cs typeface="Arial" panose="020B0604020202020204" pitchFamily="34" charset="0"/>
                            </a:rPr>
                            <m:t>−1</m:t>
                          </m:r>
                        </m:num>
                        <m:den>
                          <m:r>
                            <a:rPr lang="en-US" b="0" i="1" smtClean="0">
                              <a:latin typeface="Cambria Math" panose="02040503050406030204" pitchFamily="18" charset="0"/>
                              <a:cs typeface="Arial" panose="020B0604020202020204" pitchFamily="34" charset="0"/>
                            </a:rPr>
                            <m:t>1+</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𝛾</m:t>
                              </m:r>
                            </m:e>
                            <m:sub>
                              <m:r>
                                <a:rPr lang="en-US" b="0" i="1" smtClean="0">
                                  <a:latin typeface="Cambria Math" panose="02040503050406030204" pitchFamily="18" charset="0"/>
                                  <a:cs typeface="Arial" panose="020B0604020202020204" pitchFamily="34" charset="0"/>
                                </a:rPr>
                                <m:t>𝑜</m:t>
                              </m:r>
                            </m:sub>
                          </m:sSub>
                          <m:d>
                            <m:dPr>
                              <m:ctrlPr>
                                <a:rPr lang="en-US" b="0" i="1" smtClean="0">
                                  <a:latin typeface="Cambria Math" panose="02040503050406030204" pitchFamily="18" charset="0"/>
                                  <a:cs typeface="Arial" panose="020B0604020202020204" pitchFamily="34" charset="0"/>
                                </a:rPr>
                              </m:ctrlPr>
                            </m:dPr>
                            <m:e>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cs typeface="Arial" panose="020B0604020202020204" pitchFamily="34" charset="0"/>
                                        </a:rPr>
                                        <m:t>𝑏𝑠</m:t>
                                      </m:r>
                                    </m:sub>
                                  </m:sSub>
                                </m:num>
                                <m:den>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cs typeface="Arial" panose="020B0604020202020204" pitchFamily="34" charset="0"/>
                                        </a:rPr>
                                        <m:t>𝑏𝑐</m:t>
                                      </m:r>
                                    </m:sub>
                                  </m:sSub>
                                </m:den>
                              </m:f>
                              <m:r>
                                <a:rPr lang="en-US" i="1">
                                  <a:latin typeface="Cambria Math" panose="02040503050406030204" pitchFamily="18" charset="0"/>
                                  <a:cs typeface="Arial" panose="020B0604020202020204" pitchFamily="34" charset="0"/>
                                </a:rPr>
                                <m:t>−1</m:t>
                              </m:r>
                            </m:e>
                          </m:d>
                        </m:den>
                      </m:f>
                    </m:oMath>
                  </m:oMathPara>
                </a14:m>
                <a:endParaRPr lang="en-US" dirty="0">
                  <a:latin typeface="Arial" panose="020B0604020202020204" pitchFamily="34" charset="0"/>
                  <a:cs typeface="Arial" panose="020B0604020202020204" pitchFamily="34" charset="0"/>
                </a:endParaRPr>
              </a:p>
            </p:txBody>
          </p:sp>
        </mc:Choice>
        <mc:Fallback xmlns="">
          <p:sp>
            <p:nvSpPr>
              <p:cNvPr id="3" name="TextBox 2">
                <a:extLst>
                  <a:ext uri="{FF2B5EF4-FFF2-40B4-BE49-F238E27FC236}">
                    <a16:creationId xmlns:a16="http://schemas.microsoft.com/office/drawing/2014/main" id="{23BC04EF-E754-7A41-AA88-D274A547D9B6}"/>
                  </a:ext>
                </a:extLst>
              </p:cNvPr>
              <p:cNvSpPr txBox="1">
                <a:spLocks noRot="1" noChangeAspect="1" noMove="1" noResize="1" noEditPoints="1" noAdjustHandles="1" noChangeArrowheads="1" noChangeShapeType="1" noTextEdit="1"/>
              </p:cNvSpPr>
              <p:nvPr/>
            </p:nvSpPr>
            <p:spPr>
              <a:xfrm>
                <a:off x="881349" y="815248"/>
                <a:ext cx="2773901" cy="1069203"/>
              </a:xfrm>
              <a:prstGeom prst="rect">
                <a:avLst/>
              </a:prstGeom>
              <a:blipFill>
                <a:blip r:embed="rId2"/>
                <a:stretch>
                  <a:fillRect l="-1370" b="-47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4FAE818-E6FA-EE43-B930-AD8010660F0F}"/>
                  </a:ext>
                </a:extLst>
              </p:cNvPr>
              <p:cNvSpPr txBox="1"/>
              <p:nvPr/>
            </p:nvSpPr>
            <p:spPr>
              <a:xfrm>
                <a:off x="5199962" y="1210953"/>
                <a:ext cx="1267142" cy="289375"/>
              </a:xfrm>
              <a:prstGeom prst="rect">
                <a:avLst/>
              </a:prstGeom>
              <a:noFill/>
            </p:spPr>
            <p:txBody>
              <a:bodyPr wrap="none" lIns="0" tIns="0" rIns="0" bIns="0" rtlCol="0">
                <a:spAutoFit/>
              </a:bodyPr>
              <a:lstStyle/>
              <a:p>
                <a:pPr algn="l">
                  <a:lnSpc>
                    <a:spcPct val="114000"/>
                  </a:lnSpc>
                </a:pPr>
                <a14:m>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𝛾</m:t>
                        </m:r>
                      </m:e>
                      <m:sub>
                        <m:r>
                          <a:rPr lang="en-US" b="0" i="1" smtClean="0">
                            <a:latin typeface="Cambria Math" panose="02040503050406030204" pitchFamily="18" charset="0"/>
                            <a:cs typeface="Arial" panose="020B0604020202020204" pitchFamily="34" charset="0"/>
                          </a:rPr>
                          <m:t>𝑜</m:t>
                        </m:r>
                      </m:sub>
                    </m:sSub>
                    <m:r>
                      <a:rPr lang="en-US" b="0" i="1" smtClean="0">
                        <a:latin typeface="Cambria Math" panose="02040503050406030204" pitchFamily="18" charset="0"/>
                        <a:cs typeface="Arial" panose="020B0604020202020204" pitchFamily="34" charset="0"/>
                      </a:rPr>
                      <m:t>=0.0024</m:t>
                    </m:r>
                  </m:oMath>
                </a14:m>
                <a:r>
                  <a:rPr lang="en-US" dirty="0">
                    <a:latin typeface="Arial" panose="020B0604020202020204" pitchFamily="34" charset="0"/>
                    <a:cs typeface="Arial" panose="020B0604020202020204" pitchFamily="34" charset="0"/>
                  </a:rPr>
                  <a:t> </a:t>
                </a:r>
              </a:p>
            </p:txBody>
          </p:sp>
        </mc:Choice>
        <mc:Fallback xmlns="">
          <p:sp>
            <p:nvSpPr>
              <p:cNvPr id="6" name="TextBox 5">
                <a:extLst>
                  <a:ext uri="{FF2B5EF4-FFF2-40B4-BE49-F238E27FC236}">
                    <a16:creationId xmlns:a16="http://schemas.microsoft.com/office/drawing/2014/main" id="{04FAE818-E6FA-EE43-B930-AD8010660F0F}"/>
                  </a:ext>
                </a:extLst>
              </p:cNvPr>
              <p:cNvSpPr txBox="1">
                <a:spLocks noRot="1" noChangeAspect="1" noMove="1" noResize="1" noEditPoints="1" noAdjustHandles="1" noChangeArrowheads="1" noChangeShapeType="1" noTextEdit="1"/>
              </p:cNvSpPr>
              <p:nvPr/>
            </p:nvSpPr>
            <p:spPr>
              <a:xfrm>
                <a:off x="5199962" y="1210953"/>
                <a:ext cx="1267142" cy="289375"/>
              </a:xfrm>
              <a:prstGeom prst="rect">
                <a:avLst/>
              </a:prstGeom>
              <a:blipFill>
                <a:blip r:embed="rId3"/>
                <a:stretch>
                  <a:fillRect l="-6931" b="-25000"/>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73C64E93-1CBD-404D-9A88-335DA9466181}"/>
              </a:ext>
            </a:extLst>
          </p:cNvPr>
          <p:cNvSpPr txBox="1"/>
          <p:nvPr/>
        </p:nvSpPr>
        <p:spPr>
          <a:xfrm>
            <a:off x="855643" y="2051536"/>
            <a:ext cx="10778169" cy="1077283"/>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where </a:t>
            </a:r>
          </a:p>
          <a:p>
            <a:pPr algn="l">
              <a:lnSpc>
                <a:spcPct val="114000"/>
              </a:lnSpc>
            </a:pPr>
            <a:r>
              <a:rPr lang="en-US" sz="2000" dirty="0">
                <a:latin typeface="Symbol" pitchFamily="2" charset="2"/>
                <a:cs typeface="Arial" panose="020B0604020202020204" pitchFamily="34" charset="0"/>
              </a:rPr>
              <a:t>t</a:t>
            </a:r>
            <a:r>
              <a:rPr lang="en-US" baseline="-25000" dirty="0">
                <a:latin typeface="Arial" panose="020B0604020202020204" pitchFamily="34" charset="0"/>
                <a:cs typeface="Arial" panose="020B0604020202020204" pitchFamily="34" charset="0"/>
              </a:rPr>
              <a:t>bs</a:t>
            </a:r>
            <a:r>
              <a:rPr lang="en-US" dirty="0">
                <a:latin typeface="Arial" panose="020B0604020202020204" pitchFamily="34" charset="0"/>
                <a:cs typeface="Arial" panose="020B0604020202020204" pitchFamily="34" charset="0"/>
              </a:rPr>
              <a:t> is the bed shear stress associated with skin friction</a:t>
            </a:r>
          </a:p>
          <a:p>
            <a:pPr>
              <a:lnSpc>
                <a:spcPct val="114000"/>
              </a:lnSpc>
            </a:pPr>
            <a:r>
              <a:rPr lang="en-US" sz="2000" dirty="0">
                <a:latin typeface="Symbol" pitchFamily="2" charset="2"/>
                <a:cs typeface="Arial" panose="020B0604020202020204" pitchFamily="34" charset="0"/>
              </a:rPr>
              <a:t>t</a:t>
            </a:r>
            <a:r>
              <a:rPr lang="en-US" baseline="-25000" dirty="0">
                <a:latin typeface="Arial" panose="020B0604020202020204" pitchFamily="34" charset="0"/>
                <a:cs typeface="Arial" panose="020B0604020202020204" pitchFamily="34" charset="0"/>
              </a:rPr>
              <a:t>bc</a:t>
            </a:r>
            <a:r>
              <a:rPr lang="en-US" dirty="0">
                <a:latin typeface="Arial" panose="020B0604020202020204" pitchFamily="34" charset="0"/>
                <a:cs typeface="Arial" panose="020B0604020202020204" pitchFamily="34" charset="0"/>
              </a:rPr>
              <a:t> is the bed shear stress for the initiation of motion</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8DFBECE-F881-5A46-8606-F26DC2031FB6}"/>
                  </a:ext>
                </a:extLst>
              </p:cNvPr>
              <p:cNvSpPr txBox="1"/>
              <p:nvPr/>
            </p:nvSpPr>
            <p:spPr>
              <a:xfrm>
                <a:off x="855643" y="3276242"/>
                <a:ext cx="10778169"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reference height z = b where </a:t>
                </a: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r>
                      <a:rPr lang="en-US" b="0" i="1" smtClean="0">
                        <a:latin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cs typeface="Arial" panose="020B0604020202020204" pitchFamily="34" charset="0"/>
                          </a:rPr>
                        </m:ctrlPr>
                      </m:accPr>
                      <m:e>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𝑐</m:t>
                            </m:r>
                          </m:e>
                          <m:sub>
                            <m:r>
                              <a:rPr lang="en-US" b="0" i="1" smtClean="0">
                                <a:latin typeface="Cambria Math" panose="02040503050406030204" pitchFamily="18" charset="0"/>
                                <a:cs typeface="Arial" panose="020B0604020202020204" pitchFamily="34" charset="0"/>
                              </a:rPr>
                              <m:t>𝑏</m:t>
                            </m:r>
                          </m:sub>
                        </m:sSub>
                      </m:e>
                    </m:acc>
                  </m:oMath>
                </a14:m>
                <a:r>
                  <a:rPr lang="en-US" dirty="0">
                    <a:latin typeface="Arial" panose="020B0604020202020204" pitchFamily="34" charset="0"/>
                    <a:cs typeface="Arial" panose="020B0604020202020204" pitchFamily="34" charset="0"/>
                  </a:rPr>
                  <a:t> is evaluated at what the authors describe as the top of the bedload layer as </a:t>
                </a:r>
              </a:p>
            </p:txBody>
          </p:sp>
        </mc:Choice>
        <mc:Fallback xmlns="">
          <p:sp>
            <p:nvSpPr>
              <p:cNvPr id="12" name="TextBox 11">
                <a:extLst>
                  <a:ext uri="{FF2B5EF4-FFF2-40B4-BE49-F238E27FC236}">
                    <a16:creationId xmlns:a16="http://schemas.microsoft.com/office/drawing/2014/main" id="{88DFBECE-F881-5A46-8606-F26DC2031FB6}"/>
                  </a:ext>
                </a:extLst>
              </p:cNvPr>
              <p:cNvSpPr txBox="1">
                <a:spLocks noRot="1" noChangeAspect="1" noMove="1" noResize="1" noEditPoints="1" noAdjustHandles="1" noChangeArrowheads="1" noChangeShapeType="1" noTextEdit="1"/>
              </p:cNvSpPr>
              <p:nvPr/>
            </p:nvSpPr>
            <p:spPr>
              <a:xfrm>
                <a:off x="855643" y="3276242"/>
                <a:ext cx="10778169" cy="697499"/>
              </a:xfrm>
              <a:prstGeom prst="rect">
                <a:avLst/>
              </a:prstGeom>
              <a:blipFill>
                <a:blip r:embed="rId4"/>
                <a:stretch>
                  <a:fillRect l="-471" t="-3571" b="-1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98B27B3-696A-3C42-88E0-FDAC64A55FA5}"/>
                  </a:ext>
                </a:extLst>
              </p:cNvPr>
              <p:cNvSpPr txBox="1"/>
              <p:nvPr/>
            </p:nvSpPr>
            <p:spPr>
              <a:xfrm>
                <a:off x="881349" y="4016562"/>
                <a:ext cx="4133760" cy="1008096"/>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𝑏</m:t>
                          </m:r>
                        </m:num>
                        <m:den>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𝑘</m:t>
                              </m:r>
                            </m:e>
                            <m:sub>
                              <m:r>
                                <a:rPr lang="en-US" b="0" i="1" smtClean="0">
                                  <a:latin typeface="Cambria Math" panose="02040503050406030204" pitchFamily="18" charset="0"/>
                                  <a:cs typeface="Arial" panose="020B0604020202020204" pitchFamily="34" charset="0"/>
                                </a:rPr>
                                <m:t>𝑠</m:t>
                              </m:r>
                            </m:sub>
                          </m:sSub>
                        </m:den>
                      </m:f>
                      <m:r>
                        <a:rPr lang="en-US" b="0" i="1" smtClean="0">
                          <a:latin typeface="Cambria Math" panose="02040503050406030204" pitchFamily="18" charset="0"/>
                          <a:cs typeface="Arial" panose="020B0604020202020204" pitchFamily="34" charset="0"/>
                        </a:rPr>
                        <m:t>=</m:t>
                      </m:r>
                      <m:d>
                        <m:dPr>
                          <m:begChr m:val="{"/>
                          <m:endChr m:val=""/>
                          <m:ctrlPr>
                            <a:rPr lang="en-US" b="0" i="1" smtClean="0">
                              <a:latin typeface="Cambria Math" panose="02040503050406030204" pitchFamily="18" charset="0"/>
                              <a:cs typeface="Arial" panose="020B0604020202020204" pitchFamily="34" charset="0"/>
                            </a:rPr>
                          </m:ctrlPr>
                        </m:dPr>
                        <m:e>
                          <m:m>
                            <m:mPr>
                              <m:mcs>
                                <m:mc>
                                  <m:mcPr>
                                    <m:count m:val="3"/>
                                    <m:mcJc m:val="center"/>
                                  </m:mcPr>
                                </m:mc>
                              </m:mcs>
                              <m:ctrlPr>
                                <a:rPr lang="en-US" b="0" i="1" smtClean="0">
                                  <a:latin typeface="Cambria Math" panose="02040503050406030204" pitchFamily="18" charset="0"/>
                                  <a:cs typeface="Arial" panose="020B0604020202020204" pitchFamily="34" charset="0"/>
                                </a:rPr>
                              </m:ctrlPr>
                            </m:mPr>
                            <m:mr>
                              <m:e>
                                <m:r>
                                  <m:rPr>
                                    <m:brk m:alnAt="7"/>
                                  </m:rPr>
                                  <a:rPr lang="en-US" b="0" i="1" smtClean="0">
                                    <a:latin typeface="Cambria Math" panose="02040503050406030204" pitchFamily="18" charset="0"/>
                                    <a:cs typeface="Arial" panose="020B0604020202020204" pitchFamily="34" charset="0"/>
                                  </a:rPr>
                                  <m:t>1</m:t>
                                </m:r>
                              </m:e>
                              <m:e>
                                <m:r>
                                  <a:rPr lang="en-US" b="0" i="1" smtClean="0">
                                    <a:latin typeface="Cambria Math" panose="02040503050406030204" pitchFamily="18" charset="0"/>
                                    <a:cs typeface="Arial" panose="020B0604020202020204" pitchFamily="34" charset="0"/>
                                  </a:rPr>
                                  <m:t>𝑓𝑜𝑟</m:t>
                                </m:r>
                              </m:e>
                              <m:e>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𝑏𝑠</m:t>
                                    </m:r>
                                  </m:sub>
                                </m:sSub>
                                <m:r>
                                  <a:rPr lang="en-US" b="0" i="1" smtClean="0">
                                    <a:latin typeface="Cambria Math" panose="02040503050406030204" pitchFamily="18" charset="0"/>
                                    <a:cs typeface="Arial" panose="020B0604020202020204" pitchFamily="34" charset="0"/>
                                  </a:rPr>
                                  <m:t>&lt;</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cs typeface="Arial" panose="020B0604020202020204" pitchFamily="34" charset="0"/>
                                      </a:rPr>
                                      <m:t>𝑏</m:t>
                                    </m:r>
                                    <m:r>
                                      <a:rPr lang="en-US" b="0" i="1" smtClean="0">
                                        <a:latin typeface="Cambria Math" panose="02040503050406030204" pitchFamily="18" charset="0"/>
                                        <a:cs typeface="Arial" panose="020B0604020202020204" pitchFamily="34" charset="0"/>
                                      </a:rPr>
                                      <m:t>𝑐</m:t>
                                    </m:r>
                                  </m:sub>
                                </m:sSub>
                              </m:e>
                            </m:mr>
                            <m:mr>
                              <m:e>
                                <m:r>
                                  <a:rPr lang="en-US" b="0" i="1" smtClean="0">
                                    <a:latin typeface="Cambria Math" panose="02040503050406030204" pitchFamily="18" charset="0"/>
                                    <a:cs typeface="Arial" panose="020B0604020202020204" pitchFamily="34" charset="0"/>
                                  </a:rPr>
                                  <m:t>1+26.3</m:t>
                                </m:r>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𝑏𝑠</m:t>
                                        </m:r>
                                      </m:sub>
                                    </m:sSub>
                                  </m:num>
                                  <m:den>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𝑅𝑔</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𝑘</m:t>
                                        </m:r>
                                      </m:e>
                                      <m:sub>
                                        <m:r>
                                          <a:rPr lang="en-US" b="0" i="1" smtClean="0">
                                            <a:latin typeface="Cambria Math" panose="02040503050406030204" pitchFamily="18" charset="0"/>
                                            <a:ea typeface="Cambria Math" panose="02040503050406030204" pitchFamily="18" charset="0"/>
                                            <a:cs typeface="Arial" panose="020B0604020202020204" pitchFamily="34" charset="0"/>
                                          </a:rPr>
                                          <m:t>𝑠</m:t>
                                        </m:r>
                                      </m:sub>
                                    </m:sSub>
                                  </m:den>
                                </m:f>
                              </m:e>
                              <m:e>
                                <m:r>
                                  <a:rPr lang="en-US" b="0" i="1" smtClean="0">
                                    <a:latin typeface="Cambria Math" panose="02040503050406030204" pitchFamily="18" charset="0"/>
                                    <a:cs typeface="Arial" panose="020B0604020202020204" pitchFamily="34" charset="0"/>
                                  </a:rPr>
                                  <m:t>𝑓𝑜𝑟</m:t>
                                </m:r>
                              </m:e>
                              <m:e>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cs typeface="Arial" panose="020B0604020202020204" pitchFamily="34" charset="0"/>
                                      </a:rPr>
                                      <m:t>𝑏𝑠</m:t>
                                    </m:r>
                                  </m:sub>
                                </m:sSub>
                                <m:r>
                                  <a:rPr lang="en-US"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cs typeface="Arial" panose="020B0604020202020204" pitchFamily="34" charset="0"/>
                                      </a:rPr>
                                      <m:t>𝑏𝑐</m:t>
                                    </m:r>
                                  </m:sub>
                                </m:sSub>
                              </m:e>
                            </m:mr>
                          </m:m>
                        </m:e>
                      </m:d>
                    </m:oMath>
                  </m:oMathPara>
                </a14:m>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498B27B3-696A-3C42-88E0-FDAC64A55FA5}"/>
                  </a:ext>
                </a:extLst>
              </p:cNvPr>
              <p:cNvSpPr txBox="1">
                <a:spLocks noRot="1" noChangeAspect="1" noMove="1" noResize="1" noEditPoints="1" noAdjustHandles="1" noChangeArrowheads="1" noChangeShapeType="1" noTextEdit="1"/>
              </p:cNvSpPr>
              <p:nvPr/>
            </p:nvSpPr>
            <p:spPr>
              <a:xfrm>
                <a:off x="881349" y="4016562"/>
                <a:ext cx="4133760" cy="1008096"/>
              </a:xfrm>
              <a:prstGeom prst="rect">
                <a:avLst/>
              </a:prstGeom>
              <a:blipFill>
                <a:blip r:embed="rId5"/>
                <a:stretch>
                  <a:fillRect l="-24771" t="-190000" b="-288750"/>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CA3485C0-D348-7B48-A0EB-7B6BC31E0EF8}"/>
              </a:ext>
            </a:extLst>
          </p:cNvPr>
          <p:cNvSpPr txBox="1"/>
          <p:nvPr/>
        </p:nvSpPr>
        <p:spPr>
          <a:xfrm>
            <a:off x="6096000" y="4329756"/>
            <a:ext cx="4031873" cy="381708"/>
          </a:xfrm>
          <a:prstGeom prst="rect">
            <a:avLst/>
          </a:prstGeom>
          <a:noFill/>
        </p:spPr>
        <p:txBody>
          <a:bodyPr wrap="none" rtlCol="0">
            <a:spAutoFit/>
          </a:bodyPr>
          <a:lstStyle/>
          <a:p>
            <a:pPr algn="l">
              <a:lnSpc>
                <a:spcPct val="114000"/>
              </a:lnSpc>
            </a:pPr>
            <a:r>
              <a:rPr lang="en-US" dirty="0">
                <a:latin typeface="Arial" panose="020B0604020202020204" pitchFamily="34" charset="0"/>
                <a:cs typeface="Arial" panose="020B0604020202020204" pitchFamily="34" charset="0"/>
              </a:rPr>
              <a:t>where </a:t>
            </a:r>
            <a:r>
              <a:rPr lang="en-US" dirty="0" err="1">
                <a:latin typeface="Arial" panose="020B0604020202020204" pitchFamily="34" charset="0"/>
                <a:cs typeface="Arial" panose="020B0604020202020204" pitchFamily="34" charset="0"/>
              </a:rPr>
              <a:t>k</a:t>
            </a:r>
            <a:r>
              <a:rPr lang="en-US" baseline="-25000" dirty="0" err="1">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is the grain roughness height</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35E0262-763E-A54C-BAD2-BD756967A51E}"/>
                  </a:ext>
                </a:extLst>
              </p:cNvPr>
              <p:cNvSpPr txBox="1"/>
              <p:nvPr/>
            </p:nvSpPr>
            <p:spPr>
              <a:xfrm>
                <a:off x="846921" y="5208002"/>
                <a:ext cx="10498157" cy="752578"/>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Parker (2004) suggests to compute </a:t>
                </a:r>
                <a:r>
                  <a:rPr lang="en-US" sz="2000" dirty="0">
                    <a:latin typeface="Symbol" pitchFamily="2" charset="2"/>
                    <a:cs typeface="Arial" panose="020B0604020202020204" pitchFamily="34" charset="0"/>
                  </a:rPr>
                  <a:t>t</a:t>
                </a:r>
                <a:r>
                  <a:rPr lang="en-US" baseline="-25000" dirty="0">
                    <a:latin typeface="Arial" panose="020B0604020202020204" pitchFamily="34" charset="0"/>
                    <a:cs typeface="Arial" panose="020B0604020202020204" pitchFamily="34" charset="0"/>
                  </a:rPr>
                  <a:t>bc</a:t>
                </a:r>
                <a:r>
                  <a:rPr lang="en-US" dirty="0">
                    <a:latin typeface="Arial" panose="020B0604020202020204" pitchFamily="34" charset="0"/>
                    <a:cs typeface="Arial" panose="020B0604020202020204" pitchFamily="34" charset="0"/>
                  </a:rPr>
                  <a:t> with the </a:t>
                </a:r>
                <a:r>
                  <a:rPr lang="en-US" dirty="0" err="1">
                    <a:latin typeface="Arial" panose="020B0604020202020204" pitchFamily="34" charset="0"/>
                    <a:cs typeface="Arial" panose="020B0604020202020204" pitchFamily="34" charset="0"/>
                  </a:rPr>
                  <a:t>Brownlie</a:t>
                </a:r>
                <a:r>
                  <a:rPr lang="en-US" dirty="0">
                    <a:latin typeface="Arial" panose="020B0604020202020204" pitchFamily="34" charset="0"/>
                    <a:cs typeface="Arial" panose="020B0604020202020204" pitchFamily="34" charset="0"/>
                  </a:rPr>
                  <a:t> (1981) relation for the Shields curve as </a:t>
                </a:r>
                <a14:m>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𝑅𝑔𝐷</m:t>
                    </m:r>
                    <m:sSubSup>
                      <m:sSub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Sup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𝑐</m:t>
                        </m:r>
                      </m:sub>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bSup>
                  </m:oMath>
                </a14:m>
                <a:endParaRPr lang="en-US" dirty="0">
                  <a:latin typeface="Arial" panose="020B0604020202020204" pitchFamily="34" charset="0"/>
                  <a:cs typeface="Arial" panose="020B0604020202020204" pitchFamily="34" charset="0"/>
                </a:endParaRPr>
              </a:p>
            </p:txBody>
          </p:sp>
        </mc:Choice>
        <mc:Fallback xmlns="">
          <p:sp>
            <p:nvSpPr>
              <p:cNvPr id="10" name="TextBox 9">
                <a:extLst>
                  <a:ext uri="{FF2B5EF4-FFF2-40B4-BE49-F238E27FC236}">
                    <a16:creationId xmlns:a16="http://schemas.microsoft.com/office/drawing/2014/main" id="{435E0262-763E-A54C-BAD2-BD756967A51E}"/>
                  </a:ext>
                </a:extLst>
              </p:cNvPr>
              <p:cNvSpPr txBox="1">
                <a:spLocks noRot="1" noChangeAspect="1" noMove="1" noResize="1" noEditPoints="1" noAdjustHandles="1" noChangeArrowheads="1" noChangeShapeType="1" noTextEdit="1"/>
              </p:cNvSpPr>
              <p:nvPr/>
            </p:nvSpPr>
            <p:spPr>
              <a:xfrm>
                <a:off x="846921" y="5208002"/>
                <a:ext cx="10498157" cy="752578"/>
              </a:xfrm>
              <a:prstGeom prst="rect">
                <a:avLst/>
              </a:prstGeom>
              <a:blipFill>
                <a:blip r:embed="rId6"/>
                <a:stretch>
                  <a:fillRect l="-483" t="-1639" b="-32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805C186-E5C2-2D44-B65E-FD6BE5C4D6E1}"/>
                  </a:ext>
                </a:extLst>
              </p:cNvPr>
              <p:cNvSpPr txBox="1"/>
              <p:nvPr/>
            </p:nvSpPr>
            <p:spPr>
              <a:xfrm>
                <a:off x="881349" y="6031578"/>
                <a:ext cx="3655553" cy="400879"/>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cs typeface="Arial" panose="020B0604020202020204" pitchFamily="34" charset="0"/>
                            </a:rPr>
                          </m:ctrlPr>
                        </m:sSubSup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𝑐</m:t>
                          </m:r>
                        </m:sub>
                        <m:sup>
                          <m:r>
                            <a:rPr lang="en-US" b="0" i="1" smtClean="0">
                              <a:latin typeface="Cambria Math" panose="02040503050406030204" pitchFamily="18" charset="0"/>
                              <a:cs typeface="Arial" panose="020B0604020202020204" pitchFamily="34" charset="0"/>
                            </a:rPr>
                            <m:t>∗</m:t>
                          </m:r>
                        </m:sup>
                      </m:sSubSup>
                      <m:r>
                        <a:rPr lang="en-US" b="0" i="1" smtClean="0">
                          <a:latin typeface="Cambria Math" panose="02040503050406030204" pitchFamily="18" charset="0"/>
                          <a:cs typeface="Arial" panose="020B0604020202020204" pitchFamily="34" charset="0"/>
                        </a:rPr>
                        <m:t>=0.22</m:t>
                      </m:r>
                      <m:sSubSup>
                        <m:sSubSupPr>
                          <m:ctrlPr>
                            <a:rPr lang="en-US" b="0"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cs typeface="Arial" panose="020B0604020202020204" pitchFamily="34" charset="0"/>
                            </a:rPr>
                            <m:t>𝑅𝑒</m:t>
                          </m:r>
                        </m:e>
                        <m:sub>
                          <m:r>
                            <a:rPr lang="en-US" b="0" i="1" smtClean="0">
                              <a:latin typeface="Cambria Math" panose="02040503050406030204" pitchFamily="18" charset="0"/>
                              <a:cs typeface="Arial" panose="020B0604020202020204" pitchFamily="34" charset="0"/>
                            </a:rPr>
                            <m:t>𝑝</m:t>
                          </m:r>
                        </m:sub>
                        <m:sup>
                          <m:r>
                            <a:rPr lang="en-US" b="0" i="1" smtClean="0">
                              <a:latin typeface="Cambria Math" panose="02040503050406030204" pitchFamily="18" charset="0"/>
                              <a:cs typeface="Arial" panose="020B0604020202020204" pitchFamily="34" charset="0"/>
                            </a:rPr>
                            <m:t>−0.6</m:t>
                          </m:r>
                        </m:sup>
                      </m:sSubSup>
                      <m:r>
                        <a:rPr lang="en-US" b="0" i="1" smtClean="0">
                          <a:latin typeface="Cambria Math" panose="02040503050406030204" pitchFamily="18" charset="0"/>
                          <a:cs typeface="Arial" panose="020B0604020202020204" pitchFamily="34" charset="0"/>
                        </a:rPr>
                        <m:t>+0.06</m:t>
                      </m:r>
                      <m:r>
                        <a:rPr lang="en-US"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10</m:t>
                          </m:r>
                        </m:e>
                        <m:sup>
                          <m:r>
                            <a:rPr lang="en-US" b="0" i="1" smtClean="0">
                              <a:latin typeface="Cambria Math" panose="02040503050406030204" pitchFamily="18" charset="0"/>
                              <a:ea typeface="Cambria Math" panose="02040503050406030204" pitchFamily="18" charset="0"/>
                              <a:cs typeface="Arial" panose="020B0604020202020204" pitchFamily="34" charset="0"/>
                            </a:rPr>
                            <m:t>−7.7</m:t>
                          </m:r>
                          <m:sSubSup>
                            <m:sSub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SupPr>
                            <m:e>
                              <m:r>
                                <a:rPr lang="en-US" b="0" i="1" smtClean="0">
                                  <a:latin typeface="Cambria Math" panose="02040503050406030204" pitchFamily="18" charset="0"/>
                                  <a:ea typeface="Cambria Math" panose="02040503050406030204" pitchFamily="18" charset="0"/>
                                  <a:cs typeface="Arial" panose="020B0604020202020204" pitchFamily="34" charset="0"/>
                                </a:rPr>
                                <m:t>𝑅𝑒</m:t>
                              </m:r>
                            </m:e>
                            <m:sub>
                              <m:r>
                                <a:rPr lang="en-US" b="0" i="1" smtClean="0">
                                  <a:latin typeface="Cambria Math" panose="02040503050406030204" pitchFamily="18" charset="0"/>
                                  <a:ea typeface="Cambria Math" panose="02040503050406030204" pitchFamily="18" charset="0"/>
                                  <a:cs typeface="Arial" panose="020B0604020202020204" pitchFamily="34" charset="0"/>
                                </a:rPr>
                                <m:t>𝑝</m:t>
                              </m:r>
                            </m:sub>
                            <m:sup>
                              <m:r>
                                <a:rPr lang="en-US" b="0" i="1" smtClean="0">
                                  <a:latin typeface="Cambria Math" panose="02040503050406030204" pitchFamily="18" charset="0"/>
                                  <a:ea typeface="Cambria Math" panose="02040503050406030204" pitchFamily="18" charset="0"/>
                                  <a:cs typeface="Arial" panose="020B0604020202020204" pitchFamily="34" charset="0"/>
                                </a:rPr>
                                <m:t>−0.6</m:t>
                              </m:r>
                            </m:sup>
                          </m:sSubSup>
                        </m:sup>
                      </m:sSup>
                    </m:oMath>
                  </m:oMathPara>
                </a14:m>
                <a:endParaRPr lang="en-US" dirty="0">
                  <a:latin typeface="Arial" panose="020B0604020202020204" pitchFamily="34" charset="0"/>
                  <a:cs typeface="Arial" panose="020B0604020202020204" pitchFamily="34" charset="0"/>
                </a:endParaRPr>
              </a:p>
            </p:txBody>
          </p:sp>
        </mc:Choice>
        <mc:Fallback xmlns="">
          <p:sp>
            <p:nvSpPr>
              <p:cNvPr id="11" name="TextBox 10">
                <a:extLst>
                  <a:ext uri="{FF2B5EF4-FFF2-40B4-BE49-F238E27FC236}">
                    <a16:creationId xmlns:a16="http://schemas.microsoft.com/office/drawing/2014/main" id="{6805C186-E5C2-2D44-B65E-FD6BE5C4D6E1}"/>
                  </a:ext>
                </a:extLst>
              </p:cNvPr>
              <p:cNvSpPr txBox="1">
                <a:spLocks noRot="1" noChangeAspect="1" noMove="1" noResize="1" noEditPoints="1" noAdjustHandles="1" noChangeArrowheads="1" noChangeShapeType="1" noTextEdit="1"/>
              </p:cNvSpPr>
              <p:nvPr/>
            </p:nvSpPr>
            <p:spPr>
              <a:xfrm>
                <a:off x="881349" y="6031578"/>
                <a:ext cx="3655553" cy="400879"/>
              </a:xfrm>
              <a:prstGeom prst="rect">
                <a:avLst/>
              </a:prstGeom>
              <a:blipFill>
                <a:blip r:embed="rId7"/>
                <a:stretch>
                  <a:fillRect b="-90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25B1668-2310-5445-9C24-03D9C2D1C99E}"/>
                  </a:ext>
                </a:extLst>
              </p:cNvPr>
              <p:cNvSpPr txBox="1"/>
              <p:nvPr/>
            </p:nvSpPr>
            <p:spPr>
              <a:xfrm>
                <a:off x="6467104" y="5760764"/>
                <a:ext cx="1531510" cy="676595"/>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𝑅𝑒</m:t>
                          </m:r>
                        </m:e>
                        <m:sub>
                          <m:r>
                            <a:rPr lang="en-US" b="0" i="1" smtClean="0">
                              <a:latin typeface="Cambria Math" panose="02040503050406030204" pitchFamily="18" charset="0"/>
                              <a:cs typeface="Arial" panose="020B0604020202020204" pitchFamily="34" charset="0"/>
                            </a:rPr>
                            <m:t>𝑝</m:t>
                          </m:r>
                        </m:sub>
                      </m:sSub>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ad>
                            <m:radPr>
                              <m:degHide m:val="on"/>
                              <m:ctrlPr>
                                <a:rPr lang="en-US" b="0" i="1" smtClean="0">
                                  <a:latin typeface="Cambria Math" panose="02040503050406030204" pitchFamily="18" charset="0"/>
                                  <a:cs typeface="Arial" panose="020B0604020202020204" pitchFamily="34" charset="0"/>
                                </a:rPr>
                              </m:ctrlPr>
                            </m:radPr>
                            <m:deg/>
                            <m:e>
                              <m:r>
                                <a:rPr lang="en-US" b="0" i="1" smtClean="0">
                                  <a:latin typeface="Cambria Math" panose="02040503050406030204" pitchFamily="18" charset="0"/>
                                  <a:cs typeface="Arial" panose="020B0604020202020204" pitchFamily="34" charset="0"/>
                                </a:rPr>
                                <m:t>𝑅𝑔𝐷</m:t>
                              </m:r>
                            </m:e>
                          </m:rad>
                          <m:r>
                            <a:rPr lang="en-US" b="0" i="1" smtClean="0">
                              <a:latin typeface="Cambria Math" panose="02040503050406030204" pitchFamily="18" charset="0"/>
                              <a:cs typeface="Arial" panose="020B0604020202020204" pitchFamily="34" charset="0"/>
                            </a:rPr>
                            <m:t>𝐷</m:t>
                          </m:r>
                        </m:num>
                        <m:den>
                          <m:r>
                            <a:rPr lang="en-US" b="0" i="1" smtClean="0">
                              <a:latin typeface="Cambria Math" panose="02040503050406030204" pitchFamily="18" charset="0"/>
                              <a:ea typeface="Cambria Math" panose="02040503050406030204" pitchFamily="18" charset="0"/>
                              <a:cs typeface="Arial" panose="020B0604020202020204" pitchFamily="34" charset="0"/>
                            </a:rPr>
                            <m:t>𝜈</m:t>
                          </m:r>
                        </m:den>
                      </m:f>
                    </m:oMath>
                  </m:oMathPara>
                </a14:m>
                <a:endParaRPr lang="en-US" dirty="0">
                  <a:latin typeface="Arial" panose="020B0604020202020204" pitchFamily="34" charset="0"/>
                  <a:cs typeface="Arial" panose="020B0604020202020204" pitchFamily="34" charset="0"/>
                </a:endParaRPr>
              </a:p>
            </p:txBody>
          </p:sp>
        </mc:Choice>
        <mc:Fallback xmlns="">
          <p:sp>
            <p:nvSpPr>
              <p:cNvPr id="13" name="TextBox 12">
                <a:extLst>
                  <a:ext uri="{FF2B5EF4-FFF2-40B4-BE49-F238E27FC236}">
                    <a16:creationId xmlns:a16="http://schemas.microsoft.com/office/drawing/2014/main" id="{A25B1668-2310-5445-9C24-03D9C2D1C99E}"/>
                  </a:ext>
                </a:extLst>
              </p:cNvPr>
              <p:cNvSpPr txBox="1">
                <a:spLocks noRot="1" noChangeAspect="1" noMove="1" noResize="1" noEditPoints="1" noAdjustHandles="1" noChangeArrowheads="1" noChangeShapeType="1" noTextEdit="1"/>
              </p:cNvSpPr>
              <p:nvPr/>
            </p:nvSpPr>
            <p:spPr>
              <a:xfrm>
                <a:off x="6467104" y="5760764"/>
                <a:ext cx="1531510" cy="676595"/>
              </a:xfrm>
              <a:prstGeom prst="rect">
                <a:avLst/>
              </a:prstGeom>
              <a:blipFill>
                <a:blip r:embed="rId8"/>
                <a:stretch>
                  <a:fillRect l="-3306" r="-2479" b="-5556"/>
                </a:stretch>
              </a:blipFill>
            </p:spPr>
            <p:txBody>
              <a:bodyPr/>
              <a:lstStyle/>
              <a:p>
                <a:r>
                  <a:rPr lang="en-US">
                    <a:noFill/>
                  </a:rPr>
                  <a:t> </a:t>
                </a:r>
              </a:p>
            </p:txBody>
          </p:sp>
        </mc:Fallback>
      </mc:AlternateContent>
    </p:spTree>
    <p:extLst>
      <p:ext uri="{BB962C8B-B14F-4D97-AF65-F5344CB8AC3E}">
        <p14:creationId xmlns:p14="http://schemas.microsoft.com/office/powerpoint/2010/main" val="3947848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8</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Van Rijn entrainment relation for uniform material</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3BC04EF-E754-7A41-AA88-D274A547D9B6}"/>
                  </a:ext>
                </a:extLst>
              </p:cNvPr>
              <p:cNvSpPr txBox="1"/>
              <p:nvPr/>
            </p:nvSpPr>
            <p:spPr>
              <a:xfrm>
                <a:off x="881349" y="815248"/>
                <a:ext cx="3240246" cy="723468"/>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cs typeface="Arial" panose="020B0604020202020204" pitchFamily="34" charset="0"/>
                        </a:rPr>
                        <m:t>E</m:t>
                      </m:r>
                      <m:r>
                        <a:rPr lang="en-US" b="0" i="0"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0.015</m:t>
                      </m:r>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𝐷</m:t>
                              </m:r>
                            </m:e>
                            <m:sub>
                              <m:r>
                                <a:rPr lang="en-US" b="0" i="1" smtClean="0">
                                  <a:latin typeface="Cambria Math" panose="02040503050406030204" pitchFamily="18" charset="0"/>
                                  <a:cs typeface="Arial" panose="020B0604020202020204" pitchFamily="34" charset="0"/>
                                </a:rPr>
                                <m:t>50</m:t>
                              </m:r>
                            </m:sub>
                          </m:sSub>
                        </m:num>
                        <m:den>
                          <m:r>
                            <a:rPr lang="en-US" b="0" i="1" smtClean="0">
                              <a:latin typeface="Cambria Math" panose="02040503050406030204" pitchFamily="18" charset="0"/>
                              <a:cs typeface="Arial" panose="020B0604020202020204" pitchFamily="34" charset="0"/>
                            </a:rPr>
                            <m:t>𝑏</m:t>
                          </m:r>
                        </m:den>
                      </m:f>
                      <m:sSup>
                        <m:sSupPr>
                          <m:ctrlPr>
                            <a:rPr lang="en-US" b="0" i="1" smtClean="0">
                              <a:latin typeface="Cambria Math" panose="02040503050406030204" pitchFamily="18" charset="0"/>
                              <a:cs typeface="Arial" panose="020B0604020202020204" pitchFamily="34" charset="0"/>
                            </a:rPr>
                          </m:ctrlPr>
                        </m:sSupPr>
                        <m:e>
                          <m:d>
                            <m:dPr>
                              <m:ctrlPr>
                                <a:rPr lang="en-US" b="0" i="1" smtClean="0">
                                  <a:latin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cs typeface="Arial" panose="020B0604020202020204" pitchFamily="34" charset="0"/>
                                    </a:rPr>
                                  </m:ctrlPr>
                                </m:fPr>
                                <m:num>
                                  <m:sSubSup>
                                    <m:sSubSupPr>
                                      <m:ctrlPr>
                                        <a:rPr lang="en-US" b="0"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𝑠</m:t>
                                      </m:r>
                                    </m:sub>
                                    <m:sup>
                                      <m:r>
                                        <a:rPr lang="en-US" b="0" i="1" smtClean="0">
                                          <a:latin typeface="Cambria Math" panose="02040503050406030204" pitchFamily="18" charset="0"/>
                                          <a:cs typeface="Arial" panose="020B0604020202020204" pitchFamily="34" charset="0"/>
                                        </a:rPr>
                                        <m:t>∗</m:t>
                                      </m:r>
                                    </m:sup>
                                  </m:sSubSup>
                                </m:num>
                                <m:den>
                                  <m:sSubSup>
                                    <m:sSubSupPr>
                                      <m:ctrlPr>
                                        <a:rPr lang="en-US" b="0"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𝑐</m:t>
                                      </m:r>
                                    </m:sub>
                                    <m:sup>
                                      <m:r>
                                        <a:rPr lang="en-US" b="0" i="1" smtClean="0">
                                          <a:latin typeface="Cambria Math" panose="02040503050406030204" pitchFamily="18" charset="0"/>
                                          <a:cs typeface="Arial" panose="020B0604020202020204" pitchFamily="34" charset="0"/>
                                        </a:rPr>
                                        <m:t>∗</m:t>
                                      </m:r>
                                    </m:sup>
                                  </m:sSubSup>
                                </m:den>
                              </m:f>
                              <m:r>
                                <a:rPr lang="en-US" b="0" i="1" smtClean="0">
                                  <a:latin typeface="Cambria Math" panose="02040503050406030204" pitchFamily="18" charset="0"/>
                                  <a:cs typeface="Arial" panose="020B0604020202020204" pitchFamily="34" charset="0"/>
                                </a:rPr>
                                <m:t>−1</m:t>
                              </m:r>
                            </m:e>
                          </m:d>
                        </m:e>
                        <m:sup>
                          <m:r>
                            <a:rPr lang="en-US" b="0" i="1" smtClean="0">
                              <a:latin typeface="Cambria Math" panose="02040503050406030204" pitchFamily="18" charset="0"/>
                              <a:cs typeface="Arial" panose="020B0604020202020204" pitchFamily="34" charset="0"/>
                            </a:rPr>
                            <m:t>1.5</m:t>
                          </m:r>
                        </m:sup>
                      </m:sSup>
                      <m:sSubSup>
                        <m:sSubSupPr>
                          <m:ctrlPr>
                            <a:rPr lang="en-US" b="0"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cs typeface="Arial" panose="020B0604020202020204" pitchFamily="34" charset="0"/>
                            </a:rPr>
                            <m:t>𝑅𝑒</m:t>
                          </m:r>
                        </m:e>
                        <m:sub>
                          <m:r>
                            <a:rPr lang="en-US" b="0" i="1" smtClean="0">
                              <a:latin typeface="Cambria Math" panose="02040503050406030204" pitchFamily="18" charset="0"/>
                              <a:cs typeface="Arial" panose="020B0604020202020204" pitchFamily="34" charset="0"/>
                            </a:rPr>
                            <m:t>𝑝</m:t>
                          </m:r>
                        </m:sub>
                        <m:sup>
                          <m:r>
                            <a:rPr lang="en-US" b="0" i="1" smtClean="0">
                              <a:latin typeface="Cambria Math" panose="02040503050406030204" pitchFamily="18" charset="0"/>
                              <a:cs typeface="Arial" panose="020B0604020202020204" pitchFamily="34" charset="0"/>
                            </a:rPr>
                            <m:t>−0.2</m:t>
                          </m:r>
                        </m:sup>
                      </m:sSubSup>
                    </m:oMath>
                  </m:oMathPara>
                </a14:m>
                <a:endParaRPr lang="en-US" dirty="0">
                  <a:latin typeface="Arial" panose="020B0604020202020204" pitchFamily="34" charset="0"/>
                  <a:cs typeface="Arial" panose="020B0604020202020204" pitchFamily="34" charset="0"/>
                </a:endParaRPr>
              </a:p>
            </p:txBody>
          </p:sp>
        </mc:Choice>
        <mc:Fallback xmlns="">
          <p:sp>
            <p:nvSpPr>
              <p:cNvPr id="3" name="TextBox 2">
                <a:extLst>
                  <a:ext uri="{FF2B5EF4-FFF2-40B4-BE49-F238E27FC236}">
                    <a16:creationId xmlns:a16="http://schemas.microsoft.com/office/drawing/2014/main" id="{23BC04EF-E754-7A41-AA88-D274A547D9B6}"/>
                  </a:ext>
                </a:extLst>
              </p:cNvPr>
              <p:cNvSpPr txBox="1">
                <a:spLocks noRot="1" noChangeAspect="1" noMove="1" noResize="1" noEditPoints="1" noAdjustHandles="1" noChangeArrowheads="1" noChangeShapeType="1" noTextEdit="1"/>
              </p:cNvSpPr>
              <p:nvPr/>
            </p:nvSpPr>
            <p:spPr>
              <a:xfrm>
                <a:off x="881349" y="815248"/>
                <a:ext cx="3240246" cy="723468"/>
              </a:xfrm>
              <a:prstGeom prst="rect">
                <a:avLst/>
              </a:prstGeom>
              <a:blipFill>
                <a:blip r:embed="rId2"/>
                <a:stretch>
                  <a:fillRect l="-1172" b="-70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8DFBECE-F881-5A46-8606-F26DC2031FB6}"/>
                  </a:ext>
                </a:extLst>
              </p:cNvPr>
              <p:cNvSpPr txBox="1"/>
              <p:nvPr/>
            </p:nvSpPr>
            <p:spPr>
              <a:xfrm>
                <a:off x="846921" y="1820142"/>
                <a:ext cx="10778169" cy="2311530"/>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reference height z = b where </a:t>
                </a: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r>
                      <a:rPr lang="en-US" b="0" i="1" smtClean="0">
                        <a:latin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cs typeface="Arial" panose="020B0604020202020204" pitchFamily="34" charset="0"/>
                          </a:rPr>
                        </m:ctrlPr>
                      </m:accPr>
                      <m:e>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𝑐</m:t>
                            </m:r>
                          </m:e>
                          <m:sub>
                            <m:r>
                              <a:rPr lang="en-US" b="0" i="1" smtClean="0">
                                <a:latin typeface="Cambria Math" panose="02040503050406030204" pitchFamily="18" charset="0"/>
                                <a:cs typeface="Arial" panose="020B0604020202020204" pitchFamily="34" charset="0"/>
                              </a:rPr>
                              <m:t>𝑏</m:t>
                            </m:r>
                          </m:sub>
                        </m:sSub>
                      </m:e>
                    </m:acc>
                  </m:oMath>
                </a14:m>
                <a:r>
                  <a:rPr lang="en-US" dirty="0">
                    <a:latin typeface="Arial" panose="020B0604020202020204" pitchFamily="34" charset="0"/>
                    <a:cs typeface="Arial" panose="020B0604020202020204" pitchFamily="34" charset="0"/>
                  </a:rPr>
                  <a:t> is specified as follows</a:t>
                </a:r>
              </a:p>
              <a:p>
                <a:pPr algn="l">
                  <a:lnSpc>
                    <a:spcPct val="114000"/>
                  </a:lnSpc>
                </a:pPr>
                <a:endParaRPr lang="en-US" dirty="0">
                  <a:latin typeface="Arial" panose="020B0604020202020204" pitchFamily="34" charset="0"/>
                  <a:cs typeface="Arial" panose="020B0604020202020204" pitchFamily="34" charset="0"/>
                </a:endParaRPr>
              </a:p>
              <a:p>
                <a:pPr>
                  <a:lnSpc>
                    <a:spcPct val="114000"/>
                  </a:lnSpc>
                </a:pPr>
                <a:r>
                  <a:rPr lang="en-US" dirty="0">
                    <a:latin typeface="Arial" panose="020B0604020202020204" pitchFamily="34" charset="0"/>
                    <a:cs typeface="Arial" panose="020B0604020202020204" pitchFamily="34" charset="0"/>
                  </a:rPr>
                  <a:t>b = 0.5 </a:t>
                </a:r>
                <a:r>
                  <a:rPr lang="en-US" sz="2000" dirty="0">
                    <a:latin typeface="Symbol" pitchFamily="2" charset="2"/>
                    <a:cs typeface="Arial" panose="020B0604020202020204" pitchFamily="34" charset="0"/>
                  </a:rPr>
                  <a:t>D</a:t>
                </a:r>
                <a:r>
                  <a:rPr lang="en-US" baseline="-25000" dirty="0">
                    <a:latin typeface="Arial" panose="020B0604020202020204" pitchFamily="34" charset="0"/>
                    <a:cs typeface="Arial" panose="020B0604020202020204" pitchFamily="34" charset="0"/>
                  </a:rPr>
                  <a:t>b </a:t>
                </a:r>
                <a:r>
                  <a:rPr lang="en-US" dirty="0">
                    <a:latin typeface="Arial" panose="020B0604020202020204" pitchFamily="34" charset="0"/>
                    <a:cs typeface="Arial" panose="020B0604020202020204" pitchFamily="34" charset="0"/>
                  </a:rPr>
                  <a:t>with </a:t>
                </a:r>
                <a:r>
                  <a:rPr lang="en-US" dirty="0">
                    <a:latin typeface="Symbol" pitchFamily="2" charset="2"/>
                    <a:cs typeface="Arial" panose="020B0604020202020204" pitchFamily="34" charset="0"/>
                  </a:rPr>
                  <a:t>D</a:t>
                </a:r>
                <a:r>
                  <a:rPr lang="en-US" baseline="-25000" dirty="0">
                    <a:latin typeface="Arial" panose="020B0604020202020204" pitchFamily="34" charset="0"/>
                    <a:cs typeface="Arial" panose="020B0604020202020204" pitchFamily="34" charset="0"/>
                  </a:rPr>
                  <a:t>b</a:t>
                </a:r>
                <a:r>
                  <a:rPr lang="en-US" dirty="0">
                    <a:latin typeface="Arial" panose="020B0604020202020204" pitchFamily="34" charset="0"/>
                    <a:cs typeface="Arial" panose="020B0604020202020204" pitchFamily="34" charset="0"/>
                  </a:rPr>
                  <a:t> is the bedform height, when the bedform height is known</a:t>
                </a:r>
              </a:p>
              <a:p>
                <a:pPr>
                  <a:lnSpc>
                    <a:spcPct val="114000"/>
                  </a:lnSpc>
                </a:pPr>
                <a:endParaRPr lang="en-US" dirty="0">
                  <a:latin typeface="Arial" panose="020B0604020202020204" pitchFamily="34" charset="0"/>
                  <a:cs typeface="Arial" panose="020B0604020202020204" pitchFamily="34" charset="0"/>
                </a:endParaRPr>
              </a:p>
              <a:p>
                <a:pPr algn="l">
                  <a:lnSpc>
                    <a:spcPct val="114000"/>
                  </a:lnSpc>
                </a:pPr>
                <a:r>
                  <a:rPr lang="en-US" dirty="0">
                    <a:latin typeface="Arial" panose="020B0604020202020204" pitchFamily="34" charset="0"/>
                    <a:cs typeface="Arial" panose="020B0604020202020204" pitchFamily="34" charset="0"/>
                  </a:rPr>
                  <a:t>b equal to the largest of the grain roughness height </a:t>
                </a:r>
                <a:r>
                  <a:rPr lang="en-US" dirty="0" err="1">
                    <a:latin typeface="Arial" panose="020B0604020202020204" pitchFamily="34" charset="0"/>
                    <a:cs typeface="Arial" panose="020B0604020202020204" pitchFamily="34" charset="0"/>
                  </a:rPr>
                  <a:t>k</a:t>
                </a:r>
                <a:r>
                  <a:rPr lang="en-US" baseline="-25000" dirty="0" err="1">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or 0.01H when bedform are absent or if their height is unknown</a:t>
                </a:r>
              </a:p>
              <a:p>
                <a:pPr algn="l">
                  <a:lnSpc>
                    <a:spcPct val="114000"/>
                  </a:lnSpc>
                </a:pPr>
                <a:endParaRPr lang="en-US" dirty="0">
                  <a:latin typeface="Arial" panose="020B0604020202020204" pitchFamily="34" charset="0"/>
                  <a:cs typeface="Arial" panose="020B0604020202020204" pitchFamily="34" charset="0"/>
                </a:endParaRPr>
              </a:p>
            </p:txBody>
          </p:sp>
        </mc:Choice>
        <mc:Fallback xmlns="">
          <p:sp>
            <p:nvSpPr>
              <p:cNvPr id="12" name="TextBox 11">
                <a:extLst>
                  <a:ext uri="{FF2B5EF4-FFF2-40B4-BE49-F238E27FC236}">
                    <a16:creationId xmlns:a16="http://schemas.microsoft.com/office/drawing/2014/main" id="{88DFBECE-F881-5A46-8606-F26DC2031FB6}"/>
                  </a:ext>
                </a:extLst>
              </p:cNvPr>
              <p:cNvSpPr txBox="1">
                <a:spLocks noRot="1" noChangeAspect="1" noMove="1" noResize="1" noEditPoints="1" noAdjustHandles="1" noChangeArrowheads="1" noChangeShapeType="1" noTextEdit="1"/>
              </p:cNvSpPr>
              <p:nvPr/>
            </p:nvSpPr>
            <p:spPr>
              <a:xfrm>
                <a:off x="846921" y="1820142"/>
                <a:ext cx="10778169" cy="2311530"/>
              </a:xfrm>
              <a:prstGeom prst="rect">
                <a:avLst/>
              </a:prstGeom>
              <a:blipFill>
                <a:blip r:embed="rId3"/>
                <a:stretch>
                  <a:fillRect l="-471" t="-1093"/>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435E0262-763E-A54C-BAD2-BD756967A51E}"/>
              </a:ext>
            </a:extLst>
          </p:cNvPr>
          <p:cNvSpPr txBox="1"/>
          <p:nvPr/>
        </p:nvSpPr>
        <p:spPr>
          <a:xfrm>
            <a:off x="758787" y="4062864"/>
            <a:ext cx="10498157" cy="381708"/>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The critical Shields number can be estimated with the </a:t>
            </a:r>
            <a:r>
              <a:rPr lang="en-US" dirty="0" err="1">
                <a:latin typeface="Arial" panose="020B0604020202020204" pitchFamily="34" charset="0"/>
                <a:cs typeface="Arial" panose="020B0604020202020204" pitchFamily="34" charset="0"/>
              </a:rPr>
              <a:t>Brownlie</a:t>
            </a:r>
            <a:r>
              <a:rPr lang="en-US" dirty="0">
                <a:latin typeface="Arial" panose="020B0604020202020204" pitchFamily="34" charset="0"/>
                <a:cs typeface="Arial" panose="020B0604020202020204" pitchFamily="34" charset="0"/>
              </a:rPr>
              <a:t> fit as</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805C186-E5C2-2D44-B65E-FD6BE5C4D6E1}"/>
                  </a:ext>
                </a:extLst>
              </p:cNvPr>
              <p:cNvSpPr txBox="1"/>
              <p:nvPr/>
            </p:nvSpPr>
            <p:spPr>
              <a:xfrm>
                <a:off x="846921" y="4579916"/>
                <a:ext cx="3655553" cy="400879"/>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cs typeface="Arial" panose="020B0604020202020204" pitchFamily="34" charset="0"/>
                            </a:rPr>
                          </m:ctrlPr>
                        </m:sSubSup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𝑐</m:t>
                          </m:r>
                        </m:sub>
                        <m:sup>
                          <m:r>
                            <a:rPr lang="en-US" b="0" i="1" smtClean="0">
                              <a:latin typeface="Cambria Math" panose="02040503050406030204" pitchFamily="18" charset="0"/>
                              <a:cs typeface="Arial" panose="020B0604020202020204" pitchFamily="34" charset="0"/>
                            </a:rPr>
                            <m:t>∗</m:t>
                          </m:r>
                        </m:sup>
                      </m:sSubSup>
                      <m:r>
                        <a:rPr lang="en-US" b="0" i="1" smtClean="0">
                          <a:latin typeface="Cambria Math" panose="02040503050406030204" pitchFamily="18" charset="0"/>
                          <a:cs typeface="Arial" panose="020B0604020202020204" pitchFamily="34" charset="0"/>
                        </a:rPr>
                        <m:t>=0.22</m:t>
                      </m:r>
                      <m:sSubSup>
                        <m:sSubSupPr>
                          <m:ctrlPr>
                            <a:rPr lang="en-US" b="0"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cs typeface="Arial" panose="020B0604020202020204" pitchFamily="34" charset="0"/>
                            </a:rPr>
                            <m:t>𝑅𝑒</m:t>
                          </m:r>
                        </m:e>
                        <m:sub>
                          <m:r>
                            <a:rPr lang="en-US" b="0" i="1" smtClean="0">
                              <a:latin typeface="Cambria Math" panose="02040503050406030204" pitchFamily="18" charset="0"/>
                              <a:cs typeface="Arial" panose="020B0604020202020204" pitchFamily="34" charset="0"/>
                            </a:rPr>
                            <m:t>𝑝</m:t>
                          </m:r>
                        </m:sub>
                        <m:sup>
                          <m:r>
                            <a:rPr lang="en-US" b="0" i="1" smtClean="0">
                              <a:latin typeface="Cambria Math" panose="02040503050406030204" pitchFamily="18" charset="0"/>
                              <a:cs typeface="Arial" panose="020B0604020202020204" pitchFamily="34" charset="0"/>
                            </a:rPr>
                            <m:t>−0.6</m:t>
                          </m:r>
                        </m:sup>
                      </m:sSubSup>
                      <m:r>
                        <a:rPr lang="en-US" b="0" i="1" smtClean="0">
                          <a:latin typeface="Cambria Math" panose="02040503050406030204" pitchFamily="18" charset="0"/>
                          <a:cs typeface="Arial" panose="020B0604020202020204" pitchFamily="34" charset="0"/>
                        </a:rPr>
                        <m:t>+0.06</m:t>
                      </m:r>
                      <m:r>
                        <a:rPr lang="en-US"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10</m:t>
                          </m:r>
                        </m:e>
                        <m:sup>
                          <m:r>
                            <a:rPr lang="en-US" b="0" i="1" smtClean="0">
                              <a:latin typeface="Cambria Math" panose="02040503050406030204" pitchFamily="18" charset="0"/>
                              <a:ea typeface="Cambria Math" panose="02040503050406030204" pitchFamily="18" charset="0"/>
                              <a:cs typeface="Arial" panose="020B0604020202020204" pitchFamily="34" charset="0"/>
                            </a:rPr>
                            <m:t>−7.7</m:t>
                          </m:r>
                          <m:sSubSup>
                            <m:sSub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SupPr>
                            <m:e>
                              <m:r>
                                <a:rPr lang="en-US" b="0" i="1" smtClean="0">
                                  <a:latin typeface="Cambria Math" panose="02040503050406030204" pitchFamily="18" charset="0"/>
                                  <a:ea typeface="Cambria Math" panose="02040503050406030204" pitchFamily="18" charset="0"/>
                                  <a:cs typeface="Arial" panose="020B0604020202020204" pitchFamily="34" charset="0"/>
                                </a:rPr>
                                <m:t>𝑅𝑒</m:t>
                              </m:r>
                            </m:e>
                            <m:sub>
                              <m:r>
                                <a:rPr lang="en-US" b="0" i="1" smtClean="0">
                                  <a:latin typeface="Cambria Math" panose="02040503050406030204" pitchFamily="18" charset="0"/>
                                  <a:ea typeface="Cambria Math" panose="02040503050406030204" pitchFamily="18" charset="0"/>
                                  <a:cs typeface="Arial" panose="020B0604020202020204" pitchFamily="34" charset="0"/>
                                </a:rPr>
                                <m:t>𝑝</m:t>
                              </m:r>
                            </m:sub>
                            <m:sup>
                              <m:r>
                                <a:rPr lang="en-US" b="0" i="1" smtClean="0">
                                  <a:latin typeface="Cambria Math" panose="02040503050406030204" pitchFamily="18" charset="0"/>
                                  <a:ea typeface="Cambria Math" panose="02040503050406030204" pitchFamily="18" charset="0"/>
                                  <a:cs typeface="Arial" panose="020B0604020202020204" pitchFamily="34" charset="0"/>
                                </a:rPr>
                                <m:t>−0.6</m:t>
                              </m:r>
                            </m:sup>
                          </m:sSubSup>
                        </m:sup>
                      </m:sSup>
                    </m:oMath>
                  </m:oMathPara>
                </a14:m>
                <a:endParaRPr lang="en-US" dirty="0">
                  <a:latin typeface="Arial" panose="020B0604020202020204" pitchFamily="34" charset="0"/>
                  <a:cs typeface="Arial" panose="020B0604020202020204" pitchFamily="34" charset="0"/>
                </a:endParaRPr>
              </a:p>
            </p:txBody>
          </p:sp>
        </mc:Choice>
        <mc:Fallback xmlns="">
          <p:sp>
            <p:nvSpPr>
              <p:cNvPr id="11" name="TextBox 10">
                <a:extLst>
                  <a:ext uri="{FF2B5EF4-FFF2-40B4-BE49-F238E27FC236}">
                    <a16:creationId xmlns:a16="http://schemas.microsoft.com/office/drawing/2014/main" id="{6805C186-E5C2-2D44-B65E-FD6BE5C4D6E1}"/>
                  </a:ext>
                </a:extLst>
              </p:cNvPr>
              <p:cNvSpPr txBox="1">
                <a:spLocks noRot="1" noChangeAspect="1" noMove="1" noResize="1" noEditPoints="1" noAdjustHandles="1" noChangeArrowheads="1" noChangeShapeType="1" noTextEdit="1"/>
              </p:cNvSpPr>
              <p:nvPr/>
            </p:nvSpPr>
            <p:spPr>
              <a:xfrm>
                <a:off x="846921" y="4579916"/>
                <a:ext cx="3655553" cy="400879"/>
              </a:xfrm>
              <a:prstGeom prst="rect">
                <a:avLst/>
              </a:prstGeom>
              <a:blipFill>
                <a:blip r:embed="rId4"/>
                <a:stretch>
                  <a:fillRect b="-90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25B1668-2310-5445-9C24-03D9C2D1C99E}"/>
                  </a:ext>
                </a:extLst>
              </p:cNvPr>
              <p:cNvSpPr txBox="1"/>
              <p:nvPr/>
            </p:nvSpPr>
            <p:spPr>
              <a:xfrm>
                <a:off x="6095999" y="837155"/>
                <a:ext cx="1531510" cy="676595"/>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𝑅𝑒</m:t>
                          </m:r>
                        </m:e>
                        <m:sub>
                          <m:r>
                            <a:rPr lang="en-US" b="0" i="1" smtClean="0">
                              <a:latin typeface="Cambria Math" panose="02040503050406030204" pitchFamily="18" charset="0"/>
                              <a:cs typeface="Arial" panose="020B0604020202020204" pitchFamily="34" charset="0"/>
                            </a:rPr>
                            <m:t>𝑝</m:t>
                          </m:r>
                        </m:sub>
                      </m:sSub>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ad>
                            <m:radPr>
                              <m:degHide m:val="on"/>
                              <m:ctrlPr>
                                <a:rPr lang="en-US" b="0" i="1" smtClean="0">
                                  <a:latin typeface="Cambria Math" panose="02040503050406030204" pitchFamily="18" charset="0"/>
                                  <a:cs typeface="Arial" panose="020B0604020202020204" pitchFamily="34" charset="0"/>
                                </a:rPr>
                              </m:ctrlPr>
                            </m:radPr>
                            <m:deg/>
                            <m:e>
                              <m:r>
                                <a:rPr lang="en-US" b="0" i="1" smtClean="0">
                                  <a:latin typeface="Cambria Math" panose="02040503050406030204" pitchFamily="18" charset="0"/>
                                  <a:cs typeface="Arial" panose="020B0604020202020204" pitchFamily="34" charset="0"/>
                                </a:rPr>
                                <m:t>𝑅𝑔𝐷</m:t>
                              </m:r>
                            </m:e>
                          </m:rad>
                          <m:r>
                            <a:rPr lang="en-US" b="0" i="1" smtClean="0">
                              <a:latin typeface="Cambria Math" panose="02040503050406030204" pitchFamily="18" charset="0"/>
                              <a:cs typeface="Arial" panose="020B0604020202020204" pitchFamily="34" charset="0"/>
                            </a:rPr>
                            <m:t>𝐷</m:t>
                          </m:r>
                        </m:num>
                        <m:den>
                          <m:r>
                            <a:rPr lang="en-US" b="0" i="1" smtClean="0">
                              <a:latin typeface="Cambria Math" panose="02040503050406030204" pitchFamily="18" charset="0"/>
                              <a:ea typeface="Cambria Math" panose="02040503050406030204" pitchFamily="18" charset="0"/>
                              <a:cs typeface="Arial" panose="020B0604020202020204" pitchFamily="34" charset="0"/>
                            </a:rPr>
                            <m:t>𝜈</m:t>
                          </m:r>
                        </m:den>
                      </m:f>
                    </m:oMath>
                  </m:oMathPara>
                </a14:m>
                <a:endParaRPr lang="en-US" dirty="0">
                  <a:latin typeface="Arial" panose="020B0604020202020204" pitchFamily="34" charset="0"/>
                  <a:cs typeface="Arial" panose="020B0604020202020204" pitchFamily="34" charset="0"/>
                </a:endParaRPr>
              </a:p>
            </p:txBody>
          </p:sp>
        </mc:Choice>
        <mc:Fallback xmlns="">
          <p:sp>
            <p:nvSpPr>
              <p:cNvPr id="13" name="TextBox 12">
                <a:extLst>
                  <a:ext uri="{FF2B5EF4-FFF2-40B4-BE49-F238E27FC236}">
                    <a16:creationId xmlns:a16="http://schemas.microsoft.com/office/drawing/2014/main" id="{A25B1668-2310-5445-9C24-03D9C2D1C99E}"/>
                  </a:ext>
                </a:extLst>
              </p:cNvPr>
              <p:cNvSpPr txBox="1">
                <a:spLocks noRot="1" noChangeAspect="1" noMove="1" noResize="1" noEditPoints="1" noAdjustHandles="1" noChangeArrowheads="1" noChangeShapeType="1" noTextEdit="1"/>
              </p:cNvSpPr>
              <p:nvPr/>
            </p:nvSpPr>
            <p:spPr>
              <a:xfrm>
                <a:off x="6095999" y="837155"/>
                <a:ext cx="1531510" cy="676595"/>
              </a:xfrm>
              <a:prstGeom prst="rect">
                <a:avLst/>
              </a:prstGeom>
              <a:blipFill>
                <a:blip r:embed="rId5"/>
                <a:stretch>
                  <a:fillRect l="-3306" r="-2479" b="-3636"/>
                </a:stretch>
              </a:blipFill>
            </p:spPr>
            <p:txBody>
              <a:bodyPr/>
              <a:lstStyle/>
              <a:p>
                <a:r>
                  <a:rPr lang="en-US">
                    <a:noFill/>
                  </a:rPr>
                  <a:t> </a:t>
                </a:r>
              </a:p>
            </p:txBody>
          </p:sp>
        </mc:Fallback>
      </mc:AlternateContent>
    </p:spTree>
    <p:extLst>
      <p:ext uri="{BB962C8B-B14F-4D97-AF65-F5344CB8AC3E}">
        <p14:creationId xmlns:p14="http://schemas.microsoft.com/office/powerpoint/2010/main" val="2496170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val 7">
            <a:extLst>
              <a:ext uri="{FF2B5EF4-FFF2-40B4-BE49-F238E27FC236}">
                <a16:creationId xmlns:a16="http://schemas.microsoft.com/office/drawing/2014/main" id="{BB1C5E2B-AC53-804B-B77A-9685D5487DF7}"/>
              </a:ext>
            </a:extLst>
          </p:cNvPr>
          <p:cNvSpPr/>
          <p:nvPr/>
        </p:nvSpPr>
        <p:spPr>
          <a:xfrm>
            <a:off x="4863352" y="5023997"/>
            <a:ext cx="623029" cy="666795"/>
          </a:xfrm>
          <a:prstGeom prst="ellipse">
            <a:avLst/>
          </a:prstGeom>
          <a:solidFill>
            <a:srgbClr val="FFFF00"/>
          </a:solid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9</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Garcia and Parker entrainment relation for uniform material</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3BC04EF-E754-7A41-AA88-D274A547D9B6}"/>
                  </a:ext>
                </a:extLst>
              </p:cNvPr>
              <p:cNvSpPr txBox="1"/>
              <p:nvPr/>
            </p:nvSpPr>
            <p:spPr>
              <a:xfrm>
                <a:off x="881349" y="815248"/>
                <a:ext cx="1498744" cy="892873"/>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cs typeface="Arial" panose="020B0604020202020204" pitchFamily="34" charset="0"/>
                        </a:rPr>
                        <m:t>E</m:t>
                      </m:r>
                      <m:r>
                        <a:rPr lang="en-US" b="0" i="0"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𝐴</m:t>
                          </m:r>
                          <m:sSubSup>
                            <m:sSubSupPr>
                              <m:ctrlPr>
                                <a:rPr lang="en-US" b="0"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cs typeface="Arial" panose="020B0604020202020204" pitchFamily="34" charset="0"/>
                                </a:rPr>
                                <m:t>𝑍</m:t>
                              </m:r>
                            </m:e>
                            <m:sub>
                              <m:r>
                                <a:rPr lang="en-US" b="0" i="1" smtClean="0">
                                  <a:latin typeface="Cambria Math" panose="02040503050406030204" pitchFamily="18" charset="0"/>
                                  <a:cs typeface="Arial" panose="020B0604020202020204" pitchFamily="34" charset="0"/>
                                </a:rPr>
                                <m:t>𝑢</m:t>
                              </m:r>
                            </m:sub>
                            <m:sup>
                              <m:r>
                                <a:rPr lang="en-US" b="0" i="1" smtClean="0">
                                  <a:latin typeface="Cambria Math" panose="02040503050406030204" pitchFamily="18" charset="0"/>
                                  <a:cs typeface="Arial" panose="020B0604020202020204" pitchFamily="34" charset="0"/>
                                </a:rPr>
                                <m:t>5</m:t>
                              </m:r>
                            </m:sup>
                          </m:sSubSup>
                        </m:num>
                        <m:den>
                          <m:r>
                            <a:rPr lang="en-US" b="0" i="1" smtClean="0">
                              <a:latin typeface="Cambria Math" panose="02040503050406030204" pitchFamily="18" charset="0"/>
                              <a:cs typeface="Arial" panose="020B0604020202020204" pitchFamily="34" charset="0"/>
                            </a:rPr>
                            <m:t>1+</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𝐴</m:t>
                              </m:r>
                            </m:num>
                            <m:den>
                              <m:r>
                                <a:rPr lang="en-US" b="0" i="1" smtClean="0">
                                  <a:latin typeface="Cambria Math" panose="02040503050406030204" pitchFamily="18" charset="0"/>
                                  <a:cs typeface="Arial" panose="020B0604020202020204" pitchFamily="34" charset="0"/>
                                </a:rPr>
                                <m:t>0.3</m:t>
                              </m:r>
                            </m:den>
                          </m:f>
                          <m:sSubSup>
                            <m:sSubSupPr>
                              <m:ctrlPr>
                                <a:rPr lang="en-US" i="1">
                                  <a:latin typeface="Cambria Math" panose="02040503050406030204" pitchFamily="18" charset="0"/>
                                  <a:cs typeface="Arial" panose="020B0604020202020204" pitchFamily="34" charset="0"/>
                                </a:rPr>
                              </m:ctrlPr>
                            </m:sSubSupPr>
                            <m:e>
                              <m:r>
                                <a:rPr lang="en-US" i="1">
                                  <a:latin typeface="Cambria Math" panose="02040503050406030204" pitchFamily="18" charset="0"/>
                                  <a:cs typeface="Arial" panose="020B0604020202020204" pitchFamily="34" charset="0"/>
                                </a:rPr>
                                <m:t>𝑍</m:t>
                              </m:r>
                            </m:e>
                            <m:sub>
                              <m:r>
                                <a:rPr lang="en-US" i="1">
                                  <a:latin typeface="Cambria Math" panose="02040503050406030204" pitchFamily="18" charset="0"/>
                                  <a:cs typeface="Arial" panose="020B0604020202020204" pitchFamily="34" charset="0"/>
                                </a:rPr>
                                <m:t>𝑢</m:t>
                              </m:r>
                            </m:sub>
                            <m:sup>
                              <m:r>
                                <a:rPr lang="en-US" i="1">
                                  <a:latin typeface="Cambria Math" panose="02040503050406030204" pitchFamily="18" charset="0"/>
                                  <a:cs typeface="Arial" panose="020B0604020202020204" pitchFamily="34" charset="0"/>
                                </a:rPr>
                                <m:t>5</m:t>
                              </m:r>
                            </m:sup>
                          </m:sSubSup>
                        </m:den>
                      </m:f>
                    </m:oMath>
                  </m:oMathPara>
                </a14:m>
                <a:endParaRPr lang="en-US" dirty="0">
                  <a:latin typeface="Arial" panose="020B0604020202020204" pitchFamily="34" charset="0"/>
                  <a:cs typeface="Arial" panose="020B0604020202020204" pitchFamily="34" charset="0"/>
                </a:endParaRPr>
              </a:p>
            </p:txBody>
          </p:sp>
        </mc:Choice>
        <mc:Fallback xmlns="">
          <p:sp>
            <p:nvSpPr>
              <p:cNvPr id="3" name="TextBox 2">
                <a:extLst>
                  <a:ext uri="{FF2B5EF4-FFF2-40B4-BE49-F238E27FC236}">
                    <a16:creationId xmlns:a16="http://schemas.microsoft.com/office/drawing/2014/main" id="{23BC04EF-E754-7A41-AA88-D274A547D9B6}"/>
                  </a:ext>
                </a:extLst>
              </p:cNvPr>
              <p:cNvSpPr txBox="1">
                <a:spLocks noRot="1" noChangeAspect="1" noMove="1" noResize="1" noEditPoints="1" noAdjustHandles="1" noChangeArrowheads="1" noChangeShapeType="1" noTextEdit="1"/>
              </p:cNvSpPr>
              <p:nvPr/>
            </p:nvSpPr>
            <p:spPr>
              <a:xfrm>
                <a:off x="881349" y="815248"/>
                <a:ext cx="1498744" cy="892873"/>
              </a:xfrm>
              <a:prstGeom prst="rect">
                <a:avLst/>
              </a:prstGeom>
              <a:blipFill>
                <a:blip r:embed="rId2"/>
                <a:stretch>
                  <a:fillRect l="-2521" r="-840" b="-84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8DFBECE-F881-5A46-8606-F26DC2031FB6}"/>
                  </a:ext>
                </a:extLst>
              </p:cNvPr>
              <p:cNvSpPr txBox="1"/>
              <p:nvPr/>
            </p:nvSpPr>
            <p:spPr>
              <a:xfrm>
                <a:off x="881349" y="1940274"/>
                <a:ext cx="10778169"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where </a:t>
                </a:r>
                <a14:m>
                  <m:oMath xmlns:m="http://schemas.openxmlformats.org/officeDocument/2006/math">
                    <m:r>
                      <a:rPr lang="en-US" b="0" i="1" smtClean="0">
                        <a:latin typeface="Cambria Math" panose="02040503050406030204" pitchFamily="18" charset="0"/>
                        <a:cs typeface="Arial" panose="020B0604020202020204" pitchFamily="34" charset="0"/>
                      </a:rPr>
                      <m:t>𝐴</m:t>
                    </m:r>
                    <m:r>
                      <a:rPr lang="en-US" b="0" i="1" smtClean="0">
                        <a:latin typeface="Cambria Math" panose="02040503050406030204" pitchFamily="18" charset="0"/>
                        <a:cs typeface="Arial" panose="020B0604020202020204" pitchFamily="34" charset="0"/>
                      </a:rPr>
                      <m:t>=1.3∙</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10</m:t>
                        </m:r>
                      </m:e>
                      <m:sup>
                        <m:r>
                          <a:rPr lang="en-US" b="0" i="1" smtClean="0">
                            <a:latin typeface="Cambria Math" panose="02040503050406030204" pitchFamily="18" charset="0"/>
                            <a:ea typeface="Cambria Math" panose="02040503050406030204" pitchFamily="18" charset="0"/>
                            <a:cs typeface="Arial" panose="020B0604020202020204" pitchFamily="34" charset="0"/>
                          </a:rPr>
                          <m:t>−7</m:t>
                        </m:r>
                      </m:sup>
                    </m:sSup>
                  </m:oMath>
                </a14:m>
                <a:r>
                  <a:rPr lang="en-US" dirty="0">
                    <a:latin typeface="Arial" panose="020B0604020202020204" pitchFamily="34" charset="0"/>
                    <a:cs typeface="Arial" panose="020B0604020202020204" pitchFamily="34" charset="0"/>
                  </a:rPr>
                  <a:t> and the reference height z = b where </a:t>
                </a: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r>
                      <a:rPr lang="en-US" b="0" i="1" smtClean="0">
                        <a:latin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cs typeface="Arial" panose="020B0604020202020204" pitchFamily="34" charset="0"/>
                          </a:rPr>
                        </m:ctrlPr>
                      </m:accPr>
                      <m:e>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𝑐</m:t>
                            </m:r>
                          </m:e>
                          <m:sub>
                            <m:r>
                              <a:rPr lang="en-US" b="0" i="1" smtClean="0">
                                <a:latin typeface="Cambria Math" panose="02040503050406030204" pitchFamily="18" charset="0"/>
                                <a:cs typeface="Arial" panose="020B0604020202020204" pitchFamily="34" charset="0"/>
                              </a:rPr>
                              <m:t>𝑏</m:t>
                            </m:r>
                          </m:sub>
                        </m:sSub>
                      </m:e>
                    </m:acc>
                  </m:oMath>
                </a14:m>
                <a:r>
                  <a:rPr lang="en-US" dirty="0">
                    <a:latin typeface="Arial" panose="020B0604020202020204" pitchFamily="34" charset="0"/>
                    <a:cs typeface="Arial" panose="020B0604020202020204" pitchFamily="34" charset="0"/>
                  </a:rPr>
                  <a:t> is equal to 0.05H</a:t>
                </a:r>
              </a:p>
            </p:txBody>
          </p:sp>
        </mc:Choice>
        <mc:Fallback xmlns="">
          <p:sp>
            <p:nvSpPr>
              <p:cNvPr id="12" name="TextBox 11">
                <a:extLst>
                  <a:ext uri="{FF2B5EF4-FFF2-40B4-BE49-F238E27FC236}">
                    <a16:creationId xmlns:a16="http://schemas.microsoft.com/office/drawing/2014/main" id="{88DFBECE-F881-5A46-8606-F26DC2031FB6}"/>
                  </a:ext>
                </a:extLst>
              </p:cNvPr>
              <p:cNvSpPr txBox="1">
                <a:spLocks noRot="1" noChangeAspect="1" noMove="1" noResize="1" noEditPoints="1" noAdjustHandles="1" noChangeArrowheads="1" noChangeShapeType="1" noTextEdit="1"/>
              </p:cNvSpPr>
              <p:nvPr/>
            </p:nvSpPr>
            <p:spPr>
              <a:xfrm>
                <a:off x="881349" y="1940274"/>
                <a:ext cx="10778169" cy="697499"/>
              </a:xfrm>
              <a:prstGeom prst="rect">
                <a:avLst/>
              </a:prstGeom>
              <a:blipFill>
                <a:blip r:embed="rId3"/>
                <a:stretch>
                  <a:fillRect l="-471" t="-3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29C5F194-ADD3-6743-A85C-1785E4C92646}"/>
                  </a:ext>
                </a:extLst>
              </p:cNvPr>
              <p:cNvSpPr/>
              <p:nvPr/>
            </p:nvSpPr>
            <p:spPr>
              <a:xfrm>
                <a:off x="3244412" y="993259"/>
                <a:ext cx="1651991" cy="61350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𝑍</m:t>
                          </m:r>
                        </m:e>
                        <m:sub>
                          <m:r>
                            <a:rPr lang="en-US" b="0" i="1" smtClean="0">
                              <a:latin typeface="Cambria Math" panose="02040503050406030204" pitchFamily="18" charset="0"/>
                              <a:cs typeface="Arial" panose="020B0604020202020204" pitchFamily="34" charset="0"/>
                            </a:rPr>
                            <m:t>𝑢</m:t>
                          </m:r>
                        </m:sub>
                      </m:sSub>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𝑠</m:t>
                              </m:r>
                            </m:sub>
                          </m:sSub>
                        </m:num>
                        <m:den>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𝑣</m:t>
                              </m:r>
                            </m:e>
                            <m:sub>
                              <m:r>
                                <a:rPr lang="en-US" b="0" i="1" smtClean="0">
                                  <a:latin typeface="Cambria Math" panose="02040503050406030204" pitchFamily="18" charset="0"/>
                                  <a:cs typeface="Arial" panose="020B0604020202020204" pitchFamily="34" charset="0"/>
                                </a:rPr>
                                <m:t>𝑠</m:t>
                              </m:r>
                            </m:sub>
                          </m:sSub>
                        </m:den>
                      </m:f>
                      <m:sSubSup>
                        <m:sSubSupPr>
                          <m:ctrlPr>
                            <a:rPr lang="en-US" b="0"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cs typeface="Arial" panose="020B0604020202020204" pitchFamily="34" charset="0"/>
                            </a:rPr>
                            <m:t>𝑅𝑒</m:t>
                          </m:r>
                        </m:e>
                        <m:sub>
                          <m:r>
                            <a:rPr lang="en-US" b="0" i="1" smtClean="0">
                              <a:latin typeface="Cambria Math" panose="02040503050406030204" pitchFamily="18" charset="0"/>
                              <a:cs typeface="Arial" panose="020B0604020202020204" pitchFamily="34" charset="0"/>
                            </a:rPr>
                            <m:t>𝑝</m:t>
                          </m:r>
                        </m:sub>
                        <m:sup>
                          <m:r>
                            <a:rPr lang="en-US" b="0" i="1" smtClean="0">
                              <a:latin typeface="Cambria Math" panose="02040503050406030204" pitchFamily="18" charset="0"/>
                              <a:cs typeface="Arial" panose="020B0604020202020204" pitchFamily="34" charset="0"/>
                            </a:rPr>
                            <m:t>0.6</m:t>
                          </m:r>
                        </m:sup>
                      </m:sSubSup>
                    </m:oMath>
                  </m:oMathPara>
                </a14:m>
                <a:endParaRPr lang="en-US" dirty="0"/>
              </a:p>
            </p:txBody>
          </p:sp>
        </mc:Choice>
        <mc:Fallback xmlns="">
          <p:sp>
            <p:nvSpPr>
              <p:cNvPr id="6" name="Rectangle 5">
                <a:extLst>
                  <a:ext uri="{FF2B5EF4-FFF2-40B4-BE49-F238E27FC236}">
                    <a16:creationId xmlns:a16="http://schemas.microsoft.com/office/drawing/2014/main" id="{29C5F194-ADD3-6743-A85C-1785E4C92646}"/>
                  </a:ext>
                </a:extLst>
              </p:cNvPr>
              <p:cNvSpPr>
                <a:spLocks noRot="1" noChangeAspect="1" noMove="1" noResize="1" noEditPoints="1" noAdjustHandles="1" noChangeArrowheads="1" noChangeShapeType="1" noTextEdit="1"/>
              </p:cNvSpPr>
              <p:nvPr/>
            </p:nvSpPr>
            <p:spPr>
              <a:xfrm>
                <a:off x="3244412" y="993259"/>
                <a:ext cx="1651991" cy="61350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2EAA80E-D0C9-D54C-B9C5-D163E1496003}"/>
                  </a:ext>
                </a:extLst>
              </p:cNvPr>
              <p:cNvSpPr txBox="1"/>
              <p:nvPr/>
            </p:nvSpPr>
            <p:spPr>
              <a:xfrm>
                <a:off x="5519432" y="685335"/>
                <a:ext cx="1153136" cy="932948"/>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𝑠</m:t>
                          </m:r>
                        </m:sub>
                      </m:sSub>
                      <m:r>
                        <a:rPr lang="en-US" b="0" i="1" smtClean="0">
                          <a:latin typeface="Cambria Math" panose="02040503050406030204" pitchFamily="18" charset="0"/>
                          <a:cs typeface="Arial" panose="020B0604020202020204" pitchFamily="34" charset="0"/>
                        </a:rPr>
                        <m:t>=</m:t>
                      </m:r>
                      <m:rad>
                        <m:radPr>
                          <m:degHide m:val="on"/>
                          <m:ctrlPr>
                            <a:rPr lang="en-US" b="0" i="1" smtClean="0">
                              <a:latin typeface="Cambria Math" panose="02040503050406030204" pitchFamily="18" charset="0"/>
                              <a:cs typeface="Arial" panose="020B0604020202020204" pitchFamily="34" charset="0"/>
                            </a:rPr>
                          </m:ctrlPr>
                        </m:radPr>
                        <m:deg/>
                        <m:e>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𝑏𝑠</m:t>
                                  </m:r>
                                </m:sub>
                              </m:sSub>
                            </m:num>
                            <m:den>
                              <m:r>
                                <a:rPr lang="en-US" b="0" i="1" smtClean="0">
                                  <a:latin typeface="Cambria Math" panose="02040503050406030204" pitchFamily="18" charset="0"/>
                                  <a:ea typeface="Cambria Math" panose="02040503050406030204" pitchFamily="18" charset="0"/>
                                  <a:cs typeface="Arial" panose="020B0604020202020204" pitchFamily="34" charset="0"/>
                                </a:rPr>
                                <m:t>𝜌</m:t>
                              </m:r>
                            </m:den>
                          </m:f>
                        </m:e>
                      </m:rad>
                    </m:oMath>
                  </m:oMathPara>
                </a14:m>
                <a:endParaRPr lang="en-US" dirty="0">
                  <a:latin typeface="Arial" panose="020B0604020202020204" pitchFamily="34" charset="0"/>
                  <a:cs typeface="Arial" panose="020B0604020202020204" pitchFamily="34" charset="0"/>
                </a:endParaRPr>
              </a:p>
            </p:txBody>
          </p:sp>
        </mc:Choice>
        <mc:Fallback xmlns="">
          <p:sp>
            <p:nvSpPr>
              <p:cNvPr id="7" name="TextBox 6">
                <a:extLst>
                  <a:ext uri="{FF2B5EF4-FFF2-40B4-BE49-F238E27FC236}">
                    <a16:creationId xmlns:a16="http://schemas.microsoft.com/office/drawing/2014/main" id="{82EAA80E-D0C9-D54C-B9C5-D163E1496003}"/>
                  </a:ext>
                </a:extLst>
              </p:cNvPr>
              <p:cNvSpPr txBox="1">
                <a:spLocks noRot="1" noChangeAspect="1" noMove="1" noResize="1" noEditPoints="1" noAdjustHandles="1" noChangeArrowheads="1" noChangeShapeType="1" noTextEdit="1"/>
              </p:cNvSpPr>
              <p:nvPr/>
            </p:nvSpPr>
            <p:spPr>
              <a:xfrm>
                <a:off x="5519432" y="685335"/>
                <a:ext cx="1153136" cy="932948"/>
              </a:xfrm>
              <a:prstGeom prst="rect">
                <a:avLst/>
              </a:prstGeom>
              <a:blipFill>
                <a:blip r:embed="rId5"/>
                <a:stretch>
                  <a:fillRect l="-2174" r="-1087"/>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52748D4B-0761-FE49-A26A-E3430A38F0C1}"/>
              </a:ext>
            </a:extLst>
          </p:cNvPr>
          <p:cNvSpPr txBox="1"/>
          <p:nvPr/>
        </p:nvSpPr>
        <p:spPr>
          <a:xfrm>
            <a:off x="378031" y="2606908"/>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Wright and Parker entrainment relation for uniform material</a:t>
            </a:r>
          </a:p>
        </p:txBody>
      </p:sp>
      <p:sp>
        <p:nvSpPr>
          <p:cNvPr id="15" name="TextBox 14">
            <a:extLst>
              <a:ext uri="{FF2B5EF4-FFF2-40B4-BE49-F238E27FC236}">
                <a16:creationId xmlns:a16="http://schemas.microsoft.com/office/drawing/2014/main" id="{6733A3D3-D5C9-C94F-B2C2-AE70C67ABEBD}"/>
              </a:ext>
            </a:extLst>
          </p:cNvPr>
          <p:cNvSpPr txBox="1"/>
          <p:nvPr/>
        </p:nvSpPr>
        <p:spPr>
          <a:xfrm>
            <a:off x="881348" y="3379123"/>
            <a:ext cx="10778169" cy="1644874"/>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Wright and Parker found that the relation by Garcia and Parker works well in the laboratory and in small and medium sand bed rivers. It does not perform well in large, low slope sand bed rivers. They thus proposed a modified version of the Garcia and Parker entrainment relation to cover spatial scales ranging from the lab to large, low-slope rivers. </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F30D500-E09D-C947-B7B6-D7646FD8D78C}"/>
                  </a:ext>
                </a:extLst>
              </p:cNvPr>
              <p:cNvSpPr txBox="1"/>
              <p:nvPr/>
            </p:nvSpPr>
            <p:spPr>
              <a:xfrm>
                <a:off x="967647" y="4899280"/>
                <a:ext cx="1498744" cy="920060"/>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cs typeface="Arial" panose="020B0604020202020204" pitchFamily="34" charset="0"/>
                        </a:rPr>
                        <m:t>E</m:t>
                      </m:r>
                      <m:r>
                        <a:rPr lang="en-US" b="0" i="0"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𝐵</m:t>
                          </m:r>
                          <m:sSubSup>
                            <m:sSubSupPr>
                              <m:ctrlPr>
                                <a:rPr lang="en-US" b="0"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cs typeface="Arial" panose="020B0604020202020204" pitchFamily="34" charset="0"/>
                                </a:rPr>
                                <m:t>𝑍</m:t>
                              </m:r>
                            </m:e>
                            <m:sub>
                              <m:r>
                                <a:rPr lang="en-US" b="0" i="1" smtClean="0">
                                  <a:latin typeface="Cambria Math" panose="02040503050406030204" pitchFamily="18" charset="0"/>
                                  <a:cs typeface="Arial" panose="020B0604020202020204" pitchFamily="34" charset="0"/>
                                </a:rPr>
                                <m:t>𝑢</m:t>
                              </m:r>
                            </m:sub>
                            <m:sup>
                              <m:r>
                                <a:rPr lang="en-US" b="0" i="1" smtClean="0">
                                  <a:latin typeface="Cambria Math" panose="02040503050406030204" pitchFamily="18" charset="0"/>
                                  <a:cs typeface="Arial" panose="020B0604020202020204" pitchFamily="34" charset="0"/>
                                </a:rPr>
                                <m:t>5</m:t>
                              </m:r>
                            </m:sup>
                          </m:sSubSup>
                        </m:num>
                        <m:den>
                          <m:r>
                            <a:rPr lang="en-US" b="0" i="1" smtClean="0">
                              <a:latin typeface="Cambria Math" panose="02040503050406030204" pitchFamily="18" charset="0"/>
                              <a:cs typeface="Arial" panose="020B0604020202020204" pitchFamily="34" charset="0"/>
                            </a:rPr>
                            <m:t>1+</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𝐵</m:t>
                              </m:r>
                            </m:num>
                            <m:den>
                              <m:r>
                                <a:rPr lang="en-US" b="0" i="1" smtClean="0">
                                  <a:latin typeface="Cambria Math" panose="02040503050406030204" pitchFamily="18" charset="0"/>
                                  <a:cs typeface="Arial" panose="020B0604020202020204" pitchFamily="34" charset="0"/>
                                </a:rPr>
                                <m:t>0.3</m:t>
                              </m:r>
                            </m:den>
                          </m:f>
                          <m:sSubSup>
                            <m:sSubSupPr>
                              <m:ctrlPr>
                                <a:rPr lang="en-US" i="1">
                                  <a:latin typeface="Cambria Math" panose="02040503050406030204" pitchFamily="18" charset="0"/>
                                  <a:cs typeface="Arial" panose="020B0604020202020204" pitchFamily="34" charset="0"/>
                                </a:rPr>
                              </m:ctrlPr>
                            </m:sSubSupPr>
                            <m:e>
                              <m:r>
                                <a:rPr lang="en-US" i="1">
                                  <a:latin typeface="Cambria Math" panose="02040503050406030204" pitchFamily="18" charset="0"/>
                                  <a:cs typeface="Arial" panose="020B0604020202020204" pitchFamily="34" charset="0"/>
                                </a:rPr>
                                <m:t>𝑍</m:t>
                              </m:r>
                            </m:e>
                            <m:sub>
                              <m:r>
                                <a:rPr lang="en-US" i="1">
                                  <a:latin typeface="Cambria Math" panose="02040503050406030204" pitchFamily="18" charset="0"/>
                                  <a:cs typeface="Arial" panose="020B0604020202020204" pitchFamily="34" charset="0"/>
                                </a:rPr>
                                <m:t>𝑢</m:t>
                              </m:r>
                            </m:sub>
                            <m:sup>
                              <m:r>
                                <a:rPr lang="en-US" i="1">
                                  <a:latin typeface="Cambria Math" panose="02040503050406030204" pitchFamily="18" charset="0"/>
                                  <a:cs typeface="Arial" panose="020B0604020202020204" pitchFamily="34" charset="0"/>
                                </a:rPr>
                                <m:t>5</m:t>
                              </m:r>
                            </m:sup>
                          </m:sSubSup>
                        </m:den>
                      </m:f>
                    </m:oMath>
                  </m:oMathPara>
                </a14:m>
                <a:endParaRPr lang="en-US" dirty="0">
                  <a:latin typeface="Arial" panose="020B0604020202020204" pitchFamily="34" charset="0"/>
                  <a:cs typeface="Arial" panose="020B0604020202020204" pitchFamily="34" charset="0"/>
                </a:endParaRPr>
              </a:p>
            </p:txBody>
          </p:sp>
        </mc:Choice>
        <mc:Fallback xmlns="">
          <p:sp>
            <p:nvSpPr>
              <p:cNvPr id="16" name="TextBox 15">
                <a:extLst>
                  <a:ext uri="{FF2B5EF4-FFF2-40B4-BE49-F238E27FC236}">
                    <a16:creationId xmlns:a16="http://schemas.microsoft.com/office/drawing/2014/main" id="{0F30D500-E09D-C947-B7B6-D7646FD8D78C}"/>
                  </a:ext>
                </a:extLst>
              </p:cNvPr>
              <p:cNvSpPr txBox="1">
                <a:spLocks noRot="1" noChangeAspect="1" noMove="1" noResize="1" noEditPoints="1" noAdjustHandles="1" noChangeArrowheads="1" noChangeShapeType="1" noTextEdit="1"/>
              </p:cNvSpPr>
              <p:nvPr/>
            </p:nvSpPr>
            <p:spPr>
              <a:xfrm>
                <a:off x="967647" y="4899280"/>
                <a:ext cx="1498744" cy="920060"/>
              </a:xfrm>
              <a:prstGeom prst="rect">
                <a:avLst/>
              </a:prstGeom>
              <a:blipFill>
                <a:blip r:embed="rId6"/>
                <a:stretch>
                  <a:fillRect l="-3361" r="-840" b="-40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2C2EEFEA-42BB-5640-A622-E6AFB408DABD}"/>
                  </a:ext>
                </a:extLst>
              </p:cNvPr>
              <p:cNvSpPr/>
              <p:nvPr/>
            </p:nvSpPr>
            <p:spPr>
              <a:xfrm>
                <a:off x="3330710" y="5077291"/>
                <a:ext cx="2175083" cy="61350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𝑍</m:t>
                          </m:r>
                        </m:e>
                        <m:sub>
                          <m:r>
                            <a:rPr lang="en-US" b="0" i="1" smtClean="0">
                              <a:latin typeface="Cambria Math" panose="02040503050406030204" pitchFamily="18" charset="0"/>
                              <a:cs typeface="Arial" panose="020B0604020202020204" pitchFamily="34" charset="0"/>
                            </a:rPr>
                            <m:t>𝑢</m:t>
                          </m:r>
                        </m:sub>
                      </m:sSub>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𝑠</m:t>
                              </m:r>
                            </m:sub>
                          </m:sSub>
                        </m:num>
                        <m:den>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𝑣</m:t>
                              </m:r>
                            </m:e>
                            <m:sub>
                              <m:r>
                                <a:rPr lang="en-US" b="0" i="1" smtClean="0">
                                  <a:latin typeface="Cambria Math" panose="02040503050406030204" pitchFamily="18" charset="0"/>
                                  <a:cs typeface="Arial" panose="020B0604020202020204" pitchFamily="34" charset="0"/>
                                </a:rPr>
                                <m:t>𝑠</m:t>
                              </m:r>
                            </m:sub>
                          </m:sSub>
                        </m:den>
                      </m:f>
                      <m:sSubSup>
                        <m:sSubSupPr>
                          <m:ctrlPr>
                            <a:rPr lang="en-US" b="0"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cs typeface="Arial" panose="020B0604020202020204" pitchFamily="34" charset="0"/>
                            </a:rPr>
                            <m:t>𝑅𝑒</m:t>
                          </m:r>
                        </m:e>
                        <m:sub>
                          <m:r>
                            <a:rPr lang="en-US" b="0" i="1" smtClean="0">
                              <a:latin typeface="Cambria Math" panose="02040503050406030204" pitchFamily="18" charset="0"/>
                              <a:cs typeface="Arial" panose="020B0604020202020204" pitchFamily="34" charset="0"/>
                            </a:rPr>
                            <m:t>𝑝</m:t>
                          </m:r>
                        </m:sub>
                        <m:sup>
                          <m:r>
                            <a:rPr lang="en-US" b="0" i="1" smtClean="0">
                              <a:latin typeface="Cambria Math" panose="02040503050406030204" pitchFamily="18" charset="0"/>
                              <a:cs typeface="Arial" panose="020B0604020202020204" pitchFamily="34" charset="0"/>
                            </a:rPr>
                            <m:t>0.6</m:t>
                          </m:r>
                        </m:sup>
                      </m:sSubSup>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𝑆</m:t>
                          </m:r>
                        </m:e>
                        <m:sup>
                          <m:r>
                            <a:rPr lang="en-US" b="0" i="1" smtClean="0">
                              <a:latin typeface="Cambria Math" panose="02040503050406030204" pitchFamily="18" charset="0"/>
                              <a:cs typeface="Arial" panose="020B0604020202020204" pitchFamily="34" charset="0"/>
                            </a:rPr>
                            <m:t>0.07</m:t>
                          </m:r>
                        </m:sup>
                      </m:sSup>
                    </m:oMath>
                  </m:oMathPara>
                </a14:m>
                <a:endParaRPr lang="en-US" dirty="0"/>
              </a:p>
            </p:txBody>
          </p:sp>
        </mc:Choice>
        <mc:Fallback xmlns="">
          <p:sp>
            <p:nvSpPr>
              <p:cNvPr id="17" name="Rectangle 16">
                <a:extLst>
                  <a:ext uri="{FF2B5EF4-FFF2-40B4-BE49-F238E27FC236}">
                    <a16:creationId xmlns:a16="http://schemas.microsoft.com/office/drawing/2014/main" id="{2C2EEFEA-42BB-5640-A622-E6AFB408DABD}"/>
                  </a:ext>
                </a:extLst>
              </p:cNvPr>
              <p:cNvSpPr>
                <a:spLocks noRot="1" noChangeAspect="1" noMove="1" noResize="1" noEditPoints="1" noAdjustHandles="1" noChangeArrowheads="1" noChangeShapeType="1" noTextEdit="1"/>
              </p:cNvSpPr>
              <p:nvPr/>
            </p:nvSpPr>
            <p:spPr>
              <a:xfrm>
                <a:off x="3330710" y="5077291"/>
                <a:ext cx="2175083" cy="613501"/>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3942E69-2B77-8646-B141-11289E53B905}"/>
                  </a:ext>
                </a:extLst>
              </p:cNvPr>
              <p:cNvSpPr txBox="1"/>
              <p:nvPr/>
            </p:nvSpPr>
            <p:spPr>
              <a:xfrm>
                <a:off x="967647" y="6083208"/>
                <a:ext cx="10778169"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where </a:t>
                </a:r>
                <a14:m>
                  <m:oMath xmlns:m="http://schemas.openxmlformats.org/officeDocument/2006/math">
                    <m:r>
                      <a:rPr lang="en-US" b="0" i="1" smtClean="0">
                        <a:latin typeface="Cambria Math" panose="02040503050406030204" pitchFamily="18" charset="0"/>
                        <a:cs typeface="Arial" panose="020B0604020202020204" pitchFamily="34" charset="0"/>
                      </a:rPr>
                      <m:t>𝐵</m:t>
                    </m:r>
                    <m:r>
                      <a:rPr lang="en-US" b="0" i="1" smtClean="0">
                        <a:latin typeface="Cambria Math" panose="02040503050406030204" pitchFamily="18" charset="0"/>
                        <a:cs typeface="Arial" panose="020B0604020202020204" pitchFamily="34" charset="0"/>
                      </a:rPr>
                      <m:t>=7.8∙</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10</m:t>
                        </m:r>
                      </m:e>
                      <m:sup>
                        <m:r>
                          <a:rPr lang="en-US" b="0" i="1" smtClean="0">
                            <a:latin typeface="Cambria Math" panose="02040503050406030204" pitchFamily="18" charset="0"/>
                            <a:ea typeface="Cambria Math" panose="02040503050406030204" pitchFamily="18" charset="0"/>
                            <a:cs typeface="Arial" panose="020B0604020202020204" pitchFamily="34" charset="0"/>
                          </a:rPr>
                          <m:t>−7</m:t>
                        </m:r>
                      </m:sup>
                    </m:sSup>
                  </m:oMath>
                </a14:m>
                <a:r>
                  <a:rPr lang="en-US" dirty="0">
                    <a:latin typeface="Arial" panose="020B0604020202020204" pitchFamily="34" charset="0"/>
                    <a:cs typeface="Arial" panose="020B0604020202020204" pitchFamily="34" charset="0"/>
                  </a:rPr>
                  <a:t> and the reference height z = b where </a:t>
                </a: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r>
                      <a:rPr lang="en-US" b="0" i="1" smtClean="0">
                        <a:latin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cs typeface="Arial" panose="020B0604020202020204" pitchFamily="34" charset="0"/>
                          </a:rPr>
                        </m:ctrlPr>
                      </m:accPr>
                      <m:e>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𝑐</m:t>
                            </m:r>
                          </m:e>
                          <m:sub>
                            <m:r>
                              <a:rPr lang="en-US" b="0" i="1" smtClean="0">
                                <a:latin typeface="Cambria Math" panose="02040503050406030204" pitchFamily="18" charset="0"/>
                                <a:cs typeface="Arial" panose="020B0604020202020204" pitchFamily="34" charset="0"/>
                              </a:rPr>
                              <m:t>𝑏</m:t>
                            </m:r>
                          </m:sub>
                        </m:sSub>
                      </m:e>
                    </m:acc>
                  </m:oMath>
                </a14:m>
                <a:r>
                  <a:rPr lang="en-US" dirty="0">
                    <a:latin typeface="Arial" panose="020B0604020202020204" pitchFamily="34" charset="0"/>
                    <a:cs typeface="Arial" panose="020B0604020202020204" pitchFamily="34" charset="0"/>
                  </a:rPr>
                  <a:t> is equal to 0.05H</a:t>
                </a:r>
              </a:p>
            </p:txBody>
          </p:sp>
        </mc:Choice>
        <mc:Fallback xmlns="">
          <p:sp>
            <p:nvSpPr>
              <p:cNvPr id="18" name="TextBox 17">
                <a:extLst>
                  <a:ext uri="{FF2B5EF4-FFF2-40B4-BE49-F238E27FC236}">
                    <a16:creationId xmlns:a16="http://schemas.microsoft.com/office/drawing/2014/main" id="{43942E69-2B77-8646-B141-11289E53B905}"/>
                  </a:ext>
                </a:extLst>
              </p:cNvPr>
              <p:cNvSpPr txBox="1">
                <a:spLocks noRot="1" noChangeAspect="1" noMove="1" noResize="1" noEditPoints="1" noAdjustHandles="1" noChangeArrowheads="1" noChangeShapeType="1" noTextEdit="1"/>
              </p:cNvSpPr>
              <p:nvPr/>
            </p:nvSpPr>
            <p:spPr>
              <a:xfrm>
                <a:off x="967647" y="6083208"/>
                <a:ext cx="10778169" cy="381708"/>
              </a:xfrm>
              <a:prstGeom prst="rect">
                <a:avLst/>
              </a:prstGeom>
              <a:blipFill>
                <a:blip r:embed="rId8"/>
                <a:stretch>
                  <a:fillRect l="-471" t="-9677" b="-19355"/>
                </a:stretch>
              </a:blipFill>
            </p:spPr>
            <p:txBody>
              <a:bodyPr/>
              <a:lstStyle/>
              <a:p>
                <a:r>
                  <a:rPr lang="en-US">
                    <a:noFill/>
                  </a:rPr>
                  <a:t> </a:t>
                </a:r>
              </a:p>
            </p:txBody>
          </p:sp>
        </mc:Fallback>
      </mc:AlternateContent>
    </p:spTree>
    <p:extLst>
      <p:ext uri="{BB962C8B-B14F-4D97-AF65-F5344CB8AC3E}">
        <p14:creationId xmlns:p14="http://schemas.microsoft.com/office/powerpoint/2010/main" val="346371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Oval 20">
            <a:extLst>
              <a:ext uri="{FF2B5EF4-FFF2-40B4-BE49-F238E27FC236}">
                <a16:creationId xmlns:a16="http://schemas.microsoft.com/office/drawing/2014/main" id="{1C78AA28-4CB1-3740-9D3B-91F98450148A}"/>
              </a:ext>
            </a:extLst>
          </p:cNvPr>
          <p:cNvSpPr/>
          <p:nvPr/>
        </p:nvSpPr>
        <p:spPr>
          <a:xfrm>
            <a:off x="6626598" y="4547075"/>
            <a:ext cx="623029" cy="666795"/>
          </a:xfrm>
          <a:prstGeom prst="ellipse">
            <a:avLst/>
          </a:prstGeom>
          <a:solidFill>
            <a:srgbClr val="FFFF00"/>
          </a:solid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10</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Garcia and Parker entrainment relation for mix-size material</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3BC04EF-E754-7A41-AA88-D274A547D9B6}"/>
                  </a:ext>
                </a:extLst>
              </p:cNvPr>
              <p:cNvSpPr txBox="1"/>
              <p:nvPr/>
            </p:nvSpPr>
            <p:spPr>
              <a:xfrm>
                <a:off x="881349" y="815248"/>
                <a:ext cx="2249077" cy="904350"/>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𝐸</m:t>
                          </m:r>
                        </m:e>
                        <m:sub>
                          <m:r>
                            <a:rPr lang="en-US" b="0" i="1" smtClean="0">
                              <a:latin typeface="Cambria Math" panose="02040503050406030204" pitchFamily="18" charset="0"/>
                              <a:cs typeface="Arial" panose="020B0604020202020204" pitchFamily="34" charset="0"/>
                            </a:rPr>
                            <m:t>𝑢𝑖</m:t>
                          </m:r>
                        </m:sub>
                      </m:sSub>
                      <m:r>
                        <a:rPr lang="en-US" b="0" i="0"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𝐸</m:t>
                              </m:r>
                            </m:e>
                            <m:sub>
                              <m:r>
                                <a:rPr lang="en-US" b="0" i="1" smtClean="0">
                                  <a:latin typeface="Cambria Math" panose="02040503050406030204" pitchFamily="18" charset="0"/>
                                  <a:cs typeface="Arial" panose="020B0604020202020204" pitchFamily="34" charset="0"/>
                                </a:rPr>
                                <m:t>𝑖</m:t>
                              </m:r>
                            </m:sub>
                          </m:sSub>
                        </m:num>
                        <m:den>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𝐹</m:t>
                              </m:r>
                            </m:e>
                            <m:sub>
                              <m:r>
                                <a:rPr lang="en-US" b="0" i="1" smtClean="0">
                                  <a:latin typeface="Cambria Math" panose="02040503050406030204" pitchFamily="18" charset="0"/>
                                  <a:cs typeface="Arial" panose="020B0604020202020204" pitchFamily="34" charset="0"/>
                                </a:rPr>
                                <m:t>𝑖</m:t>
                              </m:r>
                            </m:sub>
                          </m:sSub>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𝐴</m:t>
                          </m:r>
                          <m:sSubSup>
                            <m:sSubSupPr>
                              <m:ctrlPr>
                                <a:rPr lang="en-US" b="0"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cs typeface="Arial" panose="020B0604020202020204" pitchFamily="34" charset="0"/>
                                </a:rPr>
                                <m:t>𝑍</m:t>
                              </m:r>
                            </m:e>
                            <m:sub>
                              <m:r>
                                <a:rPr lang="en-US" b="0" i="1" smtClean="0">
                                  <a:latin typeface="Cambria Math" panose="02040503050406030204" pitchFamily="18" charset="0"/>
                                  <a:cs typeface="Arial" panose="020B0604020202020204" pitchFamily="34" charset="0"/>
                                </a:rPr>
                                <m:t>𝑢𝑖</m:t>
                              </m:r>
                            </m:sub>
                            <m:sup>
                              <m:r>
                                <a:rPr lang="en-US" b="0" i="1" smtClean="0">
                                  <a:latin typeface="Cambria Math" panose="02040503050406030204" pitchFamily="18" charset="0"/>
                                  <a:cs typeface="Arial" panose="020B0604020202020204" pitchFamily="34" charset="0"/>
                                </a:rPr>
                                <m:t>5</m:t>
                              </m:r>
                            </m:sup>
                          </m:sSubSup>
                        </m:num>
                        <m:den>
                          <m:r>
                            <a:rPr lang="en-US" b="0" i="1" smtClean="0">
                              <a:latin typeface="Cambria Math" panose="02040503050406030204" pitchFamily="18" charset="0"/>
                              <a:cs typeface="Arial" panose="020B0604020202020204" pitchFamily="34" charset="0"/>
                            </a:rPr>
                            <m:t>1+</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𝐴</m:t>
                              </m:r>
                            </m:num>
                            <m:den>
                              <m:r>
                                <a:rPr lang="en-US" b="0" i="1" smtClean="0">
                                  <a:latin typeface="Cambria Math" panose="02040503050406030204" pitchFamily="18" charset="0"/>
                                  <a:cs typeface="Arial" panose="020B0604020202020204" pitchFamily="34" charset="0"/>
                                </a:rPr>
                                <m:t>0.3</m:t>
                              </m:r>
                            </m:den>
                          </m:f>
                          <m:sSubSup>
                            <m:sSubSupPr>
                              <m:ctrlPr>
                                <a:rPr lang="en-US" i="1">
                                  <a:latin typeface="Cambria Math" panose="02040503050406030204" pitchFamily="18" charset="0"/>
                                  <a:cs typeface="Arial" panose="020B0604020202020204" pitchFamily="34" charset="0"/>
                                </a:rPr>
                              </m:ctrlPr>
                            </m:sSubSupPr>
                            <m:e>
                              <m:r>
                                <a:rPr lang="en-US" i="1">
                                  <a:latin typeface="Cambria Math" panose="02040503050406030204" pitchFamily="18" charset="0"/>
                                  <a:cs typeface="Arial" panose="020B0604020202020204" pitchFamily="34" charset="0"/>
                                </a:rPr>
                                <m:t>𝑍</m:t>
                              </m:r>
                            </m:e>
                            <m:sub>
                              <m:r>
                                <a:rPr lang="en-US" i="1">
                                  <a:latin typeface="Cambria Math" panose="02040503050406030204" pitchFamily="18" charset="0"/>
                                  <a:cs typeface="Arial" panose="020B0604020202020204" pitchFamily="34" charset="0"/>
                                </a:rPr>
                                <m:t>𝑢</m:t>
                              </m:r>
                              <m:r>
                                <a:rPr lang="en-US" b="0" i="1" smtClean="0">
                                  <a:latin typeface="Cambria Math" panose="02040503050406030204" pitchFamily="18" charset="0"/>
                                  <a:cs typeface="Arial" panose="020B0604020202020204" pitchFamily="34" charset="0"/>
                                </a:rPr>
                                <m:t>𝑖</m:t>
                              </m:r>
                            </m:sub>
                            <m:sup>
                              <m:r>
                                <a:rPr lang="en-US" i="1">
                                  <a:latin typeface="Cambria Math" panose="02040503050406030204" pitchFamily="18" charset="0"/>
                                  <a:cs typeface="Arial" panose="020B0604020202020204" pitchFamily="34" charset="0"/>
                                </a:rPr>
                                <m:t>5</m:t>
                              </m:r>
                            </m:sup>
                          </m:sSubSup>
                        </m:den>
                      </m:f>
                    </m:oMath>
                  </m:oMathPara>
                </a14:m>
                <a:endParaRPr lang="en-US" dirty="0">
                  <a:latin typeface="Arial" panose="020B0604020202020204" pitchFamily="34" charset="0"/>
                  <a:cs typeface="Arial" panose="020B0604020202020204" pitchFamily="34" charset="0"/>
                </a:endParaRPr>
              </a:p>
            </p:txBody>
          </p:sp>
        </mc:Choice>
        <mc:Fallback xmlns="">
          <p:sp>
            <p:nvSpPr>
              <p:cNvPr id="3" name="TextBox 2">
                <a:extLst>
                  <a:ext uri="{FF2B5EF4-FFF2-40B4-BE49-F238E27FC236}">
                    <a16:creationId xmlns:a16="http://schemas.microsoft.com/office/drawing/2014/main" id="{23BC04EF-E754-7A41-AA88-D274A547D9B6}"/>
                  </a:ext>
                </a:extLst>
              </p:cNvPr>
              <p:cNvSpPr txBox="1">
                <a:spLocks noRot="1" noChangeAspect="1" noMove="1" noResize="1" noEditPoints="1" noAdjustHandles="1" noChangeArrowheads="1" noChangeShapeType="1" noTextEdit="1"/>
              </p:cNvSpPr>
              <p:nvPr/>
            </p:nvSpPr>
            <p:spPr>
              <a:xfrm>
                <a:off x="881349" y="815248"/>
                <a:ext cx="2249077" cy="904350"/>
              </a:xfrm>
              <a:prstGeom prst="rect">
                <a:avLst/>
              </a:prstGeom>
              <a:blipFill>
                <a:blip r:embed="rId2"/>
                <a:stretch>
                  <a:fillRect l="-1685" r="-562" b="-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8DFBECE-F881-5A46-8606-F26DC2031FB6}"/>
                  </a:ext>
                </a:extLst>
              </p:cNvPr>
              <p:cNvSpPr txBox="1"/>
              <p:nvPr/>
            </p:nvSpPr>
            <p:spPr>
              <a:xfrm>
                <a:off x="881349" y="1940274"/>
                <a:ext cx="10778169" cy="108343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where </a:t>
                </a:r>
                <a14:m>
                  <m:oMath xmlns:m="http://schemas.openxmlformats.org/officeDocument/2006/math">
                    <m:r>
                      <a:rPr lang="en-US" b="0" i="1" smtClean="0">
                        <a:latin typeface="Cambria Math" panose="02040503050406030204" pitchFamily="18" charset="0"/>
                        <a:cs typeface="Arial" panose="020B0604020202020204" pitchFamily="34" charset="0"/>
                      </a:rPr>
                      <m:t>𝐴</m:t>
                    </m:r>
                    <m:r>
                      <a:rPr lang="en-US" b="0" i="1" smtClean="0">
                        <a:latin typeface="Cambria Math" panose="02040503050406030204" pitchFamily="18" charset="0"/>
                        <a:cs typeface="Arial" panose="020B0604020202020204" pitchFamily="34" charset="0"/>
                      </a:rPr>
                      <m:t>=1.3∙</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10</m:t>
                        </m:r>
                      </m:e>
                      <m:sup>
                        <m:r>
                          <a:rPr lang="en-US" b="0" i="1" smtClean="0">
                            <a:latin typeface="Cambria Math" panose="02040503050406030204" pitchFamily="18" charset="0"/>
                            <a:ea typeface="Cambria Math" panose="02040503050406030204" pitchFamily="18" charset="0"/>
                            <a:cs typeface="Arial" panose="020B0604020202020204" pitchFamily="34" charset="0"/>
                          </a:rPr>
                          <m:t>−7</m:t>
                        </m:r>
                      </m:sup>
                    </m:sSup>
                  </m:oMath>
                </a14:m>
                <a:r>
                  <a:rPr lang="en-US" dirty="0">
                    <a:latin typeface="Arial" panose="020B0604020202020204" pitchFamily="34" charset="0"/>
                    <a:cs typeface="Arial" panose="020B0604020202020204" pitchFamily="34" charset="0"/>
                  </a:rPr>
                  <a:t>, the reference height z = b where </a:t>
                </a: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r>
                      <a:rPr lang="en-US" b="0" i="1" smtClean="0">
                        <a:latin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cs typeface="Arial" panose="020B0604020202020204" pitchFamily="34" charset="0"/>
                          </a:rPr>
                        </m:ctrlPr>
                      </m:accPr>
                      <m:e>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𝑐</m:t>
                            </m:r>
                          </m:e>
                          <m:sub>
                            <m:r>
                              <a:rPr lang="en-US" b="0" i="1" smtClean="0">
                                <a:latin typeface="Cambria Math" panose="02040503050406030204" pitchFamily="18" charset="0"/>
                                <a:cs typeface="Arial" panose="020B0604020202020204" pitchFamily="34" charset="0"/>
                              </a:rPr>
                              <m:t>𝑏</m:t>
                            </m:r>
                          </m:sub>
                        </m:sSub>
                      </m:e>
                    </m:acc>
                  </m:oMath>
                </a14:m>
                <a:r>
                  <a:rPr lang="en-US" dirty="0">
                    <a:latin typeface="Arial" panose="020B0604020202020204" pitchFamily="34" charset="0"/>
                    <a:cs typeface="Arial" panose="020B0604020202020204" pitchFamily="34" charset="0"/>
                  </a:rPr>
                  <a:t> is equal to 0.05H, D</a:t>
                </a:r>
                <a:r>
                  <a:rPr lang="en-US" baseline="-25000" dirty="0">
                    <a:latin typeface="Arial" panose="020B0604020202020204" pitchFamily="34" charset="0"/>
                    <a:cs typeface="Arial" panose="020B0604020202020204" pitchFamily="34" charset="0"/>
                  </a:rPr>
                  <a:t>50</a:t>
                </a:r>
                <a:r>
                  <a:rPr lang="en-US" dirty="0">
                    <a:latin typeface="Arial" panose="020B0604020202020204" pitchFamily="34" charset="0"/>
                    <a:cs typeface="Arial" panose="020B0604020202020204" pitchFamily="34" charset="0"/>
                  </a:rPr>
                  <a:t> and </a:t>
                </a:r>
                <a:r>
                  <a:rPr lang="en-US" sz="2000" dirty="0">
                    <a:latin typeface="Symbol" pitchFamily="2" charset="2"/>
                    <a:cs typeface="Arial" panose="020B0604020202020204" pitchFamily="34" charset="0"/>
                  </a:rPr>
                  <a:t>s</a:t>
                </a:r>
                <a:r>
                  <a:rPr lang="en-US" dirty="0">
                    <a:latin typeface="Arial" panose="020B0604020202020204" pitchFamily="34" charset="0"/>
                    <a:cs typeface="Arial" panose="020B0604020202020204" pitchFamily="34" charset="0"/>
                  </a:rPr>
                  <a:t> respectively are the median grain size and the arithmetic standard deviation on the bed material on the </a:t>
                </a:r>
                <a:r>
                  <a:rPr lang="en-US" sz="2000" dirty="0">
                    <a:latin typeface="Symbol" pitchFamily="2" charset="2"/>
                    <a:cs typeface="Arial" panose="020B0604020202020204" pitchFamily="34" charset="0"/>
                  </a:rPr>
                  <a:t>y</a:t>
                </a:r>
                <a:r>
                  <a:rPr lang="en-US" dirty="0">
                    <a:latin typeface="Arial" panose="020B0604020202020204" pitchFamily="34" charset="0"/>
                    <a:cs typeface="Arial" panose="020B0604020202020204" pitchFamily="34" charset="0"/>
                  </a:rPr>
                  <a:t> scale, and F</a:t>
                </a:r>
                <a:r>
                  <a:rPr lang="en-US" baseline="-25000" dirty="0">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denotes the volume fraction content of sediment with grain size D</a:t>
                </a:r>
                <a:r>
                  <a:rPr lang="en-US" baseline="-25000" dirty="0">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in the surface layer. </a:t>
                </a:r>
              </a:p>
            </p:txBody>
          </p:sp>
        </mc:Choice>
        <mc:Fallback xmlns="">
          <p:sp>
            <p:nvSpPr>
              <p:cNvPr id="12" name="TextBox 11">
                <a:extLst>
                  <a:ext uri="{FF2B5EF4-FFF2-40B4-BE49-F238E27FC236}">
                    <a16:creationId xmlns:a16="http://schemas.microsoft.com/office/drawing/2014/main" id="{88DFBECE-F881-5A46-8606-F26DC2031FB6}"/>
                  </a:ext>
                </a:extLst>
              </p:cNvPr>
              <p:cNvSpPr txBox="1">
                <a:spLocks noRot="1" noChangeAspect="1" noMove="1" noResize="1" noEditPoints="1" noAdjustHandles="1" noChangeArrowheads="1" noChangeShapeType="1" noTextEdit="1"/>
              </p:cNvSpPr>
              <p:nvPr/>
            </p:nvSpPr>
            <p:spPr>
              <a:xfrm>
                <a:off x="881349" y="1940274"/>
                <a:ext cx="10778169" cy="1083438"/>
              </a:xfrm>
              <a:prstGeom prst="rect">
                <a:avLst/>
              </a:prstGeom>
              <a:blipFill>
                <a:blip r:embed="rId3"/>
                <a:stretch>
                  <a:fillRect l="-471" t="-1149" b="-68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29C5F194-ADD3-6743-A85C-1785E4C92646}"/>
                  </a:ext>
                </a:extLst>
              </p:cNvPr>
              <p:cNvSpPr/>
              <p:nvPr/>
            </p:nvSpPr>
            <p:spPr>
              <a:xfrm>
                <a:off x="3721251" y="810892"/>
                <a:ext cx="2901307" cy="7126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𝑍</m:t>
                          </m:r>
                        </m:e>
                        <m:sub>
                          <m:r>
                            <a:rPr lang="en-US" b="0" i="1" smtClean="0">
                              <a:latin typeface="Cambria Math" panose="02040503050406030204" pitchFamily="18" charset="0"/>
                              <a:cs typeface="Arial" panose="020B0604020202020204" pitchFamily="34" charset="0"/>
                            </a:rPr>
                            <m:t>𝑢𝑖</m:t>
                          </m:r>
                        </m:sub>
                      </m:sSub>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𝜆</m:t>
                          </m:r>
                        </m:e>
                        <m:sub>
                          <m:r>
                            <a:rPr lang="en-US" b="0" i="1" smtClean="0">
                              <a:latin typeface="Cambria Math" panose="02040503050406030204" pitchFamily="18" charset="0"/>
                              <a:cs typeface="Arial" panose="020B0604020202020204" pitchFamily="34" charset="0"/>
                            </a:rPr>
                            <m:t>𝑚</m:t>
                          </m:r>
                        </m:sub>
                      </m:sSub>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𝑠</m:t>
                              </m:r>
                            </m:sub>
                          </m:sSub>
                        </m:num>
                        <m:den>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𝑣</m:t>
                              </m:r>
                            </m:e>
                            <m:sub>
                              <m:r>
                                <a:rPr lang="en-US" b="0" i="1" smtClean="0">
                                  <a:latin typeface="Cambria Math" panose="02040503050406030204" pitchFamily="18" charset="0"/>
                                  <a:cs typeface="Arial" panose="020B0604020202020204" pitchFamily="34" charset="0"/>
                                </a:rPr>
                                <m:t>𝑠𝑖</m:t>
                              </m:r>
                            </m:sub>
                          </m:sSub>
                        </m:den>
                      </m:f>
                      <m:sSubSup>
                        <m:sSubSupPr>
                          <m:ctrlPr>
                            <a:rPr lang="en-US" b="0"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cs typeface="Arial" panose="020B0604020202020204" pitchFamily="34" charset="0"/>
                            </a:rPr>
                            <m:t>𝑅𝑒</m:t>
                          </m:r>
                        </m:e>
                        <m:sub>
                          <m:r>
                            <a:rPr lang="en-US" b="0" i="1" smtClean="0">
                              <a:latin typeface="Cambria Math" panose="02040503050406030204" pitchFamily="18" charset="0"/>
                              <a:cs typeface="Arial" panose="020B0604020202020204" pitchFamily="34" charset="0"/>
                            </a:rPr>
                            <m:t>𝑝𝑖</m:t>
                          </m:r>
                        </m:sub>
                        <m:sup>
                          <m:r>
                            <a:rPr lang="en-US" b="0" i="1" smtClean="0">
                              <a:latin typeface="Cambria Math" panose="02040503050406030204" pitchFamily="18" charset="0"/>
                              <a:cs typeface="Arial" panose="020B0604020202020204" pitchFamily="34" charset="0"/>
                            </a:rPr>
                            <m:t>0.6</m:t>
                          </m:r>
                        </m:sup>
                      </m:sSubSup>
                      <m:sSup>
                        <m:sSupPr>
                          <m:ctrlPr>
                            <a:rPr lang="en-US" b="0" i="1" smtClean="0">
                              <a:latin typeface="Cambria Math" panose="02040503050406030204" pitchFamily="18" charset="0"/>
                              <a:cs typeface="Arial" panose="020B0604020202020204" pitchFamily="34" charset="0"/>
                            </a:rPr>
                          </m:ctrlPr>
                        </m:sSupPr>
                        <m:e>
                          <m:d>
                            <m:dPr>
                              <m:ctrlPr>
                                <a:rPr lang="en-US" b="0" i="1" smtClean="0">
                                  <a:latin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𝐷</m:t>
                                      </m:r>
                                    </m:e>
                                    <m:sub>
                                      <m:r>
                                        <a:rPr lang="en-US" b="0" i="1" smtClean="0">
                                          <a:latin typeface="Cambria Math" panose="02040503050406030204" pitchFamily="18" charset="0"/>
                                          <a:cs typeface="Arial" panose="020B0604020202020204" pitchFamily="34" charset="0"/>
                                        </a:rPr>
                                        <m:t>𝑖</m:t>
                                      </m:r>
                                    </m:sub>
                                  </m:sSub>
                                </m:num>
                                <m:den>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𝐷</m:t>
                                      </m:r>
                                    </m:e>
                                    <m:sub>
                                      <m:r>
                                        <a:rPr lang="en-US" b="0" i="1" smtClean="0">
                                          <a:latin typeface="Cambria Math" panose="02040503050406030204" pitchFamily="18" charset="0"/>
                                          <a:cs typeface="Arial" panose="020B0604020202020204" pitchFamily="34" charset="0"/>
                                        </a:rPr>
                                        <m:t>50</m:t>
                                      </m:r>
                                    </m:sub>
                                  </m:sSub>
                                </m:den>
                              </m:f>
                            </m:e>
                          </m:d>
                        </m:e>
                        <m:sup>
                          <m:r>
                            <a:rPr lang="en-US" b="0" i="1" smtClean="0">
                              <a:latin typeface="Cambria Math" panose="02040503050406030204" pitchFamily="18" charset="0"/>
                              <a:cs typeface="Arial" panose="020B0604020202020204" pitchFamily="34" charset="0"/>
                            </a:rPr>
                            <m:t>0.2</m:t>
                          </m:r>
                        </m:sup>
                      </m:sSup>
                    </m:oMath>
                  </m:oMathPara>
                </a14:m>
                <a:endParaRPr lang="en-US" dirty="0"/>
              </a:p>
            </p:txBody>
          </p:sp>
        </mc:Choice>
        <mc:Fallback xmlns="">
          <p:sp>
            <p:nvSpPr>
              <p:cNvPr id="6" name="Rectangle 5">
                <a:extLst>
                  <a:ext uri="{FF2B5EF4-FFF2-40B4-BE49-F238E27FC236}">
                    <a16:creationId xmlns:a16="http://schemas.microsoft.com/office/drawing/2014/main" id="{29C5F194-ADD3-6743-A85C-1785E4C92646}"/>
                  </a:ext>
                </a:extLst>
              </p:cNvPr>
              <p:cNvSpPr>
                <a:spLocks noRot="1" noChangeAspect="1" noMove="1" noResize="1" noEditPoints="1" noAdjustHandles="1" noChangeArrowheads="1" noChangeShapeType="1" noTextEdit="1"/>
              </p:cNvSpPr>
              <p:nvPr/>
            </p:nvSpPr>
            <p:spPr>
              <a:xfrm>
                <a:off x="3721251" y="810892"/>
                <a:ext cx="2901307" cy="712631"/>
              </a:xfrm>
              <a:prstGeom prst="rect">
                <a:avLst/>
              </a:prstGeom>
              <a:blipFill>
                <a:blip r:embed="rId4"/>
                <a:stretch>
                  <a:fillRect/>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52748D4B-0761-FE49-A26A-E3430A38F0C1}"/>
              </a:ext>
            </a:extLst>
          </p:cNvPr>
          <p:cNvSpPr txBox="1"/>
          <p:nvPr/>
        </p:nvSpPr>
        <p:spPr>
          <a:xfrm>
            <a:off x="223581" y="3154518"/>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Wright and Parker entrainment relation for mix-size material</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F30D500-E09D-C947-B7B6-D7646FD8D78C}"/>
                  </a:ext>
                </a:extLst>
              </p:cNvPr>
              <p:cNvSpPr txBox="1"/>
              <p:nvPr/>
            </p:nvSpPr>
            <p:spPr>
              <a:xfrm>
                <a:off x="967647" y="4446341"/>
                <a:ext cx="2249077" cy="902235"/>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𝐸</m:t>
                          </m:r>
                        </m:e>
                        <m:sub>
                          <m:r>
                            <a:rPr lang="en-US" b="0" i="1" smtClean="0">
                              <a:latin typeface="Cambria Math" panose="02040503050406030204" pitchFamily="18" charset="0"/>
                              <a:cs typeface="Arial" panose="020B0604020202020204" pitchFamily="34" charset="0"/>
                            </a:rPr>
                            <m:t>𝑢𝑖</m:t>
                          </m:r>
                        </m:sub>
                      </m:sSub>
                      <m:r>
                        <a:rPr lang="en-US" b="0" i="0"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𝐸</m:t>
                              </m:r>
                            </m:e>
                            <m:sub>
                              <m:r>
                                <a:rPr lang="en-US" i="1">
                                  <a:latin typeface="Cambria Math" panose="02040503050406030204" pitchFamily="18" charset="0"/>
                                  <a:cs typeface="Arial" panose="020B0604020202020204" pitchFamily="34" charset="0"/>
                                </a:rPr>
                                <m:t>𝑖</m:t>
                              </m:r>
                            </m:sub>
                          </m:sSub>
                        </m:num>
                        <m:den>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𝐹</m:t>
                              </m:r>
                            </m:e>
                            <m:sub>
                              <m:r>
                                <a:rPr lang="en-US" i="1">
                                  <a:latin typeface="Cambria Math" panose="02040503050406030204" pitchFamily="18" charset="0"/>
                                  <a:cs typeface="Arial" panose="020B0604020202020204" pitchFamily="34" charset="0"/>
                                </a:rPr>
                                <m:t>𝑖</m:t>
                              </m:r>
                            </m:sub>
                          </m:sSub>
                        </m:den>
                      </m:f>
                      <m:r>
                        <a:rPr lang="en-US" i="1">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𝐵</m:t>
                          </m:r>
                          <m:sSubSup>
                            <m:sSubSupPr>
                              <m:ctrlPr>
                                <a:rPr lang="en-US" b="0"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cs typeface="Arial" panose="020B0604020202020204" pitchFamily="34" charset="0"/>
                                </a:rPr>
                                <m:t>𝑍</m:t>
                              </m:r>
                            </m:e>
                            <m:sub>
                              <m:r>
                                <a:rPr lang="en-US" b="0" i="1" smtClean="0">
                                  <a:latin typeface="Cambria Math" panose="02040503050406030204" pitchFamily="18" charset="0"/>
                                  <a:cs typeface="Arial" panose="020B0604020202020204" pitchFamily="34" charset="0"/>
                                </a:rPr>
                                <m:t>𝑢𝑖</m:t>
                              </m:r>
                            </m:sub>
                            <m:sup>
                              <m:r>
                                <a:rPr lang="en-US" b="0" i="1" smtClean="0">
                                  <a:latin typeface="Cambria Math" panose="02040503050406030204" pitchFamily="18" charset="0"/>
                                  <a:cs typeface="Arial" panose="020B0604020202020204" pitchFamily="34" charset="0"/>
                                </a:rPr>
                                <m:t>5</m:t>
                              </m:r>
                            </m:sup>
                          </m:sSubSup>
                        </m:num>
                        <m:den>
                          <m:r>
                            <a:rPr lang="en-US" b="0" i="1" smtClean="0">
                              <a:latin typeface="Cambria Math" panose="02040503050406030204" pitchFamily="18" charset="0"/>
                              <a:cs typeface="Arial" panose="020B0604020202020204" pitchFamily="34" charset="0"/>
                            </a:rPr>
                            <m:t>1+</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𝐵</m:t>
                              </m:r>
                            </m:num>
                            <m:den>
                              <m:r>
                                <a:rPr lang="en-US" b="0" i="1" smtClean="0">
                                  <a:latin typeface="Cambria Math" panose="02040503050406030204" pitchFamily="18" charset="0"/>
                                  <a:cs typeface="Arial" panose="020B0604020202020204" pitchFamily="34" charset="0"/>
                                </a:rPr>
                                <m:t>0.3</m:t>
                              </m:r>
                            </m:den>
                          </m:f>
                          <m:sSubSup>
                            <m:sSubSupPr>
                              <m:ctrlPr>
                                <a:rPr lang="en-US" i="1">
                                  <a:latin typeface="Cambria Math" panose="02040503050406030204" pitchFamily="18" charset="0"/>
                                  <a:cs typeface="Arial" panose="020B0604020202020204" pitchFamily="34" charset="0"/>
                                </a:rPr>
                              </m:ctrlPr>
                            </m:sSubSupPr>
                            <m:e>
                              <m:r>
                                <a:rPr lang="en-US" i="1">
                                  <a:latin typeface="Cambria Math" panose="02040503050406030204" pitchFamily="18" charset="0"/>
                                  <a:cs typeface="Arial" panose="020B0604020202020204" pitchFamily="34" charset="0"/>
                                </a:rPr>
                                <m:t>𝑍</m:t>
                              </m:r>
                            </m:e>
                            <m:sub>
                              <m:r>
                                <a:rPr lang="en-US" i="1">
                                  <a:latin typeface="Cambria Math" panose="02040503050406030204" pitchFamily="18" charset="0"/>
                                  <a:cs typeface="Arial" panose="020B0604020202020204" pitchFamily="34" charset="0"/>
                                </a:rPr>
                                <m:t>𝑢</m:t>
                              </m:r>
                              <m:r>
                                <a:rPr lang="en-US" b="0" i="1" smtClean="0">
                                  <a:latin typeface="Cambria Math" panose="02040503050406030204" pitchFamily="18" charset="0"/>
                                  <a:cs typeface="Arial" panose="020B0604020202020204" pitchFamily="34" charset="0"/>
                                </a:rPr>
                                <m:t>𝑖</m:t>
                              </m:r>
                            </m:sub>
                            <m:sup>
                              <m:r>
                                <a:rPr lang="en-US" i="1">
                                  <a:latin typeface="Cambria Math" panose="02040503050406030204" pitchFamily="18" charset="0"/>
                                  <a:cs typeface="Arial" panose="020B0604020202020204" pitchFamily="34" charset="0"/>
                                </a:rPr>
                                <m:t>5</m:t>
                              </m:r>
                            </m:sup>
                          </m:sSubSup>
                        </m:den>
                      </m:f>
                    </m:oMath>
                  </m:oMathPara>
                </a14:m>
                <a:endParaRPr lang="en-US" dirty="0">
                  <a:latin typeface="Arial" panose="020B0604020202020204" pitchFamily="34" charset="0"/>
                  <a:cs typeface="Arial" panose="020B0604020202020204" pitchFamily="34" charset="0"/>
                </a:endParaRPr>
              </a:p>
            </p:txBody>
          </p:sp>
        </mc:Choice>
        <mc:Fallback xmlns="">
          <p:sp>
            <p:nvSpPr>
              <p:cNvPr id="16" name="TextBox 15">
                <a:extLst>
                  <a:ext uri="{FF2B5EF4-FFF2-40B4-BE49-F238E27FC236}">
                    <a16:creationId xmlns:a16="http://schemas.microsoft.com/office/drawing/2014/main" id="{0F30D500-E09D-C947-B7B6-D7646FD8D78C}"/>
                  </a:ext>
                </a:extLst>
              </p:cNvPr>
              <p:cNvSpPr txBox="1">
                <a:spLocks noRot="1" noChangeAspect="1" noMove="1" noResize="1" noEditPoints="1" noAdjustHandles="1" noChangeArrowheads="1" noChangeShapeType="1" noTextEdit="1"/>
              </p:cNvSpPr>
              <p:nvPr/>
            </p:nvSpPr>
            <p:spPr>
              <a:xfrm>
                <a:off x="967647" y="4446341"/>
                <a:ext cx="2249077" cy="902235"/>
              </a:xfrm>
              <a:prstGeom prst="rect">
                <a:avLst/>
              </a:prstGeom>
              <a:blipFill>
                <a:blip r:embed="rId5"/>
                <a:stretch>
                  <a:fillRect l="-1685" b="-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2C2EEFEA-42BB-5640-A622-E6AFB408DABD}"/>
                  </a:ext>
                </a:extLst>
              </p:cNvPr>
              <p:cNvSpPr/>
              <p:nvPr/>
            </p:nvSpPr>
            <p:spPr>
              <a:xfrm>
                <a:off x="4095349" y="4583019"/>
                <a:ext cx="3293594" cy="590931"/>
              </a:xfrm>
              <a:prstGeom prst="rect">
                <a:avLst/>
              </a:prstGeom>
            </p:spPr>
            <p:txBody>
              <a:bodyPr wrap="none">
                <a:spAutoFit/>
              </a:bodyPr>
              <a:lstStyle/>
              <a:p>
                <a14:m>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𝑍</m:t>
                        </m:r>
                      </m:e>
                      <m:sub>
                        <m:r>
                          <a:rPr lang="en-US" b="0" i="1" smtClean="0">
                            <a:latin typeface="Cambria Math" panose="02040503050406030204" pitchFamily="18" charset="0"/>
                            <a:cs typeface="Arial" panose="020B0604020202020204" pitchFamily="34" charset="0"/>
                          </a:rPr>
                          <m:t>𝑢𝑖</m:t>
                        </m:r>
                      </m:sub>
                    </m:sSub>
                    <m:r>
                      <a:rPr lang="en-US" b="0" i="1" smtClean="0">
                        <a:latin typeface="Cambria Math" panose="02040503050406030204" pitchFamily="18" charset="0"/>
                        <a:cs typeface="Arial" panose="020B0604020202020204" pitchFamily="34" charset="0"/>
                      </a:rPr>
                      <m:t>=</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𝜆</m:t>
                        </m:r>
                      </m:e>
                      <m:sub>
                        <m:r>
                          <a:rPr lang="en-US" i="1">
                            <a:latin typeface="Cambria Math" panose="02040503050406030204" pitchFamily="18" charset="0"/>
                            <a:cs typeface="Arial" panose="020B0604020202020204" pitchFamily="34" charset="0"/>
                          </a:rPr>
                          <m:t>𝑚</m:t>
                        </m:r>
                      </m:sub>
                    </m:sSub>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𝑠</m:t>
                            </m:r>
                          </m:sub>
                        </m:sSub>
                      </m:num>
                      <m:den>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𝑣</m:t>
                            </m:r>
                          </m:e>
                          <m:sub>
                            <m:r>
                              <a:rPr lang="en-US" b="0" i="1" smtClean="0">
                                <a:latin typeface="Cambria Math" panose="02040503050406030204" pitchFamily="18" charset="0"/>
                                <a:cs typeface="Arial" panose="020B0604020202020204" pitchFamily="34" charset="0"/>
                              </a:rPr>
                              <m:t>𝑠𝑖</m:t>
                            </m:r>
                          </m:sub>
                        </m:sSub>
                      </m:den>
                    </m:f>
                    <m:sSubSup>
                      <m:sSubSupPr>
                        <m:ctrlPr>
                          <a:rPr lang="en-US" b="0"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cs typeface="Arial" panose="020B0604020202020204" pitchFamily="34" charset="0"/>
                          </a:rPr>
                          <m:t>𝑅𝑒</m:t>
                        </m:r>
                      </m:e>
                      <m:sub>
                        <m:r>
                          <a:rPr lang="en-US" b="0" i="1" smtClean="0">
                            <a:latin typeface="Cambria Math" panose="02040503050406030204" pitchFamily="18" charset="0"/>
                            <a:cs typeface="Arial" panose="020B0604020202020204" pitchFamily="34" charset="0"/>
                          </a:rPr>
                          <m:t>𝑝</m:t>
                        </m:r>
                      </m:sub>
                      <m:sup>
                        <m:r>
                          <a:rPr lang="en-US" b="0" i="1" smtClean="0">
                            <a:latin typeface="Cambria Math" panose="02040503050406030204" pitchFamily="18" charset="0"/>
                            <a:cs typeface="Arial" panose="020B0604020202020204" pitchFamily="34" charset="0"/>
                          </a:rPr>
                          <m:t>0.6</m:t>
                        </m:r>
                      </m:sup>
                    </m:sSubSup>
                    <m:sSup>
                      <m:sSupPr>
                        <m:ctrlPr>
                          <a:rPr lang="en-US" i="1">
                            <a:latin typeface="Cambria Math" panose="02040503050406030204" pitchFamily="18" charset="0"/>
                            <a:cs typeface="Arial" panose="020B0604020202020204" pitchFamily="34" charset="0"/>
                          </a:rPr>
                        </m:ctrlPr>
                      </m:sSupPr>
                      <m:e>
                        <m:d>
                          <m:dPr>
                            <m:ctrlPr>
                              <a:rPr lang="en-US" i="1">
                                <a:latin typeface="Cambria Math" panose="02040503050406030204" pitchFamily="18" charset="0"/>
                                <a:cs typeface="Arial" panose="020B0604020202020204" pitchFamily="34" charset="0"/>
                              </a:rPr>
                            </m:ctrlPr>
                          </m:dPr>
                          <m:e>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i="1">
                                        <a:latin typeface="Cambria Math" panose="02040503050406030204" pitchFamily="18" charset="0"/>
                                        <a:cs typeface="Arial" panose="020B0604020202020204" pitchFamily="34" charset="0"/>
                                      </a:rPr>
                                      <m:t>𝑖</m:t>
                                    </m:r>
                                  </m:sub>
                                </m:sSub>
                              </m:num>
                              <m:den>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i="1">
                                        <a:latin typeface="Cambria Math" panose="02040503050406030204" pitchFamily="18" charset="0"/>
                                        <a:cs typeface="Arial" panose="020B0604020202020204" pitchFamily="34" charset="0"/>
                                      </a:rPr>
                                      <m:t>50</m:t>
                                    </m:r>
                                  </m:sub>
                                </m:sSub>
                              </m:den>
                            </m:f>
                          </m:e>
                        </m:d>
                      </m:e>
                      <m:sup>
                        <m:r>
                          <a:rPr lang="en-US" i="1">
                            <a:latin typeface="Cambria Math" panose="02040503050406030204" pitchFamily="18" charset="0"/>
                            <a:cs typeface="Arial" panose="020B0604020202020204" pitchFamily="34" charset="0"/>
                          </a:rPr>
                          <m:t>0.2</m:t>
                        </m:r>
                      </m:sup>
                    </m:sSup>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 </m:t>
                        </m:r>
                        <m:r>
                          <a:rPr lang="en-US" i="1">
                            <a:latin typeface="Cambria Math" panose="02040503050406030204" pitchFamily="18" charset="0"/>
                            <a:cs typeface="Arial" panose="020B0604020202020204" pitchFamily="34" charset="0"/>
                          </a:rPr>
                          <m:t>𝑆</m:t>
                        </m:r>
                      </m:e>
                      <m:sup>
                        <m:r>
                          <a:rPr lang="en-US" i="1">
                            <a:latin typeface="Cambria Math" panose="02040503050406030204" pitchFamily="18" charset="0"/>
                            <a:cs typeface="Arial" panose="020B0604020202020204" pitchFamily="34" charset="0"/>
                          </a:rPr>
                          <m:t>0.07</m:t>
                        </m:r>
                      </m:sup>
                    </m:sSup>
                  </m:oMath>
                </a14:m>
                <a:r>
                  <a:rPr lang="en-US" dirty="0"/>
                  <a:t> </a:t>
                </a:r>
              </a:p>
            </p:txBody>
          </p:sp>
        </mc:Choice>
        <mc:Fallback xmlns="">
          <p:sp>
            <p:nvSpPr>
              <p:cNvPr id="17" name="Rectangle 16">
                <a:extLst>
                  <a:ext uri="{FF2B5EF4-FFF2-40B4-BE49-F238E27FC236}">
                    <a16:creationId xmlns:a16="http://schemas.microsoft.com/office/drawing/2014/main" id="{2C2EEFEA-42BB-5640-A622-E6AFB408DABD}"/>
                  </a:ext>
                </a:extLst>
              </p:cNvPr>
              <p:cNvSpPr>
                <a:spLocks noRot="1" noChangeAspect="1" noMove="1" noResize="1" noEditPoints="1" noAdjustHandles="1" noChangeArrowheads="1" noChangeShapeType="1" noTextEdit="1"/>
              </p:cNvSpPr>
              <p:nvPr/>
            </p:nvSpPr>
            <p:spPr>
              <a:xfrm>
                <a:off x="4095349" y="4583019"/>
                <a:ext cx="3293594" cy="590931"/>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3942E69-2B77-8646-B141-11289E53B905}"/>
                  </a:ext>
                </a:extLst>
              </p:cNvPr>
              <p:cNvSpPr txBox="1"/>
              <p:nvPr/>
            </p:nvSpPr>
            <p:spPr>
              <a:xfrm>
                <a:off x="967647" y="5765425"/>
                <a:ext cx="10778169"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where </a:t>
                </a:r>
                <a14:m>
                  <m:oMath xmlns:m="http://schemas.openxmlformats.org/officeDocument/2006/math">
                    <m:r>
                      <a:rPr lang="en-US" b="0" i="1" smtClean="0">
                        <a:latin typeface="Cambria Math" panose="02040503050406030204" pitchFamily="18" charset="0"/>
                        <a:cs typeface="Arial" panose="020B0604020202020204" pitchFamily="34" charset="0"/>
                      </a:rPr>
                      <m:t>𝐵</m:t>
                    </m:r>
                    <m:r>
                      <a:rPr lang="en-US" b="0" i="1" smtClean="0">
                        <a:latin typeface="Cambria Math" panose="02040503050406030204" pitchFamily="18" charset="0"/>
                        <a:cs typeface="Arial" panose="020B0604020202020204" pitchFamily="34" charset="0"/>
                      </a:rPr>
                      <m:t>=7.8∙</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10</m:t>
                        </m:r>
                      </m:e>
                      <m:sup>
                        <m:r>
                          <a:rPr lang="en-US" b="0" i="1" smtClean="0">
                            <a:latin typeface="Cambria Math" panose="02040503050406030204" pitchFamily="18" charset="0"/>
                            <a:ea typeface="Cambria Math" panose="02040503050406030204" pitchFamily="18" charset="0"/>
                            <a:cs typeface="Arial" panose="020B0604020202020204" pitchFamily="34" charset="0"/>
                          </a:rPr>
                          <m:t>−7</m:t>
                        </m:r>
                      </m:sup>
                    </m:sSup>
                  </m:oMath>
                </a14:m>
                <a:r>
                  <a:rPr lang="en-US" dirty="0">
                    <a:latin typeface="Arial" panose="020B0604020202020204" pitchFamily="34" charset="0"/>
                    <a:cs typeface="Arial" panose="020B0604020202020204" pitchFamily="34" charset="0"/>
                  </a:rPr>
                  <a:t> and the reference height z = b where </a:t>
                </a: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r>
                      <a:rPr lang="en-US" b="0" i="1" smtClean="0">
                        <a:latin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cs typeface="Arial" panose="020B0604020202020204" pitchFamily="34" charset="0"/>
                          </a:rPr>
                        </m:ctrlPr>
                      </m:accPr>
                      <m:e>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𝑐</m:t>
                            </m:r>
                          </m:e>
                          <m:sub>
                            <m:r>
                              <a:rPr lang="en-US" b="0" i="1" smtClean="0">
                                <a:latin typeface="Cambria Math" panose="02040503050406030204" pitchFamily="18" charset="0"/>
                                <a:cs typeface="Arial" panose="020B0604020202020204" pitchFamily="34" charset="0"/>
                              </a:rPr>
                              <m:t>𝑏</m:t>
                            </m:r>
                          </m:sub>
                        </m:sSub>
                      </m:e>
                    </m:acc>
                  </m:oMath>
                </a14:m>
                <a:r>
                  <a:rPr lang="en-US" dirty="0">
                    <a:latin typeface="Arial" panose="020B0604020202020204" pitchFamily="34" charset="0"/>
                    <a:cs typeface="Arial" panose="020B0604020202020204" pitchFamily="34" charset="0"/>
                  </a:rPr>
                  <a:t> is equal to 0.05H</a:t>
                </a:r>
              </a:p>
            </p:txBody>
          </p:sp>
        </mc:Choice>
        <mc:Fallback xmlns="">
          <p:sp>
            <p:nvSpPr>
              <p:cNvPr id="18" name="TextBox 17">
                <a:extLst>
                  <a:ext uri="{FF2B5EF4-FFF2-40B4-BE49-F238E27FC236}">
                    <a16:creationId xmlns:a16="http://schemas.microsoft.com/office/drawing/2014/main" id="{43942E69-2B77-8646-B141-11289E53B905}"/>
                  </a:ext>
                </a:extLst>
              </p:cNvPr>
              <p:cNvSpPr txBox="1">
                <a:spLocks noRot="1" noChangeAspect="1" noMove="1" noResize="1" noEditPoints="1" noAdjustHandles="1" noChangeArrowheads="1" noChangeShapeType="1" noTextEdit="1"/>
              </p:cNvSpPr>
              <p:nvPr/>
            </p:nvSpPr>
            <p:spPr>
              <a:xfrm>
                <a:off x="967647" y="5765425"/>
                <a:ext cx="10778169" cy="381708"/>
              </a:xfrm>
              <a:prstGeom prst="rect">
                <a:avLst/>
              </a:prstGeom>
              <a:blipFill>
                <a:blip r:embed="rId7"/>
                <a:stretch>
                  <a:fillRect l="-471"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A83C58F-6547-5746-A1A2-15C2D63A594E}"/>
                  </a:ext>
                </a:extLst>
              </p:cNvPr>
              <p:cNvSpPr txBox="1"/>
              <p:nvPr/>
            </p:nvSpPr>
            <p:spPr>
              <a:xfrm>
                <a:off x="7143644" y="1009311"/>
                <a:ext cx="1760547"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𝜆</m:t>
                          </m:r>
                        </m:e>
                        <m:sub>
                          <m:r>
                            <a:rPr lang="en-US" b="0" i="1" smtClean="0">
                              <a:latin typeface="Cambria Math" panose="02040503050406030204" pitchFamily="18" charset="0"/>
                              <a:cs typeface="Arial" panose="020B0604020202020204" pitchFamily="34" charset="0"/>
                            </a:rPr>
                            <m:t>𝑚</m:t>
                          </m:r>
                        </m:sub>
                      </m:sSub>
                      <m:r>
                        <a:rPr lang="en-US" b="0" i="1" smtClean="0">
                          <a:latin typeface="Cambria Math" panose="02040503050406030204" pitchFamily="18" charset="0"/>
                          <a:cs typeface="Arial" panose="020B0604020202020204" pitchFamily="34" charset="0"/>
                        </a:rPr>
                        <m:t>=1−0.298</m:t>
                      </m:r>
                      <m:r>
                        <a:rPr lang="en-US" b="0" i="1" smtClean="0">
                          <a:latin typeface="Cambria Math" panose="02040503050406030204" pitchFamily="18" charset="0"/>
                          <a:ea typeface="Cambria Math" panose="02040503050406030204" pitchFamily="18" charset="0"/>
                          <a:cs typeface="Arial" panose="020B0604020202020204" pitchFamily="34" charset="0"/>
                        </a:rPr>
                        <m:t>𝜎</m:t>
                      </m:r>
                    </m:oMath>
                  </m:oMathPara>
                </a14:m>
                <a:endParaRPr lang="en-US" dirty="0">
                  <a:latin typeface="Arial" panose="020B0604020202020204" pitchFamily="34" charset="0"/>
                  <a:cs typeface="Arial" panose="020B0604020202020204" pitchFamily="34" charset="0"/>
                </a:endParaRPr>
              </a:p>
            </p:txBody>
          </p:sp>
        </mc:Choice>
        <mc:Fallback xmlns="">
          <p:sp>
            <p:nvSpPr>
              <p:cNvPr id="2" name="TextBox 1">
                <a:extLst>
                  <a:ext uri="{FF2B5EF4-FFF2-40B4-BE49-F238E27FC236}">
                    <a16:creationId xmlns:a16="http://schemas.microsoft.com/office/drawing/2014/main" id="{BA83C58F-6547-5746-A1A2-15C2D63A594E}"/>
                  </a:ext>
                </a:extLst>
              </p:cNvPr>
              <p:cNvSpPr txBox="1">
                <a:spLocks noRot="1" noChangeAspect="1" noMove="1" noResize="1" noEditPoints="1" noAdjustHandles="1" noChangeArrowheads="1" noChangeShapeType="1" noTextEdit="1"/>
              </p:cNvSpPr>
              <p:nvPr/>
            </p:nvSpPr>
            <p:spPr>
              <a:xfrm>
                <a:off x="7143644" y="1009311"/>
                <a:ext cx="1760547" cy="315792"/>
              </a:xfrm>
              <a:prstGeom prst="rect">
                <a:avLst/>
              </a:prstGeom>
              <a:blipFill>
                <a:blip r:embed="rId8"/>
                <a:stretch>
                  <a:fillRect l="-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5C5F749-47BC-B34E-A860-3DFF3AB04876}"/>
                  </a:ext>
                </a:extLst>
              </p:cNvPr>
              <p:cNvSpPr txBox="1"/>
              <p:nvPr/>
            </p:nvSpPr>
            <p:spPr>
              <a:xfrm>
                <a:off x="9425277" y="752949"/>
                <a:ext cx="1707262" cy="676595"/>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𝑅𝑒</m:t>
                          </m:r>
                        </m:e>
                        <m:sub>
                          <m:r>
                            <a:rPr lang="en-US" b="0" i="1" smtClean="0">
                              <a:latin typeface="Cambria Math" panose="02040503050406030204" pitchFamily="18" charset="0"/>
                              <a:cs typeface="Arial" panose="020B0604020202020204" pitchFamily="34" charset="0"/>
                            </a:rPr>
                            <m:t>𝑝𝑖</m:t>
                          </m:r>
                        </m:sub>
                      </m:sSub>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ad>
                            <m:radPr>
                              <m:degHide m:val="on"/>
                              <m:ctrlPr>
                                <a:rPr lang="en-US" b="0" i="1" smtClean="0">
                                  <a:latin typeface="Cambria Math" panose="02040503050406030204" pitchFamily="18" charset="0"/>
                                  <a:cs typeface="Arial" panose="020B0604020202020204" pitchFamily="34" charset="0"/>
                                </a:rPr>
                              </m:ctrlPr>
                            </m:radPr>
                            <m:deg/>
                            <m:e>
                              <m:r>
                                <a:rPr lang="en-US" b="0" i="1" smtClean="0">
                                  <a:latin typeface="Cambria Math" panose="02040503050406030204" pitchFamily="18" charset="0"/>
                                  <a:cs typeface="Arial" panose="020B0604020202020204" pitchFamily="34" charset="0"/>
                                </a:rPr>
                                <m:t>𝑅𝑔</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𝐷</m:t>
                                  </m:r>
                                </m:e>
                                <m:sub>
                                  <m:r>
                                    <a:rPr lang="en-US" b="0" i="1" smtClean="0">
                                      <a:latin typeface="Cambria Math" panose="02040503050406030204" pitchFamily="18" charset="0"/>
                                      <a:cs typeface="Arial" panose="020B0604020202020204" pitchFamily="34" charset="0"/>
                                    </a:rPr>
                                    <m:t>𝑖</m:t>
                                  </m:r>
                                </m:sub>
                              </m:sSub>
                            </m:e>
                          </m:rad>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𝐷</m:t>
                              </m:r>
                            </m:e>
                            <m:sub>
                              <m:r>
                                <a:rPr lang="en-US" b="0" i="1" smtClean="0">
                                  <a:latin typeface="Cambria Math" panose="02040503050406030204" pitchFamily="18" charset="0"/>
                                  <a:cs typeface="Arial" panose="020B0604020202020204" pitchFamily="34" charset="0"/>
                                </a:rPr>
                                <m:t>𝑖</m:t>
                              </m:r>
                            </m:sub>
                          </m:sSub>
                        </m:num>
                        <m:den>
                          <m:r>
                            <a:rPr lang="en-US" b="0" i="1" smtClean="0">
                              <a:latin typeface="Cambria Math" panose="02040503050406030204" pitchFamily="18" charset="0"/>
                              <a:ea typeface="Cambria Math" panose="02040503050406030204" pitchFamily="18" charset="0"/>
                              <a:cs typeface="Arial" panose="020B0604020202020204" pitchFamily="34" charset="0"/>
                            </a:rPr>
                            <m:t>𝜈</m:t>
                          </m:r>
                        </m:den>
                      </m:f>
                    </m:oMath>
                  </m:oMathPara>
                </a14:m>
                <a:endParaRPr lang="en-US" dirty="0">
                  <a:latin typeface="Arial" panose="020B0604020202020204" pitchFamily="34" charset="0"/>
                  <a:cs typeface="Arial" panose="020B0604020202020204" pitchFamily="34" charset="0"/>
                </a:endParaRPr>
              </a:p>
            </p:txBody>
          </p:sp>
        </mc:Choice>
        <mc:Fallback xmlns="">
          <p:sp>
            <p:nvSpPr>
              <p:cNvPr id="19" name="TextBox 18">
                <a:extLst>
                  <a:ext uri="{FF2B5EF4-FFF2-40B4-BE49-F238E27FC236}">
                    <a16:creationId xmlns:a16="http://schemas.microsoft.com/office/drawing/2014/main" id="{05C5F749-47BC-B34E-A860-3DFF3AB04876}"/>
                  </a:ext>
                </a:extLst>
              </p:cNvPr>
              <p:cNvSpPr txBox="1">
                <a:spLocks noRot="1" noChangeAspect="1" noMove="1" noResize="1" noEditPoints="1" noAdjustHandles="1" noChangeArrowheads="1" noChangeShapeType="1" noTextEdit="1"/>
              </p:cNvSpPr>
              <p:nvPr/>
            </p:nvSpPr>
            <p:spPr>
              <a:xfrm>
                <a:off x="9425277" y="752949"/>
                <a:ext cx="1707262" cy="676595"/>
              </a:xfrm>
              <a:prstGeom prst="rect">
                <a:avLst/>
              </a:prstGeom>
              <a:blipFill>
                <a:blip r:embed="rId9"/>
                <a:stretch>
                  <a:fillRect l="-2222" b="-5556"/>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DF7942EA-2E98-AA43-98CB-2FC49B107039}"/>
              </a:ext>
            </a:extLst>
          </p:cNvPr>
          <p:cNvSpPr txBox="1"/>
          <p:nvPr/>
        </p:nvSpPr>
        <p:spPr>
          <a:xfrm>
            <a:off x="881348" y="3746205"/>
            <a:ext cx="10778169"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Wright and Parker modified the Garcia and Parker formulation so that it can also be applied to large, low-slope sand bed rivers. </a:t>
            </a:r>
          </a:p>
        </p:txBody>
      </p:sp>
    </p:spTree>
    <p:extLst>
      <p:ext uri="{BB962C8B-B14F-4D97-AF65-F5344CB8AC3E}">
        <p14:creationId xmlns:p14="http://schemas.microsoft.com/office/powerpoint/2010/main" val="15605386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11</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Calculation of 1D suspended sediment transport rate</a:t>
            </a:r>
          </a:p>
        </p:txBody>
      </p:sp>
      <p:sp>
        <p:nvSpPr>
          <p:cNvPr id="7" name="TextBox 6">
            <a:extLst>
              <a:ext uri="{FF2B5EF4-FFF2-40B4-BE49-F238E27FC236}">
                <a16:creationId xmlns:a16="http://schemas.microsoft.com/office/drawing/2014/main" id="{F77C4F74-D4DD-BC4E-A89D-35BA6C04924B}"/>
              </a:ext>
            </a:extLst>
          </p:cNvPr>
          <p:cNvSpPr txBox="1"/>
          <p:nvPr/>
        </p:nvSpPr>
        <p:spPr>
          <a:xfrm>
            <a:off x="383626" y="817980"/>
            <a:ext cx="10770020"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volume suspended sediment transport rate per unit channel width </a:t>
            </a:r>
            <a:r>
              <a:rPr lang="en-US" dirty="0" err="1">
                <a:latin typeface="Arial" panose="020B0604020202020204" pitchFamily="34" charset="0"/>
                <a:cs typeface="Arial" panose="020B0604020202020204" pitchFamily="34" charset="0"/>
              </a:rPr>
              <a:t>q</a:t>
            </a:r>
            <a:r>
              <a:rPr lang="en-US" baseline="-25000" dirty="0" err="1">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is computed as</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76008BB-186C-984B-9AD8-618732D42B8D}"/>
                  </a:ext>
                </a:extLst>
              </p:cNvPr>
              <p:cNvSpPr txBox="1"/>
              <p:nvPr/>
            </p:nvSpPr>
            <p:spPr>
              <a:xfrm>
                <a:off x="496270" y="1551099"/>
                <a:ext cx="2494529" cy="415883"/>
              </a:xfrm>
              <a:prstGeom prst="rect">
                <a:avLst/>
              </a:prstGeom>
              <a:noFill/>
            </p:spPr>
            <p:txBody>
              <a:bodyPr wrap="none" lIns="0" tIns="0" rIns="0" bIns="0" rtlCol="0">
                <a:spAutoFit/>
              </a:bodyPr>
              <a:lstStyle/>
              <a:p>
                <a:pPr>
                  <a:lnSpc>
                    <a:spcPct val="114000"/>
                  </a:lnSpc>
                </a:pPr>
                <a14:m>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𝑞</m:t>
                        </m:r>
                      </m:e>
                      <m:sub>
                        <m:r>
                          <a:rPr lang="en-US" b="0" i="1" smtClean="0">
                            <a:latin typeface="Cambria Math" panose="02040503050406030204" pitchFamily="18" charset="0"/>
                            <a:cs typeface="Arial" panose="020B0604020202020204" pitchFamily="34" charset="0"/>
                          </a:rPr>
                          <m:t>𝑠</m:t>
                        </m:r>
                      </m:sub>
                    </m:sSub>
                    <m:r>
                      <a:rPr lang="en-US" b="0" i="1" smtClean="0">
                        <a:latin typeface="Cambria Math" panose="02040503050406030204" pitchFamily="18" charset="0"/>
                        <a:cs typeface="Arial" panose="020B0604020202020204" pitchFamily="34" charset="0"/>
                      </a:rPr>
                      <m:t>=</m:t>
                    </m:r>
                    <m:nary>
                      <m:naryPr>
                        <m:limLoc m:val="undOvr"/>
                        <m:ctrlPr>
                          <a:rPr lang="en-US" b="0" i="1" smtClean="0">
                            <a:latin typeface="Cambria Math" panose="02040503050406030204" pitchFamily="18" charset="0"/>
                            <a:cs typeface="Arial" panose="020B0604020202020204" pitchFamily="34" charset="0"/>
                          </a:rPr>
                        </m:ctrlPr>
                      </m:naryPr>
                      <m:sub>
                        <m:r>
                          <m:rPr>
                            <m:brk m:alnAt="24"/>
                          </m:rPr>
                          <a:rPr lang="en-US" b="0" i="1" smtClean="0">
                            <a:latin typeface="Cambria Math" panose="02040503050406030204" pitchFamily="18" charset="0"/>
                            <a:cs typeface="Arial" panose="020B0604020202020204" pitchFamily="34" charset="0"/>
                          </a:rPr>
                          <m:t>0</m:t>
                        </m:r>
                      </m:sub>
                      <m:sup>
                        <m:r>
                          <a:rPr lang="en-US" b="0" i="1" smtClean="0">
                            <a:latin typeface="Cambria Math" panose="02040503050406030204" pitchFamily="18" charset="0"/>
                            <a:cs typeface="Arial" panose="020B0604020202020204" pitchFamily="34" charset="0"/>
                          </a:rPr>
                          <m:t>𝐻</m:t>
                        </m:r>
                      </m:sup>
                      <m:e>
                        <m:acc>
                          <m:accPr>
                            <m:chr m:val="̅"/>
                            <m:ctrlPr>
                              <a:rPr lang="en-US" b="0"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𝑢</m:t>
                            </m:r>
                          </m:e>
                        </m:acc>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r>
                          <a:rPr lang="en-US" b="0" i="1" smtClean="0">
                            <a:latin typeface="Cambria Math" panose="02040503050406030204" pitchFamily="18" charset="0"/>
                            <a:cs typeface="Arial" panose="020B0604020202020204" pitchFamily="34" charset="0"/>
                          </a:rPr>
                          <m:t>𝑑𝑧</m:t>
                        </m:r>
                      </m:e>
                    </m:nary>
                    <m:r>
                      <a:rPr lang="en-US" b="0" i="1" smtClean="0">
                        <a:latin typeface="Cambria Math" panose="02040503050406030204" pitchFamily="18" charset="0"/>
                        <a:ea typeface="Cambria Math" panose="02040503050406030204" pitchFamily="18" charset="0"/>
                        <a:cs typeface="Arial" panose="020B0604020202020204" pitchFamily="34" charset="0"/>
                      </a:rPr>
                      <m:t>≅</m:t>
                    </m:r>
                    <m:nary>
                      <m:naryPr>
                        <m:limLoc m:val="undOvr"/>
                        <m:ctrlPr>
                          <a:rPr lang="en-US" i="1">
                            <a:latin typeface="Cambria Math" panose="02040503050406030204" pitchFamily="18" charset="0"/>
                            <a:cs typeface="Arial" panose="020B0604020202020204" pitchFamily="34" charset="0"/>
                          </a:rPr>
                        </m:ctrlPr>
                      </m:naryPr>
                      <m:sub>
                        <m:r>
                          <a:rPr lang="en-US" b="0" i="1" smtClean="0">
                            <a:latin typeface="Cambria Math" panose="02040503050406030204" pitchFamily="18" charset="0"/>
                            <a:cs typeface="Arial" panose="020B0604020202020204" pitchFamily="34" charset="0"/>
                          </a:rPr>
                          <m:t>𝑏</m:t>
                        </m:r>
                      </m:sub>
                      <m:sup>
                        <m:r>
                          <a:rPr lang="en-US" i="1">
                            <a:latin typeface="Cambria Math" panose="02040503050406030204" pitchFamily="18" charset="0"/>
                            <a:cs typeface="Arial" panose="020B0604020202020204" pitchFamily="34" charset="0"/>
                          </a:rPr>
                          <m:t>𝐻</m:t>
                        </m:r>
                      </m:sup>
                      <m:e>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𝑢</m:t>
                            </m:r>
                          </m:e>
                        </m:acc>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r>
                          <a:rPr lang="en-US" i="1">
                            <a:latin typeface="Cambria Math" panose="02040503050406030204" pitchFamily="18" charset="0"/>
                            <a:cs typeface="Arial" panose="020B0604020202020204" pitchFamily="34" charset="0"/>
                          </a:rPr>
                          <m:t>𝑑𝑧</m:t>
                        </m:r>
                      </m:e>
                    </m:nary>
                  </m:oMath>
                </a14:m>
                <a:r>
                  <a:rPr lang="en-US" dirty="0">
                    <a:latin typeface="Arial" panose="020B0604020202020204" pitchFamily="34" charset="0"/>
                    <a:cs typeface="Arial" panose="020B0604020202020204" pitchFamily="34" charset="0"/>
                  </a:rPr>
                  <a:t> </a:t>
                </a:r>
              </a:p>
            </p:txBody>
          </p:sp>
        </mc:Choice>
        <mc:Fallback xmlns="">
          <p:sp>
            <p:nvSpPr>
              <p:cNvPr id="2" name="TextBox 1">
                <a:extLst>
                  <a:ext uri="{FF2B5EF4-FFF2-40B4-BE49-F238E27FC236}">
                    <a16:creationId xmlns:a16="http://schemas.microsoft.com/office/drawing/2014/main" id="{176008BB-186C-984B-9AD8-618732D42B8D}"/>
                  </a:ext>
                </a:extLst>
              </p:cNvPr>
              <p:cNvSpPr txBox="1">
                <a:spLocks noRot="1" noChangeAspect="1" noMove="1" noResize="1" noEditPoints="1" noAdjustHandles="1" noChangeArrowheads="1" noChangeShapeType="1" noTextEdit="1"/>
              </p:cNvSpPr>
              <p:nvPr/>
            </p:nvSpPr>
            <p:spPr>
              <a:xfrm>
                <a:off x="496270" y="1551099"/>
                <a:ext cx="2494529" cy="415883"/>
              </a:xfrm>
              <a:prstGeom prst="rect">
                <a:avLst/>
              </a:prstGeom>
              <a:blipFill>
                <a:blip r:embed="rId3"/>
                <a:stretch>
                  <a:fillRect l="-3030" t="-105714" b="-18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A46665F7-D027-824C-9943-B21C4CF40A7F}"/>
                  </a:ext>
                </a:extLst>
              </p:cNvPr>
              <p:cNvSpPr txBox="1"/>
              <p:nvPr/>
            </p:nvSpPr>
            <p:spPr>
              <a:xfrm>
                <a:off x="5597973" y="1199688"/>
                <a:ext cx="1980799" cy="853311"/>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num>
                        <m:den>
                          <m:acc>
                            <m:accPr>
                              <m:chr m:val="̅"/>
                              <m:ctrlPr>
                                <a:rPr lang="en-US" i="1" smtClean="0">
                                  <a:latin typeface="Cambria Math" panose="02040503050406030204" pitchFamily="18" charset="0"/>
                                  <a:cs typeface="Arial" panose="020B0604020202020204" pitchFamily="34" charset="0"/>
                                </a:rPr>
                              </m:ctrlPr>
                            </m:accPr>
                            <m:e>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𝑐</m:t>
                                  </m:r>
                                </m:e>
                                <m:sub>
                                  <m:r>
                                    <a:rPr lang="en-US" b="0" i="1" smtClean="0">
                                      <a:latin typeface="Cambria Math" panose="02040503050406030204" pitchFamily="18" charset="0"/>
                                      <a:cs typeface="Arial" panose="020B0604020202020204" pitchFamily="34" charset="0"/>
                                    </a:rPr>
                                    <m:t>𝑏</m:t>
                                  </m:r>
                                </m:sub>
                              </m:sSub>
                            </m:e>
                          </m:acc>
                        </m:den>
                      </m:f>
                      <m:r>
                        <a:rPr lang="en-US" b="0" i="1" smtClean="0">
                          <a:latin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cs typeface="Arial" panose="020B0604020202020204" pitchFamily="34" charset="0"/>
                            </a:rPr>
                          </m:ctrlPr>
                        </m:sSupPr>
                        <m:e>
                          <m:d>
                            <m:dPr>
                              <m:begChr m:val="["/>
                              <m:endChr m:val="]"/>
                              <m:ctrlPr>
                                <a:rPr lang="en-US" b="0" i="1" smtClean="0">
                                  <a:latin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cs typeface="Arial" panose="020B0604020202020204" pitchFamily="34" charset="0"/>
                                    </a:rPr>
                                  </m:ctrlPr>
                                </m:fPr>
                                <m:num>
                                  <m:d>
                                    <m:dPr>
                                      <m:ctrlPr>
                                        <a:rPr lang="en-US" b="0" i="1" smtClean="0">
                                          <a:latin typeface="Cambria Math" panose="02040503050406030204" pitchFamily="18" charset="0"/>
                                          <a:cs typeface="Arial" panose="020B0604020202020204" pitchFamily="34" charset="0"/>
                                        </a:rPr>
                                      </m:ctrlPr>
                                    </m:dPr>
                                    <m:e>
                                      <m:r>
                                        <a:rPr lang="en-US" i="1">
                                          <a:latin typeface="Cambria Math" panose="02040503050406030204" pitchFamily="18" charset="0"/>
                                          <a:ea typeface="Cambria Math" panose="02040503050406030204" pitchFamily="18" charset="0"/>
                                          <a:cs typeface="Arial" panose="020B0604020202020204" pitchFamily="34" charset="0"/>
                                        </a:rPr>
                                        <m:t>1−</m:t>
                                      </m:r>
                                      <m:r>
                                        <a:rPr lang="en-US" i="1">
                                          <a:latin typeface="Cambria Math" panose="02040503050406030204" pitchFamily="18" charset="0"/>
                                          <a:ea typeface="Cambria Math" panose="02040503050406030204" pitchFamily="18" charset="0"/>
                                          <a:cs typeface="Arial" panose="020B0604020202020204" pitchFamily="34" charset="0"/>
                                        </a:rPr>
                                        <m:t>𝜁</m:t>
                                      </m:r>
                                    </m:e>
                                  </m:d>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𝜁</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num>
                                <m:den>
                                  <m:d>
                                    <m:dPr>
                                      <m:ctrlPr>
                                        <a:rPr lang="en-US" b="0" i="1" smtClean="0">
                                          <a:latin typeface="Cambria Math" panose="02040503050406030204" pitchFamily="18" charset="0"/>
                                          <a:cs typeface="Arial" panose="020B0604020202020204" pitchFamily="34" charset="0"/>
                                        </a:rPr>
                                      </m:ctrlPr>
                                    </m:dPr>
                                    <m:e>
                                      <m:r>
                                        <a:rPr lang="en-US" i="1">
                                          <a:latin typeface="Cambria Math" panose="02040503050406030204" pitchFamily="18" charset="0"/>
                                          <a:ea typeface="Cambria Math" panose="02040503050406030204" pitchFamily="18" charset="0"/>
                                          <a:cs typeface="Arial" panose="020B0604020202020204" pitchFamily="34" charset="0"/>
                                        </a:rPr>
                                        <m:t>1−</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𝜁</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e>
                                  </m:d>
                                  <m:r>
                                    <a:rPr lang="en-US" b="0" i="1" smtClean="0">
                                      <a:latin typeface="Cambria Math" panose="02040503050406030204" pitchFamily="18" charset="0"/>
                                      <a:ea typeface="Cambria Math" panose="02040503050406030204" pitchFamily="18" charset="0"/>
                                      <a:cs typeface="Arial" panose="020B0604020202020204" pitchFamily="34" charset="0"/>
                                    </a:rPr>
                                    <m:t>𝜁</m:t>
                                  </m:r>
                                </m:den>
                              </m:f>
                            </m:e>
                          </m:d>
                        </m:e>
                        <m:sup>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num>
                            <m:den>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den>
                          </m:f>
                        </m:sup>
                      </m:sSup>
                    </m:oMath>
                  </m:oMathPara>
                </a14:m>
                <a:endParaRPr lang="en-US" dirty="0">
                  <a:latin typeface="Arial" panose="020B0604020202020204" pitchFamily="34" charset="0"/>
                  <a:cs typeface="Arial" panose="020B0604020202020204" pitchFamily="34" charset="0"/>
                </a:endParaRPr>
              </a:p>
            </p:txBody>
          </p:sp>
        </mc:Choice>
        <mc:Fallback xmlns="">
          <p:sp>
            <p:nvSpPr>
              <p:cNvPr id="23" name="TextBox 22">
                <a:extLst>
                  <a:ext uri="{FF2B5EF4-FFF2-40B4-BE49-F238E27FC236}">
                    <a16:creationId xmlns:a16="http://schemas.microsoft.com/office/drawing/2014/main" id="{A46665F7-D027-824C-9943-B21C4CF40A7F}"/>
                  </a:ext>
                </a:extLst>
              </p:cNvPr>
              <p:cNvSpPr txBox="1">
                <a:spLocks noRot="1" noChangeAspect="1" noMove="1" noResize="1" noEditPoints="1" noAdjustHandles="1" noChangeArrowheads="1" noChangeShapeType="1" noTextEdit="1"/>
              </p:cNvSpPr>
              <p:nvPr/>
            </p:nvSpPr>
            <p:spPr>
              <a:xfrm>
                <a:off x="5597973" y="1199688"/>
                <a:ext cx="1980799" cy="853311"/>
              </a:xfrm>
              <a:prstGeom prst="rect">
                <a:avLst/>
              </a:prstGeom>
              <a:blipFill>
                <a:blip r:embed="rId4"/>
                <a:stretch>
                  <a:fillRect l="-637" b="-8824"/>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84F07E43-8324-4E40-A9BD-F04F0E88C6C1}"/>
              </a:ext>
            </a:extLst>
          </p:cNvPr>
          <p:cNvSpPr txBox="1"/>
          <p:nvPr/>
        </p:nvSpPr>
        <p:spPr>
          <a:xfrm>
            <a:off x="4047468" y="1568186"/>
            <a:ext cx="1110940"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where</a:t>
            </a:r>
          </a:p>
        </p:txBody>
      </p:sp>
      <p:sp>
        <p:nvSpPr>
          <p:cNvPr id="24" name="TextBox 23">
            <a:extLst>
              <a:ext uri="{FF2B5EF4-FFF2-40B4-BE49-F238E27FC236}">
                <a16:creationId xmlns:a16="http://schemas.microsoft.com/office/drawing/2014/main" id="{BDD77E58-A792-6A4A-85B1-F44EA84DC2D1}"/>
              </a:ext>
            </a:extLst>
          </p:cNvPr>
          <p:cNvSpPr txBox="1"/>
          <p:nvPr/>
        </p:nvSpPr>
        <p:spPr>
          <a:xfrm>
            <a:off x="5718940" y="2243853"/>
            <a:ext cx="2670313"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and </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4BD1C8D-B0A2-0742-A7E0-60316528E769}"/>
                  </a:ext>
                </a:extLst>
              </p:cNvPr>
              <p:cNvSpPr txBox="1"/>
              <p:nvPr/>
            </p:nvSpPr>
            <p:spPr>
              <a:xfrm>
                <a:off x="5718940" y="2769969"/>
                <a:ext cx="1678408" cy="503792"/>
              </a:xfrm>
              <a:prstGeom prst="rect">
                <a:avLst/>
              </a:prstGeom>
              <a:noFill/>
            </p:spPr>
            <p:txBody>
              <a:bodyPr wrap="none" lIns="0" tIns="0" rIns="0" bIns="0" rtlCol="0">
                <a:spAutoFit/>
              </a:bodyPr>
              <a:lstStyle/>
              <a:p>
                <a:pPr algn="l">
                  <a:lnSpc>
                    <a:spcPct val="114000"/>
                  </a:lnSpc>
                </a:pP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𝑢</m:t>
                        </m:r>
                      </m:e>
                    </m:acc>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m:t>
                            </m:r>
                          </m:sub>
                        </m:sSub>
                      </m:num>
                      <m:den>
                        <m:r>
                          <a:rPr lang="en-US" b="0" i="1" smtClean="0">
                            <a:latin typeface="Cambria Math" panose="02040503050406030204" pitchFamily="18" charset="0"/>
                            <a:ea typeface="Cambria Math" panose="02040503050406030204" pitchFamily="18" charset="0"/>
                            <a:cs typeface="Arial" panose="020B0604020202020204" pitchFamily="34" charset="0"/>
                          </a:rPr>
                          <m:t>𝜅</m:t>
                        </m:r>
                      </m:den>
                    </m:f>
                    <m:r>
                      <a:rPr lang="en-US" b="0" i="1" smtClean="0">
                        <a:latin typeface="Cambria Math" panose="02040503050406030204" pitchFamily="18" charset="0"/>
                        <a:cs typeface="Arial" panose="020B0604020202020204" pitchFamily="34" charset="0"/>
                      </a:rPr>
                      <m:t>𝑙𝑛</m:t>
                    </m:r>
                    <m:d>
                      <m:dPr>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30</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𝑧</m:t>
                            </m:r>
                          </m:num>
                          <m:den>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𝑘</m:t>
                                </m:r>
                              </m:e>
                              <m:sub>
                                <m:r>
                                  <a:rPr lang="en-US" b="0" i="1" smtClean="0">
                                    <a:latin typeface="Cambria Math" panose="02040503050406030204" pitchFamily="18" charset="0"/>
                                    <a:cs typeface="Arial" panose="020B0604020202020204" pitchFamily="34" charset="0"/>
                                  </a:rPr>
                                  <m:t>𝑐</m:t>
                                </m:r>
                              </m:sub>
                            </m:sSub>
                          </m:den>
                        </m:f>
                      </m:e>
                    </m:d>
                  </m:oMath>
                </a14:m>
                <a:r>
                  <a:rPr lang="en-US" dirty="0">
                    <a:latin typeface="Arial" panose="020B0604020202020204" pitchFamily="34" charset="0"/>
                    <a:cs typeface="Arial" panose="020B0604020202020204" pitchFamily="34" charset="0"/>
                  </a:rPr>
                  <a:t> </a:t>
                </a:r>
              </a:p>
            </p:txBody>
          </p:sp>
        </mc:Choice>
        <mc:Fallback xmlns="">
          <p:sp>
            <p:nvSpPr>
              <p:cNvPr id="11" name="TextBox 10">
                <a:extLst>
                  <a:ext uri="{FF2B5EF4-FFF2-40B4-BE49-F238E27FC236}">
                    <a16:creationId xmlns:a16="http://schemas.microsoft.com/office/drawing/2014/main" id="{24BD1C8D-B0A2-0742-A7E0-60316528E769}"/>
                  </a:ext>
                </a:extLst>
              </p:cNvPr>
              <p:cNvSpPr txBox="1">
                <a:spLocks noRot="1" noChangeAspect="1" noMove="1" noResize="1" noEditPoints="1" noAdjustHandles="1" noChangeArrowheads="1" noChangeShapeType="1" noTextEdit="1"/>
              </p:cNvSpPr>
              <p:nvPr/>
            </p:nvSpPr>
            <p:spPr>
              <a:xfrm>
                <a:off x="5718940" y="2769969"/>
                <a:ext cx="1678408" cy="503792"/>
              </a:xfrm>
              <a:prstGeom prst="rect">
                <a:avLst/>
              </a:prstGeom>
              <a:blipFill>
                <a:blip r:embed="rId5"/>
                <a:stretch>
                  <a:fillRect l="-3759" b="-48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883FA462-0A05-0143-B008-8C41DACDC8B7}"/>
                  </a:ext>
                </a:extLst>
              </p:cNvPr>
              <p:cNvSpPr txBox="1"/>
              <p:nvPr/>
            </p:nvSpPr>
            <p:spPr>
              <a:xfrm>
                <a:off x="496270" y="3587165"/>
                <a:ext cx="10857530" cy="1329082"/>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where k</a:t>
                </a:r>
                <a:r>
                  <a:rPr lang="en-US" baseline="-25000" dirty="0">
                    <a:latin typeface="Arial" panose="020B0604020202020204" pitchFamily="34" charset="0"/>
                    <a:cs typeface="Arial" panose="020B0604020202020204" pitchFamily="34" charset="0"/>
                  </a:rPr>
                  <a:t>c</a:t>
                </a:r>
                <a:r>
                  <a:rPr lang="en-US" dirty="0">
                    <a:latin typeface="Arial" panose="020B0604020202020204" pitchFamily="34" charset="0"/>
                    <a:cs typeface="Arial" panose="020B0604020202020204" pitchFamily="34" charset="0"/>
                  </a:rPr>
                  <a:t> is a composite roughness height. </a:t>
                </a:r>
              </a:p>
              <a:p>
                <a:pPr algn="l">
                  <a:lnSpc>
                    <a:spcPct val="114000"/>
                  </a:lnSpc>
                </a:pPr>
                <a:r>
                  <a:rPr lang="en-US" dirty="0">
                    <a:latin typeface="Arial" panose="020B0604020202020204" pitchFamily="34" charset="0"/>
                    <a:cs typeface="Arial" panose="020B0604020202020204" pitchFamily="34" charset="0"/>
                  </a:rPr>
                  <a:t>If bedforms are absent k</a:t>
                </a:r>
                <a:r>
                  <a:rPr lang="en-US" baseline="-25000" dirty="0">
                    <a:latin typeface="Arial" panose="020B0604020202020204" pitchFamily="34" charset="0"/>
                    <a:cs typeface="Arial" panose="020B0604020202020204" pitchFamily="34" charset="0"/>
                  </a:rPr>
                  <a:t>c</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k</a:t>
                </a:r>
                <a:r>
                  <a:rPr lang="en-US" baseline="-25000" dirty="0" err="1">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 n</a:t>
                </a:r>
                <a:r>
                  <a:rPr lang="en-US" baseline="-25000" dirty="0">
                    <a:latin typeface="Arial" panose="020B0604020202020204" pitchFamily="34" charset="0"/>
                    <a:cs typeface="Arial" panose="020B0604020202020204" pitchFamily="34" charset="0"/>
                  </a:rPr>
                  <a:t>k</a:t>
                </a:r>
                <a:r>
                  <a:rPr lang="en-US" dirty="0">
                    <a:latin typeface="Arial" panose="020B0604020202020204" pitchFamily="34" charset="0"/>
                    <a:cs typeface="Arial" panose="020B0604020202020204" pitchFamily="34" charset="0"/>
                  </a:rPr>
                  <a:t>D</a:t>
                </a:r>
                <a:r>
                  <a:rPr lang="en-US" baseline="-25000" dirty="0">
                    <a:latin typeface="Arial" panose="020B0604020202020204" pitchFamily="34" charset="0"/>
                    <a:cs typeface="Arial" panose="020B0604020202020204" pitchFamily="34" charset="0"/>
                  </a:rPr>
                  <a:t>s90</a:t>
                </a:r>
                <a:r>
                  <a:rPr lang="en-US" dirty="0">
                    <a:latin typeface="Arial" panose="020B0604020202020204" pitchFamily="34" charset="0"/>
                    <a:cs typeface="Arial" panose="020B0604020202020204" pitchFamily="34" charset="0"/>
                  </a:rPr>
                  <a:t>. </a:t>
                </a:r>
              </a:p>
              <a:p>
                <a:pPr algn="l">
                  <a:lnSpc>
                    <a:spcPct val="114000"/>
                  </a:lnSpc>
                </a:pPr>
                <a:r>
                  <a:rPr lang="en-US" dirty="0">
                    <a:latin typeface="Arial" panose="020B0604020202020204" pitchFamily="34" charset="0"/>
                    <a:cs typeface="Arial" panose="020B0604020202020204" pitchFamily="34" charset="0"/>
                  </a:rPr>
                  <a:t>If bedforms are present, the total friction coefficient C</a:t>
                </a:r>
                <a:r>
                  <a:rPr lang="en-US" baseline="-25000" dirty="0">
                    <a:latin typeface="Arial" panose="020B0604020202020204" pitchFamily="34" charset="0"/>
                    <a:cs typeface="Arial" panose="020B0604020202020204" pitchFamily="34" charset="0"/>
                  </a:rPr>
                  <a:t>f</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C</a:t>
                </a:r>
                <a:r>
                  <a:rPr lang="en-US" baseline="-25000" dirty="0" err="1">
                    <a:latin typeface="Arial" panose="020B0604020202020204" pitchFamily="34" charset="0"/>
                    <a:cs typeface="Arial" panose="020B0604020202020204" pitchFamily="34" charset="0"/>
                  </a:rPr>
                  <a:t>fs</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C</a:t>
                </a:r>
                <a:r>
                  <a:rPr lang="en-US" baseline="-25000" dirty="0" err="1">
                    <a:latin typeface="Arial" panose="020B0604020202020204" pitchFamily="34" charset="0"/>
                    <a:cs typeface="Arial" panose="020B0604020202020204" pitchFamily="34" charset="0"/>
                  </a:rPr>
                  <a:t>ff</a:t>
                </a:r>
                <a:r>
                  <a:rPr lang="en-US" dirty="0">
                    <a:latin typeface="Arial" panose="020B0604020202020204" pitchFamily="34" charset="0"/>
                    <a:cs typeface="Arial" panose="020B0604020202020204" pitchFamily="34" charset="0"/>
                  </a:rPr>
                  <a:t> may be evaluated from field data or a resistance predictor and k</a:t>
                </a:r>
                <a14:m>
                  <m:oMath xmlns:m="http://schemas.openxmlformats.org/officeDocument/2006/math">
                    <m:r>
                      <a:rPr lang="en-US" i="1" baseline="-25000" dirty="0" smtClean="0">
                        <a:latin typeface="Cambria Math" panose="02040503050406030204" pitchFamily="18" charset="0"/>
                        <a:cs typeface="Arial" panose="020B0604020202020204" pitchFamily="34" charset="0"/>
                      </a:rPr>
                      <m:t>𝑐</m:t>
                    </m:r>
                  </m:oMath>
                </a14:m>
                <a:r>
                  <a:rPr lang="en-US" dirty="0">
                    <a:latin typeface="Arial" panose="020B0604020202020204" pitchFamily="34" charset="0"/>
                    <a:cs typeface="Arial" panose="020B0604020202020204" pitchFamily="34" charset="0"/>
                  </a:rPr>
                  <a:t> can be back calculated from e.g.</a:t>
                </a:r>
              </a:p>
            </p:txBody>
          </p:sp>
        </mc:Choice>
        <mc:Fallback xmlns="">
          <p:sp>
            <p:nvSpPr>
              <p:cNvPr id="25" name="TextBox 24">
                <a:extLst>
                  <a:ext uri="{FF2B5EF4-FFF2-40B4-BE49-F238E27FC236}">
                    <a16:creationId xmlns:a16="http://schemas.microsoft.com/office/drawing/2014/main" id="{883FA462-0A05-0143-B008-8C41DACDC8B7}"/>
                  </a:ext>
                </a:extLst>
              </p:cNvPr>
              <p:cNvSpPr txBox="1">
                <a:spLocks noRot="1" noChangeAspect="1" noMove="1" noResize="1" noEditPoints="1" noAdjustHandles="1" noChangeArrowheads="1" noChangeShapeType="1" noTextEdit="1"/>
              </p:cNvSpPr>
              <p:nvPr/>
            </p:nvSpPr>
            <p:spPr>
              <a:xfrm>
                <a:off x="496270" y="3587165"/>
                <a:ext cx="10857530" cy="1329082"/>
              </a:xfrm>
              <a:prstGeom prst="rect">
                <a:avLst/>
              </a:prstGeom>
              <a:blipFill>
                <a:blip r:embed="rId6"/>
                <a:stretch>
                  <a:fillRect l="-350" t="-1905"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9E7F10A-2766-9F46-9ED7-B2D0815878E9}"/>
                  </a:ext>
                </a:extLst>
              </p:cNvPr>
              <p:cNvSpPr txBox="1"/>
              <p:nvPr/>
            </p:nvSpPr>
            <p:spPr>
              <a:xfrm>
                <a:off x="1748439" y="5299442"/>
                <a:ext cx="2484719" cy="725840"/>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𝐶𝑧</m:t>
                      </m:r>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1</m:t>
                          </m:r>
                        </m:num>
                        <m:den>
                          <m:rad>
                            <m:radPr>
                              <m:degHide m:val="on"/>
                              <m:ctrlPr>
                                <a:rPr lang="en-US" b="0" i="1" smtClean="0">
                                  <a:latin typeface="Cambria Math" panose="02040503050406030204" pitchFamily="18" charset="0"/>
                                  <a:cs typeface="Arial" panose="020B0604020202020204" pitchFamily="34" charset="0"/>
                                </a:rPr>
                              </m:ctrlPr>
                            </m:radPr>
                            <m:deg/>
                            <m:e>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𝐶</m:t>
                                  </m:r>
                                </m:e>
                                <m:sub>
                                  <m:r>
                                    <a:rPr lang="en-US" b="0" i="1" smtClean="0">
                                      <a:latin typeface="Cambria Math" panose="02040503050406030204" pitchFamily="18" charset="0"/>
                                      <a:cs typeface="Arial" panose="020B0604020202020204" pitchFamily="34" charset="0"/>
                                    </a:rPr>
                                    <m:t>𝑓</m:t>
                                  </m:r>
                                </m:sub>
                              </m:sSub>
                            </m:e>
                          </m:rad>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1</m:t>
                          </m:r>
                        </m:num>
                        <m:den>
                          <m:r>
                            <a:rPr lang="en-US" b="0" i="1" smtClean="0">
                              <a:latin typeface="Cambria Math" panose="02040503050406030204" pitchFamily="18" charset="0"/>
                              <a:ea typeface="Cambria Math" panose="02040503050406030204" pitchFamily="18" charset="0"/>
                              <a:cs typeface="Arial" panose="020B0604020202020204" pitchFamily="34" charset="0"/>
                            </a:rPr>
                            <m:t>𝜅</m:t>
                          </m:r>
                        </m:den>
                      </m:f>
                      <m:r>
                        <a:rPr lang="en-US" b="0" i="1" smtClean="0">
                          <a:latin typeface="Cambria Math" panose="02040503050406030204" pitchFamily="18" charset="0"/>
                          <a:cs typeface="Arial" panose="020B0604020202020204" pitchFamily="34" charset="0"/>
                        </a:rPr>
                        <m:t>𝑙𝑛</m:t>
                      </m:r>
                      <m:d>
                        <m:dPr>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11</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𝐻</m:t>
                              </m:r>
                            </m:num>
                            <m:den>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𝑘</m:t>
                                  </m:r>
                                </m:e>
                                <m:sub>
                                  <m:r>
                                    <a:rPr lang="en-US" b="0" i="1" smtClean="0">
                                      <a:latin typeface="Cambria Math" panose="02040503050406030204" pitchFamily="18" charset="0"/>
                                      <a:cs typeface="Arial" panose="020B0604020202020204" pitchFamily="34" charset="0"/>
                                    </a:rPr>
                                    <m:t>𝑐</m:t>
                                  </m:r>
                                </m:sub>
                              </m:sSub>
                            </m:den>
                          </m:f>
                        </m:e>
                      </m:d>
                    </m:oMath>
                  </m:oMathPara>
                </a14:m>
                <a:endParaRPr lang="en-US" dirty="0">
                  <a:latin typeface="Arial" panose="020B0604020202020204" pitchFamily="34" charset="0"/>
                  <a:cs typeface="Arial" panose="020B0604020202020204" pitchFamily="34" charset="0"/>
                </a:endParaRPr>
              </a:p>
            </p:txBody>
          </p:sp>
        </mc:Choice>
        <mc:Fallback xmlns="">
          <p:sp>
            <p:nvSpPr>
              <p:cNvPr id="12" name="TextBox 11">
                <a:extLst>
                  <a:ext uri="{FF2B5EF4-FFF2-40B4-BE49-F238E27FC236}">
                    <a16:creationId xmlns:a16="http://schemas.microsoft.com/office/drawing/2014/main" id="{E9E7F10A-2766-9F46-9ED7-B2D0815878E9}"/>
                  </a:ext>
                </a:extLst>
              </p:cNvPr>
              <p:cNvSpPr txBox="1">
                <a:spLocks noRot="1" noChangeAspect="1" noMove="1" noResize="1" noEditPoints="1" noAdjustHandles="1" noChangeArrowheads="1" noChangeShapeType="1" noTextEdit="1"/>
              </p:cNvSpPr>
              <p:nvPr/>
            </p:nvSpPr>
            <p:spPr>
              <a:xfrm>
                <a:off x="1748439" y="5299442"/>
                <a:ext cx="2484719" cy="725840"/>
              </a:xfrm>
              <a:prstGeom prst="rect">
                <a:avLst/>
              </a:prstGeom>
              <a:blipFill>
                <a:blip r:embed="rId7"/>
                <a:stretch>
                  <a:fillRect l="-1523" b="-86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419D3B6-A4C4-D540-8135-B84E354C55D7}"/>
                  </a:ext>
                </a:extLst>
              </p:cNvPr>
              <p:cNvSpPr txBox="1"/>
              <p:nvPr/>
            </p:nvSpPr>
            <p:spPr>
              <a:xfrm>
                <a:off x="5768636" y="5336283"/>
                <a:ext cx="1518108" cy="646459"/>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𝑘</m:t>
                          </m:r>
                        </m:e>
                        <m:sub>
                          <m:r>
                            <a:rPr lang="en-US" b="0" i="1" smtClean="0">
                              <a:latin typeface="Cambria Math" panose="02040503050406030204" pitchFamily="18" charset="0"/>
                              <a:cs typeface="Arial" panose="020B0604020202020204" pitchFamily="34" charset="0"/>
                            </a:rPr>
                            <m:t>𝑐</m:t>
                          </m:r>
                        </m:sub>
                      </m:sSub>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11</m:t>
                          </m:r>
                          <m:r>
                            <a:rPr lang="en-US" b="0" i="1" smtClean="0">
                              <a:latin typeface="Cambria Math" panose="02040503050406030204" pitchFamily="18" charset="0"/>
                              <a:cs typeface="Arial" panose="020B0604020202020204" pitchFamily="34" charset="0"/>
                            </a:rPr>
                            <m:t>𝐻</m:t>
                          </m:r>
                        </m:num>
                        <m:den>
                          <m:r>
                            <a:rPr lang="en-US" b="0" i="1" smtClean="0">
                              <a:latin typeface="Cambria Math" panose="02040503050406030204" pitchFamily="18" charset="0"/>
                              <a:cs typeface="Arial" panose="020B0604020202020204" pitchFamily="34" charset="0"/>
                            </a:rPr>
                            <m:t>𝑒𝑥𝑝</m:t>
                          </m:r>
                          <m:d>
                            <m:dPr>
                              <m:begChr m:val="{"/>
                              <m:endChr m:val="}"/>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ea typeface="Cambria Math" panose="02040503050406030204" pitchFamily="18" charset="0"/>
                                  <a:cs typeface="Arial" panose="020B0604020202020204" pitchFamily="34" charset="0"/>
                                </a:rPr>
                                <m:t>𝜅</m:t>
                              </m:r>
                              <m:r>
                                <a:rPr lang="en-US" b="0" i="1" smtClean="0">
                                  <a:latin typeface="Cambria Math" panose="02040503050406030204" pitchFamily="18" charset="0"/>
                                  <a:ea typeface="Cambria Math" panose="02040503050406030204" pitchFamily="18" charset="0"/>
                                  <a:cs typeface="Arial" panose="020B0604020202020204" pitchFamily="34" charset="0"/>
                                </a:rPr>
                                <m:t>𝐶𝑧</m:t>
                              </m:r>
                            </m:e>
                          </m:d>
                        </m:den>
                      </m:f>
                    </m:oMath>
                  </m:oMathPara>
                </a14:m>
                <a:endParaRPr lang="en-US" dirty="0">
                  <a:latin typeface="Arial" panose="020B0604020202020204" pitchFamily="34" charset="0"/>
                  <a:cs typeface="Arial" panose="020B0604020202020204" pitchFamily="34" charset="0"/>
                </a:endParaRPr>
              </a:p>
            </p:txBody>
          </p:sp>
        </mc:Choice>
        <mc:Fallback xmlns="">
          <p:sp>
            <p:nvSpPr>
              <p:cNvPr id="26" name="TextBox 25">
                <a:extLst>
                  <a:ext uri="{FF2B5EF4-FFF2-40B4-BE49-F238E27FC236}">
                    <a16:creationId xmlns:a16="http://schemas.microsoft.com/office/drawing/2014/main" id="{A419D3B6-A4C4-D540-8135-B84E354C55D7}"/>
                  </a:ext>
                </a:extLst>
              </p:cNvPr>
              <p:cNvSpPr txBox="1">
                <a:spLocks noRot="1" noChangeAspect="1" noMove="1" noResize="1" noEditPoints="1" noAdjustHandles="1" noChangeArrowheads="1" noChangeShapeType="1" noTextEdit="1"/>
              </p:cNvSpPr>
              <p:nvPr/>
            </p:nvSpPr>
            <p:spPr>
              <a:xfrm>
                <a:off x="5768636" y="5336283"/>
                <a:ext cx="1518108" cy="646459"/>
              </a:xfrm>
              <a:prstGeom prst="rect">
                <a:avLst/>
              </a:prstGeom>
              <a:blipFill>
                <a:blip r:embed="rId8"/>
                <a:stretch>
                  <a:fillRect l="-3333" b="-156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D89440C-996A-A7D2-C380-9C27816E8D54}"/>
                  </a:ext>
                </a:extLst>
              </p:cNvPr>
              <p:cNvSpPr txBox="1"/>
              <p:nvPr/>
            </p:nvSpPr>
            <p:spPr>
              <a:xfrm>
                <a:off x="8496089" y="1430425"/>
                <a:ext cx="658577" cy="536557"/>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𝜁</m:t>
                      </m:r>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𝑧</m:t>
                          </m:r>
                        </m:num>
                        <m:den>
                          <m:r>
                            <a:rPr lang="en-US" b="0" i="1" smtClean="0">
                              <a:latin typeface="Cambria Math" panose="02040503050406030204" pitchFamily="18" charset="0"/>
                              <a:ea typeface="Cambria Math" panose="02040503050406030204" pitchFamily="18" charset="0"/>
                              <a:cs typeface="Arial" panose="020B0604020202020204" pitchFamily="34" charset="0"/>
                            </a:rPr>
                            <m:t>𝐻</m:t>
                          </m:r>
                        </m:den>
                      </m:f>
                    </m:oMath>
                  </m:oMathPara>
                </a14:m>
                <a:endParaRPr lang="en-US" dirty="0">
                  <a:latin typeface="Arial" panose="020B0604020202020204" pitchFamily="34" charset="0"/>
                  <a:cs typeface="Arial" panose="020B0604020202020204" pitchFamily="34" charset="0"/>
                </a:endParaRPr>
              </a:p>
            </p:txBody>
          </p:sp>
        </mc:Choice>
        <mc:Fallback xmlns="">
          <p:sp>
            <p:nvSpPr>
              <p:cNvPr id="3" name="TextBox 2">
                <a:extLst>
                  <a:ext uri="{FF2B5EF4-FFF2-40B4-BE49-F238E27FC236}">
                    <a16:creationId xmlns:a16="http://schemas.microsoft.com/office/drawing/2014/main" id="{7D89440C-996A-A7D2-C380-9C27816E8D54}"/>
                  </a:ext>
                </a:extLst>
              </p:cNvPr>
              <p:cNvSpPr txBox="1">
                <a:spLocks noRot="1" noChangeAspect="1" noMove="1" noResize="1" noEditPoints="1" noAdjustHandles="1" noChangeArrowheads="1" noChangeShapeType="1" noTextEdit="1"/>
              </p:cNvSpPr>
              <p:nvPr/>
            </p:nvSpPr>
            <p:spPr>
              <a:xfrm>
                <a:off x="8496089" y="1430425"/>
                <a:ext cx="658577" cy="536557"/>
              </a:xfrm>
              <a:prstGeom prst="rect">
                <a:avLst/>
              </a:prstGeom>
              <a:blipFill>
                <a:blip r:embed="rId9"/>
                <a:stretch>
                  <a:fillRect l="-11538" r="-5769" b="-11364"/>
                </a:stretch>
              </a:blipFill>
            </p:spPr>
            <p:txBody>
              <a:bodyPr/>
              <a:lstStyle/>
              <a:p>
                <a:r>
                  <a:rPr lang="en-US">
                    <a:noFill/>
                  </a:rPr>
                  <a:t> </a:t>
                </a:r>
              </a:p>
            </p:txBody>
          </p:sp>
        </mc:Fallback>
      </mc:AlternateContent>
    </p:spTree>
    <p:extLst>
      <p:ext uri="{BB962C8B-B14F-4D97-AF65-F5344CB8AC3E}">
        <p14:creationId xmlns:p14="http://schemas.microsoft.com/office/powerpoint/2010/main" val="10785556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12</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Calculation of suspended sediment transport rate</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77C4F74-D4DD-BC4E-A89D-35BA6C04924B}"/>
                  </a:ext>
                </a:extLst>
              </p:cNvPr>
              <p:cNvSpPr txBox="1"/>
              <p:nvPr/>
            </p:nvSpPr>
            <p:spPr>
              <a:xfrm>
                <a:off x="383626" y="817980"/>
                <a:ext cx="10770020" cy="718210"/>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Recalling that </a:t>
                </a:r>
                <a:r>
                  <a:rPr lang="en-US" dirty="0">
                    <a:latin typeface="Symbol" pitchFamily="2" charset="2"/>
                    <a:cs typeface="Arial" panose="020B0604020202020204" pitchFamily="34" charset="0"/>
                  </a:rPr>
                  <a:t>z</a:t>
                </a:r>
                <a:r>
                  <a:rPr lang="en-US" dirty="0">
                    <a:latin typeface="Arial" panose="020B0604020202020204" pitchFamily="34" charset="0"/>
                    <a:cs typeface="Arial" panose="020B0604020202020204" pitchFamily="34" charset="0"/>
                  </a:rPr>
                  <a:t> = z/H, the volume suspended sediment transport rate per unit channel width </a:t>
                </a:r>
                <a:r>
                  <a:rPr lang="en-US" dirty="0" err="1">
                    <a:latin typeface="Arial" panose="020B0604020202020204" pitchFamily="34" charset="0"/>
                    <a:cs typeface="Arial" panose="020B0604020202020204" pitchFamily="34" charset="0"/>
                  </a:rPr>
                  <a:t>q</a:t>
                </a:r>
                <a:r>
                  <a:rPr lang="en-US" baseline="-25000" dirty="0" err="1">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for the case of equilibrium suspension (</a:t>
                </a: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𝑐</m:t>
                            </m:r>
                          </m:e>
                          <m:sub>
                            <m:r>
                              <a:rPr lang="en-US" b="0" i="1" smtClean="0">
                                <a:latin typeface="Cambria Math" panose="02040503050406030204" pitchFamily="18" charset="0"/>
                                <a:cs typeface="Arial" panose="020B0604020202020204" pitchFamily="34" charset="0"/>
                              </a:rPr>
                              <m:t>𝑏</m:t>
                            </m:r>
                          </m:sub>
                        </m:sSub>
                      </m:e>
                    </m:acc>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𝐸</m:t>
                    </m:r>
                  </m:oMath>
                </a14:m>
                <a:r>
                  <a:rPr lang="en-US" dirty="0">
                    <a:latin typeface="Arial" panose="020B0604020202020204" pitchFamily="34" charset="0"/>
                    <a:cs typeface="Arial" panose="020B0604020202020204" pitchFamily="34" charset="0"/>
                  </a:rPr>
                  <a:t>) is computed as</a:t>
                </a:r>
              </a:p>
            </p:txBody>
          </p:sp>
        </mc:Choice>
        <mc:Fallback xmlns="">
          <p:sp>
            <p:nvSpPr>
              <p:cNvPr id="7" name="TextBox 6">
                <a:extLst>
                  <a:ext uri="{FF2B5EF4-FFF2-40B4-BE49-F238E27FC236}">
                    <a16:creationId xmlns:a16="http://schemas.microsoft.com/office/drawing/2014/main" id="{F77C4F74-D4DD-BC4E-A89D-35BA6C04924B}"/>
                  </a:ext>
                </a:extLst>
              </p:cNvPr>
              <p:cNvSpPr txBox="1">
                <a:spLocks noRot="1" noChangeAspect="1" noMove="1" noResize="1" noEditPoints="1" noAdjustHandles="1" noChangeArrowheads="1" noChangeShapeType="1" noTextEdit="1"/>
              </p:cNvSpPr>
              <p:nvPr/>
            </p:nvSpPr>
            <p:spPr>
              <a:xfrm>
                <a:off x="383626" y="817980"/>
                <a:ext cx="10770020" cy="718210"/>
              </a:xfrm>
              <a:prstGeom prst="rect">
                <a:avLst/>
              </a:prstGeom>
              <a:blipFill>
                <a:blip r:embed="rId3"/>
                <a:stretch>
                  <a:fillRect l="-471" t="-3509" b="-105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76008BB-186C-984B-9AD8-618732D42B8D}"/>
                  </a:ext>
                </a:extLst>
              </p:cNvPr>
              <p:cNvSpPr txBox="1"/>
              <p:nvPr/>
            </p:nvSpPr>
            <p:spPr>
              <a:xfrm>
                <a:off x="471296" y="1651031"/>
                <a:ext cx="7064691" cy="624915"/>
              </a:xfrm>
              <a:prstGeom prst="rect">
                <a:avLst/>
              </a:prstGeom>
              <a:noFill/>
            </p:spPr>
            <p:txBody>
              <a:bodyPr wrap="none" lIns="0" tIns="0" rIns="0" bIns="0" rtlCol="0">
                <a:spAutoFit/>
              </a:bodyPr>
              <a:lstStyle/>
              <a:p>
                <a:pPr>
                  <a:lnSpc>
                    <a:spcPct val="114000"/>
                  </a:lnSpc>
                </a:pPr>
                <a14:m>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𝑞</m:t>
                        </m:r>
                      </m:e>
                      <m:sub>
                        <m:r>
                          <a:rPr lang="en-US" b="0" i="1" smtClean="0">
                            <a:latin typeface="Cambria Math" panose="02040503050406030204" pitchFamily="18" charset="0"/>
                            <a:cs typeface="Arial" panose="020B0604020202020204" pitchFamily="34" charset="0"/>
                          </a:rPr>
                          <m:t>𝑠</m:t>
                        </m:r>
                      </m:sub>
                    </m:sSub>
                    <m:r>
                      <a:rPr lang="en-US" b="0" i="1" smtClean="0">
                        <a:latin typeface="Cambria Math" panose="02040503050406030204" pitchFamily="18" charset="0"/>
                        <a:cs typeface="Arial" panose="020B0604020202020204" pitchFamily="34" charset="0"/>
                      </a:rPr>
                      <m:t>=</m:t>
                    </m:r>
                    <m:nary>
                      <m:naryPr>
                        <m:limLoc m:val="undOvr"/>
                        <m:ctrlPr>
                          <a:rPr lang="en-US" i="1">
                            <a:latin typeface="Cambria Math" panose="02040503050406030204" pitchFamily="18" charset="0"/>
                            <a:cs typeface="Arial" panose="020B0604020202020204" pitchFamily="34" charset="0"/>
                          </a:rPr>
                        </m:ctrlPr>
                      </m:naryPr>
                      <m:sub>
                        <m:r>
                          <a:rPr lang="en-US" b="0" i="1" smtClean="0">
                            <a:latin typeface="Cambria Math" panose="02040503050406030204" pitchFamily="18" charset="0"/>
                            <a:cs typeface="Arial" panose="020B0604020202020204" pitchFamily="34" charset="0"/>
                          </a:rPr>
                          <m:t>𝑏</m:t>
                        </m:r>
                      </m:sub>
                      <m:sup>
                        <m:r>
                          <a:rPr lang="en-US" i="1">
                            <a:latin typeface="Cambria Math" panose="02040503050406030204" pitchFamily="18" charset="0"/>
                            <a:cs typeface="Arial" panose="020B0604020202020204" pitchFamily="34" charset="0"/>
                          </a:rPr>
                          <m:t>𝐻</m:t>
                        </m:r>
                      </m:sup>
                      <m:e>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𝑢</m:t>
                            </m:r>
                          </m:e>
                        </m:acc>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r>
                          <a:rPr lang="en-US" i="1">
                            <a:latin typeface="Cambria Math" panose="02040503050406030204" pitchFamily="18" charset="0"/>
                            <a:cs typeface="Arial" panose="020B0604020202020204" pitchFamily="34" charset="0"/>
                          </a:rPr>
                          <m:t>𝑑𝑧</m:t>
                        </m:r>
                      </m:e>
                    </m:nary>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𝐸</m:t>
                    </m:r>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𝑢</m:t>
                            </m:r>
                          </m:e>
                          <m:sub>
                            <m:r>
                              <a:rPr lang="en-US" i="1">
                                <a:latin typeface="Cambria Math" panose="02040503050406030204" pitchFamily="18" charset="0"/>
                                <a:cs typeface="Arial" panose="020B0604020202020204" pitchFamily="34" charset="0"/>
                              </a:rPr>
                              <m:t>∗</m:t>
                            </m:r>
                          </m:sub>
                        </m:sSub>
                        <m:r>
                          <a:rPr lang="en-US" b="0" i="1" smtClean="0">
                            <a:latin typeface="Cambria Math" panose="02040503050406030204" pitchFamily="18" charset="0"/>
                            <a:cs typeface="Arial" panose="020B0604020202020204" pitchFamily="34" charset="0"/>
                          </a:rPr>
                          <m:t>𝐻</m:t>
                        </m:r>
                      </m:num>
                      <m:den>
                        <m:r>
                          <a:rPr lang="en-US" i="1">
                            <a:latin typeface="Cambria Math" panose="02040503050406030204" pitchFamily="18" charset="0"/>
                            <a:ea typeface="Cambria Math" panose="02040503050406030204" pitchFamily="18" charset="0"/>
                            <a:cs typeface="Arial" panose="020B0604020202020204" pitchFamily="34" charset="0"/>
                          </a:rPr>
                          <m:t>𝜅</m:t>
                        </m:r>
                      </m:den>
                    </m:f>
                    <m:nary>
                      <m:naryPr>
                        <m:limLoc m:val="undOvr"/>
                        <m:ctrlPr>
                          <a:rPr lang="en-US" i="1">
                            <a:latin typeface="Cambria Math" panose="02040503050406030204" pitchFamily="18" charset="0"/>
                            <a:cs typeface="Arial" panose="020B0604020202020204" pitchFamily="34" charset="0"/>
                          </a:rPr>
                        </m:ctrlPr>
                      </m:naryPr>
                      <m:sub>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𝜁</m:t>
                            </m:r>
                          </m:e>
                          <m:sub>
                            <m:r>
                              <a:rPr lang="en-US" b="0" i="1" smtClean="0">
                                <a:latin typeface="Cambria Math" panose="02040503050406030204" pitchFamily="18" charset="0"/>
                                <a:cs typeface="Arial" panose="020B0604020202020204" pitchFamily="34" charset="0"/>
                              </a:rPr>
                              <m:t>𝑏</m:t>
                            </m:r>
                          </m:sub>
                        </m:sSub>
                      </m:sub>
                      <m:sup>
                        <m:r>
                          <a:rPr lang="en-US" b="0" i="1" smtClean="0">
                            <a:latin typeface="Cambria Math" panose="02040503050406030204" pitchFamily="18" charset="0"/>
                            <a:cs typeface="Arial" panose="020B0604020202020204" pitchFamily="34" charset="0"/>
                          </a:rPr>
                          <m:t>1</m:t>
                        </m:r>
                      </m:sup>
                      <m:e>
                        <m:sSup>
                          <m:sSupPr>
                            <m:ctrlPr>
                              <a:rPr lang="en-US" i="1">
                                <a:latin typeface="Cambria Math" panose="02040503050406030204" pitchFamily="18" charset="0"/>
                                <a:cs typeface="Arial" panose="020B0604020202020204" pitchFamily="34" charset="0"/>
                              </a:rPr>
                            </m:ctrlPr>
                          </m:sSupPr>
                          <m:e>
                            <m:d>
                              <m:dPr>
                                <m:begChr m:val="["/>
                                <m:endChr m:val="]"/>
                                <m:ctrlPr>
                                  <a:rPr lang="en-US" i="1">
                                    <a:latin typeface="Cambria Math" panose="02040503050406030204" pitchFamily="18" charset="0"/>
                                    <a:cs typeface="Arial" panose="020B0604020202020204" pitchFamily="34" charset="0"/>
                                  </a:rPr>
                                </m:ctrlPr>
                              </m:dPr>
                              <m:e>
                                <m:f>
                                  <m:fPr>
                                    <m:ctrlPr>
                                      <a:rPr lang="en-US" i="1">
                                        <a:latin typeface="Cambria Math" panose="02040503050406030204" pitchFamily="18" charset="0"/>
                                        <a:cs typeface="Arial" panose="020B0604020202020204" pitchFamily="34" charset="0"/>
                                      </a:rPr>
                                    </m:ctrlPr>
                                  </m:fPr>
                                  <m:num>
                                    <m:d>
                                      <m:dPr>
                                        <m:ctrlPr>
                                          <a:rPr lang="en-US" i="1">
                                            <a:latin typeface="Cambria Math" panose="02040503050406030204" pitchFamily="18" charset="0"/>
                                            <a:cs typeface="Arial" panose="020B0604020202020204" pitchFamily="34" charset="0"/>
                                          </a:rPr>
                                        </m:ctrlPr>
                                      </m:dPr>
                                      <m:e>
                                        <m:r>
                                          <a:rPr lang="en-US" i="1">
                                            <a:latin typeface="Cambria Math" panose="02040503050406030204" pitchFamily="18" charset="0"/>
                                            <a:ea typeface="Cambria Math" panose="02040503050406030204" pitchFamily="18" charset="0"/>
                                            <a:cs typeface="Arial" panose="020B0604020202020204" pitchFamily="34" charset="0"/>
                                          </a:rPr>
                                          <m:t>1−</m:t>
                                        </m:r>
                                        <m:r>
                                          <a:rPr lang="en-US" i="1">
                                            <a:latin typeface="Cambria Math" panose="02040503050406030204" pitchFamily="18" charset="0"/>
                                            <a:ea typeface="Cambria Math" panose="02040503050406030204" pitchFamily="18" charset="0"/>
                                            <a:cs typeface="Arial" panose="020B0604020202020204" pitchFamily="34" charset="0"/>
                                          </a:rPr>
                                          <m:t>𝜁</m:t>
                                        </m:r>
                                      </m:e>
                                    </m:d>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𝜁</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num>
                                  <m:den>
                                    <m:d>
                                      <m:dPr>
                                        <m:ctrlPr>
                                          <a:rPr lang="en-US" i="1">
                                            <a:latin typeface="Cambria Math" panose="02040503050406030204" pitchFamily="18" charset="0"/>
                                            <a:cs typeface="Arial" panose="020B0604020202020204" pitchFamily="34" charset="0"/>
                                          </a:rPr>
                                        </m:ctrlPr>
                                      </m:dPr>
                                      <m:e>
                                        <m:r>
                                          <a:rPr lang="en-US" i="1">
                                            <a:latin typeface="Cambria Math" panose="02040503050406030204" pitchFamily="18" charset="0"/>
                                            <a:ea typeface="Cambria Math" panose="02040503050406030204" pitchFamily="18" charset="0"/>
                                            <a:cs typeface="Arial" panose="020B0604020202020204" pitchFamily="34" charset="0"/>
                                          </a:rPr>
                                          <m:t>1−</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𝜁</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e>
                                    </m:d>
                                    <m:r>
                                      <a:rPr lang="en-US" i="1">
                                        <a:latin typeface="Cambria Math" panose="02040503050406030204" pitchFamily="18" charset="0"/>
                                        <a:ea typeface="Cambria Math" panose="02040503050406030204" pitchFamily="18" charset="0"/>
                                        <a:cs typeface="Arial" panose="020B0604020202020204" pitchFamily="34" charset="0"/>
                                      </a:rPr>
                                      <m:t>𝜁</m:t>
                                    </m:r>
                                  </m:den>
                                </m:f>
                              </m:e>
                            </m:d>
                          </m:e>
                          <m:sup>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num>
                              <m:den>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den>
                            </m:f>
                          </m:sup>
                        </m:sSup>
                        <m:r>
                          <a:rPr lang="en-US" i="1">
                            <a:latin typeface="Cambria Math" panose="02040503050406030204" pitchFamily="18" charset="0"/>
                            <a:cs typeface="Arial" panose="020B0604020202020204" pitchFamily="34" charset="0"/>
                          </a:rPr>
                          <m:t>𝑙𝑛</m:t>
                        </m:r>
                        <m:d>
                          <m:dPr>
                            <m:ctrlPr>
                              <a:rPr lang="en-US" i="1">
                                <a:latin typeface="Cambria Math" panose="02040503050406030204" pitchFamily="18" charset="0"/>
                                <a:cs typeface="Arial" panose="020B0604020202020204" pitchFamily="34" charset="0"/>
                              </a:rPr>
                            </m:ctrlPr>
                          </m:dPr>
                          <m:e>
                            <m:r>
                              <a:rPr lang="en-US" i="1">
                                <a:latin typeface="Cambria Math" panose="02040503050406030204" pitchFamily="18" charset="0"/>
                                <a:cs typeface="Arial" panose="020B0604020202020204" pitchFamily="34" charset="0"/>
                              </a:rPr>
                              <m:t>30</m:t>
                            </m:r>
                            <m:f>
                              <m:fPr>
                                <m:ctrlPr>
                                  <a:rPr lang="en-US" i="1">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𝐻</m:t>
                                </m:r>
                              </m:num>
                              <m:den>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𝑘</m:t>
                                    </m:r>
                                  </m:e>
                                  <m:sub>
                                    <m:r>
                                      <a:rPr lang="en-US" i="1">
                                        <a:latin typeface="Cambria Math" panose="02040503050406030204" pitchFamily="18" charset="0"/>
                                        <a:cs typeface="Arial" panose="020B0604020202020204" pitchFamily="34" charset="0"/>
                                      </a:rPr>
                                      <m:t>𝑐</m:t>
                                    </m:r>
                                  </m:sub>
                                </m:sSub>
                              </m:den>
                            </m:f>
                            <m:r>
                              <a:rPr lang="en-US" i="1" smtClean="0">
                                <a:latin typeface="Cambria Math" panose="02040503050406030204" pitchFamily="18" charset="0"/>
                                <a:ea typeface="Cambria Math" panose="02040503050406030204" pitchFamily="18" charset="0"/>
                                <a:cs typeface="Arial" panose="020B0604020202020204" pitchFamily="34" charset="0"/>
                              </a:rPr>
                              <m:t>𝜁</m:t>
                            </m:r>
                          </m:e>
                        </m:d>
                        <m:r>
                          <a:rPr lang="en-US" b="0" i="1" smtClean="0">
                            <a:latin typeface="Cambria Math" panose="02040503050406030204" pitchFamily="18" charset="0"/>
                            <a:cs typeface="Arial" panose="020B0604020202020204" pitchFamily="34" charset="0"/>
                          </a:rPr>
                          <m:t>𝑑</m:t>
                        </m:r>
                        <m:r>
                          <a:rPr lang="en-US" b="0" i="1" smtClean="0">
                            <a:latin typeface="Cambria Math" panose="02040503050406030204" pitchFamily="18" charset="0"/>
                            <a:ea typeface="Cambria Math" panose="02040503050406030204" pitchFamily="18" charset="0"/>
                            <a:cs typeface="Arial" panose="020B0604020202020204" pitchFamily="34" charset="0"/>
                          </a:rPr>
                          <m:t>𝜁</m:t>
                        </m:r>
                      </m:e>
                    </m:nary>
                    <m:r>
                      <a:rPr lang="en-US" b="0" i="1" smtClean="0">
                        <a:latin typeface="Cambria Math" panose="02040503050406030204" pitchFamily="18" charset="0"/>
                        <a:cs typeface="Arial" panose="020B0604020202020204" pitchFamily="34" charset="0"/>
                      </a:rPr>
                      <m:t>=</m:t>
                    </m:r>
                    <m:r>
                      <a:rPr lang="en-US" i="1">
                        <a:latin typeface="Cambria Math" panose="02040503050406030204" pitchFamily="18" charset="0"/>
                        <a:cs typeface="Arial" panose="020B0604020202020204" pitchFamily="34" charset="0"/>
                      </a:rPr>
                      <m:t>𝐸</m:t>
                    </m:r>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𝑢</m:t>
                            </m:r>
                          </m:e>
                          <m:sub>
                            <m:r>
                              <a:rPr lang="en-US" i="1">
                                <a:latin typeface="Cambria Math" panose="02040503050406030204" pitchFamily="18" charset="0"/>
                                <a:cs typeface="Arial" panose="020B0604020202020204" pitchFamily="34" charset="0"/>
                              </a:rPr>
                              <m:t>∗</m:t>
                            </m:r>
                          </m:sub>
                        </m:sSub>
                        <m:r>
                          <a:rPr lang="en-US" i="1">
                            <a:latin typeface="Cambria Math" panose="02040503050406030204" pitchFamily="18" charset="0"/>
                            <a:cs typeface="Arial" panose="020B0604020202020204" pitchFamily="34" charset="0"/>
                          </a:rPr>
                          <m:t>𝐻</m:t>
                        </m:r>
                      </m:num>
                      <m:den>
                        <m:r>
                          <a:rPr lang="en-US" i="1">
                            <a:latin typeface="Cambria Math" panose="02040503050406030204" pitchFamily="18" charset="0"/>
                            <a:ea typeface="Cambria Math" panose="02040503050406030204" pitchFamily="18" charset="0"/>
                            <a:cs typeface="Arial" panose="020B0604020202020204" pitchFamily="34" charset="0"/>
                          </a:rPr>
                          <m:t>𝜅</m:t>
                        </m:r>
                      </m:den>
                    </m:f>
                    <m:r>
                      <m:rPr>
                        <m:sty m:val="p"/>
                      </m:rPr>
                      <a:rPr lang="en-US" b="0" i="0" smtClean="0">
                        <a:latin typeface="Cambria Math" panose="02040503050406030204" pitchFamily="18" charset="0"/>
                        <a:ea typeface="Cambria Math" panose="02040503050406030204" pitchFamily="18" charset="0"/>
                        <a:cs typeface="Arial" panose="020B0604020202020204" pitchFamily="34" charset="0"/>
                      </a:rPr>
                      <m:t>I</m:t>
                    </m:r>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b>
                                <m:r>
                                  <a:rPr lang="en-US" b="0" i="1" smtClean="0">
                                    <a:latin typeface="Cambria Math" panose="02040503050406030204" pitchFamily="18" charset="0"/>
                                    <a:ea typeface="Cambria Math" panose="02040503050406030204" pitchFamily="18" charset="0"/>
                                    <a:cs typeface="Arial" panose="020B0604020202020204" pitchFamily="34" charset="0"/>
                                  </a:rPr>
                                  <m:t>∗</m:t>
                                </m:r>
                              </m:sub>
                            </m:sSub>
                          </m:num>
                          <m:den>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sub>
                                <m:r>
                                  <a:rPr lang="en-US" b="0" i="1" smtClean="0">
                                    <a:latin typeface="Cambria Math" panose="02040503050406030204" pitchFamily="18" charset="0"/>
                                    <a:ea typeface="Cambria Math" panose="02040503050406030204" pitchFamily="18" charset="0"/>
                                    <a:cs typeface="Arial" panose="020B0604020202020204" pitchFamily="34" charset="0"/>
                                  </a:rPr>
                                  <m:t>𝑠</m:t>
                                </m:r>
                              </m:sub>
                            </m:sSub>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𝐻</m:t>
                            </m:r>
                          </m:num>
                          <m:den>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𝑘</m:t>
                                </m:r>
                              </m:e>
                              <m:sub>
                                <m:r>
                                  <a:rPr lang="en-US" b="0" i="1" smtClean="0">
                                    <a:latin typeface="Cambria Math" panose="02040503050406030204" pitchFamily="18" charset="0"/>
                                    <a:ea typeface="Cambria Math" panose="02040503050406030204" pitchFamily="18" charset="0"/>
                                    <a:cs typeface="Arial" panose="020B0604020202020204" pitchFamily="34" charset="0"/>
                                  </a:rPr>
                                  <m:t>𝑐</m:t>
                                </m:r>
                              </m:sub>
                            </m:sSub>
                          </m:den>
                        </m:f>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𝜁</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sub>
                        </m:sSub>
                      </m:e>
                    </m:d>
                  </m:oMath>
                </a14:m>
                <a:r>
                  <a:rPr lang="en-US" dirty="0">
                    <a:latin typeface="Arial" panose="020B0604020202020204" pitchFamily="34" charset="0"/>
                    <a:cs typeface="Arial" panose="020B0604020202020204" pitchFamily="34" charset="0"/>
                  </a:rPr>
                  <a:t> </a:t>
                </a:r>
              </a:p>
            </p:txBody>
          </p:sp>
        </mc:Choice>
        <mc:Fallback xmlns="">
          <p:sp>
            <p:nvSpPr>
              <p:cNvPr id="2" name="TextBox 1">
                <a:extLst>
                  <a:ext uri="{FF2B5EF4-FFF2-40B4-BE49-F238E27FC236}">
                    <a16:creationId xmlns:a16="http://schemas.microsoft.com/office/drawing/2014/main" id="{176008BB-186C-984B-9AD8-618732D42B8D}"/>
                  </a:ext>
                </a:extLst>
              </p:cNvPr>
              <p:cNvSpPr txBox="1">
                <a:spLocks noRot="1" noChangeAspect="1" noMove="1" noResize="1" noEditPoints="1" noAdjustHandles="1" noChangeArrowheads="1" noChangeShapeType="1" noTextEdit="1"/>
              </p:cNvSpPr>
              <p:nvPr/>
            </p:nvSpPr>
            <p:spPr>
              <a:xfrm>
                <a:off x="471296" y="1651031"/>
                <a:ext cx="7064691" cy="624915"/>
              </a:xfrm>
              <a:prstGeom prst="rect">
                <a:avLst/>
              </a:prstGeom>
              <a:blipFill>
                <a:blip r:embed="rId4"/>
                <a:stretch>
                  <a:fillRect l="-1075" t="-52000" b="-118000"/>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28CCFF3A-6207-7146-A7C4-EE04695F437C}"/>
              </a:ext>
            </a:extLst>
          </p:cNvPr>
          <p:cNvSpPr txBox="1"/>
          <p:nvPr/>
        </p:nvSpPr>
        <p:spPr>
          <a:xfrm>
            <a:off x="471296" y="2527476"/>
            <a:ext cx="1834583"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where </a:t>
            </a: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CDFF37CD-5F89-FF4F-BDC7-C09BF77FA94A}"/>
                  </a:ext>
                </a:extLst>
              </p:cNvPr>
              <p:cNvSpPr/>
              <p:nvPr/>
            </p:nvSpPr>
            <p:spPr>
              <a:xfrm>
                <a:off x="551478" y="2959556"/>
                <a:ext cx="3452163" cy="657809"/>
              </a:xfrm>
              <a:prstGeom prst="rect">
                <a:avLst/>
              </a:prstGeom>
            </p:spPr>
            <p:txBody>
              <a:bodyPr wrap="none">
                <a:spAutoFit/>
              </a:bodyPr>
              <a:lstStyle/>
              <a:p>
                <a14:m>
                  <m:oMath xmlns:m="http://schemas.openxmlformats.org/officeDocument/2006/math">
                    <m:r>
                      <a:rPr lang="en-US" b="0" i="1" smtClean="0">
                        <a:latin typeface="Cambria Math" panose="02040503050406030204" pitchFamily="18" charset="0"/>
                        <a:cs typeface="Arial" panose="020B0604020202020204" pitchFamily="34" charset="0"/>
                      </a:rPr>
                      <m:t>𝐼</m:t>
                    </m:r>
                    <m:r>
                      <a:rPr lang="en-US" b="0" i="1" smtClean="0">
                        <a:latin typeface="Cambria Math" panose="02040503050406030204" pitchFamily="18" charset="0"/>
                        <a:cs typeface="Arial" panose="020B0604020202020204" pitchFamily="34" charset="0"/>
                      </a:rPr>
                      <m:t>=</m:t>
                    </m:r>
                    <m:nary>
                      <m:naryPr>
                        <m:limLoc m:val="undOvr"/>
                        <m:ctrlPr>
                          <a:rPr lang="en-US" i="1">
                            <a:latin typeface="Cambria Math" panose="02040503050406030204" pitchFamily="18" charset="0"/>
                            <a:cs typeface="Arial" panose="020B0604020202020204" pitchFamily="34" charset="0"/>
                          </a:rPr>
                        </m:ctrlPr>
                      </m:naryPr>
                      <m:sub>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𝜁</m:t>
                            </m:r>
                          </m:e>
                          <m:sub>
                            <m:r>
                              <a:rPr lang="en-US" i="1">
                                <a:latin typeface="Cambria Math" panose="02040503050406030204" pitchFamily="18" charset="0"/>
                                <a:cs typeface="Arial" panose="020B0604020202020204" pitchFamily="34" charset="0"/>
                              </a:rPr>
                              <m:t>𝑏</m:t>
                            </m:r>
                          </m:sub>
                        </m:sSub>
                      </m:sub>
                      <m:sup>
                        <m:r>
                          <a:rPr lang="en-US" i="1">
                            <a:latin typeface="Cambria Math" panose="02040503050406030204" pitchFamily="18" charset="0"/>
                            <a:cs typeface="Arial" panose="020B0604020202020204" pitchFamily="34" charset="0"/>
                          </a:rPr>
                          <m:t>1</m:t>
                        </m:r>
                      </m:sup>
                      <m:e>
                        <m:sSup>
                          <m:sSupPr>
                            <m:ctrlPr>
                              <a:rPr lang="en-US" i="1">
                                <a:latin typeface="Cambria Math" panose="02040503050406030204" pitchFamily="18" charset="0"/>
                                <a:cs typeface="Arial" panose="020B0604020202020204" pitchFamily="34" charset="0"/>
                              </a:rPr>
                            </m:ctrlPr>
                          </m:sSupPr>
                          <m:e>
                            <m:d>
                              <m:dPr>
                                <m:begChr m:val="["/>
                                <m:endChr m:val="]"/>
                                <m:ctrlPr>
                                  <a:rPr lang="en-US" i="1">
                                    <a:latin typeface="Cambria Math" panose="02040503050406030204" pitchFamily="18" charset="0"/>
                                    <a:cs typeface="Arial" panose="020B0604020202020204" pitchFamily="34" charset="0"/>
                                  </a:rPr>
                                </m:ctrlPr>
                              </m:dPr>
                              <m:e>
                                <m:f>
                                  <m:fPr>
                                    <m:ctrlPr>
                                      <a:rPr lang="en-US" i="1">
                                        <a:latin typeface="Cambria Math" panose="02040503050406030204" pitchFamily="18" charset="0"/>
                                        <a:cs typeface="Arial" panose="020B0604020202020204" pitchFamily="34" charset="0"/>
                                      </a:rPr>
                                    </m:ctrlPr>
                                  </m:fPr>
                                  <m:num>
                                    <m:d>
                                      <m:dPr>
                                        <m:ctrlPr>
                                          <a:rPr lang="en-US" i="1">
                                            <a:latin typeface="Cambria Math" panose="02040503050406030204" pitchFamily="18" charset="0"/>
                                            <a:cs typeface="Arial" panose="020B0604020202020204" pitchFamily="34" charset="0"/>
                                          </a:rPr>
                                        </m:ctrlPr>
                                      </m:dPr>
                                      <m:e>
                                        <m:r>
                                          <a:rPr lang="en-US" i="1">
                                            <a:latin typeface="Cambria Math" panose="02040503050406030204" pitchFamily="18" charset="0"/>
                                            <a:ea typeface="Cambria Math" panose="02040503050406030204" pitchFamily="18" charset="0"/>
                                            <a:cs typeface="Arial" panose="020B0604020202020204" pitchFamily="34" charset="0"/>
                                          </a:rPr>
                                          <m:t>1−</m:t>
                                        </m:r>
                                        <m:r>
                                          <a:rPr lang="en-US" i="1">
                                            <a:latin typeface="Cambria Math" panose="02040503050406030204" pitchFamily="18" charset="0"/>
                                            <a:ea typeface="Cambria Math" panose="02040503050406030204" pitchFamily="18" charset="0"/>
                                            <a:cs typeface="Arial" panose="020B0604020202020204" pitchFamily="34" charset="0"/>
                                          </a:rPr>
                                          <m:t>𝜁</m:t>
                                        </m:r>
                                      </m:e>
                                    </m:d>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𝜁</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num>
                                  <m:den>
                                    <m:d>
                                      <m:dPr>
                                        <m:ctrlPr>
                                          <a:rPr lang="en-US" i="1">
                                            <a:latin typeface="Cambria Math" panose="02040503050406030204" pitchFamily="18" charset="0"/>
                                            <a:cs typeface="Arial" panose="020B0604020202020204" pitchFamily="34" charset="0"/>
                                          </a:rPr>
                                        </m:ctrlPr>
                                      </m:dPr>
                                      <m:e>
                                        <m:r>
                                          <a:rPr lang="en-US" i="1">
                                            <a:latin typeface="Cambria Math" panose="02040503050406030204" pitchFamily="18" charset="0"/>
                                            <a:ea typeface="Cambria Math" panose="02040503050406030204" pitchFamily="18" charset="0"/>
                                            <a:cs typeface="Arial" panose="020B0604020202020204" pitchFamily="34" charset="0"/>
                                          </a:rPr>
                                          <m:t>1−</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𝜁</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e>
                                    </m:d>
                                    <m:r>
                                      <a:rPr lang="en-US" i="1">
                                        <a:latin typeface="Cambria Math" panose="02040503050406030204" pitchFamily="18" charset="0"/>
                                        <a:ea typeface="Cambria Math" panose="02040503050406030204" pitchFamily="18" charset="0"/>
                                        <a:cs typeface="Arial" panose="020B0604020202020204" pitchFamily="34" charset="0"/>
                                      </a:rPr>
                                      <m:t>𝜁</m:t>
                                    </m:r>
                                  </m:den>
                                </m:f>
                              </m:e>
                            </m:d>
                          </m:e>
                          <m:sup>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num>
                              <m:den>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den>
                            </m:f>
                          </m:sup>
                        </m:sSup>
                        <m:r>
                          <a:rPr lang="en-US" i="1">
                            <a:latin typeface="Cambria Math" panose="02040503050406030204" pitchFamily="18" charset="0"/>
                            <a:cs typeface="Arial" panose="020B0604020202020204" pitchFamily="34" charset="0"/>
                          </a:rPr>
                          <m:t>𝑙𝑛</m:t>
                        </m:r>
                        <m:d>
                          <m:dPr>
                            <m:ctrlPr>
                              <a:rPr lang="en-US" i="1">
                                <a:latin typeface="Cambria Math" panose="02040503050406030204" pitchFamily="18" charset="0"/>
                                <a:cs typeface="Arial" panose="020B0604020202020204" pitchFamily="34" charset="0"/>
                              </a:rPr>
                            </m:ctrlPr>
                          </m:dPr>
                          <m:e>
                            <m:r>
                              <a:rPr lang="en-US" i="1">
                                <a:latin typeface="Cambria Math" panose="02040503050406030204" pitchFamily="18" charset="0"/>
                                <a:cs typeface="Arial" panose="020B0604020202020204" pitchFamily="34" charset="0"/>
                              </a:rPr>
                              <m:t>30</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𝐻</m:t>
                                </m:r>
                              </m:num>
                              <m:den>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𝑘</m:t>
                                    </m:r>
                                  </m:e>
                                  <m:sub>
                                    <m:r>
                                      <a:rPr lang="en-US" i="1">
                                        <a:latin typeface="Cambria Math" panose="02040503050406030204" pitchFamily="18" charset="0"/>
                                        <a:cs typeface="Arial" panose="020B0604020202020204" pitchFamily="34" charset="0"/>
                                      </a:rPr>
                                      <m:t>𝑐</m:t>
                                    </m:r>
                                  </m:sub>
                                </m:sSub>
                              </m:den>
                            </m:f>
                            <m:r>
                              <a:rPr lang="en-US" i="1">
                                <a:latin typeface="Cambria Math" panose="02040503050406030204" pitchFamily="18" charset="0"/>
                                <a:ea typeface="Cambria Math" panose="02040503050406030204" pitchFamily="18" charset="0"/>
                                <a:cs typeface="Arial" panose="020B0604020202020204" pitchFamily="34" charset="0"/>
                              </a:rPr>
                              <m:t>𝜁</m:t>
                            </m:r>
                          </m:e>
                        </m:d>
                        <m:r>
                          <a:rPr lang="en-US" i="1">
                            <a:latin typeface="Cambria Math" panose="02040503050406030204" pitchFamily="18" charset="0"/>
                            <a:cs typeface="Arial" panose="020B0604020202020204" pitchFamily="34" charset="0"/>
                          </a:rPr>
                          <m:t>𝑑</m:t>
                        </m:r>
                        <m:r>
                          <a:rPr lang="en-US" i="1">
                            <a:latin typeface="Cambria Math" panose="02040503050406030204" pitchFamily="18" charset="0"/>
                            <a:ea typeface="Cambria Math" panose="02040503050406030204" pitchFamily="18" charset="0"/>
                            <a:cs typeface="Arial" panose="020B0604020202020204" pitchFamily="34" charset="0"/>
                          </a:rPr>
                          <m:t>𝜁</m:t>
                        </m:r>
                      </m:e>
                    </m:nary>
                  </m:oMath>
                </a14:m>
                <a:r>
                  <a:rPr lang="en-US" dirty="0"/>
                  <a:t> </a:t>
                </a:r>
              </a:p>
            </p:txBody>
          </p:sp>
        </mc:Choice>
        <mc:Fallback xmlns="">
          <p:sp>
            <p:nvSpPr>
              <p:cNvPr id="8" name="Rectangle 7">
                <a:extLst>
                  <a:ext uri="{FF2B5EF4-FFF2-40B4-BE49-F238E27FC236}">
                    <a16:creationId xmlns:a16="http://schemas.microsoft.com/office/drawing/2014/main" id="{CDFF37CD-5F89-FF4F-BDC7-C09BF77FA94A}"/>
                  </a:ext>
                </a:extLst>
              </p:cNvPr>
              <p:cNvSpPr>
                <a:spLocks noRot="1" noChangeAspect="1" noMove="1" noResize="1" noEditPoints="1" noAdjustHandles="1" noChangeArrowheads="1" noChangeShapeType="1" noTextEdit="1"/>
              </p:cNvSpPr>
              <p:nvPr/>
            </p:nvSpPr>
            <p:spPr>
              <a:xfrm>
                <a:off x="551478" y="2959556"/>
                <a:ext cx="3452163" cy="657809"/>
              </a:xfrm>
              <a:prstGeom prst="rect">
                <a:avLst/>
              </a:prstGeom>
              <a:blipFill>
                <a:blip r:embed="rId5"/>
                <a:stretch>
                  <a:fillRect t="-49057" b="-103774"/>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7CDF2899-94E5-9447-AA70-A1DAF91801E5}"/>
              </a:ext>
            </a:extLst>
          </p:cNvPr>
          <p:cNvSpPr txBox="1"/>
          <p:nvPr/>
        </p:nvSpPr>
        <p:spPr>
          <a:xfrm>
            <a:off x="442976" y="3842754"/>
            <a:ext cx="11285198" cy="1013291"/>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In this formulation the reference level z = b (</a:t>
            </a:r>
            <a:r>
              <a:rPr lang="en-US" dirty="0">
                <a:latin typeface="Symbol" pitchFamily="2" charset="2"/>
                <a:cs typeface="Arial" panose="020B0604020202020204" pitchFamily="34" charset="0"/>
              </a:rPr>
              <a:t>z</a:t>
            </a:r>
            <a:r>
              <a:rPr lang="en-US" dirty="0">
                <a:latin typeface="Arial" panose="020B0604020202020204" pitchFamily="34" charset="0"/>
                <a:cs typeface="Arial" panose="020B0604020202020204" pitchFamily="34" charset="0"/>
              </a:rPr>
              <a:t> = </a:t>
            </a:r>
            <a:r>
              <a:rPr lang="en-US" dirty="0" err="1">
                <a:latin typeface="Symbol" pitchFamily="2" charset="2"/>
                <a:cs typeface="Arial" panose="020B0604020202020204" pitchFamily="34" charset="0"/>
              </a:rPr>
              <a:t>z</a:t>
            </a:r>
            <a:r>
              <a:rPr lang="en-US" baseline="-25000" dirty="0" err="1">
                <a:latin typeface="Arial" panose="020B0604020202020204" pitchFamily="34" charset="0"/>
                <a:cs typeface="Arial" panose="020B0604020202020204" pitchFamily="34" charset="0"/>
              </a:rPr>
              <a:t>b</a:t>
            </a:r>
            <a:r>
              <a:rPr lang="en-US" dirty="0">
                <a:latin typeface="Arial" panose="020B0604020202020204" pitchFamily="34" charset="0"/>
                <a:cs typeface="Arial" panose="020B0604020202020204" pitchFamily="34" charset="0"/>
              </a:rPr>
              <a:t>) cannot be set equal to 0 because turbulence cannot persist all the way down to a solid boundary or a granular bed. </a:t>
            </a:r>
          </a:p>
          <a:p>
            <a:pPr algn="l">
              <a:lnSpc>
                <a:spcPct val="114000"/>
              </a:lnSpc>
            </a:pPr>
            <a:r>
              <a:rPr lang="en-US" dirty="0">
                <a:latin typeface="Arial" panose="020B0604020202020204" pitchFamily="34" charset="0"/>
                <a:cs typeface="Arial" panose="020B0604020202020204" pitchFamily="34" charset="0"/>
              </a:rPr>
              <a:t>For this reason, the logarithmic velocity profile predicts infinite negative velocity at z = 0. </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9E718EA-5D5D-6F41-8B64-8CFAB9278315}"/>
                  </a:ext>
                </a:extLst>
              </p:cNvPr>
              <p:cNvSpPr txBox="1"/>
              <p:nvPr/>
            </p:nvSpPr>
            <p:spPr>
              <a:xfrm>
                <a:off x="627471" y="4856045"/>
                <a:ext cx="1678408" cy="503792"/>
              </a:xfrm>
              <a:prstGeom prst="rect">
                <a:avLst/>
              </a:prstGeom>
              <a:noFill/>
            </p:spPr>
            <p:txBody>
              <a:bodyPr wrap="none" lIns="0" tIns="0" rIns="0" bIns="0" rtlCol="0">
                <a:spAutoFit/>
              </a:bodyPr>
              <a:lstStyle/>
              <a:p>
                <a:pPr algn="l">
                  <a:lnSpc>
                    <a:spcPct val="114000"/>
                  </a:lnSpc>
                </a:pP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𝑢</m:t>
                        </m:r>
                      </m:e>
                    </m:acc>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m:t>
                            </m:r>
                          </m:sub>
                        </m:sSub>
                      </m:num>
                      <m:den>
                        <m:r>
                          <a:rPr lang="en-US" b="0" i="1" smtClean="0">
                            <a:latin typeface="Cambria Math" panose="02040503050406030204" pitchFamily="18" charset="0"/>
                            <a:ea typeface="Cambria Math" panose="02040503050406030204" pitchFamily="18" charset="0"/>
                            <a:cs typeface="Arial" panose="020B0604020202020204" pitchFamily="34" charset="0"/>
                          </a:rPr>
                          <m:t>𝜅</m:t>
                        </m:r>
                      </m:den>
                    </m:f>
                    <m:r>
                      <a:rPr lang="en-US" b="0" i="1" smtClean="0">
                        <a:latin typeface="Cambria Math" panose="02040503050406030204" pitchFamily="18" charset="0"/>
                        <a:cs typeface="Arial" panose="020B0604020202020204" pitchFamily="34" charset="0"/>
                      </a:rPr>
                      <m:t>𝑙𝑛</m:t>
                    </m:r>
                    <m:d>
                      <m:dPr>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30</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𝑧</m:t>
                            </m:r>
                          </m:num>
                          <m:den>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𝑘</m:t>
                                </m:r>
                              </m:e>
                              <m:sub>
                                <m:r>
                                  <a:rPr lang="en-US" b="0" i="1" smtClean="0">
                                    <a:latin typeface="Cambria Math" panose="02040503050406030204" pitchFamily="18" charset="0"/>
                                    <a:cs typeface="Arial" panose="020B0604020202020204" pitchFamily="34" charset="0"/>
                                  </a:rPr>
                                  <m:t>𝑐</m:t>
                                </m:r>
                              </m:sub>
                            </m:sSub>
                          </m:den>
                        </m:f>
                      </m:e>
                    </m:d>
                  </m:oMath>
                </a14:m>
                <a:r>
                  <a:rPr lang="en-US" dirty="0">
                    <a:latin typeface="Arial" panose="020B0604020202020204" pitchFamily="34" charset="0"/>
                    <a:cs typeface="Arial" panose="020B0604020202020204" pitchFamily="34" charset="0"/>
                  </a:rPr>
                  <a:t> </a:t>
                </a:r>
              </a:p>
            </p:txBody>
          </p:sp>
        </mc:Choice>
        <mc:Fallback xmlns="">
          <p:sp>
            <p:nvSpPr>
              <p:cNvPr id="16" name="TextBox 15">
                <a:extLst>
                  <a:ext uri="{FF2B5EF4-FFF2-40B4-BE49-F238E27FC236}">
                    <a16:creationId xmlns:a16="http://schemas.microsoft.com/office/drawing/2014/main" id="{F9E718EA-5D5D-6F41-8B64-8CFAB9278315}"/>
                  </a:ext>
                </a:extLst>
              </p:cNvPr>
              <p:cNvSpPr txBox="1">
                <a:spLocks noRot="1" noChangeAspect="1" noMove="1" noResize="1" noEditPoints="1" noAdjustHandles="1" noChangeArrowheads="1" noChangeShapeType="1" noTextEdit="1"/>
              </p:cNvSpPr>
              <p:nvPr/>
            </p:nvSpPr>
            <p:spPr>
              <a:xfrm>
                <a:off x="627471" y="4856045"/>
                <a:ext cx="1678408" cy="503792"/>
              </a:xfrm>
              <a:prstGeom prst="rect">
                <a:avLst/>
              </a:prstGeom>
              <a:blipFill>
                <a:blip r:embed="rId6"/>
                <a:stretch>
                  <a:fillRect l="-3759" b="-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7FD096F9-F1D3-FE46-883F-24F8340F6703}"/>
                  </a:ext>
                </a:extLst>
              </p:cNvPr>
              <p:cNvSpPr/>
              <p:nvPr/>
            </p:nvSpPr>
            <p:spPr>
              <a:xfrm>
                <a:off x="454278" y="5565162"/>
                <a:ext cx="10699367" cy="923330"/>
              </a:xfrm>
              <a:prstGeom prst="rect">
                <a:avLst/>
              </a:prstGeom>
            </p:spPr>
            <p:txBody>
              <a:bodyPr wrap="square">
                <a:spAutoFit/>
              </a:bodyPr>
              <a:lstStyle/>
              <a:p>
                <a:r>
                  <a:rPr lang="en-US" dirty="0">
                    <a:latin typeface="Arial" panose="020B0604020202020204" pitchFamily="34" charset="0"/>
                    <a:cs typeface="Arial" panose="020B0604020202020204" pitchFamily="34" charset="0"/>
                  </a:rPr>
                  <a:t>The point of vanishing velocity is at z = k</a:t>
                </a:r>
                <a:r>
                  <a:rPr lang="en-US" baseline="-25000" dirty="0">
                    <a:latin typeface="Arial" panose="020B0604020202020204" pitchFamily="34" charset="0"/>
                    <a:cs typeface="Arial" panose="020B0604020202020204" pitchFamily="34" charset="0"/>
                  </a:rPr>
                  <a:t>c</a:t>
                </a:r>
                <a:r>
                  <a:rPr lang="en-US" dirty="0">
                    <a:latin typeface="Arial" panose="020B0604020202020204" pitchFamily="34" charset="0"/>
                    <a:cs typeface="Arial" panose="020B0604020202020204" pitchFamily="34" charset="0"/>
                  </a:rPr>
                  <a:t>/30. </a:t>
                </a:r>
              </a:p>
              <a:p>
                <a:r>
                  <a:rPr lang="en-US" dirty="0">
                    <a:latin typeface="Arial" panose="020B0604020202020204" pitchFamily="34" charset="0"/>
                    <a:cs typeface="Arial" panose="020B0604020202020204" pitchFamily="34" charset="0"/>
                  </a:rPr>
                  <a:t>In our analysis the eddy diffusivity was derived from the log law, thus, </a:t>
                </a:r>
                <a14:m>
                  <m:oMath xmlns:m="http://schemas.openxmlformats.org/officeDocument/2006/math">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oMath>
                </a14:m>
                <a:r>
                  <a:rPr lang="en-US" dirty="0">
                    <a:latin typeface="Arial" panose="020B0604020202020204" pitchFamily="34" charset="0"/>
                    <a:cs typeface="Arial" panose="020B0604020202020204" pitchFamily="34" charset="0"/>
                  </a:rPr>
                  <a:t> cannot be computed all the way down to z = 0. The near bed boundary condition should be specified at z = b &gt;= k</a:t>
                </a:r>
                <a:r>
                  <a:rPr lang="en-US" baseline="-25000" dirty="0">
                    <a:latin typeface="Arial" panose="020B0604020202020204" pitchFamily="34" charset="0"/>
                    <a:cs typeface="Arial" panose="020B0604020202020204" pitchFamily="34" charset="0"/>
                  </a:rPr>
                  <a:t>c</a:t>
                </a:r>
                <a:r>
                  <a:rPr lang="en-US" dirty="0">
                    <a:latin typeface="Arial" panose="020B0604020202020204" pitchFamily="34" charset="0"/>
                    <a:cs typeface="Arial" panose="020B0604020202020204" pitchFamily="34" charset="0"/>
                  </a:rPr>
                  <a:t>/30  </a:t>
                </a:r>
                <a:endParaRPr lang="en-US" dirty="0"/>
              </a:p>
            </p:txBody>
          </p:sp>
        </mc:Choice>
        <mc:Fallback xmlns="">
          <p:sp>
            <p:nvSpPr>
              <p:cNvPr id="9" name="Rectangle 8">
                <a:extLst>
                  <a:ext uri="{FF2B5EF4-FFF2-40B4-BE49-F238E27FC236}">
                    <a16:creationId xmlns:a16="http://schemas.microsoft.com/office/drawing/2014/main" id="{7FD096F9-F1D3-FE46-883F-24F8340F6703}"/>
                  </a:ext>
                </a:extLst>
              </p:cNvPr>
              <p:cNvSpPr>
                <a:spLocks noRot="1" noChangeAspect="1" noMove="1" noResize="1" noEditPoints="1" noAdjustHandles="1" noChangeArrowheads="1" noChangeShapeType="1" noTextEdit="1"/>
              </p:cNvSpPr>
              <p:nvPr/>
            </p:nvSpPr>
            <p:spPr>
              <a:xfrm>
                <a:off x="454278" y="5565162"/>
                <a:ext cx="10699367" cy="923330"/>
              </a:xfrm>
              <a:prstGeom prst="rect">
                <a:avLst/>
              </a:prstGeom>
              <a:blipFill>
                <a:blip r:embed="rId7"/>
                <a:stretch>
                  <a:fillRect l="-593" t="-4110" r="-237" b="-8219"/>
                </a:stretch>
              </a:blipFill>
            </p:spPr>
            <p:txBody>
              <a:bodyPr/>
              <a:lstStyle/>
              <a:p>
                <a:r>
                  <a:rPr lang="en-US">
                    <a:noFill/>
                  </a:rPr>
                  <a:t> </a:t>
                </a:r>
              </a:p>
            </p:txBody>
          </p:sp>
        </mc:Fallback>
      </mc:AlternateContent>
    </p:spTree>
    <p:extLst>
      <p:ext uri="{BB962C8B-B14F-4D97-AF65-F5344CB8AC3E}">
        <p14:creationId xmlns:p14="http://schemas.microsoft.com/office/powerpoint/2010/main" val="40817005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13</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954107"/>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Calculations of the total bed material load on the Congaree River in the Congaree National Park, SC</a:t>
            </a:r>
          </a:p>
        </p:txBody>
      </p:sp>
      <p:sp>
        <p:nvSpPr>
          <p:cNvPr id="2" name="TextBox 1">
            <a:extLst>
              <a:ext uri="{FF2B5EF4-FFF2-40B4-BE49-F238E27FC236}">
                <a16:creationId xmlns:a16="http://schemas.microsoft.com/office/drawing/2014/main" id="{D4CA5DA0-0B90-57CF-7F68-C9D7D10FD4A6}"/>
              </a:ext>
            </a:extLst>
          </p:cNvPr>
          <p:cNvSpPr txBox="1"/>
          <p:nvPr/>
        </p:nvSpPr>
        <p:spPr>
          <a:xfrm>
            <a:off x="975872" y="1498387"/>
            <a:ext cx="10619335" cy="5118645"/>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Given:</a:t>
            </a:r>
          </a:p>
          <a:p>
            <a:pPr marL="285750" indent="-285750" algn="l">
              <a:lnSpc>
                <a:spcPct val="114000"/>
              </a:lnSpc>
              <a:buFont typeface="Arial" panose="020B0604020202020204" pitchFamily="34" charset="0"/>
              <a:buChar char="•"/>
            </a:pPr>
            <a:r>
              <a:rPr lang="en-US" dirty="0">
                <a:latin typeface="Arial" panose="020B0604020202020204" pitchFamily="34" charset="0"/>
                <a:cs typeface="Arial" panose="020B0604020202020204" pitchFamily="34" charset="0"/>
              </a:rPr>
              <a:t>The flow duration curve, a site-specific suspended bed material load equation, an estimate of the </a:t>
            </a:r>
            <a:r>
              <a:rPr lang="en-US" dirty="0" err="1">
                <a:latin typeface="Arial" panose="020B0604020202020204" pitchFamily="34" charset="0"/>
                <a:cs typeface="Arial" panose="020B0604020202020204" pitchFamily="34" charset="0"/>
              </a:rPr>
              <a:t>bankfull</a:t>
            </a:r>
            <a:r>
              <a:rPr lang="en-US" dirty="0">
                <a:latin typeface="Arial" panose="020B0604020202020204" pitchFamily="34" charset="0"/>
                <a:cs typeface="Arial" panose="020B0604020202020204" pitchFamily="34" charset="0"/>
              </a:rPr>
              <a:t> discharge, channel slope, floodplain width, </a:t>
            </a:r>
            <a:r>
              <a:rPr lang="en-US" dirty="0" err="1">
                <a:latin typeface="Arial" panose="020B0604020202020204" pitchFamily="34" charset="0"/>
                <a:cs typeface="Arial" panose="020B0604020202020204" pitchFamily="34" charset="0"/>
              </a:rPr>
              <a:t>bankfull</a:t>
            </a:r>
            <a:r>
              <a:rPr lang="en-US" dirty="0">
                <a:latin typeface="Arial" panose="020B0604020202020204" pitchFamily="34" charset="0"/>
                <a:cs typeface="Arial" panose="020B0604020202020204" pitchFamily="34" charset="0"/>
              </a:rPr>
              <a:t> width and </a:t>
            </a:r>
            <a:r>
              <a:rPr lang="en-US" dirty="0" err="1">
                <a:latin typeface="Arial" panose="020B0604020202020204" pitchFamily="34" charset="0"/>
                <a:cs typeface="Arial" panose="020B0604020202020204" pitchFamily="34" charset="0"/>
              </a:rPr>
              <a:t>bankfull</a:t>
            </a:r>
            <a:r>
              <a:rPr lang="en-US" dirty="0">
                <a:latin typeface="Arial" panose="020B0604020202020204" pitchFamily="34" charset="0"/>
                <a:cs typeface="Arial" panose="020B0604020202020204" pitchFamily="34" charset="0"/>
              </a:rPr>
              <a:t> depth, grain size distribution of the bed surface sand and floodplain friction </a:t>
            </a:r>
            <a:r>
              <a:rPr lang="en-US" dirty="0" err="1">
                <a:latin typeface="Arial" panose="020B0604020202020204" pitchFamily="34" charset="0"/>
                <a:cs typeface="Arial" panose="020B0604020202020204" pitchFamily="34" charset="0"/>
              </a:rPr>
              <a:t>coeffcient</a:t>
            </a:r>
            <a:r>
              <a:rPr lang="en-US" dirty="0">
                <a:latin typeface="Arial" panose="020B0604020202020204" pitchFamily="34" charset="0"/>
                <a:cs typeface="Arial" panose="020B0604020202020204" pitchFamily="34" charset="0"/>
              </a:rPr>
              <a:t> (excel file CongareeRiver_data.xlsx)</a:t>
            </a:r>
          </a:p>
          <a:p>
            <a:pPr marL="285750" indent="-285750" algn="l">
              <a:lnSpc>
                <a:spcPct val="114000"/>
              </a:lnSpc>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lgn="l">
              <a:lnSpc>
                <a:spcPct val="114000"/>
              </a:lnSpc>
              <a:buFont typeface="Arial" panose="020B0604020202020204" pitchFamily="34" charset="0"/>
              <a:buChar char="•"/>
            </a:pPr>
            <a:r>
              <a:rPr lang="en-US" dirty="0">
                <a:latin typeface="Arial" panose="020B0604020202020204" pitchFamily="34" charset="0"/>
                <a:cs typeface="Arial" panose="020B0604020202020204" pitchFamily="34" charset="0"/>
              </a:rPr>
              <a:t>estimate the flow intermittency assuming that the sediment is uniform and that the intermittency based on suspended load is the same as the intermittency for total load and bedload </a:t>
            </a:r>
          </a:p>
          <a:p>
            <a:pPr marL="285750" indent="-285750" algn="l">
              <a:lnSpc>
                <a:spcPct val="114000"/>
              </a:lnSpc>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lgn="l">
              <a:lnSpc>
                <a:spcPct val="114000"/>
              </a:lnSpc>
              <a:buFont typeface="Arial" panose="020B0604020202020204" pitchFamily="34" charset="0"/>
              <a:buChar char="•"/>
            </a:pPr>
            <a:r>
              <a:rPr lang="en-US" dirty="0">
                <a:latin typeface="Arial" panose="020B0604020202020204" pitchFamily="34" charset="0"/>
                <a:cs typeface="Arial" panose="020B0604020202020204" pitchFamily="34" charset="0"/>
              </a:rPr>
              <a:t>Compare the bed material transport capacity at </a:t>
            </a:r>
            <a:r>
              <a:rPr lang="en-US" dirty="0" err="1">
                <a:latin typeface="Arial" panose="020B0604020202020204" pitchFamily="34" charset="0"/>
                <a:cs typeface="Arial" panose="020B0604020202020204" pitchFamily="34" charset="0"/>
              </a:rPr>
              <a:t>bankfull</a:t>
            </a:r>
            <a:r>
              <a:rPr lang="en-US" dirty="0">
                <a:latin typeface="Arial" panose="020B0604020202020204" pitchFamily="34" charset="0"/>
                <a:cs typeface="Arial" panose="020B0604020202020204" pitchFamily="34" charset="0"/>
              </a:rPr>
              <a:t> flow estimated with the Naito et al total load relation, and as the sum of suspended load and bedload transport capacities respectively computed with the Ashida and </a:t>
            </a:r>
            <a:r>
              <a:rPr lang="en-US" dirty="0" err="1">
                <a:latin typeface="Arial" panose="020B0604020202020204" pitchFamily="34" charset="0"/>
                <a:cs typeface="Arial" panose="020B0604020202020204" pitchFamily="34" charset="0"/>
              </a:rPr>
              <a:t>Michiue</a:t>
            </a:r>
            <a:r>
              <a:rPr lang="en-US" dirty="0">
                <a:latin typeface="Arial" panose="020B0604020202020204" pitchFamily="34" charset="0"/>
                <a:cs typeface="Arial" panose="020B0604020202020204" pitchFamily="34" charset="0"/>
              </a:rPr>
              <a:t> and the Garcia and Parker models. </a:t>
            </a:r>
          </a:p>
          <a:p>
            <a:pPr marL="285750" indent="-285750" algn="l">
              <a:lnSpc>
                <a:spcPct val="114000"/>
              </a:lnSpc>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lgn="l">
              <a:lnSpc>
                <a:spcPct val="114000"/>
              </a:lnSpc>
              <a:buFont typeface="Arial" panose="020B0604020202020204" pitchFamily="34" charset="0"/>
              <a:buChar char="•"/>
            </a:pPr>
            <a:r>
              <a:rPr lang="en-US" dirty="0">
                <a:latin typeface="Arial" panose="020B0604020202020204" pitchFamily="34" charset="0"/>
                <a:cs typeface="Arial" panose="020B0604020202020204" pitchFamily="34" charset="0"/>
              </a:rPr>
              <a:t>In the calculation, divide the A coefficient of the Naito model by 154 to account for the fact that the Congaree River is a sand bed river with a transport capacity that is two orders of magnitude smaller than the transport capacity of the fine sand/silt-bed Yellow River used to derive model parameters.</a:t>
            </a:r>
          </a:p>
        </p:txBody>
      </p:sp>
    </p:spTree>
    <p:extLst>
      <p:ext uri="{BB962C8B-B14F-4D97-AF65-F5344CB8AC3E}">
        <p14:creationId xmlns:p14="http://schemas.microsoft.com/office/powerpoint/2010/main" val="19465178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D879C-11D8-11B6-2522-BECC661A719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B4077FD-0383-3D8B-94DC-2D9FA6B8151F}"/>
              </a:ext>
            </a:extLst>
          </p:cNvPr>
          <p:cNvSpPr>
            <a:spLocks noGrp="1"/>
          </p:cNvSpPr>
          <p:nvPr>
            <p:ph type="sldNum" sz="quarter" idx="12"/>
          </p:nvPr>
        </p:nvSpPr>
        <p:spPr/>
        <p:txBody>
          <a:bodyPr/>
          <a:lstStyle/>
          <a:p>
            <a:fld id="{2386C454-E1BD-5A43-901A-CA4ACC7380B7}" type="slidenum">
              <a:rPr lang="en-US" smtClean="0"/>
              <a:t>14</a:t>
            </a:fld>
            <a:endParaRPr lang="en-US" dirty="0"/>
          </a:p>
        </p:txBody>
      </p:sp>
      <p:sp>
        <p:nvSpPr>
          <p:cNvPr id="5" name="TextBox 4">
            <a:extLst>
              <a:ext uri="{FF2B5EF4-FFF2-40B4-BE49-F238E27FC236}">
                <a16:creationId xmlns:a16="http://schemas.microsoft.com/office/drawing/2014/main" id="{9421F15B-AE75-3DB2-E993-59C194D2EE3B}"/>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What happens in the water column?</a:t>
            </a:r>
          </a:p>
        </p:txBody>
      </p:sp>
    </p:spTree>
    <p:extLst>
      <p:ext uri="{BB962C8B-B14F-4D97-AF65-F5344CB8AC3E}">
        <p14:creationId xmlns:p14="http://schemas.microsoft.com/office/powerpoint/2010/main" val="17452295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15</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Local equation of conservation of suspended sediment</a:t>
            </a:r>
          </a:p>
        </p:txBody>
      </p:sp>
      <p:cxnSp>
        <p:nvCxnSpPr>
          <p:cNvPr id="3" name="Straight Connector 2">
            <a:extLst>
              <a:ext uri="{FF2B5EF4-FFF2-40B4-BE49-F238E27FC236}">
                <a16:creationId xmlns:a16="http://schemas.microsoft.com/office/drawing/2014/main" id="{5AA7BF1D-9279-D14E-95D1-BF2DFD208A95}"/>
              </a:ext>
            </a:extLst>
          </p:cNvPr>
          <p:cNvCxnSpPr>
            <a:cxnSpLocks/>
          </p:cNvCxnSpPr>
          <p:nvPr/>
        </p:nvCxnSpPr>
        <p:spPr>
          <a:xfrm flipV="1">
            <a:off x="1606478" y="1753848"/>
            <a:ext cx="0" cy="1685762"/>
          </a:xfrm>
          <a:prstGeom prst="line">
            <a:avLst/>
          </a:prstGeom>
          <a:ln w="19050">
            <a:solidFill>
              <a:schemeClr val="tx1"/>
            </a:solidFill>
            <a:headEnd type="none" w="med" len="med"/>
            <a:tailEnd type="arrow" w="lg" len="lg"/>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DAF6B4A-F7C5-5F4E-9439-A973E04CD748}"/>
              </a:ext>
            </a:extLst>
          </p:cNvPr>
          <p:cNvCxnSpPr/>
          <p:nvPr/>
        </p:nvCxnSpPr>
        <p:spPr>
          <a:xfrm flipH="1">
            <a:off x="482757" y="3439247"/>
            <a:ext cx="1123721" cy="980501"/>
          </a:xfrm>
          <a:prstGeom prst="line">
            <a:avLst/>
          </a:prstGeom>
          <a:ln w="19050">
            <a:solidFill>
              <a:schemeClr val="tx1"/>
            </a:solidFill>
            <a:headEnd type="none" w="med" len="med"/>
            <a:tailEnd type="arrow" w="lg" len="lg"/>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27FE24F-65E8-954D-8B5A-4D253BAFE138}"/>
              </a:ext>
            </a:extLst>
          </p:cNvPr>
          <p:cNvCxnSpPr/>
          <p:nvPr/>
        </p:nvCxnSpPr>
        <p:spPr>
          <a:xfrm>
            <a:off x="1606478" y="3439247"/>
            <a:ext cx="2897436" cy="0"/>
          </a:xfrm>
          <a:prstGeom prst="line">
            <a:avLst/>
          </a:prstGeom>
          <a:ln w="19050">
            <a:solidFill>
              <a:schemeClr val="tx1"/>
            </a:solidFill>
            <a:headEnd type="none" w="med" len="med"/>
            <a:tailEnd type="arrow" w="lg" len="lg"/>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5CE43CE-9899-1B41-82FA-02784BFE525C}"/>
              </a:ext>
            </a:extLst>
          </p:cNvPr>
          <p:cNvSpPr txBox="1"/>
          <p:nvPr/>
        </p:nvSpPr>
        <p:spPr>
          <a:xfrm>
            <a:off x="482756" y="4419748"/>
            <a:ext cx="386675"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x</a:t>
            </a:r>
          </a:p>
        </p:txBody>
      </p:sp>
      <p:sp>
        <p:nvSpPr>
          <p:cNvPr id="14" name="TextBox 13">
            <a:extLst>
              <a:ext uri="{FF2B5EF4-FFF2-40B4-BE49-F238E27FC236}">
                <a16:creationId xmlns:a16="http://schemas.microsoft.com/office/drawing/2014/main" id="{AD284B0F-CF0D-BC42-9F98-6CECF92635C3}"/>
              </a:ext>
            </a:extLst>
          </p:cNvPr>
          <p:cNvSpPr txBox="1"/>
          <p:nvPr/>
        </p:nvSpPr>
        <p:spPr>
          <a:xfrm>
            <a:off x="4428963" y="3408802"/>
            <a:ext cx="386675"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y</a:t>
            </a:r>
          </a:p>
        </p:txBody>
      </p:sp>
      <p:sp>
        <p:nvSpPr>
          <p:cNvPr id="15" name="TextBox 14">
            <a:extLst>
              <a:ext uri="{FF2B5EF4-FFF2-40B4-BE49-F238E27FC236}">
                <a16:creationId xmlns:a16="http://schemas.microsoft.com/office/drawing/2014/main" id="{26F4773B-264E-A540-8FCC-FF8CCC3C14E0}"/>
              </a:ext>
            </a:extLst>
          </p:cNvPr>
          <p:cNvSpPr txBox="1"/>
          <p:nvPr/>
        </p:nvSpPr>
        <p:spPr>
          <a:xfrm>
            <a:off x="1219803" y="1694058"/>
            <a:ext cx="386675"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z</a:t>
            </a:r>
          </a:p>
        </p:txBody>
      </p:sp>
      <p:cxnSp>
        <p:nvCxnSpPr>
          <p:cNvPr id="16" name="Straight Connector 15">
            <a:extLst>
              <a:ext uri="{FF2B5EF4-FFF2-40B4-BE49-F238E27FC236}">
                <a16:creationId xmlns:a16="http://schemas.microsoft.com/office/drawing/2014/main" id="{423810B6-E9E1-7D49-9405-6107F7C8BF92}"/>
              </a:ext>
            </a:extLst>
          </p:cNvPr>
          <p:cNvCxnSpPr>
            <a:cxnSpLocks/>
          </p:cNvCxnSpPr>
          <p:nvPr/>
        </p:nvCxnSpPr>
        <p:spPr>
          <a:xfrm flipH="1">
            <a:off x="2457846" y="1221053"/>
            <a:ext cx="765041" cy="686115"/>
          </a:xfrm>
          <a:prstGeom prst="line">
            <a:avLst/>
          </a:prstGeom>
          <a:ln w="19050">
            <a:solidFill>
              <a:schemeClr val="tx1"/>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14CD2E7-21B7-2E46-A1F2-EAE988E67765}"/>
              </a:ext>
            </a:extLst>
          </p:cNvPr>
          <p:cNvCxnSpPr>
            <a:cxnSpLocks/>
          </p:cNvCxnSpPr>
          <p:nvPr/>
        </p:nvCxnSpPr>
        <p:spPr>
          <a:xfrm flipH="1">
            <a:off x="3702569" y="1221053"/>
            <a:ext cx="765041" cy="686115"/>
          </a:xfrm>
          <a:prstGeom prst="line">
            <a:avLst/>
          </a:prstGeom>
          <a:ln w="19050">
            <a:solidFill>
              <a:schemeClr val="tx1"/>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C7904E8-A0DE-6141-8597-7169D8AC5ABA}"/>
              </a:ext>
            </a:extLst>
          </p:cNvPr>
          <p:cNvCxnSpPr/>
          <p:nvPr/>
        </p:nvCxnSpPr>
        <p:spPr>
          <a:xfrm>
            <a:off x="2457846" y="1907168"/>
            <a:ext cx="124472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DB4DDB7-6D05-C44C-B9A9-F9E84AD700C3}"/>
              </a:ext>
            </a:extLst>
          </p:cNvPr>
          <p:cNvCxnSpPr/>
          <p:nvPr/>
        </p:nvCxnSpPr>
        <p:spPr>
          <a:xfrm>
            <a:off x="3222887" y="1208234"/>
            <a:ext cx="124472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46DE38B-DA3D-3048-80AF-2D3170C8895F}"/>
              </a:ext>
            </a:extLst>
          </p:cNvPr>
          <p:cNvCxnSpPr>
            <a:cxnSpLocks/>
          </p:cNvCxnSpPr>
          <p:nvPr/>
        </p:nvCxnSpPr>
        <p:spPr>
          <a:xfrm flipH="1">
            <a:off x="3222887" y="1208234"/>
            <a:ext cx="2497" cy="98033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5771611-668C-3D4D-AC58-8D8885AAA6E9}"/>
              </a:ext>
            </a:extLst>
          </p:cNvPr>
          <p:cNvCxnSpPr>
            <a:cxnSpLocks/>
          </p:cNvCxnSpPr>
          <p:nvPr/>
        </p:nvCxnSpPr>
        <p:spPr>
          <a:xfrm flipH="1">
            <a:off x="2479926" y="1904088"/>
            <a:ext cx="2497" cy="9803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CB85C99-BC3F-3647-BAD0-9105C8629A5D}"/>
              </a:ext>
            </a:extLst>
          </p:cNvPr>
          <p:cNvCxnSpPr>
            <a:cxnSpLocks/>
          </p:cNvCxnSpPr>
          <p:nvPr/>
        </p:nvCxnSpPr>
        <p:spPr>
          <a:xfrm flipH="1">
            <a:off x="3676065" y="1913851"/>
            <a:ext cx="2497" cy="9803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57343B0-0BBE-EB49-A5D6-96A2216668A7}"/>
              </a:ext>
            </a:extLst>
          </p:cNvPr>
          <p:cNvCxnSpPr>
            <a:cxnSpLocks/>
          </p:cNvCxnSpPr>
          <p:nvPr/>
        </p:nvCxnSpPr>
        <p:spPr>
          <a:xfrm flipH="1">
            <a:off x="4479966" y="1208234"/>
            <a:ext cx="2497" cy="9803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86313B9-2314-0544-B35C-E3A23AFDCE3B}"/>
              </a:ext>
            </a:extLst>
          </p:cNvPr>
          <p:cNvCxnSpPr/>
          <p:nvPr/>
        </p:nvCxnSpPr>
        <p:spPr>
          <a:xfrm>
            <a:off x="2446332" y="2894181"/>
            <a:ext cx="124472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7E671DB-D81B-8040-A5A5-A01F762FBB8D}"/>
              </a:ext>
            </a:extLst>
          </p:cNvPr>
          <p:cNvCxnSpPr/>
          <p:nvPr/>
        </p:nvCxnSpPr>
        <p:spPr>
          <a:xfrm>
            <a:off x="3222886" y="2188564"/>
            <a:ext cx="1244723"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223343F-9A6E-C745-9EB3-64E1AEB5BCB2}"/>
              </a:ext>
            </a:extLst>
          </p:cNvPr>
          <p:cNvCxnSpPr>
            <a:cxnSpLocks/>
          </p:cNvCxnSpPr>
          <p:nvPr/>
        </p:nvCxnSpPr>
        <p:spPr>
          <a:xfrm flipH="1">
            <a:off x="3690565" y="2198303"/>
            <a:ext cx="765041" cy="686115"/>
          </a:xfrm>
          <a:prstGeom prst="line">
            <a:avLst/>
          </a:prstGeom>
          <a:ln w="19050">
            <a:solidFill>
              <a:schemeClr val="tx1"/>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6EB0D00-BE50-1649-878F-FC460410A024}"/>
              </a:ext>
            </a:extLst>
          </p:cNvPr>
          <p:cNvCxnSpPr>
            <a:cxnSpLocks/>
          </p:cNvCxnSpPr>
          <p:nvPr/>
        </p:nvCxnSpPr>
        <p:spPr>
          <a:xfrm flipH="1">
            <a:off x="2477424" y="2185484"/>
            <a:ext cx="765041" cy="686115"/>
          </a:xfrm>
          <a:prstGeom prst="line">
            <a:avLst/>
          </a:prstGeom>
          <a:ln w="19050">
            <a:solidFill>
              <a:schemeClr val="tx1"/>
            </a:solidFill>
            <a:prstDash val="dash"/>
            <a:headEnd type="none" w="med" len="med"/>
            <a:tailEnd type="none" w="lg" len="lg"/>
          </a:ln>
        </p:spPr>
        <p:style>
          <a:lnRef idx="1">
            <a:schemeClr val="accent1"/>
          </a:lnRef>
          <a:fillRef idx="0">
            <a:schemeClr val="accent1"/>
          </a:fillRef>
          <a:effectRef idx="0">
            <a:schemeClr val="accent1"/>
          </a:effectRef>
          <a:fontRef idx="minor">
            <a:schemeClr val="tx1"/>
          </a:fontRef>
        </p:style>
      </p:cxnSp>
      <p:sp>
        <p:nvSpPr>
          <p:cNvPr id="35" name="Freeform 34">
            <a:extLst>
              <a:ext uri="{FF2B5EF4-FFF2-40B4-BE49-F238E27FC236}">
                <a16:creationId xmlns:a16="http://schemas.microsoft.com/office/drawing/2014/main" id="{182C7A01-DF4F-CC41-BB32-359136D2CEBC}"/>
              </a:ext>
            </a:extLst>
          </p:cNvPr>
          <p:cNvSpPr/>
          <p:nvPr/>
        </p:nvSpPr>
        <p:spPr>
          <a:xfrm>
            <a:off x="2503357" y="1199213"/>
            <a:ext cx="1963712" cy="704538"/>
          </a:xfrm>
          <a:custGeom>
            <a:avLst/>
            <a:gdLst>
              <a:gd name="connsiteX0" fmla="*/ 704538 w 1963712"/>
              <a:gd name="connsiteY0" fmla="*/ 0 h 704538"/>
              <a:gd name="connsiteX1" fmla="*/ 0 w 1963712"/>
              <a:gd name="connsiteY1" fmla="*/ 674557 h 704538"/>
              <a:gd name="connsiteX2" fmla="*/ 1184223 w 1963712"/>
              <a:gd name="connsiteY2" fmla="*/ 704538 h 704538"/>
              <a:gd name="connsiteX3" fmla="*/ 1963712 w 1963712"/>
              <a:gd name="connsiteY3" fmla="*/ 44971 h 704538"/>
              <a:gd name="connsiteX4" fmla="*/ 704538 w 1963712"/>
              <a:gd name="connsiteY4" fmla="*/ 0 h 7045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3712" h="704538">
                <a:moveTo>
                  <a:pt x="704538" y="0"/>
                </a:moveTo>
                <a:lnTo>
                  <a:pt x="0" y="674557"/>
                </a:lnTo>
                <a:lnTo>
                  <a:pt x="1184223" y="704538"/>
                </a:lnTo>
                <a:lnTo>
                  <a:pt x="1963712" y="44971"/>
                </a:lnTo>
                <a:lnTo>
                  <a:pt x="704538" y="0"/>
                </a:lnTo>
                <a:close/>
              </a:path>
            </a:pathLst>
          </a:custGeom>
          <a:solidFill>
            <a:schemeClr val="accent4">
              <a:lumMod val="75000"/>
              <a:alpha val="21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35">
            <a:extLst>
              <a:ext uri="{FF2B5EF4-FFF2-40B4-BE49-F238E27FC236}">
                <a16:creationId xmlns:a16="http://schemas.microsoft.com/office/drawing/2014/main" id="{83F63F0F-5928-6941-B553-A34D4DBB62E4}"/>
              </a:ext>
            </a:extLst>
          </p:cNvPr>
          <p:cNvSpPr/>
          <p:nvPr/>
        </p:nvSpPr>
        <p:spPr>
          <a:xfrm>
            <a:off x="2506884" y="2188733"/>
            <a:ext cx="1963712" cy="704538"/>
          </a:xfrm>
          <a:custGeom>
            <a:avLst/>
            <a:gdLst>
              <a:gd name="connsiteX0" fmla="*/ 704538 w 1963712"/>
              <a:gd name="connsiteY0" fmla="*/ 0 h 704538"/>
              <a:gd name="connsiteX1" fmla="*/ 0 w 1963712"/>
              <a:gd name="connsiteY1" fmla="*/ 674557 h 704538"/>
              <a:gd name="connsiteX2" fmla="*/ 1184223 w 1963712"/>
              <a:gd name="connsiteY2" fmla="*/ 704538 h 704538"/>
              <a:gd name="connsiteX3" fmla="*/ 1963712 w 1963712"/>
              <a:gd name="connsiteY3" fmla="*/ 44971 h 704538"/>
              <a:gd name="connsiteX4" fmla="*/ 704538 w 1963712"/>
              <a:gd name="connsiteY4" fmla="*/ 0 h 7045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3712" h="704538">
                <a:moveTo>
                  <a:pt x="704538" y="0"/>
                </a:moveTo>
                <a:lnTo>
                  <a:pt x="0" y="674557"/>
                </a:lnTo>
                <a:lnTo>
                  <a:pt x="1184223" y="704538"/>
                </a:lnTo>
                <a:lnTo>
                  <a:pt x="1963712" y="44971"/>
                </a:lnTo>
                <a:lnTo>
                  <a:pt x="704538" y="0"/>
                </a:lnTo>
                <a:close/>
              </a:path>
            </a:pathLst>
          </a:custGeom>
          <a:solidFill>
            <a:schemeClr val="accent4">
              <a:lumMod val="75000"/>
              <a:alpha val="43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AF5A583-86AF-104B-8DD4-FCC014E36577}"/>
              </a:ext>
            </a:extLst>
          </p:cNvPr>
          <p:cNvSpPr txBox="1"/>
          <p:nvPr/>
        </p:nvSpPr>
        <p:spPr>
          <a:xfrm>
            <a:off x="5214537" y="1221053"/>
            <a:ext cx="6764089" cy="2908040"/>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When entrained in transport, suspended sediment is transported by turbulent flow. </a:t>
            </a:r>
          </a:p>
          <a:p>
            <a:pPr algn="l">
              <a:lnSpc>
                <a:spcPct val="114000"/>
              </a:lnSpc>
            </a:pPr>
            <a:endParaRPr lang="en-US" dirty="0">
              <a:latin typeface="Arial" panose="020B0604020202020204" pitchFamily="34" charset="0"/>
              <a:cs typeface="Arial" panose="020B0604020202020204" pitchFamily="34" charset="0"/>
            </a:endParaRPr>
          </a:p>
          <a:p>
            <a:pPr algn="l">
              <a:lnSpc>
                <a:spcPct val="114000"/>
              </a:lnSpc>
            </a:pPr>
            <a:r>
              <a:rPr lang="en-US" dirty="0">
                <a:latin typeface="Arial" panose="020B0604020202020204" pitchFamily="34" charset="0"/>
                <a:cs typeface="Arial" panose="020B0604020202020204" pitchFamily="34" charset="0"/>
              </a:rPr>
              <a:t>NOTATION</a:t>
            </a:r>
          </a:p>
          <a:p>
            <a:pPr algn="l">
              <a:lnSpc>
                <a:spcPct val="114000"/>
              </a:lnSpc>
            </a:pPr>
            <a:r>
              <a:rPr lang="en-US" b="1" dirty="0">
                <a:latin typeface="Arial" panose="020B0604020202020204" pitchFamily="34" charset="0"/>
                <a:cs typeface="Arial" panose="020B0604020202020204" pitchFamily="34" charset="0"/>
              </a:rPr>
              <a:t>c</a:t>
            </a:r>
            <a:r>
              <a:rPr lang="en-US" dirty="0">
                <a:latin typeface="Arial" panose="020B0604020202020204" pitchFamily="34" charset="0"/>
                <a:cs typeface="Arial" panose="020B0604020202020204" pitchFamily="34" charset="0"/>
              </a:rPr>
              <a:t>    instantaneous volumetric suspended sediment concentration</a:t>
            </a:r>
          </a:p>
          <a:p>
            <a:pPr algn="l">
              <a:lnSpc>
                <a:spcPct val="114000"/>
              </a:lnSpc>
            </a:pPr>
            <a:r>
              <a:rPr lang="en-US" b="1" dirty="0">
                <a:latin typeface="Arial" panose="020B0604020202020204" pitchFamily="34" charset="0"/>
                <a:cs typeface="Arial" panose="020B0604020202020204" pitchFamily="34" charset="0"/>
              </a:rPr>
              <a:t>(u, v, w) </a:t>
            </a:r>
            <a:r>
              <a:rPr lang="en-US" dirty="0">
                <a:latin typeface="Arial" panose="020B0604020202020204" pitchFamily="34" charset="0"/>
                <a:cs typeface="Arial" panose="020B0604020202020204" pitchFamily="34" charset="0"/>
              </a:rPr>
              <a:t>instantaneous flow velocity vector</a:t>
            </a:r>
          </a:p>
          <a:p>
            <a:pPr>
              <a:lnSpc>
                <a:spcPct val="114000"/>
              </a:lnSpc>
            </a:pPr>
            <a:r>
              <a:rPr lang="en-US" b="1" dirty="0">
                <a:latin typeface="Arial" panose="020B0604020202020204" pitchFamily="34" charset="0"/>
                <a:cs typeface="Arial" panose="020B0604020202020204" pitchFamily="34" charset="0"/>
              </a:rPr>
              <a:t>(u, v, w-v</a:t>
            </a:r>
            <a:r>
              <a:rPr lang="en-US" b="1" baseline="-25000" dirty="0">
                <a:latin typeface="Arial" panose="020B0604020202020204" pitchFamily="34" charset="0"/>
                <a:cs typeface="Arial" panose="020B0604020202020204" pitchFamily="34" charset="0"/>
              </a:rPr>
              <a:t>s</a:t>
            </a:r>
            <a:r>
              <a:rPr lang="en-US" b="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instantaneous velocity of a suspended particle, with v</a:t>
            </a:r>
            <a:r>
              <a:rPr lang="en-US" baseline="-25000" dirty="0">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being the particle settling velocity in still water. </a:t>
            </a:r>
          </a:p>
          <a:p>
            <a:pPr algn="l">
              <a:lnSpc>
                <a:spcPct val="114000"/>
              </a:lnSpc>
            </a:pPr>
            <a:endParaRPr lang="en-US" dirty="0">
              <a:latin typeface="Arial" panose="020B0604020202020204" pitchFamily="34" charset="0"/>
              <a:cs typeface="Arial" panose="020B0604020202020204" pitchFamily="34" charset="0"/>
            </a:endParaRPr>
          </a:p>
        </p:txBody>
      </p:sp>
      <p:cxnSp>
        <p:nvCxnSpPr>
          <p:cNvPr id="25" name="Straight Connector 24">
            <a:extLst>
              <a:ext uri="{FF2B5EF4-FFF2-40B4-BE49-F238E27FC236}">
                <a16:creationId xmlns:a16="http://schemas.microsoft.com/office/drawing/2014/main" id="{1230179E-E07F-E24E-A12B-A7CBEEF53097}"/>
              </a:ext>
            </a:extLst>
          </p:cNvPr>
          <p:cNvCxnSpPr>
            <a:cxnSpLocks/>
          </p:cNvCxnSpPr>
          <p:nvPr/>
        </p:nvCxnSpPr>
        <p:spPr>
          <a:xfrm flipH="1">
            <a:off x="2473785" y="2661032"/>
            <a:ext cx="463955" cy="426953"/>
          </a:xfrm>
          <a:prstGeom prst="line">
            <a:avLst/>
          </a:prstGeom>
          <a:ln>
            <a:headEnd type="none" w="med" len="med"/>
            <a:tailEnd type="triangle" w="lg" len="lg"/>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5E686F3E-B96F-3D4A-812B-4B55D0E8D2CA}"/>
              </a:ext>
            </a:extLst>
          </p:cNvPr>
          <p:cNvCxnSpPr>
            <a:cxnSpLocks/>
          </p:cNvCxnSpPr>
          <p:nvPr/>
        </p:nvCxnSpPr>
        <p:spPr>
          <a:xfrm flipH="1">
            <a:off x="4235091" y="1225680"/>
            <a:ext cx="463955" cy="426953"/>
          </a:xfrm>
          <a:prstGeom prst="line">
            <a:avLst/>
          </a:prstGeom>
          <a:ln w="19050">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5D5B0BD7-D46E-E047-8F08-84514296C25C}"/>
              </a:ext>
            </a:extLst>
          </p:cNvPr>
          <p:cNvCxnSpPr/>
          <p:nvPr/>
        </p:nvCxnSpPr>
        <p:spPr>
          <a:xfrm>
            <a:off x="1850636" y="2185484"/>
            <a:ext cx="652721"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BE93E758-B49B-0F4D-9981-E5DAA935BCC2}"/>
              </a:ext>
            </a:extLst>
          </p:cNvPr>
          <p:cNvCxnSpPr/>
          <p:nvPr/>
        </p:nvCxnSpPr>
        <p:spPr>
          <a:xfrm>
            <a:off x="4073085" y="2075766"/>
            <a:ext cx="652721"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186850B0-3389-A941-BA71-A549EA289ACF}"/>
              </a:ext>
            </a:extLst>
          </p:cNvPr>
          <p:cNvCxnSpPr/>
          <p:nvPr/>
        </p:nvCxnSpPr>
        <p:spPr>
          <a:xfrm flipV="1">
            <a:off x="3242465" y="2893271"/>
            <a:ext cx="0" cy="515531"/>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DCB8AA9B-81DF-F44F-89D3-0902D8BA2766}"/>
              </a:ext>
            </a:extLst>
          </p:cNvPr>
          <p:cNvCxnSpPr/>
          <p:nvPr/>
        </p:nvCxnSpPr>
        <p:spPr>
          <a:xfrm flipV="1">
            <a:off x="3379875" y="902077"/>
            <a:ext cx="0" cy="515531"/>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0CEF605-A44F-514B-8068-54E3FB2314EC}"/>
              </a:ext>
            </a:extLst>
          </p:cNvPr>
          <p:cNvSpPr>
            <a:spLocks noChangeAspect="1"/>
          </p:cNvSpPr>
          <p:nvPr/>
        </p:nvSpPr>
        <p:spPr>
          <a:xfrm>
            <a:off x="2424561" y="2797716"/>
            <a:ext cx="126908" cy="126000"/>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52AE805D-3344-D341-8177-F2EF5EF3E4E7}"/>
              </a:ext>
            </a:extLst>
          </p:cNvPr>
          <p:cNvSpPr>
            <a:spLocks noChangeAspect="1"/>
          </p:cNvSpPr>
          <p:nvPr/>
        </p:nvSpPr>
        <p:spPr>
          <a:xfrm>
            <a:off x="4376319" y="1151064"/>
            <a:ext cx="126908" cy="126000"/>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7AD672E-344A-0744-A8DA-2FAA660E7C23}"/>
              </a:ext>
            </a:extLst>
          </p:cNvPr>
          <p:cNvSpPr txBox="1"/>
          <p:nvPr/>
        </p:nvSpPr>
        <p:spPr>
          <a:xfrm>
            <a:off x="1569348" y="2661032"/>
            <a:ext cx="982119"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(x, y, z)</a:t>
            </a:r>
          </a:p>
        </p:txBody>
      </p:sp>
      <p:sp>
        <p:nvSpPr>
          <p:cNvPr id="42" name="TextBox 41">
            <a:extLst>
              <a:ext uri="{FF2B5EF4-FFF2-40B4-BE49-F238E27FC236}">
                <a16:creationId xmlns:a16="http://schemas.microsoft.com/office/drawing/2014/main" id="{A6D9CEEE-7AF5-1543-B5CF-A769E2D69DF5}"/>
              </a:ext>
            </a:extLst>
          </p:cNvPr>
          <p:cNvSpPr txBox="1"/>
          <p:nvPr/>
        </p:nvSpPr>
        <p:spPr>
          <a:xfrm>
            <a:off x="4030540" y="743940"/>
            <a:ext cx="2377129"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x+</a:t>
            </a:r>
            <a:r>
              <a:rPr lang="en-US"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x</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y+</a:t>
            </a:r>
            <a:r>
              <a:rPr lang="en-US"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z+</a:t>
            </a:r>
            <a:r>
              <a:rPr lang="en-US"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z</a:t>
            </a:r>
            <a:r>
              <a:rPr lang="en-U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6898835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16</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Local equation of conservation of suspended sediment</a:t>
            </a:r>
          </a:p>
        </p:txBody>
      </p:sp>
      <p:cxnSp>
        <p:nvCxnSpPr>
          <p:cNvPr id="3" name="Straight Connector 2">
            <a:extLst>
              <a:ext uri="{FF2B5EF4-FFF2-40B4-BE49-F238E27FC236}">
                <a16:creationId xmlns:a16="http://schemas.microsoft.com/office/drawing/2014/main" id="{5AA7BF1D-9279-D14E-95D1-BF2DFD208A95}"/>
              </a:ext>
            </a:extLst>
          </p:cNvPr>
          <p:cNvCxnSpPr>
            <a:cxnSpLocks/>
          </p:cNvCxnSpPr>
          <p:nvPr/>
        </p:nvCxnSpPr>
        <p:spPr>
          <a:xfrm flipV="1">
            <a:off x="1606478" y="1753848"/>
            <a:ext cx="0" cy="1685762"/>
          </a:xfrm>
          <a:prstGeom prst="line">
            <a:avLst/>
          </a:prstGeom>
          <a:ln w="19050">
            <a:solidFill>
              <a:schemeClr val="tx1"/>
            </a:solidFill>
            <a:headEnd type="none" w="med" len="med"/>
            <a:tailEnd type="arrow" w="lg" len="lg"/>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DAF6B4A-F7C5-5F4E-9439-A973E04CD748}"/>
              </a:ext>
            </a:extLst>
          </p:cNvPr>
          <p:cNvCxnSpPr/>
          <p:nvPr/>
        </p:nvCxnSpPr>
        <p:spPr>
          <a:xfrm flipH="1">
            <a:off x="482757" y="3439247"/>
            <a:ext cx="1123721" cy="980501"/>
          </a:xfrm>
          <a:prstGeom prst="line">
            <a:avLst/>
          </a:prstGeom>
          <a:ln w="19050">
            <a:solidFill>
              <a:schemeClr val="tx1"/>
            </a:solidFill>
            <a:headEnd type="none" w="med" len="med"/>
            <a:tailEnd type="arrow" w="lg" len="lg"/>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27FE24F-65E8-954D-8B5A-4D253BAFE138}"/>
              </a:ext>
            </a:extLst>
          </p:cNvPr>
          <p:cNvCxnSpPr/>
          <p:nvPr/>
        </p:nvCxnSpPr>
        <p:spPr>
          <a:xfrm>
            <a:off x="1606478" y="3439247"/>
            <a:ext cx="2897436" cy="0"/>
          </a:xfrm>
          <a:prstGeom prst="line">
            <a:avLst/>
          </a:prstGeom>
          <a:ln w="19050">
            <a:solidFill>
              <a:schemeClr val="tx1"/>
            </a:solidFill>
            <a:headEnd type="none" w="med" len="med"/>
            <a:tailEnd type="arrow" w="lg" len="lg"/>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5CE43CE-9899-1B41-82FA-02784BFE525C}"/>
              </a:ext>
            </a:extLst>
          </p:cNvPr>
          <p:cNvSpPr txBox="1"/>
          <p:nvPr/>
        </p:nvSpPr>
        <p:spPr>
          <a:xfrm>
            <a:off x="482756" y="4419748"/>
            <a:ext cx="386675"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x</a:t>
            </a:r>
          </a:p>
        </p:txBody>
      </p:sp>
      <p:sp>
        <p:nvSpPr>
          <p:cNvPr id="14" name="TextBox 13">
            <a:extLst>
              <a:ext uri="{FF2B5EF4-FFF2-40B4-BE49-F238E27FC236}">
                <a16:creationId xmlns:a16="http://schemas.microsoft.com/office/drawing/2014/main" id="{AD284B0F-CF0D-BC42-9F98-6CECF92635C3}"/>
              </a:ext>
            </a:extLst>
          </p:cNvPr>
          <p:cNvSpPr txBox="1"/>
          <p:nvPr/>
        </p:nvSpPr>
        <p:spPr>
          <a:xfrm>
            <a:off x="4428963" y="3408802"/>
            <a:ext cx="386675"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y</a:t>
            </a:r>
          </a:p>
        </p:txBody>
      </p:sp>
      <p:sp>
        <p:nvSpPr>
          <p:cNvPr id="15" name="TextBox 14">
            <a:extLst>
              <a:ext uri="{FF2B5EF4-FFF2-40B4-BE49-F238E27FC236}">
                <a16:creationId xmlns:a16="http://schemas.microsoft.com/office/drawing/2014/main" id="{26F4773B-264E-A540-8FCC-FF8CCC3C14E0}"/>
              </a:ext>
            </a:extLst>
          </p:cNvPr>
          <p:cNvSpPr txBox="1"/>
          <p:nvPr/>
        </p:nvSpPr>
        <p:spPr>
          <a:xfrm>
            <a:off x="1219803" y="1694058"/>
            <a:ext cx="386675"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z</a:t>
            </a:r>
          </a:p>
        </p:txBody>
      </p:sp>
      <p:cxnSp>
        <p:nvCxnSpPr>
          <p:cNvPr id="16" name="Straight Connector 15">
            <a:extLst>
              <a:ext uri="{FF2B5EF4-FFF2-40B4-BE49-F238E27FC236}">
                <a16:creationId xmlns:a16="http://schemas.microsoft.com/office/drawing/2014/main" id="{423810B6-E9E1-7D49-9405-6107F7C8BF92}"/>
              </a:ext>
            </a:extLst>
          </p:cNvPr>
          <p:cNvCxnSpPr>
            <a:cxnSpLocks/>
          </p:cNvCxnSpPr>
          <p:nvPr/>
        </p:nvCxnSpPr>
        <p:spPr>
          <a:xfrm flipH="1">
            <a:off x="2457846" y="1221053"/>
            <a:ext cx="765041" cy="686115"/>
          </a:xfrm>
          <a:prstGeom prst="line">
            <a:avLst/>
          </a:prstGeom>
          <a:ln w="19050">
            <a:solidFill>
              <a:schemeClr val="tx1"/>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14CD2E7-21B7-2E46-A1F2-EAE988E67765}"/>
              </a:ext>
            </a:extLst>
          </p:cNvPr>
          <p:cNvCxnSpPr>
            <a:cxnSpLocks/>
          </p:cNvCxnSpPr>
          <p:nvPr/>
        </p:nvCxnSpPr>
        <p:spPr>
          <a:xfrm flipH="1">
            <a:off x="3702569" y="1221053"/>
            <a:ext cx="765041" cy="686115"/>
          </a:xfrm>
          <a:prstGeom prst="line">
            <a:avLst/>
          </a:prstGeom>
          <a:ln w="19050">
            <a:solidFill>
              <a:schemeClr val="tx1"/>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C7904E8-A0DE-6141-8597-7169D8AC5ABA}"/>
              </a:ext>
            </a:extLst>
          </p:cNvPr>
          <p:cNvCxnSpPr/>
          <p:nvPr/>
        </p:nvCxnSpPr>
        <p:spPr>
          <a:xfrm>
            <a:off x="2457846" y="1907168"/>
            <a:ext cx="124472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DB4DDB7-6D05-C44C-B9A9-F9E84AD700C3}"/>
              </a:ext>
            </a:extLst>
          </p:cNvPr>
          <p:cNvCxnSpPr/>
          <p:nvPr/>
        </p:nvCxnSpPr>
        <p:spPr>
          <a:xfrm>
            <a:off x="3222887" y="1208234"/>
            <a:ext cx="124472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46DE38B-DA3D-3048-80AF-2D3170C8895F}"/>
              </a:ext>
            </a:extLst>
          </p:cNvPr>
          <p:cNvCxnSpPr>
            <a:cxnSpLocks/>
          </p:cNvCxnSpPr>
          <p:nvPr/>
        </p:nvCxnSpPr>
        <p:spPr>
          <a:xfrm flipH="1">
            <a:off x="3222887" y="1208234"/>
            <a:ext cx="2497" cy="98033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5771611-668C-3D4D-AC58-8D8885AAA6E9}"/>
              </a:ext>
            </a:extLst>
          </p:cNvPr>
          <p:cNvCxnSpPr>
            <a:cxnSpLocks/>
          </p:cNvCxnSpPr>
          <p:nvPr/>
        </p:nvCxnSpPr>
        <p:spPr>
          <a:xfrm flipH="1">
            <a:off x="2479926" y="1904088"/>
            <a:ext cx="2497" cy="9803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CB85C99-BC3F-3647-BAD0-9105C8629A5D}"/>
              </a:ext>
            </a:extLst>
          </p:cNvPr>
          <p:cNvCxnSpPr>
            <a:cxnSpLocks/>
          </p:cNvCxnSpPr>
          <p:nvPr/>
        </p:nvCxnSpPr>
        <p:spPr>
          <a:xfrm flipH="1">
            <a:off x="3676065" y="1913851"/>
            <a:ext cx="2497" cy="9803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57343B0-0BBE-EB49-A5D6-96A2216668A7}"/>
              </a:ext>
            </a:extLst>
          </p:cNvPr>
          <p:cNvCxnSpPr>
            <a:cxnSpLocks/>
          </p:cNvCxnSpPr>
          <p:nvPr/>
        </p:nvCxnSpPr>
        <p:spPr>
          <a:xfrm flipH="1">
            <a:off x="4479966" y="1208234"/>
            <a:ext cx="2497" cy="9803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86313B9-2314-0544-B35C-E3A23AFDCE3B}"/>
              </a:ext>
            </a:extLst>
          </p:cNvPr>
          <p:cNvCxnSpPr/>
          <p:nvPr/>
        </p:nvCxnSpPr>
        <p:spPr>
          <a:xfrm>
            <a:off x="2446332" y="2894181"/>
            <a:ext cx="124472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7E671DB-D81B-8040-A5A5-A01F762FBB8D}"/>
              </a:ext>
            </a:extLst>
          </p:cNvPr>
          <p:cNvCxnSpPr/>
          <p:nvPr/>
        </p:nvCxnSpPr>
        <p:spPr>
          <a:xfrm>
            <a:off x="3222886" y="2188564"/>
            <a:ext cx="1244723"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223343F-9A6E-C745-9EB3-64E1AEB5BCB2}"/>
              </a:ext>
            </a:extLst>
          </p:cNvPr>
          <p:cNvCxnSpPr>
            <a:cxnSpLocks/>
          </p:cNvCxnSpPr>
          <p:nvPr/>
        </p:nvCxnSpPr>
        <p:spPr>
          <a:xfrm flipH="1">
            <a:off x="3690565" y="2198303"/>
            <a:ext cx="765041" cy="686115"/>
          </a:xfrm>
          <a:prstGeom prst="line">
            <a:avLst/>
          </a:prstGeom>
          <a:ln w="19050">
            <a:solidFill>
              <a:schemeClr val="tx1"/>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6EB0D00-BE50-1649-878F-FC460410A024}"/>
              </a:ext>
            </a:extLst>
          </p:cNvPr>
          <p:cNvCxnSpPr>
            <a:cxnSpLocks/>
          </p:cNvCxnSpPr>
          <p:nvPr/>
        </p:nvCxnSpPr>
        <p:spPr>
          <a:xfrm flipH="1">
            <a:off x="2477424" y="2185484"/>
            <a:ext cx="765041" cy="686115"/>
          </a:xfrm>
          <a:prstGeom prst="line">
            <a:avLst/>
          </a:prstGeom>
          <a:ln w="19050">
            <a:solidFill>
              <a:schemeClr val="tx1"/>
            </a:solidFill>
            <a:prstDash val="dash"/>
            <a:headEnd type="none" w="med" len="med"/>
            <a:tailEnd type="none" w="lg" len="lg"/>
          </a:ln>
        </p:spPr>
        <p:style>
          <a:lnRef idx="1">
            <a:schemeClr val="accent1"/>
          </a:lnRef>
          <a:fillRef idx="0">
            <a:schemeClr val="accent1"/>
          </a:fillRef>
          <a:effectRef idx="0">
            <a:schemeClr val="accent1"/>
          </a:effectRef>
          <a:fontRef idx="minor">
            <a:schemeClr val="tx1"/>
          </a:fontRef>
        </p:style>
      </p:cxnSp>
      <p:sp>
        <p:nvSpPr>
          <p:cNvPr id="35" name="Freeform 34">
            <a:extLst>
              <a:ext uri="{FF2B5EF4-FFF2-40B4-BE49-F238E27FC236}">
                <a16:creationId xmlns:a16="http://schemas.microsoft.com/office/drawing/2014/main" id="{182C7A01-DF4F-CC41-BB32-359136D2CEBC}"/>
              </a:ext>
            </a:extLst>
          </p:cNvPr>
          <p:cNvSpPr/>
          <p:nvPr/>
        </p:nvSpPr>
        <p:spPr>
          <a:xfrm>
            <a:off x="2503357" y="1199213"/>
            <a:ext cx="1963712" cy="704538"/>
          </a:xfrm>
          <a:custGeom>
            <a:avLst/>
            <a:gdLst>
              <a:gd name="connsiteX0" fmla="*/ 704538 w 1963712"/>
              <a:gd name="connsiteY0" fmla="*/ 0 h 704538"/>
              <a:gd name="connsiteX1" fmla="*/ 0 w 1963712"/>
              <a:gd name="connsiteY1" fmla="*/ 674557 h 704538"/>
              <a:gd name="connsiteX2" fmla="*/ 1184223 w 1963712"/>
              <a:gd name="connsiteY2" fmla="*/ 704538 h 704538"/>
              <a:gd name="connsiteX3" fmla="*/ 1963712 w 1963712"/>
              <a:gd name="connsiteY3" fmla="*/ 44971 h 704538"/>
              <a:gd name="connsiteX4" fmla="*/ 704538 w 1963712"/>
              <a:gd name="connsiteY4" fmla="*/ 0 h 7045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3712" h="704538">
                <a:moveTo>
                  <a:pt x="704538" y="0"/>
                </a:moveTo>
                <a:lnTo>
                  <a:pt x="0" y="674557"/>
                </a:lnTo>
                <a:lnTo>
                  <a:pt x="1184223" y="704538"/>
                </a:lnTo>
                <a:lnTo>
                  <a:pt x="1963712" y="44971"/>
                </a:lnTo>
                <a:lnTo>
                  <a:pt x="704538" y="0"/>
                </a:lnTo>
                <a:close/>
              </a:path>
            </a:pathLst>
          </a:custGeom>
          <a:solidFill>
            <a:schemeClr val="accent4">
              <a:lumMod val="75000"/>
              <a:alpha val="21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35">
            <a:extLst>
              <a:ext uri="{FF2B5EF4-FFF2-40B4-BE49-F238E27FC236}">
                <a16:creationId xmlns:a16="http://schemas.microsoft.com/office/drawing/2014/main" id="{83F63F0F-5928-6941-B553-A34D4DBB62E4}"/>
              </a:ext>
            </a:extLst>
          </p:cNvPr>
          <p:cNvSpPr/>
          <p:nvPr/>
        </p:nvSpPr>
        <p:spPr>
          <a:xfrm>
            <a:off x="2506884" y="2188733"/>
            <a:ext cx="1963712" cy="704538"/>
          </a:xfrm>
          <a:custGeom>
            <a:avLst/>
            <a:gdLst>
              <a:gd name="connsiteX0" fmla="*/ 704538 w 1963712"/>
              <a:gd name="connsiteY0" fmla="*/ 0 h 704538"/>
              <a:gd name="connsiteX1" fmla="*/ 0 w 1963712"/>
              <a:gd name="connsiteY1" fmla="*/ 674557 h 704538"/>
              <a:gd name="connsiteX2" fmla="*/ 1184223 w 1963712"/>
              <a:gd name="connsiteY2" fmla="*/ 704538 h 704538"/>
              <a:gd name="connsiteX3" fmla="*/ 1963712 w 1963712"/>
              <a:gd name="connsiteY3" fmla="*/ 44971 h 704538"/>
              <a:gd name="connsiteX4" fmla="*/ 704538 w 1963712"/>
              <a:gd name="connsiteY4" fmla="*/ 0 h 7045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3712" h="704538">
                <a:moveTo>
                  <a:pt x="704538" y="0"/>
                </a:moveTo>
                <a:lnTo>
                  <a:pt x="0" y="674557"/>
                </a:lnTo>
                <a:lnTo>
                  <a:pt x="1184223" y="704538"/>
                </a:lnTo>
                <a:lnTo>
                  <a:pt x="1963712" y="44971"/>
                </a:lnTo>
                <a:lnTo>
                  <a:pt x="704538" y="0"/>
                </a:lnTo>
                <a:close/>
              </a:path>
            </a:pathLst>
          </a:custGeom>
          <a:solidFill>
            <a:schemeClr val="accent4">
              <a:lumMod val="75000"/>
              <a:alpha val="43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AF5A583-86AF-104B-8DD4-FCC014E36577}"/>
              </a:ext>
            </a:extLst>
          </p:cNvPr>
          <p:cNvSpPr txBox="1"/>
          <p:nvPr/>
        </p:nvSpPr>
        <p:spPr>
          <a:xfrm>
            <a:off x="5214537" y="1221053"/>
            <a:ext cx="6764089" cy="2908040"/>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When entrained in transport, suspended sediment is transported by turbulent flow. </a:t>
            </a:r>
          </a:p>
          <a:p>
            <a:pPr algn="l">
              <a:lnSpc>
                <a:spcPct val="114000"/>
              </a:lnSpc>
            </a:pPr>
            <a:endParaRPr lang="en-US" dirty="0">
              <a:latin typeface="Arial" panose="020B0604020202020204" pitchFamily="34" charset="0"/>
              <a:cs typeface="Arial" panose="020B0604020202020204" pitchFamily="34" charset="0"/>
            </a:endParaRPr>
          </a:p>
          <a:p>
            <a:pPr algn="l">
              <a:lnSpc>
                <a:spcPct val="114000"/>
              </a:lnSpc>
            </a:pPr>
            <a:r>
              <a:rPr lang="en-US" dirty="0">
                <a:latin typeface="Arial" panose="020B0604020202020204" pitchFamily="34" charset="0"/>
                <a:cs typeface="Arial" panose="020B0604020202020204" pitchFamily="34" charset="0"/>
              </a:rPr>
              <a:t>NOTATION</a:t>
            </a:r>
          </a:p>
          <a:p>
            <a:pPr algn="l">
              <a:lnSpc>
                <a:spcPct val="114000"/>
              </a:lnSpc>
            </a:pPr>
            <a:r>
              <a:rPr lang="en-US" b="1" dirty="0">
                <a:latin typeface="Arial" panose="020B0604020202020204" pitchFamily="34" charset="0"/>
                <a:cs typeface="Arial" panose="020B0604020202020204" pitchFamily="34" charset="0"/>
              </a:rPr>
              <a:t>c</a:t>
            </a:r>
            <a:r>
              <a:rPr lang="en-US" dirty="0">
                <a:latin typeface="Arial" panose="020B0604020202020204" pitchFamily="34" charset="0"/>
                <a:cs typeface="Arial" panose="020B0604020202020204" pitchFamily="34" charset="0"/>
              </a:rPr>
              <a:t>    instantaneous volumetric suspended sediment concentration</a:t>
            </a:r>
          </a:p>
          <a:p>
            <a:pPr algn="l">
              <a:lnSpc>
                <a:spcPct val="114000"/>
              </a:lnSpc>
            </a:pPr>
            <a:r>
              <a:rPr lang="en-US" b="1" dirty="0">
                <a:latin typeface="Arial" panose="020B0604020202020204" pitchFamily="34" charset="0"/>
                <a:cs typeface="Arial" panose="020B0604020202020204" pitchFamily="34" charset="0"/>
              </a:rPr>
              <a:t>(u, v, w) </a:t>
            </a:r>
            <a:r>
              <a:rPr lang="en-US" dirty="0">
                <a:latin typeface="Arial" panose="020B0604020202020204" pitchFamily="34" charset="0"/>
                <a:cs typeface="Arial" panose="020B0604020202020204" pitchFamily="34" charset="0"/>
              </a:rPr>
              <a:t>instantaneous flow velocity vector</a:t>
            </a:r>
          </a:p>
          <a:p>
            <a:pPr>
              <a:lnSpc>
                <a:spcPct val="114000"/>
              </a:lnSpc>
            </a:pPr>
            <a:r>
              <a:rPr lang="en-US" b="1" dirty="0">
                <a:latin typeface="Arial" panose="020B0604020202020204" pitchFamily="34" charset="0"/>
                <a:cs typeface="Arial" panose="020B0604020202020204" pitchFamily="34" charset="0"/>
              </a:rPr>
              <a:t>(u, v, w-v</a:t>
            </a:r>
            <a:r>
              <a:rPr lang="en-US" b="1" baseline="-25000" dirty="0">
                <a:latin typeface="Arial" panose="020B0604020202020204" pitchFamily="34" charset="0"/>
                <a:cs typeface="Arial" panose="020B0604020202020204" pitchFamily="34" charset="0"/>
              </a:rPr>
              <a:t>s</a:t>
            </a:r>
            <a:r>
              <a:rPr lang="en-US" b="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instantaneous velocity of a suspended particle, with v</a:t>
            </a:r>
            <a:r>
              <a:rPr lang="en-US" baseline="-25000" dirty="0">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being the particle settling velocity in still water. </a:t>
            </a:r>
          </a:p>
          <a:p>
            <a:pPr algn="l">
              <a:lnSpc>
                <a:spcPct val="114000"/>
              </a:lnSpc>
            </a:pPr>
            <a:endParaRPr lang="en-US" dirty="0">
              <a:latin typeface="Arial" panose="020B0604020202020204" pitchFamily="34" charset="0"/>
              <a:cs typeface="Arial" panose="020B0604020202020204" pitchFamily="34" charset="0"/>
            </a:endParaRPr>
          </a:p>
        </p:txBody>
      </p:sp>
      <p:cxnSp>
        <p:nvCxnSpPr>
          <p:cNvPr id="25" name="Straight Connector 24">
            <a:extLst>
              <a:ext uri="{FF2B5EF4-FFF2-40B4-BE49-F238E27FC236}">
                <a16:creationId xmlns:a16="http://schemas.microsoft.com/office/drawing/2014/main" id="{1230179E-E07F-E24E-A12B-A7CBEEF53097}"/>
              </a:ext>
            </a:extLst>
          </p:cNvPr>
          <p:cNvCxnSpPr>
            <a:cxnSpLocks/>
          </p:cNvCxnSpPr>
          <p:nvPr/>
        </p:nvCxnSpPr>
        <p:spPr>
          <a:xfrm flipH="1">
            <a:off x="2473785" y="2661032"/>
            <a:ext cx="463955" cy="426953"/>
          </a:xfrm>
          <a:prstGeom prst="line">
            <a:avLst/>
          </a:prstGeom>
          <a:ln>
            <a:headEnd type="none" w="med" len="med"/>
            <a:tailEnd type="triangle" w="lg" len="lg"/>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5E686F3E-B96F-3D4A-812B-4B55D0E8D2CA}"/>
              </a:ext>
            </a:extLst>
          </p:cNvPr>
          <p:cNvCxnSpPr>
            <a:cxnSpLocks/>
          </p:cNvCxnSpPr>
          <p:nvPr/>
        </p:nvCxnSpPr>
        <p:spPr>
          <a:xfrm flipH="1">
            <a:off x="4235091" y="1225680"/>
            <a:ext cx="463955" cy="426953"/>
          </a:xfrm>
          <a:prstGeom prst="line">
            <a:avLst/>
          </a:prstGeom>
          <a:ln w="19050">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5D5B0BD7-D46E-E047-8F08-84514296C25C}"/>
              </a:ext>
            </a:extLst>
          </p:cNvPr>
          <p:cNvCxnSpPr/>
          <p:nvPr/>
        </p:nvCxnSpPr>
        <p:spPr>
          <a:xfrm>
            <a:off x="1850636" y="2185484"/>
            <a:ext cx="652721"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BE93E758-B49B-0F4D-9981-E5DAA935BCC2}"/>
              </a:ext>
            </a:extLst>
          </p:cNvPr>
          <p:cNvCxnSpPr/>
          <p:nvPr/>
        </p:nvCxnSpPr>
        <p:spPr>
          <a:xfrm>
            <a:off x="4073085" y="2075766"/>
            <a:ext cx="652721"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186850B0-3389-A941-BA71-A549EA289ACF}"/>
              </a:ext>
            </a:extLst>
          </p:cNvPr>
          <p:cNvCxnSpPr/>
          <p:nvPr/>
        </p:nvCxnSpPr>
        <p:spPr>
          <a:xfrm flipV="1">
            <a:off x="3242465" y="2893271"/>
            <a:ext cx="0" cy="515531"/>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DCB8AA9B-81DF-F44F-89D3-0902D8BA2766}"/>
              </a:ext>
            </a:extLst>
          </p:cNvPr>
          <p:cNvCxnSpPr/>
          <p:nvPr/>
        </p:nvCxnSpPr>
        <p:spPr>
          <a:xfrm flipV="1">
            <a:off x="3379875" y="902077"/>
            <a:ext cx="0" cy="515531"/>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0CEF605-A44F-514B-8068-54E3FB2314EC}"/>
              </a:ext>
            </a:extLst>
          </p:cNvPr>
          <p:cNvSpPr>
            <a:spLocks noChangeAspect="1"/>
          </p:cNvSpPr>
          <p:nvPr/>
        </p:nvSpPr>
        <p:spPr>
          <a:xfrm>
            <a:off x="2424561" y="2797716"/>
            <a:ext cx="126908" cy="126000"/>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52AE805D-3344-D341-8177-F2EF5EF3E4E7}"/>
              </a:ext>
            </a:extLst>
          </p:cNvPr>
          <p:cNvSpPr>
            <a:spLocks noChangeAspect="1"/>
          </p:cNvSpPr>
          <p:nvPr/>
        </p:nvSpPr>
        <p:spPr>
          <a:xfrm>
            <a:off x="4376319" y="1151064"/>
            <a:ext cx="126908" cy="126000"/>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7AD672E-344A-0744-A8DA-2FAA660E7C23}"/>
              </a:ext>
            </a:extLst>
          </p:cNvPr>
          <p:cNvSpPr txBox="1"/>
          <p:nvPr/>
        </p:nvSpPr>
        <p:spPr>
          <a:xfrm>
            <a:off x="1569348" y="2661032"/>
            <a:ext cx="982119"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(x, y, z)</a:t>
            </a:r>
          </a:p>
        </p:txBody>
      </p:sp>
      <p:sp>
        <p:nvSpPr>
          <p:cNvPr id="42" name="TextBox 41">
            <a:extLst>
              <a:ext uri="{FF2B5EF4-FFF2-40B4-BE49-F238E27FC236}">
                <a16:creationId xmlns:a16="http://schemas.microsoft.com/office/drawing/2014/main" id="{A6D9CEEE-7AF5-1543-B5CF-A769E2D69DF5}"/>
              </a:ext>
            </a:extLst>
          </p:cNvPr>
          <p:cNvSpPr txBox="1"/>
          <p:nvPr/>
        </p:nvSpPr>
        <p:spPr>
          <a:xfrm>
            <a:off x="4030540" y="743940"/>
            <a:ext cx="2377129"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x+</a:t>
            </a:r>
            <a:r>
              <a:rPr lang="en-US"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x</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y+</a:t>
            </a:r>
            <a:r>
              <a:rPr lang="en-US"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z+</a:t>
            </a:r>
            <a:r>
              <a:rPr lang="en-US"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z</a:t>
            </a:r>
            <a:r>
              <a:rPr lang="en-US" dirty="0">
                <a:latin typeface="Arial" panose="020B0604020202020204" pitchFamily="34" charset="0"/>
                <a:cs typeface="Arial" panose="020B0604020202020204" pitchFamily="34" charset="0"/>
              </a:rPr>
              <a:t>)</a:t>
            </a:r>
          </a:p>
        </p:txBody>
      </p:sp>
      <p:sp>
        <p:nvSpPr>
          <p:cNvPr id="43" name="Rectangle 42">
            <a:extLst>
              <a:ext uri="{FF2B5EF4-FFF2-40B4-BE49-F238E27FC236}">
                <a16:creationId xmlns:a16="http://schemas.microsoft.com/office/drawing/2014/main" id="{7C1113AC-79E3-704D-870C-7FB00F65FD48}"/>
              </a:ext>
            </a:extLst>
          </p:cNvPr>
          <p:cNvSpPr/>
          <p:nvPr/>
        </p:nvSpPr>
        <p:spPr>
          <a:xfrm>
            <a:off x="1362084" y="4192076"/>
            <a:ext cx="10225312" cy="1013291"/>
          </a:xfrm>
          <a:prstGeom prst="rect">
            <a:avLst/>
          </a:prstGeom>
        </p:spPr>
        <p:txBody>
          <a:bodyPr wrap="square">
            <a:spAutoFit/>
          </a:bodyPr>
          <a:lstStyle/>
          <a:p>
            <a:pPr>
              <a:lnSpc>
                <a:spcPct val="114000"/>
              </a:lnSpc>
            </a:pPr>
            <a:r>
              <a:rPr lang="en-US" dirty="0">
                <a:latin typeface="Arial" panose="020B0604020202020204" pitchFamily="34" charset="0"/>
                <a:cs typeface="Arial" panose="020B0604020202020204" pitchFamily="34" charset="0"/>
              </a:rPr>
              <a:t>MASS BALANCE</a:t>
            </a:r>
          </a:p>
          <a:p>
            <a:pPr>
              <a:lnSpc>
                <a:spcPct val="114000"/>
              </a:lnSpc>
            </a:pPr>
            <a:r>
              <a:rPr lang="en-US" dirty="0">
                <a:latin typeface="Arial" panose="020B0604020202020204" pitchFamily="34" charset="0"/>
                <a:cs typeface="Arial" panose="020B0604020202020204" pitchFamily="34" charset="0"/>
              </a:rPr>
              <a:t>The time rate of change of sediment mass in the control volume is equal to the net mass influx rate of sediment in the control volume. </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7BC7002-DE11-4E47-AE65-DBE955419046}"/>
                  </a:ext>
                </a:extLst>
              </p:cNvPr>
              <p:cNvSpPr txBox="1"/>
              <p:nvPr/>
            </p:nvSpPr>
            <p:spPr>
              <a:xfrm>
                <a:off x="811675" y="5234628"/>
                <a:ext cx="9670853" cy="937180"/>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m:t>
                          </m:r>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d>
                        <m:dPr>
                          <m:ctrlPr>
                            <a:rPr lang="en-US" i="1" smtClean="0">
                              <a:latin typeface="Cambria Math" panose="02040503050406030204" pitchFamily="18" charset="0"/>
                              <a:cs typeface="Arial" panose="020B0604020202020204" pitchFamily="34" charset="0"/>
                            </a:rPr>
                          </m:ctrlPr>
                        </m:dPr>
                        <m:e>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𝜌</m:t>
                              </m:r>
                            </m:e>
                            <m:sub>
                              <m:r>
                                <a:rPr lang="en-US" b="0" i="1" smtClean="0">
                                  <a:latin typeface="Cambria Math" panose="02040503050406030204" pitchFamily="18" charset="0"/>
                                  <a:cs typeface="Arial" panose="020B0604020202020204" pitchFamily="34" charset="0"/>
                                </a:rPr>
                                <m:t>𝑠</m:t>
                              </m:r>
                            </m:sub>
                          </m:sSub>
                          <m:r>
                            <a:rPr lang="en-US" b="0" i="1" smtClean="0">
                              <a:latin typeface="Cambria Math" panose="02040503050406030204" pitchFamily="18" charset="0"/>
                              <a:cs typeface="Arial" panose="020B0604020202020204" pitchFamily="34" charset="0"/>
                            </a:rPr>
                            <m:t>𝑐</m:t>
                          </m:r>
                        </m:e>
                      </m:d>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d>
                            <m:dPr>
                              <m:begChr m:val=""/>
                              <m:end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𝜌</m:t>
                                      </m:r>
                                    </m:e>
                                    <m:sub>
                                      <m:r>
                                        <a:rPr lang="en-US" i="1">
                                          <a:latin typeface="Cambria Math" panose="02040503050406030204" pitchFamily="18" charset="0"/>
                                          <a:cs typeface="Arial" panose="020B0604020202020204" pitchFamily="34" charset="0"/>
                                        </a:rPr>
                                        <m:t>𝑠</m:t>
                                      </m:r>
                                    </m:sub>
                                  </m:sSub>
                                  <m:r>
                                    <a:rPr lang="en-US" i="1">
                                      <a:latin typeface="Cambria Math" panose="02040503050406030204" pitchFamily="18" charset="0"/>
                                      <a:cs typeface="Arial" panose="020B0604020202020204" pitchFamily="34" charset="0"/>
                                    </a:rPr>
                                    <m:t>𝑢𝑐</m:t>
                                  </m:r>
                                </m:e>
                              </m:d>
                            </m:e>
                          </m:d>
                        </m:e>
                        <m:sub>
                          <m:r>
                            <a:rPr lang="en-US" b="0" i="1" smtClean="0">
                              <a:latin typeface="Cambria Math" panose="02040503050406030204" pitchFamily="18" charset="0"/>
                              <a:ea typeface="Cambria Math" panose="02040503050406030204" pitchFamily="18" charset="0"/>
                              <a:cs typeface="Arial" panose="020B0604020202020204" pitchFamily="34" charset="0"/>
                            </a:rPr>
                            <m:t>𝑥</m:t>
                          </m:r>
                        </m:sub>
                      </m:sSub>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𝑦</m:t>
                      </m:r>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𝑧</m:t>
                      </m:r>
                      <m:r>
                        <a:rPr lang="en-US" i="1">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d>
                            <m:dPr>
                              <m:begChr m:val=""/>
                              <m:endChr m:val="|"/>
                              <m:ctrlPr>
                                <a:rPr lang="en-US" i="1">
                                  <a:latin typeface="Cambria Math" panose="02040503050406030204" pitchFamily="18" charset="0"/>
                                  <a:ea typeface="Cambria Math" panose="02040503050406030204" pitchFamily="18" charset="0"/>
                                  <a:cs typeface="Arial" panose="020B0604020202020204" pitchFamily="34" charset="0"/>
                                </a:rPr>
                              </m:ctrlPr>
                            </m:d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𝜌</m:t>
                                      </m:r>
                                    </m:e>
                                    <m:sub>
                                      <m:r>
                                        <a:rPr lang="en-US" i="1">
                                          <a:latin typeface="Cambria Math" panose="02040503050406030204" pitchFamily="18" charset="0"/>
                                          <a:cs typeface="Arial" panose="020B0604020202020204" pitchFamily="34" charset="0"/>
                                        </a:rPr>
                                        <m:t>𝑠</m:t>
                                      </m:r>
                                    </m:sub>
                                  </m:sSub>
                                  <m:r>
                                    <a:rPr lang="en-US" i="1">
                                      <a:latin typeface="Cambria Math" panose="02040503050406030204" pitchFamily="18" charset="0"/>
                                      <a:cs typeface="Arial" panose="020B0604020202020204" pitchFamily="34" charset="0"/>
                                    </a:rPr>
                                    <m:t>𝑢𝑐</m:t>
                                  </m:r>
                                </m:e>
                              </m:d>
                            </m:e>
                          </m:d>
                        </m:e>
                        <m:sub>
                          <m:r>
                            <a:rPr lang="en-US" i="1">
                              <a:latin typeface="Cambria Math" panose="02040503050406030204" pitchFamily="18" charset="0"/>
                              <a:ea typeface="Cambria Math" panose="02040503050406030204" pitchFamily="18" charset="0"/>
                              <a:cs typeface="Arial" panose="020B0604020202020204" pitchFamily="34" charset="0"/>
                            </a:rPr>
                            <m:t>𝑥</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sub>
                      </m:sSub>
                      <m:r>
                        <m:rPr>
                          <m:nor/>
                        </m:rPr>
                        <a:rPr lang="en-US" i="0" dirty="0">
                          <a:ea typeface="Cambria Math" panose="02040503050406030204" pitchFamily="18" charset="0"/>
                          <a:cs typeface="Arial" panose="020B0604020202020204" pitchFamily="34" charset="0"/>
                        </a:rPr>
                        <m:t> </m:t>
                      </m:r>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𝑦</m:t>
                      </m:r>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𝑧</m:t>
                      </m:r>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d>
                            <m:dPr>
                              <m:begChr m:val=""/>
                              <m:endChr m:val="|"/>
                              <m:ctrlPr>
                                <a:rPr lang="en-US" i="1">
                                  <a:latin typeface="Cambria Math" panose="02040503050406030204" pitchFamily="18" charset="0"/>
                                  <a:ea typeface="Cambria Math" panose="02040503050406030204" pitchFamily="18" charset="0"/>
                                  <a:cs typeface="Arial" panose="020B0604020202020204" pitchFamily="34" charset="0"/>
                                </a:rPr>
                              </m:ctrlPr>
                            </m:d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𝜌</m:t>
                                      </m:r>
                                    </m:e>
                                    <m:sub>
                                      <m:r>
                                        <a:rPr lang="en-US" i="1">
                                          <a:latin typeface="Cambria Math" panose="02040503050406030204" pitchFamily="18" charset="0"/>
                                          <a:cs typeface="Arial" panose="020B0604020202020204" pitchFamily="34" charset="0"/>
                                        </a:rPr>
                                        <m:t>𝑠</m:t>
                                      </m:r>
                                    </m:sub>
                                  </m:sSub>
                                  <m:r>
                                    <a:rPr lang="en-US" b="0" i="1" smtClean="0">
                                      <a:latin typeface="Cambria Math" panose="02040503050406030204" pitchFamily="18" charset="0"/>
                                      <a:cs typeface="Arial" panose="020B0604020202020204" pitchFamily="34" charset="0"/>
                                    </a:rPr>
                                    <m:t>𝑣</m:t>
                                  </m:r>
                                  <m:r>
                                    <a:rPr lang="en-US" i="1">
                                      <a:latin typeface="Cambria Math" panose="02040503050406030204" pitchFamily="18" charset="0"/>
                                      <a:cs typeface="Arial" panose="020B0604020202020204" pitchFamily="34" charset="0"/>
                                    </a:rPr>
                                    <m:t>𝑐</m:t>
                                  </m:r>
                                </m:e>
                              </m:d>
                            </m:e>
                          </m:d>
                        </m:e>
                        <m:sub>
                          <m:r>
                            <a:rPr lang="en-US" b="0" i="1" smtClean="0">
                              <a:latin typeface="Cambria Math" panose="02040503050406030204" pitchFamily="18" charset="0"/>
                              <a:cs typeface="Arial" panose="020B0604020202020204" pitchFamily="34" charset="0"/>
                            </a:rPr>
                            <m:t>𝑦</m:t>
                          </m:r>
                        </m:sub>
                      </m:sSub>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r>
                        <a:rPr lang="en-US" i="1">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d>
                            <m:dPr>
                              <m:begChr m:val=""/>
                              <m:endChr m:val="|"/>
                              <m:ctrlPr>
                                <a:rPr lang="en-US" i="1">
                                  <a:latin typeface="Cambria Math" panose="02040503050406030204" pitchFamily="18" charset="0"/>
                                  <a:ea typeface="Cambria Math" panose="02040503050406030204" pitchFamily="18" charset="0"/>
                                  <a:cs typeface="Arial" panose="020B0604020202020204" pitchFamily="34" charset="0"/>
                                </a:rPr>
                              </m:ctrlPr>
                            </m:d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𝜌</m:t>
                                      </m:r>
                                    </m:e>
                                    <m:sub>
                                      <m:r>
                                        <a:rPr lang="en-US" i="1">
                                          <a:latin typeface="Cambria Math" panose="02040503050406030204" pitchFamily="18" charset="0"/>
                                          <a:cs typeface="Arial" panose="020B0604020202020204" pitchFamily="34" charset="0"/>
                                        </a:rPr>
                                        <m:t>𝑠</m:t>
                                      </m:r>
                                    </m:sub>
                                  </m:sSub>
                                  <m:r>
                                    <a:rPr lang="en-US" b="0" i="1" smtClean="0">
                                      <a:latin typeface="Cambria Math" panose="02040503050406030204" pitchFamily="18" charset="0"/>
                                      <a:cs typeface="Arial" panose="020B0604020202020204" pitchFamily="34" charset="0"/>
                                    </a:rPr>
                                    <m:t>𝑣</m:t>
                                  </m:r>
                                  <m:r>
                                    <a:rPr lang="en-US" i="1">
                                      <a:latin typeface="Cambria Math" panose="02040503050406030204" pitchFamily="18" charset="0"/>
                                      <a:cs typeface="Arial" panose="020B0604020202020204" pitchFamily="34" charset="0"/>
                                    </a:rPr>
                                    <m:t>𝑐</m:t>
                                  </m:r>
                                </m:e>
                              </m:d>
                            </m:e>
                          </m:d>
                        </m:e>
                        <m:sub>
                          <m:r>
                            <a:rPr lang="en-US" b="0" i="1" smtClean="0">
                              <a:latin typeface="Cambria Math" panose="02040503050406030204" pitchFamily="18" charset="0"/>
                              <a:cs typeface="Arial" panose="020B0604020202020204" pitchFamily="34" charset="0"/>
                            </a:rPr>
                            <m:t>𝑦</m:t>
                          </m:r>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sub>
                      </m:sSub>
                      <m:r>
                        <m:rPr>
                          <m:nor/>
                        </m:rPr>
                        <a:rPr lang="en-US" i="0" dirty="0">
                          <a:ea typeface="Cambria Math" panose="02040503050406030204" pitchFamily="18" charset="0"/>
                          <a:cs typeface="Arial" panose="020B0604020202020204" pitchFamily="34" charset="0"/>
                        </a:rPr>
                        <m:t> </m:t>
                      </m:r>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r>
                        <a:rPr lang="en-US" b="0" i="1" smtClean="0">
                          <a:latin typeface="Cambria Math" panose="02040503050406030204" pitchFamily="18" charset="0"/>
                          <a:ea typeface="Cambria Math" panose="02040503050406030204" pitchFamily="18" charset="0"/>
                          <a:cs typeface="Arial" panose="020B0604020202020204" pitchFamily="34" charset="0"/>
                        </a:rPr>
                        <m:t>+</m:t>
                      </m:r>
                    </m:oMath>
                  </m:oMathPara>
                </a14:m>
                <a:endParaRPr lang="en-US" b="0" i="1" dirty="0">
                  <a:latin typeface="Cambria Math" panose="02040503050406030204" pitchFamily="18" charset="0"/>
                  <a:ea typeface="Cambria Math" panose="02040503050406030204" pitchFamily="18" charset="0"/>
                  <a:cs typeface="Arial" panose="020B0604020202020204" pitchFamily="34" charset="0"/>
                </a:endParaRPr>
              </a:p>
              <a:p>
                <a:pPr>
                  <a:lnSpc>
                    <a:spcPct val="114000"/>
                  </a:lnSpc>
                </a:pPr>
                <a:r>
                  <a:rPr lang="en-US" dirty="0">
                    <a:ea typeface="Cambria Math" panose="02040503050406030204" pitchFamily="18" charset="0"/>
                    <a:cs typeface="Arial" panose="020B0604020202020204" pitchFamily="34" charset="0"/>
                  </a:rPr>
                  <a:t>+</a:t>
                </a:r>
                <a14:m>
                  <m:oMath xmlns:m="http://schemas.openxmlformats.org/officeDocument/2006/math">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d>
                          <m:dPr>
                            <m:begChr m:val=""/>
                            <m:endChr m:val="|"/>
                            <m:ctrlPr>
                              <a:rPr lang="en-US" i="1" smtClean="0">
                                <a:latin typeface="Cambria Math" panose="02040503050406030204" pitchFamily="18" charset="0"/>
                                <a:ea typeface="Cambria Math" panose="02040503050406030204" pitchFamily="18" charset="0"/>
                                <a:cs typeface="Arial" panose="020B0604020202020204" pitchFamily="34" charset="0"/>
                              </a:rPr>
                            </m:ctrlPr>
                          </m:dPr>
                          <m:e>
                            <m:d>
                              <m:dPr>
                                <m:begChr m:val="["/>
                                <m:endChr m:val="]"/>
                                <m:ctrlPr>
                                  <a:rPr lang="en-US" i="1" smtClean="0">
                                    <a:latin typeface="Cambria Math" panose="02040503050406030204" pitchFamily="18" charset="0"/>
                                    <a:ea typeface="Cambria Math" panose="02040503050406030204" pitchFamily="18" charset="0"/>
                                    <a:cs typeface="Arial" panose="020B0604020202020204" pitchFamily="34" charset="0"/>
                                  </a:rPr>
                                </m:ctrlPr>
                              </m:dPr>
                              <m:e>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𝜌</m:t>
                                    </m:r>
                                  </m:e>
                                  <m:sub>
                                    <m:r>
                                      <a:rPr lang="en-US" i="1">
                                        <a:latin typeface="Cambria Math" panose="02040503050406030204" pitchFamily="18" charset="0"/>
                                        <a:cs typeface="Arial" panose="020B0604020202020204" pitchFamily="34" charset="0"/>
                                      </a:rPr>
                                      <m:t>𝑠</m:t>
                                    </m:r>
                                  </m:sub>
                                </m:sSub>
                                <m:d>
                                  <m:dPr>
                                    <m:ctrlPr>
                                      <a:rPr lang="en-US"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𝑤</m:t>
                                    </m:r>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𝑣</m:t>
                                        </m:r>
                                      </m:e>
                                      <m:sub>
                                        <m:r>
                                          <a:rPr lang="en-US" b="0" i="1" smtClean="0">
                                            <a:latin typeface="Cambria Math" panose="02040503050406030204" pitchFamily="18" charset="0"/>
                                            <a:cs typeface="Arial" panose="020B0604020202020204" pitchFamily="34" charset="0"/>
                                          </a:rPr>
                                          <m:t>𝑠</m:t>
                                        </m:r>
                                      </m:sub>
                                    </m:sSub>
                                  </m:e>
                                </m:d>
                                <m:r>
                                  <a:rPr lang="en-US" i="1">
                                    <a:latin typeface="Cambria Math" panose="02040503050406030204" pitchFamily="18" charset="0"/>
                                    <a:cs typeface="Arial" panose="020B0604020202020204" pitchFamily="34" charset="0"/>
                                  </a:rPr>
                                  <m:t>𝑐</m:t>
                                </m:r>
                              </m:e>
                            </m:d>
                          </m:e>
                        </m:d>
                      </m:e>
                      <m:sub>
                        <m:r>
                          <a:rPr lang="en-US" b="0" i="1" smtClean="0">
                            <a:latin typeface="Cambria Math" panose="02040503050406030204" pitchFamily="18" charset="0"/>
                            <a:cs typeface="Arial" panose="020B0604020202020204" pitchFamily="34" charset="0"/>
                          </a:rPr>
                          <m:t>𝑧</m:t>
                        </m:r>
                      </m:sub>
                    </m:sSub>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r>
                      <a:rPr lang="en-US" i="1">
                        <a:latin typeface="Cambria Math" panose="02040503050406030204" pitchFamily="18" charset="0"/>
                        <a:ea typeface="Cambria Math" panose="02040503050406030204" pitchFamily="18" charset="0"/>
                        <a:cs typeface="Arial" panose="020B0604020202020204" pitchFamily="34" charset="0"/>
                      </a:rPr>
                      <m:t>−</m:t>
                    </m:r>
                    <m:sSub>
                      <m:sSubPr>
                        <m:ctrlPr>
                          <a:rPr lang="en-US" i="1" smtClean="0">
                            <a:latin typeface="Cambria Math" panose="02040503050406030204" pitchFamily="18" charset="0"/>
                            <a:ea typeface="Cambria Math" panose="02040503050406030204" pitchFamily="18" charset="0"/>
                            <a:cs typeface="Arial" panose="020B0604020202020204" pitchFamily="34" charset="0"/>
                          </a:rPr>
                        </m:ctrlPr>
                      </m:sSubPr>
                      <m:e>
                        <m:d>
                          <m:dPr>
                            <m:begChr m:val=""/>
                            <m:endChr m:val="|"/>
                            <m:ctrlPr>
                              <a:rPr lang="en-US" i="1">
                                <a:latin typeface="Cambria Math" panose="02040503050406030204" pitchFamily="18" charset="0"/>
                                <a:ea typeface="Cambria Math" panose="02040503050406030204" pitchFamily="18" charset="0"/>
                                <a:cs typeface="Arial" panose="020B0604020202020204" pitchFamily="34" charset="0"/>
                              </a:rPr>
                            </m:ctrlPr>
                          </m:dPr>
                          <m:e>
                            <m:d>
                              <m:dPr>
                                <m:begChr m:val="["/>
                                <m:endChr m:val="]"/>
                                <m:ctrlPr>
                                  <a:rPr lang="en-US" i="1">
                                    <a:latin typeface="Cambria Math" panose="02040503050406030204" pitchFamily="18" charset="0"/>
                                    <a:ea typeface="Cambria Math" panose="02040503050406030204" pitchFamily="18" charset="0"/>
                                    <a:cs typeface="Arial" panose="020B0604020202020204" pitchFamily="34" charset="0"/>
                                  </a:rPr>
                                </m:ctrlPr>
                              </m:dPr>
                              <m:e>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𝜌</m:t>
                                    </m:r>
                                  </m:e>
                                  <m:sub>
                                    <m:r>
                                      <a:rPr lang="en-US" i="1">
                                        <a:latin typeface="Cambria Math" panose="02040503050406030204" pitchFamily="18" charset="0"/>
                                        <a:cs typeface="Arial" panose="020B0604020202020204" pitchFamily="34" charset="0"/>
                                      </a:rPr>
                                      <m:t>𝑠</m:t>
                                    </m:r>
                                  </m:sub>
                                </m:sSub>
                                <m:d>
                                  <m:dPr>
                                    <m:ctrlPr>
                                      <a:rPr lang="en-US" i="1">
                                        <a:latin typeface="Cambria Math" panose="02040503050406030204" pitchFamily="18" charset="0"/>
                                        <a:cs typeface="Arial" panose="020B0604020202020204" pitchFamily="34" charset="0"/>
                                      </a:rPr>
                                    </m:ctrlPr>
                                  </m:dPr>
                                  <m:e>
                                    <m:r>
                                      <a:rPr lang="en-US" i="1">
                                        <a:latin typeface="Cambria Math" panose="02040503050406030204" pitchFamily="18" charset="0"/>
                                        <a:cs typeface="Arial" panose="020B0604020202020204" pitchFamily="34" charset="0"/>
                                      </a:rPr>
                                      <m:t>𝑤</m:t>
                                    </m:r>
                                    <m:r>
                                      <a:rPr lang="en-US" i="1">
                                        <a:latin typeface="Cambria Math" panose="02040503050406030204" pitchFamily="18" charset="0"/>
                                        <a:cs typeface="Arial" panose="020B0604020202020204" pitchFamily="34" charset="0"/>
                                      </a:rPr>
                                      <m:t>−</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e>
                                </m:d>
                                <m:r>
                                  <a:rPr lang="en-US" i="1">
                                    <a:latin typeface="Cambria Math" panose="02040503050406030204" pitchFamily="18" charset="0"/>
                                    <a:cs typeface="Arial" panose="020B0604020202020204" pitchFamily="34" charset="0"/>
                                  </a:rPr>
                                  <m:t>𝑐</m:t>
                                </m:r>
                              </m:e>
                            </m:d>
                          </m:e>
                        </m:d>
                      </m:e>
                      <m:sub>
                        <m:r>
                          <a:rPr lang="en-US" b="0" i="1" smtClean="0">
                            <a:latin typeface="Cambria Math" panose="02040503050406030204" pitchFamily="18" charset="0"/>
                            <a:cs typeface="Arial" panose="020B0604020202020204" pitchFamily="34" charset="0"/>
                          </a:rPr>
                          <m:t>𝑧</m:t>
                        </m:r>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sub>
                    </m:sSub>
                    <m:r>
                      <m:rPr>
                        <m:nor/>
                      </m:rPr>
                      <a:rPr lang="en-US" i="0" dirty="0">
                        <a:ea typeface="Cambria Math" panose="02040503050406030204" pitchFamily="18" charset="0"/>
                        <a:cs typeface="Arial" panose="020B0604020202020204" pitchFamily="34" charset="0"/>
                      </a:rPr>
                      <m:t> </m:t>
                    </m:r>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oMath>
                </a14:m>
                <a:endParaRPr lang="en-US" dirty="0">
                  <a:latin typeface="Arial" panose="020B0604020202020204" pitchFamily="34" charset="0"/>
                  <a:cs typeface="Arial" panose="020B0604020202020204" pitchFamily="34" charset="0"/>
                </a:endParaRPr>
              </a:p>
            </p:txBody>
          </p:sp>
        </mc:Choice>
        <mc:Fallback xmlns="">
          <p:sp>
            <p:nvSpPr>
              <p:cNvPr id="10" name="TextBox 9">
                <a:extLst>
                  <a:ext uri="{FF2B5EF4-FFF2-40B4-BE49-F238E27FC236}">
                    <a16:creationId xmlns:a16="http://schemas.microsoft.com/office/drawing/2014/main" id="{F7BC7002-DE11-4E47-AE65-DBE955419046}"/>
                  </a:ext>
                </a:extLst>
              </p:cNvPr>
              <p:cNvSpPr txBox="1">
                <a:spLocks noRot="1" noChangeAspect="1" noMove="1" noResize="1" noEditPoints="1" noAdjustHandles="1" noChangeArrowheads="1" noChangeShapeType="1" noTextEdit="1"/>
              </p:cNvSpPr>
              <p:nvPr/>
            </p:nvSpPr>
            <p:spPr>
              <a:xfrm>
                <a:off x="811675" y="5234628"/>
                <a:ext cx="9670853" cy="937180"/>
              </a:xfrm>
              <a:prstGeom prst="rect">
                <a:avLst/>
              </a:prstGeom>
              <a:blipFill>
                <a:blip r:embed="rId2"/>
                <a:stretch>
                  <a:fillRect l="-1442" t="-82432" b="-104054"/>
                </a:stretch>
              </a:blipFill>
            </p:spPr>
            <p:txBody>
              <a:bodyPr/>
              <a:lstStyle/>
              <a:p>
                <a:r>
                  <a:rPr lang="en-US">
                    <a:noFill/>
                  </a:rPr>
                  <a:t> </a:t>
                </a:r>
              </a:p>
            </p:txBody>
          </p:sp>
        </mc:Fallback>
      </mc:AlternateContent>
    </p:spTree>
    <p:extLst>
      <p:ext uri="{BB962C8B-B14F-4D97-AF65-F5344CB8AC3E}">
        <p14:creationId xmlns:p14="http://schemas.microsoft.com/office/powerpoint/2010/main" val="55425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17</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Local equation of conservation of suspended sediment</a:t>
            </a:r>
          </a:p>
        </p:txBody>
      </p:sp>
      <p:cxnSp>
        <p:nvCxnSpPr>
          <p:cNvPr id="3" name="Straight Connector 2">
            <a:extLst>
              <a:ext uri="{FF2B5EF4-FFF2-40B4-BE49-F238E27FC236}">
                <a16:creationId xmlns:a16="http://schemas.microsoft.com/office/drawing/2014/main" id="{5AA7BF1D-9279-D14E-95D1-BF2DFD208A95}"/>
              </a:ext>
            </a:extLst>
          </p:cNvPr>
          <p:cNvCxnSpPr>
            <a:cxnSpLocks/>
          </p:cNvCxnSpPr>
          <p:nvPr/>
        </p:nvCxnSpPr>
        <p:spPr>
          <a:xfrm flipV="1">
            <a:off x="1606478" y="1753848"/>
            <a:ext cx="0" cy="1685762"/>
          </a:xfrm>
          <a:prstGeom prst="line">
            <a:avLst/>
          </a:prstGeom>
          <a:ln w="19050">
            <a:solidFill>
              <a:schemeClr val="tx1"/>
            </a:solidFill>
            <a:headEnd type="none" w="med" len="med"/>
            <a:tailEnd type="arrow" w="lg" len="lg"/>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DAF6B4A-F7C5-5F4E-9439-A973E04CD748}"/>
              </a:ext>
            </a:extLst>
          </p:cNvPr>
          <p:cNvCxnSpPr/>
          <p:nvPr/>
        </p:nvCxnSpPr>
        <p:spPr>
          <a:xfrm flipH="1">
            <a:off x="482757" y="3439247"/>
            <a:ext cx="1123721" cy="980501"/>
          </a:xfrm>
          <a:prstGeom prst="line">
            <a:avLst/>
          </a:prstGeom>
          <a:ln w="19050">
            <a:solidFill>
              <a:schemeClr val="tx1"/>
            </a:solidFill>
            <a:headEnd type="none" w="med" len="med"/>
            <a:tailEnd type="arrow" w="lg" len="lg"/>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27FE24F-65E8-954D-8B5A-4D253BAFE138}"/>
              </a:ext>
            </a:extLst>
          </p:cNvPr>
          <p:cNvCxnSpPr/>
          <p:nvPr/>
        </p:nvCxnSpPr>
        <p:spPr>
          <a:xfrm>
            <a:off x="1606478" y="3439247"/>
            <a:ext cx="2897436" cy="0"/>
          </a:xfrm>
          <a:prstGeom prst="line">
            <a:avLst/>
          </a:prstGeom>
          <a:ln w="19050">
            <a:solidFill>
              <a:schemeClr val="tx1"/>
            </a:solidFill>
            <a:headEnd type="none" w="med" len="med"/>
            <a:tailEnd type="arrow" w="lg" len="lg"/>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5CE43CE-9899-1B41-82FA-02784BFE525C}"/>
              </a:ext>
            </a:extLst>
          </p:cNvPr>
          <p:cNvSpPr txBox="1"/>
          <p:nvPr/>
        </p:nvSpPr>
        <p:spPr>
          <a:xfrm>
            <a:off x="482756" y="4419748"/>
            <a:ext cx="386675"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x</a:t>
            </a:r>
          </a:p>
        </p:txBody>
      </p:sp>
      <p:sp>
        <p:nvSpPr>
          <p:cNvPr id="14" name="TextBox 13">
            <a:extLst>
              <a:ext uri="{FF2B5EF4-FFF2-40B4-BE49-F238E27FC236}">
                <a16:creationId xmlns:a16="http://schemas.microsoft.com/office/drawing/2014/main" id="{AD284B0F-CF0D-BC42-9F98-6CECF92635C3}"/>
              </a:ext>
            </a:extLst>
          </p:cNvPr>
          <p:cNvSpPr txBox="1"/>
          <p:nvPr/>
        </p:nvSpPr>
        <p:spPr>
          <a:xfrm>
            <a:off x="4428963" y="3408802"/>
            <a:ext cx="386675"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y</a:t>
            </a:r>
          </a:p>
        </p:txBody>
      </p:sp>
      <p:sp>
        <p:nvSpPr>
          <p:cNvPr id="15" name="TextBox 14">
            <a:extLst>
              <a:ext uri="{FF2B5EF4-FFF2-40B4-BE49-F238E27FC236}">
                <a16:creationId xmlns:a16="http://schemas.microsoft.com/office/drawing/2014/main" id="{26F4773B-264E-A540-8FCC-FF8CCC3C14E0}"/>
              </a:ext>
            </a:extLst>
          </p:cNvPr>
          <p:cNvSpPr txBox="1"/>
          <p:nvPr/>
        </p:nvSpPr>
        <p:spPr>
          <a:xfrm>
            <a:off x="1219803" y="1694058"/>
            <a:ext cx="386675"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z</a:t>
            </a:r>
          </a:p>
        </p:txBody>
      </p:sp>
      <p:cxnSp>
        <p:nvCxnSpPr>
          <p:cNvPr id="16" name="Straight Connector 15">
            <a:extLst>
              <a:ext uri="{FF2B5EF4-FFF2-40B4-BE49-F238E27FC236}">
                <a16:creationId xmlns:a16="http://schemas.microsoft.com/office/drawing/2014/main" id="{423810B6-E9E1-7D49-9405-6107F7C8BF92}"/>
              </a:ext>
            </a:extLst>
          </p:cNvPr>
          <p:cNvCxnSpPr>
            <a:cxnSpLocks/>
          </p:cNvCxnSpPr>
          <p:nvPr/>
        </p:nvCxnSpPr>
        <p:spPr>
          <a:xfrm flipH="1">
            <a:off x="2457846" y="1221053"/>
            <a:ext cx="765041" cy="686115"/>
          </a:xfrm>
          <a:prstGeom prst="line">
            <a:avLst/>
          </a:prstGeom>
          <a:ln w="19050">
            <a:solidFill>
              <a:schemeClr val="tx1"/>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14CD2E7-21B7-2E46-A1F2-EAE988E67765}"/>
              </a:ext>
            </a:extLst>
          </p:cNvPr>
          <p:cNvCxnSpPr>
            <a:cxnSpLocks/>
          </p:cNvCxnSpPr>
          <p:nvPr/>
        </p:nvCxnSpPr>
        <p:spPr>
          <a:xfrm flipH="1">
            <a:off x="3702569" y="1221053"/>
            <a:ext cx="765041" cy="686115"/>
          </a:xfrm>
          <a:prstGeom prst="line">
            <a:avLst/>
          </a:prstGeom>
          <a:ln w="19050">
            <a:solidFill>
              <a:schemeClr val="tx1"/>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C7904E8-A0DE-6141-8597-7169D8AC5ABA}"/>
              </a:ext>
            </a:extLst>
          </p:cNvPr>
          <p:cNvCxnSpPr/>
          <p:nvPr/>
        </p:nvCxnSpPr>
        <p:spPr>
          <a:xfrm>
            <a:off x="2457846" y="1907168"/>
            <a:ext cx="124472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DB4DDB7-6D05-C44C-B9A9-F9E84AD700C3}"/>
              </a:ext>
            </a:extLst>
          </p:cNvPr>
          <p:cNvCxnSpPr/>
          <p:nvPr/>
        </p:nvCxnSpPr>
        <p:spPr>
          <a:xfrm>
            <a:off x="3222887" y="1208234"/>
            <a:ext cx="124472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46DE38B-DA3D-3048-80AF-2D3170C8895F}"/>
              </a:ext>
            </a:extLst>
          </p:cNvPr>
          <p:cNvCxnSpPr>
            <a:cxnSpLocks/>
          </p:cNvCxnSpPr>
          <p:nvPr/>
        </p:nvCxnSpPr>
        <p:spPr>
          <a:xfrm flipH="1">
            <a:off x="3222887" y="1208234"/>
            <a:ext cx="2497" cy="98033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5771611-668C-3D4D-AC58-8D8885AAA6E9}"/>
              </a:ext>
            </a:extLst>
          </p:cNvPr>
          <p:cNvCxnSpPr>
            <a:cxnSpLocks/>
          </p:cNvCxnSpPr>
          <p:nvPr/>
        </p:nvCxnSpPr>
        <p:spPr>
          <a:xfrm flipH="1">
            <a:off x="2479926" y="1904088"/>
            <a:ext cx="2497" cy="9803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CB85C99-BC3F-3647-BAD0-9105C8629A5D}"/>
              </a:ext>
            </a:extLst>
          </p:cNvPr>
          <p:cNvCxnSpPr>
            <a:cxnSpLocks/>
          </p:cNvCxnSpPr>
          <p:nvPr/>
        </p:nvCxnSpPr>
        <p:spPr>
          <a:xfrm flipH="1">
            <a:off x="3676065" y="1913851"/>
            <a:ext cx="2497" cy="9803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57343B0-0BBE-EB49-A5D6-96A2216668A7}"/>
              </a:ext>
            </a:extLst>
          </p:cNvPr>
          <p:cNvCxnSpPr>
            <a:cxnSpLocks/>
          </p:cNvCxnSpPr>
          <p:nvPr/>
        </p:nvCxnSpPr>
        <p:spPr>
          <a:xfrm flipH="1">
            <a:off x="4479966" y="1208234"/>
            <a:ext cx="2497" cy="9803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86313B9-2314-0544-B35C-E3A23AFDCE3B}"/>
              </a:ext>
            </a:extLst>
          </p:cNvPr>
          <p:cNvCxnSpPr/>
          <p:nvPr/>
        </p:nvCxnSpPr>
        <p:spPr>
          <a:xfrm>
            <a:off x="2446332" y="2894181"/>
            <a:ext cx="124472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7E671DB-D81B-8040-A5A5-A01F762FBB8D}"/>
              </a:ext>
            </a:extLst>
          </p:cNvPr>
          <p:cNvCxnSpPr/>
          <p:nvPr/>
        </p:nvCxnSpPr>
        <p:spPr>
          <a:xfrm>
            <a:off x="3222886" y="2188564"/>
            <a:ext cx="1244723"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223343F-9A6E-C745-9EB3-64E1AEB5BCB2}"/>
              </a:ext>
            </a:extLst>
          </p:cNvPr>
          <p:cNvCxnSpPr>
            <a:cxnSpLocks/>
          </p:cNvCxnSpPr>
          <p:nvPr/>
        </p:nvCxnSpPr>
        <p:spPr>
          <a:xfrm flipH="1">
            <a:off x="3690565" y="2198303"/>
            <a:ext cx="765041" cy="686115"/>
          </a:xfrm>
          <a:prstGeom prst="line">
            <a:avLst/>
          </a:prstGeom>
          <a:ln w="19050">
            <a:solidFill>
              <a:schemeClr val="tx1"/>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6EB0D00-BE50-1649-878F-FC460410A024}"/>
              </a:ext>
            </a:extLst>
          </p:cNvPr>
          <p:cNvCxnSpPr>
            <a:cxnSpLocks/>
          </p:cNvCxnSpPr>
          <p:nvPr/>
        </p:nvCxnSpPr>
        <p:spPr>
          <a:xfrm flipH="1">
            <a:off x="2477424" y="2185484"/>
            <a:ext cx="765041" cy="686115"/>
          </a:xfrm>
          <a:prstGeom prst="line">
            <a:avLst/>
          </a:prstGeom>
          <a:ln w="19050">
            <a:solidFill>
              <a:schemeClr val="tx1"/>
            </a:solidFill>
            <a:prstDash val="dash"/>
            <a:headEnd type="none" w="med" len="med"/>
            <a:tailEnd type="none" w="lg" len="lg"/>
          </a:ln>
        </p:spPr>
        <p:style>
          <a:lnRef idx="1">
            <a:schemeClr val="accent1"/>
          </a:lnRef>
          <a:fillRef idx="0">
            <a:schemeClr val="accent1"/>
          </a:fillRef>
          <a:effectRef idx="0">
            <a:schemeClr val="accent1"/>
          </a:effectRef>
          <a:fontRef idx="minor">
            <a:schemeClr val="tx1"/>
          </a:fontRef>
        </p:style>
      </p:cxnSp>
      <p:sp>
        <p:nvSpPr>
          <p:cNvPr id="35" name="Freeform 34">
            <a:extLst>
              <a:ext uri="{FF2B5EF4-FFF2-40B4-BE49-F238E27FC236}">
                <a16:creationId xmlns:a16="http://schemas.microsoft.com/office/drawing/2014/main" id="{182C7A01-DF4F-CC41-BB32-359136D2CEBC}"/>
              </a:ext>
            </a:extLst>
          </p:cNvPr>
          <p:cNvSpPr/>
          <p:nvPr/>
        </p:nvSpPr>
        <p:spPr>
          <a:xfrm>
            <a:off x="2503357" y="1199213"/>
            <a:ext cx="1963712" cy="704538"/>
          </a:xfrm>
          <a:custGeom>
            <a:avLst/>
            <a:gdLst>
              <a:gd name="connsiteX0" fmla="*/ 704538 w 1963712"/>
              <a:gd name="connsiteY0" fmla="*/ 0 h 704538"/>
              <a:gd name="connsiteX1" fmla="*/ 0 w 1963712"/>
              <a:gd name="connsiteY1" fmla="*/ 674557 h 704538"/>
              <a:gd name="connsiteX2" fmla="*/ 1184223 w 1963712"/>
              <a:gd name="connsiteY2" fmla="*/ 704538 h 704538"/>
              <a:gd name="connsiteX3" fmla="*/ 1963712 w 1963712"/>
              <a:gd name="connsiteY3" fmla="*/ 44971 h 704538"/>
              <a:gd name="connsiteX4" fmla="*/ 704538 w 1963712"/>
              <a:gd name="connsiteY4" fmla="*/ 0 h 7045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3712" h="704538">
                <a:moveTo>
                  <a:pt x="704538" y="0"/>
                </a:moveTo>
                <a:lnTo>
                  <a:pt x="0" y="674557"/>
                </a:lnTo>
                <a:lnTo>
                  <a:pt x="1184223" y="704538"/>
                </a:lnTo>
                <a:lnTo>
                  <a:pt x="1963712" y="44971"/>
                </a:lnTo>
                <a:lnTo>
                  <a:pt x="704538" y="0"/>
                </a:lnTo>
                <a:close/>
              </a:path>
            </a:pathLst>
          </a:custGeom>
          <a:solidFill>
            <a:schemeClr val="accent4">
              <a:lumMod val="75000"/>
              <a:alpha val="21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35">
            <a:extLst>
              <a:ext uri="{FF2B5EF4-FFF2-40B4-BE49-F238E27FC236}">
                <a16:creationId xmlns:a16="http://schemas.microsoft.com/office/drawing/2014/main" id="{83F63F0F-5928-6941-B553-A34D4DBB62E4}"/>
              </a:ext>
            </a:extLst>
          </p:cNvPr>
          <p:cNvSpPr/>
          <p:nvPr/>
        </p:nvSpPr>
        <p:spPr>
          <a:xfrm>
            <a:off x="2506884" y="2188733"/>
            <a:ext cx="1963712" cy="704538"/>
          </a:xfrm>
          <a:custGeom>
            <a:avLst/>
            <a:gdLst>
              <a:gd name="connsiteX0" fmla="*/ 704538 w 1963712"/>
              <a:gd name="connsiteY0" fmla="*/ 0 h 704538"/>
              <a:gd name="connsiteX1" fmla="*/ 0 w 1963712"/>
              <a:gd name="connsiteY1" fmla="*/ 674557 h 704538"/>
              <a:gd name="connsiteX2" fmla="*/ 1184223 w 1963712"/>
              <a:gd name="connsiteY2" fmla="*/ 704538 h 704538"/>
              <a:gd name="connsiteX3" fmla="*/ 1963712 w 1963712"/>
              <a:gd name="connsiteY3" fmla="*/ 44971 h 704538"/>
              <a:gd name="connsiteX4" fmla="*/ 704538 w 1963712"/>
              <a:gd name="connsiteY4" fmla="*/ 0 h 7045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3712" h="704538">
                <a:moveTo>
                  <a:pt x="704538" y="0"/>
                </a:moveTo>
                <a:lnTo>
                  <a:pt x="0" y="674557"/>
                </a:lnTo>
                <a:lnTo>
                  <a:pt x="1184223" y="704538"/>
                </a:lnTo>
                <a:lnTo>
                  <a:pt x="1963712" y="44971"/>
                </a:lnTo>
                <a:lnTo>
                  <a:pt x="704538" y="0"/>
                </a:lnTo>
                <a:close/>
              </a:path>
            </a:pathLst>
          </a:custGeom>
          <a:solidFill>
            <a:schemeClr val="accent4">
              <a:lumMod val="75000"/>
              <a:alpha val="43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AF5A583-86AF-104B-8DD4-FCC014E36577}"/>
              </a:ext>
            </a:extLst>
          </p:cNvPr>
          <p:cNvSpPr txBox="1"/>
          <p:nvPr/>
        </p:nvSpPr>
        <p:spPr>
          <a:xfrm>
            <a:off x="5721651" y="1169876"/>
            <a:ext cx="6241581" cy="1048364"/>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Dividing the mass balance equation on slide 13 by </a:t>
            </a:r>
            <a:r>
              <a:rPr lang="en-US" sz="2000" dirty="0" err="1">
                <a:latin typeface="Symbol" pitchFamily="2" charset="2"/>
                <a:cs typeface="Arial" panose="020B0604020202020204" pitchFamily="34" charset="0"/>
              </a:rPr>
              <a:t>r</a:t>
            </a:r>
            <a:r>
              <a:rPr lang="en-US" baseline="-25000" dirty="0" err="1">
                <a:latin typeface="Arial" panose="020B0604020202020204" pitchFamily="34" charset="0"/>
                <a:cs typeface="Arial" panose="020B0604020202020204" pitchFamily="34" charset="0"/>
              </a:rPr>
              <a:t>s</a:t>
            </a:r>
            <a:r>
              <a:rPr lang="en-US" sz="2000"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x</a:t>
            </a:r>
            <a:r>
              <a:rPr lang="en-US" sz="2000"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y</a:t>
            </a:r>
            <a:r>
              <a:rPr lang="en-US"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z</a:t>
            </a:r>
            <a:r>
              <a:rPr lang="en-US" dirty="0">
                <a:latin typeface="Arial" panose="020B0604020202020204" pitchFamily="34" charset="0"/>
                <a:cs typeface="Arial" panose="020B0604020202020204" pitchFamily="34" charset="0"/>
              </a:rPr>
              <a:t>, it is found that </a:t>
            </a:r>
          </a:p>
          <a:p>
            <a:pPr algn="l">
              <a:lnSpc>
                <a:spcPct val="114000"/>
              </a:lnSpc>
            </a:pPr>
            <a:endParaRPr lang="en-US" dirty="0">
              <a:latin typeface="Arial" panose="020B0604020202020204" pitchFamily="34" charset="0"/>
              <a:cs typeface="Arial" panose="020B0604020202020204" pitchFamily="34" charset="0"/>
            </a:endParaRPr>
          </a:p>
        </p:txBody>
      </p:sp>
      <p:cxnSp>
        <p:nvCxnSpPr>
          <p:cNvPr id="25" name="Straight Connector 24">
            <a:extLst>
              <a:ext uri="{FF2B5EF4-FFF2-40B4-BE49-F238E27FC236}">
                <a16:creationId xmlns:a16="http://schemas.microsoft.com/office/drawing/2014/main" id="{1230179E-E07F-E24E-A12B-A7CBEEF53097}"/>
              </a:ext>
            </a:extLst>
          </p:cNvPr>
          <p:cNvCxnSpPr>
            <a:cxnSpLocks/>
          </p:cNvCxnSpPr>
          <p:nvPr/>
        </p:nvCxnSpPr>
        <p:spPr>
          <a:xfrm flipH="1">
            <a:off x="2473785" y="2661032"/>
            <a:ext cx="463955" cy="426953"/>
          </a:xfrm>
          <a:prstGeom prst="line">
            <a:avLst/>
          </a:prstGeom>
          <a:ln>
            <a:headEnd type="none" w="med" len="med"/>
            <a:tailEnd type="triangle" w="lg" len="lg"/>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5E686F3E-B96F-3D4A-812B-4B55D0E8D2CA}"/>
              </a:ext>
            </a:extLst>
          </p:cNvPr>
          <p:cNvCxnSpPr>
            <a:cxnSpLocks/>
          </p:cNvCxnSpPr>
          <p:nvPr/>
        </p:nvCxnSpPr>
        <p:spPr>
          <a:xfrm flipH="1">
            <a:off x="4235091" y="1225680"/>
            <a:ext cx="463955" cy="426953"/>
          </a:xfrm>
          <a:prstGeom prst="line">
            <a:avLst/>
          </a:prstGeom>
          <a:ln w="19050">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5D5B0BD7-D46E-E047-8F08-84514296C25C}"/>
              </a:ext>
            </a:extLst>
          </p:cNvPr>
          <p:cNvCxnSpPr/>
          <p:nvPr/>
        </p:nvCxnSpPr>
        <p:spPr>
          <a:xfrm>
            <a:off x="1850636" y="2185484"/>
            <a:ext cx="652721"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BE93E758-B49B-0F4D-9981-E5DAA935BCC2}"/>
              </a:ext>
            </a:extLst>
          </p:cNvPr>
          <p:cNvCxnSpPr/>
          <p:nvPr/>
        </p:nvCxnSpPr>
        <p:spPr>
          <a:xfrm>
            <a:off x="4073085" y="2075766"/>
            <a:ext cx="652721"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186850B0-3389-A941-BA71-A549EA289ACF}"/>
              </a:ext>
            </a:extLst>
          </p:cNvPr>
          <p:cNvCxnSpPr/>
          <p:nvPr/>
        </p:nvCxnSpPr>
        <p:spPr>
          <a:xfrm flipV="1">
            <a:off x="3242465" y="2893271"/>
            <a:ext cx="0" cy="515531"/>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DCB8AA9B-81DF-F44F-89D3-0902D8BA2766}"/>
              </a:ext>
            </a:extLst>
          </p:cNvPr>
          <p:cNvCxnSpPr/>
          <p:nvPr/>
        </p:nvCxnSpPr>
        <p:spPr>
          <a:xfrm flipV="1">
            <a:off x="3379875" y="902077"/>
            <a:ext cx="0" cy="515531"/>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0CEF605-A44F-514B-8068-54E3FB2314EC}"/>
              </a:ext>
            </a:extLst>
          </p:cNvPr>
          <p:cNvSpPr>
            <a:spLocks noChangeAspect="1"/>
          </p:cNvSpPr>
          <p:nvPr/>
        </p:nvSpPr>
        <p:spPr>
          <a:xfrm>
            <a:off x="2424561" y="2797716"/>
            <a:ext cx="126908" cy="126000"/>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52AE805D-3344-D341-8177-F2EF5EF3E4E7}"/>
              </a:ext>
            </a:extLst>
          </p:cNvPr>
          <p:cNvSpPr>
            <a:spLocks noChangeAspect="1"/>
          </p:cNvSpPr>
          <p:nvPr/>
        </p:nvSpPr>
        <p:spPr>
          <a:xfrm>
            <a:off x="4376319" y="1151064"/>
            <a:ext cx="126908" cy="126000"/>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7AD672E-344A-0744-A8DA-2FAA660E7C23}"/>
              </a:ext>
            </a:extLst>
          </p:cNvPr>
          <p:cNvSpPr txBox="1"/>
          <p:nvPr/>
        </p:nvSpPr>
        <p:spPr>
          <a:xfrm>
            <a:off x="1569348" y="2661032"/>
            <a:ext cx="982119"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(x, y, z)</a:t>
            </a:r>
          </a:p>
        </p:txBody>
      </p:sp>
      <p:sp>
        <p:nvSpPr>
          <p:cNvPr id="42" name="TextBox 41">
            <a:extLst>
              <a:ext uri="{FF2B5EF4-FFF2-40B4-BE49-F238E27FC236}">
                <a16:creationId xmlns:a16="http://schemas.microsoft.com/office/drawing/2014/main" id="{A6D9CEEE-7AF5-1543-B5CF-A769E2D69DF5}"/>
              </a:ext>
            </a:extLst>
          </p:cNvPr>
          <p:cNvSpPr txBox="1"/>
          <p:nvPr/>
        </p:nvSpPr>
        <p:spPr>
          <a:xfrm>
            <a:off x="4030540" y="743940"/>
            <a:ext cx="2377129"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x+</a:t>
            </a:r>
            <a:r>
              <a:rPr lang="en-US"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x</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y+</a:t>
            </a:r>
            <a:r>
              <a:rPr lang="en-US"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z+</a:t>
            </a:r>
            <a:r>
              <a:rPr lang="en-US"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z</a:t>
            </a:r>
            <a:r>
              <a:rPr lang="en-US" dirty="0">
                <a:latin typeface="Arial" panose="020B0604020202020204" pitchFamily="34" charset="0"/>
                <a:cs typeface="Arial" panose="020B0604020202020204" pitchFamily="34" charset="0"/>
              </a:rPr>
              <a:t>)</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57C2771-B2EC-1540-8087-096B49A1CB4B}"/>
                  </a:ext>
                </a:extLst>
              </p:cNvPr>
              <p:cNvSpPr txBox="1"/>
              <p:nvPr/>
            </p:nvSpPr>
            <p:spPr>
              <a:xfrm>
                <a:off x="5838940" y="2075766"/>
                <a:ext cx="3400418" cy="666721"/>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𝑐</m:t>
                          </m:r>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𝑢𝑐</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𝑣𝑐</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r>
                                <a:rPr lang="en-US" b="0" i="1" smtClean="0">
                                  <a:latin typeface="Cambria Math" panose="02040503050406030204" pitchFamily="18" charset="0"/>
                                  <a:ea typeface="Cambria Math" panose="02040503050406030204" pitchFamily="18" charset="0"/>
                                  <a:cs typeface="Arial" panose="020B0604020202020204" pitchFamily="34" charset="0"/>
                                </a:rPr>
                                <m:t>𝑤</m:t>
                              </m:r>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sub>
                                  <m:r>
                                    <a:rPr lang="en-US" b="0" i="1" smtClean="0">
                                      <a:latin typeface="Cambria Math" panose="02040503050406030204" pitchFamily="18" charset="0"/>
                                      <a:ea typeface="Cambria Math" panose="02040503050406030204" pitchFamily="18" charset="0"/>
                                      <a:cs typeface="Arial" panose="020B0604020202020204" pitchFamily="34" charset="0"/>
                                    </a:rPr>
                                    <m:t>𝑠</m:t>
                                  </m:r>
                                </m:sub>
                              </m:sSub>
                            </m:e>
                          </m:d>
                          <m:r>
                            <a:rPr lang="en-US" b="0" i="1" smtClean="0">
                              <a:latin typeface="Cambria Math" panose="02040503050406030204" pitchFamily="18" charset="0"/>
                              <a:ea typeface="Cambria Math" panose="02040503050406030204" pitchFamily="18" charset="0"/>
                              <a:cs typeface="Arial" panose="020B0604020202020204" pitchFamily="34" charset="0"/>
                            </a:rPr>
                            <m:t>𝑐</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cs typeface="Arial" panose="020B0604020202020204" pitchFamily="34" charset="0"/>
                        </a:rPr>
                        <m:t>=0</m:t>
                      </m:r>
                    </m:oMath>
                  </m:oMathPara>
                </a14:m>
                <a:endParaRPr lang="en-US" dirty="0">
                  <a:latin typeface="Arial" panose="020B0604020202020204" pitchFamily="34" charset="0"/>
                  <a:cs typeface="Arial" panose="020B0604020202020204" pitchFamily="34" charset="0"/>
                </a:endParaRPr>
              </a:p>
            </p:txBody>
          </p:sp>
        </mc:Choice>
        <mc:Fallback xmlns="">
          <p:sp>
            <p:nvSpPr>
              <p:cNvPr id="11" name="TextBox 10">
                <a:extLst>
                  <a:ext uri="{FF2B5EF4-FFF2-40B4-BE49-F238E27FC236}">
                    <a16:creationId xmlns:a16="http://schemas.microsoft.com/office/drawing/2014/main" id="{957C2771-B2EC-1540-8087-096B49A1CB4B}"/>
                  </a:ext>
                </a:extLst>
              </p:cNvPr>
              <p:cNvSpPr txBox="1">
                <a:spLocks noRot="1" noChangeAspect="1" noMove="1" noResize="1" noEditPoints="1" noAdjustHandles="1" noChangeArrowheads="1" noChangeShapeType="1" noTextEdit="1"/>
              </p:cNvSpPr>
              <p:nvPr/>
            </p:nvSpPr>
            <p:spPr>
              <a:xfrm>
                <a:off x="5838940" y="2075766"/>
                <a:ext cx="3400418" cy="666721"/>
              </a:xfrm>
              <a:prstGeom prst="rect">
                <a:avLst/>
              </a:prstGeom>
              <a:blipFill>
                <a:blip r:embed="rId2"/>
                <a:stretch>
                  <a:fillRect l="-1115" r="-1115" b="-14815"/>
                </a:stretch>
              </a:blipFill>
            </p:spPr>
            <p:txBody>
              <a:bodyPr/>
              <a:lstStyle/>
              <a:p>
                <a:r>
                  <a:rPr lang="en-US">
                    <a:noFill/>
                  </a:rPr>
                  <a:t> </a:t>
                </a:r>
              </a:p>
            </p:txBody>
          </p:sp>
        </mc:Fallback>
      </mc:AlternateContent>
    </p:spTree>
    <p:extLst>
      <p:ext uri="{BB962C8B-B14F-4D97-AF65-F5344CB8AC3E}">
        <p14:creationId xmlns:p14="http://schemas.microsoft.com/office/powerpoint/2010/main" val="6829042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18</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954107"/>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Local equation of conservation of suspended sediment averaged over turbulence</a:t>
            </a:r>
          </a:p>
        </p:txBody>
      </p:sp>
      <p:cxnSp>
        <p:nvCxnSpPr>
          <p:cNvPr id="3" name="Straight Connector 2">
            <a:extLst>
              <a:ext uri="{FF2B5EF4-FFF2-40B4-BE49-F238E27FC236}">
                <a16:creationId xmlns:a16="http://schemas.microsoft.com/office/drawing/2014/main" id="{5AA7BF1D-9279-D14E-95D1-BF2DFD208A95}"/>
              </a:ext>
            </a:extLst>
          </p:cNvPr>
          <p:cNvCxnSpPr>
            <a:cxnSpLocks/>
          </p:cNvCxnSpPr>
          <p:nvPr/>
        </p:nvCxnSpPr>
        <p:spPr>
          <a:xfrm flipV="1">
            <a:off x="632961" y="752827"/>
            <a:ext cx="0" cy="2372186"/>
          </a:xfrm>
          <a:prstGeom prst="line">
            <a:avLst/>
          </a:prstGeom>
          <a:ln w="19050">
            <a:solidFill>
              <a:schemeClr val="tx1"/>
            </a:solidFill>
            <a:headEnd type="none" w="med" len="med"/>
            <a:tailEnd type="arrow" w="lg" len="lg"/>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27FE24F-65E8-954D-8B5A-4D253BAFE138}"/>
              </a:ext>
            </a:extLst>
          </p:cNvPr>
          <p:cNvCxnSpPr>
            <a:cxnSpLocks/>
          </p:cNvCxnSpPr>
          <p:nvPr/>
        </p:nvCxnSpPr>
        <p:spPr>
          <a:xfrm>
            <a:off x="632961" y="3135259"/>
            <a:ext cx="3635566" cy="0"/>
          </a:xfrm>
          <a:prstGeom prst="line">
            <a:avLst/>
          </a:prstGeom>
          <a:ln w="19050">
            <a:solidFill>
              <a:schemeClr val="tx1"/>
            </a:solidFill>
            <a:headEnd type="none" w="med" len="med"/>
            <a:tailEnd type="arrow" w="lg" len="lg"/>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5CE43CE-9899-1B41-82FA-02784BFE525C}"/>
              </a:ext>
            </a:extLst>
          </p:cNvPr>
          <p:cNvSpPr txBox="1"/>
          <p:nvPr/>
        </p:nvSpPr>
        <p:spPr>
          <a:xfrm>
            <a:off x="4084109" y="3183014"/>
            <a:ext cx="80730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time</a:t>
            </a:r>
          </a:p>
        </p:txBody>
      </p:sp>
      <p:sp>
        <p:nvSpPr>
          <p:cNvPr id="15" name="TextBox 14">
            <a:extLst>
              <a:ext uri="{FF2B5EF4-FFF2-40B4-BE49-F238E27FC236}">
                <a16:creationId xmlns:a16="http://schemas.microsoft.com/office/drawing/2014/main" id="{26F4773B-264E-A540-8FCC-FF8CCC3C14E0}"/>
              </a:ext>
            </a:extLst>
          </p:cNvPr>
          <p:cNvSpPr txBox="1"/>
          <p:nvPr/>
        </p:nvSpPr>
        <p:spPr>
          <a:xfrm>
            <a:off x="228768" y="865888"/>
            <a:ext cx="386675"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u</a:t>
            </a:r>
          </a:p>
        </p:txBody>
      </p:sp>
      <p:sp>
        <p:nvSpPr>
          <p:cNvPr id="2" name="TextBox 1">
            <a:extLst>
              <a:ext uri="{FF2B5EF4-FFF2-40B4-BE49-F238E27FC236}">
                <a16:creationId xmlns:a16="http://schemas.microsoft.com/office/drawing/2014/main" id="{DAF5A583-86AF-104B-8DD4-FCC014E36577}"/>
              </a:ext>
            </a:extLst>
          </p:cNvPr>
          <p:cNvSpPr txBox="1"/>
          <p:nvPr/>
        </p:nvSpPr>
        <p:spPr>
          <a:xfrm>
            <a:off x="5721651" y="1169876"/>
            <a:ext cx="6241581" cy="1048364"/>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Dividing the mass balance equation on slide 13 by </a:t>
            </a:r>
            <a:r>
              <a:rPr lang="en-US" sz="2000" dirty="0" err="1">
                <a:latin typeface="Symbol" pitchFamily="2" charset="2"/>
                <a:cs typeface="Arial" panose="020B0604020202020204" pitchFamily="34" charset="0"/>
              </a:rPr>
              <a:t>r</a:t>
            </a:r>
            <a:r>
              <a:rPr lang="en-US" baseline="-25000" dirty="0" err="1">
                <a:latin typeface="Arial" panose="020B0604020202020204" pitchFamily="34" charset="0"/>
                <a:cs typeface="Arial" panose="020B0604020202020204" pitchFamily="34" charset="0"/>
              </a:rPr>
              <a:t>s</a:t>
            </a:r>
            <a:r>
              <a:rPr lang="en-US" sz="2000"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x</a:t>
            </a:r>
            <a:r>
              <a:rPr lang="en-US" sz="2000"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y</a:t>
            </a:r>
            <a:r>
              <a:rPr lang="en-US"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z</a:t>
            </a:r>
            <a:r>
              <a:rPr lang="en-US" dirty="0">
                <a:latin typeface="Arial" panose="020B0604020202020204" pitchFamily="34" charset="0"/>
                <a:cs typeface="Arial" panose="020B0604020202020204" pitchFamily="34" charset="0"/>
              </a:rPr>
              <a:t>, it is found that </a:t>
            </a:r>
          </a:p>
          <a:p>
            <a:pPr algn="l">
              <a:lnSpc>
                <a:spcPct val="114000"/>
              </a:lnSpc>
            </a:pPr>
            <a:endParaRPr 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57C2771-B2EC-1540-8087-096B49A1CB4B}"/>
                  </a:ext>
                </a:extLst>
              </p:cNvPr>
              <p:cNvSpPr txBox="1"/>
              <p:nvPr/>
            </p:nvSpPr>
            <p:spPr>
              <a:xfrm>
                <a:off x="5838940" y="2075766"/>
                <a:ext cx="3400418" cy="666721"/>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𝑐</m:t>
                          </m:r>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𝑢𝑐</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𝑣𝑐</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r>
                                <a:rPr lang="en-US" b="0" i="1" smtClean="0">
                                  <a:latin typeface="Cambria Math" panose="02040503050406030204" pitchFamily="18" charset="0"/>
                                  <a:ea typeface="Cambria Math" panose="02040503050406030204" pitchFamily="18" charset="0"/>
                                  <a:cs typeface="Arial" panose="020B0604020202020204" pitchFamily="34" charset="0"/>
                                </a:rPr>
                                <m:t>𝑤</m:t>
                              </m:r>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sub>
                                  <m:r>
                                    <a:rPr lang="en-US" b="0" i="1" smtClean="0">
                                      <a:latin typeface="Cambria Math" panose="02040503050406030204" pitchFamily="18" charset="0"/>
                                      <a:ea typeface="Cambria Math" panose="02040503050406030204" pitchFamily="18" charset="0"/>
                                      <a:cs typeface="Arial" panose="020B0604020202020204" pitchFamily="34" charset="0"/>
                                    </a:rPr>
                                    <m:t>𝑠</m:t>
                                  </m:r>
                                </m:sub>
                              </m:sSub>
                            </m:e>
                          </m:d>
                          <m:r>
                            <a:rPr lang="en-US" b="0" i="1" smtClean="0">
                              <a:latin typeface="Cambria Math" panose="02040503050406030204" pitchFamily="18" charset="0"/>
                              <a:ea typeface="Cambria Math" panose="02040503050406030204" pitchFamily="18" charset="0"/>
                              <a:cs typeface="Arial" panose="020B0604020202020204" pitchFamily="34" charset="0"/>
                            </a:rPr>
                            <m:t>𝑐</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cs typeface="Arial" panose="020B0604020202020204" pitchFamily="34" charset="0"/>
                        </a:rPr>
                        <m:t>=0</m:t>
                      </m:r>
                    </m:oMath>
                  </m:oMathPara>
                </a14:m>
                <a:endParaRPr lang="en-US" dirty="0">
                  <a:latin typeface="Arial" panose="020B0604020202020204" pitchFamily="34" charset="0"/>
                  <a:cs typeface="Arial" panose="020B0604020202020204" pitchFamily="34" charset="0"/>
                </a:endParaRPr>
              </a:p>
            </p:txBody>
          </p:sp>
        </mc:Choice>
        <mc:Fallback xmlns="">
          <p:sp>
            <p:nvSpPr>
              <p:cNvPr id="11" name="TextBox 10">
                <a:extLst>
                  <a:ext uri="{FF2B5EF4-FFF2-40B4-BE49-F238E27FC236}">
                    <a16:creationId xmlns:a16="http://schemas.microsoft.com/office/drawing/2014/main" id="{957C2771-B2EC-1540-8087-096B49A1CB4B}"/>
                  </a:ext>
                </a:extLst>
              </p:cNvPr>
              <p:cNvSpPr txBox="1">
                <a:spLocks noRot="1" noChangeAspect="1" noMove="1" noResize="1" noEditPoints="1" noAdjustHandles="1" noChangeArrowheads="1" noChangeShapeType="1" noTextEdit="1"/>
              </p:cNvSpPr>
              <p:nvPr/>
            </p:nvSpPr>
            <p:spPr>
              <a:xfrm>
                <a:off x="5838940" y="2075766"/>
                <a:ext cx="3400418" cy="666721"/>
              </a:xfrm>
              <a:prstGeom prst="rect">
                <a:avLst/>
              </a:prstGeom>
              <a:blipFill>
                <a:blip r:embed="rId2"/>
                <a:stretch>
                  <a:fillRect l="-1115" r="-1115" b="-14815"/>
                </a:stretch>
              </a:blipFill>
            </p:spPr>
            <p:txBody>
              <a:bodyPr/>
              <a:lstStyle/>
              <a:p>
                <a:r>
                  <a:rPr lang="en-US">
                    <a:noFill/>
                  </a:rPr>
                  <a:t> </a:t>
                </a:r>
              </a:p>
            </p:txBody>
          </p:sp>
        </mc:Fallback>
      </mc:AlternateContent>
      <p:sp>
        <p:nvSpPr>
          <p:cNvPr id="44" name="TextBox 43">
            <a:extLst>
              <a:ext uri="{FF2B5EF4-FFF2-40B4-BE49-F238E27FC236}">
                <a16:creationId xmlns:a16="http://schemas.microsoft.com/office/drawing/2014/main" id="{FD4261BE-B4CB-7745-A7B3-488FFF0EAC32}"/>
              </a:ext>
            </a:extLst>
          </p:cNvPr>
          <p:cNvSpPr txBox="1"/>
          <p:nvPr/>
        </p:nvSpPr>
        <p:spPr>
          <a:xfrm>
            <a:off x="451871" y="3677818"/>
            <a:ext cx="11442197"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In a turbulent flow c, u, v and w fluctuate in space and time around values that can be considered constant at time scales that are long compared with those of the fluctuations. c, u, v and w can be then rewritten as</a:t>
            </a:r>
          </a:p>
        </p:txBody>
      </p:sp>
      <p:cxnSp>
        <p:nvCxnSpPr>
          <p:cNvPr id="45" name="Straight Connector 44">
            <a:extLst>
              <a:ext uri="{FF2B5EF4-FFF2-40B4-BE49-F238E27FC236}">
                <a16:creationId xmlns:a16="http://schemas.microsoft.com/office/drawing/2014/main" id="{5FCC2513-F720-0F4C-A3A5-338B9B698811}"/>
              </a:ext>
            </a:extLst>
          </p:cNvPr>
          <p:cNvCxnSpPr>
            <a:cxnSpLocks/>
          </p:cNvCxnSpPr>
          <p:nvPr/>
        </p:nvCxnSpPr>
        <p:spPr>
          <a:xfrm>
            <a:off x="501635" y="1895860"/>
            <a:ext cx="4376445" cy="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0" name="Freeform 49">
            <a:extLst>
              <a:ext uri="{FF2B5EF4-FFF2-40B4-BE49-F238E27FC236}">
                <a16:creationId xmlns:a16="http://schemas.microsoft.com/office/drawing/2014/main" id="{1CBDA541-12F0-0448-90BD-FC3EBE48B356}"/>
              </a:ext>
            </a:extLst>
          </p:cNvPr>
          <p:cNvSpPr/>
          <p:nvPr/>
        </p:nvSpPr>
        <p:spPr>
          <a:xfrm rot="1674813">
            <a:off x="969078" y="752827"/>
            <a:ext cx="3624550" cy="2116043"/>
          </a:xfrm>
          <a:custGeom>
            <a:avLst/>
            <a:gdLst>
              <a:gd name="connsiteX0" fmla="*/ 0 w 3624550"/>
              <a:gd name="connsiteY0" fmla="*/ 2116043 h 2116043"/>
              <a:gd name="connsiteX1" fmla="*/ 11017 w 3624550"/>
              <a:gd name="connsiteY1" fmla="*/ 2038925 h 2116043"/>
              <a:gd name="connsiteX2" fmla="*/ 22034 w 3624550"/>
              <a:gd name="connsiteY2" fmla="*/ 1972824 h 2116043"/>
              <a:gd name="connsiteX3" fmla="*/ 55084 w 3624550"/>
              <a:gd name="connsiteY3" fmla="*/ 1950790 h 2116043"/>
              <a:gd name="connsiteX4" fmla="*/ 121186 w 3624550"/>
              <a:gd name="connsiteY4" fmla="*/ 1928756 h 2116043"/>
              <a:gd name="connsiteX5" fmla="*/ 165253 w 3624550"/>
              <a:gd name="connsiteY5" fmla="*/ 1862655 h 2116043"/>
              <a:gd name="connsiteX6" fmla="*/ 187287 w 3624550"/>
              <a:gd name="connsiteY6" fmla="*/ 1785537 h 2116043"/>
              <a:gd name="connsiteX7" fmla="*/ 286439 w 3624550"/>
              <a:gd name="connsiteY7" fmla="*/ 1730452 h 2116043"/>
              <a:gd name="connsiteX8" fmla="*/ 396607 w 3624550"/>
              <a:gd name="connsiteY8" fmla="*/ 1719436 h 2116043"/>
              <a:gd name="connsiteX9" fmla="*/ 418641 w 3624550"/>
              <a:gd name="connsiteY9" fmla="*/ 1686385 h 2116043"/>
              <a:gd name="connsiteX10" fmla="*/ 451692 w 3624550"/>
              <a:gd name="connsiteY10" fmla="*/ 1620284 h 2116043"/>
              <a:gd name="connsiteX11" fmla="*/ 517793 w 3624550"/>
              <a:gd name="connsiteY11" fmla="*/ 1598250 h 2116043"/>
              <a:gd name="connsiteX12" fmla="*/ 550844 w 3624550"/>
              <a:gd name="connsiteY12" fmla="*/ 1587233 h 2116043"/>
              <a:gd name="connsiteX13" fmla="*/ 594911 w 3624550"/>
              <a:gd name="connsiteY13" fmla="*/ 1598250 h 2116043"/>
              <a:gd name="connsiteX14" fmla="*/ 661012 w 3624550"/>
              <a:gd name="connsiteY14" fmla="*/ 1653334 h 2116043"/>
              <a:gd name="connsiteX15" fmla="*/ 705080 w 3624550"/>
              <a:gd name="connsiteY15" fmla="*/ 1664351 h 2116043"/>
              <a:gd name="connsiteX16" fmla="*/ 782198 w 3624550"/>
              <a:gd name="connsiteY16" fmla="*/ 1653334 h 2116043"/>
              <a:gd name="connsiteX17" fmla="*/ 826265 w 3624550"/>
              <a:gd name="connsiteY17" fmla="*/ 1620284 h 2116043"/>
              <a:gd name="connsiteX18" fmla="*/ 892366 w 3624550"/>
              <a:gd name="connsiteY18" fmla="*/ 1587233 h 2116043"/>
              <a:gd name="connsiteX19" fmla="*/ 936434 w 3624550"/>
              <a:gd name="connsiteY19" fmla="*/ 1598250 h 2116043"/>
              <a:gd name="connsiteX20" fmla="*/ 958468 w 3624550"/>
              <a:gd name="connsiteY20" fmla="*/ 1631301 h 2116043"/>
              <a:gd name="connsiteX21" fmla="*/ 991518 w 3624550"/>
              <a:gd name="connsiteY21" fmla="*/ 1664351 h 2116043"/>
              <a:gd name="connsiteX22" fmla="*/ 1123721 w 3624550"/>
              <a:gd name="connsiteY22" fmla="*/ 1697402 h 2116043"/>
              <a:gd name="connsiteX23" fmla="*/ 1233889 w 3624550"/>
              <a:gd name="connsiteY23" fmla="*/ 1686385 h 2116043"/>
              <a:gd name="connsiteX24" fmla="*/ 1366092 w 3624550"/>
              <a:gd name="connsiteY24" fmla="*/ 1620284 h 2116043"/>
              <a:gd name="connsiteX25" fmla="*/ 1520328 w 3624550"/>
              <a:gd name="connsiteY25" fmla="*/ 1609267 h 2116043"/>
              <a:gd name="connsiteX26" fmla="*/ 1553378 w 3624550"/>
              <a:gd name="connsiteY26" fmla="*/ 1576216 h 2116043"/>
              <a:gd name="connsiteX27" fmla="*/ 1586429 w 3624550"/>
              <a:gd name="connsiteY27" fmla="*/ 1554183 h 2116043"/>
              <a:gd name="connsiteX28" fmla="*/ 1641513 w 3624550"/>
              <a:gd name="connsiteY28" fmla="*/ 1488081 h 2116043"/>
              <a:gd name="connsiteX29" fmla="*/ 1652530 w 3624550"/>
              <a:gd name="connsiteY29" fmla="*/ 1455031 h 2116043"/>
              <a:gd name="connsiteX30" fmla="*/ 1674564 w 3624550"/>
              <a:gd name="connsiteY30" fmla="*/ 1366896 h 2116043"/>
              <a:gd name="connsiteX31" fmla="*/ 1685581 w 3624550"/>
              <a:gd name="connsiteY31" fmla="*/ 1267744 h 2116043"/>
              <a:gd name="connsiteX32" fmla="*/ 1718631 w 3624550"/>
              <a:gd name="connsiteY32" fmla="*/ 1256727 h 2116043"/>
              <a:gd name="connsiteX33" fmla="*/ 1806766 w 3624550"/>
              <a:gd name="connsiteY33" fmla="*/ 1245710 h 2116043"/>
              <a:gd name="connsiteX34" fmla="*/ 1839817 w 3624550"/>
              <a:gd name="connsiteY34" fmla="*/ 1223677 h 2116043"/>
              <a:gd name="connsiteX35" fmla="*/ 1927952 w 3624550"/>
              <a:gd name="connsiteY35" fmla="*/ 1124525 h 2116043"/>
              <a:gd name="connsiteX36" fmla="*/ 1949986 w 3624550"/>
              <a:gd name="connsiteY36" fmla="*/ 1080457 h 2116043"/>
              <a:gd name="connsiteX37" fmla="*/ 1972019 w 3624550"/>
              <a:gd name="connsiteY37" fmla="*/ 1014356 h 2116043"/>
              <a:gd name="connsiteX38" fmla="*/ 1994053 w 3624550"/>
              <a:gd name="connsiteY38" fmla="*/ 948255 h 2116043"/>
              <a:gd name="connsiteX39" fmla="*/ 2027104 w 3624550"/>
              <a:gd name="connsiteY39" fmla="*/ 882154 h 2116043"/>
              <a:gd name="connsiteX40" fmla="*/ 2060154 w 3624550"/>
              <a:gd name="connsiteY40" fmla="*/ 871137 h 2116043"/>
              <a:gd name="connsiteX41" fmla="*/ 2093205 w 3624550"/>
              <a:gd name="connsiteY41" fmla="*/ 849103 h 2116043"/>
              <a:gd name="connsiteX42" fmla="*/ 2115239 w 3624550"/>
              <a:gd name="connsiteY42" fmla="*/ 805036 h 2116043"/>
              <a:gd name="connsiteX43" fmla="*/ 2159306 w 3624550"/>
              <a:gd name="connsiteY43" fmla="*/ 738934 h 2116043"/>
              <a:gd name="connsiteX44" fmla="*/ 2258458 w 3624550"/>
              <a:gd name="connsiteY44" fmla="*/ 749951 h 2116043"/>
              <a:gd name="connsiteX45" fmla="*/ 2313542 w 3624550"/>
              <a:gd name="connsiteY45" fmla="*/ 683850 h 2116043"/>
              <a:gd name="connsiteX46" fmla="*/ 2346593 w 3624550"/>
              <a:gd name="connsiteY46" fmla="*/ 661816 h 2116043"/>
              <a:gd name="connsiteX47" fmla="*/ 2368627 w 3624550"/>
              <a:gd name="connsiteY47" fmla="*/ 628766 h 2116043"/>
              <a:gd name="connsiteX48" fmla="*/ 2555913 w 3624550"/>
              <a:gd name="connsiteY48" fmla="*/ 617749 h 2116043"/>
              <a:gd name="connsiteX49" fmla="*/ 2622015 w 3624550"/>
              <a:gd name="connsiteY49" fmla="*/ 749951 h 2116043"/>
              <a:gd name="connsiteX50" fmla="*/ 2666082 w 3624550"/>
              <a:gd name="connsiteY50" fmla="*/ 771985 h 2116043"/>
              <a:gd name="connsiteX51" fmla="*/ 2864386 w 3624550"/>
              <a:gd name="connsiteY51" fmla="*/ 771985 h 2116043"/>
              <a:gd name="connsiteX52" fmla="*/ 2930487 w 3624550"/>
              <a:gd name="connsiteY52" fmla="*/ 760968 h 2116043"/>
              <a:gd name="connsiteX53" fmla="*/ 3007605 w 3624550"/>
              <a:gd name="connsiteY53" fmla="*/ 727918 h 2116043"/>
              <a:gd name="connsiteX54" fmla="*/ 3084723 w 3624550"/>
              <a:gd name="connsiteY54" fmla="*/ 683850 h 2116043"/>
              <a:gd name="connsiteX55" fmla="*/ 3205909 w 3624550"/>
              <a:gd name="connsiteY55" fmla="*/ 650799 h 2116043"/>
              <a:gd name="connsiteX56" fmla="*/ 3238959 w 3624550"/>
              <a:gd name="connsiteY56" fmla="*/ 628766 h 2116043"/>
              <a:gd name="connsiteX57" fmla="*/ 3294044 w 3624550"/>
              <a:gd name="connsiteY57" fmla="*/ 562665 h 2116043"/>
              <a:gd name="connsiteX58" fmla="*/ 3305060 w 3624550"/>
              <a:gd name="connsiteY58" fmla="*/ 529614 h 2116043"/>
              <a:gd name="connsiteX59" fmla="*/ 3327094 w 3624550"/>
              <a:gd name="connsiteY59" fmla="*/ 496563 h 2116043"/>
              <a:gd name="connsiteX60" fmla="*/ 3338111 w 3624550"/>
              <a:gd name="connsiteY60" fmla="*/ 397412 h 2116043"/>
              <a:gd name="connsiteX61" fmla="*/ 3349128 w 3624550"/>
              <a:gd name="connsiteY61" fmla="*/ 364361 h 2116043"/>
              <a:gd name="connsiteX62" fmla="*/ 3382178 w 3624550"/>
              <a:gd name="connsiteY62" fmla="*/ 353344 h 2116043"/>
              <a:gd name="connsiteX63" fmla="*/ 3404212 w 3624550"/>
              <a:gd name="connsiteY63" fmla="*/ 320293 h 2116043"/>
              <a:gd name="connsiteX64" fmla="*/ 3426246 w 3624550"/>
              <a:gd name="connsiteY64" fmla="*/ 243175 h 2116043"/>
              <a:gd name="connsiteX65" fmla="*/ 3437263 w 3624550"/>
              <a:gd name="connsiteY65" fmla="*/ 166057 h 2116043"/>
              <a:gd name="connsiteX66" fmla="*/ 3481330 w 3624550"/>
              <a:gd name="connsiteY66" fmla="*/ 155040 h 2116043"/>
              <a:gd name="connsiteX67" fmla="*/ 3514381 w 3624550"/>
              <a:gd name="connsiteY67" fmla="*/ 144024 h 2116043"/>
              <a:gd name="connsiteX68" fmla="*/ 3547431 w 3624550"/>
              <a:gd name="connsiteY68" fmla="*/ 110973 h 2116043"/>
              <a:gd name="connsiteX69" fmla="*/ 3591499 w 3624550"/>
              <a:gd name="connsiteY69" fmla="*/ 804 h 2116043"/>
              <a:gd name="connsiteX70" fmla="*/ 3624550 w 3624550"/>
              <a:gd name="connsiteY70" fmla="*/ 804 h 2116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624550" h="2116043">
                <a:moveTo>
                  <a:pt x="0" y="2116043"/>
                </a:moveTo>
                <a:cubicBezTo>
                  <a:pt x="3672" y="2090337"/>
                  <a:pt x="7068" y="2064590"/>
                  <a:pt x="11017" y="2038925"/>
                </a:cubicBezTo>
                <a:cubicBezTo>
                  <a:pt x="14414" y="2016847"/>
                  <a:pt x="12044" y="1992803"/>
                  <a:pt x="22034" y="1972824"/>
                </a:cubicBezTo>
                <a:cubicBezTo>
                  <a:pt x="27955" y="1960981"/>
                  <a:pt x="42985" y="1956168"/>
                  <a:pt x="55084" y="1950790"/>
                </a:cubicBezTo>
                <a:cubicBezTo>
                  <a:pt x="76308" y="1941357"/>
                  <a:pt x="121186" y="1928756"/>
                  <a:pt x="121186" y="1928756"/>
                </a:cubicBezTo>
                <a:cubicBezTo>
                  <a:pt x="135875" y="1906722"/>
                  <a:pt x="158830" y="1888345"/>
                  <a:pt x="165253" y="1862655"/>
                </a:cubicBezTo>
                <a:cubicBezTo>
                  <a:pt x="165348" y="1862274"/>
                  <a:pt x="182018" y="1790806"/>
                  <a:pt x="187287" y="1785537"/>
                </a:cubicBezTo>
                <a:cubicBezTo>
                  <a:pt x="205066" y="1767758"/>
                  <a:pt x="253694" y="1735490"/>
                  <a:pt x="286439" y="1730452"/>
                </a:cubicBezTo>
                <a:cubicBezTo>
                  <a:pt x="322916" y="1724840"/>
                  <a:pt x="359884" y="1723108"/>
                  <a:pt x="396607" y="1719436"/>
                </a:cubicBezTo>
                <a:cubicBezTo>
                  <a:pt x="403952" y="1708419"/>
                  <a:pt x="412720" y="1698228"/>
                  <a:pt x="418641" y="1686385"/>
                </a:cubicBezTo>
                <a:cubicBezTo>
                  <a:pt x="429010" y="1665647"/>
                  <a:pt x="428729" y="1634636"/>
                  <a:pt x="451692" y="1620284"/>
                </a:cubicBezTo>
                <a:cubicBezTo>
                  <a:pt x="471387" y="1607975"/>
                  <a:pt x="495759" y="1605595"/>
                  <a:pt x="517793" y="1598250"/>
                </a:cubicBezTo>
                <a:lnTo>
                  <a:pt x="550844" y="1587233"/>
                </a:lnTo>
                <a:cubicBezTo>
                  <a:pt x="565533" y="1590905"/>
                  <a:pt x="581765" y="1590738"/>
                  <a:pt x="594911" y="1598250"/>
                </a:cubicBezTo>
                <a:cubicBezTo>
                  <a:pt x="674316" y="1643625"/>
                  <a:pt x="583563" y="1620142"/>
                  <a:pt x="661012" y="1653334"/>
                </a:cubicBezTo>
                <a:cubicBezTo>
                  <a:pt x="674929" y="1659298"/>
                  <a:pt x="690391" y="1660679"/>
                  <a:pt x="705080" y="1664351"/>
                </a:cubicBezTo>
                <a:cubicBezTo>
                  <a:pt x="730786" y="1660679"/>
                  <a:pt x="757794" y="1662208"/>
                  <a:pt x="782198" y="1653334"/>
                </a:cubicBezTo>
                <a:cubicBezTo>
                  <a:pt x="799454" y="1647059"/>
                  <a:pt x="811324" y="1630956"/>
                  <a:pt x="826265" y="1620284"/>
                </a:cubicBezTo>
                <a:cubicBezTo>
                  <a:pt x="863639" y="1593588"/>
                  <a:pt x="851437" y="1600876"/>
                  <a:pt x="892366" y="1587233"/>
                </a:cubicBezTo>
                <a:cubicBezTo>
                  <a:pt x="907055" y="1590905"/>
                  <a:pt x="923836" y="1589851"/>
                  <a:pt x="936434" y="1598250"/>
                </a:cubicBezTo>
                <a:cubicBezTo>
                  <a:pt x="947451" y="1605595"/>
                  <a:pt x="949991" y="1621129"/>
                  <a:pt x="958468" y="1631301"/>
                </a:cubicBezTo>
                <a:cubicBezTo>
                  <a:pt x="968442" y="1643270"/>
                  <a:pt x="977899" y="1656785"/>
                  <a:pt x="991518" y="1664351"/>
                </a:cubicBezTo>
                <a:cubicBezTo>
                  <a:pt x="1028930" y="1685136"/>
                  <a:pt x="1082684" y="1690562"/>
                  <a:pt x="1123721" y="1697402"/>
                </a:cubicBezTo>
                <a:cubicBezTo>
                  <a:pt x="1160444" y="1693730"/>
                  <a:pt x="1198663" y="1697393"/>
                  <a:pt x="1233889" y="1686385"/>
                </a:cubicBezTo>
                <a:cubicBezTo>
                  <a:pt x="1331818" y="1655782"/>
                  <a:pt x="1263902" y="1627583"/>
                  <a:pt x="1366092" y="1620284"/>
                </a:cubicBezTo>
                <a:lnTo>
                  <a:pt x="1520328" y="1609267"/>
                </a:lnTo>
                <a:cubicBezTo>
                  <a:pt x="1531345" y="1598250"/>
                  <a:pt x="1541409" y="1586190"/>
                  <a:pt x="1553378" y="1576216"/>
                </a:cubicBezTo>
                <a:cubicBezTo>
                  <a:pt x="1563550" y="1567740"/>
                  <a:pt x="1576257" y="1562659"/>
                  <a:pt x="1586429" y="1554183"/>
                </a:cubicBezTo>
                <a:cubicBezTo>
                  <a:pt x="1607315" y="1536778"/>
                  <a:pt x="1629132" y="1512843"/>
                  <a:pt x="1641513" y="1488081"/>
                </a:cubicBezTo>
                <a:cubicBezTo>
                  <a:pt x="1646706" y="1477694"/>
                  <a:pt x="1649474" y="1466234"/>
                  <a:pt x="1652530" y="1455031"/>
                </a:cubicBezTo>
                <a:cubicBezTo>
                  <a:pt x="1660498" y="1425816"/>
                  <a:pt x="1674564" y="1366896"/>
                  <a:pt x="1674564" y="1366896"/>
                </a:cubicBezTo>
                <a:cubicBezTo>
                  <a:pt x="1678236" y="1333845"/>
                  <a:pt x="1673231" y="1298620"/>
                  <a:pt x="1685581" y="1267744"/>
                </a:cubicBezTo>
                <a:cubicBezTo>
                  <a:pt x="1689894" y="1256962"/>
                  <a:pt x="1707206" y="1258804"/>
                  <a:pt x="1718631" y="1256727"/>
                </a:cubicBezTo>
                <a:cubicBezTo>
                  <a:pt x="1747760" y="1251431"/>
                  <a:pt x="1777388" y="1249382"/>
                  <a:pt x="1806766" y="1245710"/>
                </a:cubicBezTo>
                <a:cubicBezTo>
                  <a:pt x="1817783" y="1238366"/>
                  <a:pt x="1829921" y="1232474"/>
                  <a:pt x="1839817" y="1223677"/>
                </a:cubicBezTo>
                <a:cubicBezTo>
                  <a:pt x="1878674" y="1189138"/>
                  <a:pt x="1904188" y="1166112"/>
                  <a:pt x="1927952" y="1124525"/>
                </a:cubicBezTo>
                <a:cubicBezTo>
                  <a:pt x="1936100" y="1110266"/>
                  <a:pt x="1943887" y="1095706"/>
                  <a:pt x="1949986" y="1080457"/>
                </a:cubicBezTo>
                <a:cubicBezTo>
                  <a:pt x="1958612" y="1058893"/>
                  <a:pt x="1964675" y="1036390"/>
                  <a:pt x="1972019" y="1014356"/>
                </a:cubicBezTo>
                <a:lnTo>
                  <a:pt x="1994053" y="948255"/>
                </a:lnTo>
                <a:cubicBezTo>
                  <a:pt x="2001311" y="926482"/>
                  <a:pt x="2007688" y="897687"/>
                  <a:pt x="2027104" y="882154"/>
                </a:cubicBezTo>
                <a:cubicBezTo>
                  <a:pt x="2036172" y="874900"/>
                  <a:pt x="2049767" y="876330"/>
                  <a:pt x="2060154" y="871137"/>
                </a:cubicBezTo>
                <a:cubicBezTo>
                  <a:pt x="2071997" y="865215"/>
                  <a:pt x="2082188" y="856448"/>
                  <a:pt x="2093205" y="849103"/>
                </a:cubicBezTo>
                <a:cubicBezTo>
                  <a:pt x="2100550" y="834414"/>
                  <a:pt x="2106790" y="819119"/>
                  <a:pt x="2115239" y="805036"/>
                </a:cubicBezTo>
                <a:cubicBezTo>
                  <a:pt x="2128864" y="782328"/>
                  <a:pt x="2159306" y="738934"/>
                  <a:pt x="2159306" y="738934"/>
                </a:cubicBezTo>
                <a:cubicBezTo>
                  <a:pt x="2192357" y="742606"/>
                  <a:pt x="2225656" y="755418"/>
                  <a:pt x="2258458" y="749951"/>
                </a:cubicBezTo>
                <a:cubicBezTo>
                  <a:pt x="2280119" y="746341"/>
                  <a:pt x="2300503" y="696889"/>
                  <a:pt x="2313542" y="683850"/>
                </a:cubicBezTo>
                <a:cubicBezTo>
                  <a:pt x="2322905" y="674487"/>
                  <a:pt x="2335576" y="669161"/>
                  <a:pt x="2346593" y="661816"/>
                </a:cubicBezTo>
                <a:cubicBezTo>
                  <a:pt x="2353938" y="650799"/>
                  <a:pt x="2359265" y="638128"/>
                  <a:pt x="2368627" y="628766"/>
                </a:cubicBezTo>
                <a:cubicBezTo>
                  <a:pt x="2420940" y="576453"/>
                  <a:pt x="2480431" y="612357"/>
                  <a:pt x="2555913" y="617749"/>
                </a:cubicBezTo>
                <a:cubicBezTo>
                  <a:pt x="2566342" y="649035"/>
                  <a:pt x="2587844" y="732865"/>
                  <a:pt x="2622015" y="749951"/>
                </a:cubicBezTo>
                <a:lnTo>
                  <a:pt x="2666082" y="771985"/>
                </a:lnTo>
                <a:cubicBezTo>
                  <a:pt x="2758946" y="741030"/>
                  <a:pt x="2652177" y="771985"/>
                  <a:pt x="2864386" y="771985"/>
                </a:cubicBezTo>
                <a:cubicBezTo>
                  <a:pt x="2886724" y="771985"/>
                  <a:pt x="2908453" y="764640"/>
                  <a:pt x="2930487" y="760968"/>
                </a:cubicBezTo>
                <a:cubicBezTo>
                  <a:pt x="2967563" y="748609"/>
                  <a:pt x="2969490" y="749697"/>
                  <a:pt x="3007605" y="727918"/>
                </a:cubicBezTo>
                <a:cubicBezTo>
                  <a:pt x="3053981" y="701418"/>
                  <a:pt x="3029234" y="706046"/>
                  <a:pt x="3084723" y="683850"/>
                </a:cubicBezTo>
                <a:cubicBezTo>
                  <a:pt x="3140633" y="661485"/>
                  <a:pt x="3150588" y="661863"/>
                  <a:pt x="3205909" y="650799"/>
                </a:cubicBezTo>
                <a:cubicBezTo>
                  <a:pt x="3216926" y="643455"/>
                  <a:pt x="3228787" y="637242"/>
                  <a:pt x="3238959" y="628766"/>
                </a:cubicBezTo>
                <a:cubicBezTo>
                  <a:pt x="3270768" y="602258"/>
                  <a:pt x="3272379" y="595161"/>
                  <a:pt x="3294044" y="562665"/>
                </a:cubicBezTo>
                <a:cubicBezTo>
                  <a:pt x="3297716" y="551648"/>
                  <a:pt x="3299867" y="540001"/>
                  <a:pt x="3305060" y="529614"/>
                </a:cubicBezTo>
                <a:cubicBezTo>
                  <a:pt x="3310981" y="517771"/>
                  <a:pt x="3323883" y="509408"/>
                  <a:pt x="3327094" y="496563"/>
                </a:cubicBezTo>
                <a:cubicBezTo>
                  <a:pt x="3335159" y="464302"/>
                  <a:pt x="3332644" y="430213"/>
                  <a:pt x="3338111" y="397412"/>
                </a:cubicBezTo>
                <a:cubicBezTo>
                  <a:pt x="3340020" y="385957"/>
                  <a:pt x="3340917" y="372573"/>
                  <a:pt x="3349128" y="364361"/>
                </a:cubicBezTo>
                <a:cubicBezTo>
                  <a:pt x="3357339" y="356150"/>
                  <a:pt x="3371161" y="357016"/>
                  <a:pt x="3382178" y="353344"/>
                </a:cubicBezTo>
                <a:cubicBezTo>
                  <a:pt x="3389523" y="342327"/>
                  <a:pt x="3398290" y="332136"/>
                  <a:pt x="3404212" y="320293"/>
                </a:cubicBezTo>
                <a:cubicBezTo>
                  <a:pt x="3410955" y="306807"/>
                  <a:pt x="3424229" y="254270"/>
                  <a:pt x="3426246" y="243175"/>
                </a:cubicBezTo>
                <a:cubicBezTo>
                  <a:pt x="3430891" y="217627"/>
                  <a:pt x="3423501" y="188077"/>
                  <a:pt x="3437263" y="166057"/>
                </a:cubicBezTo>
                <a:cubicBezTo>
                  <a:pt x="3445288" y="153217"/>
                  <a:pt x="3466771" y="159199"/>
                  <a:pt x="3481330" y="155040"/>
                </a:cubicBezTo>
                <a:cubicBezTo>
                  <a:pt x="3492496" y="151850"/>
                  <a:pt x="3503364" y="147696"/>
                  <a:pt x="3514381" y="144024"/>
                </a:cubicBezTo>
                <a:cubicBezTo>
                  <a:pt x="3525398" y="133007"/>
                  <a:pt x="3542504" y="125754"/>
                  <a:pt x="3547431" y="110973"/>
                </a:cubicBezTo>
                <a:cubicBezTo>
                  <a:pt x="3574894" y="28582"/>
                  <a:pt x="3521605" y="12453"/>
                  <a:pt x="3591499" y="804"/>
                </a:cubicBezTo>
                <a:cubicBezTo>
                  <a:pt x="3602366" y="-1007"/>
                  <a:pt x="3613533" y="804"/>
                  <a:pt x="3624550" y="804"/>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Arrow Connector 54">
            <a:extLst>
              <a:ext uri="{FF2B5EF4-FFF2-40B4-BE49-F238E27FC236}">
                <a16:creationId xmlns:a16="http://schemas.microsoft.com/office/drawing/2014/main" id="{72A3E57C-542D-AA43-A08B-9A0A9D6C325B}"/>
              </a:ext>
            </a:extLst>
          </p:cNvPr>
          <p:cNvCxnSpPr>
            <a:cxnSpLocks/>
          </p:cNvCxnSpPr>
          <p:nvPr/>
        </p:nvCxnSpPr>
        <p:spPr>
          <a:xfrm flipV="1">
            <a:off x="3234088" y="1884555"/>
            <a:ext cx="0" cy="1250704"/>
          </a:xfrm>
          <a:prstGeom prst="straightConnector1">
            <a:avLst/>
          </a:prstGeom>
          <a:ln w="190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AA31042F-E583-4A4F-A05C-47FF204A6343}"/>
              </a:ext>
            </a:extLst>
          </p:cNvPr>
          <p:cNvCxnSpPr>
            <a:cxnSpLocks/>
          </p:cNvCxnSpPr>
          <p:nvPr/>
        </p:nvCxnSpPr>
        <p:spPr>
          <a:xfrm flipV="1">
            <a:off x="3234088" y="1698417"/>
            <a:ext cx="0" cy="186138"/>
          </a:xfrm>
          <a:prstGeom prst="straightConnector1">
            <a:avLst/>
          </a:prstGeom>
          <a:ln w="190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AA0DDF3A-2F18-174D-ABC8-87DD5EE7CFEB}"/>
                  </a:ext>
                </a:extLst>
              </p:cNvPr>
              <p:cNvSpPr txBox="1"/>
              <p:nvPr/>
            </p:nvSpPr>
            <p:spPr>
              <a:xfrm>
                <a:off x="3249876" y="2276770"/>
                <a:ext cx="203004"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𝑢</m:t>
                          </m:r>
                        </m:e>
                      </m:acc>
                    </m:oMath>
                  </m:oMathPara>
                </a14:m>
                <a:endParaRPr lang="en-US" dirty="0">
                  <a:latin typeface="Arial" panose="020B0604020202020204" pitchFamily="34" charset="0"/>
                  <a:cs typeface="Arial" panose="020B0604020202020204" pitchFamily="34" charset="0"/>
                </a:endParaRPr>
              </a:p>
            </p:txBody>
          </p:sp>
        </mc:Choice>
        <mc:Fallback xmlns="">
          <p:sp>
            <p:nvSpPr>
              <p:cNvPr id="59" name="TextBox 58">
                <a:extLst>
                  <a:ext uri="{FF2B5EF4-FFF2-40B4-BE49-F238E27FC236}">
                    <a16:creationId xmlns:a16="http://schemas.microsoft.com/office/drawing/2014/main" id="{AA0DDF3A-2F18-174D-ABC8-87DD5EE7CFEB}"/>
                  </a:ext>
                </a:extLst>
              </p:cNvPr>
              <p:cNvSpPr txBox="1">
                <a:spLocks noRot="1" noChangeAspect="1" noMove="1" noResize="1" noEditPoints="1" noAdjustHandles="1" noChangeArrowheads="1" noChangeShapeType="1" noTextEdit="1"/>
              </p:cNvSpPr>
              <p:nvPr/>
            </p:nvSpPr>
            <p:spPr>
              <a:xfrm>
                <a:off x="3249876" y="2276770"/>
                <a:ext cx="203004" cy="315792"/>
              </a:xfrm>
              <a:prstGeom prst="rect">
                <a:avLst/>
              </a:prstGeom>
              <a:blipFill>
                <a:blip r:embed="rId3"/>
                <a:stretch>
                  <a:fillRect l="-11765" r="-117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C23D891E-B0D7-B142-ACEC-41A618235746}"/>
                  </a:ext>
                </a:extLst>
              </p:cNvPr>
              <p:cNvSpPr txBox="1"/>
              <p:nvPr/>
            </p:nvSpPr>
            <p:spPr>
              <a:xfrm>
                <a:off x="3357390" y="1659963"/>
                <a:ext cx="256480"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𝑢</m:t>
                      </m:r>
                      <m:r>
                        <a:rPr lang="en-US" b="0" i="1" smtClean="0">
                          <a:latin typeface="Cambria Math" panose="02040503050406030204" pitchFamily="18" charset="0"/>
                          <a:cs typeface="Arial" panose="020B0604020202020204" pitchFamily="34" charset="0"/>
                        </a:rPr>
                        <m:t>′</m:t>
                      </m:r>
                    </m:oMath>
                  </m:oMathPara>
                </a14:m>
                <a:endParaRPr lang="en-US" dirty="0">
                  <a:latin typeface="Arial" panose="020B0604020202020204" pitchFamily="34" charset="0"/>
                  <a:cs typeface="Arial" panose="020B0604020202020204" pitchFamily="34" charset="0"/>
                </a:endParaRPr>
              </a:p>
            </p:txBody>
          </p:sp>
        </mc:Choice>
        <mc:Fallback xmlns="">
          <p:sp>
            <p:nvSpPr>
              <p:cNvPr id="60" name="TextBox 59">
                <a:extLst>
                  <a:ext uri="{FF2B5EF4-FFF2-40B4-BE49-F238E27FC236}">
                    <a16:creationId xmlns:a16="http://schemas.microsoft.com/office/drawing/2014/main" id="{C23D891E-B0D7-B142-ACEC-41A618235746}"/>
                  </a:ext>
                </a:extLst>
              </p:cNvPr>
              <p:cNvSpPr txBox="1">
                <a:spLocks noRot="1" noChangeAspect="1" noMove="1" noResize="1" noEditPoints="1" noAdjustHandles="1" noChangeArrowheads="1" noChangeShapeType="1" noTextEdit="1"/>
              </p:cNvSpPr>
              <p:nvPr/>
            </p:nvSpPr>
            <p:spPr>
              <a:xfrm>
                <a:off x="3357390" y="1659963"/>
                <a:ext cx="256480" cy="315792"/>
              </a:xfrm>
              <a:prstGeom prst="rect">
                <a:avLst/>
              </a:prstGeom>
              <a:blipFill>
                <a:blip r:embed="rId4"/>
                <a:stretch>
                  <a:fillRect l="-23810" r="-190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E6FB90B8-0A1D-FF4C-AFE4-E41A1FE26912}"/>
                  </a:ext>
                </a:extLst>
              </p:cNvPr>
              <p:cNvSpPr txBox="1"/>
              <p:nvPr/>
            </p:nvSpPr>
            <p:spPr>
              <a:xfrm>
                <a:off x="542179" y="4505602"/>
                <a:ext cx="1032526"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𝑐</m:t>
                      </m:r>
                      <m:r>
                        <a:rPr lang="en-US" b="0" i="1" smtClean="0">
                          <a:latin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𝑐</m:t>
                      </m:r>
                      <m:r>
                        <a:rPr lang="en-US" b="0" i="1" smtClean="0">
                          <a:latin typeface="Cambria Math" panose="02040503050406030204" pitchFamily="18" charset="0"/>
                          <a:cs typeface="Arial" panose="020B0604020202020204" pitchFamily="34" charset="0"/>
                        </a:rPr>
                        <m:t>′</m:t>
                      </m:r>
                    </m:oMath>
                  </m:oMathPara>
                </a14:m>
                <a:endParaRPr lang="en-US" dirty="0">
                  <a:latin typeface="Arial" panose="020B0604020202020204" pitchFamily="34" charset="0"/>
                  <a:cs typeface="Arial" panose="020B0604020202020204" pitchFamily="34" charset="0"/>
                </a:endParaRPr>
              </a:p>
            </p:txBody>
          </p:sp>
        </mc:Choice>
        <mc:Fallback xmlns="">
          <p:sp>
            <p:nvSpPr>
              <p:cNvPr id="61" name="TextBox 60">
                <a:extLst>
                  <a:ext uri="{FF2B5EF4-FFF2-40B4-BE49-F238E27FC236}">
                    <a16:creationId xmlns:a16="http://schemas.microsoft.com/office/drawing/2014/main" id="{E6FB90B8-0A1D-FF4C-AFE4-E41A1FE26912}"/>
                  </a:ext>
                </a:extLst>
              </p:cNvPr>
              <p:cNvSpPr txBox="1">
                <a:spLocks noRot="1" noChangeAspect="1" noMove="1" noResize="1" noEditPoints="1" noAdjustHandles="1" noChangeArrowheads="1" noChangeShapeType="1" noTextEdit="1"/>
              </p:cNvSpPr>
              <p:nvPr/>
            </p:nvSpPr>
            <p:spPr>
              <a:xfrm>
                <a:off x="542179" y="4505602"/>
                <a:ext cx="1032526" cy="315792"/>
              </a:xfrm>
              <a:prstGeom prst="rect">
                <a:avLst/>
              </a:prstGeom>
              <a:blipFill>
                <a:blip r:embed="rId5"/>
                <a:stretch>
                  <a:fillRect l="-2439" r="-6098" b="-38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B731C4D3-39A2-1D4B-880C-B6D54CC1DF24}"/>
                  </a:ext>
                </a:extLst>
              </p:cNvPr>
              <p:cNvSpPr txBox="1"/>
              <p:nvPr/>
            </p:nvSpPr>
            <p:spPr>
              <a:xfrm>
                <a:off x="2300490" y="4505602"/>
                <a:ext cx="1111330"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𝑢</m:t>
                      </m:r>
                      <m:r>
                        <a:rPr lang="en-US" b="0" i="1" smtClean="0">
                          <a:latin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𝑢</m:t>
                          </m:r>
                        </m:e>
                      </m:acc>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𝑢</m:t>
                      </m:r>
                      <m:r>
                        <a:rPr lang="en-US" b="0" i="1" smtClean="0">
                          <a:latin typeface="Cambria Math" panose="02040503050406030204" pitchFamily="18" charset="0"/>
                          <a:cs typeface="Arial" panose="020B0604020202020204" pitchFamily="34" charset="0"/>
                        </a:rPr>
                        <m:t>′</m:t>
                      </m:r>
                    </m:oMath>
                  </m:oMathPara>
                </a14:m>
                <a:endParaRPr lang="en-US" dirty="0">
                  <a:latin typeface="Arial" panose="020B0604020202020204" pitchFamily="34" charset="0"/>
                  <a:cs typeface="Arial" panose="020B0604020202020204" pitchFamily="34" charset="0"/>
                </a:endParaRPr>
              </a:p>
            </p:txBody>
          </p:sp>
        </mc:Choice>
        <mc:Fallback xmlns="">
          <p:sp>
            <p:nvSpPr>
              <p:cNvPr id="62" name="TextBox 61">
                <a:extLst>
                  <a:ext uri="{FF2B5EF4-FFF2-40B4-BE49-F238E27FC236}">
                    <a16:creationId xmlns:a16="http://schemas.microsoft.com/office/drawing/2014/main" id="{B731C4D3-39A2-1D4B-880C-B6D54CC1DF24}"/>
                  </a:ext>
                </a:extLst>
              </p:cNvPr>
              <p:cNvSpPr txBox="1">
                <a:spLocks noRot="1" noChangeAspect="1" noMove="1" noResize="1" noEditPoints="1" noAdjustHandles="1" noChangeArrowheads="1" noChangeShapeType="1" noTextEdit="1"/>
              </p:cNvSpPr>
              <p:nvPr/>
            </p:nvSpPr>
            <p:spPr>
              <a:xfrm>
                <a:off x="2300490" y="4505602"/>
                <a:ext cx="1111330" cy="315792"/>
              </a:xfrm>
              <a:prstGeom prst="rect">
                <a:avLst/>
              </a:prstGeom>
              <a:blipFill>
                <a:blip r:embed="rId6"/>
                <a:stretch>
                  <a:fillRect l="-1124" r="-5618" b="-38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3F173327-E6C7-9A48-A1B0-F002277E7F1D}"/>
                  </a:ext>
                </a:extLst>
              </p:cNvPr>
              <p:cNvSpPr txBox="1"/>
              <p:nvPr/>
            </p:nvSpPr>
            <p:spPr>
              <a:xfrm>
                <a:off x="4517422" y="4505602"/>
                <a:ext cx="1089081"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𝑣</m:t>
                      </m:r>
                      <m:r>
                        <a:rPr lang="en-US" b="0" i="1" smtClean="0">
                          <a:latin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𝑣</m:t>
                          </m:r>
                        </m:e>
                      </m:acc>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𝑣</m:t>
                      </m:r>
                      <m:r>
                        <a:rPr lang="en-US" b="0" i="1" smtClean="0">
                          <a:latin typeface="Cambria Math" panose="02040503050406030204" pitchFamily="18" charset="0"/>
                          <a:cs typeface="Arial" panose="020B0604020202020204" pitchFamily="34" charset="0"/>
                        </a:rPr>
                        <m:t>′</m:t>
                      </m:r>
                    </m:oMath>
                  </m:oMathPara>
                </a14:m>
                <a:endParaRPr lang="en-US" dirty="0">
                  <a:latin typeface="Arial" panose="020B0604020202020204" pitchFamily="34" charset="0"/>
                  <a:cs typeface="Arial" panose="020B0604020202020204" pitchFamily="34" charset="0"/>
                </a:endParaRPr>
              </a:p>
            </p:txBody>
          </p:sp>
        </mc:Choice>
        <mc:Fallback xmlns="">
          <p:sp>
            <p:nvSpPr>
              <p:cNvPr id="63" name="TextBox 62">
                <a:extLst>
                  <a:ext uri="{FF2B5EF4-FFF2-40B4-BE49-F238E27FC236}">
                    <a16:creationId xmlns:a16="http://schemas.microsoft.com/office/drawing/2014/main" id="{3F173327-E6C7-9A48-A1B0-F002277E7F1D}"/>
                  </a:ext>
                </a:extLst>
              </p:cNvPr>
              <p:cNvSpPr txBox="1">
                <a:spLocks noRot="1" noChangeAspect="1" noMove="1" noResize="1" noEditPoints="1" noAdjustHandles="1" noChangeArrowheads="1" noChangeShapeType="1" noTextEdit="1"/>
              </p:cNvSpPr>
              <p:nvPr/>
            </p:nvSpPr>
            <p:spPr>
              <a:xfrm>
                <a:off x="4517422" y="4505602"/>
                <a:ext cx="1089081" cy="315792"/>
              </a:xfrm>
              <a:prstGeom prst="rect">
                <a:avLst/>
              </a:prstGeom>
              <a:blipFill>
                <a:blip r:embed="rId7"/>
                <a:stretch>
                  <a:fillRect l="-2299" r="-4598" b="-38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F6E7B3F5-3FE4-9E47-BFF7-4E96AE1F8BB3}"/>
                  </a:ext>
                </a:extLst>
              </p:cNvPr>
              <p:cNvSpPr txBox="1"/>
              <p:nvPr/>
            </p:nvSpPr>
            <p:spPr>
              <a:xfrm>
                <a:off x="6427819" y="4505602"/>
                <a:ext cx="1223733"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𝑤</m:t>
                      </m:r>
                      <m:r>
                        <a:rPr lang="en-US" b="0" i="1" smtClean="0">
                          <a:latin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𝑤</m:t>
                          </m:r>
                        </m:e>
                      </m:acc>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𝑤</m:t>
                      </m:r>
                      <m:r>
                        <a:rPr lang="en-US" b="0" i="1" smtClean="0">
                          <a:latin typeface="Cambria Math" panose="02040503050406030204" pitchFamily="18" charset="0"/>
                          <a:cs typeface="Arial" panose="020B0604020202020204" pitchFamily="34" charset="0"/>
                        </a:rPr>
                        <m:t>′</m:t>
                      </m:r>
                    </m:oMath>
                  </m:oMathPara>
                </a14:m>
                <a:endParaRPr lang="en-US" dirty="0">
                  <a:latin typeface="Arial" panose="020B0604020202020204" pitchFamily="34" charset="0"/>
                  <a:cs typeface="Arial" panose="020B0604020202020204" pitchFamily="34" charset="0"/>
                </a:endParaRPr>
              </a:p>
            </p:txBody>
          </p:sp>
        </mc:Choice>
        <mc:Fallback xmlns="">
          <p:sp>
            <p:nvSpPr>
              <p:cNvPr id="64" name="TextBox 63">
                <a:extLst>
                  <a:ext uri="{FF2B5EF4-FFF2-40B4-BE49-F238E27FC236}">
                    <a16:creationId xmlns:a16="http://schemas.microsoft.com/office/drawing/2014/main" id="{F6E7B3F5-3FE4-9E47-BFF7-4E96AE1F8BB3}"/>
                  </a:ext>
                </a:extLst>
              </p:cNvPr>
              <p:cNvSpPr txBox="1">
                <a:spLocks noRot="1" noChangeAspect="1" noMove="1" noResize="1" noEditPoints="1" noAdjustHandles="1" noChangeArrowheads="1" noChangeShapeType="1" noTextEdit="1"/>
              </p:cNvSpPr>
              <p:nvPr/>
            </p:nvSpPr>
            <p:spPr>
              <a:xfrm>
                <a:off x="6427819" y="4505602"/>
                <a:ext cx="1223733" cy="315792"/>
              </a:xfrm>
              <a:prstGeom prst="rect">
                <a:avLst/>
              </a:prstGeom>
              <a:blipFill>
                <a:blip r:embed="rId8"/>
                <a:stretch>
                  <a:fillRect l="-1020" r="-4082" b="-3846"/>
                </a:stretch>
              </a:blipFill>
            </p:spPr>
            <p:txBody>
              <a:bodyPr/>
              <a:lstStyle/>
              <a:p>
                <a:r>
                  <a:rPr lang="en-US">
                    <a:noFill/>
                  </a:rPr>
                  <a:t> </a:t>
                </a:r>
              </a:p>
            </p:txBody>
          </p:sp>
        </mc:Fallback>
      </mc:AlternateContent>
      <p:sp>
        <p:nvSpPr>
          <p:cNvPr id="65" name="TextBox 64">
            <a:extLst>
              <a:ext uri="{FF2B5EF4-FFF2-40B4-BE49-F238E27FC236}">
                <a16:creationId xmlns:a16="http://schemas.microsoft.com/office/drawing/2014/main" id="{66DF7477-9FA7-4E41-8FF3-833ED9507A34}"/>
              </a:ext>
            </a:extLst>
          </p:cNvPr>
          <p:cNvSpPr txBox="1"/>
          <p:nvPr/>
        </p:nvSpPr>
        <p:spPr>
          <a:xfrm>
            <a:off x="8206832" y="4457608"/>
            <a:ext cx="74988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with </a:t>
            </a:r>
          </a:p>
        </p:txBody>
      </p:sp>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066B8695-421B-6943-98BE-12BAADA1A735}"/>
                  </a:ext>
                </a:extLst>
              </p:cNvPr>
              <p:cNvSpPr txBox="1"/>
              <p:nvPr/>
            </p:nvSpPr>
            <p:spPr>
              <a:xfrm>
                <a:off x="8887021" y="4457608"/>
                <a:ext cx="2168863" cy="340414"/>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r>
                            <a:rPr lang="en-US" b="0" i="1" smtClean="0">
                              <a:latin typeface="Cambria Math" panose="02040503050406030204" pitchFamily="18" charset="0"/>
                              <a:cs typeface="Arial" panose="020B0604020202020204" pitchFamily="34" charset="0"/>
                            </a:rPr>
                            <m:t>′</m:t>
                          </m:r>
                        </m:e>
                      </m:acc>
                      <m:r>
                        <a:rPr lang="en-US" b="0" i="1" smtClean="0">
                          <a:latin typeface="Cambria Math" panose="02040503050406030204" pitchFamily="18" charset="0"/>
                          <a:cs typeface="Arial" panose="020B0604020202020204" pitchFamily="34" charset="0"/>
                        </a:rPr>
                        <m:t>=</m:t>
                      </m:r>
                      <m:acc>
                        <m:accPr>
                          <m:chr m:val="̅"/>
                          <m:ctrlPr>
                            <a:rPr lang="en-US" i="1">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𝑢</m:t>
                          </m:r>
                          <m:r>
                            <a:rPr lang="en-US" i="1">
                              <a:latin typeface="Cambria Math" panose="02040503050406030204" pitchFamily="18" charset="0"/>
                              <a:cs typeface="Arial" panose="020B0604020202020204" pitchFamily="34" charset="0"/>
                            </a:rPr>
                            <m:t>′</m:t>
                          </m:r>
                        </m:e>
                      </m:acc>
                      <m:r>
                        <a:rPr lang="en-US" b="0" i="1" smtClean="0">
                          <a:latin typeface="Cambria Math" panose="02040503050406030204" pitchFamily="18" charset="0"/>
                          <a:cs typeface="Arial" panose="020B0604020202020204" pitchFamily="34" charset="0"/>
                        </a:rPr>
                        <m:t>=</m:t>
                      </m:r>
                      <m:acc>
                        <m:accPr>
                          <m:chr m:val="̅"/>
                          <m:ctrlPr>
                            <a:rPr lang="en-US" i="1">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𝑣</m:t>
                          </m:r>
                          <m:r>
                            <a:rPr lang="en-US" i="1">
                              <a:latin typeface="Cambria Math" panose="02040503050406030204" pitchFamily="18" charset="0"/>
                              <a:cs typeface="Arial" panose="020B0604020202020204" pitchFamily="34" charset="0"/>
                            </a:rPr>
                            <m:t>′</m:t>
                          </m:r>
                        </m:e>
                      </m:acc>
                      <m:r>
                        <a:rPr lang="en-US" b="0" i="1" smtClean="0">
                          <a:latin typeface="Cambria Math" panose="02040503050406030204" pitchFamily="18" charset="0"/>
                          <a:cs typeface="Arial" panose="020B0604020202020204" pitchFamily="34" charset="0"/>
                        </a:rPr>
                        <m:t>=</m:t>
                      </m:r>
                      <m:acc>
                        <m:accPr>
                          <m:chr m:val="̅"/>
                          <m:ctrlPr>
                            <a:rPr lang="en-US" i="1">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𝑤</m:t>
                          </m:r>
                          <m:r>
                            <a:rPr lang="en-US" i="1">
                              <a:latin typeface="Cambria Math" panose="02040503050406030204" pitchFamily="18" charset="0"/>
                              <a:cs typeface="Arial" panose="020B0604020202020204" pitchFamily="34" charset="0"/>
                            </a:rPr>
                            <m:t>′</m:t>
                          </m:r>
                        </m:e>
                      </m:acc>
                      <m:r>
                        <a:rPr lang="en-US" b="0" i="1" smtClean="0">
                          <a:latin typeface="Cambria Math" panose="02040503050406030204" pitchFamily="18" charset="0"/>
                          <a:cs typeface="Arial" panose="020B0604020202020204" pitchFamily="34" charset="0"/>
                        </a:rPr>
                        <m:t>=0</m:t>
                      </m:r>
                    </m:oMath>
                  </m:oMathPara>
                </a14:m>
                <a:endParaRPr lang="en-US" dirty="0">
                  <a:latin typeface="Arial" panose="020B0604020202020204" pitchFamily="34" charset="0"/>
                  <a:cs typeface="Arial" panose="020B0604020202020204" pitchFamily="34" charset="0"/>
                </a:endParaRPr>
              </a:p>
            </p:txBody>
          </p:sp>
        </mc:Choice>
        <mc:Fallback xmlns="">
          <p:sp>
            <p:nvSpPr>
              <p:cNvPr id="66" name="TextBox 65">
                <a:extLst>
                  <a:ext uri="{FF2B5EF4-FFF2-40B4-BE49-F238E27FC236}">
                    <a16:creationId xmlns:a16="http://schemas.microsoft.com/office/drawing/2014/main" id="{066B8695-421B-6943-98BE-12BAADA1A735}"/>
                  </a:ext>
                </a:extLst>
              </p:cNvPr>
              <p:cNvSpPr txBox="1">
                <a:spLocks noRot="1" noChangeAspect="1" noMove="1" noResize="1" noEditPoints="1" noAdjustHandles="1" noChangeArrowheads="1" noChangeShapeType="1" noTextEdit="1"/>
              </p:cNvSpPr>
              <p:nvPr/>
            </p:nvSpPr>
            <p:spPr>
              <a:xfrm>
                <a:off x="8887021" y="4457608"/>
                <a:ext cx="2168863" cy="340414"/>
              </a:xfrm>
              <a:prstGeom prst="rect">
                <a:avLst/>
              </a:prstGeom>
              <a:blipFill>
                <a:blip r:embed="rId9"/>
                <a:stretch>
                  <a:fillRect l="-1744" r="-1744" b="-3571"/>
                </a:stretch>
              </a:blipFill>
            </p:spPr>
            <p:txBody>
              <a:bodyPr/>
              <a:lstStyle/>
              <a:p>
                <a:r>
                  <a:rPr lang="en-US">
                    <a:noFill/>
                  </a:rPr>
                  <a:t> </a:t>
                </a:r>
              </a:p>
            </p:txBody>
          </p:sp>
        </mc:Fallback>
      </mc:AlternateContent>
      <p:sp>
        <p:nvSpPr>
          <p:cNvPr id="67" name="TextBox 66">
            <a:extLst>
              <a:ext uri="{FF2B5EF4-FFF2-40B4-BE49-F238E27FC236}">
                <a16:creationId xmlns:a16="http://schemas.microsoft.com/office/drawing/2014/main" id="{07C941FF-9065-2040-BBCD-78334287D0B3}"/>
              </a:ext>
            </a:extLst>
          </p:cNvPr>
          <p:cNvSpPr txBox="1"/>
          <p:nvPr/>
        </p:nvSpPr>
        <p:spPr>
          <a:xfrm>
            <a:off x="451871" y="5075910"/>
            <a:ext cx="11442197"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In addition</a:t>
            </a:r>
          </a:p>
        </p:txBody>
      </p: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E02CA04B-691B-E443-8FA7-AEC7A7209C39}"/>
                  </a:ext>
                </a:extLst>
              </p:cNvPr>
              <p:cNvSpPr txBox="1"/>
              <p:nvPr/>
            </p:nvSpPr>
            <p:spPr>
              <a:xfrm>
                <a:off x="501635" y="5701661"/>
                <a:ext cx="1530162" cy="316433"/>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𝐴</m:t>
                          </m:r>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𝐵</m:t>
                          </m:r>
                        </m:e>
                      </m:acc>
                      <m:r>
                        <a:rPr lang="en-US" b="0" i="1" smtClean="0">
                          <a:latin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𝐴</m:t>
                          </m:r>
                        </m:e>
                      </m:acc>
                      <m:r>
                        <a:rPr lang="en-US" b="0" i="1" smtClean="0">
                          <a:latin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𝐵</m:t>
                          </m:r>
                        </m:e>
                      </m:acc>
                    </m:oMath>
                  </m:oMathPara>
                </a14:m>
                <a:endParaRPr lang="en-US" dirty="0">
                  <a:latin typeface="Arial" panose="020B0604020202020204" pitchFamily="34" charset="0"/>
                  <a:cs typeface="Arial" panose="020B0604020202020204" pitchFamily="34" charset="0"/>
                </a:endParaRPr>
              </a:p>
            </p:txBody>
          </p:sp>
        </mc:Choice>
        <mc:Fallback xmlns="">
          <p:sp>
            <p:nvSpPr>
              <p:cNvPr id="68" name="TextBox 67">
                <a:extLst>
                  <a:ext uri="{FF2B5EF4-FFF2-40B4-BE49-F238E27FC236}">
                    <a16:creationId xmlns:a16="http://schemas.microsoft.com/office/drawing/2014/main" id="{E02CA04B-691B-E443-8FA7-AEC7A7209C39}"/>
                  </a:ext>
                </a:extLst>
              </p:cNvPr>
              <p:cNvSpPr txBox="1">
                <a:spLocks noRot="1" noChangeAspect="1" noMove="1" noResize="1" noEditPoints="1" noAdjustHandles="1" noChangeArrowheads="1" noChangeShapeType="1" noTextEdit="1"/>
              </p:cNvSpPr>
              <p:nvPr/>
            </p:nvSpPr>
            <p:spPr>
              <a:xfrm>
                <a:off x="501635" y="5701661"/>
                <a:ext cx="1530162" cy="316433"/>
              </a:xfrm>
              <a:prstGeom prst="rect">
                <a:avLst/>
              </a:prstGeom>
              <a:blipFill>
                <a:blip r:embed="rId10"/>
                <a:stretch>
                  <a:fillRect l="-2479" r="-2479" b="-3846"/>
                </a:stretch>
              </a:blipFill>
            </p:spPr>
            <p:txBody>
              <a:bodyPr/>
              <a:lstStyle/>
              <a:p>
                <a:r>
                  <a:rPr lang="en-US">
                    <a:noFill/>
                  </a:rPr>
                  <a:t> </a:t>
                </a:r>
              </a:p>
            </p:txBody>
          </p:sp>
        </mc:Fallback>
      </mc:AlternateContent>
      <p:sp>
        <p:nvSpPr>
          <p:cNvPr id="69" name="TextBox 68">
            <a:extLst>
              <a:ext uri="{FF2B5EF4-FFF2-40B4-BE49-F238E27FC236}">
                <a16:creationId xmlns:a16="http://schemas.microsoft.com/office/drawing/2014/main" id="{386F4647-DEF2-5546-981C-C6F30B283B93}"/>
              </a:ext>
            </a:extLst>
          </p:cNvPr>
          <p:cNvSpPr txBox="1"/>
          <p:nvPr/>
        </p:nvSpPr>
        <p:spPr>
          <a:xfrm>
            <a:off x="2715397" y="5627992"/>
            <a:ext cx="441146" cy="381708"/>
          </a:xfrm>
          <a:prstGeom prst="rect">
            <a:avLst/>
          </a:prstGeom>
          <a:noFill/>
        </p:spPr>
        <p:txBody>
          <a:bodyPr wrap="none" rtlCol="0">
            <a:spAutoFit/>
          </a:bodyPr>
          <a:lstStyle/>
          <a:p>
            <a:pPr algn="l">
              <a:lnSpc>
                <a:spcPct val="114000"/>
              </a:lnSpc>
            </a:pPr>
            <a:r>
              <a:rPr lang="en-US" dirty="0">
                <a:latin typeface="Arial" panose="020B0604020202020204" pitchFamily="34" charset="0"/>
                <a:cs typeface="Arial" panose="020B0604020202020204" pitchFamily="34" charset="0"/>
              </a:rPr>
              <a:t>and</a:t>
            </a:r>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9B7CBD22-5EE5-3C4A-A639-C8FDEAC71A99}"/>
                  </a:ext>
                </a:extLst>
              </p:cNvPr>
              <p:cNvSpPr txBox="1"/>
              <p:nvPr/>
            </p:nvSpPr>
            <p:spPr>
              <a:xfrm>
                <a:off x="3967375" y="5497668"/>
                <a:ext cx="924035" cy="642355"/>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𝐴</m:t>
                              </m:r>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e>
                      </m:acc>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𝐴</m:t>
                              </m:r>
                            </m:e>
                          </m:acc>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oMath>
                  </m:oMathPara>
                </a14:m>
                <a:endParaRPr lang="en-US" dirty="0">
                  <a:latin typeface="Arial" panose="020B0604020202020204" pitchFamily="34" charset="0"/>
                  <a:cs typeface="Arial" panose="020B0604020202020204" pitchFamily="34" charset="0"/>
                </a:endParaRPr>
              </a:p>
            </p:txBody>
          </p:sp>
        </mc:Choice>
        <mc:Fallback xmlns="">
          <p:sp>
            <p:nvSpPr>
              <p:cNvPr id="70" name="TextBox 69">
                <a:extLst>
                  <a:ext uri="{FF2B5EF4-FFF2-40B4-BE49-F238E27FC236}">
                    <a16:creationId xmlns:a16="http://schemas.microsoft.com/office/drawing/2014/main" id="{9B7CBD22-5EE5-3C4A-A639-C8FDEAC71A99}"/>
                  </a:ext>
                </a:extLst>
              </p:cNvPr>
              <p:cNvSpPr txBox="1">
                <a:spLocks noRot="1" noChangeAspect="1" noMove="1" noResize="1" noEditPoints="1" noAdjustHandles="1" noChangeArrowheads="1" noChangeShapeType="1" noTextEdit="1"/>
              </p:cNvSpPr>
              <p:nvPr/>
            </p:nvSpPr>
            <p:spPr>
              <a:xfrm>
                <a:off x="3967375" y="5497668"/>
                <a:ext cx="924035" cy="642355"/>
              </a:xfrm>
              <a:prstGeom prst="rect">
                <a:avLst/>
              </a:prstGeom>
              <a:blipFill>
                <a:blip r:embed="rId11"/>
                <a:stretch>
                  <a:fillRect l="-5479" r="-5479" b="-7692"/>
                </a:stretch>
              </a:blipFill>
            </p:spPr>
            <p:txBody>
              <a:bodyPr/>
              <a:lstStyle/>
              <a:p>
                <a:r>
                  <a:rPr lang="en-US">
                    <a:noFill/>
                  </a:rPr>
                  <a:t> </a:t>
                </a:r>
              </a:p>
            </p:txBody>
          </p:sp>
        </mc:Fallback>
      </mc:AlternateContent>
    </p:spTree>
    <p:extLst>
      <p:ext uri="{BB962C8B-B14F-4D97-AF65-F5344CB8AC3E}">
        <p14:creationId xmlns:p14="http://schemas.microsoft.com/office/powerpoint/2010/main" val="31643356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19</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954107"/>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Local equation of conservation of suspended sediment averaged over turbulence</a:t>
            </a:r>
          </a:p>
        </p:txBody>
      </p:sp>
      <p:sp>
        <p:nvSpPr>
          <p:cNvPr id="2" name="TextBox 1">
            <a:extLst>
              <a:ext uri="{FF2B5EF4-FFF2-40B4-BE49-F238E27FC236}">
                <a16:creationId xmlns:a16="http://schemas.microsoft.com/office/drawing/2014/main" id="{DAF5A583-86AF-104B-8DD4-FCC014E36577}"/>
              </a:ext>
            </a:extLst>
          </p:cNvPr>
          <p:cNvSpPr txBox="1"/>
          <p:nvPr/>
        </p:nvSpPr>
        <p:spPr>
          <a:xfrm>
            <a:off x="383627" y="1169876"/>
            <a:ext cx="11579606"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local equation of conservation of suspended sediment averaged over turbulence takes the form </a:t>
            </a:r>
          </a:p>
          <a:p>
            <a:pPr algn="l">
              <a:lnSpc>
                <a:spcPct val="114000"/>
              </a:lnSpc>
            </a:pPr>
            <a:endParaRPr 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57C2771-B2EC-1540-8087-096B49A1CB4B}"/>
                  </a:ext>
                </a:extLst>
              </p:cNvPr>
              <p:cNvSpPr txBox="1"/>
              <p:nvPr/>
            </p:nvSpPr>
            <p:spPr>
              <a:xfrm>
                <a:off x="550844" y="1701193"/>
                <a:ext cx="2875787" cy="547650"/>
              </a:xfrm>
              <a:prstGeom prst="rect">
                <a:avLst/>
              </a:prstGeom>
              <a:noFill/>
            </p:spPr>
            <p:txBody>
              <a:bodyPr wrap="none" lIns="0" tIns="0" rIns="0" bIns="0" rtlCol="0">
                <a:spAutoFit/>
              </a:bodyPr>
              <a:lstStyle/>
              <a:p>
                <a:pPr>
                  <a:lnSpc>
                    <a:spcPct val="114000"/>
                  </a:lnSpc>
                </a:pP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𝑡</m:t>
                            </m:r>
                          </m:den>
                        </m:f>
                        <m:r>
                          <a:rPr lang="en-US" i="1">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𝑢𝑐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𝑥</m:t>
                            </m:r>
                          </m:den>
                        </m:f>
                        <m:r>
                          <a:rPr lang="en-US" i="1">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𝑣𝑐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𝑦</m:t>
                            </m:r>
                          </m:den>
                        </m:f>
                        <m:r>
                          <a:rPr lang="en-US" i="1">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d>
                              <m:dPr>
                                <m:ctrlPr>
                                  <a:rPr lang="en-US" i="1">
                                    <a:latin typeface="Cambria Math" panose="02040503050406030204" pitchFamily="18" charset="0"/>
                                    <a:ea typeface="Cambria Math" panose="02040503050406030204" pitchFamily="18" charset="0"/>
                                    <a:cs typeface="Arial" panose="020B0604020202020204" pitchFamily="34" charset="0"/>
                                  </a:rPr>
                                </m:ctrlPr>
                              </m:dPr>
                              <m:e>
                                <m:r>
                                  <a:rPr lang="en-US" i="1">
                                    <a:latin typeface="Cambria Math" panose="02040503050406030204" pitchFamily="18" charset="0"/>
                                    <a:ea typeface="Cambria Math" panose="02040503050406030204" pitchFamily="18" charset="0"/>
                                    <a:cs typeface="Arial" panose="020B0604020202020204" pitchFamily="34" charset="0"/>
                                  </a:rPr>
                                  <m:t>𝑤</m:t>
                                </m:r>
                                <m:r>
                                  <a:rPr lang="en-US" i="1">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𝑣</m:t>
                                    </m:r>
                                  </m:e>
                                  <m:sub>
                                    <m:r>
                                      <a:rPr lang="en-US" i="1">
                                        <a:latin typeface="Cambria Math" panose="02040503050406030204" pitchFamily="18" charset="0"/>
                                        <a:ea typeface="Cambria Math" panose="02040503050406030204" pitchFamily="18" charset="0"/>
                                        <a:cs typeface="Arial" panose="020B0604020202020204" pitchFamily="34" charset="0"/>
                                      </a:rPr>
                                      <m:t>𝑠</m:t>
                                    </m:r>
                                  </m:sub>
                                </m:sSub>
                              </m:e>
                            </m:d>
                            <m:r>
                              <a:rPr lang="en-US" i="1">
                                <a:latin typeface="Cambria Math" panose="02040503050406030204" pitchFamily="18" charset="0"/>
                                <a:ea typeface="Cambria Math" panose="02040503050406030204" pitchFamily="18" charset="0"/>
                                <a:cs typeface="Arial" panose="020B0604020202020204" pitchFamily="34" charset="0"/>
                              </a:rPr>
                              <m:t>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𝑧</m:t>
                            </m:r>
                          </m:den>
                        </m:f>
                      </m:e>
                    </m:acc>
                    <m:r>
                      <a:rPr lang="en-US" b="0" i="1" smtClean="0">
                        <a:latin typeface="Cambria Math" panose="02040503050406030204" pitchFamily="18" charset="0"/>
                        <a:cs typeface="Arial" panose="020B0604020202020204" pitchFamily="34" charset="0"/>
                      </a:rPr>
                      <m:t>=0</m:t>
                    </m:r>
                  </m:oMath>
                </a14:m>
                <a:r>
                  <a:rPr lang="en-US" dirty="0">
                    <a:latin typeface="Arial" panose="020B0604020202020204" pitchFamily="34" charset="0"/>
                    <a:cs typeface="Arial" panose="020B0604020202020204" pitchFamily="34" charset="0"/>
                  </a:rPr>
                  <a:t> </a:t>
                </a:r>
              </a:p>
            </p:txBody>
          </p:sp>
        </mc:Choice>
        <mc:Fallback xmlns="">
          <p:sp>
            <p:nvSpPr>
              <p:cNvPr id="11" name="TextBox 10">
                <a:extLst>
                  <a:ext uri="{FF2B5EF4-FFF2-40B4-BE49-F238E27FC236}">
                    <a16:creationId xmlns:a16="http://schemas.microsoft.com/office/drawing/2014/main" id="{957C2771-B2EC-1540-8087-096B49A1CB4B}"/>
                  </a:ext>
                </a:extLst>
              </p:cNvPr>
              <p:cNvSpPr txBox="1">
                <a:spLocks noRot="1" noChangeAspect="1" noMove="1" noResize="1" noEditPoints="1" noAdjustHandles="1" noChangeArrowheads="1" noChangeShapeType="1" noTextEdit="1"/>
              </p:cNvSpPr>
              <p:nvPr/>
            </p:nvSpPr>
            <p:spPr>
              <a:xfrm>
                <a:off x="550844" y="1701193"/>
                <a:ext cx="2875787" cy="547650"/>
              </a:xfrm>
              <a:prstGeom prst="rect">
                <a:avLst/>
              </a:prstGeom>
              <a:blipFill>
                <a:blip r:embed="rId2"/>
                <a:stretch>
                  <a:fillRect l="-2643" b="-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90C010B-0CB7-5D41-9FA1-1799DACAD832}"/>
                  </a:ext>
                </a:extLst>
              </p:cNvPr>
              <p:cNvSpPr txBox="1"/>
              <p:nvPr/>
            </p:nvSpPr>
            <p:spPr>
              <a:xfrm>
                <a:off x="550844" y="2425695"/>
                <a:ext cx="2850139" cy="547650"/>
              </a:xfrm>
              <a:prstGeom prst="rect">
                <a:avLst/>
              </a:prstGeom>
              <a:noFill/>
            </p:spPr>
            <p:txBody>
              <a:bodyPr wrap="none" lIns="0" tIns="0" rIns="0" bIns="0" rtlCol="0">
                <a:spAutoFit/>
              </a:bodyPr>
              <a:lstStyle/>
              <a:p>
                <a:pPr>
                  <a:lnSpc>
                    <a:spcPct val="114000"/>
                  </a:lnSpc>
                </a:pP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𝑡</m:t>
                            </m:r>
                          </m:den>
                        </m:f>
                      </m:e>
                    </m:acc>
                    <m:r>
                      <a:rPr lang="en-US" b="0" i="1" smtClean="0">
                        <a:latin typeface="Cambria Math" panose="02040503050406030204" pitchFamily="18" charset="0"/>
                        <a:cs typeface="Arial" panose="020B0604020202020204" pitchFamily="34" charset="0"/>
                      </a:rPr>
                      <m:t>+</m:t>
                    </m:r>
                    <m:acc>
                      <m:accPr>
                        <m:chr m:val="̅"/>
                        <m:ctrlPr>
                          <a:rPr lang="en-US" i="1" smtClean="0">
                            <a:latin typeface="Cambria Math" panose="02040503050406030204" pitchFamily="18" charset="0"/>
                            <a:cs typeface="Arial" panose="020B0604020202020204" pitchFamily="34" charset="0"/>
                          </a:rPr>
                        </m:ctrlPr>
                      </m:accPr>
                      <m:e>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𝑢𝑐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𝑥</m:t>
                            </m:r>
                          </m:den>
                        </m:f>
                      </m:e>
                    </m:acc>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𝑣𝑐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𝑦</m:t>
                            </m:r>
                          </m:den>
                        </m:f>
                      </m:e>
                    </m:acc>
                    <m:r>
                      <a:rPr lang="en-US" b="0" i="1" smtClean="0">
                        <a:latin typeface="Cambria Math" panose="02040503050406030204" pitchFamily="18" charset="0"/>
                        <a:cs typeface="Arial" panose="020B0604020202020204" pitchFamily="34" charset="0"/>
                      </a:rPr>
                      <m:t>+</m:t>
                    </m:r>
                    <m:acc>
                      <m:accPr>
                        <m:chr m:val="̅"/>
                        <m:ctrlPr>
                          <a:rPr lang="en-US" i="1" smtClean="0">
                            <a:latin typeface="Cambria Math" panose="02040503050406030204" pitchFamily="18" charset="0"/>
                            <a:cs typeface="Arial" panose="020B0604020202020204" pitchFamily="34" charset="0"/>
                          </a:rPr>
                        </m:ctrlPr>
                      </m:accPr>
                      <m:e>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d>
                              <m:dPr>
                                <m:ctrlPr>
                                  <a:rPr lang="en-US" i="1">
                                    <a:latin typeface="Cambria Math" panose="02040503050406030204" pitchFamily="18" charset="0"/>
                                    <a:ea typeface="Cambria Math" panose="02040503050406030204" pitchFamily="18" charset="0"/>
                                    <a:cs typeface="Arial" panose="020B0604020202020204" pitchFamily="34" charset="0"/>
                                  </a:rPr>
                                </m:ctrlPr>
                              </m:dPr>
                              <m:e>
                                <m:r>
                                  <a:rPr lang="en-US" i="1">
                                    <a:latin typeface="Cambria Math" panose="02040503050406030204" pitchFamily="18" charset="0"/>
                                    <a:ea typeface="Cambria Math" panose="02040503050406030204" pitchFamily="18" charset="0"/>
                                    <a:cs typeface="Arial" panose="020B0604020202020204" pitchFamily="34" charset="0"/>
                                  </a:rPr>
                                  <m:t>𝑤</m:t>
                                </m:r>
                                <m:r>
                                  <a:rPr lang="en-US" i="1">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𝑣</m:t>
                                    </m:r>
                                  </m:e>
                                  <m:sub>
                                    <m:r>
                                      <a:rPr lang="en-US" i="1">
                                        <a:latin typeface="Cambria Math" panose="02040503050406030204" pitchFamily="18" charset="0"/>
                                        <a:ea typeface="Cambria Math" panose="02040503050406030204" pitchFamily="18" charset="0"/>
                                        <a:cs typeface="Arial" panose="020B0604020202020204" pitchFamily="34" charset="0"/>
                                      </a:rPr>
                                      <m:t>𝑠</m:t>
                                    </m:r>
                                  </m:sub>
                                </m:sSub>
                              </m:e>
                            </m:d>
                            <m:r>
                              <a:rPr lang="en-US" i="1">
                                <a:latin typeface="Cambria Math" panose="02040503050406030204" pitchFamily="18" charset="0"/>
                                <a:ea typeface="Cambria Math" panose="02040503050406030204" pitchFamily="18" charset="0"/>
                                <a:cs typeface="Arial" panose="020B0604020202020204" pitchFamily="34" charset="0"/>
                              </a:rPr>
                              <m:t>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𝑧</m:t>
                            </m:r>
                          </m:den>
                        </m:f>
                      </m:e>
                    </m:acc>
                    <m:r>
                      <a:rPr lang="en-US" b="0" i="1" smtClean="0">
                        <a:latin typeface="Cambria Math" panose="02040503050406030204" pitchFamily="18" charset="0"/>
                        <a:cs typeface="Arial" panose="020B0604020202020204" pitchFamily="34" charset="0"/>
                      </a:rPr>
                      <m:t>=0</m:t>
                    </m:r>
                  </m:oMath>
                </a14:m>
                <a:r>
                  <a:rPr lang="en-US" dirty="0">
                    <a:latin typeface="Arial" panose="020B0604020202020204" pitchFamily="34" charset="0"/>
                    <a:cs typeface="Arial" panose="020B0604020202020204" pitchFamily="34" charset="0"/>
                  </a:rPr>
                  <a:t> </a:t>
                </a:r>
              </a:p>
            </p:txBody>
          </p:sp>
        </mc:Choice>
        <mc:Fallback xmlns="">
          <p:sp>
            <p:nvSpPr>
              <p:cNvPr id="7" name="TextBox 6">
                <a:extLst>
                  <a:ext uri="{FF2B5EF4-FFF2-40B4-BE49-F238E27FC236}">
                    <a16:creationId xmlns:a16="http://schemas.microsoft.com/office/drawing/2014/main" id="{290C010B-0CB7-5D41-9FA1-1799DACAD832}"/>
                  </a:ext>
                </a:extLst>
              </p:cNvPr>
              <p:cNvSpPr txBox="1">
                <a:spLocks noRot="1" noChangeAspect="1" noMove="1" noResize="1" noEditPoints="1" noAdjustHandles="1" noChangeArrowheads="1" noChangeShapeType="1" noTextEdit="1"/>
              </p:cNvSpPr>
              <p:nvPr/>
            </p:nvSpPr>
            <p:spPr>
              <a:xfrm>
                <a:off x="550844" y="2425695"/>
                <a:ext cx="2850139" cy="547650"/>
              </a:xfrm>
              <a:prstGeom prst="rect">
                <a:avLst/>
              </a:prstGeom>
              <a:blipFill>
                <a:blip r:embed="rId3"/>
                <a:stretch>
                  <a:fillRect l="-2667" b="-9091"/>
                </a:stretch>
              </a:blipFill>
            </p:spPr>
            <p:txBody>
              <a:bodyPr/>
              <a:lstStyle/>
              <a:p>
                <a:r>
                  <a:rPr lang="en-US">
                    <a:noFill/>
                  </a:rPr>
                  <a:t> </a:t>
                </a:r>
              </a:p>
            </p:txBody>
          </p:sp>
        </mc:Fallback>
      </mc:AlternateContent>
    </p:spTree>
    <p:extLst>
      <p:ext uri="{BB962C8B-B14F-4D97-AF65-F5344CB8AC3E}">
        <p14:creationId xmlns:p14="http://schemas.microsoft.com/office/powerpoint/2010/main" val="23679579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20</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954107"/>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Local equation of conservation of suspended sediment averaged over turbulence</a:t>
            </a:r>
          </a:p>
        </p:txBody>
      </p:sp>
      <p:sp>
        <p:nvSpPr>
          <p:cNvPr id="2" name="TextBox 1">
            <a:extLst>
              <a:ext uri="{FF2B5EF4-FFF2-40B4-BE49-F238E27FC236}">
                <a16:creationId xmlns:a16="http://schemas.microsoft.com/office/drawing/2014/main" id="{DAF5A583-86AF-104B-8DD4-FCC014E36577}"/>
              </a:ext>
            </a:extLst>
          </p:cNvPr>
          <p:cNvSpPr txBox="1"/>
          <p:nvPr/>
        </p:nvSpPr>
        <p:spPr>
          <a:xfrm>
            <a:off x="383627" y="1169876"/>
            <a:ext cx="11579606"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local equation of conservation of suspended sediment averaged over turbulence takes the form </a:t>
            </a:r>
          </a:p>
          <a:p>
            <a:pPr algn="l">
              <a:lnSpc>
                <a:spcPct val="114000"/>
              </a:lnSpc>
            </a:pPr>
            <a:endParaRPr 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57C2771-B2EC-1540-8087-096B49A1CB4B}"/>
                  </a:ext>
                </a:extLst>
              </p:cNvPr>
              <p:cNvSpPr txBox="1"/>
              <p:nvPr/>
            </p:nvSpPr>
            <p:spPr>
              <a:xfrm>
                <a:off x="550844" y="1701193"/>
                <a:ext cx="2875787" cy="547650"/>
              </a:xfrm>
              <a:prstGeom prst="rect">
                <a:avLst/>
              </a:prstGeom>
              <a:noFill/>
            </p:spPr>
            <p:txBody>
              <a:bodyPr wrap="none" lIns="0" tIns="0" rIns="0" bIns="0" rtlCol="0">
                <a:spAutoFit/>
              </a:bodyPr>
              <a:lstStyle/>
              <a:p>
                <a:pPr>
                  <a:lnSpc>
                    <a:spcPct val="114000"/>
                  </a:lnSpc>
                </a:pP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𝑡</m:t>
                            </m:r>
                          </m:den>
                        </m:f>
                        <m:r>
                          <a:rPr lang="en-US" i="1">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𝑢𝑐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𝑥</m:t>
                            </m:r>
                          </m:den>
                        </m:f>
                        <m:r>
                          <a:rPr lang="en-US" i="1">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𝑣𝑐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𝑦</m:t>
                            </m:r>
                          </m:den>
                        </m:f>
                        <m:r>
                          <a:rPr lang="en-US" i="1">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d>
                              <m:dPr>
                                <m:ctrlPr>
                                  <a:rPr lang="en-US" i="1">
                                    <a:latin typeface="Cambria Math" panose="02040503050406030204" pitchFamily="18" charset="0"/>
                                    <a:ea typeface="Cambria Math" panose="02040503050406030204" pitchFamily="18" charset="0"/>
                                    <a:cs typeface="Arial" panose="020B0604020202020204" pitchFamily="34" charset="0"/>
                                  </a:rPr>
                                </m:ctrlPr>
                              </m:dPr>
                              <m:e>
                                <m:r>
                                  <a:rPr lang="en-US" i="1">
                                    <a:latin typeface="Cambria Math" panose="02040503050406030204" pitchFamily="18" charset="0"/>
                                    <a:ea typeface="Cambria Math" panose="02040503050406030204" pitchFamily="18" charset="0"/>
                                    <a:cs typeface="Arial" panose="020B0604020202020204" pitchFamily="34" charset="0"/>
                                  </a:rPr>
                                  <m:t>𝑤</m:t>
                                </m:r>
                                <m:r>
                                  <a:rPr lang="en-US" i="1">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𝑣</m:t>
                                    </m:r>
                                  </m:e>
                                  <m:sub>
                                    <m:r>
                                      <a:rPr lang="en-US" i="1">
                                        <a:latin typeface="Cambria Math" panose="02040503050406030204" pitchFamily="18" charset="0"/>
                                        <a:ea typeface="Cambria Math" panose="02040503050406030204" pitchFamily="18" charset="0"/>
                                        <a:cs typeface="Arial" panose="020B0604020202020204" pitchFamily="34" charset="0"/>
                                      </a:rPr>
                                      <m:t>𝑠</m:t>
                                    </m:r>
                                  </m:sub>
                                </m:sSub>
                              </m:e>
                            </m:d>
                            <m:r>
                              <a:rPr lang="en-US" i="1">
                                <a:latin typeface="Cambria Math" panose="02040503050406030204" pitchFamily="18" charset="0"/>
                                <a:ea typeface="Cambria Math" panose="02040503050406030204" pitchFamily="18" charset="0"/>
                                <a:cs typeface="Arial" panose="020B0604020202020204" pitchFamily="34" charset="0"/>
                              </a:rPr>
                              <m:t>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𝑧</m:t>
                            </m:r>
                          </m:den>
                        </m:f>
                      </m:e>
                    </m:acc>
                    <m:r>
                      <a:rPr lang="en-US" b="0" i="1" smtClean="0">
                        <a:latin typeface="Cambria Math" panose="02040503050406030204" pitchFamily="18" charset="0"/>
                        <a:cs typeface="Arial" panose="020B0604020202020204" pitchFamily="34" charset="0"/>
                      </a:rPr>
                      <m:t>=0</m:t>
                    </m:r>
                  </m:oMath>
                </a14:m>
                <a:r>
                  <a:rPr lang="en-US" dirty="0">
                    <a:latin typeface="Arial" panose="020B0604020202020204" pitchFamily="34" charset="0"/>
                    <a:cs typeface="Arial" panose="020B0604020202020204" pitchFamily="34" charset="0"/>
                  </a:rPr>
                  <a:t> </a:t>
                </a:r>
              </a:p>
            </p:txBody>
          </p:sp>
        </mc:Choice>
        <mc:Fallback xmlns="">
          <p:sp>
            <p:nvSpPr>
              <p:cNvPr id="11" name="TextBox 10">
                <a:extLst>
                  <a:ext uri="{FF2B5EF4-FFF2-40B4-BE49-F238E27FC236}">
                    <a16:creationId xmlns:a16="http://schemas.microsoft.com/office/drawing/2014/main" id="{957C2771-B2EC-1540-8087-096B49A1CB4B}"/>
                  </a:ext>
                </a:extLst>
              </p:cNvPr>
              <p:cNvSpPr txBox="1">
                <a:spLocks noRot="1" noChangeAspect="1" noMove="1" noResize="1" noEditPoints="1" noAdjustHandles="1" noChangeArrowheads="1" noChangeShapeType="1" noTextEdit="1"/>
              </p:cNvSpPr>
              <p:nvPr/>
            </p:nvSpPr>
            <p:spPr>
              <a:xfrm>
                <a:off x="550844" y="1701193"/>
                <a:ext cx="2875787" cy="547650"/>
              </a:xfrm>
              <a:prstGeom prst="rect">
                <a:avLst/>
              </a:prstGeom>
              <a:blipFill>
                <a:blip r:embed="rId2"/>
                <a:stretch>
                  <a:fillRect l="-2643" b="-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90C010B-0CB7-5D41-9FA1-1799DACAD832}"/>
                  </a:ext>
                </a:extLst>
              </p:cNvPr>
              <p:cNvSpPr txBox="1"/>
              <p:nvPr/>
            </p:nvSpPr>
            <p:spPr>
              <a:xfrm>
                <a:off x="550844" y="2425695"/>
                <a:ext cx="2850139" cy="547650"/>
              </a:xfrm>
              <a:prstGeom prst="rect">
                <a:avLst/>
              </a:prstGeom>
              <a:noFill/>
            </p:spPr>
            <p:txBody>
              <a:bodyPr wrap="none" lIns="0" tIns="0" rIns="0" bIns="0" rtlCol="0">
                <a:spAutoFit/>
              </a:bodyPr>
              <a:lstStyle/>
              <a:p>
                <a:pPr>
                  <a:lnSpc>
                    <a:spcPct val="114000"/>
                  </a:lnSpc>
                </a:pP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𝑡</m:t>
                            </m:r>
                          </m:den>
                        </m:f>
                      </m:e>
                    </m:acc>
                    <m:r>
                      <a:rPr lang="en-US" b="0" i="1" smtClean="0">
                        <a:latin typeface="Cambria Math" panose="02040503050406030204" pitchFamily="18" charset="0"/>
                        <a:cs typeface="Arial" panose="020B0604020202020204" pitchFamily="34" charset="0"/>
                      </a:rPr>
                      <m:t>+</m:t>
                    </m:r>
                    <m:acc>
                      <m:accPr>
                        <m:chr m:val="̅"/>
                        <m:ctrlPr>
                          <a:rPr lang="en-US" i="1" smtClean="0">
                            <a:latin typeface="Cambria Math" panose="02040503050406030204" pitchFamily="18" charset="0"/>
                            <a:cs typeface="Arial" panose="020B0604020202020204" pitchFamily="34" charset="0"/>
                          </a:rPr>
                        </m:ctrlPr>
                      </m:accPr>
                      <m:e>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𝑢𝑐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𝑥</m:t>
                            </m:r>
                          </m:den>
                        </m:f>
                      </m:e>
                    </m:acc>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𝑣𝑐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𝑦</m:t>
                            </m:r>
                          </m:den>
                        </m:f>
                      </m:e>
                    </m:acc>
                    <m:r>
                      <a:rPr lang="en-US" b="0" i="1" smtClean="0">
                        <a:latin typeface="Cambria Math" panose="02040503050406030204" pitchFamily="18" charset="0"/>
                        <a:cs typeface="Arial" panose="020B0604020202020204" pitchFamily="34" charset="0"/>
                      </a:rPr>
                      <m:t>+</m:t>
                    </m:r>
                    <m:acc>
                      <m:accPr>
                        <m:chr m:val="̅"/>
                        <m:ctrlPr>
                          <a:rPr lang="en-US" i="1" smtClean="0">
                            <a:latin typeface="Cambria Math" panose="02040503050406030204" pitchFamily="18" charset="0"/>
                            <a:cs typeface="Arial" panose="020B0604020202020204" pitchFamily="34" charset="0"/>
                          </a:rPr>
                        </m:ctrlPr>
                      </m:accPr>
                      <m:e>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d>
                              <m:dPr>
                                <m:ctrlPr>
                                  <a:rPr lang="en-US" i="1">
                                    <a:latin typeface="Cambria Math" panose="02040503050406030204" pitchFamily="18" charset="0"/>
                                    <a:ea typeface="Cambria Math" panose="02040503050406030204" pitchFamily="18" charset="0"/>
                                    <a:cs typeface="Arial" panose="020B0604020202020204" pitchFamily="34" charset="0"/>
                                  </a:rPr>
                                </m:ctrlPr>
                              </m:dPr>
                              <m:e>
                                <m:r>
                                  <a:rPr lang="en-US" i="1">
                                    <a:latin typeface="Cambria Math" panose="02040503050406030204" pitchFamily="18" charset="0"/>
                                    <a:ea typeface="Cambria Math" panose="02040503050406030204" pitchFamily="18" charset="0"/>
                                    <a:cs typeface="Arial" panose="020B0604020202020204" pitchFamily="34" charset="0"/>
                                  </a:rPr>
                                  <m:t>𝑤</m:t>
                                </m:r>
                                <m:r>
                                  <a:rPr lang="en-US" i="1">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𝑣</m:t>
                                    </m:r>
                                  </m:e>
                                  <m:sub>
                                    <m:r>
                                      <a:rPr lang="en-US" i="1">
                                        <a:latin typeface="Cambria Math" panose="02040503050406030204" pitchFamily="18" charset="0"/>
                                        <a:ea typeface="Cambria Math" panose="02040503050406030204" pitchFamily="18" charset="0"/>
                                        <a:cs typeface="Arial" panose="020B0604020202020204" pitchFamily="34" charset="0"/>
                                      </a:rPr>
                                      <m:t>𝑠</m:t>
                                    </m:r>
                                  </m:sub>
                                </m:sSub>
                              </m:e>
                            </m:d>
                            <m:r>
                              <a:rPr lang="en-US" i="1">
                                <a:latin typeface="Cambria Math" panose="02040503050406030204" pitchFamily="18" charset="0"/>
                                <a:ea typeface="Cambria Math" panose="02040503050406030204" pitchFamily="18" charset="0"/>
                                <a:cs typeface="Arial" panose="020B0604020202020204" pitchFamily="34" charset="0"/>
                              </a:rPr>
                              <m:t>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𝑧</m:t>
                            </m:r>
                          </m:den>
                        </m:f>
                      </m:e>
                    </m:acc>
                    <m:r>
                      <a:rPr lang="en-US" b="0" i="1" smtClean="0">
                        <a:latin typeface="Cambria Math" panose="02040503050406030204" pitchFamily="18" charset="0"/>
                        <a:cs typeface="Arial" panose="020B0604020202020204" pitchFamily="34" charset="0"/>
                      </a:rPr>
                      <m:t>=0</m:t>
                    </m:r>
                  </m:oMath>
                </a14:m>
                <a:r>
                  <a:rPr lang="en-US" dirty="0">
                    <a:latin typeface="Arial" panose="020B0604020202020204" pitchFamily="34" charset="0"/>
                    <a:cs typeface="Arial" panose="020B0604020202020204" pitchFamily="34" charset="0"/>
                  </a:rPr>
                  <a:t> </a:t>
                </a:r>
              </a:p>
            </p:txBody>
          </p:sp>
        </mc:Choice>
        <mc:Fallback xmlns="">
          <p:sp>
            <p:nvSpPr>
              <p:cNvPr id="7" name="TextBox 6">
                <a:extLst>
                  <a:ext uri="{FF2B5EF4-FFF2-40B4-BE49-F238E27FC236}">
                    <a16:creationId xmlns:a16="http://schemas.microsoft.com/office/drawing/2014/main" id="{290C010B-0CB7-5D41-9FA1-1799DACAD832}"/>
                  </a:ext>
                </a:extLst>
              </p:cNvPr>
              <p:cNvSpPr txBox="1">
                <a:spLocks noRot="1" noChangeAspect="1" noMove="1" noResize="1" noEditPoints="1" noAdjustHandles="1" noChangeArrowheads="1" noChangeShapeType="1" noTextEdit="1"/>
              </p:cNvSpPr>
              <p:nvPr/>
            </p:nvSpPr>
            <p:spPr>
              <a:xfrm>
                <a:off x="550844" y="2425695"/>
                <a:ext cx="2850139" cy="547650"/>
              </a:xfrm>
              <a:prstGeom prst="rect">
                <a:avLst/>
              </a:prstGeom>
              <a:blipFill>
                <a:blip r:embed="rId3"/>
                <a:stretch>
                  <a:fillRect l="-2667" b="-90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7FA3F6E-235F-C14B-9B52-9FF54F1304EA}"/>
                  </a:ext>
                </a:extLst>
              </p:cNvPr>
              <p:cNvSpPr txBox="1"/>
              <p:nvPr/>
            </p:nvSpPr>
            <p:spPr>
              <a:xfrm>
                <a:off x="532024" y="3185665"/>
                <a:ext cx="5789214" cy="545727"/>
              </a:xfrm>
              <a:prstGeom prst="rect">
                <a:avLst/>
              </a:prstGeom>
              <a:noFill/>
            </p:spPr>
            <p:txBody>
              <a:bodyPr wrap="none" lIns="0" tIns="0" rIns="0" bIns="0" rtlCol="0">
                <a:spAutoFit/>
              </a:bodyPr>
              <a:lstStyle/>
              <a:p>
                <a:pPr>
                  <a:lnSpc>
                    <a:spcPct val="114000"/>
                  </a:lnSpc>
                </a:pPr>
                <a14:m>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smtClean="0">
                                <a:latin typeface="Cambria Math" panose="02040503050406030204" pitchFamily="18" charset="0"/>
                                <a:ea typeface="Cambria Math" panose="02040503050406030204" pitchFamily="18" charset="0"/>
                                <a:cs typeface="Arial" panose="020B0604020202020204" pitchFamily="34" charset="0"/>
                              </a:rPr>
                            </m:ctrlPr>
                          </m:accPr>
                          <m:e>
                            <m:d>
                              <m:dPr>
                                <m:ctrlPr>
                                  <a:rPr lang="en-US" i="1" smtClean="0">
                                    <a:latin typeface="Cambria Math" panose="02040503050406030204" pitchFamily="18" charset="0"/>
                                    <a:ea typeface="Cambria Math" panose="02040503050406030204" pitchFamily="18" charset="0"/>
                                    <a:cs typeface="Arial" panose="020B0604020202020204" pitchFamily="34" charset="0"/>
                                  </a:rPr>
                                </m:ctrlPr>
                              </m:dPr>
                              <m:e>
                                <m:acc>
                                  <m:accPr>
                                    <m:chr m:val="̅"/>
                                    <m:ctrlPr>
                                      <a:rPr lang="en-US"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acc>
                                <m:r>
                                  <a:rPr lang="en-US" b="0" i="1" smtClean="0">
                                    <a:latin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𝑐</m:t>
                                    </m:r>
                                  </m:e>
                                  <m:sup>
                                    <m:r>
                                      <a:rPr lang="en-US" b="0" i="1" smtClean="0">
                                        <a:latin typeface="Cambria Math" panose="02040503050406030204" pitchFamily="18" charset="0"/>
                                        <a:cs typeface="Arial" panose="020B0604020202020204" pitchFamily="34" charset="0"/>
                                      </a:rPr>
                                      <m:t>′</m:t>
                                    </m:r>
                                  </m:sup>
                                </m:sSup>
                              </m:e>
                            </m:d>
                          </m:e>
                        </m:acc>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acc>
                                <m:r>
                                  <a:rPr lang="en-US" i="1">
                                    <a:latin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𝑢</m:t>
                                    </m:r>
                                  </m:e>
                                  <m:sup>
                                    <m:r>
                                      <a:rPr lang="en-US" b="0" i="1" smtClean="0">
                                        <a:latin typeface="Cambria Math" panose="02040503050406030204" pitchFamily="18" charset="0"/>
                                        <a:cs typeface="Arial" panose="020B0604020202020204" pitchFamily="34" charset="0"/>
                                      </a:rPr>
                                      <m:t>′</m:t>
                                    </m:r>
                                  </m:sup>
                                </m:sSup>
                              </m:e>
                            </m:d>
                            <m:d>
                              <m:dPr>
                                <m:ctrlPr>
                                  <a:rPr lang="en-US" i="1">
                                    <a:latin typeface="Cambria Math" panose="02040503050406030204" pitchFamily="18" charset="0"/>
                                    <a:ea typeface="Cambria Math" panose="02040503050406030204" pitchFamily="18" charset="0"/>
                                    <a:cs typeface="Arial" panose="020B0604020202020204" pitchFamily="34" charset="0"/>
                                  </a:rPr>
                                </m:ctrlPr>
                              </m:dPr>
                              <m:e>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𝑐</m:t>
                                    </m:r>
                                  </m:e>
                                </m:acc>
                                <m:r>
                                  <a:rPr lang="en-US" i="1">
                                    <a:latin typeface="Cambria Math" panose="02040503050406030204" pitchFamily="18" charset="0"/>
                                    <a:cs typeface="Arial" panose="020B0604020202020204" pitchFamily="34" charset="0"/>
                                  </a:rPr>
                                  <m:t>+</m:t>
                                </m:r>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𝑐</m:t>
                                    </m:r>
                                  </m:e>
                                  <m:sup>
                                    <m:r>
                                      <a:rPr lang="en-US" i="1">
                                        <a:latin typeface="Cambria Math" panose="02040503050406030204" pitchFamily="18" charset="0"/>
                                        <a:cs typeface="Arial" panose="020B0604020202020204" pitchFamily="34" charset="0"/>
                                      </a:rPr>
                                      <m:t>′</m:t>
                                    </m:r>
                                  </m:sup>
                                </m:sSup>
                              </m:e>
                            </m:d>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0"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𝑣</m:t>
                                    </m:r>
                                  </m:e>
                                </m:acc>
                                <m:r>
                                  <a:rPr lang="en-US" i="1">
                                    <a:latin typeface="Cambria Math" panose="02040503050406030204" pitchFamily="18" charset="0"/>
                                    <a:cs typeface="Arial" panose="020B0604020202020204" pitchFamily="34" charset="0"/>
                                  </a:rPr>
                                  <m:t>+</m:t>
                                </m:r>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𝑣</m:t>
                                    </m:r>
                                  </m:e>
                                  <m:sup>
                                    <m:r>
                                      <a:rPr lang="en-US" i="1">
                                        <a:latin typeface="Cambria Math" panose="02040503050406030204" pitchFamily="18" charset="0"/>
                                        <a:cs typeface="Arial" panose="020B0604020202020204" pitchFamily="34" charset="0"/>
                                      </a:rPr>
                                      <m:t>′</m:t>
                                    </m:r>
                                  </m:sup>
                                </m:sSup>
                              </m:e>
                            </m:d>
                            <m:d>
                              <m:dPr>
                                <m:ctrlPr>
                                  <a:rPr lang="en-US" i="1">
                                    <a:latin typeface="Cambria Math" panose="02040503050406030204" pitchFamily="18" charset="0"/>
                                    <a:ea typeface="Cambria Math" panose="02040503050406030204" pitchFamily="18" charset="0"/>
                                    <a:cs typeface="Arial" panose="020B0604020202020204" pitchFamily="34" charset="0"/>
                                  </a:rPr>
                                </m:ctrlPr>
                              </m:dPr>
                              <m:e>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𝑐</m:t>
                                    </m:r>
                                  </m:e>
                                </m:acc>
                                <m:r>
                                  <a:rPr lang="en-US" i="1">
                                    <a:latin typeface="Cambria Math" panose="02040503050406030204" pitchFamily="18" charset="0"/>
                                    <a:cs typeface="Arial" panose="020B0604020202020204" pitchFamily="34" charset="0"/>
                                  </a:rPr>
                                  <m:t>+</m:t>
                                </m:r>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𝑐</m:t>
                                    </m:r>
                                  </m:e>
                                  <m:sup>
                                    <m:r>
                                      <a:rPr lang="en-US" i="1">
                                        <a:latin typeface="Cambria Math" panose="02040503050406030204" pitchFamily="18" charset="0"/>
                                        <a:cs typeface="Arial" panose="020B0604020202020204" pitchFamily="34" charset="0"/>
                                      </a:rPr>
                                      <m:t>′</m:t>
                                    </m:r>
                                  </m:sup>
                                </m:sSup>
                              </m:e>
                            </m:d>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𝑤</m:t>
                                    </m:r>
                                  </m:e>
                                </m:acc>
                                <m:r>
                                  <a:rPr lang="en-US" i="1">
                                    <a:latin typeface="Cambria Math" panose="02040503050406030204" pitchFamily="18" charset="0"/>
                                    <a:cs typeface="Arial" panose="020B0604020202020204" pitchFamily="34" charset="0"/>
                                  </a:rPr>
                                  <m:t>+</m:t>
                                </m:r>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𝑤</m:t>
                                    </m:r>
                                  </m:e>
                                  <m:sup>
                                    <m:r>
                                      <a:rPr lang="en-US" i="1">
                                        <a:latin typeface="Cambria Math" panose="02040503050406030204" pitchFamily="18" charset="0"/>
                                        <a:cs typeface="Arial" panose="020B0604020202020204" pitchFamily="34" charset="0"/>
                                      </a:rPr>
                                      <m:t>′</m:t>
                                    </m:r>
                                  </m:sup>
                                </m:sSup>
                                <m:r>
                                  <a:rPr lang="en-US" b="0" i="1" smtClean="0">
                                    <a:latin typeface="Cambria Math" panose="02040503050406030204" pitchFamily="18" charset="0"/>
                                    <a:cs typeface="Arial" panose="020B0604020202020204" pitchFamily="34" charset="0"/>
                                  </a:rPr>
                                  <m:t>−</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e>
                            </m:d>
                            <m:d>
                              <m:dPr>
                                <m:ctrlPr>
                                  <a:rPr lang="en-US" i="1">
                                    <a:latin typeface="Cambria Math" panose="02040503050406030204" pitchFamily="18" charset="0"/>
                                    <a:ea typeface="Cambria Math" panose="02040503050406030204" pitchFamily="18" charset="0"/>
                                    <a:cs typeface="Arial" panose="020B0604020202020204" pitchFamily="34" charset="0"/>
                                  </a:rPr>
                                </m:ctrlPr>
                              </m:dPr>
                              <m:e>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𝑐</m:t>
                                    </m:r>
                                  </m:e>
                                </m:acc>
                                <m:r>
                                  <a:rPr lang="en-US" i="1">
                                    <a:latin typeface="Cambria Math" panose="02040503050406030204" pitchFamily="18" charset="0"/>
                                    <a:cs typeface="Arial" panose="020B0604020202020204" pitchFamily="34" charset="0"/>
                                  </a:rPr>
                                  <m:t>+</m:t>
                                </m:r>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𝑐</m:t>
                                    </m:r>
                                  </m:e>
                                  <m:sup>
                                    <m:r>
                                      <a:rPr lang="en-US" i="1">
                                        <a:latin typeface="Cambria Math" panose="02040503050406030204" pitchFamily="18" charset="0"/>
                                        <a:cs typeface="Arial" panose="020B0604020202020204" pitchFamily="34" charset="0"/>
                                      </a:rPr>
                                      <m:t>′</m:t>
                                    </m:r>
                                  </m:sup>
                                </m:sSup>
                              </m:e>
                            </m:d>
                          </m:e>
                        </m:acc>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=0</m:t>
                    </m:r>
                  </m:oMath>
                </a14:m>
                <a:r>
                  <a:rPr lang="en-US" dirty="0">
                    <a:latin typeface="Arial" panose="020B0604020202020204" pitchFamily="34" charset="0"/>
                    <a:cs typeface="Arial" panose="020B0604020202020204" pitchFamily="34" charset="0"/>
                  </a:rPr>
                  <a:t> </a:t>
                </a:r>
              </a:p>
            </p:txBody>
          </p:sp>
        </mc:Choice>
        <mc:Fallback xmlns="">
          <p:sp>
            <p:nvSpPr>
              <p:cNvPr id="8" name="TextBox 7">
                <a:extLst>
                  <a:ext uri="{FF2B5EF4-FFF2-40B4-BE49-F238E27FC236}">
                    <a16:creationId xmlns:a16="http://schemas.microsoft.com/office/drawing/2014/main" id="{F7FA3F6E-235F-C14B-9B52-9FF54F1304EA}"/>
                  </a:ext>
                </a:extLst>
              </p:cNvPr>
              <p:cNvSpPr txBox="1">
                <a:spLocks noRot="1" noChangeAspect="1" noMove="1" noResize="1" noEditPoints="1" noAdjustHandles="1" noChangeArrowheads="1" noChangeShapeType="1" noTextEdit="1"/>
              </p:cNvSpPr>
              <p:nvPr/>
            </p:nvSpPr>
            <p:spPr>
              <a:xfrm>
                <a:off x="532024" y="3185665"/>
                <a:ext cx="5789214" cy="545727"/>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6901526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21</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954107"/>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Local equation of conservation of suspended sediment averaged over turbulence</a:t>
            </a:r>
          </a:p>
        </p:txBody>
      </p:sp>
      <p:sp>
        <p:nvSpPr>
          <p:cNvPr id="2" name="TextBox 1">
            <a:extLst>
              <a:ext uri="{FF2B5EF4-FFF2-40B4-BE49-F238E27FC236}">
                <a16:creationId xmlns:a16="http://schemas.microsoft.com/office/drawing/2014/main" id="{DAF5A583-86AF-104B-8DD4-FCC014E36577}"/>
              </a:ext>
            </a:extLst>
          </p:cNvPr>
          <p:cNvSpPr txBox="1"/>
          <p:nvPr/>
        </p:nvSpPr>
        <p:spPr>
          <a:xfrm>
            <a:off x="383627" y="1169876"/>
            <a:ext cx="11579606"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local equation of conservation of suspended sediment averaged over turbulence takes the form </a:t>
            </a:r>
          </a:p>
          <a:p>
            <a:pPr algn="l">
              <a:lnSpc>
                <a:spcPct val="114000"/>
              </a:lnSpc>
            </a:pPr>
            <a:endParaRPr 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57C2771-B2EC-1540-8087-096B49A1CB4B}"/>
                  </a:ext>
                </a:extLst>
              </p:cNvPr>
              <p:cNvSpPr txBox="1"/>
              <p:nvPr/>
            </p:nvSpPr>
            <p:spPr>
              <a:xfrm>
                <a:off x="550844" y="1701193"/>
                <a:ext cx="2875787" cy="547650"/>
              </a:xfrm>
              <a:prstGeom prst="rect">
                <a:avLst/>
              </a:prstGeom>
              <a:noFill/>
            </p:spPr>
            <p:txBody>
              <a:bodyPr wrap="none" lIns="0" tIns="0" rIns="0" bIns="0" rtlCol="0">
                <a:spAutoFit/>
              </a:bodyPr>
              <a:lstStyle/>
              <a:p>
                <a:pPr>
                  <a:lnSpc>
                    <a:spcPct val="114000"/>
                  </a:lnSpc>
                </a:pP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𝑡</m:t>
                            </m:r>
                          </m:den>
                        </m:f>
                        <m:r>
                          <a:rPr lang="en-US" i="1">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𝑢𝑐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𝑥</m:t>
                            </m:r>
                          </m:den>
                        </m:f>
                        <m:r>
                          <a:rPr lang="en-US" i="1">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𝑣𝑐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𝑦</m:t>
                            </m:r>
                          </m:den>
                        </m:f>
                        <m:r>
                          <a:rPr lang="en-US" i="1">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d>
                              <m:dPr>
                                <m:ctrlPr>
                                  <a:rPr lang="en-US" i="1">
                                    <a:latin typeface="Cambria Math" panose="02040503050406030204" pitchFamily="18" charset="0"/>
                                    <a:ea typeface="Cambria Math" panose="02040503050406030204" pitchFamily="18" charset="0"/>
                                    <a:cs typeface="Arial" panose="020B0604020202020204" pitchFamily="34" charset="0"/>
                                  </a:rPr>
                                </m:ctrlPr>
                              </m:dPr>
                              <m:e>
                                <m:r>
                                  <a:rPr lang="en-US" i="1">
                                    <a:latin typeface="Cambria Math" panose="02040503050406030204" pitchFamily="18" charset="0"/>
                                    <a:ea typeface="Cambria Math" panose="02040503050406030204" pitchFamily="18" charset="0"/>
                                    <a:cs typeface="Arial" panose="020B0604020202020204" pitchFamily="34" charset="0"/>
                                  </a:rPr>
                                  <m:t>𝑤</m:t>
                                </m:r>
                                <m:r>
                                  <a:rPr lang="en-US" i="1">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𝑣</m:t>
                                    </m:r>
                                  </m:e>
                                  <m:sub>
                                    <m:r>
                                      <a:rPr lang="en-US" i="1">
                                        <a:latin typeface="Cambria Math" panose="02040503050406030204" pitchFamily="18" charset="0"/>
                                        <a:ea typeface="Cambria Math" panose="02040503050406030204" pitchFamily="18" charset="0"/>
                                        <a:cs typeface="Arial" panose="020B0604020202020204" pitchFamily="34" charset="0"/>
                                      </a:rPr>
                                      <m:t>𝑠</m:t>
                                    </m:r>
                                  </m:sub>
                                </m:sSub>
                              </m:e>
                            </m:d>
                            <m:r>
                              <a:rPr lang="en-US" i="1">
                                <a:latin typeface="Cambria Math" panose="02040503050406030204" pitchFamily="18" charset="0"/>
                                <a:ea typeface="Cambria Math" panose="02040503050406030204" pitchFamily="18" charset="0"/>
                                <a:cs typeface="Arial" panose="020B0604020202020204" pitchFamily="34" charset="0"/>
                              </a:rPr>
                              <m:t>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𝑧</m:t>
                            </m:r>
                          </m:den>
                        </m:f>
                      </m:e>
                    </m:acc>
                    <m:r>
                      <a:rPr lang="en-US" b="0" i="1" smtClean="0">
                        <a:latin typeface="Cambria Math" panose="02040503050406030204" pitchFamily="18" charset="0"/>
                        <a:cs typeface="Arial" panose="020B0604020202020204" pitchFamily="34" charset="0"/>
                      </a:rPr>
                      <m:t>=0</m:t>
                    </m:r>
                  </m:oMath>
                </a14:m>
                <a:r>
                  <a:rPr lang="en-US" dirty="0">
                    <a:latin typeface="Arial" panose="020B0604020202020204" pitchFamily="34" charset="0"/>
                    <a:cs typeface="Arial" panose="020B0604020202020204" pitchFamily="34" charset="0"/>
                  </a:rPr>
                  <a:t> </a:t>
                </a:r>
              </a:p>
            </p:txBody>
          </p:sp>
        </mc:Choice>
        <mc:Fallback xmlns="">
          <p:sp>
            <p:nvSpPr>
              <p:cNvPr id="11" name="TextBox 10">
                <a:extLst>
                  <a:ext uri="{FF2B5EF4-FFF2-40B4-BE49-F238E27FC236}">
                    <a16:creationId xmlns:a16="http://schemas.microsoft.com/office/drawing/2014/main" id="{957C2771-B2EC-1540-8087-096B49A1CB4B}"/>
                  </a:ext>
                </a:extLst>
              </p:cNvPr>
              <p:cNvSpPr txBox="1">
                <a:spLocks noRot="1" noChangeAspect="1" noMove="1" noResize="1" noEditPoints="1" noAdjustHandles="1" noChangeArrowheads="1" noChangeShapeType="1" noTextEdit="1"/>
              </p:cNvSpPr>
              <p:nvPr/>
            </p:nvSpPr>
            <p:spPr>
              <a:xfrm>
                <a:off x="550844" y="1701193"/>
                <a:ext cx="2875787" cy="547650"/>
              </a:xfrm>
              <a:prstGeom prst="rect">
                <a:avLst/>
              </a:prstGeom>
              <a:blipFill>
                <a:blip r:embed="rId2"/>
                <a:stretch>
                  <a:fillRect l="-2643" b="-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90C010B-0CB7-5D41-9FA1-1799DACAD832}"/>
                  </a:ext>
                </a:extLst>
              </p:cNvPr>
              <p:cNvSpPr txBox="1"/>
              <p:nvPr/>
            </p:nvSpPr>
            <p:spPr>
              <a:xfrm>
                <a:off x="550844" y="2425695"/>
                <a:ext cx="2850139" cy="547650"/>
              </a:xfrm>
              <a:prstGeom prst="rect">
                <a:avLst/>
              </a:prstGeom>
              <a:noFill/>
            </p:spPr>
            <p:txBody>
              <a:bodyPr wrap="none" lIns="0" tIns="0" rIns="0" bIns="0" rtlCol="0">
                <a:spAutoFit/>
              </a:bodyPr>
              <a:lstStyle/>
              <a:p>
                <a:pPr>
                  <a:lnSpc>
                    <a:spcPct val="114000"/>
                  </a:lnSpc>
                </a:pP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𝑡</m:t>
                            </m:r>
                          </m:den>
                        </m:f>
                      </m:e>
                    </m:acc>
                    <m:r>
                      <a:rPr lang="en-US" b="0" i="1" smtClean="0">
                        <a:latin typeface="Cambria Math" panose="02040503050406030204" pitchFamily="18" charset="0"/>
                        <a:cs typeface="Arial" panose="020B0604020202020204" pitchFamily="34" charset="0"/>
                      </a:rPr>
                      <m:t>+</m:t>
                    </m:r>
                    <m:acc>
                      <m:accPr>
                        <m:chr m:val="̅"/>
                        <m:ctrlPr>
                          <a:rPr lang="en-US" i="1" smtClean="0">
                            <a:latin typeface="Cambria Math" panose="02040503050406030204" pitchFamily="18" charset="0"/>
                            <a:cs typeface="Arial" panose="020B0604020202020204" pitchFamily="34" charset="0"/>
                          </a:rPr>
                        </m:ctrlPr>
                      </m:accPr>
                      <m:e>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𝑢𝑐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𝑥</m:t>
                            </m:r>
                          </m:den>
                        </m:f>
                      </m:e>
                    </m:acc>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𝑣𝑐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𝑦</m:t>
                            </m:r>
                          </m:den>
                        </m:f>
                      </m:e>
                    </m:acc>
                    <m:r>
                      <a:rPr lang="en-US" b="0" i="1" smtClean="0">
                        <a:latin typeface="Cambria Math" panose="02040503050406030204" pitchFamily="18" charset="0"/>
                        <a:cs typeface="Arial" panose="020B0604020202020204" pitchFamily="34" charset="0"/>
                      </a:rPr>
                      <m:t>+</m:t>
                    </m:r>
                    <m:acc>
                      <m:accPr>
                        <m:chr m:val="̅"/>
                        <m:ctrlPr>
                          <a:rPr lang="en-US" i="1" smtClean="0">
                            <a:latin typeface="Cambria Math" panose="02040503050406030204" pitchFamily="18" charset="0"/>
                            <a:cs typeface="Arial" panose="020B0604020202020204" pitchFamily="34" charset="0"/>
                          </a:rPr>
                        </m:ctrlPr>
                      </m:accPr>
                      <m:e>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d>
                              <m:dPr>
                                <m:ctrlPr>
                                  <a:rPr lang="en-US" i="1">
                                    <a:latin typeface="Cambria Math" panose="02040503050406030204" pitchFamily="18" charset="0"/>
                                    <a:ea typeface="Cambria Math" panose="02040503050406030204" pitchFamily="18" charset="0"/>
                                    <a:cs typeface="Arial" panose="020B0604020202020204" pitchFamily="34" charset="0"/>
                                  </a:rPr>
                                </m:ctrlPr>
                              </m:dPr>
                              <m:e>
                                <m:r>
                                  <a:rPr lang="en-US" i="1">
                                    <a:latin typeface="Cambria Math" panose="02040503050406030204" pitchFamily="18" charset="0"/>
                                    <a:ea typeface="Cambria Math" panose="02040503050406030204" pitchFamily="18" charset="0"/>
                                    <a:cs typeface="Arial" panose="020B0604020202020204" pitchFamily="34" charset="0"/>
                                  </a:rPr>
                                  <m:t>𝑤</m:t>
                                </m:r>
                                <m:r>
                                  <a:rPr lang="en-US" i="1">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𝑣</m:t>
                                    </m:r>
                                  </m:e>
                                  <m:sub>
                                    <m:r>
                                      <a:rPr lang="en-US" i="1">
                                        <a:latin typeface="Cambria Math" panose="02040503050406030204" pitchFamily="18" charset="0"/>
                                        <a:ea typeface="Cambria Math" panose="02040503050406030204" pitchFamily="18" charset="0"/>
                                        <a:cs typeface="Arial" panose="020B0604020202020204" pitchFamily="34" charset="0"/>
                                      </a:rPr>
                                      <m:t>𝑠</m:t>
                                    </m:r>
                                  </m:sub>
                                </m:sSub>
                              </m:e>
                            </m:d>
                            <m:r>
                              <a:rPr lang="en-US" i="1">
                                <a:latin typeface="Cambria Math" panose="02040503050406030204" pitchFamily="18" charset="0"/>
                                <a:ea typeface="Cambria Math" panose="02040503050406030204" pitchFamily="18" charset="0"/>
                                <a:cs typeface="Arial" panose="020B0604020202020204" pitchFamily="34" charset="0"/>
                              </a:rPr>
                              <m:t>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𝑧</m:t>
                            </m:r>
                          </m:den>
                        </m:f>
                      </m:e>
                    </m:acc>
                    <m:r>
                      <a:rPr lang="en-US" b="0" i="1" smtClean="0">
                        <a:latin typeface="Cambria Math" panose="02040503050406030204" pitchFamily="18" charset="0"/>
                        <a:cs typeface="Arial" panose="020B0604020202020204" pitchFamily="34" charset="0"/>
                      </a:rPr>
                      <m:t>=0</m:t>
                    </m:r>
                  </m:oMath>
                </a14:m>
                <a:r>
                  <a:rPr lang="en-US" dirty="0">
                    <a:latin typeface="Arial" panose="020B0604020202020204" pitchFamily="34" charset="0"/>
                    <a:cs typeface="Arial" panose="020B0604020202020204" pitchFamily="34" charset="0"/>
                  </a:rPr>
                  <a:t> </a:t>
                </a:r>
              </a:p>
            </p:txBody>
          </p:sp>
        </mc:Choice>
        <mc:Fallback xmlns="">
          <p:sp>
            <p:nvSpPr>
              <p:cNvPr id="7" name="TextBox 6">
                <a:extLst>
                  <a:ext uri="{FF2B5EF4-FFF2-40B4-BE49-F238E27FC236}">
                    <a16:creationId xmlns:a16="http://schemas.microsoft.com/office/drawing/2014/main" id="{290C010B-0CB7-5D41-9FA1-1799DACAD832}"/>
                  </a:ext>
                </a:extLst>
              </p:cNvPr>
              <p:cNvSpPr txBox="1">
                <a:spLocks noRot="1" noChangeAspect="1" noMove="1" noResize="1" noEditPoints="1" noAdjustHandles="1" noChangeArrowheads="1" noChangeShapeType="1" noTextEdit="1"/>
              </p:cNvSpPr>
              <p:nvPr/>
            </p:nvSpPr>
            <p:spPr>
              <a:xfrm>
                <a:off x="550844" y="2425695"/>
                <a:ext cx="2850139" cy="547650"/>
              </a:xfrm>
              <a:prstGeom prst="rect">
                <a:avLst/>
              </a:prstGeom>
              <a:blipFill>
                <a:blip r:embed="rId3"/>
                <a:stretch>
                  <a:fillRect l="-2667" b="-90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7FA3F6E-235F-C14B-9B52-9FF54F1304EA}"/>
                  </a:ext>
                </a:extLst>
              </p:cNvPr>
              <p:cNvSpPr txBox="1"/>
              <p:nvPr/>
            </p:nvSpPr>
            <p:spPr>
              <a:xfrm>
                <a:off x="532024" y="3185665"/>
                <a:ext cx="5789214" cy="545727"/>
              </a:xfrm>
              <a:prstGeom prst="rect">
                <a:avLst/>
              </a:prstGeom>
              <a:noFill/>
            </p:spPr>
            <p:txBody>
              <a:bodyPr wrap="none" lIns="0" tIns="0" rIns="0" bIns="0" rtlCol="0">
                <a:spAutoFit/>
              </a:bodyPr>
              <a:lstStyle/>
              <a:p>
                <a:pPr>
                  <a:lnSpc>
                    <a:spcPct val="114000"/>
                  </a:lnSpc>
                </a:pPr>
                <a14:m>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smtClean="0">
                                <a:latin typeface="Cambria Math" panose="02040503050406030204" pitchFamily="18" charset="0"/>
                                <a:ea typeface="Cambria Math" panose="02040503050406030204" pitchFamily="18" charset="0"/>
                                <a:cs typeface="Arial" panose="020B0604020202020204" pitchFamily="34" charset="0"/>
                              </a:rPr>
                            </m:ctrlPr>
                          </m:accPr>
                          <m:e>
                            <m:d>
                              <m:dPr>
                                <m:ctrlPr>
                                  <a:rPr lang="en-US" i="1" smtClean="0">
                                    <a:latin typeface="Cambria Math" panose="02040503050406030204" pitchFamily="18" charset="0"/>
                                    <a:ea typeface="Cambria Math" panose="02040503050406030204" pitchFamily="18" charset="0"/>
                                    <a:cs typeface="Arial" panose="020B0604020202020204" pitchFamily="34" charset="0"/>
                                  </a:rPr>
                                </m:ctrlPr>
                              </m:dPr>
                              <m:e>
                                <m:acc>
                                  <m:accPr>
                                    <m:chr m:val="̅"/>
                                    <m:ctrlPr>
                                      <a:rPr lang="en-US"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acc>
                                <m:r>
                                  <a:rPr lang="en-US" b="0" i="1" smtClean="0">
                                    <a:latin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𝑐</m:t>
                                    </m:r>
                                  </m:e>
                                  <m:sup>
                                    <m:r>
                                      <a:rPr lang="en-US" b="0" i="1" smtClean="0">
                                        <a:latin typeface="Cambria Math" panose="02040503050406030204" pitchFamily="18" charset="0"/>
                                        <a:cs typeface="Arial" panose="020B0604020202020204" pitchFamily="34" charset="0"/>
                                      </a:rPr>
                                      <m:t>′</m:t>
                                    </m:r>
                                  </m:sup>
                                </m:sSup>
                              </m:e>
                            </m:d>
                          </m:e>
                        </m:acc>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acc>
                                <m:r>
                                  <a:rPr lang="en-US" i="1">
                                    <a:latin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𝑢</m:t>
                                    </m:r>
                                  </m:e>
                                  <m:sup>
                                    <m:r>
                                      <a:rPr lang="en-US" b="0" i="1" smtClean="0">
                                        <a:latin typeface="Cambria Math" panose="02040503050406030204" pitchFamily="18" charset="0"/>
                                        <a:cs typeface="Arial" panose="020B0604020202020204" pitchFamily="34" charset="0"/>
                                      </a:rPr>
                                      <m:t>′</m:t>
                                    </m:r>
                                  </m:sup>
                                </m:sSup>
                              </m:e>
                            </m:d>
                            <m:d>
                              <m:dPr>
                                <m:ctrlPr>
                                  <a:rPr lang="en-US" i="1">
                                    <a:latin typeface="Cambria Math" panose="02040503050406030204" pitchFamily="18" charset="0"/>
                                    <a:ea typeface="Cambria Math" panose="02040503050406030204" pitchFamily="18" charset="0"/>
                                    <a:cs typeface="Arial" panose="020B0604020202020204" pitchFamily="34" charset="0"/>
                                  </a:rPr>
                                </m:ctrlPr>
                              </m:dPr>
                              <m:e>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𝑐</m:t>
                                    </m:r>
                                  </m:e>
                                </m:acc>
                                <m:r>
                                  <a:rPr lang="en-US" i="1">
                                    <a:latin typeface="Cambria Math" panose="02040503050406030204" pitchFamily="18" charset="0"/>
                                    <a:cs typeface="Arial" panose="020B0604020202020204" pitchFamily="34" charset="0"/>
                                  </a:rPr>
                                  <m:t>+</m:t>
                                </m:r>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𝑐</m:t>
                                    </m:r>
                                  </m:e>
                                  <m:sup>
                                    <m:r>
                                      <a:rPr lang="en-US" i="1">
                                        <a:latin typeface="Cambria Math" panose="02040503050406030204" pitchFamily="18" charset="0"/>
                                        <a:cs typeface="Arial" panose="020B0604020202020204" pitchFamily="34" charset="0"/>
                                      </a:rPr>
                                      <m:t>′</m:t>
                                    </m:r>
                                  </m:sup>
                                </m:sSup>
                              </m:e>
                            </m:d>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0"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𝑣</m:t>
                                    </m:r>
                                  </m:e>
                                </m:acc>
                                <m:r>
                                  <a:rPr lang="en-US" i="1">
                                    <a:latin typeface="Cambria Math" panose="02040503050406030204" pitchFamily="18" charset="0"/>
                                    <a:cs typeface="Arial" panose="020B0604020202020204" pitchFamily="34" charset="0"/>
                                  </a:rPr>
                                  <m:t>+</m:t>
                                </m:r>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𝑣</m:t>
                                    </m:r>
                                  </m:e>
                                  <m:sup>
                                    <m:r>
                                      <a:rPr lang="en-US" i="1">
                                        <a:latin typeface="Cambria Math" panose="02040503050406030204" pitchFamily="18" charset="0"/>
                                        <a:cs typeface="Arial" panose="020B0604020202020204" pitchFamily="34" charset="0"/>
                                      </a:rPr>
                                      <m:t>′</m:t>
                                    </m:r>
                                  </m:sup>
                                </m:sSup>
                              </m:e>
                            </m:d>
                            <m:d>
                              <m:dPr>
                                <m:ctrlPr>
                                  <a:rPr lang="en-US" i="1">
                                    <a:latin typeface="Cambria Math" panose="02040503050406030204" pitchFamily="18" charset="0"/>
                                    <a:ea typeface="Cambria Math" panose="02040503050406030204" pitchFamily="18" charset="0"/>
                                    <a:cs typeface="Arial" panose="020B0604020202020204" pitchFamily="34" charset="0"/>
                                  </a:rPr>
                                </m:ctrlPr>
                              </m:dPr>
                              <m:e>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𝑐</m:t>
                                    </m:r>
                                  </m:e>
                                </m:acc>
                                <m:r>
                                  <a:rPr lang="en-US" i="1">
                                    <a:latin typeface="Cambria Math" panose="02040503050406030204" pitchFamily="18" charset="0"/>
                                    <a:cs typeface="Arial" panose="020B0604020202020204" pitchFamily="34" charset="0"/>
                                  </a:rPr>
                                  <m:t>+</m:t>
                                </m:r>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𝑐</m:t>
                                    </m:r>
                                  </m:e>
                                  <m:sup>
                                    <m:r>
                                      <a:rPr lang="en-US" i="1">
                                        <a:latin typeface="Cambria Math" panose="02040503050406030204" pitchFamily="18" charset="0"/>
                                        <a:cs typeface="Arial" panose="020B0604020202020204" pitchFamily="34" charset="0"/>
                                      </a:rPr>
                                      <m:t>′</m:t>
                                    </m:r>
                                  </m:sup>
                                </m:sSup>
                              </m:e>
                            </m:d>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𝑤</m:t>
                                    </m:r>
                                  </m:e>
                                </m:acc>
                                <m:r>
                                  <a:rPr lang="en-US" i="1">
                                    <a:latin typeface="Cambria Math" panose="02040503050406030204" pitchFamily="18" charset="0"/>
                                    <a:cs typeface="Arial" panose="020B0604020202020204" pitchFamily="34" charset="0"/>
                                  </a:rPr>
                                  <m:t>+</m:t>
                                </m:r>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𝑤</m:t>
                                    </m:r>
                                  </m:e>
                                  <m:sup>
                                    <m:r>
                                      <a:rPr lang="en-US" i="1">
                                        <a:latin typeface="Cambria Math" panose="02040503050406030204" pitchFamily="18" charset="0"/>
                                        <a:cs typeface="Arial" panose="020B0604020202020204" pitchFamily="34" charset="0"/>
                                      </a:rPr>
                                      <m:t>′</m:t>
                                    </m:r>
                                  </m:sup>
                                </m:sSup>
                                <m:r>
                                  <a:rPr lang="en-US" i="1">
                                    <a:latin typeface="Cambria Math" panose="02040503050406030204" pitchFamily="18" charset="0"/>
                                    <a:cs typeface="Arial" panose="020B0604020202020204" pitchFamily="34" charset="0"/>
                                  </a:rPr>
                                  <m:t>+</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e>
                            </m:d>
                            <m:d>
                              <m:dPr>
                                <m:ctrlPr>
                                  <a:rPr lang="en-US" i="1">
                                    <a:latin typeface="Cambria Math" panose="02040503050406030204" pitchFamily="18" charset="0"/>
                                    <a:ea typeface="Cambria Math" panose="02040503050406030204" pitchFamily="18" charset="0"/>
                                    <a:cs typeface="Arial" panose="020B0604020202020204" pitchFamily="34" charset="0"/>
                                  </a:rPr>
                                </m:ctrlPr>
                              </m:dPr>
                              <m:e>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𝑐</m:t>
                                    </m:r>
                                  </m:e>
                                </m:acc>
                                <m:r>
                                  <a:rPr lang="en-US" i="1">
                                    <a:latin typeface="Cambria Math" panose="02040503050406030204" pitchFamily="18" charset="0"/>
                                    <a:cs typeface="Arial" panose="020B0604020202020204" pitchFamily="34" charset="0"/>
                                  </a:rPr>
                                  <m:t>+</m:t>
                                </m:r>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𝑐</m:t>
                                    </m:r>
                                  </m:e>
                                  <m:sup>
                                    <m:r>
                                      <a:rPr lang="en-US" i="1">
                                        <a:latin typeface="Cambria Math" panose="02040503050406030204" pitchFamily="18" charset="0"/>
                                        <a:cs typeface="Arial" panose="020B0604020202020204" pitchFamily="34" charset="0"/>
                                      </a:rPr>
                                      <m:t>′</m:t>
                                    </m:r>
                                  </m:sup>
                                </m:sSup>
                              </m:e>
                            </m:d>
                          </m:e>
                        </m:acc>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=0</m:t>
                    </m:r>
                  </m:oMath>
                </a14:m>
                <a:r>
                  <a:rPr lang="en-US" dirty="0">
                    <a:latin typeface="Arial" panose="020B0604020202020204" pitchFamily="34" charset="0"/>
                    <a:cs typeface="Arial" panose="020B0604020202020204" pitchFamily="34" charset="0"/>
                  </a:rPr>
                  <a:t> </a:t>
                </a:r>
              </a:p>
            </p:txBody>
          </p:sp>
        </mc:Choice>
        <mc:Fallback xmlns="">
          <p:sp>
            <p:nvSpPr>
              <p:cNvPr id="8" name="TextBox 7">
                <a:extLst>
                  <a:ext uri="{FF2B5EF4-FFF2-40B4-BE49-F238E27FC236}">
                    <a16:creationId xmlns:a16="http://schemas.microsoft.com/office/drawing/2014/main" id="{F7FA3F6E-235F-C14B-9B52-9FF54F1304EA}"/>
                  </a:ext>
                </a:extLst>
              </p:cNvPr>
              <p:cNvSpPr txBox="1">
                <a:spLocks noRot="1" noChangeAspect="1" noMove="1" noResize="1" noEditPoints="1" noAdjustHandles="1" noChangeArrowheads="1" noChangeShapeType="1" noTextEdit="1"/>
              </p:cNvSpPr>
              <p:nvPr/>
            </p:nvSpPr>
            <p:spPr>
              <a:xfrm>
                <a:off x="532024" y="3185665"/>
                <a:ext cx="5789214" cy="545727"/>
              </a:xfrm>
              <a:prstGeom prst="rect">
                <a:avLst/>
              </a:prstGeom>
              <a:blipFill>
                <a:blip r:embed="rId4"/>
                <a:stretch>
                  <a:fillRect l="-1094" b="-930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7B350BFE-CF3B-B14E-B567-885F8E05D44B}"/>
                  </a:ext>
                </a:extLst>
              </p:cNvPr>
              <p:cNvSpPr/>
              <p:nvPr/>
            </p:nvSpPr>
            <p:spPr>
              <a:xfrm>
                <a:off x="383626" y="4414635"/>
                <a:ext cx="5460534" cy="38702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ea typeface="Cambria Math" panose="02040503050406030204" pitchFamily="18" charset="0"/>
                              <a:cs typeface="Arial" panose="020B0604020202020204" pitchFamily="34" charset="0"/>
                            </a:rPr>
                          </m:ctrlPr>
                        </m:acc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𝑢</m:t>
                                  </m:r>
                                </m:e>
                              </m:acc>
                              <m:r>
                                <a:rPr lang="en-US" i="1">
                                  <a:latin typeface="Cambria Math" panose="02040503050406030204" pitchFamily="18" charset="0"/>
                                  <a:cs typeface="Arial" panose="020B0604020202020204" pitchFamily="34" charset="0"/>
                                </a:rPr>
                                <m:t>+</m:t>
                              </m:r>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𝑢</m:t>
                                  </m:r>
                                </m:e>
                                <m:sup>
                                  <m:r>
                                    <a:rPr lang="en-US" i="1">
                                      <a:latin typeface="Cambria Math" panose="02040503050406030204" pitchFamily="18" charset="0"/>
                                      <a:cs typeface="Arial" panose="020B0604020202020204" pitchFamily="34" charset="0"/>
                                    </a:rPr>
                                    <m:t>′</m:t>
                                  </m:r>
                                </m:sup>
                              </m:sSup>
                            </m:e>
                          </m:d>
                          <m:d>
                            <m:dPr>
                              <m:ctrlPr>
                                <a:rPr lang="en-US" i="1">
                                  <a:latin typeface="Cambria Math" panose="02040503050406030204" pitchFamily="18" charset="0"/>
                                  <a:ea typeface="Cambria Math" panose="02040503050406030204" pitchFamily="18" charset="0"/>
                                  <a:cs typeface="Arial" panose="020B0604020202020204" pitchFamily="34" charset="0"/>
                                </a:rPr>
                              </m:ctrlPr>
                            </m:dPr>
                            <m:e>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𝑐</m:t>
                                  </m:r>
                                </m:e>
                              </m:acc>
                              <m:r>
                                <a:rPr lang="en-US" i="1">
                                  <a:latin typeface="Cambria Math" panose="02040503050406030204" pitchFamily="18" charset="0"/>
                                  <a:cs typeface="Arial" panose="020B0604020202020204" pitchFamily="34" charset="0"/>
                                </a:rPr>
                                <m:t>+</m:t>
                              </m:r>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𝑐</m:t>
                                  </m:r>
                                </m:e>
                                <m:sup>
                                  <m:r>
                                    <a:rPr lang="en-US" i="1">
                                      <a:latin typeface="Cambria Math" panose="02040503050406030204" pitchFamily="18" charset="0"/>
                                      <a:cs typeface="Arial" panose="020B0604020202020204" pitchFamily="34" charset="0"/>
                                    </a:rPr>
                                    <m:t>′</m:t>
                                  </m:r>
                                </m:sup>
                              </m:sSup>
                            </m:e>
                          </m:d>
                        </m:e>
                      </m:acc>
                      <m:r>
                        <a:rPr lang="en-US" b="0" i="1" smtClean="0">
                          <a:latin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acc>
                          <m:acc>
                            <m:accPr>
                              <m:chr m:val="̅"/>
                              <m:ctrlPr>
                                <a:rPr lang="en-US"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acc>
                          <m:r>
                            <a:rPr lang="en-US" b="0"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acc>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r>
                            <a:rPr lang="en-US"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acc>
                          <m:r>
                            <a:rPr lang="en-US"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e>
                      </m:acc>
                      <m:r>
                        <a:rPr lang="en-US" b="0"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𝑢</m:t>
                          </m:r>
                        </m:e>
                      </m:acc>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𝑐</m:t>
                          </m:r>
                        </m:e>
                      </m:acc>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smtClean="0">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𝑢</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𝑐</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oMath>
                  </m:oMathPara>
                </a14:m>
                <a:endParaRPr lang="en-US" dirty="0"/>
              </a:p>
            </p:txBody>
          </p:sp>
        </mc:Choice>
        <mc:Fallback xmlns="">
          <p:sp>
            <p:nvSpPr>
              <p:cNvPr id="12" name="Rectangle 11">
                <a:extLst>
                  <a:ext uri="{FF2B5EF4-FFF2-40B4-BE49-F238E27FC236}">
                    <a16:creationId xmlns:a16="http://schemas.microsoft.com/office/drawing/2014/main" id="{7B350BFE-CF3B-B14E-B567-885F8E05D44B}"/>
                  </a:ext>
                </a:extLst>
              </p:cNvPr>
              <p:cNvSpPr>
                <a:spLocks noRot="1" noChangeAspect="1" noMove="1" noResize="1" noEditPoints="1" noAdjustHandles="1" noChangeArrowheads="1" noChangeShapeType="1" noTextEdit="1"/>
              </p:cNvSpPr>
              <p:nvPr/>
            </p:nvSpPr>
            <p:spPr>
              <a:xfrm>
                <a:off x="383626" y="4414635"/>
                <a:ext cx="5460534" cy="387029"/>
              </a:xfrm>
              <a:prstGeom prst="rect">
                <a:avLst/>
              </a:prstGeom>
              <a:blipFill>
                <a:blip r:embed="rId5"/>
                <a:stretch>
                  <a:fillRect/>
                </a:stretch>
              </a:blipFill>
            </p:spPr>
            <p:txBody>
              <a:bodyPr/>
              <a:lstStyle/>
              <a:p>
                <a:r>
                  <a:rPr lang="en-US">
                    <a:noFill/>
                  </a:rPr>
                  <a:t> </a:t>
                </a:r>
              </a:p>
            </p:txBody>
          </p:sp>
        </mc:Fallback>
      </mc:AlternateContent>
      <p:sp>
        <p:nvSpPr>
          <p:cNvPr id="32" name="TextBox 31">
            <a:extLst>
              <a:ext uri="{FF2B5EF4-FFF2-40B4-BE49-F238E27FC236}">
                <a16:creationId xmlns:a16="http://schemas.microsoft.com/office/drawing/2014/main" id="{F45ED9CC-45B5-374F-90C0-75FD6F0D042F}"/>
              </a:ext>
            </a:extLst>
          </p:cNvPr>
          <p:cNvSpPr txBox="1"/>
          <p:nvPr/>
        </p:nvSpPr>
        <p:spPr>
          <a:xfrm>
            <a:off x="383626" y="3905801"/>
            <a:ext cx="11579606"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average of the products between a velocity component and the concentration is computed as follows</a:t>
            </a:r>
          </a:p>
          <a:p>
            <a:pPr algn="l">
              <a:lnSpc>
                <a:spcPct val="114000"/>
              </a:lnSpc>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938375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22</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954107"/>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Local equation of conservation of suspended sediment averaged over turbulence</a:t>
            </a:r>
          </a:p>
        </p:txBody>
      </p:sp>
      <p:sp>
        <p:nvSpPr>
          <p:cNvPr id="2" name="TextBox 1">
            <a:extLst>
              <a:ext uri="{FF2B5EF4-FFF2-40B4-BE49-F238E27FC236}">
                <a16:creationId xmlns:a16="http://schemas.microsoft.com/office/drawing/2014/main" id="{DAF5A583-86AF-104B-8DD4-FCC014E36577}"/>
              </a:ext>
            </a:extLst>
          </p:cNvPr>
          <p:cNvSpPr txBox="1"/>
          <p:nvPr/>
        </p:nvSpPr>
        <p:spPr>
          <a:xfrm>
            <a:off x="383627" y="1169876"/>
            <a:ext cx="11579606"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local equation of conservation of suspended sediment averaged over turbulence takes the form </a:t>
            </a:r>
          </a:p>
          <a:p>
            <a:pPr algn="l">
              <a:lnSpc>
                <a:spcPct val="114000"/>
              </a:lnSpc>
            </a:pPr>
            <a:endParaRPr 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57C2771-B2EC-1540-8087-096B49A1CB4B}"/>
                  </a:ext>
                </a:extLst>
              </p:cNvPr>
              <p:cNvSpPr txBox="1"/>
              <p:nvPr/>
            </p:nvSpPr>
            <p:spPr>
              <a:xfrm>
                <a:off x="550844" y="1701193"/>
                <a:ext cx="2875787" cy="547650"/>
              </a:xfrm>
              <a:prstGeom prst="rect">
                <a:avLst/>
              </a:prstGeom>
              <a:noFill/>
            </p:spPr>
            <p:txBody>
              <a:bodyPr wrap="none" lIns="0" tIns="0" rIns="0" bIns="0" rtlCol="0">
                <a:spAutoFit/>
              </a:bodyPr>
              <a:lstStyle/>
              <a:p>
                <a:pPr>
                  <a:lnSpc>
                    <a:spcPct val="114000"/>
                  </a:lnSpc>
                </a:pP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𝑡</m:t>
                            </m:r>
                          </m:den>
                        </m:f>
                        <m:r>
                          <a:rPr lang="en-US" i="1">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𝑢𝑐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𝑥</m:t>
                            </m:r>
                          </m:den>
                        </m:f>
                        <m:r>
                          <a:rPr lang="en-US" i="1">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𝑣𝑐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𝑦</m:t>
                            </m:r>
                          </m:den>
                        </m:f>
                        <m:r>
                          <a:rPr lang="en-US" i="1">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d>
                              <m:dPr>
                                <m:ctrlPr>
                                  <a:rPr lang="en-US" i="1">
                                    <a:latin typeface="Cambria Math" panose="02040503050406030204" pitchFamily="18" charset="0"/>
                                    <a:ea typeface="Cambria Math" panose="02040503050406030204" pitchFamily="18" charset="0"/>
                                    <a:cs typeface="Arial" panose="020B0604020202020204" pitchFamily="34" charset="0"/>
                                  </a:rPr>
                                </m:ctrlPr>
                              </m:dPr>
                              <m:e>
                                <m:r>
                                  <a:rPr lang="en-US" i="1">
                                    <a:latin typeface="Cambria Math" panose="02040503050406030204" pitchFamily="18" charset="0"/>
                                    <a:ea typeface="Cambria Math" panose="02040503050406030204" pitchFamily="18" charset="0"/>
                                    <a:cs typeface="Arial" panose="020B0604020202020204" pitchFamily="34" charset="0"/>
                                  </a:rPr>
                                  <m:t>𝑤</m:t>
                                </m:r>
                                <m:r>
                                  <a:rPr lang="en-US" i="1">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𝑣</m:t>
                                    </m:r>
                                  </m:e>
                                  <m:sub>
                                    <m:r>
                                      <a:rPr lang="en-US" i="1">
                                        <a:latin typeface="Cambria Math" panose="02040503050406030204" pitchFamily="18" charset="0"/>
                                        <a:ea typeface="Cambria Math" panose="02040503050406030204" pitchFamily="18" charset="0"/>
                                        <a:cs typeface="Arial" panose="020B0604020202020204" pitchFamily="34" charset="0"/>
                                      </a:rPr>
                                      <m:t>𝑠</m:t>
                                    </m:r>
                                  </m:sub>
                                </m:sSub>
                              </m:e>
                            </m:d>
                            <m:r>
                              <a:rPr lang="en-US" i="1">
                                <a:latin typeface="Cambria Math" panose="02040503050406030204" pitchFamily="18" charset="0"/>
                                <a:ea typeface="Cambria Math" panose="02040503050406030204" pitchFamily="18" charset="0"/>
                                <a:cs typeface="Arial" panose="020B0604020202020204" pitchFamily="34" charset="0"/>
                              </a:rPr>
                              <m:t>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𝑧</m:t>
                            </m:r>
                          </m:den>
                        </m:f>
                      </m:e>
                    </m:acc>
                    <m:r>
                      <a:rPr lang="en-US" b="0" i="1" smtClean="0">
                        <a:latin typeface="Cambria Math" panose="02040503050406030204" pitchFamily="18" charset="0"/>
                        <a:cs typeface="Arial" panose="020B0604020202020204" pitchFamily="34" charset="0"/>
                      </a:rPr>
                      <m:t>=0</m:t>
                    </m:r>
                  </m:oMath>
                </a14:m>
                <a:r>
                  <a:rPr lang="en-US" dirty="0">
                    <a:latin typeface="Arial" panose="020B0604020202020204" pitchFamily="34" charset="0"/>
                    <a:cs typeface="Arial" panose="020B0604020202020204" pitchFamily="34" charset="0"/>
                  </a:rPr>
                  <a:t> </a:t>
                </a:r>
              </a:p>
            </p:txBody>
          </p:sp>
        </mc:Choice>
        <mc:Fallback xmlns="">
          <p:sp>
            <p:nvSpPr>
              <p:cNvPr id="11" name="TextBox 10">
                <a:extLst>
                  <a:ext uri="{FF2B5EF4-FFF2-40B4-BE49-F238E27FC236}">
                    <a16:creationId xmlns:a16="http://schemas.microsoft.com/office/drawing/2014/main" id="{957C2771-B2EC-1540-8087-096B49A1CB4B}"/>
                  </a:ext>
                </a:extLst>
              </p:cNvPr>
              <p:cNvSpPr txBox="1">
                <a:spLocks noRot="1" noChangeAspect="1" noMove="1" noResize="1" noEditPoints="1" noAdjustHandles="1" noChangeArrowheads="1" noChangeShapeType="1" noTextEdit="1"/>
              </p:cNvSpPr>
              <p:nvPr/>
            </p:nvSpPr>
            <p:spPr>
              <a:xfrm>
                <a:off x="550844" y="1701193"/>
                <a:ext cx="2875787" cy="547650"/>
              </a:xfrm>
              <a:prstGeom prst="rect">
                <a:avLst/>
              </a:prstGeom>
              <a:blipFill>
                <a:blip r:embed="rId2"/>
                <a:stretch>
                  <a:fillRect l="-2643" b="-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90C010B-0CB7-5D41-9FA1-1799DACAD832}"/>
                  </a:ext>
                </a:extLst>
              </p:cNvPr>
              <p:cNvSpPr txBox="1"/>
              <p:nvPr/>
            </p:nvSpPr>
            <p:spPr>
              <a:xfrm>
                <a:off x="550844" y="2425695"/>
                <a:ext cx="2850139" cy="547650"/>
              </a:xfrm>
              <a:prstGeom prst="rect">
                <a:avLst/>
              </a:prstGeom>
              <a:noFill/>
            </p:spPr>
            <p:txBody>
              <a:bodyPr wrap="none" lIns="0" tIns="0" rIns="0" bIns="0" rtlCol="0">
                <a:spAutoFit/>
              </a:bodyPr>
              <a:lstStyle/>
              <a:p>
                <a:pPr>
                  <a:lnSpc>
                    <a:spcPct val="114000"/>
                  </a:lnSpc>
                </a:pP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𝑡</m:t>
                            </m:r>
                          </m:den>
                        </m:f>
                      </m:e>
                    </m:acc>
                    <m:r>
                      <a:rPr lang="en-US" b="0" i="1" smtClean="0">
                        <a:latin typeface="Cambria Math" panose="02040503050406030204" pitchFamily="18" charset="0"/>
                        <a:cs typeface="Arial" panose="020B0604020202020204" pitchFamily="34" charset="0"/>
                      </a:rPr>
                      <m:t>+</m:t>
                    </m:r>
                    <m:acc>
                      <m:accPr>
                        <m:chr m:val="̅"/>
                        <m:ctrlPr>
                          <a:rPr lang="en-US" i="1" smtClean="0">
                            <a:latin typeface="Cambria Math" panose="02040503050406030204" pitchFamily="18" charset="0"/>
                            <a:cs typeface="Arial" panose="020B0604020202020204" pitchFamily="34" charset="0"/>
                          </a:rPr>
                        </m:ctrlPr>
                      </m:accPr>
                      <m:e>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𝑢𝑐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𝑥</m:t>
                            </m:r>
                          </m:den>
                        </m:f>
                      </m:e>
                    </m:acc>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𝑣𝑐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𝑦</m:t>
                            </m:r>
                          </m:den>
                        </m:f>
                      </m:e>
                    </m:acc>
                    <m:r>
                      <a:rPr lang="en-US" b="0" i="1" smtClean="0">
                        <a:latin typeface="Cambria Math" panose="02040503050406030204" pitchFamily="18" charset="0"/>
                        <a:cs typeface="Arial" panose="020B0604020202020204" pitchFamily="34" charset="0"/>
                      </a:rPr>
                      <m:t>+</m:t>
                    </m:r>
                    <m:acc>
                      <m:accPr>
                        <m:chr m:val="̅"/>
                        <m:ctrlPr>
                          <a:rPr lang="en-US" i="1" smtClean="0">
                            <a:latin typeface="Cambria Math" panose="02040503050406030204" pitchFamily="18" charset="0"/>
                            <a:cs typeface="Arial" panose="020B0604020202020204" pitchFamily="34" charset="0"/>
                          </a:rPr>
                        </m:ctrlPr>
                      </m:accPr>
                      <m:e>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d>
                              <m:dPr>
                                <m:ctrlPr>
                                  <a:rPr lang="en-US" i="1">
                                    <a:latin typeface="Cambria Math" panose="02040503050406030204" pitchFamily="18" charset="0"/>
                                    <a:ea typeface="Cambria Math" panose="02040503050406030204" pitchFamily="18" charset="0"/>
                                    <a:cs typeface="Arial" panose="020B0604020202020204" pitchFamily="34" charset="0"/>
                                  </a:rPr>
                                </m:ctrlPr>
                              </m:dPr>
                              <m:e>
                                <m:r>
                                  <a:rPr lang="en-US" i="1">
                                    <a:latin typeface="Cambria Math" panose="02040503050406030204" pitchFamily="18" charset="0"/>
                                    <a:ea typeface="Cambria Math" panose="02040503050406030204" pitchFamily="18" charset="0"/>
                                    <a:cs typeface="Arial" panose="020B0604020202020204" pitchFamily="34" charset="0"/>
                                  </a:rPr>
                                  <m:t>𝑤</m:t>
                                </m:r>
                                <m:r>
                                  <a:rPr lang="en-US" i="1">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𝑣</m:t>
                                    </m:r>
                                  </m:e>
                                  <m:sub>
                                    <m:r>
                                      <a:rPr lang="en-US" i="1">
                                        <a:latin typeface="Cambria Math" panose="02040503050406030204" pitchFamily="18" charset="0"/>
                                        <a:ea typeface="Cambria Math" panose="02040503050406030204" pitchFamily="18" charset="0"/>
                                        <a:cs typeface="Arial" panose="020B0604020202020204" pitchFamily="34" charset="0"/>
                                      </a:rPr>
                                      <m:t>𝑠</m:t>
                                    </m:r>
                                  </m:sub>
                                </m:sSub>
                              </m:e>
                            </m:d>
                            <m:r>
                              <a:rPr lang="en-US" i="1">
                                <a:latin typeface="Cambria Math" panose="02040503050406030204" pitchFamily="18" charset="0"/>
                                <a:ea typeface="Cambria Math" panose="02040503050406030204" pitchFamily="18" charset="0"/>
                                <a:cs typeface="Arial" panose="020B0604020202020204" pitchFamily="34" charset="0"/>
                              </a:rPr>
                              <m:t>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𝑧</m:t>
                            </m:r>
                          </m:den>
                        </m:f>
                      </m:e>
                    </m:acc>
                    <m:r>
                      <a:rPr lang="en-US" b="0" i="1" smtClean="0">
                        <a:latin typeface="Cambria Math" panose="02040503050406030204" pitchFamily="18" charset="0"/>
                        <a:cs typeface="Arial" panose="020B0604020202020204" pitchFamily="34" charset="0"/>
                      </a:rPr>
                      <m:t>=0</m:t>
                    </m:r>
                  </m:oMath>
                </a14:m>
                <a:r>
                  <a:rPr lang="en-US" dirty="0">
                    <a:latin typeface="Arial" panose="020B0604020202020204" pitchFamily="34" charset="0"/>
                    <a:cs typeface="Arial" panose="020B0604020202020204" pitchFamily="34" charset="0"/>
                  </a:rPr>
                  <a:t> </a:t>
                </a:r>
              </a:p>
            </p:txBody>
          </p:sp>
        </mc:Choice>
        <mc:Fallback xmlns="">
          <p:sp>
            <p:nvSpPr>
              <p:cNvPr id="7" name="TextBox 6">
                <a:extLst>
                  <a:ext uri="{FF2B5EF4-FFF2-40B4-BE49-F238E27FC236}">
                    <a16:creationId xmlns:a16="http://schemas.microsoft.com/office/drawing/2014/main" id="{290C010B-0CB7-5D41-9FA1-1799DACAD832}"/>
                  </a:ext>
                </a:extLst>
              </p:cNvPr>
              <p:cNvSpPr txBox="1">
                <a:spLocks noRot="1" noChangeAspect="1" noMove="1" noResize="1" noEditPoints="1" noAdjustHandles="1" noChangeArrowheads="1" noChangeShapeType="1" noTextEdit="1"/>
              </p:cNvSpPr>
              <p:nvPr/>
            </p:nvSpPr>
            <p:spPr>
              <a:xfrm>
                <a:off x="550844" y="2425695"/>
                <a:ext cx="2850139" cy="547650"/>
              </a:xfrm>
              <a:prstGeom prst="rect">
                <a:avLst/>
              </a:prstGeom>
              <a:blipFill>
                <a:blip r:embed="rId3"/>
                <a:stretch>
                  <a:fillRect l="-2667" b="-90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7FA3F6E-235F-C14B-9B52-9FF54F1304EA}"/>
                  </a:ext>
                </a:extLst>
              </p:cNvPr>
              <p:cNvSpPr txBox="1"/>
              <p:nvPr/>
            </p:nvSpPr>
            <p:spPr>
              <a:xfrm>
                <a:off x="532024" y="3185665"/>
                <a:ext cx="5789214" cy="545727"/>
              </a:xfrm>
              <a:prstGeom prst="rect">
                <a:avLst/>
              </a:prstGeom>
              <a:noFill/>
            </p:spPr>
            <p:txBody>
              <a:bodyPr wrap="none" lIns="0" tIns="0" rIns="0" bIns="0" rtlCol="0">
                <a:spAutoFit/>
              </a:bodyPr>
              <a:lstStyle/>
              <a:p>
                <a:pPr>
                  <a:lnSpc>
                    <a:spcPct val="114000"/>
                  </a:lnSpc>
                </a:pPr>
                <a14:m>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smtClean="0">
                                <a:latin typeface="Cambria Math" panose="02040503050406030204" pitchFamily="18" charset="0"/>
                                <a:ea typeface="Cambria Math" panose="02040503050406030204" pitchFamily="18" charset="0"/>
                                <a:cs typeface="Arial" panose="020B0604020202020204" pitchFamily="34" charset="0"/>
                              </a:rPr>
                            </m:ctrlPr>
                          </m:accPr>
                          <m:e>
                            <m:d>
                              <m:dPr>
                                <m:ctrlPr>
                                  <a:rPr lang="en-US" i="1" smtClean="0">
                                    <a:latin typeface="Cambria Math" panose="02040503050406030204" pitchFamily="18" charset="0"/>
                                    <a:ea typeface="Cambria Math" panose="02040503050406030204" pitchFamily="18" charset="0"/>
                                    <a:cs typeface="Arial" panose="020B0604020202020204" pitchFamily="34" charset="0"/>
                                  </a:rPr>
                                </m:ctrlPr>
                              </m:dPr>
                              <m:e>
                                <m:acc>
                                  <m:accPr>
                                    <m:chr m:val="̅"/>
                                    <m:ctrlPr>
                                      <a:rPr lang="en-US"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acc>
                                <m:r>
                                  <a:rPr lang="en-US" b="0" i="1" smtClean="0">
                                    <a:latin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𝑐</m:t>
                                    </m:r>
                                  </m:e>
                                  <m:sup>
                                    <m:r>
                                      <a:rPr lang="en-US" b="0" i="1" smtClean="0">
                                        <a:latin typeface="Cambria Math" panose="02040503050406030204" pitchFamily="18" charset="0"/>
                                        <a:cs typeface="Arial" panose="020B0604020202020204" pitchFamily="34" charset="0"/>
                                      </a:rPr>
                                      <m:t>′</m:t>
                                    </m:r>
                                  </m:sup>
                                </m:sSup>
                              </m:e>
                            </m:d>
                          </m:e>
                        </m:acc>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acc>
                                <m:r>
                                  <a:rPr lang="en-US" i="1">
                                    <a:latin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𝑢</m:t>
                                    </m:r>
                                  </m:e>
                                  <m:sup>
                                    <m:r>
                                      <a:rPr lang="en-US" b="0" i="1" smtClean="0">
                                        <a:latin typeface="Cambria Math" panose="02040503050406030204" pitchFamily="18" charset="0"/>
                                        <a:cs typeface="Arial" panose="020B0604020202020204" pitchFamily="34" charset="0"/>
                                      </a:rPr>
                                      <m:t>′</m:t>
                                    </m:r>
                                  </m:sup>
                                </m:sSup>
                              </m:e>
                            </m:d>
                            <m:d>
                              <m:dPr>
                                <m:ctrlPr>
                                  <a:rPr lang="en-US" i="1">
                                    <a:latin typeface="Cambria Math" panose="02040503050406030204" pitchFamily="18" charset="0"/>
                                    <a:ea typeface="Cambria Math" panose="02040503050406030204" pitchFamily="18" charset="0"/>
                                    <a:cs typeface="Arial" panose="020B0604020202020204" pitchFamily="34" charset="0"/>
                                  </a:rPr>
                                </m:ctrlPr>
                              </m:dPr>
                              <m:e>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𝑐</m:t>
                                    </m:r>
                                  </m:e>
                                </m:acc>
                                <m:r>
                                  <a:rPr lang="en-US" i="1">
                                    <a:latin typeface="Cambria Math" panose="02040503050406030204" pitchFamily="18" charset="0"/>
                                    <a:cs typeface="Arial" panose="020B0604020202020204" pitchFamily="34" charset="0"/>
                                  </a:rPr>
                                  <m:t>+</m:t>
                                </m:r>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𝑐</m:t>
                                    </m:r>
                                  </m:e>
                                  <m:sup>
                                    <m:r>
                                      <a:rPr lang="en-US" i="1">
                                        <a:latin typeface="Cambria Math" panose="02040503050406030204" pitchFamily="18" charset="0"/>
                                        <a:cs typeface="Arial" panose="020B0604020202020204" pitchFamily="34" charset="0"/>
                                      </a:rPr>
                                      <m:t>′</m:t>
                                    </m:r>
                                  </m:sup>
                                </m:sSup>
                              </m:e>
                            </m:d>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0"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𝑣</m:t>
                                    </m:r>
                                  </m:e>
                                </m:acc>
                                <m:r>
                                  <a:rPr lang="en-US" i="1">
                                    <a:latin typeface="Cambria Math" panose="02040503050406030204" pitchFamily="18" charset="0"/>
                                    <a:cs typeface="Arial" panose="020B0604020202020204" pitchFamily="34" charset="0"/>
                                  </a:rPr>
                                  <m:t>+</m:t>
                                </m:r>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𝑣</m:t>
                                    </m:r>
                                  </m:e>
                                  <m:sup>
                                    <m:r>
                                      <a:rPr lang="en-US" i="1">
                                        <a:latin typeface="Cambria Math" panose="02040503050406030204" pitchFamily="18" charset="0"/>
                                        <a:cs typeface="Arial" panose="020B0604020202020204" pitchFamily="34" charset="0"/>
                                      </a:rPr>
                                      <m:t>′</m:t>
                                    </m:r>
                                  </m:sup>
                                </m:sSup>
                              </m:e>
                            </m:d>
                            <m:d>
                              <m:dPr>
                                <m:ctrlPr>
                                  <a:rPr lang="en-US" i="1">
                                    <a:latin typeface="Cambria Math" panose="02040503050406030204" pitchFamily="18" charset="0"/>
                                    <a:ea typeface="Cambria Math" panose="02040503050406030204" pitchFamily="18" charset="0"/>
                                    <a:cs typeface="Arial" panose="020B0604020202020204" pitchFamily="34" charset="0"/>
                                  </a:rPr>
                                </m:ctrlPr>
                              </m:dPr>
                              <m:e>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𝑐</m:t>
                                    </m:r>
                                  </m:e>
                                </m:acc>
                                <m:r>
                                  <a:rPr lang="en-US" i="1">
                                    <a:latin typeface="Cambria Math" panose="02040503050406030204" pitchFamily="18" charset="0"/>
                                    <a:cs typeface="Arial" panose="020B0604020202020204" pitchFamily="34" charset="0"/>
                                  </a:rPr>
                                  <m:t>+</m:t>
                                </m:r>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𝑐</m:t>
                                    </m:r>
                                  </m:e>
                                  <m:sup>
                                    <m:r>
                                      <a:rPr lang="en-US" i="1">
                                        <a:latin typeface="Cambria Math" panose="02040503050406030204" pitchFamily="18" charset="0"/>
                                        <a:cs typeface="Arial" panose="020B0604020202020204" pitchFamily="34" charset="0"/>
                                      </a:rPr>
                                      <m:t>′</m:t>
                                    </m:r>
                                  </m:sup>
                                </m:sSup>
                              </m:e>
                            </m:d>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𝑤</m:t>
                                    </m:r>
                                  </m:e>
                                </m:acc>
                                <m:r>
                                  <a:rPr lang="en-US" i="1">
                                    <a:latin typeface="Cambria Math" panose="02040503050406030204" pitchFamily="18" charset="0"/>
                                    <a:cs typeface="Arial" panose="020B0604020202020204" pitchFamily="34" charset="0"/>
                                  </a:rPr>
                                  <m:t>+</m:t>
                                </m:r>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𝑤</m:t>
                                    </m:r>
                                  </m:e>
                                  <m:sup>
                                    <m:r>
                                      <a:rPr lang="en-US" i="1">
                                        <a:latin typeface="Cambria Math" panose="02040503050406030204" pitchFamily="18" charset="0"/>
                                        <a:cs typeface="Arial" panose="020B0604020202020204" pitchFamily="34" charset="0"/>
                                      </a:rPr>
                                      <m:t>′</m:t>
                                    </m:r>
                                  </m:sup>
                                </m:sSup>
                                <m:r>
                                  <a:rPr lang="en-US" i="1">
                                    <a:latin typeface="Cambria Math" panose="02040503050406030204" pitchFamily="18" charset="0"/>
                                    <a:cs typeface="Arial" panose="020B0604020202020204" pitchFamily="34" charset="0"/>
                                  </a:rPr>
                                  <m:t>+</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e>
                            </m:d>
                            <m:d>
                              <m:dPr>
                                <m:ctrlPr>
                                  <a:rPr lang="en-US" i="1">
                                    <a:latin typeface="Cambria Math" panose="02040503050406030204" pitchFamily="18" charset="0"/>
                                    <a:ea typeface="Cambria Math" panose="02040503050406030204" pitchFamily="18" charset="0"/>
                                    <a:cs typeface="Arial" panose="020B0604020202020204" pitchFamily="34" charset="0"/>
                                  </a:rPr>
                                </m:ctrlPr>
                              </m:dPr>
                              <m:e>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𝑐</m:t>
                                    </m:r>
                                  </m:e>
                                </m:acc>
                                <m:r>
                                  <a:rPr lang="en-US" i="1">
                                    <a:latin typeface="Cambria Math" panose="02040503050406030204" pitchFamily="18" charset="0"/>
                                    <a:cs typeface="Arial" panose="020B0604020202020204" pitchFamily="34" charset="0"/>
                                  </a:rPr>
                                  <m:t>+</m:t>
                                </m:r>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𝑐</m:t>
                                    </m:r>
                                  </m:e>
                                  <m:sup>
                                    <m:r>
                                      <a:rPr lang="en-US" i="1">
                                        <a:latin typeface="Cambria Math" panose="02040503050406030204" pitchFamily="18" charset="0"/>
                                        <a:cs typeface="Arial" panose="020B0604020202020204" pitchFamily="34" charset="0"/>
                                      </a:rPr>
                                      <m:t>′</m:t>
                                    </m:r>
                                  </m:sup>
                                </m:sSup>
                              </m:e>
                            </m:d>
                          </m:e>
                        </m:acc>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=0</m:t>
                    </m:r>
                  </m:oMath>
                </a14:m>
                <a:r>
                  <a:rPr lang="en-US" dirty="0">
                    <a:latin typeface="Arial" panose="020B0604020202020204" pitchFamily="34" charset="0"/>
                    <a:cs typeface="Arial" panose="020B0604020202020204" pitchFamily="34" charset="0"/>
                  </a:rPr>
                  <a:t> </a:t>
                </a:r>
              </a:p>
            </p:txBody>
          </p:sp>
        </mc:Choice>
        <mc:Fallback xmlns="">
          <p:sp>
            <p:nvSpPr>
              <p:cNvPr id="8" name="TextBox 7">
                <a:extLst>
                  <a:ext uri="{FF2B5EF4-FFF2-40B4-BE49-F238E27FC236}">
                    <a16:creationId xmlns:a16="http://schemas.microsoft.com/office/drawing/2014/main" id="{F7FA3F6E-235F-C14B-9B52-9FF54F1304EA}"/>
                  </a:ext>
                </a:extLst>
              </p:cNvPr>
              <p:cNvSpPr txBox="1">
                <a:spLocks noRot="1" noChangeAspect="1" noMove="1" noResize="1" noEditPoints="1" noAdjustHandles="1" noChangeArrowheads="1" noChangeShapeType="1" noTextEdit="1"/>
              </p:cNvSpPr>
              <p:nvPr/>
            </p:nvSpPr>
            <p:spPr>
              <a:xfrm>
                <a:off x="532024" y="3185665"/>
                <a:ext cx="5789214" cy="545727"/>
              </a:xfrm>
              <a:prstGeom prst="rect">
                <a:avLst/>
              </a:prstGeom>
              <a:blipFill>
                <a:blip r:embed="rId4"/>
                <a:stretch>
                  <a:fillRect l="-1094" b="-930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7B350BFE-CF3B-B14E-B567-885F8E05D44B}"/>
                  </a:ext>
                </a:extLst>
              </p:cNvPr>
              <p:cNvSpPr/>
              <p:nvPr/>
            </p:nvSpPr>
            <p:spPr>
              <a:xfrm>
                <a:off x="383626" y="4414635"/>
                <a:ext cx="5460534" cy="38702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ea typeface="Cambria Math" panose="02040503050406030204" pitchFamily="18" charset="0"/>
                              <a:cs typeface="Arial" panose="020B0604020202020204" pitchFamily="34" charset="0"/>
                            </a:rPr>
                          </m:ctrlPr>
                        </m:acc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𝑢</m:t>
                                  </m:r>
                                </m:e>
                              </m:acc>
                              <m:r>
                                <a:rPr lang="en-US" i="1">
                                  <a:latin typeface="Cambria Math" panose="02040503050406030204" pitchFamily="18" charset="0"/>
                                  <a:cs typeface="Arial" panose="020B0604020202020204" pitchFamily="34" charset="0"/>
                                </a:rPr>
                                <m:t>+</m:t>
                              </m:r>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𝑢</m:t>
                                  </m:r>
                                </m:e>
                                <m:sup>
                                  <m:r>
                                    <a:rPr lang="en-US" i="1">
                                      <a:latin typeface="Cambria Math" panose="02040503050406030204" pitchFamily="18" charset="0"/>
                                      <a:cs typeface="Arial" panose="020B0604020202020204" pitchFamily="34" charset="0"/>
                                    </a:rPr>
                                    <m:t>′</m:t>
                                  </m:r>
                                </m:sup>
                              </m:sSup>
                            </m:e>
                          </m:d>
                          <m:d>
                            <m:dPr>
                              <m:ctrlPr>
                                <a:rPr lang="en-US" i="1">
                                  <a:latin typeface="Cambria Math" panose="02040503050406030204" pitchFamily="18" charset="0"/>
                                  <a:ea typeface="Cambria Math" panose="02040503050406030204" pitchFamily="18" charset="0"/>
                                  <a:cs typeface="Arial" panose="020B0604020202020204" pitchFamily="34" charset="0"/>
                                </a:rPr>
                              </m:ctrlPr>
                            </m:dPr>
                            <m:e>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𝑐</m:t>
                                  </m:r>
                                </m:e>
                              </m:acc>
                              <m:r>
                                <a:rPr lang="en-US" i="1">
                                  <a:latin typeface="Cambria Math" panose="02040503050406030204" pitchFamily="18" charset="0"/>
                                  <a:cs typeface="Arial" panose="020B0604020202020204" pitchFamily="34" charset="0"/>
                                </a:rPr>
                                <m:t>+</m:t>
                              </m:r>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𝑐</m:t>
                                  </m:r>
                                </m:e>
                                <m:sup>
                                  <m:r>
                                    <a:rPr lang="en-US" i="1">
                                      <a:latin typeface="Cambria Math" panose="02040503050406030204" pitchFamily="18" charset="0"/>
                                      <a:cs typeface="Arial" panose="020B0604020202020204" pitchFamily="34" charset="0"/>
                                    </a:rPr>
                                    <m:t>′</m:t>
                                  </m:r>
                                </m:sup>
                              </m:sSup>
                            </m:e>
                          </m:d>
                        </m:e>
                      </m:acc>
                      <m:r>
                        <a:rPr lang="en-US" b="0" i="1" smtClean="0">
                          <a:latin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acc>
                          <m:acc>
                            <m:accPr>
                              <m:chr m:val="̅"/>
                              <m:ctrlPr>
                                <a:rPr lang="en-US"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acc>
                          <m:r>
                            <a:rPr lang="en-US" b="0"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acc>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r>
                            <a:rPr lang="en-US"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acc>
                          <m:r>
                            <a:rPr lang="en-US"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e>
                      </m:acc>
                      <m:r>
                        <a:rPr lang="en-US" b="0"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𝑢</m:t>
                          </m:r>
                        </m:e>
                      </m:acc>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𝑐</m:t>
                          </m:r>
                        </m:e>
                      </m:acc>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smtClean="0">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𝑢</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𝑐</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oMath>
                  </m:oMathPara>
                </a14:m>
                <a:endParaRPr lang="en-US" dirty="0"/>
              </a:p>
            </p:txBody>
          </p:sp>
        </mc:Choice>
        <mc:Fallback xmlns="">
          <p:sp>
            <p:nvSpPr>
              <p:cNvPr id="12" name="Rectangle 11">
                <a:extLst>
                  <a:ext uri="{FF2B5EF4-FFF2-40B4-BE49-F238E27FC236}">
                    <a16:creationId xmlns:a16="http://schemas.microsoft.com/office/drawing/2014/main" id="{7B350BFE-CF3B-B14E-B567-885F8E05D44B}"/>
                  </a:ext>
                </a:extLst>
              </p:cNvPr>
              <p:cNvSpPr>
                <a:spLocks noRot="1" noChangeAspect="1" noMove="1" noResize="1" noEditPoints="1" noAdjustHandles="1" noChangeArrowheads="1" noChangeShapeType="1" noTextEdit="1"/>
              </p:cNvSpPr>
              <p:nvPr/>
            </p:nvSpPr>
            <p:spPr>
              <a:xfrm>
                <a:off x="383626" y="4414635"/>
                <a:ext cx="5460534" cy="387029"/>
              </a:xfrm>
              <a:prstGeom prst="rect">
                <a:avLst/>
              </a:prstGeom>
              <a:blipFill>
                <a:blip r:embed="rId5"/>
                <a:stretch>
                  <a:fillRect/>
                </a:stretch>
              </a:blipFill>
            </p:spPr>
            <p:txBody>
              <a:bodyPr/>
              <a:lstStyle/>
              <a:p>
                <a:r>
                  <a:rPr lang="en-US">
                    <a:noFill/>
                  </a:rPr>
                  <a:t> </a:t>
                </a:r>
              </a:p>
            </p:txBody>
          </p:sp>
        </mc:Fallback>
      </mc:AlternateContent>
      <p:sp>
        <p:nvSpPr>
          <p:cNvPr id="32" name="TextBox 31">
            <a:extLst>
              <a:ext uri="{FF2B5EF4-FFF2-40B4-BE49-F238E27FC236}">
                <a16:creationId xmlns:a16="http://schemas.microsoft.com/office/drawing/2014/main" id="{F45ED9CC-45B5-374F-90C0-75FD6F0D042F}"/>
              </a:ext>
            </a:extLst>
          </p:cNvPr>
          <p:cNvSpPr txBox="1"/>
          <p:nvPr/>
        </p:nvSpPr>
        <p:spPr>
          <a:xfrm>
            <a:off x="383626" y="3905801"/>
            <a:ext cx="11579606"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average of the products between a velocity component and the concentration is computed as follows</a:t>
            </a:r>
          </a:p>
          <a:p>
            <a:pPr algn="l">
              <a:lnSpc>
                <a:spcPct val="114000"/>
              </a:lnSpc>
            </a:pPr>
            <a:endParaRPr lang="en-US" dirty="0">
              <a:latin typeface="Arial" panose="020B0604020202020204" pitchFamily="34" charset="0"/>
              <a:cs typeface="Arial" panose="020B0604020202020204" pitchFamily="34" charset="0"/>
            </a:endParaRPr>
          </a:p>
        </p:txBody>
      </p:sp>
      <p:sp>
        <p:nvSpPr>
          <p:cNvPr id="34" name="TextBox 33">
            <a:extLst>
              <a:ext uri="{FF2B5EF4-FFF2-40B4-BE49-F238E27FC236}">
                <a16:creationId xmlns:a16="http://schemas.microsoft.com/office/drawing/2014/main" id="{0C4F7403-53CE-674F-BDAD-BF423BF96E77}"/>
              </a:ext>
            </a:extLst>
          </p:cNvPr>
          <p:cNvSpPr txBox="1"/>
          <p:nvPr/>
        </p:nvSpPr>
        <p:spPr>
          <a:xfrm>
            <a:off x="383626" y="5011771"/>
            <a:ext cx="11579606"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Substituting in the averaged equation it is found that </a:t>
            </a:r>
          </a:p>
          <a:p>
            <a:pPr algn="l">
              <a:lnSpc>
                <a:spcPct val="114000"/>
              </a:lnSpc>
            </a:pPr>
            <a:endParaRPr 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CEC3A2E-A719-0841-A5BF-BEFDFE3CE3D5}"/>
                  </a:ext>
                </a:extLst>
              </p:cNvPr>
              <p:cNvSpPr txBox="1"/>
              <p:nvPr/>
            </p:nvSpPr>
            <p:spPr>
              <a:xfrm>
                <a:off x="532024" y="5534110"/>
                <a:ext cx="5030673" cy="545727"/>
              </a:xfrm>
              <a:prstGeom prst="rect">
                <a:avLst/>
              </a:prstGeom>
              <a:noFill/>
            </p:spPr>
            <p:txBody>
              <a:bodyPr wrap="none" lIns="0" tIns="0" rIns="0" bIns="0" rtlCol="0">
                <a:spAutoFit/>
              </a:bodyPr>
              <a:lstStyle/>
              <a:p>
                <a:pPr>
                  <a:lnSpc>
                    <a:spcPct val="114000"/>
                  </a:lnSpc>
                </a:pPr>
                <a14:m>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acc>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acc>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acc>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acc>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𝑣</m:t>
                        </m:r>
                      </m:e>
                      <m:sub>
                        <m:r>
                          <a:rPr lang="en-US" i="1">
                            <a:latin typeface="Cambria Math" panose="02040503050406030204" pitchFamily="18" charset="0"/>
                            <a:ea typeface="Cambria Math" panose="02040503050406030204" pitchFamily="18" charset="0"/>
                            <a:cs typeface="Arial" panose="020B0604020202020204" pitchFamily="34" charset="0"/>
                          </a:rPr>
                          <m:t>𝑠</m:t>
                        </m:r>
                      </m:sub>
                    </m:sSub>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r>
                              <a:rPr lang="en-US" b="0" i="1" smtClean="0">
                                <a:latin typeface="Cambria Math" panose="02040503050406030204" pitchFamily="18" charset="0"/>
                                <a:ea typeface="Cambria Math" panose="02040503050406030204" pitchFamily="18" charset="0"/>
                                <a:cs typeface="Arial" panose="020B0604020202020204" pitchFamily="34" charset="0"/>
                              </a:rPr>
                              <m:t>𝑐</m:t>
                            </m:r>
                            <m:r>
                              <a:rPr lang="en-US" b="0" i="1" smtClean="0">
                                <a:latin typeface="Cambria Math" panose="02040503050406030204" pitchFamily="18" charset="0"/>
                                <a:ea typeface="Cambria Math" panose="02040503050406030204" pitchFamily="18" charset="0"/>
                                <a:cs typeface="Arial" panose="020B0604020202020204" pitchFamily="34" charset="0"/>
                              </a:rPr>
                              <m:t>′</m:t>
                            </m:r>
                          </m:e>
                        </m:acc>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i="1">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r>
                              <a:rPr lang="en-US" i="1">
                                <a:latin typeface="Cambria Math" panose="02040503050406030204" pitchFamily="18" charset="0"/>
                                <a:ea typeface="Cambria Math" panose="02040503050406030204" pitchFamily="18" charset="0"/>
                                <a:cs typeface="Arial" panose="020B0604020202020204" pitchFamily="34" charset="0"/>
                              </a:rPr>
                              <m:t>𝑐</m:t>
                            </m:r>
                            <m:r>
                              <a:rPr lang="en-US" i="1">
                                <a:latin typeface="Cambria Math" panose="02040503050406030204" pitchFamily="18" charset="0"/>
                                <a:ea typeface="Cambria Math" panose="02040503050406030204" pitchFamily="18" charset="0"/>
                                <a:cs typeface="Arial" panose="020B0604020202020204" pitchFamily="34" charset="0"/>
                              </a:rPr>
                              <m:t>′</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oMath>
                </a14:m>
                <a:r>
                  <a:rPr lang="en-US" dirty="0">
                    <a:ea typeface="Cambria Math" panose="02040503050406030204" pitchFamily="18" charset="0"/>
                    <a:cs typeface="Arial" panose="020B0604020202020204" pitchFamily="34" charset="0"/>
                  </a:rPr>
                  <a:t> </a:t>
                </a:r>
                <a14:m>
                  <m:oMath xmlns:m="http://schemas.openxmlformats.org/officeDocument/2006/math">
                    <m:r>
                      <a:rPr lang="en-US" i="1">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r>
                              <a:rPr lang="en-US" i="1">
                                <a:latin typeface="Cambria Math" panose="02040503050406030204" pitchFamily="18" charset="0"/>
                                <a:ea typeface="Cambria Math" panose="02040503050406030204" pitchFamily="18" charset="0"/>
                                <a:cs typeface="Arial" panose="020B0604020202020204" pitchFamily="34" charset="0"/>
                              </a:rPr>
                              <m:t>𝑐</m:t>
                            </m:r>
                            <m:r>
                              <a:rPr lang="en-US" i="1">
                                <a:latin typeface="Cambria Math" panose="02040503050406030204" pitchFamily="18" charset="0"/>
                                <a:ea typeface="Cambria Math" panose="02040503050406030204" pitchFamily="18" charset="0"/>
                                <a:cs typeface="Arial" panose="020B0604020202020204" pitchFamily="34" charset="0"/>
                              </a:rPr>
                              <m:t>′</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oMath>
                </a14:m>
                <a:endParaRPr lang="en-US" dirty="0">
                  <a:latin typeface="Arial" panose="020B0604020202020204" pitchFamily="34" charset="0"/>
                  <a:cs typeface="Arial" panose="020B0604020202020204" pitchFamily="34" charset="0"/>
                </a:endParaRPr>
              </a:p>
            </p:txBody>
          </p:sp>
        </mc:Choice>
        <mc:Fallback xmlns="">
          <p:sp>
            <p:nvSpPr>
              <p:cNvPr id="14" name="TextBox 13">
                <a:extLst>
                  <a:ext uri="{FF2B5EF4-FFF2-40B4-BE49-F238E27FC236}">
                    <a16:creationId xmlns:a16="http://schemas.microsoft.com/office/drawing/2014/main" id="{1CEC3A2E-A719-0841-A5BF-BEFDFE3CE3D5}"/>
                  </a:ext>
                </a:extLst>
              </p:cNvPr>
              <p:cNvSpPr txBox="1">
                <a:spLocks noRot="1" noChangeAspect="1" noMove="1" noResize="1" noEditPoints="1" noAdjustHandles="1" noChangeArrowheads="1" noChangeShapeType="1" noTextEdit="1"/>
              </p:cNvSpPr>
              <p:nvPr/>
            </p:nvSpPr>
            <p:spPr>
              <a:xfrm>
                <a:off x="532024" y="5534110"/>
                <a:ext cx="5030673" cy="545727"/>
              </a:xfrm>
              <a:prstGeom prst="rect">
                <a:avLst/>
              </a:prstGeom>
              <a:blipFill>
                <a:blip r:embed="rId6"/>
                <a:stretch>
                  <a:fillRect l="-1256" r="-503" b="-9091"/>
                </a:stretch>
              </a:blipFill>
            </p:spPr>
            <p:txBody>
              <a:bodyPr/>
              <a:lstStyle/>
              <a:p>
                <a:r>
                  <a:rPr lang="en-US">
                    <a:noFill/>
                  </a:rPr>
                  <a:t> </a:t>
                </a:r>
              </a:p>
            </p:txBody>
          </p:sp>
        </mc:Fallback>
      </mc:AlternateContent>
    </p:spTree>
    <p:extLst>
      <p:ext uri="{BB962C8B-B14F-4D97-AF65-F5344CB8AC3E}">
        <p14:creationId xmlns:p14="http://schemas.microsoft.com/office/powerpoint/2010/main" val="37364166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28BE50B0-8363-CB49-981F-8AE8C5EF5FB9}"/>
              </a:ext>
            </a:extLst>
          </p:cNvPr>
          <p:cNvSpPr/>
          <p:nvPr/>
        </p:nvSpPr>
        <p:spPr>
          <a:xfrm>
            <a:off x="3400983" y="5442333"/>
            <a:ext cx="2559142" cy="804231"/>
          </a:xfrm>
          <a:prstGeom prst="ellipse">
            <a:avLst/>
          </a:prstGeom>
          <a:solidFill>
            <a:srgbClr val="F9D9FF"/>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23</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954107"/>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Local equation of conservation of suspended sediment averaged over turbulence</a:t>
            </a:r>
          </a:p>
        </p:txBody>
      </p:sp>
      <p:sp>
        <p:nvSpPr>
          <p:cNvPr id="2" name="TextBox 1">
            <a:extLst>
              <a:ext uri="{FF2B5EF4-FFF2-40B4-BE49-F238E27FC236}">
                <a16:creationId xmlns:a16="http://schemas.microsoft.com/office/drawing/2014/main" id="{DAF5A583-86AF-104B-8DD4-FCC014E36577}"/>
              </a:ext>
            </a:extLst>
          </p:cNvPr>
          <p:cNvSpPr txBox="1"/>
          <p:nvPr/>
        </p:nvSpPr>
        <p:spPr>
          <a:xfrm>
            <a:off x="383627" y="1169876"/>
            <a:ext cx="11579606"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local equation of conservation of suspended sediment averaged over turbulence takes the form </a:t>
            </a:r>
          </a:p>
          <a:p>
            <a:pPr algn="l">
              <a:lnSpc>
                <a:spcPct val="114000"/>
              </a:lnSpc>
            </a:pPr>
            <a:endParaRPr 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57C2771-B2EC-1540-8087-096B49A1CB4B}"/>
                  </a:ext>
                </a:extLst>
              </p:cNvPr>
              <p:cNvSpPr txBox="1"/>
              <p:nvPr/>
            </p:nvSpPr>
            <p:spPr>
              <a:xfrm>
                <a:off x="550844" y="1701193"/>
                <a:ext cx="2875787" cy="547650"/>
              </a:xfrm>
              <a:prstGeom prst="rect">
                <a:avLst/>
              </a:prstGeom>
              <a:noFill/>
            </p:spPr>
            <p:txBody>
              <a:bodyPr wrap="none" lIns="0" tIns="0" rIns="0" bIns="0" rtlCol="0">
                <a:spAutoFit/>
              </a:bodyPr>
              <a:lstStyle/>
              <a:p>
                <a:pPr>
                  <a:lnSpc>
                    <a:spcPct val="114000"/>
                  </a:lnSpc>
                </a:pP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𝑡</m:t>
                            </m:r>
                          </m:den>
                        </m:f>
                        <m:r>
                          <a:rPr lang="en-US" i="1">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𝑢𝑐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𝑥</m:t>
                            </m:r>
                          </m:den>
                        </m:f>
                        <m:r>
                          <a:rPr lang="en-US" i="1">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𝑣𝑐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𝑦</m:t>
                            </m:r>
                          </m:den>
                        </m:f>
                        <m:r>
                          <a:rPr lang="en-US" i="1">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d>
                              <m:dPr>
                                <m:ctrlPr>
                                  <a:rPr lang="en-US" i="1">
                                    <a:latin typeface="Cambria Math" panose="02040503050406030204" pitchFamily="18" charset="0"/>
                                    <a:ea typeface="Cambria Math" panose="02040503050406030204" pitchFamily="18" charset="0"/>
                                    <a:cs typeface="Arial" panose="020B0604020202020204" pitchFamily="34" charset="0"/>
                                  </a:rPr>
                                </m:ctrlPr>
                              </m:dPr>
                              <m:e>
                                <m:r>
                                  <a:rPr lang="en-US" i="1">
                                    <a:latin typeface="Cambria Math" panose="02040503050406030204" pitchFamily="18" charset="0"/>
                                    <a:ea typeface="Cambria Math" panose="02040503050406030204" pitchFamily="18" charset="0"/>
                                    <a:cs typeface="Arial" panose="020B0604020202020204" pitchFamily="34" charset="0"/>
                                  </a:rPr>
                                  <m:t>𝑤</m:t>
                                </m:r>
                                <m:r>
                                  <a:rPr lang="en-US" i="1">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𝑣</m:t>
                                    </m:r>
                                  </m:e>
                                  <m:sub>
                                    <m:r>
                                      <a:rPr lang="en-US" i="1">
                                        <a:latin typeface="Cambria Math" panose="02040503050406030204" pitchFamily="18" charset="0"/>
                                        <a:ea typeface="Cambria Math" panose="02040503050406030204" pitchFamily="18" charset="0"/>
                                        <a:cs typeface="Arial" panose="020B0604020202020204" pitchFamily="34" charset="0"/>
                                      </a:rPr>
                                      <m:t>𝑠</m:t>
                                    </m:r>
                                  </m:sub>
                                </m:sSub>
                              </m:e>
                            </m:d>
                            <m:r>
                              <a:rPr lang="en-US" i="1">
                                <a:latin typeface="Cambria Math" panose="02040503050406030204" pitchFamily="18" charset="0"/>
                                <a:ea typeface="Cambria Math" panose="02040503050406030204" pitchFamily="18" charset="0"/>
                                <a:cs typeface="Arial" panose="020B0604020202020204" pitchFamily="34" charset="0"/>
                              </a:rPr>
                              <m:t>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𝑧</m:t>
                            </m:r>
                          </m:den>
                        </m:f>
                      </m:e>
                    </m:acc>
                    <m:r>
                      <a:rPr lang="en-US" b="0" i="1" smtClean="0">
                        <a:latin typeface="Cambria Math" panose="02040503050406030204" pitchFamily="18" charset="0"/>
                        <a:cs typeface="Arial" panose="020B0604020202020204" pitchFamily="34" charset="0"/>
                      </a:rPr>
                      <m:t>=0</m:t>
                    </m:r>
                  </m:oMath>
                </a14:m>
                <a:r>
                  <a:rPr lang="en-US" dirty="0">
                    <a:latin typeface="Arial" panose="020B0604020202020204" pitchFamily="34" charset="0"/>
                    <a:cs typeface="Arial" panose="020B0604020202020204" pitchFamily="34" charset="0"/>
                  </a:rPr>
                  <a:t> </a:t>
                </a:r>
              </a:p>
            </p:txBody>
          </p:sp>
        </mc:Choice>
        <mc:Fallback xmlns="">
          <p:sp>
            <p:nvSpPr>
              <p:cNvPr id="11" name="TextBox 10">
                <a:extLst>
                  <a:ext uri="{FF2B5EF4-FFF2-40B4-BE49-F238E27FC236}">
                    <a16:creationId xmlns:a16="http://schemas.microsoft.com/office/drawing/2014/main" id="{957C2771-B2EC-1540-8087-096B49A1CB4B}"/>
                  </a:ext>
                </a:extLst>
              </p:cNvPr>
              <p:cNvSpPr txBox="1">
                <a:spLocks noRot="1" noChangeAspect="1" noMove="1" noResize="1" noEditPoints="1" noAdjustHandles="1" noChangeArrowheads="1" noChangeShapeType="1" noTextEdit="1"/>
              </p:cNvSpPr>
              <p:nvPr/>
            </p:nvSpPr>
            <p:spPr>
              <a:xfrm>
                <a:off x="550844" y="1701193"/>
                <a:ext cx="2875787" cy="547650"/>
              </a:xfrm>
              <a:prstGeom prst="rect">
                <a:avLst/>
              </a:prstGeom>
              <a:blipFill>
                <a:blip r:embed="rId2"/>
                <a:stretch>
                  <a:fillRect l="-2643" b="-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90C010B-0CB7-5D41-9FA1-1799DACAD832}"/>
                  </a:ext>
                </a:extLst>
              </p:cNvPr>
              <p:cNvSpPr txBox="1"/>
              <p:nvPr/>
            </p:nvSpPr>
            <p:spPr>
              <a:xfrm>
                <a:off x="550844" y="2425695"/>
                <a:ext cx="2850139" cy="547650"/>
              </a:xfrm>
              <a:prstGeom prst="rect">
                <a:avLst/>
              </a:prstGeom>
              <a:noFill/>
            </p:spPr>
            <p:txBody>
              <a:bodyPr wrap="none" lIns="0" tIns="0" rIns="0" bIns="0" rtlCol="0">
                <a:spAutoFit/>
              </a:bodyPr>
              <a:lstStyle/>
              <a:p>
                <a:pPr>
                  <a:lnSpc>
                    <a:spcPct val="114000"/>
                  </a:lnSpc>
                </a:pP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𝑡</m:t>
                            </m:r>
                          </m:den>
                        </m:f>
                      </m:e>
                    </m:acc>
                    <m:r>
                      <a:rPr lang="en-US" b="0" i="1" smtClean="0">
                        <a:latin typeface="Cambria Math" panose="02040503050406030204" pitchFamily="18" charset="0"/>
                        <a:cs typeface="Arial" panose="020B0604020202020204" pitchFamily="34" charset="0"/>
                      </a:rPr>
                      <m:t>+</m:t>
                    </m:r>
                    <m:acc>
                      <m:accPr>
                        <m:chr m:val="̅"/>
                        <m:ctrlPr>
                          <a:rPr lang="en-US" i="1" smtClean="0">
                            <a:latin typeface="Cambria Math" panose="02040503050406030204" pitchFamily="18" charset="0"/>
                            <a:cs typeface="Arial" panose="020B0604020202020204" pitchFamily="34" charset="0"/>
                          </a:rPr>
                        </m:ctrlPr>
                      </m:accPr>
                      <m:e>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𝑢𝑐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𝑥</m:t>
                            </m:r>
                          </m:den>
                        </m:f>
                      </m:e>
                    </m:acc>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𝑣𝑐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𝑦</m:t>
                            </m:r>
                          </m:den>
                        </m:f>
                      </m:e>
                    </m:acc>
                    <m:r>
                      <a:rPr lang="en-US" b="0" i="1" smtClean="0">
                        <a:latin typeface="Cambria Math" panose="02040503050406030204" pitchFamily="18" charset="0"/>
                        <a:cs typeface="Arial" panose="020B0604020202020204" pitchFamily="34" charset="0"/>
                      </a:rPr>
                      <m:t>+</m:t>
                    </m:r>
                    <m:acc>
                      <m:accPr>
                        <m:chr m:val="̅"/>
                        <m:ctrlPr>
                          <a:rPr lang="en-US" i="1" smtClean="0">
                            <a:latin typeface="Cambria Math" panose="02040503050406030204" pitchFamily="18" charset="0"/>
                            <a:cs typeface="Arial" panose="020B0604020202020204" pitchFamily="34" charset="0"/>
                          </a:rPr>
                        </m:ctrlPr>
                      </m:accPr>
                      <m:e>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d>
                              <m:dPr>
                                <m:ctrlPr>
                                  <a:rPr lang="en-US" i="1">
                                    <a:latin typeface="Cambria Math" panose="02040503050406030204" pitchFamily="18" charset="0"/>
                                    <a:ea typeface="Cambria Math" panose="02040503050406030204" pitchFamily="18" charset="0"/>
                                    <a:cs typeface="Arial" panose="020B0604020202020204" pitchFamily="34" charset="0"/>
                                  </a:rPr>
                                </m:ctrlPr>
                              </m:dPr>
                              <m:e>
                                <m:r>
                                  <a:rPr lang="en-US" i="1">
                                    <a:latin typeface="Cambria Math" panose="02040503050406030204" pitchFamily="18" charset="0"/>
                                    <a:ea typeface="Cambria Math" panose="02040503050406030204" pitchFamily="18" charset="0"/>
                                    <a:cs typeface="Arial" panose="020B0604020202020204" pitchFamily="34" charset="0"/>
                                  </a:rPr>
                                  <m:t>𝑤</m:t>
                                </m:r>
                                <m:r>
                                  <a:rPr lang="en-US" i="1">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𝑣</m:t>
                                    </m:r>
                                  </m:e>
                                  <m:sub>
                                    <m:r>
                                      <a:rPr lang="en-US" i="1">
                                        <a:latin typeface="Cambria Math" panose="02040503050406030204" pitchFamily="18" charset="0"/>
                                        <a:ea typeface="Cambria Math" panose="02040503050406030204" pitchFamily="18" charset="0"/>
                                        <a:cs typeface="Arial" panose="020B0604020202020204" pitchFamily="34" charset="0"/>
                                      </a:rPr>
                                      <m:t>𝑠</m:t>
                                    </m:r>
                                  </m:sub>
                                </m:sSub>
                              </m:e>
                            </m:d>
                            <m:r>
                              <a:rPr lang="en-US" i="1">
                                <a:latin typeface="Cambria Math" panose="02040503050406030204" pitchFamily="18" charset="0"/>
                                <a:ea typeface="Cambria Math" panose="02040503050406030204" pitchFamily="18" charset="0"/>
                                <a:cs typeface="Arial" panose="020B0604020202020204" pitchFamily="34" charset="0"/>
                              </a:rPr>
                              <m:t>𝑐</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𝑧</m:t>
                            </m:r>
                          </m:den>
                        </m:f>
                      </m:e>
                    </m:acc>
                    <m:r>
                      <a:rPr lang="en-US" b="0" i="1" smtClean="0">
                        <a:latin typeface="Cambria Math" panose="02040503050406030204" pitchFamily="18" charset="0"/>
                        <a:cs typeface="Arial" panose="020B0604020202020204" pitchFamily="34" charset="0"/>
                      </a:rPr>
                      <m:t>=0</m:t>
                    </m:r>
                  </m:oMath>
                </a14:m>
                <a:r>
                  <a:rPr lang="en-US" dirty="0">
                    <a:latin typeface="Arial" panose="020B0604020202020204" pitchFamily="34" charset="0"/>
                    <a:cs typeface="Arial" panose="020B0604020202020204" pitchFamily="34" charset="0"/>
                  </a:rPr>
                  <a:t> </a:t>
                </a:r>
              </a:p>
            </p:txBody>
          </p:sp>
        </mc:Choice>
        <mc:Fallback xmlns="">
          <p:sp>
            <p:nvSpPr>
              <p:cNvPr id="7" name="TextBox 6">
                <a:extLst>
                  <a:ext uri="{FF2B5EF4-FFF2-40B4-BE49-F238E27FC236}">
                    <a16:creationId xmlns:a16="http://schemas.microsoft.com/office/drawing/2014/main" id="{290C010B-0CB7-5D41-9FA1-1799DACAD832}"/>
                  </a:ext>
                </a:extLst>
              </p:cNvPr>
              <p:cNvSpPr txBox="1">
                <a:spLocks noRot="1" noChangeAspect="1" noMove="1" noResize="1" noEditPoints="1" noAdjustHandles="1" noChangeArrowheads="1" noChangeShapeType="1" noTextEdit="1"/>
              </p:cNvSpPr>
              <p:nvPr/>
            </p:nvSpPr>
            <p:spPr>
              <a:xfrm>
                <a:off x="550844" y="2425695"/>
                <a:ext cx="2850139" cy="547650"/>
              </a:xfrm>
              <a:prstGeom prst="rect">
                <a:avLst/>
              </a:prstGeom>
              <a:blipFill>
                <a:blip r:embed="rId3"/>
                <a:stretch>
                  <a:fillRect l="-2667" b="-90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7FA3F6E-235F-C14B-9B52-9FF54F1304EA}"/>
                  </a:ext>
                </a:extLst>
              </p:cNvPr>
              <p:cNvSpPr txBox="1"/>
              <p:nvPr/>
            </p:nvSpPr>
            <p:spPr>
              <a:xfrm>
                <a:off x="532024" y="3185665"/>
                <a:ext cx="5789214" cy="545727"/>
              </a:xfrm>
              <a:prstGeom prst="rect">
                <a:avLst/>
              </a:prstGeom>
              <a:noFill/>
            </p:spPr>
            <p:txBody>
              <a:bodyPr wrap="none" lIns="0" tIns="0" rIns="0" bIns="0" rtlCol="0">
                <a:spAutoFit/>
              </a:bodyPr>
              <a:lstStyle/>
              <a:p>
                <a:pPr>
                  <a:lnSpc>
                    <a:spcPct val="114000"/>
                  </a:lnSpc>
                </a:pPr>
                <a14:m>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smtClean="0">
                                <a:latin typeface="Cambria Math" panose="02040503050406030204" pitchFamily="18" charset="0"/>
                                <a:ea typeface="Cambria Math" panose="02040503050406030204" pitchFamily="18" charset="0"/>
                                <a:cs typeface="Arial" panose="020B0604020202020204" pitchFamily="34" charset="0"/>
                              </a:rPr>
                            </m:ctrlPr>
                          </m:accPr>
                          <m:e>
                            <m:d>
                              <m:dPr>
                                <m:ctrlPr>
                                  <a:rPr lang="en-US" i="1" smtClean="0">
                                    <a:latin typeface="Cambria Math" panose="02040503050406030204" pitchFamily="18" charset="0"/>
                                    <a:ea typeface="Cambria Math" panose="02040503050406030204" pitchFamily="18" charset="0"/>
                                    <a:cs typeface="Arial" panose="020B0604020202020204" pitchFamily="34" charset="0"/>
                                  </a:rPr>
                                </m:ctrlPr>
                              </m:dPr>
                              <m:e>
                                <m:acc>
                                  <m:accPr>
                                    <m:chr m:val="̅"/>
                                    <m:ctrlPr>
                                      <a:rPr lang="en-US"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acc>
                                <m:r>
                                  <a:rPr lang="en-US" b="0" i="1" smtClean="0">
                                    <a:latin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𝑐</m:t>
                                    </m:r>
                                  </m:e>
                                  <m:sup>
                                    <m:r>
                                      <a:rPr lang="en-US" b="0" i="1" smtClean="0">
                                        <a:latin typeface="Cambria Math" panose="02040503050406030204" pitchFamily="18" charset="0"/>
                                        <a:cs typeface="Arial" panose="020B0604020202020204" pitchFamily="34" charset="0"/>
                                      </a:rPr>
                                      <m:t>′</m:t>
                                    </m:r>
                                  </m:sup>
                                </m:sSup>
                              </m:e>
                            </m:d>
                          </m:e>
                        </m:acc>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acc>
                                <m:r>
                                  <a:rPr lang="en-US" i="1">
                                    <a:latin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𝑢</m:t>
                                    </m:r>
                                  </m:e>
                                  <m:sup>
                                    <m:r>
                                      <a:rPr lang="en-US" b="0" i="1" smtClean="0">
                                        <a:latin typeface="Cambria Math" panose="02040503050406030204" pitchFamily="18" charset="0"/>
                                        <a:cs typeface="Arial" panose="020B0604020202020204" pitchFamily="34" charset="0"/>
                                      </a:rPr>
                                      <m:t>′</m:t>
                                    </m:r>
                                  </m:sup>
                                </m:sSup>
                              </m:e>
                            </m:d>
                            <m:d>
                              <m:dPr>
                                <m:ctrlPr>
                                  <a:rPr lang="en-US" i="1">
                                    <a:latin typeface="Cambria Math" panose="02040503050406030204" pitchFamily="18" charset="0"/>
                                    <a:ea typeface="Cambria Math" panose="02040503050406030204" pitchFamily="18" charset="0"/>
                                    <a:cs typeface="Arial" panose="020B0604020202020204" pitchFamily="34" charset="0"/>
                                  </a:rPr>
                                </m:ctrlPr>
                              </m:dPr>
                              <m:e>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𝑐</m:t>
                                    </m:r>
                                  </m:e>
                                </m:acc>
                                <m:r>
                                  <a:rPr lang="en-US" i="1">
                                    <a:latin typeface="Cambria Math" panose="02040503050406030204" pitchFamily="18" charset="0"/>
                                    <a:cs typeface="Arial" panose="020B0604020202020204" pitchFamily="34" charset="0"/>
                                  </a:rPr>
                                  <m:t>+</m:t>
                                </m:r>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𝑐</m:t>
                                    </m:r>
                                  </m:e>
                                  <m:sup>
                                    <m:r>
                                      <a:rPr lang="en-US" i="1">
                                        <a:latin typeface="Cambria Math" panose="02040503050406030204" pitchFamily="18" charset="0"/>
                                        <a:cs typeface="Arial" panose="020B0604020202020204" pitchFamily="34" charset="0"/>
                                      </a:rPr>
                                      <m:t>′</m:t>
                                    </m:r>
                                  </m:sup>
                                </m:sSup>
                              </m:e>
                            </m:d>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0"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𝑣</m:t>
                                    </m:r>
                                  </m:e>
                                </m:acc>
                                <m:r>
                                  <a:rPr lang="en-US" i="1">
                                    <a:latin typeface="Cambria Math" panose="02040503050406030204" pitchFamily="18" charset="0"/>
                                    <a:cs typeface="Arial" panose="020B0604020202020204" pitchFamily="34" charset="0"/>
                                  </a:rPr>
                                  <m:t>+</m:t>
                                </m:r>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𝑣</m:t>
                                    </m:r>
                                  </m:e>
                                  <m:sup>
                                    <m:r>
                                      <a:rPr lang="en-US" i="1">
                                        <a:latin typeface="Cambria Math" panose="02040503050406030204" pitchFamily="18" charset="0"/>
                                        <a:cs typeface="Arial" panose="020B0604020202020204" pitchFamily="34" charset="0"/>
                                      </a:rPr>
                                      <m:t>′</m:t>
                                    </m:r>
                                  </m:sup>
                                </m:sSup>
                              </m:e>
                            </m:d>
                            <m:d>
                              <m:dPr>
                                <m:ctrlPr>
                                  <a:rPr lang="en-US" i="1">
                                    <a:latin typeface="Cambria Math" panose="02040503050406030204" pitchFamily="18" charset="0"/>
                                    <a:ea typeface="Cambria Math" panose="02040503050406030204" pitchFamily="18" charset="0"/>
                                    <a:cs typeface="Arial" panose="020B0604020202020204" pitchFamily="34" charset="0"/>
                                  </a:rPr>
                                </m:ctrlPr>
                              </m:dPr>
                              <m:e>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𝑐</m:t>
                                    </m:r>
                                  </m:e>
                                </m:acc>
                                <m:r>
                                  <a:rPr lang="en-US" i="1">
                                    <a:latin typeface="Cambria Math" panose="02040503050406030204" pitchFamily="18" charset="0"/>
                                    <a:cs typeface="Arial" panose="020B0604020202020204" pitchFamily="34" charset="0"/>
                                  </a:rPr>
                                  <m:t>+</m:t>
                                </m:r>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𝑐</m:t>
                                    </m:r>
                                  </m:e>
                                  <m:sup>
                                    <m:r>
                                      <a:rPr lang="en-US" i="1">
                                        <a:latin typeface="Cambria Math" panose="02040503050406030204" pitchFamily="18" charset="0"/>
                                        <a:cs typeface="Arial" panose="020B0604020202020204" pitchFamily="34" charset="0"/>
                                      </a:rPr>
                                      <m:t>′</m:t>
                                    </m:r>
                                  </m:sup>
                                </m:sSup>
                              </m:e>
                            </m:d>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𝑤</m:t>
                                    </m:r>
                                  </m:e>
                                </m:acc>
                                <m:r>
                                  <a:rPr lang="en-US" i="1">
                                    <a:latin typeface="Cambria Math" panose="02040503050406030204" pitchFamily="18" charset="0"/>
                                    <a:cs typeface="Arial" panose="020B0604020202020204" pitchFamily="34" charset="0"/>
                                  </a:rPr>
                                  <m:t>+</m:t>
                                </m:r>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𝑤</m:t>
                                    </m:r>
                                  </m:e>
                                  <m:sup>
                                    <m:r>
                                      <a:rPr lang="en-US" i="1">
                                        <a:latin typeface="Cambria Math" panose="02040503050406030204" pitchFamily="18" charset="0"/>
                                        <a:cs typeface="Arial" panose="020B0604020202020204" pitchFamily="34" charset="0"/>
                                      </a:rPr>
                                      <m:t>′</m:t>
                                    </m:r>
                                  </m:sup>
                                </m:sSup>
                                <m:r>
                                  <a:rPr lang="en-US" i="1">
                                    <a:latin typeface="Cambria Math" panose="02040503050406030204" pitchFamily="18" charset="0"/>
                                    <a:cs typeface="Arial" panose="020B0604020202020204" pitchFamily="34" charset="0"/>
                                  </a:rPr>
                                  <m:t>+</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e>
                            </m:d>
                            <m:d>
                              <m:dPr>
                                <m:ctrlPr>
                                  <a:rPr lang="en-US" i="1">
                                    <a:latin typeface="Cambria Math" panose="02040503050406030204" pitchFamily="18" charset="0"/>
                                    <a:ea typeface="Cambria Math" panose="02040503050406030204" pitchFamily="18" charset="0"/>
                                    <a:cs typeface="Arial" panose="020B0604020202020204" pitchFamily="34" charset="0"/>
                                  </a:rPr>
                                </m:ctrlPr>
                              </m:dPr>
                              <m:e>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𝑐</m:t>
                                    </m:r>
                                  </m:e>
                                </m:acc>
                                <m:r>
                                  <a:rPr lang="en-US" i="1">
                                    <a:latin typeface="Cambria Math" panose="02040503050406030204" pitchFamily="18" charset="0"/>
                                    <a:cs typeface="Arial" panose="020B0604020202020204" pitchFamily="34" charset="0"/>
                                  </a:rPr>
                                  <m:t>+</m:t>
                                </m:r>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𝑐</m:t>
                                    </m:r>
                                  </m:e>
                                  <m:sup>
                                    <m:r>
                                      <a:rPr lang="en-US" i="1">
                                        <a:latin typeface="Cambria Math" panose="02040503050406030204" pitchFamily="18" charset="0"/>
                                        <a:cs typeface="Arial" panose="020B0604020202020204" pitchFamily="34" charset="0"/>
                                      </a:rPr>
                                      <m:t>′</m:t>
                                    </m:r>
                                  </m:sup>
                                </m:sSup>
                              </m:e>
                            </m:d>
                          </m:e>
                        </m:acc>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=0</m:t>
                    </m:r>
                  </m:oMath>
                </a14:m>
                <a:r>
                  <a:rPr lang="en-US" dirty="0">
                    <a:latin typeface="Arial" panose="020B0604020202020204" pitchFamily="34" charset="0"/>
                    <a:cs typeface="Arial" panose="020B0604020202020204" pitchFamily="34" charset="0"/>
                  </a:rPr>
                  <a:t> </a:t>
                </a:r>
              </a:p>
            </p:txBody>
          </p:sp>
        </mc:Choice>
        <mc:Fallback xmlns="">
          <p:sp>
            <p:nvSpPr>
              <p:cNvPr id="8" name="TextBox 7">
                <a:extLst>
                  <a:ext uri="{FF2B5EF4-FFF2-40B4-BE49-F238E27FC236}">
                    <a16:creationId xmlns:a16="http://schemas.microsoft.com/office/drawing/2014/main" id="{F7FA3F6E-235F-C14B-9B52-9FF54F1304EA}"/>
                  </a:ext>
                </a:extLst>
              </p:cNvPr>
              <p:cNvSpPr txBox="1">
                <a:spLocks noRot="1" noChangeAspect="1" noMove="1" noResize="1" noEditPoints="1" noAdjustHandles="1" noChangeArrowheads="1" noChangeShapeType="1" noTextEdit="1"/>
              </p:cNvSpPr>
              <p:nvPr/>
            </p:nvSpPr>
            <p:spPr>
              <a:xfrm>
                <a:off x="532024" y="3185665"/>
                <a:ext cx="5789214" cy="545727"/>
              </a:xfrm>
              <a:prstGeom prst="rect">
                <a:avLst/>
              </a:prstGeom>
              <a:blipFill>
                <a:blip r:embed="rId4"/>
                <a:stretch>
                  <a:fillRect l="-1094" b="-930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7B350BFE-CF3B-B14E-B567-885F8E05D44B}"/>
                  </a:ext>
                </a:extLst>
              </p:cNvPr>
              <p:cNvSpPr/>
              <p:nvPr/>
            </p:nvSpPr>
            <p:spPr>
              <a:xfrm>
                <a:off x="383626" y="4414635"/>
                <a:ext cx="5460534" cy="38702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ea typeface="Cambria Math" panose="02040503050406030204" pitchFamily="18" charset="0"/>
                              <a:cs typeface="Arial" panose="020B0604020202020204" pitchFamily="34" charset="0"/>
                            </a:rPr>
                          </m:ctrlPr>
                        </m:acc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𝑢</m:t>
                                  </m:r>
                                </m:e>
                              </m:acc>
                              <m:r>
                                <a:rPr lang="en-US" i="1">
                                  <a:latin typeface="Cambria Math" panose="02040503050406030204" pitchFamily="18" charset="0"/>
                                  <a:cs typeface="Arial" panose="020B0604020202020204" pitchFamily="34" charset="0"/>
                                </a:rPr>
                                <m:t>+</m:t>
                              </m:r>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𝑢</m:t>
                                  </m:r>
                                </m:e>
                                <m:sup>
                                  <m:r>
                                    <a:rPr lang="en-US" i="1">
                                      <a:latin typeface="Cambria Math" panose="02040503050406030204" pitchFamily="18" charset="0"/>
                                      <a:cs typeface="Arial" panose="020B0604020202020204" pitchFamily="34" charset="0"/>
                                    </a:rPr>
                                    <m:t>′</m:t>
                                  </m:r>
                                </m:sup>
                              </m:sSup>
                            </m:e>
                          </m:d>
                          <m:d>
                            <m:dPr>
                              <m:ctrlPr>
                                <a:rPr lang="en-US" i="1">
                                  <a:latin typeface="Cambria Math" panose="02040503050406030204" pitchFamily="18" charset="0"/>
                                  <a:ea typeface="Cambria Math" panose="02040503050406030204" pitchFamily="18" charset="0"/>
                                  <a:cs typeface="Arial" panose="020B0604020202020204" pitchFamily="34" charset="0"/>
                                </a:rPr>
                              </m:ctrlPr>
                            </m:dPr>
                            <m:e>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𝑐</m:t>
                                  </m:r>
                                </m:e>
                              </m:acc>
                              <m:r>
                                <a:rPr lang="en-US" i="1">
                                  <a:latin typeface="Cambria Math" panose="02040503050406030204" pitchFamily="18" charset="0"/>
                                  <a:cs typeface="Arial" panose="020B0604020202020204" pitchFamily="34" charset="0"/>
                                </a:rPr>
                                <m:t>+</m:t>
                              </m:r>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𝑐</m:t>
                                  </m:r>
                                </m:e>
                                <m:sup>
                                  <m:r>
                                    <a:rPr lang="en-US" i="1">
                                      <a:latin typeface="Cambria Math" panose="02040503050406030204" pitchFamily="18" charset="0"/>
                                      <a:cs typeface="Arial" panose="020B0604020202020204" pitchFamily="34" charset="0"/>
                                    </a:rPr>
                                    <m:t>′</m:t>
                                  </m:r>
                                </m:sup>
                              </m:sSup>
                            </m:e>
                          </m:d>
                        </m:e>
                      </m:acc>
                      <m:r>
                        <a:rPr lang="en-US" b="0" i="1" smtClean="0">
                          <a:latin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acc>
                          <m:acc>
                            <m:accPr>
                              <m:chr m:val="̅"/>
                              <m:ctrlPr>
                                <a:rPr lang="en-US"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acc>
                          <m:r>
                            <a:rPr lang="en-US" b="0"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acc>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r>
                            <a:rPr lang="en-US"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acc>
                          <m:r>
                            <a:rPr lang="en-US"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e>
                      </m:acc>
                      <m:r>
                        <a:rPr lang="en-US" b="0"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𝑢</m:t>
                          </m:r>
                        </m:e>
                      </m:acc>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𝑐</m:t>
                          </m:r>
                        </m:e>
                      </m:acc>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smtClean="0">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𝑢</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𝑐</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oMath>
                  </m:oMathPara>
                </a14:m>
                <a:endParaRPr lang="en-US" dirty="0"/>
              </a:p>
            </p:txBody>
          </p:sp>
        </mc:Choice>
        <mc:Fallback xmlns="">
          <p:sp>
            <p:nvSpPr>
              <p:cNvPr id="12" name="Rectangle 11">
                <a:extLst>
                  <a:ext uri="{FF2B5EF4-FFF2-40B4-BE49-F238E27FC236}">
                    <a16:creationId xmlns:a16="http://schemas.microsoft.com/office/drawing/2014/main" id="{7B350BFE-CF3B-B14E-B567-885F8E05D44B}"/>
                  </a:ext>
                </a:extLst>
              </p:cNvPr>
              <p:cNvSpPr>
                <a:spLocks noRot="1" noChangeAspect="1" noMove="1" noResize="1" noEditPoints="1" noAdjustHandles="1" noChangeArrowheads="1" noChangeShapeType="1" noTextEdit="1"/>
              </p:cNvSpPr>
              <p:nvPr/>
            </p:nvSpPr>
            <p:spPr>
              <a:xfrm>
                <a:off x="383626" y="4414635"/>
                <a:ext cx="5460534" cy="387029"/>
              </a:xfrm>
              <a:prstGeom prst="rect">
                <a:avLst/>
              </a:prstGeom>
              <a:blipFill>
                <a:blip r:embed="rId5"/>
                <a:stretch>
                  <a:fillRect/>
                </a:stretch>
              </a:blipFill>
            </p:spPr>
            <p:txBody>
              <a:bodyPr/>
              <a:lstStyle/>
              <a:p>
                <a:r>
                  <a:rPr lang="en-US">
                    <a:noFill/>
                  </a:rPr>
                  <a:t> </a:t>
                </a:r>
              </a:p>
            </p:txBody>
          </p:sp>
        </mc:Fallback>
      </mc:AlternateContent>
      <p:sp>
        <p:nvSpPr>
          <p:cNvPr id="32" name="TextBox 31">
            <a:extLst>
              <a:ext uri="{FF2B5EF4-FFF2-40B4-BE49-F238E27FC236}">
                <a16:creationId xmlns:a16="http://schemas.microsoft.com/office/drawing/2014/main" id="{F45ED9CC-45B5-374F-90C0-75FD6F0D042F}"/>
              </a:ext>
            </a:extLst>
          </p:cNvPr>
          <p:cNvSpPr txBox="1"/>
          <p:nvPr/>
        </p:nvSpPr>
        <p:spPr>
          <a:xfrm>
            <a:off x="383626" y="3905801"/>
            <a:ext cx="11579606"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average of the products between a velocity component and the concentration is computed as follows</a:t>
            </a:r>
          </a:p>
          <a:p>
            <a:pPr algn="l">
              <a:lnSpc>
                <a:spcPct val="114000"/>
              </a:lnSpc>
            </a:pPr>
            <a:endParaRPr lang="en-US" dirty="0">
              <a:latin typeface="Arial" panose="020B0604020202020204" pitchFamily="34" charset="0"/>
              <a:cs typeface="Arial" panose="020B0604020202020204" pitchFamily="34" charset="0"/>
            </a:endParaRPr>
          </a:p>
        </p:txBody>
      </p:sp>
      <p:sp>
        <p:nvSpPr>
          <p:cNvPr id="34" name="TextBox 33">
            <a:extLst>
              <a:ext uri="{FF2B5EF4-FFF2-40B4-BE49-F238E27FC236}">
                <a16:creationId xmlns:a16="http://schemas.microsoft.com/office/drawing/2014/main" id="{0C4F7403-53CE-674F-BDAD-BF423BF96E77}"/>
              </a:ext>
            </a:extLst>
          </p:cNvPr>
          <p:cNvSpPr txBox="1"/>
          <p:nvPr/>
        </p:nvSpPr>
        <p:spPr>
          <a:xfrm>
            <a:off x="383626" y="5011771"/>
            <a:ext cx="11579606"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Substituting in the averaged equation it is found that </a:t>
            </a:r>
          </a:p>
          <a:p>
            <a:pPr algn="l">
              <a:lnSpc>
                <a:spcPct val="114000"/>
              </a:lnSpc>
            </a:pPr>
            <a:endParaRPr 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CEC3A2E-A719-0841-A5BF-BEFDFE3CE3D5}"/>
                  </a:ext>
                </a:extLst>
              </p:cNvPr>
              <p:cNvSpPr txBox="1"/>
              <p:nvPr/>
            </p:nvSpPr>
            <p:spPr>
              <a:xfrm>
                <a:off x="532024" y="5534110"/>
                <a:ext cx="5030673" cy="545727"/>
              </a:xfrm>
              <a:prstGeom prst="rect">
                <a:avLst/>
              </a:prstGeom>
              <a:noFill/>
            </p:spPr>
            <p:txBody>
              <a:bodyPr wrap="none" lIns="0" tIns="0" rIns="0" bIns="0" rtlCol="0">
                <a:spAutoFit/>
              </a:bodyPr>
              <a:lstStyle/>
              <a:p>
                <a:pPr>
                  <a:lnSpc>
                    <a:spcPct val="114000"/>
                  </a:lnSpc>
                </a:pPr>
                <a14:m>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acc>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acc>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acc>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acc>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𝑣</m:t>
                        </m:r>
                      </m:e>
                      <m:sub>
                        <m:r>
                          <a:rPr lang="en-US" i="1">
                            <a:latin typeface="Cambria Math" panose="02040503050406030204" pitchFamily="18" charset="0"/>
                            <a:ea typeface="Cambria Math" panose="02040503050406030204" pitchFamily="18" charset="0"/>
                            <a:cs typeface="Arial" panose="020B0604020202020204" pitchFamily="34" charset="0"/>
                          </a:rPr>
                          <m:t>𝑠</m:t>
                        </m:r>
                      </m:sub>
                    </m:sSub>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r>
                              <a:rPr lang="en-US" b="0" i="1" smtClean="0">
                                <a:latin typeface="Cambria Math" panose="02040503050406030204" pitchFamily="18" charset="0"/>
                                <a:ea typeface="Cambria Math" panose="02040503050406030204" pitchFamily="18" charset="0"/>
                                <a:cs typeface="Arial" panose="020B0604020202020204" pitchFamily="34" charset="0"/>
                              </a:rPr>
                              <m:t>𝑐</m:t>
                            </m:r>
                            <m:r>
                              <a:rPr lang="en-US" b="0" i="1" smtClean="0">
                                <a:latin typeface="Cambria Math" panose="02040503050406030204" pitchFamily="18" charset="0"/>
                                <a:ea typeface="Cambria Math" panose="02040503050406030204" pitchFamily="18" charset="0"/>
                                <a:cs typeface="Arial" panose="020B0604020202020204" pitchFamily="34" charset="0"/>
                              </a:rPr>
                              <m:t>′</m:t>
                            </m:r>
                          </m:e>
                        </m:acc>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i="1">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r>
                              <a:rPr lang="en-US" i="1">
                                <a:latin typeface="Cambria Math" panose="02040503050406030204" pitchFamily="18" charset="0"/>
                                <a:ea typeface="Cambria Math" panose="02040503050406030204" pitchFamily="18" charset="0"/>
                                <a:cs typeface="Arial" panose="020B0604020202020204" pitchFamily="34" charset="0"/>
                              </a:rPr>
                              <m:t>𝑐</m:t>
                            </m:r>
                            <m:r>
                              <a:rPr lang="en-US" i="1">
                                <a:latin typeface="Cambria Math" panose="02040503050406030204" pitchFamily="18" charset="0"/>
                                <a:ea typeface="Cambria Math" panose="02040503050406030204" pitchFamily="18" charset="0"/>
                                <a:cs typeface="Arial" panose="020B0604020202020204" pitchFamily="34" charset="0"/>
                              </a:rPr>
                              <m:t>′</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oMath>
                </a14:m>
                <a:r>
                  <a:rPr lang="en-US" dirty="0">
                    <a:ea typeface="Cambria Math" panose="02040503050406030204" pitchFamily="18" charset="0"/>
                    <a:cs typeface="Arial" panose="020B0604020202020204" pitchFamily="34" charset="0"/>
                  </a:rPr>
                  <a:t> </a:t>
                </a:r>
                <a14:m>
                  <m:oMath xmlns:m="http://schemas.openxmlformats.org/officeDocument/2006/math">
                    <m:r>
                      <a:rPr lang="en-US" i="1">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r>
                              <a:rPr lang="en-US" i="1">
                                <a:latin typeface="Cambria Math" panose="02040503050406030204" pitchFamily="18" charset="0"/>
                                <a:ea typeface="Cambria Math" panose="02040503050406030204" pitchFamily="18" charset="0"/>
                                <a:cs typeface="Arial" panose="020B0604020202020204" pitchFamily="34" charset="0"/>
                              </a:rPr>
                              <m:t>𝑐</m:t>
                            </m:r>
                            <m:r>
                              <a:rPr lang="en-US" i="1">
                                <a:latin typeface="Cambria Math" panose="02040503050406030204" pitchFamily="18" charset="0"/>
                                <a:ea typeface="Cambria Math" panose="02040503050406030204" pitchFamily="18" charset="0"/>
                                <a:cs typeface="Arial" panose="020B0604020202020204" pitchFamily="34" charset="0"/>
                              </a:rPr>
                              <m:t>′</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oMath>
                </a14:m>
                <a:endParaRPr lang="en-US" dirty="0">
                  <a:latin typeface="Arial" panose="020B0604020202020204" pitchFamily="34" charset="0"/>
                  <a:cs typeface="Arial" panose="020B0604020202020204" pitchFamily="34" charset="0"/>
                </a:endParaRPr>
              </a:p>
            </p:txBody>
          </p:sp>
        </mc:Choice>
        <mc:Fallback xmlns="">
          <p:sp>
            <p:nvSpPr>
              <p:cNvPr id="14" name="TextBox 13">
                <a:extLst>
                  <a:ext uri="{FF2B5EF4-FFF2-40B4-BE49-F238E27FC236}">
                    <a16:creationId xmlns:a16="http://schemas.microsoft.com/office/drawing/2014/main" id="{1CEC3A2E-A719-0841-A5BF-BEFDFE3CE3D5}"/>
                  </a:ext>
                </a:extLst>
              </p:cNvPr>
              <p:cNvSpPr txBox="1">
                <a:spLocks noRot="1" noChangeAspect="1" noMove="1" noResize="1" noEditPoints="1" noAdjustHandles="1" noChangeArrowheads="1" noChangeShapeType="1" noTextEdit="1"/>
              </p:cNvSpPr>
              <p:nvPr/>
            </p:nvSpPr>
            <p:spPr>
              <a:xfrm>
                <a:off x="532024" y="5534110"/>
                <a:ext cx="5030673" cy="545727"/>
              </a:xfrm>
              <a:prstGeom prst="rect">
                <a:avLst/>
              </a:prstGeom>
              <a:blipFill>
                <a:blip r:embed="rId6"/>
                <a:stretch>
                  <a:fillRect l="-1256" r="-503" b="-9091"/>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77906112-FE0D-234A-B979-CF50A9A7BBA4}"/>
              </a:ext>
            </a:extLst>
          </p:cNvPr>
          <p:cNvSpPr txBox="1"/>
          <p:nvPr/>
        </p:nvSpPr>
        <p:spPr>
          <a:xfrm>
            <a:off x="6321238" y="5534110"/>
            <a:ext cx="3018775" cy="381708"/>
          </a:xfrm>
          <a:prstGeom prst="rect">
            <a:avLst/>
          </a:prstGeom>
          <a:noFill/>
        </p:spPr>
        <p:txBody>
          <a:bodyPr wrap="none" rtlCol="0">
            <a:spAutoFit/>
          </a:bodyPr>
          <a:lstStyle/>
          <a:p>
            <a:pPr algn="l">
              <a:lnSpc>
                <a:spcPct val="114000"/>
              </a:lnSpc>
            </a:pPr>
            <a:r>
              <a:rPr lang="en-US" dirty="0">
                <a:latin typeface="Arial" panose="020B0604020202020204" pitchFamily="34" charset="0"/>
                <a:cs typeface="Arial" panose="020B0604020202020204" pitchFamily="34" charset="0"/>
              </a:rPr>
              <a:t>how do we deal with those?</a:t>
            </a:r>
          </a:p>
        </p:txBody>
      </p:sp>
    </p:spTree>
    <p:extLst>
      <p:ext uri="{BB962C8B-B14F-4D97-AF65-F5344CB8AC3E}">
        <p14:creationId xmlns:p14="http://schemas.microsoft.com/office/powerpoint/2010/main" val="35360097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24</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Reynolds flux of suspended sediment</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93BFC86-46AE-6C49-B622-DBBBCF969899}"/>
                  </a:ext>
                </a:extLst>
              </p:cNvPr>
              <p:cNvSpPr txBox="1"/>
              <p:nvPr/>
            </p:nvSpPr>
            <p:spPr>
              <a:xfrm>
                <a:off x="383626" y="1420784"/>
                <a:ext cx="11527088" cy="1014893"/>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The quantities </a:t>
                </a:r>
                <a14:m>
                  <m:oMath xmlns:m="http://schemas.openxmlformats.org/officeDocument/2006/math">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𝑢</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oMath>
                </a14:m>
                <a:r>
                  <a:rPr lang="en-US" dirty="0">
                    <a:latin typeface="Arial" panose="020B0604020202020204" pitchFamily="34" charset="0"/>
                    <a:cs typeface="Arial" panose="020B0604020202020204" pitchFamily="34" charset="0"/>
                  </a:rPr>
                  <a:t>, </a:t>
                </a:r>
                <a14:m>
                  <m:oMath xmlns:m="http://schemas.openxmlformats.org/officeDocument/2006/math">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𝑐</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oMath>
                </a14:m>
                <a:r>
                  <a:rPr lang="en-US" dirty="0">
                    <a:latin typeface="Arial" panose="020B0604020202020204" pitchFamily="34" charset="0"/>
                    <a:cs typeface="Arial" panose="020B0604020202020204" pitchFamily="34" charset="0"/>
                  </a:rPr>
                  <a:t> and </a:t>
                </a:r>
                <a14:m>
                  <m:oMath xmlns:m="http://schemas.openxmlformats.org/officeDocument/2006/math">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𝑐</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oMath>
                </a14:m>
                <a:r>
                  <a:rPr lang="en-US" dirty="0">
                    <a:latin typeface="Arial" panose="020B0604020202020204" pitchFamily="34" charset="0"/>
                    <a:cs typeface="Arial" panose="020B0604020202020204" pitchFamily="34" charset="0"/>
                  </a:rPr>
                  <a:t>  denote the convective Reynolds fluxes of suspended sediment. They characterize the tendency of turbulence to mix suspended sediment from areas of high concentrations to areas of low concentration, i.e. down the gradient of mean concentration. </a:t>
                </a:r>
              </a:p>
            </p:txBody>
          </p:sp>
        </mc:Choice>
        <mc:Fallback xmlns="">
          <p:sp>
            <p:nvSpPr>
              <p:cNvPr id="16" name="TextBox 15">
                <a:extLst>
                  <a:ext uri="{FF2B5EF4-FFF2-40B4-BE49-F238E27FC236}">
                    <a16:creationId xmlns:a16="http://schemas.microsoft.com/office/drawing/2014/main" id="{E93BFC86-46AE-6C49-B622-DBBBCF969899}"/>
                  </a:ext>
                </a:extLst>
              </p:cNvPr>
              <p:cNvSpPr txBox="1">
                <a:spLocks noRot="1" noChangeAspect="1" noMove="1" noResize="1" noEditPoints="1" noAdjustHandles="1" noChangeArrowheads="1" noChangeShapeType="1" noTextEdit="1"/>
              </p:cNvSpPr>
              <p:nvPr/>
            </p:nvSpPr>
            <p:spPr>
              <a:xfrm>
                <a:off x="383626" y="1420784"/>
                <a:ext cx="11527088" cy="1014893"/>
              </a:xfrm>
              <a:prstGeom prst="rect">
                <a:avLst/>
              </a:prstGeom>
              <a:blipFill>
                <a:blip r:embed="rId3"/>
                <a:stretch>
                  <a:fillRect l="-441" t="-1235" b="-8642"/>
                </a:stretch>
              </a:blipFill>
            </p:spPr>
            <p:txBody>
              <a:bodyPr/>
              <a:lstStyle/>
              <a:p>
                <a:r>
                  <a:rPr lang="en-US">
                    <a:noFill/>
                  </a:rPr>
                  <a:t> </a:t>
                </a:r>
              </a:p>
            </p:txBody>
          </p:sp>
        </mc:Fallback>
      </mc:AlternateContent>
      <p:sp>
        <p:nvSpPr>
          <p:cNvPr id="17" name="Rectangle 16">
            <a:extLst>
              <a:ext uri="{FF2B5EF4-FFF2-40B4-BE49-F238E27FC236}">
                <a16:creationId xmlns:a16="http://schemas.microsoft.com/office/drawing/2014/main" id="{ECAFBF10-1DC2-6B4A-AA12-0CF2694046EE}"/>
              </a:ext>
            </a:extLst>
          </p:cNvPr>
          <p:cNvSpPr/>
          <p:nvPr/>
        </p:nvSpPr>
        <p:spPr>
          <a:xfrm>
            <a:off x="2063956" y="2588749"/>
            <a:ext cx="8362122" cy="1770419"/>
          </a:xfrm>
          <a:prstGeom prst="rect">
            <a:avLst/>
          </a:prstGeom>
          <a:gradFill flip="none" rotWithShape="1">
            <a:gsLst>
              <a:gs pos="0">
                <a:schemeClr val="accent5">
                  <a:lumMod val="42000"/>
                  <a:lumOff val="58000"/>
                </a:schemeClr>
              </a:gs>
              <a:gs pos="100000">
                <a:schemeClr val="accent4">
                  <a:lumMod val="75000"/>
                </a:schemeClr>
              </a:gs>
            </a:gsLst>
            <a:lin ang="5400000" scaled="1"/>
            <a:tileRect/>
          </a:gra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1F2B3CA-1C20-694E-B276-5E2C754C33E9}"/>
              </a:ext>
            </a:extLst>
          </p:cNvPr>
          <p:cNvSpPr/>
          <p:nvPr/>
        </p:nvSpPr>
        <p:spPr>
          <a:xfrm>
            <a:off x="2063956" y="3819183"/>
            <a:ext cx="8362122" cy="540000"/>
          </a:xfrm>
          <a:prstGeom prst="rect">
            <a:avLst/>
          </a:prstGeom>
          <a:pattFill prst="pct25">
            <a:fgClr>
              <a:schemeClr val="accent4">
                <a:lumMod val="75000"/>
              </a:schemeClr>
            </a:fgClr>
            <a:bgClr>
              <a:schemeClr val="bg1"/>
            </a:bgClr>
          </a:patt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B8F9072B-FAED-E34D-A493-1550A6EF10EB}"/>
              </a:ext>
            </a:extLst>
          </p:cNvPr>
          <p:cNvSpPr/>
          <p:nvPr/>
        </p:nvSpPr>
        <p:spPr>
          <a:xfrm>
            <a:off x="963496" y="3234738"/>
            <a:ext cx="936994" cy="374754"/>
          </a:xfrm>
          <a:prstGeom prst="right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F0F5E43C-3EC3-444E-806E-821D7084C74D}"/>
              </a:ext>
            </a:extLst>
          </p:cNvPr>
          <p:cNvSpPr txBox="1"/>
          <p:nvPr/>
        </p:nvSpPr>
        <p:spPr>
          <a:xfrm>
            <a:off x="965940" y="2974251"/>
            <a:ext cx="936994"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flow</a:t>
            </a:r>
          </a:p>
        </p:txBody>
      </p:sp>
      <p:cxnSp>
        <p:nvCxnSpPr>
          <p:cNvPr id="26" name="Straight Arrow Connector 25">
            <a:extLst>
              <a:ext uri="{FF2B5EF4-FFF2-40B4-BE49-F238E27FC236}">
                <a16:creationId xmlns:a16="http://schemas.microsoft.com/office/drawing/2014/main" id="{F47901D6-43B5-294C-9981-55254364F5EE}"/>
              </a:ext>
            </a:extLst>
          </p:cNvPr>
          <p:cNvCxnSpPr/>
          <p:nvPr/>
        </p:nvCxnSpPr>
        <p:spPr>
          <a:xfrm flipV="1">
            <a:off x="3317007" y="3140048"/>
            <a:ext cx="0" cy="679135"/>
          </a:xfrm>
          <a:prstGeom prst="straightConnector1">
            <a:avLst/>
          </a:prstGeom>
          <a:ln w="190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0E4D3EA0-66F0-794D-8FE4-2DBD8F2E41DC}"/>
              </a:ext>
            </a:extLst>
          </p:cNvPr>
          <p:cNvSpPr txBox="1"/>
          <p:nvPr/>
        </p:nvSpPr>
        <p:spPr>
          <a:xfrm>
            <a:off x="3002469" y="2974251"/>
            <a:ext cx="46605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z</a:t>
            </a:r>
          </a:p>
        </p:txBody>
      </p:sp>
      <p:cxnSp>
        <p:nvCxnSpPr>
          <p:cNvPr id="28" name="Straight Connector 27">
            <a:extLst>
              <a:ext uri="{FF2B5EF4-FFF2-40B4-BE49-F238E27FC236}">
                <a16:creationId xmlns:a16="http://schemas.microsoft.com/office/drawing/2014/main" id="{31F383C2-98BF-DB4F-9B64-AB7F8E7427A9}"/>
              </a:ext>
            </a:extLst>
          </p:cNvPr>
          <p:cNvCxnSpPr/>
          <p:nvPr/>
        </p:nvCxnSpPr>
        <p:spPr>
          <a:xfrm>
            <a:off x="5475591" y="2588749"/>
            <a:ext cx="0" cy="12304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8483155-485F-2D41-BC7E-FC7ED7DE3B86}"/>
              </a:ext>
            </a:extLst>
          </p:cNvPr>
          <p:cNvCxnSpPr/>
          <p:nvPr/>
        </p:nvCxnSpPr>
        <p:spPr>
          <a:xfrm>
            <a:off x="7231939" y="2577296"/>
            <a:ext cx="0" cy="12304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Freeform 29">
            <a:extLst>
              <a:ext uri="{FF2B5EF4-FFF2-40B4-BE49-F238E27FC236}">
                <a16:creationId xmlns:a16="http://schemas.microsoft.com/office/drawing/2014/main" id="{FDA1D57E-8616-9149-843D-C1904ACF8159}"/>
              </a:ext>
            </a:extLst>
          </p:cNvPr>
          <p:cNvSpPr/>
          <p:nvPr/>
        </p:nvSpPr>
        <p:spPr>
          <a:xfrm>
            <a:off x="5769148" y="2612315"/>
            <a:ext cx="584617" cy="1184223"/>
          </a:xfrm>
          <a:custGeom>
            <a:avLst/>
            <a:gdLst>
              <a:gd name="connsiteX0" fmla="*/ 0 w 584617"/>
              <a:gd name="connsiteY0" fmla="*/ 0 h 1184223"/>
              <a:gd name="connsiteX1" fmla="*/ 44971 w 584617"/>
              <a:gd name="connsiteY1" fmla="*/ 329784 h 1184223"/>
              <a:gd name="connsiteX2" fmla="*/ 179882 w 584617"/>
              <a:gd name="connsiteY2" fmla="*/ 749508 h 1184223"/>
              <a:gd name="connsiteX3" fmla="*/ 389745 w 584617"/>
              <a:gd name="connsiteY3" fmla="*/ 1019331 h 1184223"/>
              <a:gd name="connsiteX4" fmla="*/ 524656 w 584617"/>
              <a:gd name="connsiteY4" fmla="*/ 1094282 h 1184223"/>
              <a:gd name="connsiteX5" fmla="*/ 584617 w 584617"/>
              <a:gd name="connsiteY5" fmla="*/ 1184223 h 1184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4617" h="1184223">
                <a:moveTo>
                  <a:pt x="0" y="0"/>
                </a:moveTo>
                <a:cubicBezTo>
                  <a:pt x="7495" y="102433"/>
                  <a:pt x="14991" y="204866"/>
                  <a:pt x="44971" y="329784"/>
                </a:cubicBezTo>
                <a:cubicBezTo>
                  <a:pt x="74951" y="454702"/>
                  <a:pt x="122420" y="634584"/>
                  <a:pt x="179882" y="749508"/>
                </a:cubicBezTo>
                <a:cubicBezTo>
                  <a:pt x="237344" y="864432"/>
                  <a:pt x="332283" y="961869"/>
                  <a:pt x="389745" y="1019331"/>
                </a:cubicBezTo>
                <a:cubicBezTo>
                  <a:pt x="447207" y="1076793"/>
                  <a:pt x="492177" y="1066800"/>
                  <a:pt x="524656" y="1094282"/>
                </a:cubicBezTo>
                <a:cubicBezTo>
                  <a:pt x="557135" y="1121764"/>
                  <a:pt x="570876" y="1152993"/>
                  <a:pt x="584617" y="1184223"/>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a:extLst>
              <a:ext uri="{FF2B5EF4-FFF2-40B4-BE49-F238E27FC236}">
                <a16:creationId xmlns:a16="http://schemas.microsoft.com/office/drawing/2014/main" id="{5C0DF430-FD64-8449-89AD-986886FBD0C0}"/>
              </a:ext>
            </a:extLst>
          </p:cNvPr>
          <p:cNvSpPr/>
          <p:nvPr/>
        </p:nvSpPr>
        <p:spPr>
          <a:xfrm>
            <a:off x="7244430" y="2570422"/>
            <a:ext cx="854439" cy="1214203"/>
          </a:xfrm>
          <a:custGeom>
            <a:avLst/>
            <a:gdLst>
              <a:gd name="connsiteX0" fmla="*/ 0 w 854439"/>
              <a:gd name="connsiteY0" fmla="*/ 1214203 h 1214203"/>
              <a:gd name="connsiteX1" fmla="*/ 539646 w 854439"/>
              <a:gd name="connsiteY1" fmla="*/ 1154242 h 1214203"/>
              <a:gd name="connsiteX2" fmla="*/ 704538 w 854439"/>
              <a:gd name="connsiteY2" fmla="*/ 974360 h 1214203"/>
              <a:gd name="connsiteX3" fmla="*/ 824459 w 854439"/>
              <a:gd name="connsiteY3" fmla="*/ 404734 h 1214203"/>
              <a:gd name="connsiteX4" fmla="*/ 854439 w 854439"/>
              <a:gd name="connsiteY4" fmla="*/ 0 h 12142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439" h="1214203">
                <a:moveTo>
                  <a:pt x="0" y="1214203"/>
                </a:moveTo>
                <a:cubicBezTo>
                  <a:pt x="211111" y="1204209"/>
                  <a:pt x="422223" y="1194216"/>
                  <a:pt x="539646" y="1154242"/>
                </a:cubicBezTo>
                <a:cubicBezTo>
                  <a:pt x="657069" y="1114268"/>
                  <a:pt x="657069" y="1099278"/>
                  <a:pt x="704538" y="974360"/>
                </a:cubicBezTo>
                <a:cubicBezTo>
                  <a:pt x="752007" y="849442"/>
                  <a:pt x="799476" y="567127"/>
                  <a:pt x="824459" y="404734"/>
                </a:cubicBezTo>
                <a:cubicBezTo>
                  <a:pt x="849443" y="242341"/>
                  <a:pt x="851941" y="121170"/>
                  <a:pt x="854439" y="0"/>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Arrow Connector 31">
            <a:extLst>
              <a:ext uri="{FF2B5EF4-FFF2-40B4-BE49-F238E27FC236}">
                <a16:creationId xmlns:a16="http://schemas.microsoft.com/office/drawing/2014/main" id="{7846BE5B-B97B-B244-8654-6CDD5746D03E}"/>
              </a:ext>
            </a:extLst>
          </p:cNvPr>
          <p:cNvCxnSpPr>
            <a:cxnSpLocks/>
          </p:cNvCxnSpPr>
          <p:nvPr/>
        </p:nvCxnSpPr>
        <p:spPr>
          <a:xfrm>
            <a:off x="5475591" y="3473958"/>
            <a:ext cx="585865"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9338797-7F8F-8141-BC03-D66907748AF3}"/>
              </a:ext>
            </a:extLst>
          </p:cNvPr>
          <p:cNvCxnSpPr>
            <a:cxnSpLocks/>
          </p:cNvCxnSpPr>
          <p:nvPr/>
        </p:nvCxnSpPr>
        <p:spPr>
          <a:xfrm>
            <a:off x="7244430" y="3347594"/>
            <a:ext cx="749508"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7C91644B-183D-5041-BD6F-B91339E019C1}"/>
                  </a:ext>
                </a:extLst>
              </p:cNvPr>
              <p:cNvSpPr txBox="1"/>
              <p:nvPr/>
            </p:nvSpPr>
            <p:spPr>
              <a:xfrm>
                <a:off x="5538489" y="3177523"/>
                <a:ext cx="177228"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oMath>
                  </m:oMathPara>
                </a14:m>
                <a:endParaRPr lang="en-US" dirty="0">
                  <a:latin typeface="Arial" panose="020B0604020202020204" pitchFamily="34" charset="0"/>
                  <a:cs typeface="Arial" panose="020B0604020202020204" pitchFamily="34" charset="0"/>
                </a:endParaRPr>
              </a:p>
            </p:txBody>
          </p:sp>
        </mc:Choice>
        <mc:Fallback xmlns="">
          <p:sp>
            <p:nvSpPr>
              <p:cNvPr id="34" name="TextBox 33">
                <a:extLst>
                  <a:ext uri="{FF2B5EF4-FFF2-40B4-BE49-F238E27FC236}">
                    <a16:creationId xmlns:a16="http://schemas.microsoft.com/office/drawing/2014/main" id="{7C91644B-183D-5041-BD6F-B91339E019C1}"/>
                  </a:ext>
                </a:extLst>
              </p:cNvPr>
              <p:cNvSpPr txBox="1">
                <a:spLocks noRot="1" noChangeAspect="1" noMove="1" noResize="1" noEditPoints="1" noAdjustHandles="1" noChangeArrowheads="1" noChangeShapeType="1" noTextEdit="1"/>
              </p:cNvSpPr>
              <p:nvPr/>
            </p:nvSpPr>
            <p:spPr>
              <a:xfrm>
                <a:off x="5538489" y="3177523"/>
                <a:ext cx="177228" cy="315792"/>
              </a:xfrm>
              <a:prstGeom prst="rect">
                <a:avLst/>
              </a:prstGeom>
              <a:blipFill>
                <a:blip r:embed="rId4"/>
                <a:stretch>
                  <a:fillRect l="-20000" r="-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97AE2F3-1D65-9048-BC0D-E736250F704D}"/>
                  </a:ext>
                </a:extLst>
              </p:cNvPr>
              <p:cNvSpPr txBox="1"/>
              <p:nvPr/>
            </p:nvSpPr>
            <p:spPr>
              <a:xfrm>
                <a:off x="7472064" y="3001097"/>
                <a:ext cx="203004"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𝑢</m:t>
                          </m:r>
                        </m:e>
                      </m:acc>
                    </m:oMath>
                  </m:oMathPara>
                </a14:m>
                <a:endParaRPr lang="en-US" dirty="0">
                  <a:latin typeface="Arial" panose="020B0604020202020204" pitchFamily="34" charset="0"/>
                  <a:cs typeface="Arial" panose="020B0604020202020204" pitchFamily="34" charset="0"/>
                </a:endParaRPr>
              </a:p>
            </p:txBody>
          </p:sp>
        </mc:Choice>
        <mc:Fallback xmlns="">
          <p:sp>
            <p:nvSpPr>
              <p:cNvPr id="35" name="TextBox 34">
                <a:extLst>
                  <a:ext uri="{FF2B5EF4-FFF2-40B4-BE49-F238E27FC236}">
                    <a16:creationId xmlns:a16="http://schemas.microsoft.com/office/drawing/2014/main" id="{597AE2F3-1D65-9048-BC0D-E736250F704D}"/>
                  </a:ext>
                </a:extLst>
              </p:cNvPr>
              <p:cNvSpPr txBox="1">
                <a:spLocks noRot="1" noChangeAspect="1" noMove="1" noResize="1" noEditPoints="1" noAdjustHandles="1" noChangeArrowheads="1" noChangeShapeType="1" noTextEdit="1"/>
              </p:cNvSpPr>
              <p:nvPr/>
            </p:nvSpPr>
            <p:spPr>
              <a:xfrm>
                <a:off x="7472064" y="3001097"/>
                <a:ext cx="203004" cy="315792"/>
              </a:xfrm>
              <a:prstGeom prst="rect">
                <a:avLst/>
              </a:prstGeom>
              <a:blipFill>
                <a:blip r:embed="rId5"/>
                <a:stretch>
                  <a:fillRect l="-11765" r="-5882"/>
                </a:stretch>
              </a:blipFill>
            </p:spPr>
            <p:txBody>
              <a:bodyPr/>
              <a:lstStyle/>
              <a:p>
                <a:r>
                  <a:rPr lang="en-US">
                    <a:noFill/>
                  </a:rPr>
                  <a:t> </a:t>
                </a:r>
              </a:p>
            </p:txBody>
          </p:sp>
        </mc:Fallback>
      </mc:AlternateContent>
      <p:cxnSp>
        <p:nvCxnSpPr>
          <p:cNvPr id="36" name="Straight Arrow Connector 35">
            <a:extLst>
              <a:ext uri="{FF2B5EF4-FFF2-40B4-BE49-F238E27FC236}">
                <a16:creationId xmlns:a16="http://schemas.microsoft.com/office/drawing/2014/main" id="{37276F2E-B504-C14B-9BA0-9B153DAB8943}"/>
              </a:ext>
            </a:extLst>
          </p:cNvPr>
          <p:cNvCxnSpPr/>
          <p:nvPr/>
        </p:nvCxnSpPr>
        <p:spPr>
          <a:xfrm>
            <a:off x="9193151" y="2588749"/>
            <a:ext cx="0" cy="1230434"/>
          </a:xfrm>
          <a:prstGeom prst="straightConnector1">
            <a:avLst/>
          </a:prstGeom>
          <a:ln w="19050">
            <a:solidFill>
              <a:schemeClr val="tx1"/>
            </a:solidFill>
            <a:headEnd type="arrow" w="lg" len="lg"/>
            <a:tailEnd type="arrow" w="lg" len="lg"/>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81ED501-140C-8346-9135-AEA297EBB31E}"/>
              </a:ext>
            </a:extLst>
          </p:cNvPr>
          <p:cNvSpPr txBox="1"/>
          <p:nvPr/>
        </p:nvSpPr>
        <p:spPr>
          <a:xfrm>
            <a:off x="8862011" y="2916817"/>
            <a:ext cx="46605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H</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578764D-EA09-084E-AC2E-754A721232BA}"/>
                  </a:ext>
                </a:extLst>
              </p:cNvPr>
              <p:cNvSpPr txBox="1"/>
              <p:nvPr/>
            </p:nvSpPr>
            <p:spPr>
              <a:xfrm>
                <a:off x="383626" y="4653903"/>
                <a:ext cx="11435937" cy="1014252"/>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In the figure above concentration declines in the positive z direction, turbulence mixes sediment from zones of high concentration (lower part of the water column) to zones of low concentration (higher part of the water column). This generates a positive value of </a:t>
                </a:r>
                <a14:m>
                  <m:oMath xmlns:m="http://schemas.openxmlformats.org/officeDocument/2006/math">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oMath>
                </a14:m>
                <a:r>
                  <a:rPr lang="en-US" dirty="0">
                    <a:latin typeface="Arial" panose="020B0604020202020204" pitchFamily="34" charset="0"/>
                    <a:cs typeface="Arial" panose="020B0604020202020204" pitchFamily="34" charset="0"/>
                  </a:rPr>
                  <a:t>.</a:t>
                </a:r>
              </a:p>
            </p:txBody>
          </p:sp>
        </mc:Choice>
        <mc:Fallback xmlns="">
          <p:sp>
            <p:nvSpPr>
              <p:cNvPr id="2" name="TextBox 1">
                <a:extLst>
                  <a:ext uri="{FF2B5EF4-FFF2-40B4-BE49-F238E27FC236}">
                    <a16:creationId xmlns:a16="http://schemas.microsoft.com/office/drawing/2014/main" id="{4578764D-EA09-084E-AC2E-754A721232BA}"/>
                  </a:ext>
                </a:extLst>
              </p:cNvPr>
              <p:cNvSpPr txBox="1">
                <a:spLocks noRot="1" noChangeAspect="1" noMove="1" noResize="1" noEditPoints="1" noAdjustHandles="1" noChangeArrowheads="1" noChangeShapeType="1" noTextEdit="1"/>
              </p:cNvSpPr>
              <p:nvPr/>
            </p:nvSpPr>
            <p:spPr>
              <a:xfrm>
                <a:off x="383626" y="4653903"/>
                <a:ext cx="11435937" cy="1014252"/>
              </a:xfrm>
              <a:prstGeom prst="rect">
                <a:avLst/>
              </a:prstGeom>
              <a:blipFill>
                <a:blip r:embed="rId6"/>
                <a:stretch>
                  <a:fillRect l="-444" t="-2469" b="-8642"/>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379537B7-8D1F-704C-8631-787FF2934087}"/>
              </a:ext>
            </a:extLst>
          </p:cNvPr>
          <p:cNvCxnSpPr>
            <a:cxnSpLocks/>
          </p:cNvCxnSpPr>
          <p:nvPr/>
        </p:nvCxnSpPr>
        <p:spPr>
          <a:xfrm>
            <a:off x="6614925" y="2908234"/>
            <a:ext cx="5605" cy="513881"/>
          </a:xfrm>
          <a:prstGeom prst="straightConnector1">
            <a:avLst/>
          </a:prstGeom>
          <a:ln w="38100">
            <a:solidFill>
              <a:srgbClr val="FF0000"/>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B1D33BD-71A3-D149-82F4-B3ACC6C4F6A6}"/>
                  </a:ext>
                </a:extLst>
              </p:cNvPr>
              <p:cNvSpPr txBox="1"/>
              <p:nvPr/>
            </p:nvSpPr>
            <p:spPr>
              <a:xfrm>
                <a:off x="5768523" y="3865256"/>
                <a:ext cx="2434063" cy="315792"/>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𝑐</m:t>
                          </m:r>
                        </m:e>
                        <m:sup>
                          <m:r>
                            <a:rPr lang="en-US" b="0" i="1" smtClean="0">
                              <a:latin typeface="Cambria Math" panose="02040503050406030204" pitchFamily="18" charset="0"/>
                              <a:cs typeface="Arial" panose="020B0604020202020204" pitchFamily="34" charset="0"/>
                            </a:rPr>
                            <m:t>′</m:t>
                          </m:r>
                        </m:sup>
                      </m:sSup>
                      <m:r>
                        <a:rPr lang="en-US" b="0" i="1" smtClean="0">
                          <a:latin typeface="Cambria Math" panose="02040503050406030204" pitchFamily="18" charset="0"/>
                          <a:cs typeface="Arial" panose="020B0604020202020204" pitchFamily="34" charset="0"/>
                        </a:rPr>
                        <m:t>&gt;0, </m:t>
                      </m:r>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𝑤</m:t>
                          </m:r>
                        </m:e>
                        <m:sup>
                          <m:r>
                            <a:rPr lang="en-US" b="0" i="1" smtClean="0">
                              <a:latin typeface="Cambria Math" panose="02040503050406030204" pitchFamily="18" charset="0"/>
                              <a:cs typeface="Arial" panose="020B0604020202020204" pitchFamily="34" charset="0"/>
                            </a:rPr>
                            <m:t>′</m:t>
                          </m:r>
                        </m:sup>
                      </m:sSup>
                      <m:r>
                        <a:rPr lang="en-US" b="0" i="1" smtClean="0">
                          <a:latin typeface="Cambria Math" panose="02040503050406030204" pitchFamily="18" charset="0"/>
                          <a:cs typeface="Arial" panose="020B0604020202020204" pitchFamily="34" charset="0"/>
                        </a:rPr>
                        <m:t>&gt;0,</m:t>
                      </m:r>
                      <m:sSup>
                        <m:sSupPr>
                          <m:ctrlPr>
                            <a:rPr lang="en-US" i="1">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 </m:t>
                          </m:r>
                          <m:r>
                            <a:rPr lang="en-US" i="1">
                              <a:latin typeface="Cambria Math" panose="02040503050406030204" pitchFamily="18" charset="0"/>
                              <a:cs typeface="Arial" panose="020B0604020202020204" pitchFamily="34" charset="0"/>
                            </a:rPr>
                            <m:t>𝑤</m:t>
                          </m:r>
                        </m:e>
                        <m:sup>
                          <m:r>
                            <a:rPr lang="en-US" i="1">
                              <a:latin typeface="Cambria Math" panose="02040503050406030204" pitchFamily="18" charset="0"/>
                              <a:cs typeface="Arial" panose="020B0604020202020204" pitchFamily="34" charset="0"/>
                            </a:rPr>
                            <m:t>′</m:t>
                          </m:r>
                        </m:sup>
                      </m:sSup>
                      <m:r>
                        <a:rPr lang="en-US" i="1" smtClean="0">
                          <a:latin typeface="Cambria Math" panose="02040503050406030204" pitchFamily="18" charset="0"/>
                          <a:cs typeface="Arial" panose="020B0604020202020204" pitchFamily="34" charset="0"/>
                        </a:rPr>
                        <m:t>𝑐</m:t>
                      </m:r>
                      <m:r>
                        <a:rPr lang="en-US" i="1" smtClean="0">
                          <a:latin typeface="Cambria Math" panose="02040503050406030204" pitchFamily="18" charset="0"/>
                          <a:cs typeface="Arial" panose="020B0604020202020204" pitchFamily="34" charset="0"/>
                        </a:rPr>
                        <m:t>′&gt;0</m:t>
                      </m:r>
                    </m:oMath>
                  </m:oMathPara>
                </a14:m>
                <a:endParaRPr lang="en-US" dirty="0">
                  <a:latin typeface="Arial" panose="020B0604020202020204" pitchFamily="34" charset="0"/>
                  <a:cs typeface="Arial" panose="020B0604020202020204" pitchFamily="34" charset="0"/>
                </a:endParaRPr>
              </a:p>
            </p:txBody>
          </p:sp>
        </mc:Choice>
        <mc:Fallback xmlns="">
          <p:sp>
            <p:nvSpPr>
              <p:cNvPr id="9" name="TextBox 8">
                <a:extLst>
                  <a:ext uri="{FF2B5EF4-FFF2-40B4-BE49-F238E27FC236}">
                    <a16:creationId xmlns:a16="http://schemas.microsoft.com/office/drawing/2014/main" id="{5B1D33BD-71A3-D149-82F4-B3ACC6C4F6A6}"/>
                  </a:ext>
                </a:extLst>
              </p:cNvPr>
              <p:cNvSpPr txBox="1">
                <a:spLocks noRot="1" noChangeAspect="1" noMove="1" noResize="1" noEditPoints="1" noAdjustHandles="1" noChangeArrowheads="1" noChangeShapeType="1" noTextEdit="1"/>
              </p:cNvSpPr>
              <p:nvPr/>
            </p:nvSpPr>
            <p:spPr>
              <a:xfrm>
                <a:off x="5768523" y="3865256"/>
                <a:ext cx="2434063" cy="315792"/>
              </a:xfrm>
              <a:prstGeom prst="rect">
                <a:avLst/>
              </a:prstGeom>
              <a:blipFill>
                <a:blip r:embed="rId7"/>
                <a:stretch>
                  <a:fillRect l="-518" t="-3846" r="-1036" b="-23077"/>
                </a:stretch>
              </a:blipFill>
            </p:spPr>
            <p:txBody>
              <a:bodyPr/>
              <a:lstStyle/>
              <a:p>
                <a:r>
                  <a:rPr lang="en-US">
                    <a:noFill/>
                  </a:rPr>
                  <a:t> </a:t>
                </a:r>
              </a:p>
            </p:txBody>
          </p:sp>
        </mc:Fallback>
      </mc:AlternateContent>
      <p:sp>
        <p:nvSpPr>
          <p:cNvPr id="24" name="Oval 23">
            <a:extLst>
              <a:ext uri="{FF2B5EF4-FFF2-40B4-BE49-F238E27FC236}">
                <a16:creationId xmlns:a16="http://schemas.microsoft.com/office/drawing/2014/main" id="{66CD56BB-EF97-C740-ACE1-DCF189143D4E}"/>
              </a:ext>
            </a:extLst>
          </p:cNvPr>
          <p:cNvSpPr/>
          <p:nvPr/>
        </p:nvSpPr>
        <p:spPr>
          <a:xfrm>
            <a:off x="6302869" y="601358"/>
            <a:ext cx="2559142" cy="804231"/>
          </a:xfrm>
          <a:prstGeom prst="ellipse">
            <a:avLst/>
          </a:prstGeom>
          <a:solidFill>
            <a:srgbClr val="F9D9FF"/>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C3A620C-5EAF-8E47-9690-9D09A73664E0}"/>
                  </a:ext>
                </a:extLst>
              </p:cNvPr>
              <p:cNvSpPr txBox="1"/>
              <p:nvPr/>
            </p:nvSpPr>
            <p:spPr>
              <a:xfrm>
                <a:off x="3433910" y="693135"/>
                <a:ext cx="5030673" cy="545727"/>
              </a:xfrm>
              <a:prstGeom prst="rect">
                <a:avLst/>
              </a:prstGeom>
              <a:noFill/>
            </p:spPr>
            <p:txBody>
              <a:bodyPr wrap="none" lIns="0" tIns="0" rIns="0" bIns="0" rtlCol="0">
                <a:spAutoFit/>
              </a:bodyPr>
              <a:lstStyle/>
              <a:p>
                <a:pPr>
                  <a:lnSpc>
                    <a:spcPct val="114000"/>
                  </a:lnSpc>
                </a:pPr>
                <a14:m>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acc>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acc>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acc>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acc>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𝑣</m:t>
                        </m:r>
                      </m:e>
                      <m:sub>
                        <m:r>
                          <a:rPr lang="en-US" i="1">
                            <a:latin typeface="Cambria Math" panose="02040503050406030204" pitchFamily="18" charset="0"/>
                            <a:ea typeface="Cambria Math" panose="02040503050406030204" pitchFamily="18" charset="0"/>
                            <a:cs typeface="Arial" panose="020B0604020202020204" pitchFamily="34" charset="0"/>
                          </a:rPr>
                          <m:t>𝑠</m:t>
                        </m:r>
                      </m:sub>
                    </m:sSub>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r>
                              <a:rPr lang="en-US" b="0" i="1" smtClean="0">
                                <a:latin typeface="Cambria Math" panose="02040503050406030204" pitchFamily="18" charset="0"/>
                                <a:ea typeface="Cambria Math" panose="02040503050406030204" pitchFamily="18" charset="0"/>
                                <a:cs typeface="Arial" panose="020B0604020202020204" pitchFamily="34" charset="0"/>
                              </a:rPr>
                              <m:t>𝑐</m:t>
                            </m:r>
                            <m:r>
                              <a:rPr lang="en-US" b="0" i="1" smtClean="0">
                                <a:latin typeface="Cambria Math" panose="02040503050406030204" pitchFamily="18" charset="0"/>
                                <a:ea typeface="Cambria Math" panose="02040503050406030204" pitchFamily="18" charset="0"/>
                                <a:cs typeface="Arial" panose="020B0604020202020204" pitchFamily="34" charset="0"/>
                              </a:rPr>
                              <m:t>′</m:t>
                            </m:r>
                          </m:e>
                        </m:acc>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i="1">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r>
                              <a:rPr lang="en-US" i="1">
                                <a:latin typeface="Cambria Math" panose="02040503050406030204" pitchFamily="18" charset="0"/>
                                <a:ea typeface="Cambria Math" panose="02040503050406030204" pitchFamily="18" charset="0"/>
                                <a:cs typeface="Arial" panose="020B0604020202020204" pitchFamily="34" charset="0"/>
                              </a:rPr>
                              <m:t>𝑐</m:t>
                            </m:r>
                            <m:r>
                              <a:rPr lang="en-US" i="1">
                                <a:latin typeface="Cambria Math" panose="02040503050406030204" pitchFamily="18" charset="0"/>
                                <a:ea typeface="Cambria Math" panose="02040503050406030204" pitchFamily="18" charset="0"/>
                                <a:cs typeface="Arial" panose="020B0604020202020204" pitchFamily="34" charset="0"/>
                              </a:rPr>
                              <m:t>′</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oMath>
                </a14:m>
                <a:r>
                  <a:rPr lang="en-US" dirty="0">
                    <a:ea typeface="Cambria Math" panose="02040503050406030204" pitchFamily="18" charset="0"/>
                    <a:cs typeface="Arial" panose="020B0604020202020204" pitchFamily="34" charset="0"/>
                  </a:rPr>
                  <a:t> </a:t>
                </a:r>
                <a14:m>
                  <m:oMath xmlns:m="http://schemas.openxmlformats.org/officeDocument/2006/math">
                    <m:r>
                      <a:rPr lang="en-US" i="1">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r>
                              <a:rPr lang="en-US" i="1">
                                <a:latin typeface="Cambria Math" panose="02040503050406030204" pitchFamily="18" charset="0"/>
                                <a:ea typeface="Cambria Math" panose="02040503050406030204" pitchFamily="18" charset="0"/>
                                <a:cs typeface="Arial" panose="020B0604020202020204" pitchFamily="34" charset="0"/>
                              </a:rPr>
                              <m:t>𝑐</m:t>
                            </m:r>
                            <m:r>
                              <a:rPr lang="en-US" i="1">
                                <a:latin typeface="Cambria Math" panose="02040503050406030204" pitchFamily="18" charset="0"/>
                                <a:ea typeface="Cambria Math" panose="02040503050406030204" pitchFamily="18" charset="0"/>
                                <a:cs typeface="Arial" panose="020B0604020202020204" pitchFamily="34" charset="0"/>
                              </a:rPr>
                              <m:t>′</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oMath>
                </a14:m>
                <a:endParaRPr lang="en-US" dirty="0">
                  <a:latin typeface="Arial" panose="020B0604020202020204" pitchFamily="34" charset="0"/>
                  <a:cs typeface="Arial" panose="020B0604020202020204" pitchFamily="34" charset="0"/>
                </a:endParaRPr>
              </a:p>
            </p:txBody>
          </p:sp>
        </mc:Choice>
        <mc:Fallback xmlns="">
          <p:sp>
            <p:nvSpPr>
              <p:cNvPr id="25" name="TextBox 24">
                <a:extLst>
                  <a:ext uri="{FF2B5EF4-FFF2-40B4-BE49-F238E27FC236}">
                    <a16:creationId xmlns:a16="http://schemas.microsoft.com/office/drawing/2014/main" id="{FC3A620C-5EAF-8E47-9690-9D09A73664E0}"/>
                  </a:ext>
                </a:extLst>
              </p:cNvPr>
              <p:cNvSpPr txBox="1">
                <a:spLocks noRot="1" noChangeAspect="1" noMove="1" noResize="1" noEditPoints="1" noAdjustHandles="1" noChangeArrowheads="1" noChangeShapeType="1" noTextEdit="1"/>
              </p:cNvSpPr>
              <p:nvPr/>
            </p:nvSpPr>
            <p:spPr>
              <a:xfrm>
                <a:off x="3433910" y="693135"/>
                <a:ext cx="5030673" cy="545727"/>
              </a:xfrm>
              <a:prstGeom prst="rect">
                <a:avLst/>
              </a:prstGeom>
              <a:blipFill>
                <a:blip r:embed="rId8"/>
                <a:stretch>
                  <a:fillRect l="-1511" r="-756" b="-9091"/>
                </a:stretch>
              </a:blipFill>
            </p:spPr>
            <p:txBody>
              <a:bodyPr/>
              <a:lstStyle/>
              <a:p>
                <a:r>
                  <a:rPr lang="en-US">
                    <a:noFill/>
                  </a:rPr>
                  <a:t> </a:t>
                </a:r>
              </a:p>
            </p:txBody>
          </p:sp>
        </mc:Fallback>
      </mc:AlternateContent>
    </p:spTree>
    <p:extLst>
      <p:ext uri="{BB962C8B-B14F-4D97-AF65-F5344CB8AC3E}">
        <p14:creationId xmlns:p14="http://schemas.microsoft.com/office/powerpoint/2010/main" val="15659062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25</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Reynolds flux of suspended sediment</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93BFC86-46AE-6C49-B622-DBBBCF969899}"/>
                  </a:ext>
                </a:extLst>
              </p:cNvPr>
              <p:cNvSpPr txBox="1"/>
              <p:nvPr/>
            </p:nvSpPr>
            <p:spPr>
              <a:xfrm>
                <a:off x="383626" y="1420784"/>
                <a:ext cx="11527088" cy="1014893"/>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The quantities </a:t>
                </a:r>
                <a14:m>
                  <m:oMath xmlns:m="http://schemas.openxmlformats.org/officeDocument/2006/math">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𝑢</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oMath>
                </a14:m>
                <a:r>
                  <a:rPr lang="en-US" dirty="0">
                    <a:latin typeface="Arial" panose="020B0604020202020204" pitchFamily="34" charset="0"/>
                    <a:cs typeface="Arial" panose="020B0604020202020204" pitchFamily="34" charset="0"/>
                  </a:rPr>
                  <a:t>, </a:t>
                </a:r>
                <a14:m>
                  <m:oMath xmlns:m="http://schemas.openxmlformats.org/officeDocument/2006/math">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𝑐</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oMath>
                </a14:m>
                <a:r>
                  <a:rPr lang="en-US" dirty="0">
                    <a:latin typeface="Arial" panose="020B0604020202020204" pitchFamily="34" charset="0"/>
                    <a:cs typeface="Arial" panose="020B0604020202020204" pitchFamily="34" charset="0"/>
                  </a:rPr>
                  <a:t> and </a:t>
                </a:r>
                <a14:m>
                  <m:oMath xmlns:m="http://schemas.openxmlformats.org/officeDocument/2006/math">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𝑐</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oMath>
                </a14:m>
                <a:r>
                  <a:rPr lang="en-US" dirty="0">
                    <a:latin typeface="Arial" panose="020B0604020202020204" pitchFamily="34" charset="0"/>
                    <a:cs typeface="Arial" panose="020B0604020202020204" pitchFamily="34" charset="0"/>
                  </a:rPr>
                  <a:t>  denote the convective Reynolds fluxes of suspended sediment. They characterize the tendency of turbulence to mix suspended sediment from areas of high concentrations to areas of low concentration, i.e. down the gradient of mean concentration. </a:t>
                </a:r>
              </a:p>
            </p:txBody>
          </p:sp>
        </mc:Choice>
        <mc:Fallback xmlns="">
          <p:sp>
            <p:nvSpPr>
              <p:cNvPr id="16" name="TextBox 15">
                <a:extLst>
                  <a:ext uri="{FF2B5EF4-FFF2-40B4-BE49-F238E27FC236}">
                    <a16:creationId xmlns:a16="http://schemas.microsoft.com/office/drawing/2014/main" id="{E93BFC86-46AE-6C49-B622-DBBBCF969899}"/>
                  </a:ext>
                </a:extLst>
              </p:cNvPr>
              <p:cNvSpPr txBox="1">
                <a:spLocks noRot="1" noChangeAspect="1" noMove="1" noResize="1" noEditPoints="1" noAdjustHandles="1" noChangeArrowheads="1" noChangeShapeType="1" noTextEdit="1"/>
              </p:cNvSpPr>
              <p:nvPr/>
            </p:nvSpPr>
            <p:spPr>
              <a:xfrm>
                <a:off x="383626" y="1420784"/>
                <a:ext cx="11527088" cy="1014893"/>
              </a:xfrm>
              <a:prstGeom prst="rect">
                <a:avLst/>
              </a:prstGeom>
              <a:blipFill>
                <a:blip r:embed="rId3"/>
                <a:stretch>
                  <a:fillRect l="-441" t="-1235" b="-8642"/>
                </a:stretch>
              </a:blipFill>
            </p:spPr>
            <p:txBody>
              <a:bodyPr/>
              <a:lstStyle/>
              <a:p>
                <a:r>
                  <a:rPr lang="en-US">
                    <a:noFill/>
                  </a:rPr>
                  <a:t> </a:t>
                </a:r>
              </a:p>
            </p:txBody>
          </p:sp>
        </mc:Fallback>
      </mc:AlternateContent>
      <p:sp>
        <p:nvSpPr>
          <p:cNvPr id="17" name="Rectangle 16">
            <a:extLst>
              <a:ext uri="{FF2B5EF4-FFF2-40B4-BE49-F238E27FC236}">
                <a16:creationId xmlns:a16="http://schemas.microsoft.com/office/drawing/2014/main" id="{ECAFBF10-1DC2-6B4A-AA12-0CF2694046EE}"/>
              </a:ext>
            </a:extLst>
          </p:cNvPr>
          <p:cNvSpPr/>
          <p:nvPr/>
        </p:nvSpPr>
        <p:spPr>
          <a:xfrm>
            <a:off x="2063956" y="2588749"/>
            <a:ext cx="8362122" cy="1770419"/>
          </a:xfrm>
          <a:prstGeom prst="rect">
            <a:avLst/>
          </a:prstGeom>
          <a:gradFill flip="none" rotWithShape="1">
            <a:gsLst>
              <a:gs pos="0">
                <a:schemeClr val="accent5">
                  <a:lumMod val="42000"/>
                  <a:lumOff val="58000"/>
                </a:schemeClr>
              </a:gs>
              <a:gs pos="100000">
                <a:schemeClr val="accent4">
                  <a:lumMod val="75000"/>
                </a:schemeClr>
              </a:gs>
            </a:gsLst>
            <a:lin ang="5400000" scaled="1"/>
            <a:tileRect/>
          </a:gra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1F2B3CA-1C20-694E-B276-5E2C754C33E9}"/>
              </a:ext>
            </a:extLst>
          </p:cNvPr>
          <p:cNvSpPr/>
          <p:nvPr/>
        </p:nvSpPr>
        <p:spPr>
          <a:xfrm>
            <a:off x="2063956" y="3819183"/>
            <a:ext cx="8362122" cy="540000"/>
          </a:xfrm>
          <a:prstGeom prst="rect">
            <a:avLst/>
          </a:prstGeom>
          <a:pattFill prst="pct25">
            <a:fgClr>
              <a:schemeClr val="accent4">
                <a:lumMod val="75000"/>
              </a:schemeClr>
            </a:fgClr>
            <a:bgClr>
              <a:schemeClr val="bg1"/>
            </a:bgClr>
          </a:patt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B8F9072B-FAED-E34D-A493-1550A6EF10EB}"/>
              </a:ext>
            </a:extLst>
          </p:cNvPr>
          <p:cNvSpPr/>
          <p:nvPr/>
        </p:nvSpPr>
        <p:spPr>
          <a:xfrm>
            <a:off x="963496" y="3234738"/>
            <a:ext cx="936994" cy="374754"/>
          </a:xfrm>
          <a:prstGeom prst="right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F0F5E43C-3EC3-444E-806E-821D7084C74D}"/>
              </a:ext>
            </a:extLst>
          </p:cNvPr>
          <p:cNvSpPr txBox="1"/>
          <p:nvPr/>
        </p:nvSpPr>
        <p:spPr>
          <a:xfrm>
            <a:off x="965940" y="2974251"/>
            <a:ext cx="936994"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flow</a:t>
            </a:r>
          </a:p>
        </p:txBody>
      </p:sp>
      <p:cxnSp>
        <p:nvCxnSpPr>
          <p:cNvPr id="26" name="Straight Arrow Connector 25">
            <a:extLst>
              <a:ext uri="{FF2B5EF4-FFF2-40B4-BE49-F238E27FC236}">
                <a16:creationId xmlns:a16="http://schemas.microsoft.com/office/drawing/2014/main" id="{F47901D6-43B5-294C-9981-55254364F5EE}"/>
              </a:ext>
            </a:extLst>
          </p:cNvPr>
          <p:cNvCxnSpPr/>
          <p:nvPr/>
        </p:nvCxnSpPr>
        <p:spPr>
          <a:xfrm flipV="1">
            <a:off x="3317007" y="3140048"/>
            <a:ext cx="0" cy="679135"/>
          </a:xfrm>
          <a:prstGeom prst="straightConnector1">
            <a:avLst/>
          </a:prstGeom>
          <a:ln w="190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0E4D3EA0-66F0-794D-8FE4-2DBD8F2E41DC}"/>
              </a:ext>
            </a:extLst>
          </p:cNvPr>
          <p:cNvSpPr txBox="1"/>
          <p:nvPr/>
        </p:nvSpPr>
        <p:spPr>
          <a:xfrm>
            <a:off x="3002469" y="2974251"/>
            <a:ext cx="46605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z</a:t>
            </a:r>
          </a:p>
        </p:txBody>
      </p:sp>
      <p:cxnSp>
        <p:nvCxnSpPr>
          <p:cNvPr id="28" name="Straight Connector 27">
            <a:extLst>
              <a:ext uri="{FF2B5EF4-FFF2-40B4-BE49-F238E27FC236}">
                <a16:creationId xmlns:a16="http://schemas.microsoft.com/office/drawing/2014/main" id="{31F383C2-98BF-DB4F-9B64-AB7F8E7427A9}"/>
              </a:ext>
            </a:extLst>
          </p:cNvPr>
          <p:cNvCxnSpPr/>
          <p:nvPr/>
        </p:nvCxnSpPr>
        <p:spPr>
          <a:xfrm>
            <a:off x="5475591" y="2588749"/>
            <a:ext cx="0" cy="12304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8483155-485F-2D41-BC7E-FC7ED7DE3B86}"/>
              </a:ext>
            </a:extLst>
          </p:cNvPr>
          <p:cNvCxnSpPr/>
          <p:nvPr/>
        </p:nvCxnSpPr>
        <p:spPr>
          <a:xfrm>
            <a:off x="7231939" y="2577296"/>
            <a:ext cx="0" cy="12304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Freeform 29">
            <a:extLst>
              <a:ext uri="{FF2B5EF4-FFF2-40B4-BE49-F238E27FC236}">
                <a16:creationId xmlns:a16="http://schemas.microsoft.com/office/drawing/2014/main" id="{FDA1D57E-8616-9149-843D-C1904ACF8159}"/>
              </a:ext>
            </a:extLst>
          </p:cNvPr>
          <p:cNvSpPr/>
          <p:nvPr/>
        </p:nvSpPr>
        <p:spPr>
          <a:xfrm>
            <a:off x="5769148" y="2612315"/>
            <a:ext cx="584617" cy="1184223"/>
          </a:xfrm>
          <a:custGeom>
            <a:avLst/>
            <a:gdLst>
              <a:gd name="connsiteX0" fmla="*/ 0 w 584617"/>
              <a:gd name="connsiteY0" fmla="*/ 0 h 1184223"/>
              <a:gd name="connsiteX1" fmla="*/ 44971 w 584617"/>
              <a:gd name="connsiteY1" fmla="*/ 329784 h 1184223"/>
              <a:gd name="connsiteX2" fmla="*/ 179882 w 584617"/>
              <a:gd name="connsiteY2" fmla="*/ 749508 h 1184223"/>
              <a:gd name="connsiteX3" fmla="*/ 389745 w 584617"/>
              <a:gd name="connsiteY3" fmla="*/ 1019331 h 1184223"/>
              <a:gd name="connsiteX4" fmla="*/ 524656 w 584617"/>
              <a:gd name="connsiteY4" fmla="*/ 1094282 h 1184223"/>
              <a:gd name="connsiteX5" fmla="*/ 584617 w 584617"/>
              <a:gd name="connsiteY5" fmla="*/ 1184223 h 1184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4617" h="1184223">
                <a:moveTo>
                  <a:pt x="0" y="0"/>
                </a:moveTo>
                <a:cubicBezTo>
                  <a:pt x="7495" y="102433"/>
                  <a:pt x="14991" y="204866"/>
                  <a:pt x="44971" y="329784"/>
                </a:cubicBezTo>
                <a:cubicBezTo>
                  <a:pt x="74951" y="454702"/>
                  <a:pt x="122420" y="634584"/>
                  <a:pt x="179882" y="749508"/>
                </a:cubicBezTo>
                <a:cubicBezTo>
                  <a:pt x="237344" y="864432"/>
                  <a:pt x="332283" y="961869"/>
                  <a:pt x="389745" y="1019331"/>
                </a:cubicBezTo>
                <a:cubicBezTo>
                  <a:pt x="447207" y="1076793"/>
                  <a:pt x="492177" y="1066800"/>
                  <a:pt x="524656" y="1094282"/>
                </a:cubicBezTo>
                <a:cubicBezTo>
                  <a:pt x="557135" y="1121764"/>
                  <a:pt x="570876" y="1152993"/>
                  <a:pt x="584617" y="1184223"/>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a:extLst>
              <a:ext uri="{FF2B5EF4-FFF2-40B4-BE49-F238E27FC236}">
                <a16:creationId xmlns:a16="http://schemas.microsoft.com/office/drawing/2014/main" id="{5C0DF430-FD64-8449-89AD-986886FBD0C0}"/>
              </a:ext>
            </a:extLst>
          </p:cNvPr>
          <p:cNvSpPr/>
          <p:nvPr/>
        </p:nvSpPr>
        <p:spPr>
          <a:xfrm>
            <a:off x="7244430" y="2570422"/>
            <a:ext cx="854439" cy="1214203"/>
          </a:xfrm>
          <a:custGeom>
            <a:avLst/>
            <a:gdLst>
              <a:gd name="connsiteX0" fmla="*/ 0 w 854439"/>
              <a:gd name="connsiteY0" fmla="*/ 1214203 h 1214203"/>
              <a:gd name="connsiteX1" fmla="*/ 539646 w 854439"/>
              <a:gd name="connsiteY1" fmla="*/ 1154242 h 1214203"/>
              <a:gd name="connsiteX2" fmla="*/ 704538 w 854439"/>
              <a:gd name="connsiteY2" fmla="*/ 974360 h 1214203"/>
              <a:gd name="connsiteX3" fmla="*/ 824459 w 854439"/>
              <a:gd name="connsiteY3" fmla="*/ 404734 h 1214203"/>
              <a:gd name="connsiteX4" fmla="*/ 854439 w 854439"/>
              <a:gd name="connsiteY4" fmla="*/ 0 h 12142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439" h="1214203">
                <a:moveTo>
                  <a:pt x="0" y="1214203"/>
                </a:moveTo>
                <a:cubicBezTo>
                  <a:pt x="211111" y="1204209"/>
                  <a:pt x="422223" y="1194216"/>
                  <a:pt x="539646" y="1154242"/>
                </a:cubicBezTo>
                <a:cubicBezTo>
                  <a:pt x="657069" y="1114268"/>
                  <a:pt x="657069" y="1099278"/>
                  <a:pt x="704538" y="974360"/>
                </a:cubicBezTo>
                <a:cubicBezTo>
                  <a:pt x="752007" y="849442"/>
                  <a:pt x="799476" y="567127"/>
                  <a:pt x="824459" y="404734"/>
                </a:cubicBezTo>
                <a:cubicBezTo>
                  <a:pt x="849443" y="242341"/>
                  <a:pt x="851941" y="121170"/>
                  <a:pt x="854439" y="0"/>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Arrow Connector 31">
            <a:extLst>
              <a:ext uri="{FF2B5EF4-FFF2-40B4-BE49-F238E27FC236}">
                <a16:creationId xmlns:a16="http://schemas.microsoft.com/office/drawing/2014/main" id="{7846BE5B-B97B-B244-8654-6CDD5746D03E}"/>
              </a:ext>
            </a:extLst>
          </p:cNvPr>
          <p:cNvCxnSpPr>
            <a:cxnSpLocks/>
          </p:cNvCxnSpPr>
          <p:nvPr/>
        </p:nvCxnSpPr>
        <p:spPr>
          <a:xfrm>
            <a:off x="5475591" y="3473958"/>
            <a:ext cx="585865"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9338797-7F8F-8141-BC03-D66907748AF3}"/>
              </a:ext>
            </a:extLst>
          </p:cNvPr>
          <p:cNvCxnSpPr>
            <a:cxnSpLocks/>
          </p:cNvCxnSpPr>
          <p:nvPr/>
        </p:nvCxnSpPr>
        <p:spPr>
          <a:xfrm>
            <a:off x="7244430" y="3347594"/>
            <a:ext cx="749508"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7C91644B-183D-5041-BD6F-B91339E019C1}"/>
                  </a:ext>
                </a:extLst>
              </p:cNvPr>
              <p:cNvSpPr txBox="1"/>
              <p:nvPr/>
            </p:nvSpPr>
            <p:spPr>
              <a:xfrm>
                <a:off x="5538489" y="3177523"/>
                <a:ext cx="177228"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oMath>
                  </m:oMathPara>
                </a14:m>
                <a:endParaRPr lang="en-US" dirty="0">
                  <a:latin typeface="Arial" panose="020B0604020202020204" pitchFamily="34" charset="0"/>
                  <a:cs typeface="Arial" panose="020B0604020202020204" pitchFamily="34" charset="0"/>
                </a:endParaRPr>
              </a:p>
            </p:txBody>
          </p:sp>
        </mc:Choice>
        <mc:Fallback xmlns="">
          <p:sp>
            <p:nvSpPr>
              <p:cNvPr id="34" name="TextBox 33">
                <a:extLst>
                  <a:ext uri="{FF2B5EF4-FFF2-40B4-BE49-F238E27FC236}">
                    <a16:creationId xmlns:a16="http://schemas.microsoft.com/office/drawing/2014/main" id="{7C91644B-183D-5041-BD6F-B91339E019C1}"/>
                  </a:ext>
                </a:extLst>
              </p:cNvPr>
              <p:cNvSpPr txBox="1">
                <a:spLocks noRot="1" noChangeAspect="1" noMove="1" noResize="1" noEditPoints="1" noAdjustHandles="1" noChangeArrowheads="1" noChangeShapeType="1" noTextEdit="1"/>
              </p:cNvSpPr>
              <p:nvPr/>
            </p:nvSpPr>
            <p:spPr>
              <a:xfrm>
                <a:off x="5538489" y="3177523"/>
                <a:ext cx="177228" cy="315792"/>
              </a:xfrm>
              <a:prstGeom prst="rect">
                <a:avLst/>
              </a:prstGeom>
              <a:blipFill>
                <a:blip r:embed="rId4"/>
                <a:stretch>
                  <a:fillRect l="-20000" r="-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97AE2F3-1D65-9048-BC0D-E736250F704D}"/>
                  </a:ext>
                </a:extLst>
              </p:cNvPr>
              <p:cNvSpPr txBox="1"/>
              <p:nvPr/>
            </p:nvSpPr>
            <p:spPr>
              <a:xfrm>
                <a:off x="7472064" y="3001097"/>
                <a:ext cx="203004"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𝑢</m:t>
                          </m:r>
                        </m:e>
                      </m:acc>
                    </m:oMath>
                  </m:oMathPara>
                </a14:m>
                <a:endParaRPr lang="en-US" dirty="0">
                  <a:latin typeface="Arial" panose="020B0604020202020204" pitchFamily="34" charset="0"/>
                  <a:cs typeface="Arial" panose="020B0604020202020204" pitchFamily="34" charset="0"/>
                </a:endParaRPr>
              </a:p>
            </p:txBody>
          </p:sp>
        </mc:Choice>
        <mc:Fallback xmlns="">
          <p:sp>
            <p:nvSpPr>
              <p:cNvPr id="35" name="TextBox 34">
                <a:extLst>
                  <a:ext uri="{FF2B5EF4-FFF2-40B4-BE49-F238E27FC236}">
                    <a16:creationId xmlns:a16="http://schemas.microsoft.com/office/drawing/2014/main" id="{597AE2F3-1D65-9048-BC0D-E736250F704D}"/>
                  </a:ext>
                </a:extLst>
              </p:cNvPr>
              <p:cNvSpPr txBox="1">
                <a:spLocks noRot="1" noChangeAspect="1" noMove="1" noResize="1" noEditPoints="1" noAdjustHandles="1" noChangeArrowheads="1" noChangeShapeType="1" noTextEdit="1"/>
              </p:cNvSpPr>
              <p:nvPr/>
            </p:nvSpPr>
            <p:spPr>
              <a:xfrm>
                <a:off x="7472064" y="3001097"/>
                <a:ext cx="203004" cy="315792"/>
              </a:xfrm>
              <a:prstGeom prst="rect">
                <a:avLst/>
              </a:prstGeom>
              <a:blipFill>
                <a:blip r:embed="rId5"/>
                <a:stretch>
                  <a:fillRect l="-11765" r="-5882"/>
                </a:stretch>
              </a:blipFill>
            </p:spPr>
            <p:txBody>
              <a:bodyPr/>
              <a:lstStyle/>
              <a:p>
                <a:r>
                  <a:rPr lang="en-US">
                    <a:noFill/>
                  </a:rPr>
                  <a:t> </a:t>
                </a:r>
              </a:p>
            </p:txBody>
          </p:sp>
        </mc:Fallback>
      </mc:AlternateContent>
      <p:cxnSp>
        <p:nvCxnSpPr>
          <p:cNvPr id="36" name="Straight Arrow Connector 35">
            <a:extLst>
              <a:ext uri="{FF2B5EF4-FFF2-40B4-BE49-F238E27FC236}">
                <a16:creationId xmlns:a16="http://schemas.microsoft.com/office/drawing/2014/main" id="{37276F2E-B504-C14B-9BA0-9B153DAB8943}"/>
              </a:ext>
            </a:extLst>
          </p:cNvPr>
          <p:cNvCxnSpPr/>
          <p:nvPr/>
        </p:nvCxnSpPr>
        <p:spPr>
          <a:xfrm>
            <a:off x="9193151" y="2588749"/>
            <a:ext cx="0" cy="1230434"/>
          </a:xfrm>
          <a:prstGeom prst="straightConnector1">
            <a:avLst/>
          </a:prstGeom>
          <a:ln w="19050">
            <a:solidFill>
              <a:schemeClr val="tx1"/>
            </a:solidFill>
            <a:headEnd type="arrow" w="lg" len="lg"/>
            <a:tailEnd type="arrow" w="lg" len="lg"/>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81ED501-140C-8346-9135-AEA297EBB31E}"/>
              </a:ext>
            </a:extLst>
          </p:cNvPr>
          <p:cNvSpPr txBox="1"/>
          <p:nvPr/>
        </p:nvSpPr>
        <p:spPr>
          <a:xfrm>
            <a:off x="8862011" y="2916817"/>
            <a:ext cx="46605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H</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578764D-EA09-084E-AC2E-754A721232BA}"/>
                  </a:ext>
                </a:extLst>
              </p:cNvPr>
              <p:cNvSpPr txBox="1"/>
              <p:nvPr/>
            </p:nvSpPr>
            <p:spPr>
              <a:xfrm>
                <a:off x="383626" y="4653903"/>
                <a:ext cx="11435937" cy="1014252"/>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In the figure above concentration declines in the positive z direction, turbulence mixes sediment from zones of high concentration (lower part of the water column) to zones of low concentration (higher part of the water column). This generates a positive value of </a:t>
                </a:r>
                <a14:m>
                  <m:oMath xmlns:m="http://schemas.openxmlformats.org/officeDocument/2006/math">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oMath>
                </a14:m>
                <a:r>
                  <a:rPr lang="en-US" dirty="0">
                    <a:latin typeface="Arial" panose="020B0604020202020204" pitchFamily="34" charset="0"/>
                    <a:cs typeface="Arial" panose="020B0604020202020204" pitchFamily="34" charset="0"/>
                  </a:rPr>
                  <a:t>.</a:t>
                </a:r>
              </a:p>
            </p:txBody>
          </p:sp>
        </mc:Choice>
        <mc:Fallback xmlns="">
          <p:sp>
            <p:nvSpPr>
              <p:cNvPr id="2" name="TextBox 1">
                <a:extLst>
                  <a:ext uri="{FF2B5EF4-FFF2-40B4-BE49-F238E27FC236}">
                    <a16:creationId xmlns:a16="http://schemas.microsoft.com/office/drawing/2014/main" id="{4578764D-EA09-084E-AC2E-754A721232BA}"/>
                  </a:ext>
                </a:extLst>
              </p:cNvPr>
              <p:cNvSpPr txBox="1">
                <a:spLocks noRot="1" noChangeAspect="1" noMove="1" noResize="1" noEditPoints="1" noAdjustHandles="1" noChangeArrowheads="1" noChangeShapeType="1" noTextEdit="1"/>
              </p:cNvSpPr>
              <p:nvPr/>
            </p:nvSpPr>
            <p:spPr>
              <a:xfrm>
                <a:off x="383626" y="4653903"/>
                <a:ext cx="11435937" cy="1014252"/>
              </a:xfrm>
              <a:prstGeom prst="rect">
                <a:avLst/>
              </a:prstGeom>
              <a:blipFill>
                <a:blip r:embed="rId6"/>
                <a:stretch>
                  <a:fillRect l="-444" t="-2469" b="-8642"/>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379537B7-8D1F-704C-8631-787FF2934087}"/>
              </a:ext>
            </a:extLst>
          </p:cNvPr>
          <p:cNvCxnSpPr>
            <a:cxnSpLocks/>
          </p:cNvCxnSpPr>
          <p:nvPr/>
        </p:nvCxnSpPr>
        <p:spPr>
          <a:xfrm>
            <a:off x="6614925" y="2908234"/>
            <a:ext cx="5605" cy="513881"/>
          </a:xfrm>
          <a:prstGeom prst="straightConnector1">
            <a:avLst/>
          </a:prstGeom>
          <a:ln w="38100">
            <a:solidFill>
              <a:srgbClr val="FF0000"/>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B1D33BD-71A3-D149-82F4-B3ACC6C4F6A6}"/>
                  </a:ext>
                </a:extLst>
              </p:cNvPr>
              <p:cNvSpPr txBox="1"/>
              <p:nvPr/>
            </p:nvSpPr>
            <p:spPr>
              <a:xfrm>
                <a:off x="5768523" y="3865256"/>
                <a:ext cx="2382767" cy="315792"/>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𝑐</m:t>
                          </m:r>
                        </m:e>
                        <m:sup>
                          <m:r>
                            <a:rPr lang="en-US" b="0" i="1" smtClean="0">
                              <a:latin typeface="Cambria Math" panose="02040503050406030204" pitchFamily="18" charset="0"/>
                              <a:cs typeface="Arial" panose="020B0604020202020204" pitchFamily="34" charset="0"/>
                            </a:rPr>
                            <m:t>′</m:t>
                          </m:r>
                        </m:sup>
                      </m:sSup>
                      <m:r>
                        <a:rPr lang="en-US" b="0" i="1" smtClean="0">
                          <a:latin typeface="Cambria Math" panose="02040503050406030204" pitchFamily="18" charset="0"/>
                          <a:cs typeface="Arial" panose="020B0604020202020204" pitchFamily="34" charset="0"/>
                        </a:rPr>
                        <m:t>&lt;0, </m:t>
                      </m:r>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𝑤</m:t>
                          </m:r>
                        </m:e>
                        <m:sup>
                          <m:r>
                            <a:rPr lang="en-US" b="0" i="1" smtClean="0">
                              <a:latin typeface="Cambria Math" panose="02040503050406030204" pitchFamily="18" charset="0"/>
                              <a:cs typeface="Arial" panose="020B0604020202020204" pitchFamily="34" charset="0"/>
                            </a:rPr>
                            <m:t>′</m:t>
                          </m:r>
                        </m:sup>
                      </m:sSup>
                      <m:r>
                        <a:rPr lang="en-US" b="0" i="1" smtClean="0">
                          <a:latin typeface="Cambria Math" panose="02040503050406030204" pitchFamily="18" charset="0"/>
                          <a:cs typeface="Arial" panose="020B0604020202020204" pitchFamily="34" charset="0"/>
                        </a:rPr>
                        <m:t>&lt;0,</m:t>
                      </m:r>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𝑤</m:t>
                          </m:r>
                        </m:e>
                        <m:sup>
                          <m:r>
                            <a:rPr lang="en-US" i="1">
                              <a:latin typeface="Cambria Math" panose="02040503050406030204" pitchFamily="18" charset="0"/>
                              <a:cs typeface="Arial" panose="020B0604020202020204" pitchFamily="34" charset="0"/>
                            </a:rPr>
                            <m:t>′</m:t>
                          </m:r>
                        </m:sup>
                      </m:sSup>
                      <m:r>
                        <a:rPr lang="en-US" i="1">
                          <a:latin typeface="Cambria Math" panose="02040503050406030204" pitchFamily="18" charset="0"/>
                          <a:cs typeface="Arial" panose="020B0604020202020204" pitchFamily="34" charset="0"/>
                        </a:rPr>
                        <m:t>𝑐</m:t>
                      </m:r>
                      <m:r>
                        <a:rPr lang="en-US" i="1">
                          <a:latin typeface="Cambria Math" panose="02040503050406030204" pitchFamily="18" charset="0"/>
                          <a:cs typeface="Arial" panose="020B0604020202020204" pitchFamily="34" charset="0"/>
                        </a:rPr>
                        <m:t>′&gt;0</m:t>
                      </m:r>
                    </m:oMath>
                  </m:oMathPara>
                </a14:m>
                <a:endParaRPr lang="en-US" dirty="0">
                  <a:latin typeface="Arial" panose="020B0604020202020204" pitchFamily="34" charset="0"/>
                  <a:cs typeface="Arial" panose="020B0604020202020204" pitchFamily="34" charset="0"/>
                </a:endParaRPr>
              </a:p>
            </p:txBody>
          </p:sp>
        </mc:Choice>
        <mc:Fallback xmlns="">
          <p:sp>
            <p:nvSpPr>
              <p:cNvPr id="9" name="TextBox 8">
                <a:extLst>
                  <a:ext uri="{FF2B5EF4-FFF2-40B4-BE49-F238E27FC236}">
                    <a16:creationId xmlns:a16="http://schemas.microsoft.com/office/drawing/2014/main" id="{5B1D33BD-71A3-D149-82F4-B3ACC6C4F6A6}"/>
                  </a:ext>
                </a:extLst>
              </p:cNvPr>
              <p:cNvSpPr txBox="1">
                <a:spLocks noRot="1" noChangeAspect="1" noMove="1" noResize="1" noEditPoints="1" noAdjustHandles="1" noChangeArrowheads="1" noChangeShapeType="1" noTextEdit="1"/>
              </p:cNvSpPr>
              <p:nvPr/>
            </p:nvSpPr>
            <p:spPr>
              <a:xfrm>
                <a:off x="5768523" y="3865256"/>
                <a:ext cx="2382767" cy="315792"/>
              </a:xfrm>
              <a:prstGeom prst="rect">
                <a:avLst/>
              </a:prstGeom>
              <a:blipFill>
                <a:blip r:embed="rId7"/>
                <a:stretch>
                  <a:fillRect l="-1064" r="-1596"/>
                </a:stretch>
              </a:blipFill>
            </p:spPr>
            <p:txBody>
              <a:bodyPr/>
              <a:lstStyle/>
              <a:p>
                <a:r>
                  <a:rPr lang="en-US">
                    <a:noFill/>
                  </a:rPr>
                  <a:t> </a:t>
                </a:r>
              </a:p>
            </p:txBody>
          </p:sp>
        </mc:Fallback>
      </mc:AlternateContent>
      <p:sp>
        <p:nvSpPr>
          <p:cNvPr id="24" name="Oval 23">
            <a:extLst>
              <a:ext uri="{FF2B5EF4-FFF2-40B4-BE49-F238E27FC236}">
                <a16:creationId xmlns:a16="http://schemas.microsoft.com/office/drawing/2014/main" id="{66CD56BB-EF97-C740-ACE1-DCF189143D4E}"/>
              </a:ext>
            </a:extLst>
          </p:cNvPr>
          <p:cNvSpPr/>
          <p:nvPr/>
        </p:nvSpPr>
        <p:spPr>
          <a:xfrm>
            <a:off x="6302869" y="601358"/>
            <a:ext cx="2559142" cy="804231"/>
          </a:xfrm>
          <a:prstGeom prst="ellipse">
            <a:avLst/>
          </a:prstGeom>
          <a:solidFill>
            <a:srgbClr val="F9D9FF"/>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C3A620C-5EAF-8E47-9690-9D09A73664E0}"/>
                  </a:ext>
                </a:extLst>
              </p:cNvPr>
              <p:cNvSpPr txBox="1"/>
              <p:nvPr/>
            </p:nvSpPr>
            <p:spPr>
              <a:xfrm>
                <a:off x="3433910" y="693135"/>
                <a:ext cx="5030673" cy="545727"/>
              </a:xfrm>
              <a:prstGeom prst="rect">
                <a:avLst/>
              </a:prstGeom>
              <a:noFill/>
            </p:spPr>
            <p:txBody>
              <a:bodyPr wrap="none" lIns="0" tIns="0" rIns="0" bIns="0" rtlCol="0">
                <a:spAutoFit/>
              </a:bodyPr>
              <a:lstStyle/>
              <a:p>
                <a:pPr>
                  <a:lnSpc>
                    <a:spcPct val="114000"/>
                  </a:lnSpc>
                </a:pPr>
                <a14:m>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acc>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acc>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acc>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acc>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𝑣</m:t>
                        </m:r>
                      </m:e>
                      <m:sub>
                        <m:r>
                          <a:rPr lang="en-US" i="1">
                            <a:latin typeface="Cambria Math" panose="02040503050406030204" pitchFamily="18" charset="0"/>
                            <a:ea typeface="Cambria Math" panose="02040503050406030204" pitchFamily="18" charset="0"/>
                            <a:cs typeface="Arial" panose="020B0604020202020204" pitchFamily="34" charset="0"/>
                          </a:rPr>
                          <m:t>𝑠</m:t>
                        </m:r>
                      </m:sub>
                    </m:sSub>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r>
                              <a:rPr lang="en-US" b="0" i="1" smtClean="0">
                                <a:latin typeface="Cambria Math" panose="02040503050406030204" pitchFamily="18" charset="0"/>
                                <a:ea typeface="Cambria Math" panose="02040503050406030204" pitchFamily="18" charset="0"/>
                                <a:cs typeface="Arial" panose="020B0604020202020204" pitchFamily="34" charset="0"/>
                              </a:rPr>
                              <m:t>𝑐</m:t>
                            </m:r>
                            <m:r>
                              <a:rPr lang="en-US" b="0" i="1" smtClean="0">
                                <a:latin typeface="Cambria Math" panose="02040503050406030204" pitchFamily="18" charset="0"/>
                                <a:ea typeface="Cambria Math" panose="02040503050406030204" pitchFamily="18" charset="0"/>
                                <a:cs typeface="Arial" panose="020B0604020202020204" pitchFamily="34" charset="0"/>
                              </a:rPr>
                              <m:t>′</m:t>
                            </m:r>
                          </m:e>
                        </m:acc>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i="1">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r>
                              <a:rPr lang="en-US" i="1">
                                <a:latin typeface="Cambria Math" panose="02040503050406030204" pitchFamily="18" charset="0"/>
                                <a:ea typeface="Cambria Math" panose="02040503050406030204" pitchFamily="18" charset="0"/>
                                <a:cs typeface="Arial" panose="020B0604020202020204" pitchFamily="34" charset="0"/>
                              </a:rPr>
                              <m:t>𝑐</m:t>
                            </m:r>
                            <m:r>
                              <a:rPr lang="en-US" i="1">
                                <a:latin typeface="Cambria Math" panose="02040503050406030204" pitchFamily="18" charset="0"/>
                                <a:ea typeface="Cambria Math" panose="02040503050406030204" pitchFamily="18" charset="0"/>
                                <a:cs typeface="Arial" panose="020B0604020202020204" pitchFamily="34" charset="0"/>
                              </a:rPr>
                              <m:t>′</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oMath>
                </a14:m>
                <a:r>
                  <a:rPr lang="en-US" dirty="0">
                    <a:ea typeface="Cambria Math" panose="02040503050406030204" pitchFamily="18" charset="0"/>
                    <a:cs typeface="Arial" panose="020B0604020202020204" pitchFamily="34" charset="0"/>
                  </a:rPr>
                  <a:t> </a:t>
                </a:r>
                <a14:m>
                  <m:oMath xmlns:m="http://schemas.openxmlformats.org/officeDocument/2006/math">
                    <m:r>
                      <a:rPr lang="en-US" i="1">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r>
                              <a:rPr lang="en-US" i="1">
                                <a:latin typeface="Cambria Math" panose="02040503050406030204" pitchFamily="18" charset="0"/>
                                <a:ea typeface="Cambria Math" panose="02040503050406030204" pitchFamily="18" charset="0"/>
                                <a:cs typeface="Arial" panose="020B0604020202020204" pitchFamily="34" charset="0"/>
                              </a:rPr>
                              <m:t>𝑐</m:t>
                            </m:r>
                            <m:r>
                              <a:rPr lang="en-US" i="1">
                                <a:latin typeface="Cambria Math" panose="02040503050406030204" pitchFamily="18" charset="0"/>
                                <a:ea typeface="Cambria Math" panose="02040503050406030204" pitchFamily="18" charset="0"/>
                                <a:cs typeface="Arial" panose="020B0604020202020204" pitchFamily="34" charset="0"/>
                              </a:rPr>
                              <m:t>′</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oMath>
                </a14:m>
                <a:endParaRPr lang="en-US" dirty="0">
                  <a:latin typeface="Arial" panose="020B0604020202020204" pitchFamily="34" charset="0"/>
                  <a:cs typeface="Arial" panose="020B0604020202020204" pitchFamily="34" charset="0"/>
                </a:endParaRPr>
              </a:p>
            </p:txBody>
          </p:sp>
        </mc:Choice>
        <mc:Fallback xmlns="">
          <p:sp>
            <p:nvSpPr>
              <p:cNvPr id="25" name="TextBox 24">
                <a:extLst>
                  <a:ext uri="{FF2B5EF4-FFF2-40B4-BE49-F238E27FC236}">
                    <a16:creationId xmlns:a16="http://schemas.microsoft.com/office/drawing/2014/main" id="{FC3A620C-5EAF-8E47-9690-9D09A73664E0}"/>
                  </a:ext>
                </a:extLst>
              </p:cNvPr>
              <p:cNvSpPr txBox="1">
                <a:spLocks noRot="1" noChangeAspect="1" noMove="1" noResize="1" noEditPoints="1" noAdjustHandles="1" noChangeArrowheads="1" noChangeShapeType="1" noTextEdit="1"/>
              </p:cNvSpPr>
              <p:nvPr/>
            </p:nvSpPr>
            <p:spPr>
              <a:xfrm>
                <a:off x="3433910" y="693135"/>
                <a:ext cx="5030673" cy="545727"/>
              </a:xfrm>
              <a:prstGeom prst="rect">
                <a:avLst/>
              </a:prstGeom>
              <a:blipFill>
                <a:blip r:embed="rId8"/>
                <a:stretch>
                  <a:fillRect l="-1511" r="-756" b="-9091"/>
                </a:stretch>
              </a:blipFill>
            </p:spPr>
            <p:txBody>
              <a:bodyPr/>
              <a:lstStyle/>
              <a:p>
                <a:r>
                  <a:rPr lang="en-US">
                    <a:noFill/>
                  </a:rPr>
                  <a:t> </a:t>
                </a:r>
              </a:p>
            </p:txBody>
          </p:sp>
        </mc:Fallback>
      </mc:AlternateContent>
    </p:spTree>
    <p:extLst>
      <p:ext uri="{BB962C8B-B14F-4D97-AF65-F5344CB8AC3E}">
        <p14:creationId xmlns:p14="http://schemas.microsoft.com/office/powerpoint/2010/main" val="32819233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26</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Reynolds flux of suspended sediment</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93BFC86-46AE-6C49-B622-DBBBCF969899}"/>
                  </a:ext>
                </a:extLst>
              </p:cNvPr>
              <p:cNvSpPr txBox="1"/>
              <p:nvPr/>
            </p:nvSpPr>
            <p:spPr>
              <a:xfrm>
                <a:off x="383626" y="1420784"/>
                <a:ext cx="11527088" cy="1014893"/>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The quantities </a:t>
                </a:r>
                <a14:m>
                  <m:oMath xmlns:m="http://schemas.openxmlformats.org/officeDocument/2006/math">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𝑢</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oMath>
                </a14:m>
                <a:r>
                  <a:rPr lang="en-US" dirty="0">
                    <a:latin typeface="Arial" panose="020B0604020202020204" pitchFamily="34" charset="0"/>
                    <a:cs typeface="Arial" panose="020B0604020202020204" pitchFamily="34" charset="0"/>
                  </a:rPr>
                  <a:t>, </a:t>
                </a:r>
                <a14:m>
                  <m:oMath xmlns:m="http://schemas.openxmlformats.org/officeDocument/2006/math">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𝑐</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oMath>
                </a14:m>
                <a:r>
                  <a:rPr lang="en-US" dirty="0">
                    <a:latin typeface="Arial" panose="020B0604020202020204" pitchFamily="34" charset="0"/>
                    <a:cs typeface="Arial" panose="020B0604020202020204" pitchFamily="34" charset="0"/>
                  </a:rPr>
                  <a:t> and </a:t>
                </a:r>
                <a14:m>
                  <m:oMath xmlns:m="http://schemas.openxmlformats.org/officeDocument/2006/math">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𝑐</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oMath>
                </a14:m>
                <a:r>
                  <a:rPr lang="en-US" dirty="0">
                    <a:latin typeface="Arial" panose="020B0604020202020204" pitchFamily="34" charset="0"/>
                    <a:cs typeface="Arial" panose="020B0604020202020204" pitchFamily="34" charset="0"/>
                  </a:rPr>
                  <a:t>  denote the convective Reynolds fluxes of suspended sediment. They characterize the tendency of turbulence to mix suspended sediment from areas of high concentrations to areas of low concentration, i.e. down the gradient of mean concentration. </a:t>
                </a:r>
              </a:p>
            </p:txBody>
          </p:sp>
        </mc:Choice>
        <mc:Fallback xmlns="">
          <p:sp>
            <p:nvSpPr>
              <p:cNvPr id="16" name="TextBox 15">
                <a:extLst>
                  <a:ext uri="{FF2B5EF4-FFF2-40B4-BE49-F238E27FC236}">
                    <a16:creationId xmlns:a16="http://schemas.microsoft.com/office/drawing/2014/main" id="{E93BFC86-46AE-6C49-B622-DBBBCF969899}"/>
                  </a:ext>
                </a:extLst>
              </p:cNvPr>
              <p:cNvSpPr txBox="1">
                <a:spLocks noRot="1" noChangeAspect="1" noMove="1" noResize="1" noEditPoints="1" noAdjustHandles="1" noChangeArrowheads="1" noChangeShapeType="1" noTextEdit="1"/>
              </p:cNvSpPr>
              <p:nvPr/>
            </p:nvSpPr>
            <p:spPr>
              <a:xfrm>
                <a:off x="383626" y="1420784"/>
                <a:ext cx="11527088" cy="1014893"/>
              </a:xfrm>
              <a:prstGeom prst="rect">
                <a:avLst/>
              </a:prstGeom>
              <a:blipFill>
                <a:blip r:embed="rId3"/>
                <a:stretch>
                  <a:fillRect l="-441" t="-1235" b="-8642"/>
                </a:stretch>
              </a:blipFill>
            </p:spPr>
            <p:txBody>
              <a:bodyPr/>
              <a:lstStyle/>
              <a:p>
                <a:r>
                  <a:rPr lang="en-US">
                    <a:noFill/>
                  </a:rPr>
                  <a:t> </a:t>
                </a:r>
              </a:p>
            </p:txBody>
          </p:sp>
        </mc:Fallback>
      </mc:AlternateContent>
      <p:sp>
        <p:nvSpPr>
          <p:cNvPr id="17" name="Rectangle 16">
            <a:extLst>
              <a:ext uri="{FF2B5EF4-FFF2-40B4-BE49-F238E27FC236}">
                <a16:creationId xmlns:a16="http://schemas.microsoft.com/office/drawing/2014/main" id="{ECAFBF10-1DC2-6B4A-AA12-0CF2694046EE}"/>
              </a:ext>
            </a:extLst>
          </p:cNvPr>
          <p:cNvSpPr/>
          <p:nvPr/>
        </p:nvSpPr>
        <p:spPr>
          <a:xfrm>
            <a:off x="2063956" y="2588749"/>
            <a:ext cx="8362122" cy="1770419"/>
          </a:xfrm>
          <a:prstGeom prst="rect">
            <a:avLst/>
          </a:prstGeom>
          <a:gradFill flip="none" rotWithShape="1">
            <a:gsLst>
              <a:gs pos="0">
                <a:schemeClr val="accent5">
                  <a:lumMod val="42000"/>
                  <a:lumOff val="58000"/>
                </a:schemeClr>
              </a:gs>
              <a:gs pos="100000">
                <a:schemeClr val="accent4">
                  <a:lumMod val="75000"/>
                </a:schemeClr>
              </a:gs>
            </a:gsLst>
            <a:lin ang="5400000" scaled="1"/>
            <a:tileRect/>
          </a:gra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1F2B3CA-1C20-694E-B276-5E2C754C33E9}"/>
              </a:ext>
            </a:extLst>
          </p:cNvPr>
          <p:cNvSpPr/>
          <p:nvPr/>
        </p:nvSpPr>
        <p:spPr>
          <a:xfrm>
            <a:off x="2063956" y="3819183"/>
            <a:ext cx="8362122" cy="540000"/>
          </a:xfrm>
          <a:prstGeom prst="rect">
            <a:avLst/>
          </a:prstGeom>
          <a:pattFill prst="pct25">
            <a:fgClr>
              <a:schemeClr val="accent4">
                <a:lumMod val="75000"/>
              </a:schemeClr>
            </a:fgClr>
            <a:bgClr>
              <a:schemeClr val="bg1"/>
            </a:bgClr>
          </a:patt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B8F9072B-FAED-E34D-A493-1550A6EF10EB}"/>
              </a:ext>
            </a:extLst>
          </p:cNvPr>
          <p:cNvSpPr/>
          <p:nvPr/>
        </p:nvSpPr>
        <p:spPr>
          <a:xfrm>
            <a:off x="963496" y="3234738"/>
            <a:ext cx="936994" cy="374754"/>
          </a:xfrm>
          <a:prstGeom prst="right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F0F5E43C-3EC3-444E-806E-821D7084C74D}"/>
              </a:ext>
            </a:extLst>
          </p:cNvPr>
          <p:cNvSpPr txBox="1"/>
          <p:nvPr/>
        </p:nvSpPr>
        <p:spPr>
          <a:xfrm>
            <a:off x="965940" y="2974251"/>
            <a:ext cx="936994"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flow</a:t>
            </a:r>
          </a:p>
        </p:txBody>
      </p:sp>
      <p:cxnSp>
        <p:nvCxnSpPr>
          <p:cNvPr id="26" name="Straight Arrow Connector 25">
            <a:extLst>
              <a:ext uri="{FF2B5EF4-FFF2-40B4-BE49-F238E27FC236}">
                <a16:creationId xmlns:a16="http://schemas.microsoft.com/office/drawing/2014/main" id="{F47901D6-43B5-294C-9981-55254364F5EE}"/>
              </a:ext>
            </a:extLst>
          </p:cNvPr>
          <p:cNvCxnSpPr/>
          <p:nvPr/>
        </p:nvCxnSpPr>
        <p:spPr>
          <a:xfrm flipV="1">
            <a:off x="3317007" y="3140048"/>
            <a:ext cx="0" cy="679135"/>
          </a:xfrm>
          <a:prstGeom prst="straightConnector1">
            <a:avLst/>
          </a:prstGeom>
          <a:ln w="190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0E4D3EA0-66F0-794D-8FE4-2DBD8F2E41DC}"/>
              </a:ext>
            </a:extLst>
          </p:cNvPr>
          <p:cNvSpPr txBox="1"/>
          <p:nvPr/>
        </p:nvSpPr>
        <p:spPr>
          <a:xfrm>
            <a:off x="3002469" y="2974251"/>
            <a:ext cx="46605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z</a:t>
            </a:r>
          </a:p>
        </p:txBody>
      </p:sp>
      <p:cxnSp>
        <p:nvCxnSpPr>
          <p:cNvPr id="28" name="Straight Connector 27">
            <a:extLst>
              <a:ext uri="{FF2B5EF4-FFF2-40B4-BE49-F238E27FC236}">
                <a16:creationId xmlns:a16="http://schemas.microsoft.com/office/drawing/2014/main" id="{31F383C2-98BF-DB4F-9B64-AB7F8E7427A9}"/>
              </a:ext>
            </a:extLst>
          </p:cNvPr>
          <p:cNvCxnSpPr/>
          <p:nvPr/>
        </p:nvCxnSpPr>
        <p:spPr>
          <a:xfrm>
            <a:off x="5475591" y="2588749"/>
            <a:ext cx="0" cy="12304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8483155-485F-2D41-BC7E-FC7ED7DE3B86}"/>
              </a:ext>
            </a:extLst>
          </p:cNvPr>
          <p:cNvCxnSpPr/>
          <p:nvPr/>
        </p:nvCxnSpPr>
        <p:spPr>
          <a:xfrm>
            <a:off x="7231939" y="2577296"/>
            <a:ext cx="0" cy="12304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Freeform 29">
            <a:extLst>
              <a:ext uri="{FF2B5EF4-FFF2-40B4-BE49-F238E27FC236}">
                <a16:creationId xmlns:a16="http://schemas.microsoft.com/office/drawing/2014/main" id="{FDA1D57E-8616-9149-843D-C1904ACF8159}"/>
              </a:ext>
            </a:extLst>
          </p:cNvPr>
          <p:cNvSpPr/>
          <p:nvPr/>
        </p:nvSpPr>
        <p:spPr>
          <a:xfrm>
            <a:off x="5769148" y="2612315"/>
            <a:ext cx="584617" cy="1184223"/>
          </a:xfrm>
          <a:custGeom>
            <a:avLst/>
            <a:gdLst>
              <a:gd name="connsiteX0" fmla="*/ 0 w 584617"/>
              <a:gd name="connsiteY0" fmla="*/ 0 h 1184223"/>
              <a:gd name="connsiteX1" fmla="*/ 44971 w 584617"/>
              <a:gd name="connsiteY1" fmla="*/ 329784 h 1184223"/>
              <a:gd name="connsiteX2" fmla="*/ 179882 w 584617"/>
              <a:gd name="connsiteY2" fmla="*/ 749508 h 1184223"/>
              <a:gd name="connsiteX3" fmla="*/ 389745 w 584617"/>
              <a:gd name="connsiteY3" fmla="*/ 1019331 h 1184223"/>
              <a:gd name="connsiteX4" fmla="*/ 524656 w 584617"/>
              <a:gd name="connsiteY4" fmla="*/ 1094282 h 1184223"/>
              <a:gd name="connsiteX5" fmla="*/ 584617 w 584617"/>
              <a:gd name="connsiteY5" fmla="*/ 1184223 h 1184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4617" h="1184223">
                <a:moveTo>
                  <a:pt x="0" y="0"/>
                </a:moveTo>
                <a:cubicBezTo>
                  <a:pt x="7495" y="102433"/>
                  <a:pt x="14991" y="204866"/>
                  <a:pt x="44971" y="329784"/>
                </a:cubicBezTo>
                <a:cubicBezTo>
                  <a:pt x="74951" y="454702"/>
                  <a:pt x="122420" y="634584"/>
                  <a:pt x="179882" y="749508"/>
                </a:cubicBezTo>
                <a:cubicBezTo>
                  <a:pt x="237344" y="864432"/>
                  <a:pt x="332283" y="961869"/>
                  <a:pt x="389745" y="1019331"/>
                </a:cubicBezTo>
                <a:cubicBezTo>
                  <a:pt x="447207" y="1076793"/>
                  <a:pt x="492177" y="1066800"/>
                  <a:pt x="524656" y="1094282"/>
                </a:cubicBezTo>
                <a:cubicBezTo>
                  <a:pt x="557135" y="1121764"/>
                  <a:pt x="570876" y="1152993"/>
                  <a:pt x="584617" y="1184223"/>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a:extLst>
              <a:ext uri="{FF2B5EF4-FFF2-40B4-BE49-F238E27FC236}">
                <a16:creationId xmlns:a16="http://schemas.microsoft.com/office/drawing/2014/main" id="{5C0DF430-FD64-8449-89AD-986886FBD0C0}"/>
              </a:ext>
            </a:extLst>
          </p:cNvPr>
          <p:cNvSpPr/>
          <p:nvPr/>
        </p:nvSpPr>
        <p:spPr>
          <a:xfrm>
            <a:off x="7244430" y="2570422"/>
            <a:ext cx="854439" cy="1214203"/>
          </a:xfrm>
          <a:custGeom>
            <a:avLst/>
            <a:gdLst>
              <a:gd name="connsiteX0" fmla="*/ 0 w 854439"/>
              <a:gd name="connsiteY0" fmla="*/ 1214203 h 1214203"/>
              <a:gd name="connsiteX1" fmla="*/ 539646 w 854439"/>
              <a:gd name="connsiteY1" fmla="*/ 1154242 h 1214203"/>
              <a:gd name="connsiteX2" fmla="*/ 704538 w 854439"/>
              <a:gd name="connsiteY2" fmla="*/ 974360 h 1214203"/>
              <a:gd name="connsiteX3" fmla="*/ 824459 w 854439"/>
              <a:gd name="connsiteY3" fmla="*/ 404734 h 1214203"/>
              <a:gd name="connsiteX4" fmla="*/ 854439 w 854439"/>
              <a:gd name="connsiteY4" fmla="*/ 0 h 12142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439" h="1214203">
                <a:moveTo>
                  <a:pt x="0" y="1214203"/>
                </a:moveTo>
                <a:cubicBezTo>
                  <a:pt x="211111" y="1204209"/>
                  <a:pt x="422223" y="1194216"/>
                  <a:pt x="539646" y="1154242"/>
                </a:cubicBezTo>
                <a:cubicBezTo>
                  <a:pt x="657069" y="1114268"/>
                  <a:pt x="657069" y="1099278"/>
                  <a:pt x="704538" y="974360"/>
                </a:cubicBezTo>
                <a:cubicBezTo>
                  <a:pt x="752007" y="849442"/>
                  <a:pt x="799476" y="567127"/>
                  <a:pt x="824459" y="404734"/>
                </a:cubicBezTo>
                <a:cubicBezTo>
                  <a:pt x="849443" y="242341"/>
                  <a:pt x="851941" y="121170"/>
                  <a:pt x="854439" y="0"/>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Arrow Connector 31">
            <a:extLst>
              <a:ext uri="{FF2B5EF4-FFF2-40B4-BE49-F238E27FC236}">
                <a16:creationId xmlns:a16="http://schemas.microsoft.com/office/drawing/2014/main" id="{7846BE5B-B97B-B244-8654-6CDD5746D03E}"/>
              </a:ext>
            </a:extLst>
          </p:cNvPr>
          <p:cNvCxnSpPr>
            <a:cxnSpLocks/>
          </p:cNvCxnSpPr>
          <p:nvPr/>
        </p:nvCxnSpPr>
        <p:spPr>
          <a:xfrm>
            <a:off x="5475591" y="3473958"/>
            <a:ext cx="585865"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9338797-7F8F-8141-BC03-D66907748AF3}"/>
              </a:ext>
            </a:extLst>
          </p:cNvPr>
          <p:cNvCxnSpPr>
            <a:cxnSpLocks/>
          </p:cNvCxnSpPr>
          <p:nvPr/>
        </p:nvCxnSpPr>
        <p:spPr>
          <a:xfrm>
            <a:off x="7244430" y="3347594"/>
            <a:ext cx="749508"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7C91644B-183D-5041-BD6F-B91339E019C1}"/>
                  </a:ext>
                </a:extLst>
              </p:cNvPr>
              <p:cNvSpPr txBox="1"/>
              <p:nvPr/>
            </p:nvSpPr>
            <p:spPr>
              <a:xfrm>
                <a:off x="5538489" y="3177523"/>
                <a:ext cx="177228"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oMath>
                  </m:oMathPara>
                </a14:m>
                <a:endParaRPr lang="en-US" dirty="0">
                  <a:latin typeface="Arial" panose="020B0604020202020204" pitchFamily="34" charset="0"/>
                  <a:cs typeface="Arial" panose="020B0604020202020204" pitchFamily="34" charset="0"/>
                </a:endParaRPr>
              </a:p>
            </p:txBody>
          </p:sp>
        </mc:Choice>
        <mc:Fallback xmlns="">
          <p:sp>
            <p:nvSpPr>
              <p:cNvPr id="34" name="TextBox 33">
                <a:extLst>
                  <a:ext uri="{FF2B5EF4-FFF2-40B4-BE49-F238E27FC236}">
                    <a16:creationId xmlns:a16="http://schemas.microsoft.com/office/drawing/2014/main" id="{7C91644B-183D-5041-BD6F-B91339E019C1}"/>
                  </a:ext>
                </a:extLst>
              </p:cNvPr>
              <p:cNvSpPr txBox="1">
                <a:spLocks noRot="1" noChangeAspect="1" noMove="1" noResize="1" noEditPoints="1" noAdjustHandles="1" noChangeArrowheads="1" noChangeShapeType="1" noTextEdit="1"/>
              </p:cNvSpPr>
              <p:nvPr/>
            </p:nvSpPr>
            <p:spPr>
              <a:xfrm>
                <a:off x="5538489" y="3177523"/>
                <a:ext cx="177228" cy="315792"/>
              </a:xfrm>
              <a:prstGeom prst="rect">
                <a:avLst/>
              </a:prstGeom>
              <a:blipFill>
                <a:blip r:embed="rId4"/>
                <a:stretch>
                  <a:fillRect l="-20000" r="-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97AE2F3-1D65-9048-BC0D-E736250F704D}"/>
                  </a:ext>
                </a:extLst>
              </p:cNvPr>
              <p:cNvSpPr txBox="1"/>
              <p:nvPr/>
            </p:nvSpPr>
            <p:spPr>
              <a:xfrm>
                <a:off x="7472064" y="3001097"/>
                <a:ext cx="203004"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𝑢</m:t>
                          </m:r>
                        </m:e>
                      </m:acc>
                    </m:oMath>
                  </m:oMathPara>
                </a14:m>
                <a:endParaRPr lang="en-US" dirty="0">
                  <a:latin typeface="Arial" panose="020B0604020202020204" pitchFamily="34" charset="0"/>
                  <a:cs typeface="Arial" panose="020B0604020202020204" pitchFamily="34" charset="0"/>
                </a:endParaRPr>
              </a:p>
            </p:txBody>
          </p:sp>
        </mc:Choice>
        <mc:Fallback xmlns="">
          <p:sp>
            <p:nvSpPr>
              <p:cNvPr id="35" name="TextBox 34">
                <a:extLst>
                  <a:ext uri="{FF2B5EF4-FFF2-40B4-BE49-F238E27FC236}">
                    <a16:creationId xmlns:a16="http://schemas.microsoft.com/office/drawing/2014/main" id="{597AE2F3-1D65-9048-BC0D-E736250F704D}"/>
                  </a:ext>
                </a:extLst>
              </p:cNvPr>
              <p:cNvSpPr txBox="1">
                <a:spLocks noRot="1" noChangeAspect="1" noMove="1" noResize="1" noEditPoints="1" noAdjustHandles="1" noChangeArrowheads="1" noChangeShapeType="1" noTextEdit="1"/>
              </p:cNvSpPr>
              <p:nvPr/>
            </p:nvSpPr>
            <p:spPr>
              <a:xfrm>
                <a:off x="7472064" y="3001097"/>
                <a:ext cx="203004" cy="315792"/>
              </a:xfrm>
              <a:prstGeom prst="rect">
                <a:avLst/>
              </a:prstGeom>
              <a:blipFill>
                <a:blip r:embed="rId5"/>
                <a:stretch>
                  <a:fillRect l="-11765" r="-5882"/>
                </a:stretch>
              </a:blipFill>
            </p:spPr>
            <p:txBody>
              <a:bodyPr/>
              <a:lstStyle/>
              <a:p>
                <a:r>
                  <a:rPr lang="en-US">
                    <a:noFill/>
                  </a:rPr>
                  <a:t> </a:t>
                </a:r>
              </a:p>
            </p:txBody>
          </p:sp>
        </mc:Fallback>
      </mc:AlternateContent>
      <p:cxnSp>
        <p:nvCxnSpPr>
          <p:cNvPr id="36" name="Straight Arrow Connector 35">
            <a:extLst>
              <a:ext uri="{FF2B5EF4-FFF2-40B4-BE49-F238E27FC236}">
                <a16:creationId xmlns:a16="http://schemas.microsoft.com/office/drawing/2014/main" id="{37276F2E-B504-C14B-9BA0-9B153DAB8943}"/>
              </a:ext>
            </a:extLst>
          </p:cNvPr>
          <p:cNvCxnSpPr/>
          <p:nvPr/>
        </p:nvCxnSpPr>
        <p:spPr>
          <a:xfrm>
            <a:off x="9193151" y="2588749"/>
            <a:ext cx="0" cy="1230434"/>
          </a:xfrm>
          <a:prstGeom prst="straightConnector1">
            <a:avLst/>
          </a:prstGeom>
          <a:ln w="19050">
            <a:solidFill>
              <a:schemeClr val="tx1"/>
            </a:solidFill>
            <a:headEnd type="arrow" w="lg" len="lg"/>
            <a:tailEnd type="arrow" w="lg" len="lg"/>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81ED501-140C-8346-9135-AEA297EBB31E}"/>
              </a:ext>
            </a:extLst>
          </p:cNvPr>
          <p:cNvSpPr txBox="1"/>
          <p:nvPr/>
        </p:nvSpPr>
        <p:spPr>
          <a:xfrm>
            <a:off x="8862011" y="2916817"/>
            <a:ext cx="46605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H</a:t>
            </a:r>
          </a:p>
        </p:txBody>
      </p:sp>
      <p:sp>
        <p:nvSpPr>
          <p:cNvPr id="2" name="TextBox 1">
            <a:extLst>
              <a:ext uri="{FF2B5EF4-FFF2-40B4-BE49-F238E27FC236}">
                <a16:creationId xmlns:a16="http://schemas.microsoft.com/office/drawing/2014/main" id="{4578764D-EA09-084E-AC2E-754A721232BA}"/>
              </a:ext>
            </a:extLst>
          </p:cNvPr>
          <p:cNvSpPr txBox="1"/>
          <p:nvPr/>
        </p:nvSpPr>
        <p:spPr>
          <a:xfrm>
            <a:off x="383626" y="4653903"/>
            <a:ext cx="11435937"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Reynolds flux of suspended sediment in the z direction can be modeled in terms of a kinematic eddy diffusivity as</a:t>
            </a:r>
          </a:p>
        </p:txBody>
      </p:sp>
      <p:cxnSp>
        <p:nvCxnSpPr>
          <p:cNvPr id="7" name="Straight Arrow Connector 6">
            <a:extLst>
              <a:ext uri="{FF2B5EF4-FFF2-40B4-BE49-F238E27FC236}">
                <a16:creationId xmlns:a16="http://schemas.microsoft.com/office/drawing/2014/main" id="{379537B7-8D1F-704C-8631-787FF2934087}"/>
              </a:ext>
            </a:extLst>
          </p:cNvPr>
          <p:cNvCxnSpPr>
            <a:cxnSpLocks/>
          </p:cNvCxnSpPr>
          <p:nvPr/>
        </p:nvCxnSpPr>
        <p:spPr>
          <a:xfrm>
            <a:off x="6614925" y="2908234"/>
            <a:ext cx="5605" cy="513881"/>
          </a:xfrm>
          <a:prstGeom prst="straightConnector1">
            <a:avLst/>
          </a:prstGeom>
          <a:ln w="38100">
            <a:solidFill>
              <a:srgbClr val="FF0000"/>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B1D33BD-71A3-D149-82F4-B3ACC6C4F6A6}"/>
                  </a:ext>
                </a:extLst>
              </p:cNvPr>
              <p:cNvSpPr txBox="1"/>
              <p:nvPr/>
            </p:nvSpPr>
            <p:spPr>
              <a:xfrm>
                <a:off x="5768523" y="3865256"/>
                <a:ext cx="2382767" cy="315792"/>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𝑐</m:t>
                          </m:r>
                        </m:e>
                        <m:sup>
                          <m:r>
                            <a:rPr lang="en-US" b="0" i="1" smtClean="0">
                              <a:latin typeface="Cambria Math" panose="02040503050406030204" pitchFamily="18" charset="0"/>
                              <a:cs typeface="Arial" panose="020B0604020202020204" pitchFamily="34" charset="0"/>
                            </a:rPr>
                            <m:t>′</m:t>
                          </m:r>
                        </m:sup>
                      </m:sSup>
                      <m:r>
                        <a:rPr lang="en-US" b="0" i="1" smtClean="0">
                          <a:latin typeface="Cambria Math" panose="02040503050406030204" pitchFamily="18" charset="0"/>
                          <a:cs typeface="Arial" panose="020B0604020202020204" pitchFamily="34" charset="0"/>
                        </a:rPr>
                        <m:t>&lt;0, </m:t>
                      </m:r>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𝑤</m:t>
                          </m:r>
                        </m:e>
                        <m:sup>
                          <m:r>
                            <a:rPr lang="en-US" b="0" i="1" smtClean="0">
                              <a:latin typeface="Cambria Math" panose="02040503050406030204" pitchFamily="18" charset="0"/>
                              <a:cs typeface="Arial" panose="020B0604020202020204" pitchFamily="34" charset="0"/>
                            </a:rPr>
                            <m:t>′</m:t>
                          </m:r>
                        </m:sup>
                      </m:sSup>
                      <m:r>
                        <a:rPr lang="en-US" b="0" i="1" smtClean="0">
                          <a:latin typeface="Cambria Math" panose="02040503050406030204" pitchFamily="18" charset="0"/>
                          <a:cs typeface="Arial" panose="020B0604020202020204" pitchFamily="34" charset="0"/>
                        </a:rPr>
                        <m:t>&lt;0,</m:t>
                      </m:r>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𝑤</m:t>
                          </m:r>
                        </m:e>
                        <m:sup>
                          <m:r>
                            <a:rPr lang="en-US" i="1">
                              <a:latin typeface="Cambria Math" panose="02040503050406030204" pitchFamily="18" charset="0"/>
                              <a:cs typeface="Arial" panose="020B0604020202020204" pitchFamily="34" charset="0"/>
                            </a:rPr>
                            <m:t>′</m:t>
                          </m:r>
                        </m:sup>
                      </m:sSup>
                      <m:r>
                        <a:rPr lang="en-US" i="1">
                          <a:latin typeface="Cambria Math" panose="02040503050406030204" pitchFamily="18" charset="0"/>
                          <a:cs typeface="Arial" panose="020B0604020202020204" pitchFamily="34" charset="0"/>
                        </a:rPr>
                        <m:t>𝑐</m:t>
                      </m:r>
                      <m:r>
                        <a:rPr lang="en-US" i="1">
                          <a:latin typeface="Cambria Math" panose="02040503050406030204" pitchFamily="18" charset="0"/>
                          <a:cs typeface="Arial" panose="020B0604020202020204" pitchFamily="34" charset="0"/>
                        </a:rPr>
                        <m:t>′&gt;0</m:t>
                      </m:r>
                    </m:oMath>
                  </m:oMathPara>
                </a14:m>
                <a:endParaRPr lang="en-US" dirty="0">
                  <a:latin typeface="Arial" panose="020B0604020202020204" pitchFamily="34" charset="0"/>
                  <a:cs typeface="Arial" panose="020B0604020202020204" pitchFamily="34" charset="0"/>
                </a:endParaRPr>
              </a:p>
            </p:txBody>
          </p:sp>
        </mc:Choice>
        <mc:Fallback xmlns="">
          <p:sp>
            <p:nvSpPr>
              <p:cNvPr id="9" name="TextBox 8">
                <a:extLst>
                  <a:ext uri="{FF2B5EF4-FFF2-40B4-BE49-F238E27FC236}">
                    <a16:creationId xmlns:a16="http://schemas.microsoft.com/office/drawing/2014/main" id="{5B1D33BD-71A3-D149-82F4-B3ACC6C4F6A6}"/>
                  </a:ext>
                </a:extLst>
              </p:cNvPr>
              <p:cNvSpPr txBox="1">
                <a:spLocks noRot="1" noChangeAspect="1" noMove="1" noResize="1" noEditPoints="1" noAdjustHandles="1" noChangeArrowheads="1" noChangeShapeType="1" noTextEdit="1"/>
              </p:cNvSpPr>
              <p:nvPr/>
            </p:nvSpPr>
            <p:spPr>
              <a:xfrm>
                <a:off x="5768523" y="3865256"/>
                <a:ext cx="2382767" cy="315792"/>
              </a:xfrm>
              <a:prstGeom prst="rect">
                <a:avLst/>
              </a:prstGeom>
              <a:blipFill>
                <a:blip r:embed="rId6"/>
                <a:stretch>
                  <a:fillRect l="-1064" r="-1596"/>
                </a:stretch>
              </a:blipFill>
            </p:spPr>
            <p:txBody>
              <a:bodyPr/>
              <a:lstStyle/>
              <a:p>
                <a:r>
                  <a:rPr lang="en-US">
                    <a:noFill/>
                  </a:rPr>
                  <a:t> </a:t>
                </a:r>
              </a:p>
            </p:txBody>
          </p:sp>
        </mc:Fallback>
      </mc:AlternateContent>
      <p:sp>
        <p:nvSpPr>
          <p:cNvPr id="24" name="Oval 23">
            <a:extLst>
              <a:ext uri="{FF2B5EF4-FFF2-40B4-BE49-F238E27FC236}">
                <a16:creationId xmlns:a16="http://schemas.microsoft.com/office/drawing/2014/main" id="{66CD56BB-EF97-C740-ACE1-DCF189143D4E}"/>
              </a:ext>
            </a:extLst>
          </p:cNvPr>
          <p:cNvSpPr/>
          <p:nvPr/>
        </p:nvSpPr>
        <p:spPr>
          <a:xfrm>
            <a:off x="6302869" y="601358"/>
            <a:ext cx="2559142" cy="804231"/>
          </a:xfrm>
          <a:prstGeom prst="ellipse">
            <a:avLst/>
          </a:prstGeom>
          <a:solidFill>
            <a:srgbClr val="F9D9FF"/>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C3A620C-5EAF-8E47-9690-9D09A73664E0}"/>
                  </a:ext>
                </a:extLst>
              </p:cNvPr>
              <p:cNvSpPr txBox="1"/>
              <p:nvPr/>
            </p:nvSpPr>
            <p:spPr>
              <a:xfrm>
                <a:off x="3433910" y="693135"/>
                <a:ext cx="5030673" cy="545727"/>
              </a:xfrm>
              <a:prstGeom prst="rect">
                <a:avLst/>
              </a:prstGeom>
              <a:noFill/>
            </p:spPr>
            <p:txBody>
              <a:bodyPr wrap="none" lIns="0" tIns="0" rIns="0" bIns="0" rtlCol="0">
                <a:spAutoFit/>
              </a:bodyPr>
              <a:lstStyle/>
              <a:p>
                <a:pPr>
                  <a:lnSpc>
                    <a:spcPct val="114000"/>
                  </a:lnSpc>
                </a:pPr>
                <a14:m>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acc>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acc>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acc>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acc>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𝑣</m:t>
                        </m:r>
                      </m:e>
                      <m:sub>
                        <m:r>
                          <a:rPr lang="en-US" i="1">
                            <a:latin typeface="Cambria Math" panose="02040503050406030204" pitchFamily="18" charset="0"/>
                            <a:ea typeface="Cambria Math" panose="02040503050406030204" pitchFamily="18" charset="0"/>
                            <a:cs typeface="Arial" panose="020B0604020202020204" pitchFamily="34" charset="0"/>
                          </a:rPr>
                          <m:t>𝑠</m:t>
                        </m:r>
                      </m:sub>
                    </m:sSub>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r>
                              <a:rPr lang="en-US" b="0" i="1" smtClean="0">
                                <a:latin typeface="Cambria Math" panose="02040503050406030204" pitchFamily="18" charset="0"/>
                                <a:ea typeface="Cambria Math" panose="02040503050406030204" pitchFamily="18" charset="0"/>
                                <a:cs typeface="Arial" panose="020B0604020202020204" pitchFamily="34" charset="0"/>
                              </a:rPr>
                              <m:t>𝑐</m:t>
                            </m:r>
                            <m:r>
                              <a:rPr lang="en-US" b="0" i="1" smtClean="0">
                                <a:latin typeface="Cambria Math" panose="02040503050406030204" pitchFamily="18" charset="0"/>
                                <a:ea typeface="Cambria Math" panose="02040503050406030204" pitchFamily="18" charset="0"/>
                                <a:cs typeface="Arial" panose="020B0604020202020204" pitchFamily="34" charset="0"/>
                              </a:rPr>
                              <m:t>′</m:t>
                            </m:r>
                          </m:e>
                        </m:acc>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i="1">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r>
                              <a:rPr lang="en-US" i="1">
                                <a:latin typeface="Cambria Math" panose="02040503050406030204" pitchFamily="18" charset="0"/>
                                <a:ea typeface="Cambria Math" panose="02040503050406030204" pitchFamily="18" charset="0"/>
                                <a:cs typeface="Arial" panose="020B0604020202020204" pitchFamily="34" charset="0"/>
                              </a:rPr>
                              <m:t>𝑐</m:t>
                            </m:r>
                            <m:r>
                              <a:rPr lang="en-US" i="1">
                                <a:latin typeface="Cambria Math" panose="02040503050406030204" pitchFamily="18" charset="0"/>
                                <a:ea typeface="Cambria Math" panose="02040503050406030204" pitchFamily="18" charset="0"/>
                                <a:cs typeface="Arial" panose="020B0604020202020204" pitchFamily="34" charset="0"/>
                              </a:rPr>
                              <m:t>′</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oMath>
                </a14:m>
                <a:r>
                  <a:rPr lang="en-US" dirty="0">
                    <a:ea typeface="Cambria Math" panose="02040503050406030204" pitchFamily="18" charset="0"/>
                    <a:cs typeface="Arial" panose="020B0604020202020204" pitchFamily="34" charset="0"/>
                  </a:rPr>
                  <a:t> </a:t>
                </a:r>
                <a14:m>
                  <m:oMath xmlns:m="http://schemas.openxmlformats.org/officeDocument/2006/math">
                    <m:r>
                      <a:rPr lang="en-US" i="1">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r>
                              <a:rPr lang="en-US" i="1">
                                <a:latin typeface="Cambria Math" panose="02040503050406030204" pitchFamily="18" charset="0"/>
                                <a:ea typeface="Cambria Math" panose="02040503050406030204" pitchFamily="18" charset="0"/>
                                <a:cs typeface="Arial" panose="020B0604020202020204" pitchFamily="34" charset="0"/>
                              </a:rPr>
                              <m:t>𝑐</m:t>
                            </m:r>
                            <m:r>
                              <a:rPr lang="en-US" i="1">
                                <a:latin typeface="Cambria Math" panose="02040503050406030204" pitchFamily="18" charset="0"/>
                                <a:ea typeface="Cambria Math" panose="02040503050406030204" pitchFamily="18" charset="0"/>
                                <a:cs typeface="Arial" panose="020B0604020202020204" pitchFamily="34" charset="0"/>
                              </a:rPr>
                              <m:t>′</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oMath>
                </a14:m>
                <a:endParaRPr lang="en-US" dirty="0">
                  <a:latin typeface="Arial" panose="020B0604020202020204" pitchFamily="34" charset="0"/>
                  <a:cs typeface="Arial" panose="020B0604020202020204" pitchFamily="34" charset="0"/>
                </a:endParaRPr>
              </a:p>
            </p:txBody>
          </p:sp>
        </mc:Choice>
        <mc:Fallback xmlns="">
          <p:sp>
            <p:nvSpPr>
              <p:cNvPr id="25" name="TextBox 24">
                <a:extLst>
                  <a:ext uri="{FF2B5EF4-FFF2-40B4-BE49-F238E27FC236}">
                    <a16:creationId xmlns:a16="http://schemas.microsoft.com/office/drawing/2014/main" id="{FC3A620C-5EAF-8E47-9690-9D09A73664E0}"/>
                  </a:ext>
                </a:extLst>
              </p:cNvPr>
              <p:cNvSpPr txBox="1">
                <a:spLocks noRot="1" noChangeAspect="1" noMove="1" noResize="1" noEditPoints="1" noAdjustHandles="1" noChangeArrowheads="1" noChangeShapeType="1" noTextEdit="1"/>
              </p:cNvSpPr>
              <p:nvPr/>
            </p:nvSpPr>
            <p:spPr>
              <a:xfrm>
                <a:off x="3433910" y="693135"/>
                <a:ext cx="5030673" cy="545727"/>
              </a:xfrm>
              <a:prstGeom prst="rect">
                <a:avLst/>
              </a:prstGeom>
              <a:blipFill>
                <a:blip r:embed="rId7"/>
                <a:stretch>
                  <a:fillRect l="-1511" r="-756" b="-90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FDBE42A-DB09-7F40-B795-BAAF0A14A921}"/>
                  </a:ext>
                </a:extLst>
              </p:cNvPr>
              <p:cNvSpPr txBox="1"/>
              <p:nvPr/>
            </p:nvSpPr>
            <p:spPr>
              <a:xfrm>
                <a:off x="422902" y="5511926"/>
                <a:ext cx="1521506" cy="598369"/>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𝑐</m:t>
                              </m:r>
                            </m:e>
                            <m:sup>
                              <m:r>
                                <a:rPr lang="en-US" b="0" i="1" smtClean="0">
                                  <a:latin typeface="Cambria Math" panose="02040503050406030204" pitchFamily="18" charset="0"/>
                                  <a:cs typeface="Arial" panose="020B0604020202020204" pitchFamily="34" charset="0"/>
                                </a:rPr>
                                <m:t>′</m:t>
                              </m:r>
                            </m:sup>
                          </m:sSup>
                          <m:r>
                            <a:rPr lang="en-US" b="0" i="1" smtClean="0">
                              <a:latin typeface="Cambria Math" panose="02040503050406030204" pitchFamily="18" charset="0"/>
                              <a:cs typeface="Arial" panose="020B0604020202020204" pitchFamily="34" charset="0"/>
                            </a:rPr>
                            <m:t>𝑤</m:t>
                          </m:r>
                          <m:r>
                            <a:rPr lang="en-US" b="0" i="1" smtClean="0">
                              <a:latin typeface="Cambria Math" panose="02040503050406030204" pitchFamily="18" charset="0"/>
                              <a:cs typeface="Arial" panose="020B0604020202020204" pitchFamily="34" charset="0"/>
                            </a:rPr>
                            <m:t>′</m:t>
                          </m:r>
                        </m:e>
                      </m:acc>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𝜈</m:t>
                          </m:r>
                        </m:e>
                        <m:sub>
                          <m:r>
                            <a:rPr lang="en-US" b="0" i="1" smtClean="0">
                              <a:latin typeface="Cambria Math" panose="02040503050406030204" pitchFamily="18" charset="0"/>
                              <a:cs typeface="Arial" panose="020B0604020202020204" pitchFamily="34" charset="0"/>
                            </a:rPr>
                            <m:t>𝑠𝑡</m:t>
                          </m:r>
                        </m:sub>
                      </m:sSub>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acc>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oMath>
                  </m:oMathPara>
                </a14:m>
                <a:endParaRPr lang="en-US" dirty="0">
                  <a:latin typeface="Arial" panose="020B0604020202020204" pitchFamily="34" charset="0"/>
                  <a:cs typeface="Arial" panose="020B0604020202020204" pitchFamily="34" charset="0"/>
                </a:endParaRPr>
              </a:p>
            </p:txBody>
          </p:sp>
        </mc:Choice>
        <mc:Fallback xmlns="">
          <p:sp>
            <p:nvSpPr>
              <p:cNvPr id="3" name="TextBox 2">
                <a:extLst>
                  <a:ext uri="{FF2B5EF4-FFF2-40B4-BE49-F238E27FC236}">
                    <a16:creationId xmlns:a16="http://schemas.microsoft.com/office/drawing/2014/main" id="{0FDBE42A-DB09-7F40-B795-BAAF0A14A921}"/>
                  </a:ext>
                </a:extLst>
              </p:cNvPr>
              <p:cNvSpPr txBox="1">
                <a:spLocks noRot="1" noChangeAspect="1" noMove="1" noResize="1" noEditPoints="1" noAdjustHandles="1" noChangeArrowheads="1" noChangeShapeType="1" noTextEdit="1"/>
              </p:cNvSpPr>
              <p:nvPr/>
            </p:nvSpPr>
            <p:spPr>
              <a:xfrm>
                <a:off x="422902" y="5511926"/>
                <a:ext cx="1521506" cy="598369"/>
              </a:xfrm>
              <a:prstGeom prst="rect">
                <a:avLst/>
              </a:prstGeom>
              <a:blipFill>
                <a:blip r:embed="rId8"/>
                <a:stretch>
                  <a:fillRect l="-1653" r="-2479" b="-14583"/>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A1D32EA5-F492-544B-88E4-940E1306F891}"/>
              </a:ext>
            </a:extLst>
          </p:cNvPr>
          <p:cNvSpPr txBox="1"/>
          <p:nvPr/>
        </p:nvSpPr>
        <p:spPr>
          <a:xfrm>
            <a:off x="3057380" y="5574185"/>
            <a:ext cx="4174559" cy="732573"/>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with </a:t>
            </a:r>
            <a:r>
              <a:rPr lang="en-US" sz="2000" dirty="0" err="1">
                <a:latin typeface="Symbol" pitchFamily="2" charset="2"/>
                <a:cs typeface="Arial" panose="020B0604020202020204" pitchFamily="34" charset="0"/>
              </a:rPr>
              <a:t>n</a:t>
            </a:r>
            <a:r>
              <a:rPr lang="en-US" baseline="-25000" dirty="0" err="1">
                <a:latin typeface="Arial" panose="020B0604020202020204" pitchFamily="34" charset="0"/>
                <a:cs typeface="Arial" panose="020B0604020202020204" pitchFamily="34" charset="0"/>
              </a:rPr>
              <a:t>st</a:t>
            </a:r>
            <a:r>
              <a:rPr lang="en-US" dirty="0">
                <a:latin typeface="Arial" panose="020B0604020202020204" pitchFamily="34" charset="0"/>
                <a:cs typeface="Arial" panose="020B0604020202020204" pitchFamily="34" charset="0"/>
              </a:rPr>
              <a:t> being the kinematic eddy diffusivity of suspended sediment.</a:t>
            </a: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3177D4B6-02A3-0D47-BECD-338392224D36}"/>
                  </a:ext>
                </a:extLst>
              </p:cNvPr>
              <p:cNvSpPr txBox="1"/>
              <p:nvPr/>
            </p:nvSpPr>
            <p:spPr>
              <a:xfrm>
                <a:off x="9548915" y="5452872"/>
                <a:ext cx="877163" cy="872355"/>
              </a:xfrm>
              <a:prstGeom prst="rect">
                <a:avLst/>
              </a:prstGeom>
              <a:solidFill>
                <a:srgbClr val="FFFF00"/>
              </a:solidFill>
              <a:ln w="38100">
                <a:solidFill>
                  <a:srgbClr val="C00000"/>
                </a:solidFill>
              </a:ln>
            </p:spPr>
            <p:txBody>
              <a:bodyPr wrap="none" rtlCol="0">
                <a:spAutoFit/>
              </a:bodyPr>
              <a:lstStyle/>
              <a:p>
                <a:pPr algn="l">
                  <a:lnSpc>
                    <a:spcPct val="114000"/>
                  </a:lnSpc>
                </a:pPr>
                <a:r>
                  <a:rPr lang="en-US" dirty="0">
                    <a:latin typeface="Arial" panose="020B0604020202020204" pitchFamily="34" charset="0"/>
                    <a:cs typeface="Arial" panose="020B0604020202020204" pitchFamily="34" charset="0"/>
                  </a:rPr>
                  <a:t>NOTE</a:t>
                </a:r>
              </a:p>
              <a:p>
                <a:pPr algn="l">
                  <a:lnSpc>
                    <a:spcPct val="114000"/>
                  </a:lnSpc>
                </a:pPr>
                <a:r>
                  <a:rPr lang="en-US" dirty="0">
                    <a:latin typeface="Arial" panose="020B0604020202020204" pitchFamily="34" charset="0"/>
                    <a:cs typeface="Arial" panose="020B0604020202020204" pitchFamily="34" charset="0"/>
                  </a:rPr>
                  <a:t> </a:t>
                </a:r>
                <a14:m>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acc>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cs typeface="Arial" panose="020B0604020202020204" pitchFamily="34" charset="0"/>
                      </a:rPr>
                      <m:t>&lt;0</m:t>
                    </m:r>
                  </m:oMath>
                </a14:m>
                <a:endParaRPr lang="en-US" dirty="0">
                  <a:latin typeface="Arial" panose="020B0604020202020204" pitchFamily="34" charset="0"/>
                  <a:cs typeface="Arial" panose="020B0604020202020204" pitchFamily="34" charset="0"/>
                </a:endParaRPr>
              </a:p>
            </p:txBody>
          </p:sp>
        </mc:Choice>
        <mc:Fallback xmlns="">
          <p:sp>
            <p:nvSpPr>
              <p:cNvPr id="38" name="TextBox 37">
                <a:extLst>
                  <a:ext uri="{FF2B5EF4-FFF2-40B4-BE49-F238E27FC236}">
                    <a16:creationId xmlns:a16="http://schemas.microsoft.com/office/drawing/2014/main" id="{3177D4B6-02A3-0D47-BECD-338392224D36}"/>
                  </a:ext>
                </a:extLst>
              </p:cNvPr>
              <p:cNvSpPr txBox="1">
                <a:spLocks noRot="1" noChangeAspect="1" noMove="1" noResize="1" noEditPoints="1" noAdjustHandles="1" noChangeArrowheads="1" noChangeShapeType="1" noTextEdit="1"/>
              </p:cNvSpPr>
              <p:nvPr/>
            </p:nvSpPr>
            <p:spPr>
              <a:xfrm>
                <a:off x="9548915" y="5452872"/>
                <a:ext cx="877163" cy="872355"/>
              </a:xfrm>
              <a:prstGeom prst="rect">
                <a:avLst/>
              </a:prstGeom>
              <a:blipFill>
                <a:blip r:embed="rId9"/>
                <a:stretch>
                  <a:fillRect l="-4110" t="-1389"/>
                </a:stretch>
              </a:blipFill>
              <a:ln w="38100">
                <a:solidFill>
                  <a:srgbClr val="C00000"/>
                </a:solidFill>
              </a:ln>
            </p:spPr>
            <p:txBody>
              <a:bodyPr/>
              <a:lstStyle/>
              <a:p>
                <a:r>
                  <a:rPr lang="en-US">
                    <a:noFill/>
                  </a:rPr>
                  <a:t> </a:t>
                </a:r>
              </a:p>
            </p:txBody>
          </p:sp>
        </mc:Fallback>
      </mc:AlternateContent>
    </p:spTree>
    <p:extLst>
      <p:ext uri="{BB962C8B-B14F-4D97-AF65-F5344CB8AC3E}">
        <p14:creationId xmlns:p14="http://schemas.microsoft.com/office/powerpoint/2010/main" val="37532491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27</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Equilibrium vertical distribution of suspended sediment</a:t>
            </a:r>
          </a:p>
        </p:txBody>
      </p:sp>
      <p:sp>
        <p:nvSpPr>
          <p:cNvPr id="16" name="TextBox 15">
            <a:extLst>
              <a:ext uri="{FF2B5EF4-FFF2-40B4-BE49-F238E27FC236}">
                <a16:creationId xmlns:a16="http://schemas.microsoft.com/office/drawing/2014/main" id="{E93BFC86-46AE-6C49-B622-DBBBCF969899}"/>
              </a:ext>
            </a:extLst>
          </p:cNvPr>
          <p:cNvSpPr txBox="1"/>
          <p:nvPr/>
        </p:nvSpPr>
        <p:spPr>
          <a:xfrm>
            <a:off x="383626" y="814497"/>
            <a:ext cx="11527088" cy="2305375"/>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Turbulence transfers any quantity (momentum, heat, sediment mass) in the same fundamental way (Reynolds analogy).</a:t>
            </a:r>
          </a:p>
          <a:p>
            <a:pPr>
              <a:lnSpc>
                <a:spcPct val="114000"/>
              </a:lnSpc>
            </a:pPr>
            <a:r>
              <a:rPr lang="en-US" dirty="0">
                <a:latin typeface="Arial" panose="020B0604020202020204" pitchFamily="34" charset="0"/>
                <a:cs typeface="Arial" panose="020B0604020202020204" pitchFamily="34" charset="0"/>
              </a:rPr>
              <a:t>The Reynolds analogy is an approximation that is good over a wide range of conditions and will help us understand how sediment is transported in the water column of open channels. </a:t>
            </a:r>
          </a:p>
          <a:p>
            <a:pPr>
              <a:lnSpc>
                <a:spcPct val="114000"/>
              </a:lnSpc>
            </a:pPr>
            <a:endParaRPr lang="en-US" dirty="0">
              <a:latin typeface="Arial" panose="020B0604020202020204" pitchFamily="34" charset="0"/>
              <a:cs typeface="Arial" panose="020B0604020202020204" pitchFamily="34" charset="0"/>
            </a:endParaRPr>
          </a:p>
          <a:p>
            <a:pPr>
              <a:lnSpc>
                <a:spcPct val="114000"/>
              </a:lnSpc>
            </a:pPr>
            <a:r>
              <a:rPr lang="en-US" dirty="0">
                <a:latin typeface="Arial" panose="020B0604020202020204" pitchFamily="34" charset="0"/>
                <a:cs typeface="Arial" panose="020B0604020202020204" pitchFamily="34" charset="0"/>
              </a:rPr>
              <a:t>Consequence of the Reynolds analogy relevant to our problem is that the kinematic eddy diffusivity of suspended sediment </a:t>
            </a:r>
            <a:r>
              <a:rPr lang="en-US" sz="2000" dirty="0" err="1">
                <a:latin typeface="Symbol" pitchFamily="2" charset="2"/>
                <a:cs typeface="Arial" panose="020B0604020202020204" pitchFamily="34" charset="0"/>
              </a:rPr>
              <a:t>n</a:t>
            </a:r>
            <a:r>
              <a:rPr lang="en-US" baseline="-25000" dirty="0" err="1">
                <a:latin typeface="Arial" panose="020B0604020202020204" pitchFamily="34" charset="0"/>
                <a:cs typeface="Arial" panose="020B0604020202020204" pitchFamily="34" charset="0"/>
              </a:rPr>
              <a:t>st</a:t>
            </a:r>
            <a:r>
              <a:rPr lang="en-US" dirty="0">
                <a:latin typeface="Arial" panose="020B0604020202020204" pitchFamily="34" charset="0"/>
                <a:cs typeface="Arial" panose="020B0604020202020204" pitchFamily="34" charset="0"/>
              </a:rPr>
              <a:t> is equal to the eddy viscosity </a:t>
            </a:r>
            <a:r>
              <a:rPr lang="en-US" sz="2000" dirty="0">
                <a:latin typeface="Symbol" pitchFamily="2" charset="2"/>
                <a:cs typeface="Arial" panose="020B0604020202020204" pitchFamily="34" charset="0"/>
              </a:rPr>
              <a:t>n</a:t>
            </a:r>
            <a:r>
              <a:rPr lang="en-US" baseline="-25000" dirty="0">
                <a:latin typeface="Arial" panose="020B0604020202020204" pitchFamily="34" charset="0"/>
                <a:cs typeface="Arial" panose="020B0604020202020204" pitchFamily="34" charset="0"/>
              </a:rPr>
              <a:t>t</a:t>
            </a:r>
            <a:r>
              <a:rPr lang="en-US" dirty="0">
                <a:latin typeface="Arial" panose="020B0604020202020204" pitchFamily="34" charset="0"/>
                <a:cs typeface="Arial" panose="020B0604020202020204" pitchFamily="34" charset="0"/>
              </a:rPr>
              <a:t>. Thus, in the case of open channel flow</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031E3C4-8293-FC46-B1FC-BFC3CD090764}"/>
                  </a:ext>
                </a:extLst>
              </p:cNvPr>
              <p:cNvSpPr txBox="1"/>
              <p:nvPr/>
            </p:nvSpPr>
            <p:spPr>
              <a:xfrm>
                <a:off x="640830" y="3274624"/>
                <a:ext cx="2460354" cy="536557"/>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𝜈</m:t>
                          </m:r>
                        </m:e>
                        <m:sub>
                          <m:r>
                            <a:rPr lang="en-US" b="0" i="1" smtClean="0">
                              <a:latin typeface="Cambria Math" panose="02040503050406030204" pitchFamily="18" charset="0"/>
                              <a:cs typeface="Arial" panose="020B0604020202020204" pitchFamily="34" charset="0"/>
                            </a:rPr>
                            <m:t>𝑠𝑡</m:t>
                          </m:r>
                        </m:sub>
                      </m:sSub>
                      <m:r>
                        <a:rPr lang="en-US" b="0" i="1" smtClean="0">
                          <a:latin typeface="Cambria Math" panose="02040503050406030204" pitchFamily="18" charset="0"/>
                          <a:cs typeface="Arial" panose="020B0604020202020204" pitchFamily="34" charset="0"/>
                        </a:rPr>
                        <m:t>=</m:t>
                      </m:r>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𝜈</m:t>
                          </m:r>
                        </m:e>
                        <m:sub>
                          <m:r>
                            <a:rPr lang="en-US" b="0" i="1" smtClean="0">
                              <a:latin typeface="Cambria Math" panose="02040503050406030204" pitchFamily="18" charset="0"/>
                              <a:cs typeface="Arial" panose="020B0604020202020204" pitchFamily="34" charset="0"/>
                            </a:rPr>
                            <m:t>𝑡</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𝜅</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b>
                          <m:r>
                            <a:rPr lang="en-US" b="0" i="1" smtClean="0">
                              <a:latin typeface="Cambria Math" panose="02040503050406030204" pitchFamily="18" charset="0"/>
                              <a:ea typeface="Cambria Math" panose="02040503050406030204" pitchFamily="18" charset="0"/>
                              <a:cs typeface="Arial" panose="020B0604020202020204" pitchFamily="34" charset="0"/>
                            </a:rPr>
                            <m:t>∗</m:t>
                          </m:r>
                        </m:sub>
                      </m:sSub>
                      <m:r>
                        <a:rPr lang="en-US" b="0" i="1" smtClean="0">
                          <a:latin typeface="Cambria Math" panose="02040503050406030204" pitchFamily="18" charset="0"/>
                          <a:ea typeface="Cambria Math" panose="02040503050406030204" pitchFamily="18" charset="0"/>
                          <a:cs typeface="Arial" panose="020B0604020202020204" pitchFamily="34" charset="0"/>
                        </a:rPr>
                        <m:t>𝑧</m:t>
                      </m:r>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r>
                            <a:rPr lang="en-US" i="1">
                              <a:latin typeface="Cambria Math" panose="02040503050406030204" pitchFamily="18" charset="0"/>
                              <a:cs typeface="Arial" panose="020B0604020202020204" pitchFamily="34" charset="0"/>
                            </a:rPr>
                            <m:t>1−</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𝑧</m:t>
                              </m:r>
                            </m:num>
                            <m:den>
                              <m:r>
                                <a:rPr lang="en-US" i="1">
                                  <a:latin typeface="Cambria Math" panose="02040503050406030204" pitchFamily="18" charset="0"/>
                                  <a:cs typeface="Arial" panose="020B0604020202020204" pitchFamily="34" charset="0"/>
                                </a:rPr>
                                <m:t>𝐻</m:t>
                              </m:r>
                            </m:den>
                          </m:f>
                        </m:e>
                      </m:d>
                    </m:oMath>
                  </m:oMathPara>
                </a14:m>
                <a:endParaRPr lang="en-US" dirty="0">
                  <a:latin typeface="Arial" panose="020B0604020202020204" pitchFamily="34" charset="0"/>
                  <a:cs typeface="Arial" panose="020B0604020202020204" pitchFamily="34" charset="0"/>
                </a:endParaRPr>
              </a:p>
            </p:txBody>
          </p:sp>
        </mc:Choice>
        <mc:Fallback xmlns="">
          <p:sp>
            <p:nvSpPr>
              <p:cNvPr id="21" name="TextBox 20">
                <a:extLst>
                  <a:ext uri="{FF2B5EF4-FFF2-40B4-BE49-F238E27FC236}">
                    <a16:creationId xmlns:a16="http://schemas.microsoft.com/office/drawing/2014/main" id="{F031E3C4-8293-FC46-B1FC-BFC3CD090764}"/>
                  </a:ext>
                </a:extLst>
              </p:cNvPr>
              <p:cNvSpPr txBox="1">
                <a:spLocks noRot="1" noChangeAspect="1" noMove="1" noResize="1" noEditPoints="1" noAdjustHandles="1" noChangeArrowheads="1" noChangeShapeType="1" noTextEdit="1"/>
              </p:cNvSpPr>
              <p:nvPr/>
            </p:nvSpPr>
            <p:spPr>
              <a:xfrm>
                <a:off x="640830" y="3274624"/>
                <a:ext cx="2460354" cy="536557"/>
              </a:xfrm>
              <a:prstGeom prst="rect">
                <a:avLst/>
              </a:prstGeom>
              <a:blipFill>
                <a:blip r:embed="rId3"/>
                <a:stretch>
                  <a:fillRect l="-1026" b="-16279"/>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F8FF2769-4FDD-F641-AB9C-13B23BA92AAB}"/>
              </a:ext>
            </a:extLst>
          </p:cNvPr>
          <p:cNvSpPr txBox="1"/>
          <p:nvPr/>
        </p:nvSpPr>
        <p:spPr>
          <a:xfrm>
            <a:off x="536713" y="3995530"/>
            <a:ext cx="10942983"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In the case of steady and uniform open channel flow, the local equation of conservation of suspended sediment mass averaged over turbulence reduces to</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C6F4D98-9931-1744-96AD-D3688A9B4C14}"/>
                  </a:ext>
                </a:extLst>
              </p:cNvPr>
              <p:cNvSpPr txBox="1"/>
              <p:nvPr/>
            </p:nvSpPr>
            <p:spPr>
              <a:xfrm>
                <a:off x="640830" y="4877378"/>
                <a:ext cx="5030673" cy="545727"/>
              </a:xfrm>
              <a:prstGeom prst="rect">
                <a:avLst/>
              </a:prstGeom>
              <a:noFill/>
            </p:spPr>
            <p:txBody>
              <a:bodyPr wrap="none" lIns="0" tIns="0" rIns="0" bIns="0" rtlCol="0">
                <a:spAutoFit/>
              </a:bodyPr>
              <a:lstStyle/>
              <a:p>
                <a:pPr>
                  <a:lnSpc>
                    <a:spcPct val="114000"/>
                  </a:lnSpc>
                </a:pPr>
                <a14:m>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acc>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acc>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acc>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acc>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𝑣</m:t>
                        </m:r>
                      </m:e>
                      <m:sub>
                        <m:r>
                          <a:rPr lang="en-US" i="1">
                            <a:latin typeface="Cambria Math" panose="02040503050406030204" pitchFamily="18" charset="0"/>
                            <a:ea typeface="Cambria Math" panose="02040503050406030204" pitchFamily="18" charset="0"/>
                            <a:cs typeface="Arial" panose="020B0604020202020204" pitchFamily="34" charset="0"/>
                          </a:rPr>
                          <m:t>𝑠</m:t>
                        </m:r>
                      </m:sub>
                    </m:sSub>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r>
                              <a:rPr lang="en-US" b="0" i="1" smtClean="0">
                                <a:latin typeface="Cambria Math" panose="02040503050406030204" pitchFamily="18" charset="0"/>
                                <a:ea typeface="Cambria Math" panose="02040503050406030204" pitchFamily="18" charset="0"/>
                                <a:cs typeface="Arial" panose="020B0604020202020204" pitchFamily="34" charset="0"/>
                              </a:rPr>
                              <m:t>𝑐</m:t>
                            </m:r>
                            <m:r>
                              <a:rPr lang="en-US" b="0" i="1" smtClean="0">
                                <a:latin typeface="Cambria Math" panose="02040503050406030204" pitchFamily="18" charset="0"/>
                                <a:ea typeface="Cambria Math" panose="02040503050406030204" pitchFamily="18" charset="0"/>
                                <a:cs typeface="Arial" panose="020B0604020202020204" pitchFamily="34" charset="0"/>
                              </a:rPr>
                              <m:t>′</m:t>
                            </m:r>
                          </m:e>
                        </m:acc>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i="1">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r>
                              <a:rPr lang="en-US" i="1">
                                <a:latin typeface="Cambria Math" panose="02040503050406030204" pitchFamily="18" charset="0"/>
                                <a:ea typeface="Cambria Math" panose="02040503050406030204" pitchFamily="18" charset="0"/>
                                <a:cs typeface="Arial" panose="020B0604020202020204" pitchFamily="34" charset="0"/>
                              </a:rPr>
                              <m:t>𝑐</m:t>
                            </m:r>
                            <m:r>
                              <a:rPr lang="en-US" i="1">
                                <a:latin typeface="Cambria Math" panose="02040503050406030204" pitchFamily="18" charset="0"/>
                                <a:ea typeface="Cambria Math" panose="02040503050406030204" pitchFamily="18" charset="0"/>
                                <a:cs typeface="Arial" panose="020B0604020202020204" pitchFamily="34" charset="0"/>
                              </a:rPr>
                              <m:t>′</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oMath>
                </a14:m>
                <a:r>
                  <a:rPr lang="en-US" dirty="0">
                    <a:ea typeface="Cambria Math" panose="02040503050406030204" pitchFamily="18" charset="0"/>
                    <a:cs typeface="Arial" panose="020B0604020202020204" pitchFamily="34" charset="0"/>
                  </a:rPr>
                  <a:t> </a:t>
                </a:r>
                <a14:m>
                  <m:oMath xmlns:m="http://schemas.openxmlformats.org/officeDocument/2006/math">
                    <m:r>
                      <a:rPr lang="en-US" i="1">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r>
                              <a:rPr lang="en-US" i="1">
                                <a:latin typeface="Cambria Math" panose="02040503050406030204" pitchFamily="18" charset="0"/>
                                <a:ea typeface="Cambria Math" panose="02040503050406030204" pitchFamily="18" charset="0"/>
                                <a:cs typeface="Arial" panose="020B0604020202020204" pitchFamily="34" charset="0"/>
                              </a:rPr>
                              <m:t>𝑐</m:t>
                            </m:r>
                            <m:r>
                              <a:rPr lang="en-US" i="1">
                                <a:latin typeface="Cambria Math" panose="02040503050406030204" pitchFamily="18" charset="0"/>
                                <a:ea typeface="Cambria Math" panose="02040503050406030204" pitchFamily="18" charset="0"/>
                                <a:cs typeface="Arial" panose="020B0604020202020204" pitchFamily="34" charset="0"/>
                              </a:rPr>
                              <m:t>′</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oMath>
                </a14:m>
                <a:endParaRPr lang="en-US" dirty="0">
                  <a:latin typeface="Arial" panose="020B0604020202020204" pitchFamily="34" charset="0"/>
                  <a:cs typeface="Arial" panose="020B0604020202020204" pitchFamily="34" charset="0"/>
                </a:endParaRPr>
              </a:p>
            </p:txBody>
          </p:sp>
        </mc:Choice>
        <mc:Fallback xmlns="">
          <p:sp>
            <p:nvSpPr>
              <p:cNvPr id="22" name="TextBox 21">
                <a:extLst>
                  <a:ext uri="{FF2B5EF4-FFF2-40B4-BE49-F238E27FC236}">
                    <a16:creationId xmlns:a16="http://schemas.microsoft.com/office/drawing/2014/main" id="{9C6F4D98-9931-1744-96AD-D3688A9B4C14}"/>
                  </a:ext>
                </a:extLst>
              </p:cNvPr>
              <p:cNvSpPr txBox="1">
                <a:spLocks noRot="1" noChangeAspect="1" noMove="1" noResize="1" noEditPoints="1" noAdjustHandles="1" noChangeArrowheads="1" noChangeShapeType="1" noTextEdit="1"/>
              </p:cNvSpPr>
              <p:nvPr/>
            </p:nvSpPr>
            <p:spPr>
              <a:xfrm>
                <a:off x="640830" y="4877378"/>
                <a:ext cx="5030673" cy="545727"/>
              </a:xfrm>
              <a:prstGeom prst="rect">
                <a:avLst/>
              </a:prstGeom>
              <a:blipFill>
                <a:blip r:embed="rId4"/>
                <a:stretch>
                  <a:fillRect l="-1259" r="-756" b="-9091"/>
                </a:stretch>
              </a:blipFill>
            </p:spPr>
            <p:txBody>
              <a:bodyPr/>
              <a:lstStyle/>
              <a:p>
                <a:r>
                  <a:rPr lang="en-US">
                    <a:noFill/>
                  </a:rPr>
                  <a:t> </a:t>
                </a:r>
              </a:p>
            </p:txBody>
          </p:sp>
        </mc:Fallback>
      </mc:AlternateContent>
      <p:cxnSp>
        <p:nvCxnSpPr>
          <p:cNvPr id="6" name="Straight Connector 5">
            <a:extLst>
              <a:ext uri="{FF2B5EF4-FFF2-40B4-BE49-F238E27FC236}">
                <a16:creationId xmlns:a16="http://schemas.microsoft.com/office/drawing/2014/main" id="{D649E830-A030-3849-9DBF-BA731E432336}"/>
              </a:ext>
            </a:extLst>
          </p:cNvPr>
          <p:cNvCxnSpPr/>
          <p:nvPr/>
        </p:nvCxnSpPr>
        <p:spPr>
          <a:xfrm flipH="1">
            <a:off x="536713" y="4800600"/>
            <a:ext cx="447261" cy="7680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6FA1F56-7D80-134E-BDFE-541B95FB35C3}"/>
              </a:ext>
            </a:extLst>
          </p:cNvPr>
          <p:cNvCxnSpPr/>
          <p:nvPr/>
        </p:nvCxnSpPr>
        <p:spPr>
          <a:xfrm flipH="1">
            <a:off x="983974" y="4837254"/>
            <a:ext cx="447261" cy="7680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792AA7F-D92A-EC41-B49E-A1D388E59E51}"/>
              </a:ext>
            </a:extLst>
          </p:cNvPr>
          <p:cNvCxnSpPr/>
          <p:nvPr/>
        </p:nvCxnSpPr>
        <p:spPr>
          <a:xfrm flipH="1">
            <a:off x="1550748" y="4877378"/>
            <a:ext cx="447261" cy="7680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C90A73C-B0FA-634F-944D-5F5137349974}"/>
              </a:ext>
            </a:extLst>
          </p:cNvPr>
          <p:cNvCxnSpPr/>
          <p:nvPr/>
        </p:nvCxnSpPr>
        <p:spPr>
          <a:xfrm flipH="1">
            <a:off x="2142492" y="4837253"/>
            <a:ext cx="447261" cy="7680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70403DB-B2F0-EC49-9878-3CEB8A4EFF5C}"/>
              </a:ext>
            </a:extLst>
          </p:cNvPr>
          <p:cNvCxnSpPr/>
          <p:nvPr/>
        </p:nvCxnSpPr>
        <p:spPr>
          <a:xfrm flipH="1">
            <a:off x="3748271" y="4843899"/>
            <a:ext cx="447261" cy="7680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F47CC16-57E3-4844-BECC-969FC462FC8C}"/>
              </a:ext>
            </a:extLst>
          </p:cNvPr>
          <p:cNvCxnSpPr/>
          <p:nvPr/>
        </p:nvCxnSpPr>
        <p:spPr>
          <a:xfrm flipH="1">
            <a:off x="4486256" y="4766197"/>
            <a:ext cx="447261" cy="7680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43AD02A8-1FF5-3C48-9A8C-21023932E0E7}"/>
                  </a:ext>
                </a:extLst>
              </p:cNvPr>
              <p:cNvSpPr txBox="1"/>
              <p:nvPr/>
            </p:nvSpPr>
            <p:spPr>
              <a:xfrm>
                <a:off x="536713" y="5789690"/>
                <a:ext cx="1702325" cy="494815"/>
              </a:xfrm>
              <a:prstGeom prst="rect">
                <a:avLst/>
              </a:prstGeom>
              <a:noFill/>
            </p:spPr>
            <p:txBody>
              <a:bodyPr wrap="none" lIns="0" tIns="0" rIns="0" bIns="0" rtlCol="0">
                <a:spAutoFit/>
              </a:bodyPr>
              <a:lstStyle/>
              <a:p>
                <a:pPr>
                  <a:lnSpc>
                    <a:spcPct val="114000"/>
                  </a:lnSpc>
                </a:pPr>
                <a14:m>
                  <m:oMath xmlns:m="http://schemas.openxmlformats.org/officeDocument/2006/math">
                    <m:sSub>
                      <m:sSubPr>
                        <m:ctrlPr>
                          <a:rPr lang="en-US" i="1" smtClean="0">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𝑣</m:t>
                        </m:r>
                      </m:e>
                      <m:sub>
                        <m:r>
                          <a:rPr lang="en-US" i="1">
                            <a:latin typeface="Cambria Math" panose="02040503050406030204" pitchFamily="18" charset="0"/>
                            <a:ea typeface="Cambria Math" panose="02040503050406030204" pitchFamily="18" charset="0"/>
                            <a:cs typeface="Arial" panose="020B0604020202020204" pitchFamily="34" charset="0"/>
                          </a:rPr>
                          <m:t>𝑠</m:t>
                        </m:r>
                      </m:sub>
                    </m:sSub>
                    <m:f>
                      <m:fPr>
                        <m:ctrlPr>
                          <a:rPr lang="en-US" i="1">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𝑑</m:t>
                        </m:r>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b="0" i="1" smtClean="0">
                            <a:latin typeface="Cambria Math" panose="02040503050406030204" pitchFamily="18" charset="0"/>
                            <a:cs typeface="Arial" panose="020B0604020202020204" pitchFamily="34" charset="0"/>
                          </a:rPr>
                          <m:t>𝑑</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𝑑</m:t>
                        </m:r>
                        <m:acc>
                          <m:accPr>
                            <m:chr m:val="̅"/>
                            <m:ctrlPr>
                              <a:rPr lang="en-US" i="1" smtClean="0">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𝑐</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num>
                      <m:den>
                        <m:r>
                          <a:rPr lang="en-US" b="0" i="1" smtClean="0">
                            <a:latin typeface="Cambria Math" panose="02040503050406030204" pitchFamily="18" charset="0"/>
                            <a:ea typeface="Cambria Math" panose="02040503050406030204" pitchFamily="18" charset="0"/>
                            <a:cs typeface="Arial" panose="020B0604020202020204" pitchFamily="34" charset="0"/>
                          </a:rPr>
                          <m:t>𝑑𝑧</m:t>
                        </m:r>
                      </m:den>
                    </m:f>
                    <m:r>
                      <a:rPr lang="en-US" b="0" i="1" smtClean="0">
                        <a:latin typeface="Cambria Math" panose="02040503050406030204" pitchFamily="18" charset="0"/>
                        <a:ea typeface="Cambria Math" panose="02040503050406030204" pitchFamily="18" charset="0"/>
                        <a:cs typeface="Arial" panose="020B0604020202020204" pitchFamily="34" charset="0"/>
                      </a:rPr>
                      <m:t>=0</m:t>
                    </m:r>
                  </m:oMath>
                </a14:m>
                <a:r>
                  <a:rPr lang="en-US" dirty="0">
                    <a:latin typeface="Arial" panose="020B0604020202020204" pitchFamily="34" charset="0"/>
                    <a:cs typeface="Arial" panose="020B0604020202020204" pitchFamily="34" charset="0"/>
                  </a:rPr>
                  <a:t> </a:t>
                </a:r>
              </a:p>
            </p:txBody>
          </p:sp>
        </mc:Choice>
        <mc:Fallback xmlns="">
          <p:sp>
            <p:nvSpPr>
              <p:cNvPr id="30" name="TextBox 29">
                <a:extLst>
                  <a:ext uri="{FF2B5EF4-FFF2-40B4-BE49-F238E27FC236}">
                    <a16:creationId xmlns:a16="http://schemas.microsoft.com/office/drawing/2014/main" id="{43AD02A8-1FF5-3C48-9A8C-21023932E0E7}"/>
                  </a:ext>
                </a:extLst>
              </p:cNvPr>
              <p:cNvSpPr txBox="1">
                <a:spLocks noRot="1" noChangeAspect="1" noMove="1" noResize="1" noEditPoints="1" noAdjustHandles="1" noChangeArrowheads="1" noChangeShapeType="1" noTextEdit="1"/>
              </p:cNvSpPr>
              <p:nvPr/>
            </p:nvSpPr>
            <p:spPr>
              <a:xfrm>
                <a:off x="536713" y="5789690"/>
                <a:ext cx="1702325" cy="494815"/>
              </a:xfrm>
              <a:prstGeom prst="rect">
                <a:avLst/>
              </a:prstGeom>
              <a:blipFill>
                <a:blip r:embed="rId5"/>
                <a:stretch>
                  <a:fillRect l="-3704" b="-10256"/>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7F344959-9CCC-064A-BA63-875AF3A7DFDB}"/>
              </a:ext>
            </a:extLst>
          </p:cNvPr>
          <p:cNvSpPr txBox="1"/>
          <p:nvPr/>
        </p:nvSpPr>
        <p:spPr>
          <a:xfrm>
            <a:off x="2823205" y="5852649"/>
            <a:ext cx="665922"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or</a:t>
            </a: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8CA9FAE2-3E0D-2E4D-8EC7-968828488AFB}"/>
                  </a:ext>
                </a:extLst>
              </p:cNvPr>
              <p:cNvSpPr txBox="1"/>
              <p:nvPr/>
            </p:nvSpPr>
            <p:spPr>
              <a:xfrm>
                <a:off x="3635093" y="5757900"/>
                <a:ext cx="1436162" cy="454804"/>
              </a:xfrm>
              <a:prstGeom prst="rect">
                <a:avLst/>
              </a:prstGeom>
              <a:noFill/>
            </p:spPr>
            <p:txBody>
              <a:bodyPr wrap="none" lIns="0" tIns="0" rIns="0" bIns="0" rtlCol="0">
                <a:spAutoFit/>
              </a:bodyPr>
              <a:lstStyle/>
              <a:p>
                <a:pPr>
                  <a:lnSpc>
                    <a:spcPct val="114000"/>
                  </a:lnSpc>
                </a:pPr>
                <a14:m>
                  <m:oMath xmlns:m="http://schemas.openxmlformats.org/officeDocument/2006/math">
                    <m:sSub>
                      <m:sSubPr>
                        <m:ctrlPr>
                          <a:rPr lang="en-US" i="1" smtClean="0">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𝑣</m:t>
                        </m:r>
                      </m:e>
                      <m:sub>
                        <m:r>
                          <a:rPr lang="en-US" i="1">
                            <a:latin typeface="Cambria Math" panose="02040503050406030204" pitchFamily="18" charset="0"/>
                            <a:ea typeface="Cambria Math" panose="02040503050406030204" pitchFamily="18" charset="0"/>
                            <a:cs typeface="Arial" panose="020B0604020202020204" pitchFamily="34" charset="0"/>
                          </a:rPr>
                          <m:t>𝑠</m:t>
                        </m:r>
                      </m:sub>
                    </m:sSub>
                    <m:f>
                      <m:fPr>
                        <m:ctrlPr>
                          <a:rPr lang="en-US" i="1">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𝑑</m:t>
                        </m:r>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b="0" i="1" smtClean="0">
                            <a:latin typeface="Cambria Math" panose="02040503050406030204" pitchFamily="18" charset="0"/>
                            <a:cs typeface="Arial" panose="020B0604020202020204" pitchFamily="34" charset="0"/>
                          </a:rPr>
                          <m:t>𝑑</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𝑑</m:t>
                        </m:r>
                        <m:r>
                          <a:rPr lang="en-US" i="1" smtClean="0">
                            <a:latin typeface="Cambria Math" panose="02040503050406030204" pitchFamily="18" charset="0"/>
                            <a:ea typeface="Cambria Math" panose="02040503050406030204" pitchFamily="18" charset="0"/>
                            <a:cs typeface="Arial" panose="020B0604020202020204" pitchFamily="34" charset="0"/>
                          </a:rPr>
                          <m:t>𝐹</m:t>
                        </m:r>
                      </m:num>
                      <m:den>
                        <m:r>
                          <a:rPr lang="en-US" b="0" i="1" smtClean="0">
                            <a:latin typeface="Cambria Math" panose="02040503050406030204" pitchFamily="18" charset="0"/>
                            <a:ea typeface="Cambria Math" panose="02040503050406030204" pitchFamily="18" charset="0"/>
                            <a:cs typeface="Arial" panose="020B0604020202020204" pitchFamily="34" charset="0"/>
                          </a:rPr>
                          <m:t>𝑑𝑧</m:t>
                        </m:r>
                      </m:den>
                    </m:f>
                    <m:r>
                      <a:rPr lang="en-US" b="0" i="1" smtClean="0">
                        <a:latin typeface="Cambria Math" panose="02040503050406030204" pitchFamily="18" charset="0"/>
                        <a:ea typeface="Cambria Math" panose="02040503050406030204" pitchFamily="18" charset="0"/>
                        <a:cs typeface="Arial" panose="020B0604020202020204" pitchFamily="34" charset="0"/>
                      </a:rPr>
                      <m:t>=0</m:t>
                    </m:r>
                  </m:oMath>
                </a14:m>
                <a:r>
                  <a:rPr lang="en-US" dirty="0">
                    <a:latin typeface="Arial" panose="020B0604020202020204" pitchFamily="34" charset="0"/>
                    <a:cs typeface="Arial" panose="020B0604020202020204" pitchFamily="34" charset="0"/>
                  </a:rPr>
                  <a:t> </a:t>
                </a:r>
              </a:p>
            </p:txBody>
          </p:sp>
        </mc:Choice>
        <mc:Fallback xmlns="">
          <p:sp>
            <p:nvSpPr>
              <p:cNvPr id="32" name="TextBox 31">
                <a:extLst>
                  <a:ext uri="{FF2B5EF4-FFF2-40B4-BE49-F238E27FC236}">
                    <a16:creationId xmlns:a16="http://schemas.microsoft.com/office/drawing/2014/main" id="{8CA9FAE2-3E0D-2E4D-8EC7-968828488AFB}"/>
                  </a:ext>
                </a:extLst>
              </p:cNvPr>
              <p:cNvSpPr txBox="1">
                <a:spLocks noRot="1" noChangeAspect="1" noMove="1" noResize="1" noEditPoints="1" noAdjustHandles="1" noChangeArrowheads="1" noChangeShapeType="1" noTextEdit="1"/>
              </p:cNvSpPr>
              <p:nvPr/>
            </p:nvSpPr>
            <p:spPr>
              <a:xfrm>
                <a:off x="3635093" y="5757900"/>
                <a:ext cx="1436162" cy="454804"/>
              </a:xfrm>
              <a:prstGeom prst="rect">
                <a:avLst/>
              </a:prstGeom>
              <a:blipFill>
                <a:blip r:embed="rId6"/>
                <a:stretch>
                  <a:fillRect l="-4386" b="-81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DD82F6EB-F567-684A-9504-73567EB36452}"/>
                  </a:ext>
                </a:extLst>
              </p:cNvPr>
              <p:cNvSpPr txBox="1"/>
              <p:nvPr/>
            </p:nvSpPr>
            <p:spPr>
              <a:xfrm>
                <a:off x="6147170" y="5765118"/>
                <a:ext cx="3434152" cy="38266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where </a:t>
                </a:r>
                <a14:m>
                  <m:oMath xmlns:m="http://schemas.openxmlformats.org/officeDocument/2006/math">
                    <m:r>
                      <a:rPr lang="en-US" b="0" i="1" smtClean="0">
                        <a:latin typeface="Cambria Math" panose="02040503050406030204" pitchFamily="18" charset="0"/>
                        <a:cs typeface="Arial" panose="020B0604020202020204" pitchFamily="34" charset="0"/>
                      </a:rPr>
                      <m:t>𝐹</m:t>
                    </m:r>
                    <m:r>
                      <a:rPr lang="en-US" b="0" i="1" smtClean="0">
                        <a:latin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cs typeface="Arial" panose="020B0604020202020204" pitchFamily="34" charset="0"/>
                          </a:rPr>
                        </m:ctrlPr>
                      </m:accPr>
                      <m:e>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𝑤</m:t>
                            </m:r>
                          </m:e>
                          <m:sup>
                            <m:r>
                              <a:rPr lang="en-US" b="0" i="1" smtClean="0">
                                <a:latin typeface="Cambria Math" panose="02040503050406030204" pitchFamily="18" charset="0"/>
                                <a:cs typeface="Arial" panose="020B0604020202020204" pitchFamily="34" charset="0"/>
                              </a:rPr>
                              <m:t>′</m:t>
                            </m:r>
                          </m:sup>
                        </m:sSup>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𝑐</m:t>
                            </m:r>
                          </m:e>
                          <m:sup>
                            <m:r>
                              <a:rPr lang="en-US" b="0" i="1" smtClean="0">
                                <a:latin typeface="Cambria Math" panose="02040503050406030204" pitchFamily="18" charset="0"/>
                                <a:cs typeface="Arial" panose="020B0604020202020204" pitchFamily="34" charset="0"/>
                              </a:rPr>
                              <m:t>′</m:t>
                            </m:r>
                          </m:sup>
                        </m:sSup>
                      </m:e>
                    </m:acc>
                  </m:oMath>
                </a14:m>
                <a:endParaRPr lang="en-US" dirty="0">
                  <a:latin typeface="Arial" panose="020B0604020202020204" pitchFamily="34" charset="0"/>
                  <a:cs typeface="Arial" panose="020B0604020202020204" pitchFamily="34" charset="0"/>
                </a:endParaRPr>
              </a:p>
            </p:txBody>
          </p:sp>
        </mc:Choice>
        <mc:Fallback xmlns="">
          <p:sp>
            <p:nvSpPr>
              <p:cNvPr id="33" name="TextBox 32">
                <a:extLst>
                  <a:ext uri="{FF2B5EF4-FFF2-40B4-BE49-F238E27FC236}">
                    <a16:creationId xmlns:a16="http://schemas.microsoft.com/office/drawing/2014/main" id="{DD82F6EB-F567-684A-9504-73567EB36452}"/>
                  </a:ext>
                </a:extLst>
              </p:cNvPr>
              <p:cNvSpPr txBox="1">
                <a:spLocks noRot="1" noChangeAspect="1" noMove="1" noResize="1" noEditPoints="1" noAdjustHandles="1" noChangeArrowheads="1" noChangeShapeType="1" noTextEdit="1"/>
              </p:cNvSpPr>
              <p:nvPr/>
            </p:nvSpPr>
            <p:spPr>
              <a:xfrm>
                <a:off x="6147170" y="5765118"/>
                <a:ext cx="3434152" cy="382669"/>
              </a:xfrm>
              <a:prstGeom prst="rect">
                <a:avLst/>
              </a:prstGeom>
              <a:blipFill>
                <a:blip r:embed="rId7"/>
                <a:stretch>
                  <a:fillRect l="-1103" t="-6667" b="-30000"/>
                </a:stretch>
              </a:blipFill>
            </p:spPr>
            <p:txBody>
              <a:bodyPr/>
              <a:lstStyle/>
              <a:p>
                <a:r>
                  <a:rPr lang="en-US">
                    <a:noFill/>
                  </a:rPr>
                  <a:t> </a:t>
                </a:r>
              </a:p>
            </p:txBody>
          </p:sp>
        </mc:Fallback>
      </mc:AlternateContent>
    </p:spTree>
    <p:extLst>
      <p:ext uri="{BB962C8B-B14F-4D97-AF65-F5344CB8AC3E}">
        <p14:creationId xmlns:p14="http://schemas.microsoft.com/office/powerpoint/2010/main" val="31518362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28</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Equilibrium vertical distribution of suspended sediment</a:t>
            </a:r>
          </a:p>
        </p:txBody>
      </p:sp>
      <p:sp>
        <p:nvSpPr>
          <p:cNvPr id="2" name="TextBox 1">
            <a:extLst>
              <a:ext uri="{FF2B5EF4-FFF2-40B4-BE49-F238E27FC236}">
                <a16:creationId xmlns:a16="http://schemas.microsoft.com/office/drawing/2014/main" id="{F8FF2769-4FDD-F641-AB9C-13B23BA92AAB}"/>
              </a:ext>
            </a:extLst>
          </p:cNvPr>
          <p:cNvSpPr txBox="1"/>
          <p:nvPr/>
        </p:nvSpPr>
        <p:spPr>
          <a:xfrm>
            <a:off x="410817" y="805659"/>
            <a:ext cx="10942983" cy="1013291"/>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local equation of conservation of suspended sediment mass averaged over turbulence for steady and uniform open channel flow is integrated with the boundary condition of zero sediment flux in the vertical (z) direction at the water surface</a:t>
            </a: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8CA9FAE2-3E0D-2E4D-8EC7-968828488AFB}"/>
                  </a:ext>
                </a:extLst>
              </p:cNvPr>
              <p:cNvSpPr txBox="1"/>
              <p:nvPr/>
            </p:nvSpPr>
            <p:spPr>
              <a:xfrm>
                <a:off x="583780" y="1964864"/>
                <a:ext cx="1436162" cy="454804"/>
              </a:xfrm>
              <a:prstGeom prst="rect">
                <a:avLst/>
              </a:prstGeom>
              <a:noFill/>
            </p:spPr>
            <p:txBody>
              <a:bodyPr wrap="none" lIns="0" tIns="0" rIns="0" bIns="0" rtlCol="0">
                <a:spAutoFit/>
              </a:bodyPr>
              <a:lstStyle/>
              <a:p>
                <a:pPr>
                  <a:lnSpc>
                    <a:spcPct val="114000"/>
                  </a:lnSpc>
                </a:pPr>
                <a14:m>
                  <m:oMath xmlns:m="http://schemas.openxmlformats.org/officeDocument/2006/math">
                    <m:sSub>
                      <m:sSubPr>
                        <m:ctrlPr>
                          <a:rPr lang="en-US" i="1" smtClean="0">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𝑣</m:t>
                        </m:r>
                      </m:e>
                      <m:sub>
                        <m:r>
                          <a:rPr lang="en-US" i="1">
                            <a:latin typeface="Cambria Math" panose="02040503050406030204" pitchFamily="18" charset="0"/>
                            <a:ea typeface="Cambria Math" panose="02040503050406030204" pitchFamily="18" charset="0"/>
                            <a:cs typeface="Arial" panose="020B0604020202020204" pitchFamily="34" charset="0"/>
                          </a:rPr>
                          <m:t>𝑠</m:t>
                        </m:r>
                      </m:sub>
                    </m:sSub>
                    <m:f>
                      <m:fPr>
                        <m:ctrlPr>
                          <a:rPr lang="en-US" i="1">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𝑑</m:t>
                        </m:r>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b="0" i="1" smtClean="0">
                            <a:latin typeface="Cambria Math" panose="02040503050406030204" pitchFamily="18" charset="0"/>
                            <a:cs typeface="Arial" panose="020B0604020202020204" pitchFamily="34" charset="0"/>
                          </a:rPr>
                          <m:t>𝑑</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𝑑</m:t>
                        </m:r>
                        <m:r>
                          <a:rPr lang="en-US" i="1" smtClean="0">
                            <a:latin typeface="Cambria Math" panose="02040503050406030204" pitchFamily="18" charset="0"/>
                            <a:ea typeface="Cambria Math" panose="02040503050406030204" pitchFamily="18" charset="0"/>
                            <a:cs typeface="Arial" panose="020B0604020202020204" pitchFamily="34" charset="0"/>
                          </a:rPr>
                          <m:t>𝐹</m:t>
                        </m:r>
                      </m:num>
                      <m:den>
                        <m:r>
                          <a:rPr lang="en-US" b="0" i="1" smtClean="0">
                            <a:latin typeface="Cambria Math" panose="02040503050406030204" pitchFamily="18" charset="0"/>
                            <a:ea typeface="Cambria Math" panose="02040503050406030204" pitchFamily="18" charset="0"/>
                            <a:cs typeface="Arial" panose="020B0604020202020204" pitchFamily="34" charset="0"/>
                          </a:rPr>
                          <m:t>𝑑𝑧</m:t>
                        </m:r>
                      </m:den>
                    </m:f>
                    <m:r>
                      <a:rPr lang="en-US" b="0" i="1" smtClean="0">
                        <a:latin typeface="Cambria Math" panose="02040503050406030204" pitchFamily="18" charset="0"/>
                        <a:ea typeface="Cambria Math" panose="02040503050406030204" pitchFamily="18" charset="0"/>
                        <a:cs typeface="Arial" panose="020B0604020202020204" pitchFamily="34" charset="0"/>
                      </a:rPr>
                      <m:t>=0</m:t>
                    </m:r>
                  </m:oMath>
                </a14:m>
                <a:r>
                  <a:rPr lang="en-US" dirty="0">
                    <a:latin typeface="Arial" panose="020B0604020202020204" pitchFamily="34" charset="0"/>
                    <a:cs typeface="Arial" panose="020B0604020202020204" pitchFamily="34" charset="0"/>
                  </a:rPr>
                  <a:t> </a:t>
                </a:r>
              </a:p>
            </p:txBody>
          </p:sp>
        </mc:Choice>
        <mc:Fallback xmlns="">
          <p:sp>
            <p:nvSpPr>
              <p:cNvPr id="32" name="TextBox 31">
                <a:extLst>
                  <a:ext uri="{FF2B5EF4-FFF2-40B4-BE49-F238E27FC236}">
                    <a16:creationId xmlns:a16="http://schemas.microsoft.com/office/drawing/2014/main" id="{8CA9FAE2-3E0D-2E4D-8EC7-968828488AFB}"/>
                  </a:ext>
                </a:extLst>
              </p:cNvPr>
              <p:cNvSpPr txBox="1">
                <a:spLocks noRot="1" noChangeAspect="1" noMove="1" noResize="1" noEditPoints="1" noAdjustHandles="1" noChangeArrowheads="1" noChangeShapeType="1" noTextEdit="1"/>
              </p:cNvSpPr>
              <p:nvPr/>
            </p:nvSpPr>
            <p:spPr>
              <a:xfrm>
                <a:off x="583780" y="1964864"/>
                <a:ext cx="1436162" cy="454804"/>
              </a:xfrm>
              <a:prstGeom prst="rect">
                <a:avLst/>
              </a:prstGeom>
              <a:blipFill>
                <a:blip r:embed="rId3"/>
                <a:stretch>
                  <a:fillRect l="-4425" r="-885" b="-108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9A4FB48-8A07-A642-BDE8-BA9D218621C2}"/>
                  </a:ext>
                </a:extLst>
              </p:cNvPr>
              <p:cNvSpPr txBox="1"/>
              <p:nvPr/>
            </p:nvSpPr>
            <p:spPr>
              <a:xfrm>
                <a:off x="533919" y="2700975"/>
                <a:ext cx="1238929"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𝑣</m:t>
                          </m:r>
                        </m:e>
                        <m:sub>
                          <m:r>
                            <a:rPr lang="en-US" b="0" i="1" smtClean="0">
                              <a:latin typeface="Cambria Math" panose="02040503050406030204" pitchFamily="18" charset="0"/>
                              <a:cs typeface="Arial" panose="020B0604020202020204" pitchFamily="34" charset="0"/>
                            </a:rPr>
                            <m:t>𝑠</m:t>
                          </m:r>
                        </m:sub>
                      </m:sSub>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𝐹</m:t>
                      </m:r>
                      <m:r>
                        <a:rPr lang="en-US" b="0" i="1" smtClean="0">
                          <a:latin typeface="Cambria Math" panose="02040503050406030204" pitchFamily="18" charset="0"/>
                          <a:cs typeface="Arial" panose="020B0604020202020204" pitchFamily="34" charset="0"/>
                        </a:rPr>
                        <m:t>=0</m:t>
                      </m:r>
                    </m:oMath>
                  </m:oMathPara>
                </a14:m>
                <a:endParaRPr lang="en-US" dirty="0">
                  <a:latin typeface="Arial" panose="020B0604020202020204" pitchFamily="34" charset="0"/>
                  <a:cs typeface="Arial" panose="020B0604020202020204" pitchFamily="34" charset="0"/>
                </a:endParaRPr>
              </a:p>
            </p:txBody>
          </p:sp>
        </mc:Choice>
        <mc:Fallback xmlns="">
          <p:sp>
            <p:nvSpPr>
              <p:cNvPr id="3" name="TextBox 2">
                <a:extLst>
                  <a:ext uri="{FF2B5EF4-FFF2-40B4-BE49-F238E27FC236}">
                    <a16:creationId xmlns:a16="http://schemas.microsoft.com/office/drawing/2014/main" id="{59A4FB48-8A07-A642-BDE8-BA9D218621C2}"/>
                  </a:ext>
                </a:extLst>
              </p:cNvPr>
              <p:cNvSpPr txBox="1">
                <a:spLocks noRot="1" noChangeAspect="1" noMove="1" noResize="1" noEditPoints="1" noAdjustHandles="1" noChangeArrowheads="1" noChangeShapeType="1" noTextEdit="1"/>
              </p:cNvSpPr>
              <p:nvPr/>
            </p:nvSpPr>
            <p:spPr>
              <a:xfrm>
                <a:off x="533919" y="2700975"/>
                <a:ext cx="1238929" cy="315792"/>
              </a:xfrm>
              <a:prstGeom prst="rect">
                <a:avLst/>
              </a:prstGeom>
              <a:blipFill>
                <a:blip r:embed="rId4"/>
                <a:stretch>
                  <a:fillRect l="-2041" r="-4082"/>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F77C4F74-D4DD-BC4E-A89D-35BA6C04924B}"/>
              </a:ext>
            </a:extLst>
          </p:cNvPr>
          <p:cNvSpPr txBox="1"/>
          <p:nvPr/>
        </p:nvSpPr>
        <p:spPr>
          <a:xfrm>
            <a:off x="583780" y="3220278"/>
            <a:ext cx="10770020" cy="1329082"/>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upward flux of suspended sediment driven by turbulence (F) is perfectly balanced by the downward flux of suspended sediment associated with the particle settling velocity. </a:t>
            </a:r>
          </a:p>
          <a:p>
            <a:pPr algn="l">
              <a:lnSpc>
                <a:spcPct val="114000"/>
              </a:lnSpc>
            </a:pPr>
            <a:endParaRPr lang="en-US" dirty="0">
              <a:latin typeface="Arial" panose="020B0604020202020204" pitchFamily="34" charset="0"/>
              <a:cs typeface="Arial" panose="020B0604020202020204" pitchFamily="34" charset="0"/>
            </a:endParaRPr>
          </a:p>
          <a:p>
            <a:pPr algn="l">
              <a:lnSpc>
                <a:spcPct val="114000"/>
              </a:lnSpc>
            </a:pPr>
            <a:r>
              <a:rPr lang="en-US" dirty="0">
                <a:latin typeface="Arial" panose="020B0604020202020204" pitchFamily="34" charset="0"/>
                <a:cs typeface="Arial" panose="020B0604020202020204" pitchFamily="34" charset="0"/>
              </a:rPr>
              <a:t>Recalling that </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1A52A91-E7A2-BE47-9649-64C36C96B4C6}"/>
                  </a:ext>
                </a:extLst>
              </p:cNvPr>
              <p:cNvSpPr txBox="1"/>
              <p:nvPr/>
            </p:nvSpPr>
            <p:spPr>
              <a:xfrm>
                <a:off x="583780" y="4556648"/>
                <a:ext cx="4084900" cy="599523"/>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𝐹</m:t>
                      </m:r>
                      <m:r>
                        <a:rPr lang="en-US" b="0" i="1" smtClean="0">
                          <a:latin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cs typeface="Arial" panose="020B0604020202020204" pitchFamily="34" charset="0"/>
                            </a:rPr>
                          </m:ctrlPr>
                        </m:accPr>
                        <m:e>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𝑤</m:t>
                              </m:r>
                            </m:e>
                            <m:sup>
                              <m:r>
                                <a:rPr lang="en-US" b="0" i="1" smtClean="0">
                                  <a:latin typeface="Cambria Math" panose="02040503050406030204" pitchFamily="18" charset="0"/>
                                  <a:cs typeface="Arial" panose="020B0604020202020204" pitchFamily="34" charset="0"/>
                                </a:rPr>
                                <m:t>′</m:t>
                              </m:r>
                            </m:sup>
                          </m:sSup>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𝑐</m:t>
                              </m:r>
                            </m:e>
                            <m:sup>
                              <m:r>
                                <a:rPr lang="en-US" b="0" i="1" smtClean="0">
                                  <a:latin typeface="Cambria Math" panose="02040503050406030204" pitchFamily="18" charset="0"/>
                                  <a:cs typeface="Arial" panose="020B0604020202020204" pitchFamily="34" charset="0"/>
                                </a:rPr>
                                <m:t>′</m:t>
                              </m:r>
                            </m:sup>
                          </m:sSup>
                        </m:e>
                      </m:acc>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𝜈</m:t>
                          </m:r>
                        </m:e>
                        <m:sub>
                          <m:r>
                            <a:rPr lang="en-US" b="0" i="1" smtClean="0">
                              <a:latin typeface="Cambria Math" panose="02040503050406030204" pitchFamily="18" charset="0"/>
                              <a:cs typeface="Arial" panose="020B0604020202020204" pitchFamily="34" charset="0"/>
                            </a:rPr>
                            <m:t>𝑠𝑡</m:t>
                          </m:r>
                        </m:sub>
                      </m:sSub>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𝑑</m:t>
                          </m:r>
                          <m:acc>
                            <m:accPr>
                              <m:chr m:val="̅"/>
                              <m:ctrlPr>
                                <a:rPr lang="en-US" b="0"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num>
                        <m:den>
                          <m:r>
                            <a:rPr lang="en-US" b="0" i="1" smtClean="0">
                              <a:latin typeface="Cambria Math" panose="02040503050406030204" pitchFamily="18" charset="0"/>
                              <a:cs typeface="Arial" panose="020B0604020202020204" pitchFamily="34" charset="0"/>
                            </a:rPr>
                            <m:t>𝑑𝑧</m:t>
                          </m:r>
                        </m:den>
                      </m:f>
                      <m:r>
                        <a:rPr lang="en-US" b="0" i="1" smtClean="0">
                          <a:latin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r>
                        <a:rPr lang="en-US" i="1">
                          <a:latin typeface="Cambria Math" panose="02040503050406030204" pitchFamily="18" charset="0"/>
                          <a:ea typeface="Cambria Math" panose="02040503050406030204" pitchFamily="18" charset="0"/>
                          <a:cs typeface="Arial" panose="020B0604020202020204" pitchFamily="34" charset="0"/>
                        </a:rPr>
                        <m:t>𝑧</m:t>
                      </m:r>
                      <m:d>
                        <m:dPr>
                          <m:ctrlPr>
                            <a:rPr lang="en-US" i="1">
                              <a:latin typeface="Cambria Math" panose="02040503050406030204" pitchFamily="18" charset="0"/>
                              <a:ea typeface="Cambria Math" panose="02040503050406030204" pitchFamily="18" charset="0"/>
                              <a:cs typeface="Arial" panose="020B0604020202020204" pitchFamily="34" charset="0"/>
                            </a:rPr>
                          </m:ctrlPr>
                        </m:dPr>
                        <m:e>
                          <m:r>
                            <a:rPr lang="en-US" i="1">
                              <a:latin typeface="Cambria Math" panose="02040503050406030204" pitchFamily="18" charset="0"/>
                              <a:cs typeface="Arial" panose="020B0604020202020204" pitchFamily="34" charset="0"/>
                            </a:rPr>
                            <m:t>1−</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𝑧</m:t>
                              </m:r>
                            </m:num>
                            <m:den>
                              <m:r>
                                <a:rPr lang="en-US" i="1">
                                  <a:latin typeface="Cambria Math" panose="02040503050406030204" pitchFamily="18" charset="0"/>
                                  <a:cs typeface="Arial" panose="020B0604020202020204" pitchFamily="34" charset="0"/>
                                </a:rPr>
                                <m:t>𝐻</m:t>
                              </m:r>
                            </m:den>
                          </m:f>
                        </m:e>
                      </m:d>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𝑑</m:t>
                          </m:r>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i="1">
                              <a:latin typeface="Cambria Math" panose="02040503050406030204" pitchFamily="18" charset="0"/>
                              <a:cs typeface="Arial" panose="020B0604020202020204" pitchFamily="34" charset="0"/>
                            </a:rPr>
                            <m:t>𝑑𝑧</m:t>
                          </m:r>
                        </m:den>
                      </m:f>
                    </m:oMath>
                  </m:oMathPara>
                </a14:m>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31A52A91-E7A2-BE47-9649-64C36C96B4C6}"/>
                  </a:ext>
                </a:extLst>
              </p:cNvPr>
              <p:cNvSpPr txBox="1">
                <a:spLocks noRot="1" noChangeAspect="1" noMove="1" noResize="1" noEditPoints="1" noAdjustHandles="1" noChangeArrowheads="1" noChangeShapeType="1" noTextEdit="1"/>
              </p:cNvSpPr>
              <p:nvPr/>
            </p:nvSpPr>
            <p:spPr>
              <a:xfrm>
                <a:off x="583780" y="4556648"/>
                <a:ext cx="4084900" cy="599523"/>
              </a:xfrm>
              <a:prstGeom prst="rect">
                <a:avLst/>
              </a:prstGeom>
              <a:blipFill>
                <a:blip r:embed="rId5"/>
                <a:stretch>
                  <a:fillRect l="-932" r="-621" b="-12245"/>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DE5393CD-6FF7-2243-80DB-E8DF376CA249}"/>
              </a:ext>
            </a:extLst>
          </p:cNvPr>
          <p:cNvSpPr txBox="1"/>
          <p:nvPr/>
        </p:nvSpPr>
        <p:spPr>
          <a:xfrm>
            <a:off x="583780" y="5249103"/>
            <a:ext cx="1130079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balance equation takes the form</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091E483-B21C-A440-B8FF-6B8BD8130EC4}"/>
                  </a:ext>
                </a:extLst>
              </p:cNvPr>
              <p:cNvSpPr txBox="1"/>
              <p:nvPr/>
            </p:nvSpPr>
            <p:spPr>
              <a:xfrm>
                <a:off x="671752" y="5650926"/>
                <a:ext cx="2696379" cy="599523"/>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𝑣</m:t>
                          </m:r>
                        </m:e>
                        <m:sub>
                          <m:r>
                            <a:rPr lang="en-US" b="0" i="1" smtClean="0">
                              <a:latin typeface="Cambria Math" panose="02040503050406030204" pitchFamily="18" charset="0"/>
                              <a:cs typeface="Arial" panose="020B0604020202020204" pitchFamily="34" charset="0"/>
                            </a:rPr>
                            <m:t>𝑠</m:t>
                          </m:r>
                        </m:sub>
                      </m:sSub>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r>
                        <a:rPr lang="en-US" b="0" i="1" smtClean="0">
                          <a:latin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r>
                        <a:rPr lang="en-US" i="1">
                          <a:latin typeface="Cambria Math" panose="02040503050406030204" pitchFamily="18" charset="0"/>
                          <a:ea typeface="Cambria Math" panose="02040503050406030204" pitchFamily="18" charset="0"/>
                          <a:cs typeface="Arial" panose="020B0604020202020204" pitchFamily="34" charset="0"/>
                        </a:rPr>
                        <m:t>𝑧</m:t>
                      </m:r>
                      <m:d>
                        <m:dPr>
                          <m:ctrlPr>
                            <a:rPr lang="en-US" i="1">
                              <a:latin typeface="Cambria Math" panose="02040503050406030204" pitchFamily="18" charset="0"/>
                              <a:ea typeface="Cambria Math" panose="02040503050406030204" pitchFamily="18" charset="0"/>
                              <a:cs typeface="Arial" panose="020B0604020202020204" pitchFamily="34" charset="0"/>
                            </a:rPr>
                          </m:ctrlPr>
                        </m:dPr>
                        <m:e>
                          <m:r>
                            <a:rPr lang="en-US" i="1">
                              <a:latin typeface="Cambria Math" panose="02040503050406030204" pitchFamily="18" charset="0"/>
                              <a:cs typeface="Arial" panose="020B0604020202020204" pitchFamily="34" charset="0"/>
                            </a:rPr>
                            <m:t>1−</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𝑧</m:t>
                              </m:r>
                            </m:num>
                            <m:den>
                              <m:r>
                                <a:rPr lang="en-US" i="1">
                                  <a:latin typeface="Cambria Math" panose="02040503050406030204" pitchFamily="18" charset="0"/>
                                  <a:cs typeface="Arial" panose="020B0604020202020204" pitchFamily="34" charset="0"/>
                                </a:rPr>
                                <m:t>𝐻</m:t>
                              </m:r>
                            </m:den>
                          </m:f>
                        </m:e>
                      </m:d>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𝑑</m:t>
                          </m:r>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i="1">
                              <a:latin typeface="Cambria Math" panose="02040503050406030204" pitchFamily="18" charset="0"/>
                              <a:cs typeface="Arial" panose="020B0604020202020204" pitchFamily="34" charset="0"/>
                            </a:rPr>
                            <m:t>𝑑𝑧</m:t>
                          </m:r>
                        </m:den>
                      </m:f>
                      <m:r>
                        <a:rPr lang="en-US" b="0" i="1" smtClean="0">
                          <a:latin typeface="Cambria Math" panose="02040503050406030204" pitchFamily="18" charset="0"/>
                          <a:cs typeface="Arial" panose="020B0604020202020204" pitchFamily="34" charset="0"/>
                        </a:rPr>
                        <m:t>=0</m:t>
                      </m:r>
                    </m:oMath>
                  </m:oMathPara>
                </a14:m>
                <a:endParaRPr lang="en-US" dirty="0">
                  <a:latin typeface="Arial" panose="020B0604020202020204" pitchFamily="34" charset="0"/>
                  <a:cs typeface="Arial" panose="020B0604020202020204" pitchFamily="34" charset="0"/>
                </a:endParaRPr>
              </a:p>
            </p:txBody>
          </p:sp>
        </mc:Choice>
        <mc:Fallback xmlns="">
          <p:sp>
            <p:nvSpPr>
              <p:cNvPr id="23" name="TextBox 22">
                <a:extLst>
                  <a:ext uri="{FF2B5EF4-FFF2-40B4-BE49-F238E27FC236}">
                    <a16:creationId xmlns:a16="http://schemas.microsoft.com/office/drawing/2014/main" id="{0091E483-B21C-A440-B8FF-6B8BD8130EC4}"/>
                  </a:ext>
                </a:extLst>
              </p:cNvPr>
              <p:cNvSpPr txBox="1">
                <a:spLocks noRot="1" noChangeAspect="1" noMove="1" noResize="1" noEditPoints="1" noAdjustHandles="1" noChangeArrowheads="1" noChangeShapeType="1" noTextEdit="1"/>
              </p:cNvSpPr>
              <p:nvPr/>
            </p:nvSpPr>
            <p:spPr>
              <a:xfrm>
                <a:off x="671752" y="5650926"/>
                <a:ext cx="2696379" cy="599523"/>
              </a:xfrm>
              <a:prstGeom prst="rect">
                <a:avLst/>
              </a:prstGeom>
              <a:blipFill>
                <a:blip r:embed="rId6"/>
                <a:stretch>
                  <a:fillRect l="-467" r="-935" b="-12245"/>
                </a:stretch>
              </a:blipFill>
            </p:spPr>
            <p:txBody>
              <a:bodyPr/>
              <a:lstStyle/>
              <a:p>
                <a:r>
                  <a:rPr lang="en-US">
                    <a:noFill/>
                  </a:rPr>
                  <a:t> </a:t>
                </a:r>
              </a:p>
            </p:txBody>
          </p:sp>
        </mc:Fallback>
      </mc:AlternateContent>
    </p:spTree>
    <p:extLst>
      <p:ext uri="{BB962C8B-B14F-4D97-AF65-F5344CB8AC3E}">
        <p14:creationId xmlns:p14="http://schemas.microsoft.com/office/powerpoint/2010/main" val="7245263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29</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Equilibrium vertical distribution of suspended sediment</a:t>
            </a:r>
          </a:p>
        </p:txBody>
      </p:sp>
      <p:sp>
        <p:nvSpPr>
          <p:cNvPr id="2" name="TextBox 1">
            <a:extLst>
              <a:ext uri="{FF2B5EF4-FFF2-40B4-BE49-F238E27FC236}">
                <a16:creationId xmlns:a16="http://schemas.microsoft.com/office/drawing/2014/main" id="{F8FF2769-4FDD-F641-AB9C-13B23BA92AAB}"/>
              </a:ext>
            </a:extLst>
          </p:cNvPr>
          <p:cNvSpPr txBox="1"/>
          <p:nvPr/>
        </p:nvSpPr>
        <p:spPr>
          <a:xfrm>
            <a:off x="410817" y="805659"/>
            <a:ext cx="10942983"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balance equation between the upward sediment flux driven by turbulence and the downward flux associated with the particle settling velocity is</a:t>
            </a:r>
          </a:p>
        </p:txBody>
      </p:sp>
      <p:sp>
        <p:nvSpPr>
          <p:cNvPr id="7" name="TextBox 6">
            <a:extLst>
              <a:ext uri="{FF2B5EF4-FFF2-40B4-BE49-F238E27FC236}">
                <a16:creationId xmlns:a16="http://schemas.microsoft.com/office/drawing/2014/main" id="{F77C4F74-D4DD-BC4E-A89D-35BA6C04924B}"/>
              </a:ext>
            </a:extLst>
          </p:cNvPr>
          <p:cNvSpPr txBox="1"/>
          <p:nvPr/>
        </p:nvSpPr>
        <p:spPr>
          <a:xfrm>
            <a:off x="410817" y="2238732"/>
            <a:ext cx="10770020"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Rearranging the terms</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091E483-B21C-A440-B8FF-6B8BD8130EC4}"/>
                  </a:ext>
                </a:extLst>
              </p:cNvPr>
              <p:cNvSpPr txBox="1"/>
              <p:nvPr/>
            </p:nvSpPr>
            <p:spPr>
              <a:xfrm>
                <a:off x="502787" y="1413288"/>
                <a:ext cx="2696379" cy="599523"/>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𝑣</m:t>
                          </m:r>
                        </m:e>
                        <m:sub>
                          <m:r>
                            <a:rPr lang="en-US" b="0" i="1" smtClean="0">
                              <a:latin typeface="Cambria Math" panose="02040503050406030204" pitchFamily="18" charset="0"/>
                              <a:cs typeface="Arial" panose="020B0604020202020204" pitchFamily="34" charset="0"/>
                            </a:rPr>
                            <m:t>𝑠</m:t>
                          </m:r>
                        </m:sub>
                      </m:sSub>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r>
                        <a:rPr lang="en-US" b="0" i="1" smtClean="0">
                          <a:latin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r>
                        <a:rPr lang="en-US" i="1">
                          <a:latin typeface="Cambria Math" panose="02040503050406030204" pitchFamily="18" charset="0"/>
                          <a:ea typeface="Cambria Math" panose="02040503050406030204" pitchFamily="18" charset="0"/>
                          <a:cs typeface="Arial" panose="020B0604020202020204" pitchFamily="34" charset="0"/>
                        </a:rPr>
                        <m:t>𝑧</m:t>
                      </m:r>
                      <m:d>
                        <m:dPr>
                          <m:ctrlPr>
                            <a:rPr lang="en-US" i="1">
                              <a:latin typeface="Cambria Math" panose="02040503050406030204" pitchFamily="18" charset="0"/>
                              <a:ea typeface="Cambria Math" panose="02040503050406030204" pitchFamily="18" charset="0"/>
                              <a:cs typeface="Arial" panose="020B0604020202020204" pitchFamily="34" charset="0"/>
                            </a:rPr>
                          </m:ctrlPr>
                        </m:dPr>
                        <m:e>
                          <m:r>
                            <a:rPr lang="en-US" i="1">
                              <a:latin typeface="Cambria Math" panose="02040503050406030204" pitchFamily="18" charset="0"/>
                              <a:cs typeface="Arial" panose="020B0604020202020204" pitchFamily="34" charset="0"/>
                            </a:rPr>
                            <m:t>1−</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𝑧</m:t>
                              </m:r>
                            </m:num>
                            <m:den>
                              <m:r>
                                <a:rPr lang="en-US" i="1">
                                  <a:latin typeface="Cambria Math" panose="02040503050406030204" pitchFamily="18" charset="0"/>
                                  <a:cs typeface="Arial" panose="020B0604020202020204" pitchFamily="34" charset="0"/>
                                </a:rPr>
                                <m:t>𝐻</m:t>
                              </m:r>
                            </m:den>
                          </m:f>
                        </m:e>
                      </m:d>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𝑑</m:t>
                          </m:r>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i="1">
                              <a:latin typeface="Cambria Math" panose="02040503050406030204" pitchFamily="18" charset="0"/>
                              <a:cs typeface="Arial" panose="020B0604020202020204" pitchFamily="34" charset="0"/>
                            </a:rPr>
                            <m:t>𝑑𝑧</m:t>
                          </m:r>
                        </m:den>
                      </m:f>
                      <m:r>
                        <a:rPr lang="en-US" b="0" i="1" smtClean="0">
                          <a:latin typeface="Cambria Math" panose="02040503050406030204" pitchFamily="18" charset="0"/>
                          <a:cs typeface="Arial" panose="020B0604020202020204" pitchFamily="34" charset="0"/>
                        </a:rPr>
                        <m:t>=0</m:t>
                      </m:r>
                    </m:oMath>
                  </m:oMathPara>
                </a14:m>
                <a:endParaRPr lang="en-US" dirty="0">
                  <a:latin typeface="Arial" panose="020B0604020202020204" pitchFamily="34" charset="0"/>
                  <a:cs typeface="Arial" panose="020B0604020202020204" pitchFamily="34" charset="0"/>
                </a:endParaRPr>
              </a:p>
            </p:txBody>
          </p:sp>
        </mc:Choice>
        <mc:Fallback xmlns="">
          <p:sp>
            <p:nvSpPr>
              <p:cNvPr id="23" name="TextBox 22">
                <a:extLst>
                  <a:ext uri="{FF2B5EF4-FFF2-40B4-BE49-F238E27FC236}">
                    <a16:creationId xmlns:a16="http://schemas.microsoft.com/office/drawing/2014/main" id="{0091E483-B21C-A440-B8FF-6B8BD8130EC4}"/>
                  </a:ext>
                </a:extLst>
              </p:cNvPr>
              <p:cNvSpPr txBox="1">
                <a:spLocks noRot="1" noChangeAspect="1" noMove="1" noResize="1" noEditPoints="1" noAdjustHandles="1" noChangeArrowheads="1" noChangeShapeType="1" noTextEdit="1"/>
              </p:cNvSpPr>
              <p:nvPr/>
            </p:nvSpPr>
            <p:spPr>
              <a:xfrm>
                <a:off x="502787" y="1413288"/>
                <a:ext cx="2696379" cy="599523"/>
              </a:xfrm>
              <a:prstGeom prst="rect">
                <a:avLst/>
              </a:prstGeom>
              <a:blipFill>
                <a:blip r:embed="rId3"/>
                <a:stretch>
                  <a:fillRect l="-467" r="-935" b="-145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8EBF8F3-A63A-5941-9316-44A98BFA04BF}"/>
                  </a:ext>
                </a:extLst>
              </p:cNvPr>
              <p:cNvSpPr txBox="1"/>
              <p:nvPr/>
            </p:nvSpPr>
            <p:spPr>
              <a:xfrm>
                <a:off x="502787" y="2748385"/>
                <a:ext cx="2490104" cy="822341"/>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𝑑</m:t>
                          </m:r>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i="1">
                              <a:latin typeface="Cambria Math" panose="02040503050406030204" pitchFamily="18" charset="0"/>
                              <a:cs typeface="Arial" panose="020B0604020202020204" pitchFamily="34" charset="0"/>
                            </a:rPr>
                            <m:t>𝑑𝑧</m:t>
                          </m:r>
                        </m:den>
                      </m:f>
                      <m:r>
                        <a:rPr lang="en-US" i="1">
                          <a:latin typeface="Cambria Math" panose="02040503050406030204" pitchFamily="18" charset="0"/>
                          <a:cs typeface="Arial" panose="020B0604020202020204" pitchFamily="34" charset="0"/>
                        </a:rPr>
                        <m:t>+</m:t>
                      </m:r>
                      <m:f>
                        <m:fPr>
                          <m:ctrlPr>
                            <a:rPr lang="en-US" i="1" smtClean="0">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num>
                        <m:den>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r>
                            <a:rPr lang="en-US" i="1">
                              <a:latin typeface="Cambria Math" panose="02040503050406030204" pitchFamily="18" charset="0"/>
                              <a:ea typeface="Cambria Math" panose="02040503050406030204" pitchFamily="18" charset="0"/>
                              <a:cs typeface="Arial" panose="020B0604020202020204" pitchFamily="34" charset="0"/>
                            </a:rPr>
                            <m:t>𝑧</m:t>
                          </m:r>
                          <m:d>
                            <m:dPr>
                              <m:ctrlPr>
                                <a:rPr lang="en-US" i="1">
                                  <a:latin typeface="Cambria Math" panose="02040503050406030204" pitchFamily="18" charset="0"/>
                                  <a:ea typeface="Cambria Math" panose="02040503050406030204" pitchFamily="18" charset="0"/>
                                  <a:cs typeface="Arial" panose="020B0604020202020204" pitchFamily="34" charset="0"/>
                                </a:rPr>
                              </m:ctrlPr>
                            </m:dPr>
                            <m:e>
                              <m:r>
                                <a:rPr lang="en-US" i="1">
                                  <a:latin typeface="Cambria Math" panose="02040503050406030204" pitchFamily="18" charset="0"/>
                                  <a:cs typeface="Arial" panose="020B0604020202020204" pitchFamily="34" charset="0"/>
                                </a:rPr>
                                <m:t>1−</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𝑧</m:t>
                                  </m:r>
                                </m:num>
                                <m:den>
                                  <m:r>
                                    <a:rPr lang="en-US" i="1">
                                      <a:latin typeface="Cambria Math" panose="02040503050406030204" pitchFamily="18" charset="0"/>
                                      <a:cs typeface="Arial" panose="020B0604020202020204" pitchFamily="34" charset="0"/>
                                    </a:rPr>
                                    <m:t>𝐻</m:t>
                                  </m:r>
                                </m:den>
                              </m:f>
                            </m:e>
                          </m:d>
                        </m:den>
                      </m:f>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r>
                        <a:rPr lang="en-US" b="0" i="1" smtClean="0">
                          <a:latin typeface="Cambria Math" panose="02040503050406030204" pitchFamily="18" charset="0"/>
                          <a:cs typeface="Arial" panose="020B0604020202020204" pitchFamily="34" charset="0"/>
                        </a:rPr>
                        <m:t>=0</m:t>
                      </m:r>
                    </m:oMath>
                  </m:oMathPara>
                </a14:m>
                <a:endParaRPr lang="en-US" dirty="0">
                  <a:latin typeface="Arial" panose="020B0604020202020204" pitchFamily="34" charset="0"/>
                  <a:cs typeface="Arial" panose="020B0604020202020204" pitchFamily="34" charset="0"/>
                </a:endParaRPr>
              </a:p>
            </p:txBody>
          </p:sp>
        </mc:Choice>
        <mc:Fallback xmlns="">
          <p:sp>
            <p:nvSpPr>
              <p:cNvPr id="11" name="TextBox 10">
                <a:extLst>
                  <a:ext uri="{FF2B5EF4-FFF2-40B4-BE49-F238E27FC236}">
                    <a16:creationId xmlns:a16="http://schemas.microsoft.com/office/drawing/2014/main" id="{D8EBF8F3-A63A-5941-9316-44A98BFA04BF}"/>
                  </a:ext>
                </a:extLst>
              </p:cNvPr>
              <p:cNvSpPr txBox="1">
                <a:spLocks noRot="1" noChangeAspect="1" noMove="1" noResize="1" noEditPoints="1" noAdjustHandles="1" noChangeArrowheads="1" noChangeShapeType="1" noTextEdit="1"/>
              </p:cNvSpPr>
              <p:nvPr/>
            </p:nvSpPr>
            <p:spPr>
              <a:xfrm>
                <a:off x="502787" y="2748385"/>
                <a:ext cx="2490104" cy="822341"/>
              </a:xfrm>
              <a:prstGeom prst="rect">
                <a:avLst/>
              </a:prstGeom>
              <a:blipFill>
                <a:blip r:embed="rId4"/>
                <a:stretch>
                  <a:fillRect l="-1523" r="-1523" b="-75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506CC1A-05FD-174A-959C-8682CDB2654F}"/>
                  </a:ext>
                </a:extLst>
              </p:cNvPr>
              <p:cNvSpPr txBox="1"/>
              <p:nvPr/>
            </p:nvSpPr>
            <p:spPr>
              <a:xfrm>
                <a:off x="410817" y="3791464"/>
                <a:ext cx="10770020" cy="718210"/>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above equation is integrated with the boundary condition of near-bed (z = b) suspended sediment concentration averaged over turbulence equal to </a:t>
                </a: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𝑐</m:t>
                            </m:r>
                          </m:e>
                          <m:sub>
                            <m:r>
                              <a:rPr lang="en-US" b="0" i="1" smtClean="0">
                                <a:latin typeface="Cambria Math" panose="02040503050406030204" pitchFamily="18" charset="0"/>
                                <a:cs typeface="Arial" panose="020B0604020202020204" pitchFamily="34" charset="0"/>
                              </a:rPr>
                              <m:t>𝑏</m:t>
                            </m:r>
                          </m:sub>
                        </m:sSub>
                      </m:e>
                    </m:acc>
                  </m:oMath>
                </a14:m>
                <a:endParaRPr lang="en-US" dirty="0">
                  <a:latin typeface="Arial" panose="020B0604020202020204" pitchFamily="34" charset="0"/>
                  <a:cs typeface="Arial" panose="020B0604020202020204" pitchFamily="34" charset="0"/>
                </a:endParaRPr>
              </a:p>
            </p:txBody>
          </p:sp>
        </mc:Choice>
        <mc:Fallback xmlns="">
          <p:sp>
            <p:nvSpPr>
              <p:cNvPr id="12" name="TextBox 11">
                <a:extLst>
                  <a:ext uri="{FF2B5EF4-FFF2-40B4-BE49-F238E27FC236}">
                    <a16:creationId xmlns:a16="http://schemas.microsoft.com/office/drawing/2014/main" id="{B506CC1A-05FD-174A-959C-8682CDB2654F}"/>
                  </a:ext>
                </a:extLst>
              </p:cNvPr>
              <p:cNvSpPr txBox="1">
                <a:spLocks noRot="1" noChangeAspect="1" noMove="1" noResize="1" noEditPoints="1" noAdjustHandles="1" noChangeArrowheads="1" noChangeShapeType="1" noTextEdit="1"/>
              </p:cNvSpPr>
              <p:nvPr/>
            </p:nvSpPr>
            <p:spPr>
              <a:xfrm>
                <a:off x="410817" y="3791464"/>
                <a:ext cx="10770020" cy="718210"/>
              </a:xfrm>
              <a:prstGeom prst="rect">
                <a:avLst/>
              </a:prstGeom>
              <a:blipFill>
                <a:blip r:embed="rId5"/>
                <a:stretch>
                  <a:fillRect l="-471" t="-3448" b="-86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AD6A53E-4D20-8E49-9D2D-05F00DF52C4E}"/>
                  </a:ext>
                </a:extLst>
              </p:cNvPr>
              <p:cNvSpPr txBox="1"/>
              <p:nvPr/>
            </p:nvSpPr>
            <p:spPr>
              <a:xfrm>
                <a:off x="502787" y="4622371"/>
                <a:ext cx="2433871" cy="822341"/>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𝑑</m:t>
                          </m:r>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den>
                      </m:f>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num>
                        <m:den>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r>
                            <a:rPr lang="en-US" i="1">
                              <a:latin typeface="Cambria Math" panose="02040503050406030204" pitchFamily="18" charset="0"/>
                              <a:ea typeface="Cambria Math" panose="02040503050406030204" pitchFamily="18" charset="0"/>
                              <a:cs typeface="Arial" panose="020B0604020202020204" pitchFamily="34" charset="0"/>
                            </a:rPr>
                            <m:t>𝑧</m:t>
                          </m:r>
                          <m:d>
                            <m:dPr>
                              <m:ctrlPr>
                                <a:rPr lang="en-US" i="1">
                                  <a:latin typeface="Cambria Math" panose="02040503050406030204" pitchFamily="18" charset="0"/>
                                  <a:ea typeface="Cambria Math" panose="02040503050406030204" pitchFamily="18" charset="0"/>
                                  <a:cs typeface="Arial" panose="020B0604020202020204" pitchFamily="34" charset="0"/>
                                </a:rPr>
                              </m:ctrlPr>
                            </m:dPr>
                            <m:e>
                              <m:r>
                                <a:rPr lang="en-US" i="1">
                                  <a:latin typeface="Cambria Math" panose="02040503050406030204" pitchFamily="18" charset="0"/>
                                  <a:cs typeface="Arial" panose="020B0604020202020204" pitchFamily="34" charset="0"/>
                                </a:rPr>
                                <m:t>1−</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𝑧</m:t>
                                  </m:r>
                                </m:num>
                                <m:den>
                                  <m:r>
                                    <a:rPr lang="en-US" i="1">
                                      <a:latin typeface="Cambria Math" panose="02040503050406030204" pitchFamily="18" charset="0"/>
                                      <a:cs typeface="Arial" panose="020B0604020202020204" pitchFamily="34" charset="0"/>
                                    </a:rPr>
                                    <m:t>𝐻</m:t>
                                  </m:r>
                                </m:den>
                              </m:f>
                            </m:e>
                          </m:d>
                        </m:den>
                      </m:f>
                      <m:r>
                        <a:rPr lang="en-US" b="0" i="1" smtClean="0">
                          <a:latin typeface="Cambria Math" panose="02040503050406030204" pitchFamily="18" charset="0"/>
                          <a:cs typeface="Arial" panose="020B0604020202020204" pitchFamily="34" charset="0"/>
                        </a:rPr>
                        <m:t>𝑑𝑧</m:t>
                      </m:r>
                    </m:oMath>
                  </m:oMathPara>
                </a14:m>
                <a:endParaRPr lang="en-US" dirty="0">
                  <a:latin typeface="Arial" panose="020B0604020202020204" pitchFamily="34" charset="0"/>
                  <a:cs typeface="Arial" panose="020B0604020202020204" pitchFamily="34" charset="0"/>
                </a:endParaRPr>
              </a:p>
            </p:txBody>
          </p:sp>
        </mc:Choice>
        <mc:Fallback xmlns="">
          <p:sp>
            <p:nvSpPr>
              <p:cNvPr id="14" name="TextBox 13">
                <a:extLst>
                  <a:ext uri="{FF2B5EF4-FFF2-40B4-BE49-F238E27FC236}">
                    <a16:creationId xmlns:a16="http://schemas.microsoft.com/office/drawing/2014/main" id="{3AD6A53E-4D20-8E49-9D2D-05F00DF52C4E}"/>
                  </a:ext>
                </a:extLst>
              </p:cNvPr>
              <p:cNvSpPr txBox="1">
                <a:spLocks noRot="1" noChangeAspect="1" noMove="1" noResize="1" noEditPoints="1" noAdjustHandles="1" noChangeArrowheads="1" noChangeShapeType="1" noTextEdit="1"/>
              </p:cNvSpPr>
              <p:nvPr/>
            </p:nvSpPr>
            <p:spPr>
              <a:xfrm>
                <a:off x="502787" y="4622371"/>
                <a:ext cx="2433871" cy="822341"/>
              </a:xfrm>
              <a:prstGeom prst="rect">
                <a:avLst/>
              </a:prstGeom>
              <a:blipFill>
                <a:blip r:embed="rId6"/>
                <a:stretch>
                  <a:fillRect l="-1554" r="-1554" b="-75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9F459FF-E804-9C43-BFE2-D602F2784866}"/>
                  </a:ext>
                </a:extLst>
              </p:cNvPr>
              <p:cNvSpPr txBox="1"/>
              <p:nvPr/>
            </p:nvSpPr>
            <p:spPr>
              <a:xfrm>
                <a:off x="3458816" y="4790661"/>
                <a:ext cx="4035287"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recalling that </a:t>
                </a:r>
                <a14:m>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𝜁</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𝐻</m:t>
                    </m:r>
                  </m:oMath>
                </a14:m>
                <a:r>
                  <a:rPr lang="en-US" dirty="0">
                    <a:latin typeface="Arial" panose="020B0604020202020204" pitchFamily="34" charset="0"/>
                    <a:cs typeface="Arial" panose="020B0604020202020204" pitchFamily="34" charset="0"/>
                  </a:rPr>
                  <a:t> it is found that</a:t>
                </a:r>
              </a:p>
            </p:txBody>
          </p:sp>
        </mc:Choice>
        <mc:Fallback xmlns="">
          <p:sp>
            <p:nvSpPr>
              <p:cNvPr id="6" name="TextBox 5">
                <a:extLst>
                  <a:ext uri="{FF2B5EF4-FFF2-40B4-BE49-F238E27FC236}">
                    <a16:creationId xmlns:a16="http://schemas.microsoft.com/office/drawing/2014/main" id="{49F459FF-E804-9C43-BFE2-D602F2784866}"/>
                  </a:ext>
                </a:extLst>
              </p:cNvPr>
              <p:cNvSpPr txBox="1">
                <a:spLocks noRot="1" noChangeAspect="1" noMove="1" noResize="1" noEditPoints="1" noAdjustHandles="1" noChangeArrowheads="1" noChangeShapeType="1" noTextEdit="1"/>
              </p:cNvSpPr>
              <p:nvPr/>
            </p:nvSpPr>
            <p:spPr>
              <a:xfrm>
                <a:off x="3458816" y="4790661"/>
                <a:ext cx="4035287" cy="381708"/>
              </a:xfrm>
              <a:prstGeom prst="rect">
                <a:avLst/>
              </a:prstGeom>
              <a:blipFill>
                <a:blip r:embed="rId7"/>
                <a:stretch>
                  <a:fillRect l="-1258" t="-9677" b="-225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B9719F4-CB12-B047-B463-838D007D6AB9}"/>
                  </a:ext>
                </a:extLst>
              </p:cNvPr>
              <p:cNvSpPr txBox="1"/>
              <p:nvPr/>
            </p:nvSpPr>
            <p:spPr>
              <a:xfrm>
                <a:off x="7674838" y="4655656"/>
                <a:ext cx="2307362" cy="651717"/>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𝑑</m:t>
                          </m:r>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den>
                      </m:f>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num>
                        <m:den>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r>
                            <a:rPr lang="en-US" i="1" smtClean="0">
                              <a:latin typeface="Cambria Math" panose="02040503050406030204" pitchFamily="18" charset="0"/>
                              <a:ea typeface="Cambria Math" panose="02040503050406030204" pitchFamily="18" charset="0"/>
                              <a:cs typeface="Arial" panose="020B0604020202020204" pitchFamily="34" charset="0"/>
                            </a:rPr>
                            <m:t>𝜁</m:t>
                          </m:r>
                          <m:d>
                            <m:dPr>
                              <m:ctrlPr>
                                <a:rPr lang="en-US" i="1">
                                  <a:latin typeface="Cambria Math" panose="02040503050406030204" pitchFamily="18" charset="0"/>
                                  <a:ea typeface="Cambria Math" panose="02040503050406030204" pitchFamily="18" charset="0"/>
                                  <a:cs typeface="Arial" panose="020B0604020202020204" pitchFamily="34" charset="0"/>
                                </a:rPr>
                              </m:ctrlPr>
                            </m:dPr>
                            <m:e>
                              <m:r>
                                <a:rPr lang="en-US" i="1">
                                  <a:latin typeface="Cambria Math" panose="02040503050406030204" pitchFamily="18" charset="0"/>
                                  <a:cs typeface="Arial" panose="020B0604020202020204" pitchFamily="34" charset="0"/>
                                </a:rPr>
                                <m:t>1−</m:t>
                              </m:r>
                              <m:r>
                                <a:rPr lang="en-US" i="1" smtClean="0">
                                  <a:latin typeface="Cambria Math" panose="02040503050406030204" pitchFamily="18" charset="0"/>
                                  <a:ea typeface="Cambria Math" panose="02040503050406030204" pitchFamily="18" charset="0"/>
                                  <a:cs typeface="Arial" panose="020B0604020202020204" pitchFamily="34" charset="0"/>
                                </a:rPr>
                                <m:t>𝜁</m:t>
                              </m:r>
                            </m:e>
                          </m:d>
                        </m:den>
                      </m:f>
                      <m:r>
                        <a:rPr lang="en-US" b="0" i="1" smtClean="0">
                          <a:latin typeface="Cambria Math" panose="02040503050406030204" pitchFamily="18" charset="0"/>
                          <a:cs typeface="Arial" panose="020B0604020202020204" pitchFamily="34" charset="0"/>
                        </a:rPr>
                        <m:t>𝑑</m:t>
                      </m:r>
                      <m:r>
                        <a:rPr lang="en-US" b="0" i="1" smtClean="0">
                          <a:latin typeface="Cambria Math" panose="02040503050406030204" pitchFamily="18" charset="0"/>
                          <a:ea typeface="Cambria Math" panose="02040503050406030204" pitchFamily="18" charset="0"/>
                          <a:cs typeface="Arial" panose="020B0604020202020204" pitchFamily="34" charset="0"/>
                        </a:rPr>
                        <m:t>𝜁</m:t>
                      </m:r>
                    </m:oMath>
                  </m:oMathPara>
                </a14:m>
                <a:endParaRPr lang="en-US" dirty="0">
                  <a:latin typeface="Arial" panose="020B0604020202020204" pitchFamily="34" charset="0"/>
                  <a:cs typeface="Arial" panose="020B0604020202020204" pitchFamily="34" charset="0"/>
                </a:endParaRPr>
              </a:p>
            </p:txBody>
          </p:sp>
        </mc:Choice>
        <mc:Fallback xmlns="">
          <p:sp>
            <p:nvSpPr>
              <p:cNvPr id="16" name="TextBox 15">
                <a:extLst>
                  <a:ext uri="{FF2B5EF4-FFF2-40B4-BE49-F238E27FC236}">
                    <a16:creationId xmlns:a16="http://schemas.microsoft.com/office/drawing/2014/main" id="{5B9719F4-CB12-B047-B463-838D007D6AB9}"/>
                  </a:ext>
                </a:extLst>
              </p:cNvPr>
              <p:cNvSpPr txBox="1">
                <a:spLocks noRot="1" noChangeAspect="1" noMove="1" noResize="1" noEditPoints="1" noAdjustHandles="1" noChangeArrowheads="1" noChangeShapeType="1" noTextEdit="1"/>
              </p:cNvSpPr>
              <p:nvPr/>
            </p:nvSpPr>
            <p:spPr>
              <a:xfrm>
                <a:off x="7674838" y="4655656"/>
                <a:ext cx="2307362" cy="651717"/>
              </a:xfrm>
              <a:prstGeom prst="rect">
                <a:avLst/>
              </a:prstGeom>
              <a:blipFill>
                <a:blip r:embed="rId8"/>
                <a:stretch>
                  <a:fillRect l="-2186" r="-2186" b="-13208"/>
                </a:stretch>
              </a:blipFill>
            </p:spPr>
            <p:txBody>
              <a:bodyPr/>
              <a:lstStyle/>
              <a:p>
                <a:r>
                  <a:rPr lang="en-US">
                    <a:noFill/>
                  </a:rPr>
                  <a:t> </a:t>
                </a:r>
              </a:p>
            </p:txBody>
          </p:sp>
        </mc:Fallback>
      </mc:AlternateContent>
    </p:spTree>
    <p:extLst>
      <p:ext uri="{BB962C8B-B14F-4D97-AF65-F5344CB8AC3E}">
        <p14:creationId xmlns:p14="http://schemas.microsoft.com/office/powerpoint/2010/main" val="24074738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30</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Equilibrium vertical distribution of suspended sediment</a:t>
            </a:r>
          </a:p>
        </p:txBody>
      </p:sp>
      <p:sp>
        <p:nvSpPr>
          <p:cNvPr id="7" name="TextBox 6">
            <a:extLst>
              <a:ext uri="{FF2B5EF4-FFF2-40B4-BE49-F238E27FC236}">
                <a16:creationId xmlns:a16="http://schemas.microsoft.com/office/drawing/2014/main" id="{F77C4F74-D4DD-BC4E-A89D-35BA6C04924B}"/>
              </a:ext>
            </a:extLst>
          </p:cNvPr>
          <p:cNvSpPr txBox="1"/>
          <p:nvPr/>
        </p:nvSpPr>
        <p:spPr>
          <a:xfrm>
            <a:off x="383626" y="1596543"/>
            <a:ext cx="10770020"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Is integrated and it is found that</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B9719F4-CB12-B047-B463-838D007D6AB9}"/>
                  </a:ext>
                </a:extLst>
              </p:cNvPr>
              <p:cNvSpPr txBox="1"/>
              <p:nvPr/>
            </p:nvSpPr>
            <p:spPr>
              <a:xfrm>
                <a:off x="502787" y="761571"/>
                <a:ext cx="2307362" cy="651717"/>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𝑑</m:t>
                          </m:r>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den>
                      </m:f>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num>
                        <m:den>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r>
                            <a:rPr lang="en-US" i="1" smtClean="0">
                              <a:latin typeface="Cambria Math" panose="02040503050406030204" pitchFamily="18" charset="0"/>
                              <a:ea typeface="Cambria Math" panose="02040503050406030204" pitchFamily="18" charset="0"/>
                              <a:cs typeface="Arial" panose="020B0604020202020204" pitchFamily="34" charset="0"/>
                            </a:rPr>
                            <m:t>𝜁</m:t>
                          </m:r>
                          <m:d>
                            <m:dPr>
                              <m:ctrlPr>
                                <a:rPr lang="en-US" i="1">
                                  <a:latin typeface="Cambria Math" panose="02040503050406030204" pitchFamily="18" charset="0"/>
                                  <a:ea typeface="Cambria Math" panose="02040503050406030204" pitchFamily="18" charset="0"/>
                                  <a:cs typeface="Arial" panose="020B0604020202020204" pitchFamily="34" charset="0"/>
                                </a:rPr>
                              </m:ctrlPr>
                            </m:dPr>
                            <m:e>
                              <m:r>
                                <a:rPr lang="en-US" i="1">
                                  <a:latin typeface="Cambria Math" panose="02040503050406030204" pitchFamily="18" charset="0"/>
                                  <a:cs typeface="Arial" panose="020B0604020202020204" pitchFamily="34" charset="0"/>
                                </a:rPr>
                                <m:t>1−</m:t>
                              </m:r>
                              <m:r>
                                <a:rPr lang="en-US" i="1" smtClean="0">
                                  <a:latin typeface="Cambria Math" panose="02040503050406030204" pitchFamily="18" charset="0"/>
                                  <a:ea typeface="Cambria Math" panose="02040503050406030204" pitchFamily="18" charset="0"/>
                                  <a:cs typeface="Arial" panose="020B0604020202020204" pitchFamily="34" charset="0"/>
                                </a:rPr>
                                <m:t>𝜁</m:t>
                              </m:r>
                            </m:e>
                          </m:d>
                        </m:den>
                      </m:f>
                      <m:r>
                        <a:rPr lang="en-US" b="0" i="1" smtClean="0">
                          <a:latin typeface="Cambria Math" panose="02040503050406030204" pitchFamily="18" charset="0"/>
                          <a:cs typeface="Arial" panose="020B0604020202020204" pitchFamily="34" charset="0"/>
                        </a:rPr>
                        <m:t>𝑑</m:t>
                      </m:r>
                      <m:r>
                        <a:rPr lang="en-US" b="0" i="1" smtClean="0">
                          <a:latin typeface="Cambria Math" panose="02040503050406030204" pitchFamily="18" charset="0"/>
                          <a:ea typeface="Cambria Math" panose="02040503050406030204" pitchFamily="18" charset="0"/>
                          <a:cs typeface="Arial" panose="020B0604020202020204" pitchFamily="34" charset="0"/>
                        </a:rPr>
                        <m:t>𝜁</m:t>
                      </m:r>
                    </m:oMath>
                  </m:oMathPara>
                </a14:m>
                <a:endParaRPr lang="en-US" dirty="0">
                  <a:latin typeface="Arial" panose="020B0604020202020204" pitchFamily="34" charset="0"/>
                  <a:cs typeface="Arial" panose="020B0604020202020204" pitchFamily="34" charset="0"/>
                </a:endParaRPr>
              </a:p>
            </p:txBody>
          </p:sp>
        </mc:Choice>
        <mc:Fallback xmlns="">
          <p:sp>
            <p:nvSpPr>
              <p:cNvPr id="16" name="TextBox 15">
                <a:extLst>
                  <a:ext uri="{FF2B5EF4-FFF2-40B4-BE49-F238E27FC236}">
                    <a16:creationId xmlns:a16="http://schemas.microsoft.com/office/drawing/2014/main" id="{5B9719F4-CB12-B047-B463-838D007D6AB9}"/>
                  </a:ext>
                </a:extLst>
              </p:cNvPr>
              <p:cNvSpPr txBox="1">
                <a:spLocks noRot="1" noChangeAspect="1" noMove="1" noResize="1" noEditPoints="1" noAdjustHandles="1" noChangeArrowheads="1" noChangeShapeType="1" noTextEdit="1"/>
              </p:cNvSpPr>
              <p:nvPr/>
            </p:nvSpPr>
            <p:spPr>
              <a:xfrm>
                <a:off x="502787" y="761571"/>
                <a:ext cx="2307362" cy="651717"/>
              </a:xfrm>
              <a:prstGeom prst="rect">
                <a:avLst/>
              </a:prstGeom>
              <a:blipFill>
                <a:blip r:embed="rId3"/>
                <a:stretch>
                  <a:fillRect l="-1639" r="-2186" b="-15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BF1BC14-B667-2948-891A-FD62CCBD7ACD}"/>
                  </a:ext>
                </a:extLst>
              </p:cNvPr>
              <p:cNvSpPr txBox="1"/>
              <p:nvPr/>
            </p:nvSpPr>
            <p:spPr>
              <a:xfrm>
                <a:off x="406751" y="1813437"/>
                <a:ext cx="10723770" cy="796180"/>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cs typeface="Arial" panose="020B0604020202020204" pitchFamily="34" charset="0"/>
                            </a:rPr>
                          </m:ctrlPr>
                        </m:funcPr>
                        <m:fName>
                          <m:r>
                            <a:rPr lang="en-US" b="0" i="1" smtClean="0">
                              <a:latin typeface="Cambria Math" panose="02040503050406030204" pitchFamily="18" charset="0"/>
                              <a:cs typeface="Arial" panose="020B0604020202020204" pitchFamily="34" charset="0"/>
                            </a:rPr>
                            <m:t>𝑙𝑛</m:t>
                          </m:r>
                        </m:fName>
                        <m:e>
                          <m:d>
                            <m:dPr>
                              <m:ctrlPr>
                                <a:rPr lang="en-US" b="0" i="1" smtClean="0">
                                  <a:latin typeface="Cambria Math" panose="02040503050406030204" pitchFamily="18" charset="0"/>
                                  <a:cs typeface="Arial" panose="020B0604020202020204" pitchFamily="34" charset="0"/>
                                </a:rPr>
                              </m:ctrlPr>
                            </m:dPr>
                            <m:e>
                              <m:acc>
                                <m:accPr>
                                  <m:chr m:val="̅"/>
                                  <m:ctrlPr>
                                    <a:rPr lang="en-US" b="0"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e>
                          </m:d>
                        </m:e>
                      </m:func>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num>
                        <m:den>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den>
                      </m:f>
                      <m:d>
                        <m:dPr>
                          <m:begChr m:val="["/>
                          <m:endChr m:val="]"/>
                          <m:ctrlPr>
                            <a:rPr lang="en-US" i="1" smtClean="0">
                              <a:latin typeface="Cambria Math" panose="02040503050406030204" pitchFamily="18" charset="0"/>
                              <a:ea typeface="Cambria Math" panose="02040503050406030204" pitchFamily="18" charset="0"/>
                              <a:cs typeface="Arial" panose="020B0604020202020204" pitchFamily="34" charset="0"/>
                            </a:rPr>
                          </m:ctrlPr>
                        </m:dPr>
                        <m:e>
                          <m:r>
                            <a:rPr lang="en-US" b="0" i="1" smtClean="0">
                              <a:latin typeface="Cambria Math" panose="02040503050406030204" pitchFamily="18" charset="0"/>
                              <a:ea typeface="Cambria Math" panose="02040503050406030204" pitchFamily="18" charset="0"/>
                              <a:cs typeface="Arial" panose="020B0604020202020204" pitchFamily="34" charset="0"/>
                            </a:rPr>
                            <m:t>𝑙𝑛</m:t>
                          </m:r>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r>
                                <a:rPr lang="en-US" b="0" i="1" smtClean="0">
                                  <a:latin typeface="Cambria Math" panose="02040503050406030204" pitchFamily="18" charset="0"/>
                                  <a:ea typeface="Cambria Math" panose="02040503050406030204" pitchFamily="18" charset="0"/>
                                  <a:cs typeface="Arial" panose="020B0604020202020204" pitchFamily="34" charset="0"/>
                                </a:rPr>
                                <m:t>𝜁</m:t>
                              </m:r>
                            </m:e>
                          </m:d>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𝑙𝑛</m:t>
                          </m:r>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r>
                                <a:rPr lang="en-US" b="0" i="1" smtClean="0">
                                  <a:latin typeface="Cambria Math" panose="02040503050406030204" pitchFamily="18" charset="0"/>
                                  <a:ea typeface="Cambria Math" panose="02040503050406030204" pitchFamily="18" charset="0"/>
                                  <a:cs typeface="Arial" panose="020B0604020202020204" pitchFamily="34" charset="0"/>
                                </a:rPr>
                                <m:t>1−</m:t>
                              </m:r>
                              <m:r>
                                <a:rPr lang="en-US" b="0" i="1" smtClean="0">
                                  <a:latin typeface="Cambria Math" panose="02040503050406030204" pitchFamily="18" charset="0"/>
                                  <a:ea typeface="Cambria Math" panose="02040503050406030204" pitchFamily="18" charset="0"/>
                                  <a:cs typeface="Arial" panose="020B0604020202020204" pitchFamily="34" charset="0"/>
                                </a:rPr>
                                <m:t>𝜁</m:t>
                              </m:r>
                            </m:e>
                          </m:d>
                        </m:e>
                      </m:d>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𝑐𝑜𝑛𝑠𝑡𝑎𝑛𝑡</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𝑙𝑛</m:t>
                      </m:r>
                      <m:d>
                        <m:dPr>
                          <m:begChr m:val="["/>
                          <m:end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𝜁</m:t>
                                      </m:r>
                                    </m:num>
                                    <m:den>
                                      <m:r>
                                        <a:rPr lang="en-US" i="1">
                                          <a:latin typeface="Cambria Math" panose="02040503050406030204" pitchFamily="18" charset="0"/>
                                          <a:ea typeface="Cambria Math" panose="02040503050406030204" pitchFamily="18" charset="0"/>
                                          <a:cs typeface="Arial" panose="020B0604020202020204" pitchFamily="34" charset="0"/>
                                        </a:rPr>
                                        <m:t>1−</m:t>
                                      </m:r>
                                      <m:r>
                                        <a:rPr lang="en-US" i="1">
                                          <a:latin typeface="Cambria Math" panose="02040503050406030204" pitchFamily="18" charset="0"/>
                                          <a:ea typeface="Cambria Math" panose="02040503050406030204" pitchFamily="18" charset="0"/>
                                          <a:cs typeface="Arial" panose="020B0604020202020204" pitchFamily="34" charset="0"/>
                                        </a:rPr>
                                        <m:t>𝜁</m:t>
                                      </m:r>
                                    </m:den>
                                  </m:f>
                                </m:e>
                              </m:d>
                            </m:e>
                            <m:sup>
                              <m:r>
                                <a:rPr lang="en-US" i="1">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num>
                                <m:den>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den>
                              </m:f>
                            </m:sup>
                          </m:sSup>
                        </m:e>
                      </m:d>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i="1" smtClean="0">
                          <a:latin typeface="Cambria Math" panose="02040503050406030204" pitchFamily="18" charset="0"/>
                          <a:ea typeface="Cambria Math" panose="02040503050406030204" pitchFamily="18" charset="0"/>
                          <a:cs typeface="Arial" panose="020B0604020202020204" pitchFamily="34" charset="0"/>
                        </a:rPr>
                        <m:t>𝑐𝑜𝑛𝑠𝑡𝑎𝑛𝑡</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𝑙𝑛</m:t>
                      </m:r>
                      <m:d>
                        <m:dPr>
                          <m:begChr m:val="["/>
                          <m:endChr m:val="]"/>
                          <m:ctrlPr>
                            <a:rPr lang="en-US" i="1">
                              <a:latin typeface="Cambria Math" panose="02040503050406030204" pitchFamily="18" charset="0"/>
                              <a:ea typeface="Cambria Math" panose="02040503050406030204" pitchFamily="18" charset="0"/>
                              <a:cs typeface="Arial" panose="020B0604020202020204" pitchFamily="34" charset="0"/>
                            </a:rPr>
                          </m:ctrlPr>
                        </m:d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1−</m:t>
                                      </m:r>
                                      <m:r>
                                        <a:rPr lang="en-US" i="1">
                                          <a:latin typeface="Cambria Math" panose="02040503050406030204" pitchFamily="18" charset="0"/>
                                          <a:ea typeface="Cambria Math" panose="02040503050406030204" pitchFamily="18" charset="0"/>
                                          <a:cs typeface="Arial" panose="020B0604020202020204" pitchFamily="34" charset="0"/>
                                        </a:rPr>
                                        <m:t>𝜁</m:t>
                                      </m:r>
                                    </m:num>
                                    <m:den>
                                      <m:r>
                                        <a:rPr lang="en-US" i="1">
                                          <a:latin typeface="Cambria Math" panose="02040503050406030204" pitchFamily="18" charset="0"/>
                                          <a:ea typeface="Cambria Math" panose="02040503050406030204" pitchFamily="18" charset="0"/>
                                          <a:cs typeface="Arial" panose="020B0604020202020204" pitchFamily="34" charset="0"/>
                                        </a:rPr>
                                        <m:t>𝜁</m:t>
                                      </m:r>
                                    </m:den>
                                  </m:f>
                                </m:e>
                              </m:d>
                            </m:e>
                            <m:sup>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num>
                                <m:den>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den>
                              </m:f>
                            </m:sup>
                          </m:sSup>
                        </m:e>
                      </m:d>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𝑐𝑜𝑛𝑠𝑡𝑎𝑛𝑡</m:t>
                      </m:r>
                    </m:oMath>
                  </m:oMathPara>
                </a14:m>
                <a:endParaRPr lang="en-US" dirty="0">
                  <a:latin typeface="Arial" panose="020B0604020202020204" pitchFamily="34" charset="0"/>
                  <a:cs typeface="Arial" panose="020B0604020202020204" pitchFamily="34" charset="0"/>
                </a:endParaRPr>
              </a:p>
            </p:txBody>
          </p:sp>
        </mc:Choice>
        <mc:Fallback xmlns="">
          <p:sp>
            <p:nvSpPr>
              <p:cNvPr id="3" name="TextBox 2">
                <a:extLst>
                  <a:ext uri="{FF2B5EF4-FFF2-40B4-BE49-F238E27FC236}">
                    <a16:creationId xmlns:a16="http://schemas.microsoft.com/office/drawing/2014/main" id="{2BF1BC14-B667-2948-891A-FD62CCBD7ACD}"/>
                  </a:ext>
                </a:extLst>
              </p:cNvPr>
              <p:cNvSpPr txBox="1">
                <a:spLocks noRot="1" noChangeAspect="1" noMove="1" noResize="1" noEditPoints="1" noAdjustHandles="1" noChangeArrowheads="1" noChangeShapeType="1" noTextEdit="1"/>
              </p:cNvSpPr>
              <p:nvPr/>
            </p:nvSpPr>
            <p:spPr>
              <a:xfrm>
                <a:off x="406751" y="1813437"/>
                <a:ext cx="10723770" cy="796180"/>
              </a:xfrm>
              <a:prstGeom prst="rect">
                <a:avLst/>
              </a:prstGeom>
              <a:blipFill>
                <a:blip r:embed="rId4"/>
                <a:stretch>
                  <a:fillRect b="-12500"/>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14AABE1A-685B-E043-825F-EE14EE539E7B}"/>
              </a:ext>
            </a:extLst>
          </p:cNvPr>
          <p:cNvSpPr txBox="1"/>
          <p:nvPr/>
        </p:nvSpPr>
        <p:spPr>
          <a:xfrm>
            <a:off x="406751" y="2667639"/>
            <a:ext cx="10770020"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above equation is rewritten as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FCBF841-3295-CE4A-9448-5E964F977C47}"/>
                  </a:ext>
                </a:extLst>
              </p:cNvPr>
              <p:cNvSpPr txBox="1"/>
              <p:nvPr/>
            </p:nvSpPr>
            <p:spPr>
              <a:xfrm>
                <a:off x="479680" y="3030025"/>
                <a:ext cx="1555106" cy="617605"/>
              </a:xfrm>
              <a:prstGeom prst="rect">
                <a:avLst/>
              </a:prstGeom>
              <a:noFill/>
            </p:spPr>
            <p:txBody>
              <a:bodyPr wrap="none" lIns="0" tIns="0" rIns="0" bIns="0" rtlCol="0">
                <a:spAutoFit/>
              </a:bodyPr>
              <a:lstStyle/>
              <a:p>
                <a:pPr>
                  <a:lnSpc>
                    <a:spcPct val="114000"/>
                  </a:lnSpc>
                </a:pP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𝐶</m:t>
                        </m:r>
                      </m:e>
                      <m:sub>
                        <m:r>
                          <a:rPr lang="en-US" b="0" i="1" smtClean="0">
                            <a:latin typeface="Cambria Math" panose="02040503050406030204" pitchFamily="18" charset="0"/>
                            <a:cs typeface="Arial" panose="020B0604020202020204" pitchFamily="34" charset="0"/>
                          </a:rPr>
                          <m:t>1</m:t>
                        </m:r>
                      </m:sub>
                    </m:sSub>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1−</m:t>
                                </m:r>
                                <m:r>
                                  <a:rPr lang="en-US" i="1">
                                    <a:latin typeface="Cambria Math" panose="02040503050406030204" pitchFamily="18" charset="0"/>
                                    <a:ea typeface="Cambria Math" panose="02040503050406030204" pitchFamily="18" charset="0"/>
                                    <a:cs typeface="Arial" panose="020B0604020202020204" pitchFamily="34" charset="0"/>
                                  </a:rPr>
                                  <m:t>𝜁</m:t>
                                </m:r>
                              </m:num>
                              <m:den>
                                <m:r>
                                  <a:rPr lang="en-US" i="1">
                                    <a:latin typeface="Cambria Math" panose="02040503050406030204" pitchFamily="18" charset="0"/>
                                    <a:ea typeface="Cambria Math" panose="02040503050406030204" pitchFamily="18" charset="0"/>
                                    <a:cs typeface="Arial" panose="020B0604020202020204" pitchFamily="34" charset="0"/>
                                  </a:rPr>
                                  <m:t>𝜁</m:t>
                                </m:r>
                              </m:den>
                            </m:f>
                          </m:e>
                        </m:d>
                      </m:e>
                      <m:sup>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num>
                          <m:den>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den>
                        </m:f>
                      </m:sup>
                    </m:sSup>
                  </m:oMath>
                </a14:m>
                <a:r>
                  <a:rPr lang="en-US" dirty="0">
                    <a:latin typeface="Arial" panose="020B0604020202020204" pitchFamily="34" charset="0"/>
                    <a:cs typeface="Arial" panose="020B0604020202020204" pitchFamily="34" charset="0"/>
                  </a:rPr>
                  <a:t> </a:t>
                </a:r>
              </a:p>
            </p:txBody>
          </p:sp>
        </mc:Choice>
        <mc:Fallback xmlns="">
          <p:sp>
            <p:nvSpPr>
              <p:cNvPr id="8" name="TextBox 7">
                <a:extLst>
                  <a:ext uri="{FF2B5EF4-FFF2-40B4-BE49-F238E27FC236}">
                    <a16:creationId xmlns:a16="http://schemas.microsoft.com/office/drawing/2014/main" id="{FFCBF841-3295-CE4A-9448-5E964F977C47}"/>
                  </a:ext>
                </a:extLst>
              </p:cNvPr>
              <p:cNvSpPr txBox="1">
                <a:spLocks noRot="1" noChangeAspect="1" noMove="1" noResize="1" noEditPoints="1" noAdjustHandles="1" noChangeArrowheads="1" noChangeShapeType="1" noTextEdit="1"/>
              </p:cNvSpPr>
              <p:nvPr/>
            </p:nvSpPr>
            <p:spPr>
              <a:xfrm>
                <a:off x="479680" y="3030025"/>
                <a:ext cx="1555106" cy="617605"/>
              </a:xfrm>
              <a:prstGeom prst="rect">
                <a:avLst/>
              </a:prstGeom>
              <a:blipFill>
                <a:blip r:embed="rId5"/>
                <a:stretch>
                  <a:fillRect l="-3226"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38B562E-5EB1-C84B-9878-B04B4BD07FB8}"/>
                  </a:ext>
                </a:extLst>
              </p:cNvPr>
              <p:cNvSpPr txBox="1"/>
              <p:nvPr/>
            </p:nvSpPr>
            <p:spPr>
              <a:xfrm>
                <a:off x="383626" y="3811710"/>
                <a:ext cx="10770020" cy="410625"/>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constant C</a:t>
                </a:r>
                <a:r>
                  <a:rPr lang="en-US" baseline="-25000" dirty="0">
                    <a:latin typeface="Arial" panose="020B0604020202020204" pitchFamily="34" charset="0"/>
                    <a:cs typeface="Arial" panose="020B0604020202020204" pitchFamily="34" charset="0"/>
                  </a:rPr>
                  <a:t>1</a:t>
                </a:r>
                <a:r>
                  <a:rPr lang="en-US" dirty="0">
                    <a:latin typeface="Arial" panose="020B0604020202020204" pitchFamily="34" charset="0"/>
                    <a:cs typeface="Arial" panose="020B0604020202020204" pitchFamily="34" charset="0"/>
                  </a:rPr>
                  <a:t> is determined with the boundary condition </a:t>
                </a: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r>
                      <a:rPr lang="en-US" b="0" i="1" smtClean="0">
                        <a:latin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cs typeface="Arial" panose="020B0604020202020204" pitchFamily="34" charset="0"/>
                          </a:rPr>
                        </m:ctrlPr>
                      </m:accPr>
                      <m:e>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𝑐</m:t>
                            </m:r>
                          </m:e>
                          <m:sub>
                            <m:r>
                              <a:rPr lang="en-US" b="0" i="1" smtClean="0">
                                <a:latin typeface="Cambria Math" panose="02040503050406030204" pitchFamily="18" charset="0"/>
                                <a:cs typeface="Arial" panose="020B0604020202020204" pitchFamily="34" charset="0"/>
                              </a:rPr>
                              <m:t>𝑏</m:t>
                            </m:r>
                          </m:sub>
                        </m:sSub>
                      </m:e>
                    </m:acc>
                  </m:oMath>
                </a14:m>
                <a:r>
                  <a:rPr lang="en-US" dirty="0">
                    <a:latin typeface="Arial" panose="020B0604020202020204" pitchFamily="34" charset="0"/>
                    <a:cs typeface="Arial" panose="020B0604020202020204" pitchFamily="34" charset="0"/>
                  </a:rPr>
                  <a:t> for z = b (or </a:t>
                </a:r>
                <a:r>
                  <a:rPr lang="en-US" sz="2000" dirty="0">
                    <a:latin typeface="Symbol" pitchFamily="2" charset="2"/>
                    <a:cs typeface="Arial" panose="020B0604020202020204" pitchFamily="34" charset="0"/>
                  </a:rPr>
                  <a:t>z</a:t>
                </a:r>
                <a:r>
                  <a:rPr lang="en-US" dirty="0">
                    <a:latin typeface="Arial" panose="020B0604020202020204" pitchFamily="34" charset="0"/>
                    <a:cs typeface="Arial" panose="020B0604020202020204" pitchFamily="34" charset="0"/>
                  </a:rPr>
                  <a:t> = </a:t>
                </a:r>
                <a:r>
                  <a:rPr lang="en-US" sz="2000" dirty="0" err="1">
                    <a:latin typeface="Symbol" pitchFamily="2" charset="2"/>
                    <a:cs typeface="Arial" panose="020B0604020202020204" pitchFamily="34" charset="0"/>
                  </a:rPr>
                  <a:t>z</a:t>
                </a:r>
                <a:r>
                  <a:rPr lang="en-US" baseline="-25000" dirty="0" err="1">
                    <a:latin typeface="Arial" panose="020B0604020202020204" pitchFamily="34" charset="0"/>
                    <a:cs typeface="Arial" panose="020B0604020202020204" pitchFamily="34" charset="0"/>
                  </a:rPr>
                  <a:t>b</a:t>
                </a:r>
                <a:r>
                  <a:rPr lang="en-US" dirty="0">
                    <a:latin typeface="Arial" panose="020B0604020202020204" pitchFamily="34" charset="0"/>
                    <a:cs typeface="Arial" panose="020B0604020202020204" pitchFamily="34" charset="0"/>
                  </a:rPr>
                  <a:t>) </a:t>
                </a:r>
              </a:p>
            </p:txBody>
          </p:sp>
        </mc:Choice>
        <mc:Fallback xmlns="">
          <p:sp>
            <p:nvSpPr>
              <p:cNvPr id="15" name="TextBox 14">
                <a:extLst>
                  <a:ext uri="{FF2B5EF4-FFF2-40B4-BE49-F238E27FC236}">
                    <a16:creationId xmlns:a16="http://schemas.microsoft.com/office/drawing/2014/main" id="{338B562E-5EB1-C84B-9878-B04B4BD07FB8}"/>
                  </a:ext>
                </a:extLst>
              </p:cNvPr>
              <p:cNvSpPr txBox="1">
                <a:spLocks noRot="1" noChangeAspect="1" noMove="1" noResize="1" noEditPoints="1" noAdjustHandles="1" noChangeArrowheads="1" noChangeShapeType="1" noTextEdit="1"/>
              </p:cNvSpPr>
              <p:nvPr/>
            </p:nvSpPr>
            <p:spPr>
              <a:xfrm>
                <a:off x="383626" y="3811710"/>
                <a:ext cx="10770020" cy="410625"/>
              </a:xfrm>
              <a:prstGeom prst="rect">
                <a:avLst/>
              </a:prstGeom>
              <a:blipFill>
                <a:blip r:embed="rId6"/>
                <a:stretch>
                  <a:fillRect l="-471" t="-6061" b="-242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E43829E-54EC-C84D-8242-E7513C5EEEBE}"/>
                  </a:ext>
                </a:extLst>
              </p:cNvPr>
              <p:cNvSpPr txBox="1"/>
              <p:nvPr/>
            </p:nvSpPr>
            <p:spPr>
              <a:xfrm>
                <a:off x="479680" y="4259291"/>
                <a:ext cx="1740028" cy="619400"/>
              </a:xfrm>
              <a:prstGeom prst="rect">
                <a:avLst/>
              </a:prstGeom>
              <a:noFill/>
            </p:spPr>
            <p:txBody>
              <a:bodyPr wrap="none" lIns="0" tIns="0" rIns="0" bIns="0" rtlCol="0">
                <a:spAutoFit/>
              </a:bodyPr>
              <a:lstStyle/>
              <a:p>
                <a:pPr>
                  <a:lnSpc>
                    <a:spcPct val="114000"/>
                  </a:lnSpc>
                </a:pP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𝑐</m:t>
                            </m:r>
                          </m:e>
                          <m:sub>
                            <m:r>
                              <a:rPr lang="en-US" b="0" i="1" smtClean="0">
                                <a:latin typeface="Cambria Math" panose="02040503050406030204" pitchFamily="18" charset="0"/>
                                <a:cs typeface="Arial" panose="020B0604020202020204" pitchFamily="34" charset="0"/>
                              </a:rPr>
                              <m:t>𝑏</m:t>
                            </m:r>
                          </m:sub>
                        </m:sSub>
                      </m:e>
                    </m:acc>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𝐶</m:t>
                        </m:r>
                      </m:e>
                      <m:sub>
                        <m:r>
                          <a:rPr lang="en-US" b="0" i="1" smtClean="0">
                            <a:latin typeface="Cambria Math" panose="02040503050406030204" pitchFamily="18" charset="0"/>
                            <a:cs typeface="Arial" panose="020B0604020202020204" pitchFamily="34" charset="0"/>
                          </a:rPr>
                          <m:t>1</m:t>
                        </m:r>
                      </m:sub>
                    </m:sSub>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1−</m:t>
                                </m:r>
                                <m:sSub>
                                  <m:sSubPr>
                                    <m:ctrlPr>
                                      <a:rPr lang="en-US" i="1" smtClean="0">
                                        <a:latin typeface="Cambria Math" panose="02040503050406030204" pitchFamily="18" charset="0"/>
                                        <a:ea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𝜁</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sub>
                                </m:sSub>
                              </m:num>
                              <m:den>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𝜁</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den>
                            </m:f>
                          </m:e>
                        </m:d>
                      </m:e>
                      <m:sup>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num>
                          <m:den>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den>
                        </m:f>
                      </m:sup>
                    </m:sSup>
                  </m:oMath>
                </a14:m>
                <a:r>
                  <a:rPr lang="en-US" dirty="0">
                    <a:latin typeface="Arial" panose="020B0604020202020204" pitchFamily="34" charset="0"/>
                    <a:cs typeface="Arial" panose="020B0604020202020204" pitchFamily="34" charset="0"/>
                  </a:rPr>
                  <a:t> </a:t>
                </a:r>
              </a:p>
            </p:txBody>
          </p:sp>
        </mc:Choice>
        <mc:Fallback xmlns="">
          <p:sp>
            <p:nvSpPr>
              <p:cNvPr id="17" name="TextBox 16">
                <a:extLst>
                  <a:ext uri="{FF2B5EF4-FFF2-40B4-BE49-F238E27FC236}">
                    <a16:creationId xmlns:a16="http://schemas.microsoft.com/office/drawing/2014/main" id="{4E43829E-54EC-C84D-8242-E7513C5EEEBE}"/>
                  </a:ext>
                </a:extLst>
              </p:cNvPr>
              <p:cNvSpPr txBox="1">
                <a:spLocks noRot="1" noChangeAspect="1" noMove="1" noResize="1" noEditPoints="1" noAdjustHandles="1" noChangeArrowheads="1" noChangeShapeType="1" noTextEdit="1"/>
              </p:cNvSpPr>
              <p:nvPr/>
            </p:nvSpPr>
            <p:spPr>
              <a:xfrm>
                <a:off x="479680" y="4259291"/>
                <a:ext cx="1740028" cy="619400"/>
              </a:xfrm>
              <a:prstGeom prst="rect">
                <a:avLst/>
              </a:prstGeom>
              <a:blipFill>
                <a:blip r:embed="rId7"/>
                <a:stretch>
                  <a:fillRect l="-2899" b="-12245"/>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E23A9CFC-851C-3843-918A-6F488F9B0B23}"/>
              </a:ext>
            </a:extLst>
          </p:cNvPr>
          <p:cNvSpPr txBox="1"/>
          <p:nvPr/>
        </p:nvSpPr>
        <p:spPr>
          <a:xfrm>
            <a:off x="2961969" y="4423585"/>
            <a:ext cx="1073427"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and</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ED1272-73BE-3B42-A7EE-5E913FBDFB8C}"/>
                  </a:ext>
                </a:extLst>
              </p:cNvPr>
              <p:cNvSpPr txBox="1"/>
              <p:nvPr/>
            </p:nvSpPr>
            <p:spPr>
              <a:xfrm>
                <a:off x="4035396" y="4211546"/>
                <a:ext cx="1384482" cy="797270"/>
              </a:xfrm>
              <a:prstGeom prst="rect">
                <a:avLst/>
              </a:prstGeom>
              <a:noFill/>
            </p:spPr>
            <p:txBody>
              <a:bodyPr wrap="none" lIns="0" tIns="0" rIns="0" bIns="0" rtlCol="0">
                <a:spAutoFit/>
              </a:bodyPr>
              <a:lstStyle/>
              <a:p>
                <a:pPr>
                  <a:lnSpc>
                    <a:spcPct val="114000"/>
                  </a:lnSpc>
                </a:pPr>
                <a14:m>
                  <m:oMath xmlns:m="http://schemas.openxmlformats.org/officeDocument/2006/math">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𝐶</m:t>
                        </m:r>
                      </m:e>
                      <m:sub>
                        <m:r>
                          <a:rPr lang="en-US" b="0" i="1" smtClean="0">
                            <a:latin typeface="Cambria Math" panose="02040503050406030204" pitchFamily="18" charset="0"/>
                            <a:cs typeface="Arial" panose="020B0604020202020204" pitchFamily="34" charset="0"/>
                          </a:rPr>
                          <m:t>1</m:t>
                        </m:r>
                      </m:sub>
                    </m:sSub>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smtClean="0">
                            <a:latin typeface="Cambria Math" panose="02040503050406030204" pitchFamily="18" charset="0"/>
                            <a:ea typeface="Cambria Math" panose="02040503050406030204" pitchFamily="18" charset="0"/>
                            <a:cs typeface="Arial" panose="020B0604020202020204" pitchFamily="34" charset="0"/>
                          </a:rPr>
                        </m:ctrlPr>
                      </m:fPr>
                      <m:num>
                        <m:acc>
                          <m:accPr>
                            <m:chr m:val="̅"/>
                            <m:ctrlPr>
                              <a:rPr lang="en-US" i="1">
                                <a:latin typeface="Cambria Math" panose="02040503050406030204" pitchFamily="18" charset="0"/>
                                <a:cs typeface="Arial" panose="020B0604020202020204" pitchFamily="34" charset="0"/>
                              </a:rPr>
                            </m:ctrlPr>
                          </m:accPr>
                          <m:e>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𝑐</m:t>
                                </m:r>
                              </m:e>
                              <m:sub>
                                <m:r>
                                  <a:rPr lang="en-US" i="1">
                                    <a:latin typeface="Cambria Math" panose="02040503050406030204" pitchFamily="18" charset="0"/>
                                    <a:cs typeface="Arial" panose="020B0604020202020204" pitchFamily="34" charset="0"/>
                                  </a:rPr>
                                  <m:t>𝑏</m:t>
                                </m:r>
                              </m:sub>
                            </m:sSub>
                          </m:e>
                        </m:acc>
                      </m:num>
                      <m:den>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1−</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𝜁</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num>
                                  <m:den>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𝜁</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den>
                                </m:f>
                              </m:e>
                            </m:d>
                          </m:e>
                          <m:sup>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num>
                              <m:den>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den>
                            </m:f>
                          </m:sup>
                        </m:sSup>
                      </m:den>
                    </m:f>
                  </m:oMath>
                </a14:m>
                <a:r>
                  <a:rPr lang="en-US" dirty="0">
                    <a:latin typeface="Arial" panose="020B0604020202020204" pitchFamily="34" charset="0"/>
                    <a:cs typeface="Arial" panose="020B0604020202020204" pitchFamily="34" charset="0"/>
                  </a:rPr>
                  <a:t> </a:t>
                </a:r>
              </a:p>
            </p:txBody>
          </p:sp>
        </mc:Choice>
        <mc:Fallback xmlns="">
          <p:sp>
            <p:nvSpPr>
              <p:cNvPr id="18" name="TextBox 17">
                <a:extLst>
                  <a:ext uri="{FF2B5EF4-FFF2-40B4-BE49-F238E27FC236}">
                    <a16:creationId xmlns:a16="http://schemas.microsoft.com/office/drawing/2014/main" id="{95ED1272-73BE-3B42-A7EE-5E913FBDFB8C}"/>
                  </a:ext>
                </a:extLst>
              </p:cNvPr>
              <p:cNvSpPr txBox="1">
                <a:spLocks noRot="1" noChangeAspect="1" noMove="1" noResize="1" noEditPoints="1" noAdjustHandles="1" noChangeArrowheads="1" noChangeShapeType="1" noTextEdit="1"/>
              </p:cNvSpPr>
              <p:nvPr/>
            </p:nvSpPr>
            <p:spPr>
              <a:xfrm>
                <a:off x="4035396" y="4211546"/>
                <a:ext cx="1384482" cy="797270"/>
              </a:xfrm>
              <a:prstGeom prst="rect">
                <a:avLst/>
              </a:prstGeom>
              <a:blipFill>
                <a:blip r:embed="rId8"/>
                <a:stretch>
                  <a:fillRect l="-5455" b="-6250"/>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D7479BE8-38EE-B44C-BB59-72C2294EC64E}"/>
              </a:ext>
            </a:extLst>
          </p:cNvPr>
          <p:cNvSpPr txBox="1"/>
          <p:nvPr/>
        </p:nvSpPr>
        <p:spPr>
          <a:xfrm>
            <a:off x="383626" y="5079941"/>
            <a:ext cx="10770020"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substituting C1 in the equation expressing the equilibrium vertical distribution of suspended sediment, the Rouse profile is derived </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C6F1889E-3389-5C49-9CC3-13D07C0BB7F7}"/>
                  </a:ext>
                </a:extLst>
              </p:cNvPr>
              <p:cNvSpPr txBox="1"/>
              <p:nvPr/>
            </p:nvSpPr>
            <p:spPr>
              <a:xfrm>
                <a:off x="642020" y="5787626"/>
                <a:ext cx="2121415" cy="942822"/>
              </a:xfrm>
              <a:prstGeom prst="rect">
                <a:avLst/>
              </a:prstGeom>
              <a:noFill/>
            </p:spPr>
            <p:txBody>
              <a:bodyPr wrap="none" lIns="0" tIns="0" rIns="0" bIns="0" rtlCol="0">
                <a:spAutoFit/>
              </a:bodyPr>
              <a:lstStyle/>
              <a:p>
                <a:pPr>
                  <a:lnSpc>
                    <a:spcPct val="114000"/>
                  </a:lnSpc>
                </a:pP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acc>
                          <m:accPr>
                            <m:chr m:val="̅"/>
                            <m:ctrlPr>
                              <a:rPr lang="en-US" i="1">
                                <a:latin typeface="Cambria Math" panose="02040503050406030204" pitchFamily="18" charset="0"/>
                                <a:cs typeface="Arial" panose="020B0604020202020204" pitchFamily="34" charset="0"/>
                              </a:rPr>
                            </m:ctrlPr>
                          </m:accPr>
                          <m:e>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𝑐</m:t>
                                </m:r>
                              </m:e>
                              <m:sub>
                                <m:r>
                                  <a:rPr lang="en-US" i="1">
                                    <a:latin typeface="Cambria Math" panose="02040503050406030204" pitchFamily="18" charset="0"/>
                                    <a:cs typeface="Arial" panose="020B0604020202020204" pitchFamily="34" charset="0"/>
                                  </a:rPr>
                                  <m:t>𝑏</m:t>
                                </m:r>
                              </m:sub>
                            </m:sSub>
                          </m:e>
                        </m:acc>
                      </m:num>
                      <m:den>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1−</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𝜁</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num>
                                  <m:den>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𝜁</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den>
                                </m:f>
                              </m:e>
                            </m:d>
                          </m:e>
                          <m:sup>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num>
                              <m:den>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den>
                            </m:f>
                          </m:sup>
                        </m:sSup>
                      </m:den>
                    </m:f>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1−</m:t>
                                </m:r>
                                <m:r>
                                  <a:rPr lang="en-US" i="1">
                                    <a:latin typeface="Cambria Math" panose="02040503050406030204" pitchFamily="18" charset="0"/>
                                    <a:ea typeface="Cambria Math" panose="02040503050406030204" pitchFamily="18" charset="0"/>
                                    <a:cs typeface="Arial" panose="020B0604020202020204" pitchFamily="34" charset="0"/>
                                  </a:rPr>
                                  <m:t>𝜁</m:t>
                                </m:r>
                              </m:num>
                              <m:den>
                                <m:r>
                                  <a:rPr lang="en-US" i="1">
                                    <a:latin typeface="Cambria Math" panose="02040503050406030204" pitchFamily="18" charset="0"/>
                                    <a:ea typeface="Cambria Math" panose="02040503050406030204" pitchFamily="18" charset="0"/>
                                    <a:cs typeface="Arial" panose="020B0604020202020204" pitchFamily="34" charset="0"/>
                                  </a:rPr>
                                  <m:t>𝜁</m:t>
                                </m:r>
                              </m:den>
                            </m:f>
                          </m:e>
                        </m:d>
                      </m:e>
                      <m:sup>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num>
                          <m:den>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den>
                        </m:f>
                      </m:sup>
                    </m:sSup>
                  </m:oMath>
                </a14:m>
                <a:r>
                  <a:rPr lang="en-US" dirty="0">
                    <a:latin typeface="Arial" panose="020B0604020202020204" pitchFamily="34" charset="0"/>
                    <a:cs typeface="Arial" panose="020B0604020202020204" pitchFamily="34" charset="0"/>
                  </a:rPr>
                  <a:t> </a:t>
                </a:r>
              </a:p>
            </p:txBody>
          </p:sp>
        </mc:Choice>
        <mc:Fallback xmlns="">
          <p:sp>
            <p:nvSpPr>
              <p:cNvPr id="20" name="TextBox 19">
                <a:extLst>
                  <a:ext uri="{FF2B5EF4-FFF2-40B4-BE49-F238E27FC236}">
                    <a16:creationId xmlns:a16="http://schemas.microsoft.com/office/drawing/2014/main" id="{C6F1889E-3389-5C49-9CC3-13D07C0BB7F7}"/>
                  </a:ext>
                </a:extLst>
              </p:cNvPr>
              <p:cNvSpPr txBox="1">
                <a:spLocks noRot="1" noChangeAspect="1" noMove="1" noResize="1" noEditPoints="1" noAdjustHandles="1" noChangeArrowheads="1" noChangeShapeType="1" noTextEdit="1"/>
              </p:cNvSpPr>
              <p:nvPr/>
            </p:nvSpPr>
            <p:spPr>
              <a:xfrm>
                <a:off x="642020" y="5787626"/>
                <a:ext cx="2121415" cy="942822"/>
              </a:xfrm>
              <a:prstGeom prst="rect">
                <a:avLst/>
              </a:prstGeom>
              <a:blipFill>
                <a:blip r:embed="rId9"/>
                <a:stretch>
                  <a:fillRect l="-2976" b="-6667"/>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455CAD0D-76C7-D145-BCAD-E65617663EA5}"/>
              </a:ext>
            </a:extLst>
          </p:cNvPr>
          <p:cNvSpPr txBox="1"/>
          <p:nvPr/>
        </p:nvSpPr>
        <p:spPr>
          <a:xfrm>
            <a:off x="3498682" y="5993296"/>
            <a:ext cx="536714"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or</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A897EA7-78E4-8A47-A19A-8BD6D9BF4A2C}"/>
                  </a:ext>
                </a:extLst>
              </p:cNvPr>
              <p:cNvSpPr txBox="1"/>
              <p:nvPr/>
            </p:nvSpPr>
            <p:spPr>
              <a:xfrm>
                <a:off x="4584181" y="5694504"/>
                <a:ext cx="1980799" cy="853311"/>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num>
                        <m:den>
                          <m:acc>
                            <m:accPr>
                              <m:chr m:val="̅"/>
                              <m:ctrlPr>
                                <a:rPr lang="en-US" i="1" smtClean="0">
                                  <a:latin typeface="Cambria Math" panose="02040503050406030204" pitchFamily="18" charset="0"/>
                                  <a:cs typeface="Arial" panose="020B0604020202020204" pitchFamily="34" charset="0"/>
                                </a:rPr>
                              </m:ctrlPr>
                            </m:accPr>
                            <m:e>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𝑐</m:t>
                                  </m:r>
                                </m:e>
                                <m:sub>
                                  <m:r>
                                    <a:rPr lang="en-US" b="0" i="1" smtClean="0">
                                      <a:latin typeface="Cambria Math" panose="02040503050406030204" pitchFamily="18" charset="0"/>
                                      <a:cs typeface="Arial" panose="020B0604020202020204" pitchFamily="34" charset="0"/>
                                    </a:rPr>
                                    <m:t>𝑏</m:t>
                                  </m:r>
                                </m:sub>
                              </m:sSub>
                            </m:e>
                          </m:acc>
                        </m:den>
                      </m:f>
                      <m:r>
                        <a:rPr lang="en-US" b="0" i="1" smtClean="0">
                          <a:latin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cs typeface="Arial" panose="020B0604020202020204" pitchFamily="34" charset="0"/>
                            </a:rPr>
                          </m:ctrlPr>
                        </m:sSupPr>
                        <m:e>
                          <m:d>
                            <m:dPr>
                              <m:begChr m:val="["/>
                              <m:endChr m:val="]"/>
                              <m:ctrlPr>
                                <a:rPr lang="en-US" b="0" i="1" smtClean="0">
                                  <a:latin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cs typeface="Arial" panose="020B0604020202020204" pitchFamily="34" charset="0"/>
                                    </a:rPr>
                                  </m:ctrlPr>
                                </m:fPr>
                                <m:num>
                                  <m:d>
                                    <m:dPr>
                                      <m:ctrlPr>
                                        <a:rPr lang="en-US" b="0" i="1" smtClean="0">
                                          <a:latin typeface="Cambria Math" panose="02040503050406030204" pitchFamily="18" charset="0"/>
                                          <a:cs typeface="Arial" panose="020B0604020202020204" pitchFamily="34" charset="0"/>
                                        </a:rPr>
                                      </m:ctrlPr>
                                    </m:dPr>
                                    <m:e>
                                      <m:r>
                                        <a:rPr lang="en-US" i="1">
                                          <a:latin typeface="Cambria Math" panose="02040503050406030204" pitchFamily="18" charset="0"/>
                                          <a:ea typeface="Cambria Math" panose="02040503050406030204" pitchFamily="18" charset="0"/>
                                          <a:cs typeface="Arial" panose="020B0604020202020204" pitchFamily="34" charset="0"/>
                                        </a:rPr>
                                        <m:t>1−</m:t>
                                      </m:r>
                                      <m:r>
                                        <a:rPr lang="en-US" i="1">
                                          <a:latin typeface="Cambria Math" panose="02040503050406030204" pitchFamily="18" charset="0"/>
                                          <a:ea typeface="Cambria Math" panose="02040503050406030204" pitchFamily="18" charset="0"/>
                                          <a:cs typeface="Arial" panose="020B0604020202020204" pitchFamily="34" charset="0"/>
                                        </a:rPr>
                                        <m:t>𝜁</m:t>
                                      </m:r>
                                    </m:e>
                                  </m:d>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𝜁</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num>
                                <m:den>
                                  <m:d>
                                    <m:dPr>
                                      <m:ctrlPr>
                                        <a:rPr lang="en-US" b="0" i="1" smtClean="0">
                                          <a:latin typeface="Cambria Math" panose="02040503050406030204" pitchFamily="18" charset="0"/>
                                          <a:cs typeface="Arial" panose="020B0604020202020204" pitchFamily="34" charset="0"/>
                                        </a:rPr>
                                      </m:ctrlPr>
                                    </m:dPr>
                                    <m:e>
                                      <m:r>
                                        <a:rPr lang="en-US" i="1">
                                          <a:latin typeface="Cambria Math" panose="02040503050406030204" pitchFamily="18" charset="0"/>
                                          <a:ea typeface="Cambria Math" panose="02040503050406030204" pitchFamily="18" charset="0"/>
                                          <a:cs typeface="Arial" panose="020B0604020202020204" pitchFamily="34" charset="0"/>
                                        </a:rPr>
                                        <m:t>1−</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𝜁</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e>
                                  </m:d>
                                  <m:r>
                                    <a:rPr lang="en-US" b="0" i="1" smtClean="0">
                                      <a:latin typeface="Cambria Math" panose="02040503050406030204" pitchFamily="18" charset="0"/>
                                      <a:ea typeface="Cambria Math" panose="02040503050406030204" pitchFamily="18" charset="0"/>
                                      <a:cs typeface="Arial" panose="020B0604020202020204" pitchFamily="34" charset="0"/>
                                    </a:rPr>
                                    <m:t>𝜁</m:t>
                                  </m:r>
                                </m:den>
                              </m:f>
                            </m:e>
                          </m:d>
                        </m:e>
                        <m:sup>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num>
                            <m:den>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den>
                          </m:f>
                        </m:sup>
                      </m:sSup>
                    </m:oMath>
                  </m:oMathPara>
                </a14:m>
                <a:endParaRPr lang="en-US" dirty="0">
                  <a:latin typeface="Arial" panose="020B0604020202020204" pitchFamily="34" charset="0"/>
                  <a:cs typeface="Arial" panose="020B0604020202020204" pitchFamily="34" charset="0"/>
                </a:endParaRPr>
              </a:p>
            </p:txBody>
          </p:sp>
        </mc:Choice>
        <mc:Fallback xmlns="">
          <p:sp>
            <p:nvSpPr>
              <p:cNvPr id="21" name="TextBox 20">
                <a:extLst>
                  <a:ext uri="{FF2B5EF4-FFF2-40B4-BE49-F238E27FC236}">
                    <a16:creationId xmlns:a16="http://schemas.microsoft.com/office/drawing/2014/main" id="{DA897EA7-78E4-8A47-A19A-8BD6D9BF4A2C}"/>
                  </a:ext>
                </a:extLst>
              </p:cNvPr>
              <p:cNvSpPr txBox="1">
                <a:spLocks noRot="1" noChangeAspect="1" noMove="1" noResize="1" noEditPoints="1" noAdjustHandles="1" noChangeArrowheads="1" noChangeShapeType="1" noTextEdit="1"/>
              </p:cNvSpPr>
              <p:nvPr/>
            </p:nvSpPr>
            <p:spPr>
              <a:xfrm>
                <a:off x="4584181" y="5694504"/>
                <a:ext cx="1980799" cy="853311"/>
              </a:xfrm>
              <a:prstGeom prst="rect">
                <a:avLst/>
              </a:prstGeom>
              <a:blipFill>
                <a:blip r:embed="rId10"/>
                <a:stretch>
                  <a:fillRect l="-637" b="-88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ounded Rectangle 21">
                <a:extLst>
                  <a:ext uri="{FF2B5EF4-FFF2-40B4-BE49-F238E27FC236}">
                    <a16:creationId xmlns:a16="http://schemas.microsoft.com/office/drawing/2014/main" id="{BC959373-20DD-6146-B2AC-62D5DBA77A9A}"/>
                  </a:ext>
                </a:extLst>
              </p:cNvPr>
              <p:cNvSpPr/>
              <p:nvPr/>
            </p:nvSpPr>
            <p:spPr>
              <a:xfrm>
                <a:off x="7770316" y="5626434"/>
                <a:ext cx="2862469" cy="1035944"/>
              </a:xfrm>
              <a:prstGeom prst="roundRect">
                <a:avLst/>
              </a:prstGeom>
              <a:solidFill>
                <a:srgbClr val="FFFF00"/>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EQUILIBRIUM SUSPENSION</a:t>
                </a:r>
              </a:p>
              <a:p>
                <a:pPr algn="ctr"/>
                <a:endParaRPr lang="en-US" dirty="0">
                  <a:solidFill>
                    <a:schemeClr val="tx1"/>
                  </a:solidFill>
                </a:endParaRPr>
              </a:p>
              <a:p>
                <a:pPr algn="ctr"/>
                <a14:m>
                  <m:oMathPara xmlns:m="http://schemas.openxmlformats.org/officeDocument/2006/math">
                    <m:oMathParaPr>
                      <m:jc m:val="centerGroup"/>
                    </m:oMathParaPr>
                    <m:oMath xmlns:m="http://schemas.openxmlformats.org/officeDocument/2006/math">
                      <m:acc>
                        <m:accPr>
                          <m:chr m:val="̅"/>
                          <m:ctrlPr>
                            <a:rPr lang="en-US" i="1" smtClean="0">
                              <a:solidFill>
                                <a:schemeClr val="tx1"/>
                              </a:solidFill>
                              <a:latin typeface="Cambria Math" panose="02040503050406030204" pitchFamily="18" charset="0"/>
                            </a:rPr>
                          </m:ctrlPr>
                        </m:accPr>
                        <m:e>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𝑐</m:t>
                              </m:r>
                            </m:e>
                            <m:sub>
                              <m:r>
                                <a:rPr lang="en-US" b="0" i="1" smtClean="0">
                                  <a:solidFill>
                                    <a:schemeClr val="tx1"/>
                                  </a:solidFill>
                                  <a:latin typeface="Cambria Math" panose="02040503050406030204" pitchFamily="18" charset="0"/>
                                </a:rPr>
                                <m:t>𝑏</m:t>
                              </m:r>
                            </m:sub>
                          </m:sSub>
                        </m:e>
                      </m:acc>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𝐸</m:t>
                      </m:r>
                    </m:oMath>
                  </m:oMathPara>
                </a14:m>
                <a:endParaRPr lang="en-US" dirty="0">
                  <a:solidFill>
                    <a:schemeClr val="tx1"/>
                  </a:solidFill>
                </a:endParaRPr>
              </a:p>
            </p:txBody>
          </p:sp>
        </mc:Choice>
        <mc:Fallback xmlns="">
          <p:sp>
            <p:nvSpPr>
              <p:cNvPr id="22" name="Rounded Rectangle 21">
                <a:extLst>
                  <a:ext uri="{FF2B5EF4-FFF2-40B4-BE49-F238E27FC236}">
                    <a16:creationId xmlns:a16="http://schemas.microsoft.com/office/drawing/2014/main" id="{BC959373-20DD-6146-B2AC-62D5DBA77A9A}"/>
                  </a:ext>
                </a:extLst>
              </p:cNvPr>
              <p:cNvSpPr>
                <a:spLocks noRot="1" noChangeAspect="1" noMove="1" noResize="1" noEditPoints="1" noAdjustHandles="1" noChangeArrowheads="1" noChangeShapeType="1" noTextEdit="1"/>
              </p:cNvSpPr>
              <p:nvPr/>
            </p:nvSpPr>
            <p:spPr>
              <a:xfrm>
                <a:off x="7770316" y="5626434"/>
                <a:ext cx="2862469" cy="1035944"/>
              </a:xfrm>
              <a:prstGeom prst="roundRect">
                <a:avLst/>
              </a:prstGeom>
              <a:blipFill>
                <a:blip r:embed="rId11"/>
                <a:stretch>
                  <a:fillRect/>
                </a:stretch>
              </a:blipFill>
              <a:ln w="38100">
                <a:solidFill>
                  <a:srgbClr val="C00000"/>
                </a:solidFill>
              </a:ln>
            </p:spPr>
            <p:txBody>
              <a:bodyPr/>
              <a:lstStyle/>
              <a:p>
                <a:r>
                  <a:rPr lang="en-US">
                    <a:noFill/>
                  </a:rPr>
                  <a:t> </a:t>
                </a:r>
              </a:p>
            </p:txBody>
          </p:sp>
        </mc:Fallback>
      </mc:AlternateContent>
    </p:spTree>
    <p:extLst>
      <p:ext uri="{BB962C8B-B14F-4D97-AF65-F5344CB8AC3E}">
        <p14:creationId xmlns:p14="http://schemas.microsoft.com/office/powerpoint/2010/main" val="13175792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31</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1384995"/>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Appendix</a:t>
            </a:r>
          </a:p>
          <a:p>
            <a:pPr algn="ctr"/>
            <a:endParaRPr lang="en-US" sz="2800" b="1" dirty="0">
              <a:latin typeface="Arial" panose="020B0604020202020204" pitchFamily="34" charset="0"/>
              <a:cs typeface="Arial" panose="020B0604020202020204" pitchFamily="34" charset="0"/>
            </a:endParaRPr>
          </a:p>
          <a:p>
            <a:pPr algn="ctr"/>
            <a:r>
              <a:rPr lang="en-US" sz="2800" b="1" dirty="0">
                <a:latin typeface="Arial" panose="020B0604020202020204" pitchFamily="34" charset="0"/>
                <a:cs typeface="Arial" panose="020B0604020202020204" pitchFamily="34" charset="0"/>
              </a:rPr>
              <a:t>Conservation of streamwise momentum</a:t>
            </a:r>
          </a:p>
        </p:txBody>
      </p:sp>
    </p:spTree>
    <p:extLst>
      <p:ext uri="{BB962C8B-B14F-4D97-AF65-F5344CB8AC3E}">
        <p14:creationId xmlns:p14="http://schemas.microsoft.com/office/powerpoint/2010/main" val="2775064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32</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Local streamwise momentum conservation</a:t>
            </a:r>
          </a:p>
        </p:txBody>
      </p:sp>
      <p:cxnSp>
        <p:nvCxnSpPr>
          <p:cNvPr id="15" name="Straight Connector 14">
            <a:extLst>
              <a:ext uri="{FF2B5EF4-FFF2-40B4-BE49-F238E27FC236}">
                <a16:creationId xmlns:a16="http://schemas.microsoft.com/office/drawing/2014/main" id="{0FBD2180-E84B-A14C-A983-35EC124DBF5F}"/>
              </a:ext>
            </a:extLst>
          </p:cNvPr>
          <p:cNvCxnSpPr>
            <a:cxnSpLocks/>
          </p:cNvCxnSpPr>
          <p:nvPr/>
        </p:nvCxnSpPr>
        <p:spPr>
          <a:xfrm flipV="1">
            <a:off x="1606478" y="1753848"/>
            <a:ext cx="0" cy="1685762"/>
          </a:xfrm>
          <a:prstGeom prst="line">
            <a:avLst/>
          </a:prstGeom>
          <a:ln w="19050">
            <a:solidFill>
              <a:schemeClr val="tx1"/>
            </a:solidFill>
            <a:headEnd type="none" w="med" len="med"/>
            <a:tailEnd type="arrow" w="lg" len="lg"/>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5B39B85-6E02-634D-9C9E-6DBDA9D0EF7F}"/>
              </a:ext>
            </a:extLst>
          </p:cNvPr>
          <p:cNvCxnSpPr/>
          <p:nvPr/>
        </p:nvCxnSpPr>
        <p:spPr>
          <a:xfrm flipH="1">
            <a:off x="482757" y="3439247"/>
            <a:ext cx="1123721" cy="980501"/>
          </a:xfrm>
          <a:prstGeom prst="line">
            <a:avLst/>
          </a:prstGeom>
          <a:ln w="19050">
            <a:solidFill>
              <a:schemeClr val="tx1"/>
            </a:solidFill>
            <a:headEnd type="none" w="med" len="med"/>
            <a:tailEnd type="arrow" w="lg" len="lg"/>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453A63D-AED2-B647-9786-6F27F5594FF6}"/>
              </a:ext>
            </a:extLst>
          </p:cNvPr>
          <p:cNvCxnSpPr/>
          <p:nvPr/>
        </p:nvCxnSpPr>
        <p:spPr>
          <a:xfrm>
            <a:off x="1606478" y="3439247"/>
            <a:ext cx="2897436" cy="0"/>
          </a:xfrm>
          <a:prstGeom prst="line">
            <a:avLst/>
          </a:prstGeom>
          <a:ln w="19050">
            <a:solidFill>
              <a:schemeClr val="tx1"/>
            </a:solidFill>
            <a:headEnd type="none" w="med" len="med"/>
            <a:tailEnd type="arrow" w="lg" len="lg"/>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CEB748A7-71B2-0B46-A660-3669CADFEE7A}"/>
              </a:ext>
            </a:extLst>
          </p:cNvPr>
          <p:cNvSpPr txBox="1"/>
          <p:nvPr/>
        </p:nvSpPr>
        <p:spPr>
          <a:xfrm>
            <a:off x="482756" y="4419748"/>
            <a:ext cx="386675"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x</a:t>
            </a:r>
          </a:p>
        </p:txBody>
      </p:sp>
      <p:sp>
        <p:nvSpPr>
          <p:cNvPr id="19" name="TextBox 18">
            <a:extLst>
              <a:ext uri="{FF2B5EF4-FFF2-40B4-BE49-F238E27FC236}">
                <a16:creationId xmlns:a16="http://schemas.microsoft.com/office/drawing/2014/main" id="{D3599749-02CD-0643-B23F-3CB6CBBCABD3}"/>
              </a:ext>
            </a:extLst>
          </p:cNvPr>
          <p:cNvSpPr txBox="1"/>
          <p:nvPr/>
        </p:nvSpPr>
        <p:spPr>
          <a:xfrm>
            <a:off x="4428963" y="3408802"/>
            <a:ext cx="386675"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y</a:t>
            </a:r>
          </a:p>
        </p:txBody>
      </p:sp>
      <p:sp>
        <p:nvSpPr>
          <p:cNvPr id="20" name="TextBox 19">
            <a:extLst>
              <a:ext uri="{FF2B5EF4-FFF2-40B4-BE49-F238E27FC236}">
                <a16:creationId xmlns:a16="http://schemas.microsoft.com/office/drawing/2014/main" id="{7A5CD9D0-AF5B-1F44-B189-F42BB4893BD8}"/>
              </a:ext>
            </a:extLst>
          </p:cNvPr>
          <p:cNvSpPr txBox="1"/>
          <p:nvPr/>
        </p:nvSpPr>
        <p:spPr>
          <a:xfrm>
            <a:off x="1219803" y="1694058"/>
            <a:ext cx="386675"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z</a:t>
            </a:r>
          </a:p>
        </p:txBody>
      </p:sp>
      <p:cxnSp>
        <p:nvCxnSpPr>
          <p:cNvPr id="21" name="Straight Connector 20">
            <a:extLst>
              <a:ext uri="{FF2B5EF4-FFF2-40B4-BE49-F238E27FC236}">
                <a16:creationId xmlns:a16="http://schemas.microsoft.com/office/drawing/2014/main" id="{3F8DB2CD-118A-CA44-ADB1-1E5F128AEEBF}"/>
              </a:ext>
            </a:extLst>
          </p:cNvPr>
          <p:cNvCxnSpPr>
            <a:cxnSpLocks/>
          </p:cNvCxnSpPr>
          <p:nvPr/>
        </p:nvCxnSpPr>
        <p:spPr>
          <a:xfrm flipH="1">
            <a:off x="2457846" y="1221053"/>
            <a:ext cx="765041" cy="686115"/>
          </a:xfrm>
          <a:prstGeom prst="line">
            <a:avLst/>
          </a:prstGeom>
          <a:ln w="19050">
            <a:solidFill>
              <a:schemeClr val="tx1"/>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96E6DA2-388D-C24D-8AD4-CADF9577B8C5}"/>
              </a:ext>
            </a:extLst>
          </p:cNvPr>
          <p:cNvCxnSpPr>
            <a:cxnSpLocks/>
          </p:cNvCxnSpPr>
          <p:nvPr/>
        </p:nvCxnSpPr>
        <p:spPr>
          <a:xfrm flipH="1">
            <a:off x="3702569" y="1221053"/>
            <a:ext cx="765041" cy="686115"/>
          </a:xfrm>
          <a:prstGeom prst="line">
            <a:avLst/>
          </a:prstGeom>
          <a:ln w="19050">
            <a:solidFill>
              <a:schemeClr val="tx1"/>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918475D-01F0-7441-8A92-325D29E0B267}"/>
              </a:ext>
            </a:extLst>
          </p:cNvPr>
          <p:cNvCxnSpPr/>
          <p:nvPr/>
        </p:nvCxnSpPr>
        <p:spPr>
          <a:xfrm>
            <a:off x="2457846" y="1907168"/>
            <a:ext cx="124472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3819762-85D5-E640-ACBD-AD6B63A9A853}"/>
              </a:ext>
            </a:extLst>
          </p:cNvPr>
          <p:cNvCxnSpPr/>
          <p:nvPr/>
        </p:nvCxnSpPr>
        <p:spPr>
          <a:xfrm>
            <a:off x="3222887" y="1208234"/>
            <a:ext cx="124472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1592572-CC50-9E4F-989B-6FFA5F110862}"/>
              </a:ext>
            </a:extLst>
          </p:cNvPr>
          <p:cNvCxnSpPr>
            <a:cxnSpLocks/>
          </p:cNvCxnSpPr>
          <p:nvPr/>
        </p:nvCxnSpPr>
        <p:spPr>
          <a:xfrm flipH="1">
            <a:off x="3222887" y="1208234"/>
            <a:ext cx="2497" cy="98033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1983C86-2DBE-BE47-863B-5542404E9F10}"/>
              </a:ext>
            </a:extLst>
          </p:cNvPr>
          <p:cNvCxnSpPr>
            <a:cxnSpLocks/>
          </p:cNvCxnSpPr>
          <p:nvPr/>
        </p:nvCxnSpPr>
        <p:spPr>
          <a:xfrm flipH="1">
            <a:off x="2479926" y="1904088"/>
            <a:ext cx="2497" cy="9803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B9650B4-D578-2047-85BB-4B6E1598F8A6}"/>
              </a:ext>
            </a:extLst>
          </p:cNvPr>
          <p:cNvCxnSpPr>
            <a:cxnSpLocks/>
          </p:cNvCxnSpPr>
          <p:nvPr/>
        </p:nvCxnSpPr>
        <p:spPr>
          <a:xfrm flipH="1">
            <a:off x="3676065" y="1913851"/>
            <a:ext cx="2497" cy="9803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E9B145B-9FB7-C647-B178-CE08FE4B4063}"/>
              </a:ext>
            </a:extLst>
          </p:cNvPr>
          <p:cNvCxnSpPr>
            <a:cxnSpLocks/>
          </p:cNvCxnSpPr>
          <p:nvPr/>
        </p:nvCxnSpPr>
        <p:spPr>
          <a:xfrm flipH="1">
            <a:off x="4479966" y="1208234"/>
            <a:ext cx="2497" cy="9803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E251B70-EF9F-E04D-8F6A-839BD5CAC407}"/>
              </a:ext>
            </a:extLst>
          </p:cNvPr>
          <p:cNvCxnSpPr/>
          <p:nvPr/>
        </p:nvCxnSpPr>
        <p:spPr>
          <a:xfrm>
            <a:off x="2446332" y="2894181"/>
            <a:ext cx="124472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DF98099-5683-B442-8055-C14B4D72C35C}"/>
              </a:ext>
            </a:extLst>
          </p:cNvPr>
          <p:cNvCxnSpPr/>
          <p:nvPr/>
        </p:nvCxnSpPr>
        <p:spPr>
          <a:xfrm>
            <a:off x="3222886" y="2188564"/>
            <a:ext cx="1244723"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D1BE883-FA5A-F242-9043-5F7172149BB9}"/>
              </a:ext>
            </a:extLst>
          </p:cNvPr>
          <p:cNvCxnSpPr>
            <a:cxnSpLocks/>
          </p:cNvCxnSpPr>
          <p:nvPr/>
        </p:nvCxnSpPr>
        <p:spPr>
          <a:xfrm flipH="1">
            <a:off x="3690565" y="2198303"/>
            <a:ext cx="765041" cy="686115"/>
          </a:xfrm>
          <a:prstGeom prst="line">
            <a:avLst/>
          </a:prstGeom>
          <a:ln w="19050">
            <a:solidFill>
              <a:schemeClr val="tx1"/>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79687AD-5AE6-5148-84FC-7732AED2B79C}"/>
              </a:ext>
            </a:extLst>
          </p:cNvPr>
          <p:cNvCxnSpPr>
            <a:cxnSpLocks/>
          </p:cNvCxnSpPr>
          <p:nvPr/>
        </p:nvCxnSpPr>
        <p:spPr>
          <a:xfrm flipH="1">
            <a:off x="2477424" y="2185484"/>
            <a:ext cx="765041" cy="686115"/>
          </a:xfrm>
          <a:prstGeom prst="line">
            <a:avLst/>
          </a:prstGeom>
          <a:ln w="19050">
            <a:solidFill>
              <a:schemeClr val="tx1"/>
            </a:solidFill>
            <a:prstDash val="dash"/>
            <a:headEnd type="none" w="med" len="med"/>
            <a:tailEnd type="none" w="lg" len="lg"/>
          </a:ln>
        </p:spPr>
        <p:style>
          <a:lnRef idx="1">
            <a:schemeClr val="accent1"/>
          </a:lnRef>
          <a:fillRef idx="0">
            <a:schemeClr val="accent1"/>
          </a:fillRef>
          <a:effectRef idx="0">
            <a:schemeClr val="accent1"/>
          </a:effectRef>
          <a:fontRef idx="minor">
            <a:schemeClr val="tx1"/>
          </a:fontRef>
        </p:style>
      </p:cxnSp>
      <p:sp>
        <p:nvSpPr>
          <p:cNvPr id="35" name="Freeform 34">
            <a:extLst>
              <a:ext uri="{FF2B5EF4-FFF2-40B4-BE49-F238E27FC236}">
                <a16:creationId xmlns:a16="http://schemas.microsoft.com/office/drawing/2014/main" id="{E6A74D7B-E0D2-294F-BA02-B714E9E45586}"/>
              </a:ext>
            </a:extLst>
          </p:cNvPr>
          <p:cNvSpPr/>
          <p:nvPr/>
        </p:nvSpPr>
        <p:spPr>
          <a:xfrm>
            <a:off x="2503357" y="1199213"/>
            <a:ext cx="1963712" cy="704538"/>
          </a:xfrm>
          <a:custGeom>
            <a:avLst/>
            <a:gdLst>
              <a:gd name="connsiteX0" fmla="*/ 704538 w 1963712"/>
              <a:gd name="connsiteY0" fmla="*/ 0 h 704538"/>
              <a:gd name="connsiteX1" fmla="*/ 0 w 1963712"/>
              <a:gd name="connsiteY1" fmla="*/ 674557 h 704538"/>
              <a:gd name="connsiteX2" fmla="*/ 1184223 w 1963712"/>
              <a:gd name="connsiteY2" fmla="*/ 704538 h 704538"/>
              <a:gd name="connsiteX3" fmla="*/ 1963712 w 1963712"/>
              <a:gd name="connsiteY3" fmla="*/ 44971 h 704538"/>
              <a:gd name="connsiteX4" fmla="*/ 704538 w 1963712"/>
              <a:gd name="connsiteY4" fmla="*/ 0 h 7045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3712" h="704538">
                <a:moveTo>
                  <a:pt x="704538" y="0"/>
                </a:moveTo>
                <a:lnTo>
                  <a:pt x="0" y="674557"/>
                </a:lnTo>
                <a:lnTo>
                  <a:pt x="1184223" y="704538"/>
                </a:lnTo>
                <a:lnTo>
                  <a:pt x="1963712" y="44971"/>
                </a:lnTo>
                <a:lnTo>
                  <a:pt x="704538" y="0"/>
                </a:lnTo>
                <a:close/>
              </a:path>
            </a:pathLst>
          </a:custGeom>
          <a:solidFill>
            <a:schemeClr val="accent4">
              <a:lumMod val="75000"/>
              <a:alpha val="21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35">
            <a:extLst>
              <a:ext uri="{FF2B5EF4-FFF2-40B4-BE49-F238E27FC236}">
                <a16:creationId xmlns:a16="http://schemas.microsoft.com/office/drawing/2014/main" id="{9FFBF7C4-9DDE-2645-81D0-F5A8028C577A}"/>
              </a:ext>
            </a:extLst>
          </p:cNvPr>
          <p:cNvSpPr/>
          <p:nvPr/>
        </p:nvSpPr>
        <p:spPr>
          <a:xfrm>
            <a:off x="2506884" y="2188733"/>
            <a:ext cx="1963712" cy="704538"/>
          </a:xfrm>
          <a:custGeom>
            <a:avLst/>
            <a:gdLst>
              <a:gd name="connsiteX0" fmla="*/ 704538 w 1963712"/>
              <a:gd name="connsiteY0" fmla="*/ 0 h 704538"/>
              <a:gd name="connsiteX1" fmla="*/ 0 w 1963712"/>
              <a:gd name="connsiteY1" fmla="*/ 674557 h 704538"/>
              <a:gd name="connsiteX2" fmla="*/ 1184223 w 1963712"/>
              <a:gd name="connsiteY2" fmla="*/ 704538 h 704538"/>
              <a:gd name="connsiteX3" fmla="*/ 1963712 w 1963712"/>
              <a:gd name="connsiteY3" fmla="*/ 44971 h 704538"/>
              <a:gd name="connsiteX4" fmla="*/ 704538 w 1963712"/>
              <a:gd name="connsiteY4" fmla="*/ 0 h 7045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3712" h="704538">
                <a:moveTo>
                  <a:pt x="704538" y="0"/>
                </a:moveTo>
                <a:lnTo>
                  <a:pt x="0" y="674557"/>
                </a:lnTo>
                <a:lnTo>
                  <a:pt x="1184223" y="704538"/>
                </a:lnTo>
                <a:lnTo>
                  <a:pt x="1963712" y="44971"/>
                </a:lnTo>
                <a:lnTo>
                  <a:pt x="704538" y="0"/>
                </a:lnTo>
                <a:close/>
              </a:path>
            </a:pathLst>
          </a:custGeom>
          <a:solidFill>
            <a:schemeClr val="accent4">
              <a:lumMod val="75000"/>
              <a:alpha val="43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8BD5EE7E-F2A6-8C44-BE45-230498A61EEC}"/>
              </a:ext>
            </a:extLst>
          </p:cNvPr>
          <p:cNvSpPr>
            <a:spLocks noChangeAspect="1"/>
          </p:cNvSpPr>
          <p:nvPr/>
        </p:nvSpPr>
        <p:spPr>
          <a:xfrm>
            <a:off x="2424561" y="2797716"/>
            <a:ext cx="126908" cy="126000"/>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DF9F112F-92C0-FB45-8307-74A9FE76CA19}"/>
              </a:ext>
            </a:extLst>
          </p:cNvPr>
          <p:cNvSpPr>
            <a:spLocks noChangeAspect="1"/>
          </p:cNvSpPr>
          <p:nvPr/>
        </p:nvSpPr>
        <p:spPr>
          <a:xfrm>
            <a:off x="4376319" y="1151064"/>
            <a:ext cx="126908" cy="126000"/>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D52C2A98-FAA1-A940-A457-D14D02E7D571}"/>
              </a:ext>
            </a:extLst>
          </p:cNvPr>
          <p:cNvSpPr txBox="1"/>
          <p:nvPr/>
        </p:nvSpPr>
        <p:spPr>
          <a:xfrm>
            <a:off x="1569348" y="2661032"/>
            <a:ext cx="982119"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(x, y, z)</a:t>
            </a:r>
          </a:p>
        </p:txBody>
      </p:sp>
      <p:sp>
        <p:nvSpPr>
          <p:cNvPr id="46" name="TextBox 45">
            <a:extLst>
              <a:ext uri="{FF2B5EF4-FFF2-40B4-BE49-F238E27FC236}">
                <a16:creationId xmlns:a16="http://schemas.microsoft.com/office/drawing/2014/main" id="{5FBF6A86-B498-9441-AD60-5FB0D9361D40}"/>
              </a:ext>
            </a:extLst>
          </p:cNvPr>
          <p:cNvSpPr txBox="1"/>
          <p:nvPr/>
        </p:nvSpPr>
        <p:spPr>
          <a:xfrm>
            <a:off x="4030540" y="743940"/>
            <a:ext cx="2377129"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x+</a:t>
            </a:r>
            <a:r>
              <a:rPr lang="en-US"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x</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y+</a:t>
            </a:r>
            <a:r>
              <a:rPr lang="en-US"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z+</a:t>
            </a:r>
            <a:r>
              <a:rPr lang="en-US"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z</a:t>
            </a:r>
            <a:r>
              <a:rPr lang="en-US" dirty="0">
                <a:latin typeface="Arial" panose="020B0604020202020204" pitchFamily="34" charset="0"/>
                <a:cs typeface="Arial" panose="020B0604020202020204" pitchFamily="34" charset="0"/>
              </a:rPr>
              <a:t>)</a:t>
            </a:r>
          </a:p>
        </p:txBody>
      </p:sp>
      <p:sp>
        <p:nvSpPr>
          <p:cNvPr id="9" name="TextBox 8">
            <a:extLst>
              <a:ext uri="{FF2B5EF4-FFF2-40B4-BE49-F238E27FC236}">
                <a16:creationId xmlns:a16="http://schemas.microsoft.com/office/drawing/2014/main" id="{FDEC7880-8748-8645-9272-104572A2CC37}"/>
              </a:ext>
            </a:extLst>
          </p:cNvPr>
          <p:cNvSpPr txBox="1"/>
          <p:nvPr/>
        </p:nvSpPr>
        <p:spPr>
          <a:xfrm>
            <a:off x="5816906" y="1277064"/>
            <a:ext cx="5883007" cy="199573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convective flux of any quantity is the quantity per unit volume times the velocity at which it is being fluxed. </a:t>
            </a:r>
          </a:p>
          <a:p>
            <a:pPr algn="l">
              <a:lnSpc>
                <a:spcPct val="114000"/>
              </a:lnSpc>
            </a:pPr>
            <a:endParaRPr lang="en-US" dirty="0">
              <a:latin typeface="Arial" panose="020B0604020202020204" pitchFamily="34" charset="0"/>
              <a:cs typeface="Arial" panose="020B0604020202020204" pitchFamily="34" charset="0"/>
            </a:endParaRPr>
          </a:p>
          <a:p>
            <a:pPr algn="l">
              <a:lnSpc>
                <a:spcPct val="114000"/>
              </a:lnSpc>
            </a:pPr>
            <a:r>
              <a:rPr lang="en-US" dirty="0">
                <a:latin typeface="Arial" panose="020B0604020202020204" pitchFamily="34" charset="0"/>
                <a:cs typeface="Arial" panose="020B0604020202020204" pitchFamily="34" charset="0"/>
              </a:rPr>
              <a:t>EXAMPLE</a:t>
            </a:r>
          </a:p>
          <a:p>
            <a:pPr>
              <a:lnSpc>
                <a:spcPct val="114000"/>
              </a:lnSpc>
            </a:pPr>
            <a:r>
              <a:rPr lang="en-US" dirty="0">
                <a:latin typeface="Arial" panose="020B0604020202020204" pitchFamily="34" charset="0"/>
                <a:cs typeface="Arial" panose="020B0604020202020204" pitchFamily="34" charset="0"/>
              </a:rPr>
              <a:t>The convective flux of streamwise (x) momentum </a:t>
            </a:r>
            <a:r>
              <a:rPr lang="en-US" sz="2000" dirty="0" err="1">
                <a:latin typeface="Symbol" pitchFamily="2" charset="2"/>
                <a:cs typeface="Arial" panose="020B0604020202020204" pitchFamily="34" charset="0"/>
              </a:rPr>
              <a:t>r</a:t>
            </a:r>
            <a:r>
              <a:rPr lang="en-US" dirty="0" err="1">
                <a:latin typeface="Arial" panose="020B0604020202020204" pitchFamily="34" charset="0"/>
                <a:cs typeface="Arial" panose="020B0604020202020204" pitchFamily="34" charset="0"/>
              </a:rPr>
              <a:t>u</a:t>
            </a:r>
            <a:r>
              <a:rPr lang="en-US" dirty="0">
                <a:latin typeface="Arial" panose="020B0604020202020204" pitchFamily="34" charset="0"/>
                <a:cs typeface="Arial" panose="020B0604020202020204" pitchFamily="34" charset="0"/>
              </a:rPr>
              <a:t> in the upward (z) direction is </a:t>
            </a:r>
            <a:r>
              <a:rPr lang="en-US" dirty="0" err="1">
                <a:latin typeface="Arial" panose="020B0604020202020204" pitchFamily="34" charset="0"/>
                <a:cs typeface="Arial" panose="020B0604020202020204" pitchFamily="34" charset="0"/>
              </a:rPr>
              <a:t>w</a:t>
            </a:r>
            <a:r>
              <a:rPr lang="en-US" dirty="0" err="1">
                <a:latin typeface="Symbol" pitchFamily="2" charset="2"/>
                <a:cs typeface="Arial" panose="020B0604020202020204" pitchFamily="34" charset="0"/>
              </a:rPr>
              <a:t>r</a:t>
            </a:r>
            <a:r>
              <a:rPr lang="en-US" dirty="0" err="1">
                <a:latin typeface="Arial" panose="020B0604020202020204" pitchFamily="34" charset="0"/>
                <a:cs typeface="Arial" panose="020B0604020202020204" pitchFamily="34" charset="0"/>
              </a:rPr>
              <a:t>u</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819402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33</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Local streamwise momentum conservation</a:t>
            </a:r>
          </a:p>
        </p:txBody>
      </p:sp>
      <p:cxnSp>
        <p:nvCxnSpPr>
          <p:cNvPr id="15" name="Straight Connector 14">
            <a:extLst>
              <a:ext uri="{FF2B5EF4-FFF2-40B4-BE49-F238E27FC236}">
                <a16:creationId xmlns:a16="http://schemas.microsoft.com/office/drawing/2014/main" id="{0FBD2180-E84B-A14C-A983-35EC124DBF5F}"/>
              </a:ext>
            </a:extLst>
          </p:cNvPr>
          <p:cNvCxnSpPr>
            <a:cxnSpLocks/>
          </p:cNvCxnSpPr>
          <p:nvPr/>
        </p:nvCxnSpPr>
        <p:spPr>
          <a:xfrm flipV="1">
            <a:off x="1606478" y="1753848"/>
            <a:ext cx="0" cy="1685762"/>
          </a:xfrm>
          <a:prstGeom prst="line">
            <a:avLst/>
          </a:prstGeom>
          <a:ln w="19050">
            <a:solidFill>
              <a:schemeClr val="tx1"/>
            </a:solidFill>
            <a:headEnd type="none" w="med" len="med"/>
            <a:tailEnd type="arrow" w="lg" len="lg"/>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5B39B85-6E02-634D-9C9E-6DBDA9D0EF7F}"/>
              </a:ext>
            </a:extLst>
          </p:cNvPr>
          <p:cNvCxnSpPr/>
          <p:nvPr/>
        </p:nvCxnSpPr>
        <p:spPr>
          <a:xfrm flipH="1">
            <a:off x="482757" y="3439247"/>
            <a:ext cx="1123721" cy="980501"/>
          </a:xfrm>
          <a:prstGeom prst="line">
            <a:avLst/>
          </a:prstGeom>
          <a:ln w="19050">
            <a:solidFill>
              <a:schemeClr val="tx1"/>
            </a:solidFill>
            <a:headEnd type="none" w="med" len="med"/>
            <a:tailEnd type="arrow" w="lg" len="lg"/>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453A63D-AED2-B647-9786-6F27F5594FF6}"/>
              </a:ext>
            </a:extLst>
          </p:cNvPr>
          <p:cNvCxnSpPr/>
          <p:nvPr/>
        </p:nvCxnSpPr>
        <p:spPr>
          <a:xfrm>
            <a:off x="1606478" y="3439247"/>
            <a:ext cx="2897436" cy="0"/>
          </a:xfrm>
          <a:prstGeom prst="line">
            <a:avLst/>
          </a:prstGeom>
          <a:ln w="19050">
            <a:solidFill>
              <a:schemeClr val="tx1"/>
            </a:solidFill>
            <a:headEnd type="none" w="med" len="med"/>
            <a:tailEnd type="arrow" w="lg" len="lg"/>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CEB748A7-71B2-0B46-A660-3669CADFEE7A}"/>
              </a:ext>
            </a:extLst>
          </p:cNvPr>
          <p:cNvSpPr txBox="1"/>
          <p:nvPr/>
        </p:nvSpPr>
        <p:spPr>
          <a:xfrm>
            <a:off x="482756" y="4419748"/>
            <a:ext cx="386675"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x</a:t>
            </a:r>
          </a:p>
        </p:txBody>
      </p:sp>
      <p:sp>
        <p:nvSpPr>
          <p:cNvPr id="19" name="TextBox 18">
            <a:extLst>
              <a:ext uri="{FF2B5EF4-FFF2-40B4-BE49-F238E27FC236}">
                <a16:creationId xmlns:a16="http://schemas.microsoft.com/office/drawing/2014/main" id="{D3599749-02CD-0643-B23F-3CB6CBBCABD3}"/>
              </a:ext>
            </a:extLst>
          </p:cNvPr>
          <p:cNvSpPr txBox="1"/>
          <p:nvPr/>
        </p:nvSpPr>
        <p:spPr>
          <a:xfrm>
            <a:off x="4428963" y="3408802"/>
            <a:ext cx="386675"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y</a:t>
            </a:r>
          </a:p>
        </p:txBody>
      </p:sp>
      <p:sp>
        <p:nvSpPr>
          <p:cNvPr id="20" name="TextBox 19">
            <a:extLst>
              <a:ext uri="{FF2B5EF4-FFF2-40B4-BE49-F238E27FC236}">
                <a16:creationId xmlns:a16="http://schemas.microsoft.com/office/drawing/2014/main" id="{7A5CD9D0-AF5B-1F44-B189-F42BB4893BD8}"/>
              </a:ext>
            </a:extLst>
          </p:cNvPr>
          <p:cNvSpPr txBox="1"/>
          <p:nvPr/>
        </p:nvSpPr>
        <p:spPr>
          <a:xfrm>
            <a:off x="1219803" y="1694058"/>
            <a:ext cx="386675"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z</a:t>
            </a:r>
          </a:p>
        </p:txBody>
      </p:sp>
      <p:cxnSp>
        <p:nvCxnSpPr>
          <p:cNvPr id="21" name="Straight Connector 20">
            <a:extLst>
              <a:ext uri="{FF2B5EF4-FFF2-40B4-BE49-F238E27FC236}">
                <a16:creationId xmlns:a16="http://schemas.microsoft.com/office/drawing/2014/main" id="{3F8DB2CD-118A-CA44-ADB1-1E5F128AEEBF}"/>
              </a:ext>
            </a:extLst>
          </p:cNvPr>
          <p:cNvCxnSpPr>
            <a:cxnSpLocks/>
          </p:cNvCxnSpPr>
          <p:nvPr/>
        </p:nvCxnSpPr>
        <p:spPr>
          <a:xfrm flipH="1">
            <a:off x="2457846" y="1221053"/>
            <a:ext cx="765041" cy="686115"/>
          </a:xfrm>
          <a:prstGeom prst="line">
            <a:avLst/>
          </a:prstGeom>
          <a:ln w="19050">
            <a:solidFill>
              <a:schemeClr val="tx1"/>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96E6DA2-388D-C24D-8AD4-CADF9577B8C5}"/>
              </a:ext>
            </a:extLst>
          </p:cNvPr>
          <p:cNvCxnSpPr>
            <a:cxnSpLocks/>
          </p:cNvCxnSpPr>
          <p:nvPr/>
        </p:nvCxnSpPr>
        <p:spPr>
          <a:xfrm flipH="1">
            <a:off x="3702569" y="1221053"/>
            <a:ext cx="765041" cy="686115"/>
          </a:xfrm>
          <a:prstGeom prst="line">
            <a:avLst/>
          </a:prstGeom>
          <a:ln w="19050">
            <a:solidFill>
              <a:schemeClr val="tx1"/>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918475D-01F0-7441-8A92-325D29E0B267}"/>
              </a:ext>
            </a:extLst>
          </p:cNvPr>
          <p:cNvCxnSpPr/>
          <p:nvPr/>
        </p:nvCxnSpPr>
        <p:spPr>
          <a:xfrm>
            <a:off x="2457846" y="1907168"/>
            <a:ext cx="124472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3819762-85D5-E640-ACBD-AD6B63A9A853}"/>
              </a:ext>
            </a:extLst>
          </p:cNvPr>
          <p:cNvCxnSpPr/>
          <p:nvPr/>
        </p:nvCxnSpPr>
        <p:spPr>
          <a:xfrm>
            <a:off x="3222887" y="1208234"/>
            <a:ext cx="124472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1592572-CC50-9E4F-989B-6FFA5F110862}"/>
              </a:ext>
            </a:extLst>
          </p:cNvPr>
          <p:cNvCxnSpPr>
            <a:cxnSpLocks/>
          </p:cNvCxnSpPr>
          <p:nvPr/>
        </p:nvCxnSpPr>
        <p:spPr>
          <a:xfrm flipH="1">
            <a:off x="3222887" y="1208234"/>
            <a:ext cx="2497" cy="98033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1983C86-2DBE-BE47-863B-5542404E9F10}"/>
              </a:ext>
            </a:extLst>
          </p:cNvPr>
          <p:cNvCxnSpPr>
            <a:cxnSpLocks/>
          </p:cNvCxnSpPr>
          <p:nvPr/>
        </p:nvCxnSpPr>
        <p:spPr>
          <a:xfrm flipH="1">
            <a:off x="2479926" y="1904088"/>
            <a:ext cx="2497" cy="9803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B9650B4-D578-2047-85BB-4B6E1598F8A6}"/>
              </a:ext>
            </a:extLst>
          </p:cNvPr>
          <p:cNvCxnSpPr>
            <a:cxnSpLocks/>
          </p:cNvCxnSpPr>
          <p:nvPr/>
        </p:nvCxnSpPr>
        <p:spPr>
          <a:xfrm flipH="1">
            <a:off x="3676065" y="1913851"/>
            <a:ext cx="2497" cy="9803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E9B145B-9FB7-C647-B178-CE08FE4B4063}"/>
              </a:ext>
            </a:extLst>
          </p:cNvPr>
          <p:cNvCxnSpPr>
            <a:cxnSpLocks/>
          </p:cNvCxnSpPr>
          <p:nvPr/>
        </p:nvCxnSpPr>
        <p:spPr>
          <a:xfrm flipH="1">
            <a:off x="4479966" y="1208234"/>
            <a:ext cx="2497" cy="9803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E251B70-EF9F-E04D-8F6A-839BD5CAC407}"/>
              </a:ext>
            </a:extLst>
          </p:cNvPr>
          <p:cNvCxnSpPr/>
          <p:nvPr/>
        </p:nvCxnSpPr>
        <p:spPr>
          <a:xfrm>
            <a:off x="2446332" y="2894181"/>
            <a:ext cx="124472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DF98099-5683-B442-8055-C14B4D72C35C}"/>
              </a:ext>
            </a:extLst>
          </p:cNvPr>
          <p:cNvCxnSpPr/>
          <p:nvPr/>
        </p:nvCxnSpPr>
        <p:spPr>
          <a:xfrm>
            <a:off x="3222886" y="2188564"/>
            <a:ext cx="1244723"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D1BE883-FA5A-F242-9043-5F7172149BB9}"/>
              </a:ext>
            </a:extLst>
          </p:cNvPr>
          <p:cNvCxnSpPr>
            <a:cxnSpLocks/>
          </p:cNvCxnSpPr>
          <p:nvPr/>
        </p:nvCxnSpPr>
        <p:spPr>
          <a:xfrm flipH="1">
            <a:off x="3690565" y="2198303"/>
            <a:ext cx="765041" cy="686115"/>
          </a:xfrm>
          <a:prstGeom prst="line">
            <a:avLst/>
          </a:prstGeom>
          <a:ln w="19050">
            <a:solidFill>
              <a:schemeClr val="tx1"/>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79687AD-5AE6-5148-84FC-7732AED2B79C}"/>
              </a:ext>
            </a:extLst>
          </p:cNvPr>
          <p:cNvCxnSpPr>
            <a:cxnSpLocks/>
          </p:cNvCxnSpPr>
          <p:nvPr/>
        </p:nvCxnSpPr>
        <p:spPr>
          <a:xfrm flipH="1">
            <a:off x="2477424" y="2185484"/>
            <a:ext cx="765041" cy="686115"/>
          </a:xfrm>
          <a:prstGeom prst="line">
            <a:avLst/>
          </a:prstGeom>
          <a:ln w="19050">
            <a:solidFill>
              <a:schemeClr val="tx1"/>
            </a:solidFill>
            <a:prstDash val="dash"/>
            <a:headEnd type="none" w="med" len="med"/>
            <a:tailEnd type="none" w="lg" len="lg"/>
          </a:ln>
        </p:spPr>
        <p:style>
          <a:lnRef idx="1">
            <a:schemeClr val="accent1"/>
          </a:lnRef>
          <a:fillRef idx="0">
            <a:schemeClr val="accent1"/>
          </a:fillRef>
          <a:effectRef idx="0">
            <a:schemeClr val="accent1"/>
          </a:effectRef>
          <a:fontRef idx="minor">
            <a:schemeClr val="tx1"/>
          </a:fontRef>
        </p:style>
      </p:cxnSp>
      <p:sp>
        <p:nvSpPr>
          <p:cNvPr id="35" name="Freeform 34">
            <a:extLst>
              <a:ext uri="{FF2B5EF4-FFF2-40B4-BE49-F238E27FC236}">
                <a16:creationId xmlns:a16="http://schemas.microsoft.com/office/drawing/2014/main" id="{E6A74D7B-E0D2-294F-BA02-B714E9E45586}"/>
              </a:ext>
            </a:extLst>
          </p:cNvPr>
          <p:cNvSpPr/>
          <p:nvPr/>
        </p:nvSpPr>
        <p:spPr>
          <a:xfrm>
            <a:off x="2503357" y="1199213"/>
            <a:ext cx="1963712" cy="704538"/>
          </a:xfrm>
          <a:custGeom>
            <a:avLst/>
            <a:gdLst>
              <a:gd name="connsiteX0" fmla="*/ 704538 w 1963712"/>
              <a:gd name="connsiteY0" fmla="*/ 0 h 704538"/>
              <a:gd name="connsiteX1" fmla="*/ 0 w 1963712"/>
              <a:gd name="connsiteY1" fmla="*/ 674557 h 704538"/>
              <a:gd name="connsiteX2" fmla="*/ 1184223 w 1963712"/>
              <a:gd name="connsiteY2" fmla="*/ 704538 h 704538"/>
              <a:gd name="connsiteX3" fmla="*/ 1963712 w 1963712"/>
              <a:gd name="connsiteY3" fmla="*/ 44971 h 704538"/>
              <a:gd name="connsiteX4" fmla="*/ 704538 w 1963712"/>
              <a:gd name="connsiteY4" fmla="*/ 0 h 7045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3712" h="704538">
                <a:moveTo>
                  <a:pt x="704538" y="0"/>
                </a:moveTo>
                <a:lnTo>
                  <a:pt x="0" y="674557"/>
                </a:lnTo>
                <a:lnTo>
                  <a:pt x="1184223" y="704538"/>
                </a:lnTo>
                <a:lnTo>
                  <a:pt x="1963712" y="44971"/>
                </a:lnTo>
                <a:lnTo>
                  <a:pt x="704538" y="0"/>
                </a:lnTo>
                <a:close/>
              </a:path>
            </a:pathLst>
          </a:custGeom>
          <a:solidFill>
            <a:schemeClr val="accent4">
              <a:lumMod val="75000"/>
              <a:alpha val="21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35">
            <a:extLst>
              <a:ext uri="{FF2B5EF4-FFF2-40B4-BE49-F238E27FC236}">
                <a16:creationId xmlns:a16="http://schemas.microsoft.com/office/drawing/2014/main" id="{9FFBF7C4-9DDE-2645-81D0-F5A8028C577A}"/>
              </a:ext>
            </a:extLst>
          </p:cNvPr>
          <p:cNvSpPr/>
          <p:nvPr/>
        </p:nvSpPr>
        <p:spPr>
          <a:xfrm>
            <a:off x="2506884" y="2188733"/>
            <a:ext cx="1963712" cy="704538"/>
          </a:xfrm>
          <a:custGeom>
            <a:avLst/>
            <a:gdLst>
              <a:gd name="connsiteX0" fmla="*/ 704538 w 1963712"/>
              <a:gd name="connsiteY0" fmla="*/ 0 h 704538"/>
              <a:gd name="connsiteX1" fmla="*/ 0 w 1963712"/>
              <a:gd name="connsiteY1" fmla="*/ 674557 h 704538"/>
              <a:gd name="connsiteX2" fmla="*/ 1184223 w 1963712"/>
              <a:gd name="connsiteY2" fmla="*/ 704538 h 704538"/>
              <a:gd name="connsiteX3" fmla="*/ 1963712 w 1963712"/>
              <a:gd name="connsiteY3" fmla="*/ 44971 h 704538"/>
              <a:gd name="connsiteX4" fmla="*/ 704538 w 1963712"/>
              <a:gd name="connsiteY4" fmla="*/ 0 h 7045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3712" h="704538">
                <a:moveTo>
                  <a:pt x="704538" y="0"/>
                </a:moveTo>
                <a:lnTo>
                  <a:pt x="0" y="674557"/>
                </a:lnTo>
                <a:lnTo>
                  <a:pt x="1184223" y="704538"/>
                </a:lnTo>
                <a:lnTo>
                  <a:pt x="1963712" y="44971"/>
                </a:lnTo>
                <a:lnTo>
                  <a:pt x="704538" y="0"/>
                </a:lnTo>
                <a:close/>
              </a:path>
            </a:pathLst>
          </a:custGeom>
          <a:solidFill>
            <a:schemeClr val="accent4">
              <a:lumMod val="75000"/>
              <a:alpha val="43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8BD5EE7E-F2A6-8C44-BE45-230498A61EEC}"/>
              </a:ext>
            </a:extLst>
          </p:cNvPr>
          <p:cNvSpPr>
            <a:spLocks noChangeAspect="1"/>
          </p:cNvSpPr>
          <p:nvPr/>
        </p:nvSpPr>
        <p:spPr>
          <a:xfrm>
            <a:off x="2424561" y="2797716"/>
            <a:ext cx="126908" cy="126000"/>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DF9F112F-92C0-FB45-8307-74A9FE76CA19}"/>
              </a:ext>
            </a:extLst>
          </p:cNvPr>
          <p:cNvSpPr>
            <a:spLocks noChangeAspect="1"/>
          </p:cNvSpPr>
          <p:nvPr/>
        </p:nvSpPr>
        <p:spPr>
          <a:xfrm>
            <a:off x="4376319" y="1151064"/>
            <a:ext cx="126908" cy="126000"/>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D52C2A98-FAA1-A940-A457-D14D02E7D571}"/>
              </a:ext>
            </a:extLst>
          </p:cNvPr>
          <p:cNvSpPr txBox="1"/>
          <p:nvPr/>
        </p:nvSpPr>
        <p:spPr>
          <a:xfrm>
            <a:off x="1569348" y="2661032"/>
            <a:ext cx="982119"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(x, y, z)</a:t>
            </a:r>
          </a:p>
        </p:txBody>
      </p:sp>
      <p:sp>
        <p:nvSpPr>
          <p:cNvPr id="46" name="TextBox 45">
            <a:extLst>
              <a:ext uri="{FF2B5EF4-FFF2-40B4-BE49-F238E27FC236}">
                <a16:creationId xmlns:a16="http://schemas.microsoft.com/office/drawing/2014/main" id="{5FBF6A86-B498-9441-AD60-5FB0D9361D40}"/>
              </a:ext>
            </a:extLst>
          </p:cNvPr>
          <p:cNvSpPr txBox="1"/>
          <p:nvPr/>
        </p:nvSpPr>
        <p:spPr>
          <a:xfrm>
            <a:off x="4030540" y="743940"/>
            <a:ext cx="2377129"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x+</a:t>
            </a:r>
            <a:r>
              <a:rPr lang="en-US"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x</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y+</a:t>
            </a:r>
            <a:r>
              <a:rPr lang="en-US"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z+</a:t>
            </a:r>
            <a:r>
              <a:rPr lang="en-US"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z</a:t>
            </a:r>
            <a:r>
              <a:rPr lang="en-US" dirty="0">
                <a:latin typeface="Arial" panose="020B0604020202020204" pitchFamily="34" charset="0"/>
                <a:cs typeface="Arial" panose="020B0604020202020204" pitchFamily="34" charset="0"/>
              </a:rPr>
              <a:t>)</a:t>
            </a:r>
          </a:p>
        </p:txBody>
      </p:sp>
      <p:sp>
        <p:nvSpPr>
          <p:cNvPr id="9" name="TextBox 8">
            <a:extLst>
              <a:ext uri="{FF2B5EF4-FFF2-40B4-BE49-F238E27FC236}">
                <a16:creationId xmlns:a16="http://schemas.microsoft.com/office/drawing/2014/main" id="{FDEC7880-8748-8645-9272-104572A2CC37}"/>
              </a:ext>
            </a:extLst>
          </p:cNvPr>
          <p:cNvSpPr txBox="1"/>
          <p:nvPr/>
        </p:nvSpPr>
        <p:spPr>
          <a:xfrm>
            <a:off x="5816906" y="1277064"/>
            <a:ext cx="5883007"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viscous shear stress acting in the streamwise (x) direction on a face normal to the upward direction (z) is </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D17F1A7-670A-7640-9840-F851F485D0AC}"/>
                  </a:ext>
                </a:extLst>
              </p:cNvPr>
              <p:cNvSpPr txBox="1"/>
              <p:nvPr/>
            </p:nvSpPr>
            <p:spPr>
              <a:xfrm>
                <a:off x="5916057" y="2185484"/>
                <a:ext cx="2215543" cy="607154"/>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𝑧𝑥</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𝜌𝜈</m:t>
                      </m:r>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𝑢</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𝑤</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e>
                      </m:d>
                    </m:oMath>
                  </m:oMathPara>
                </a14:m>
                <a:endParaRPr lang="en-US" dirty="0">
                  <a:latin typeface="Arial" panose="020B0604020202020204" pitchFamily="34" charset="0"/>
                  <a:cs typeface="Arial" panose="020B0604020202020204" pitchFamily="34" charset="0"/>
                </a:endParaRPr>
              </a:p>
            </p:txBody>
          </p:sp>
        </mc:Choice>
        <mc:Fallback xmlns="">
          <p:sp>
            <p:nvSpPr>
              <p:cNvPr id="2" name="TextBox 1">
                <a:extLst>
                  <a:ext uri="{FF2B5EF4-FFF2-40B4-BE49-F238E27FC236}">
                    <a16:creationId xmlns:a16="http://schemas.microsoft.com/office/drawing/2014/main" id="{2D17F1A7-670A-7640-9840-F851F485D0AC}"/>
                  </a:ext>
                </a:extLst>
              </p:cNvPr>
              <p:cNvSpPr txBox="1">
                <a:spLocks noRot="1" noChangeAspect="1" noMove="1" noResize="1" noEditPoints="1" noAdjustHandles="1" noChangeArrowheads="1" noChangeShapeType="1" noTextEdit="1"/>
              </p:cNvSpPr>
              <p:nvPr/>
            </p:nvSpPr>
            <p:spPr>
              <a:xfrm>
                <a:off x="5916057" y="2185484"/>
                <a:ext cx="2215543" cy="607154"/>
              </a:xfrm>
              <a:prstGeom prst="rect">
                <a:avLst/>
              </a:prstGeom>
              <a:blipFill>
                <a:blip r:embed="rId2"/>
                <a:stretch>
                  <a:fillRect b="-14583"/>
                </a:stretch>
              </a:blipFill>
            </p:spPr>
            <p:txBody>
              <a:bodyPr/>
              <a:lstStyle/>
              <a:p>
                <a:r>
                  <a:rPr lang="en-US">
                    <a:noFill/>
                  </a:rPr>
                  <a:t> </a:t>
                </a:r>
              </a:p>
            </p:txBody>
          </p:sp>
        </mc:Fallback>
      </mc:AlternateContent>
      <p:cxnSp>
        <p:nvCxnSpPr>
          <p:cNvPr id="47" name="Straight Arrow Connector 46">
            <a:extLst>
              <a:ext uri="{FF2B5EF4-FFF2-40B4-BE49-F238E27FC236}">
                <a16:creationId xmlns:a16="http://schemas.microsoft.com/office/drawing/2014/main" id="{E44B2102-6332-E04E-8E3B-C16E11EF7775}"/>
              </a:ext>
            </a:extLst>
          </p:cNvPr>
          <p:cNvCxnSpPr>
            <a:cxnSpLocks/>
          </p:cNvCxnSpPr>
          <p:nvPr/>
        </p:nvCxnSpPr>
        <p:spPr>
          <a:xfrm flipH="1">
            <a:off x="3804973" y="1979364"/>
            <a:ext cx="416043" cy="377997"/>
          </a:xfrm>
          <a:prstGeom prst="straightConnector1">
            <a:avLst/>
          </a:prstGeom>
          <a:ln w="19050">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6FF84B48-F7B8-B245-A175-81C2B6E6C079}"/>
              </a:ext>
            </a:extLst>
          </p:cNvPr>
          <p:cNvCxnSpPr>
            <a:cxnSpLocks/>
          </p:cNvCxnSpPr>
          <p:nvPr/>
        </p:nvCxnSpPr>
        <p:spPr>
          <a:xfrm flipH="1">
            <a:off x="2575155" y="2034088"/>
            <a:ext cx="416043" cy="377997"/>
          </a:xfrm>
          <a:prstGeom prst="straightConnector1">
            <a:avLst/>
          </a:prstGeom>
          <a:ln w="19050">
            <a:solidFill>
              <a:srgbClr val="C0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2C5E06EC-BC77-5D40-BE9B-9F9595EF8BA9}"/>
              </a:ext>
            </a:extLst>
          </p:cNvPr>
          <p:cNvCxnSpPr>
            <a:cxnSpLocks/>
          </p:cNvCxnSpPr>
          <p:nvPr/>
        </p:nvCxnSpPr>
        <p:spPr>
          <a:xfrm flipH="1">
            <a:off x="3177794" y="2305984"/>
            <a:ext cx="416043" cy="377997"/>
          </a:xfrm>
          <a:prstGeom prst="straightConnector1">
            <a:avLst/>
          </a:prstGeom>
          <a:ln w="19050">
            <a:solidFill>
              <a:srgbClr val="C0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3218B015-8826-254A-9719-F82B2D05634F}"/>
              </a:ext>
            </a:extLst>
          </p:cNvPr>
          <p:cNvCxnSpPr>
            <a:cxnSpLocks/>
          </p:cNvCxnSpPr>
          <p:nvPr/>
        </p:nvCxnSpPr>
        <p:spPr>
          <a:xfrm flipH="1">
            <a:off x="3284029" y="1337160"/>
            <a:ext cx="416043" cy="377997"/>
          </a:xfrm>
          <a:prstGeom prst="straightConnector1">
            <a:avLst/>
          </a:prstGeom>
          <a:ln w="19050">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5BE8C33-0990-2648-9AA8-E5AD12CF4D33}"/>
                  </a:ext>
                </a:extLst>
              </p:cNvPr>
              <p:cNvSpPr txBox="1"/>
              <p:nvPr/>
            </p:nvSpPr>
            <p:spPr>
              <a:xfrm>
                <a:off x="3211848" y="1259713"/>
                <a:ext cx="373115"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𝑧𝑥</m:t>
                          </m:r>
                        </m:sub>
                      </m:sSub>
                    </m:oMath>
                  </m:oMathPara>
                </a14:m>
                <a:endParaRPr lang="en-US" dirty="0">
                  <a:latin typeface="Arial" panose="020B0604020202020204" pitchFamily="34" charset="0"/>
                  <a:cs typeface="Arial" panose="020B0604020202020204" pitchFamily="34" charset="0"/>
                </a:endParaRPr>
              </a:p>
            </p:txBody>
          </p:sp>
        </mc:Choice>
        <mc:Fallback xmlns="">
          <p:sp>
            <p:nvSpPr>
              <p:cNvPr id="3" name="TextBox 2">
                <a:extLst>
                  <a:ext uri="{FF2B5EF4-FFF2-40B4-BE49-F238E27FC236}">
                    <a16:creationId xmlns:a16="http://schemas.microsoft.com/office/drawing/2014/main" id="{B5BE8C33-0990-2648-9AA8-E5AD12CF4D33}"/>
                  </a:ext>
                </a:extLst>
              </p:cNvPr>
              <p:cNvSpPr txBox="1">
                <a:spLocks noRot="1" noChangeAspect="1" noMove="1" noResize="1" noEditPoints="1" noAdjustHandles="1" noChangeArrowheads="1" noChangeShapeType="1" noTextEdit="1"/>
              </p:cNvSpPr>
              <p:nvPr/>
            </p:nvSpPr>
            <p:spPr>
              <a:xfrm>
                <a:off x="3211848" y="1259713"/>
                <a:ext cx="373115" cy="315792"/>
              </a:xfrm>
              <a:prstGeom prst="rect">
                <a:avLst/>
              </a:prstGeom>
              <a:blipFill>
                <a:blip r:embed="rId3"/>
                <a:stretch>
                  <a:fillRect l="-3226" b="-4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C8487A04-4E6E-1344-98A2-D3A420A5704A}"/>
                  </a:ext>
                </a:extLst>
              </p:cNvPr>
              <p:cNvSpPr txBox="1"/>
              <p:nvPr/>
            </p:nvSpPr>
            <p:spPr>
              <a:xfrm>
                <a:off x="3286902" y="2455116"/>
                <a:ext cx="373115"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𝑧𝑥</m:t>
                          </m:r>
                        </m:sub>
                      </m:sSub>
                    </m:oMath>
                  </m:oMathPara>
                </a14:m>
                <a:endParaRPr lang="en-US" dirty="0">
                  <a:latin typeface="Arial" panose="020B0604020202020204" pitchFamily="34" charset="0"/>
                  <a:cs typeface="Arial" panose="020B0604020202020204" pitchFamily="34" charset="0"/>
                </a:endParaRPr>
              </a:p>
            </p:txBody>
          </p:sp>
        </mc:Choice>
        <mc:Fallback xmlns="">
          <p:sp>
            <p:nvSpPr>
              <p:cNvPr id="51" name="TextBox 50">
                <a:extLst>
                  <a:ext uri="{FF2B5EF4-FFF2-40B4-BE49-F238E27FC236}">
                    <a16:creationId xmlns:a16="http://schemas.microsoft.com/office/drawing/2014/main" id="{C8487A04-4E6E-1344-98A2-D3A420A5704A}"/>
                  </a:ext>
                </a:extLst>
              </p:cNvPr>
              <p:cNvSpPr txBox="1">
                <a:spLocks noRot="1" noChangeAspect="1" noMove="1" noResize="1" noEditPoints="1" noAdjustHandles="1" noChangeArrowheads="1" noChangeShapeType="1" noTextEdit="1"/>
              </p:cNvSpPr>
              <p:nvPr/>
            </p:nvSpPr>
            <p:spPr>
              <a:xfrm>
                <a:off x="3286902" y="2455116"/>
                <a:ext cx="373115" cy="315792"/>
              </a:xfrm>
              <a:prstGeom prst="rect">
                <a:avLst/>
              </a:prstGeom>
              <a:blipFill>
                <a:blip r:embed="rId4"/>
                <a:stretch>
                  <a:fillRect l="-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5F7D3426-9740-3C4A-A3EA-3CD75A952D98}"/>
                  </a:ext>
                </a:extLst>
              </p:cNvPr>
              <p:cNvSpPr txBox="1"/>
              <p:nvPr/>
            </p:nvSpPr>
            <p:spPr>
              <a:xfrm>
                <a:off x="3786060" y="1713670"/>
                <a:ext cx="390748" cy="340799"/>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𝑦𝑥</m:t>
                          </m:r>
                        </m:sub>
                      </m:sSub>
                    </m:oMath>
                  </m:oMathPara>
                </a14:m>
                <a:endParaRPr lang="en-US" dirty="0">
                  <a:latin typeface="Arial" panose="020B0604020202020204" pitchFamily="34" charset="0"/>
                  <a:cs typeface="Arial" panose="020B0604020202020204" pitchFamily="34" charset="0"/>
                </a:endParaRPr>
              </a:p>
            </p:txBody>
          </p:sp>
        </mc:Choice>
        <mc:Fallback xmlns="">
          <p:sp>
            <p:nvSpPr>
              <p:cNvPr id="52" name="TextBox 51">
                <a:extLst>
                  <a:ext uri="{FF2B5EF4-FFF2-40B4-BE49-F238E27FC236}">
                    <a16:creationId xmlns:a16="http://schemas.microsoft.com/office/drawing/2014/main" id="{5F7D3426-9740-3C4A-A3EA-3CD75A952D98}"/>
                  </a:ext>
                </a:extLst>
              </p:cNvPr>
              <p:cNvSpPr txBox="1">
                <a:spLocks noRot="1" noChangeAspect="1" noMove="1" noResize="1" noEditPoints="1" noAdjustHandles="1" noChangeArrowheads="1" noChangeShapeType="1" noTextEdit="1"/>
              </p:cNvSpPr>
              <p:nvPr/>
            </p:nvSpPr>
            <p:spPr>
              <a:xfrm>
                <a:off x="3786060" y="1713670"/>
                <a:ext cx="390748" cy="340799"/>
              </a:xfrm>
              <a:prstGeom prst="rect">
                <a:avLst/>
              </a:prstGeom>
              <a:blipFill>
                <a:blip r:embed="rId5"/>
                <a:stretch>
                  <a:fillRect l="-6452" r="-3226" b="-17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4DDF252-25F1-EA4E-9B7C-003BAC61E4AA}"/>
                  </a:ext>
                </a:extLst>
              </p:cNvPr>
              <p:cNvSpPr txBox="1"/>
              <p:nvPr/>
            </p:nvSpPr>
            <p:spPr>
              <a:xfrm>
                <a:off x="2877113" y="1811048"/>
                <a:ext cx="390748" cy="340799"/>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𝑦𝑥</m:t>
                          </m:r>
                        </m:sub>
                      </m:sSub>
                    </m:oMath>
                  </m:oMathPara>
                </a14:m>
                <a:endParaRPr lang="en-US" dirty="0">
                  <a:latin typeface="Arial" panose="020B0604020202020204" pitchFamily="34" charset="0"/>
                  <a:cs typeface="Arial" panose="020B0604020202020204" pitchFamily="34" charset="0"/>
                </a:endParaRPr>
              </a:p>
            </p:txBody>
          </p:sp>
        </mc:Choice>
        <mc:Fallback xmlns="">
          <p:sp>
            <p:nvSpPr>
              <p:cNvPr id="53" name="TextBox 52">
                <a:extLst>
                  <a:ext uri="{FF2B5EF4-FFF2-40B4-BE49-F238E27FC236}">
                    <a16:creationId xmlns:a16="http://schemas.microsoft.com/office/drawing/2014/main" id="{C4DDF252-25F1-EA4E-9B7C-003BAC61E4AA}"/>
                  </a:ext>
                </a:extLst>
              </p:cNvPr>
              <p:cNvSpPr txBox="1">
                <a:spLocks noRot="1" noChangeAspect="1" noMove="1" noResize="1" noEditPoints="1" noAdjustHandles="1" noChangeArrowheads="1" noChangeShapeType="1" noTextEdit="1"/>
              </p:cNvSpPr>
              <p:nvPr/>
            </p:nvSpPr>
            <p:spPr>
              <a:xfrm>
                <a:off x="2877113" y="1811048"/>
                <a:ext cx="390748" cy="340799"/>
              </a:xfrm>
              <a:prstGeom prst="rect">
                <a:avLst/>
              </a:prstGeom>
              <a:blipFill>
                <a:blip r:embed="rId6"/>
                <a:stretch>
                  <a:fillRect l="-3125" r="-3125" b="-17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FC0833BE-3A2E-B44E-BA75-64DB33549C5A}"/>
                  </a:ext>
                </a:extLst>
              </p:cNvPr>
              <p:cNvSpPr txBox="1"/>
              <p:nvPr/>
            </p:nvSpPr>
            <p:spPr>
              <a:xfrm>
                <a:off x="2799223" y="2530194"/>
                <a:ext cx="296428"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𝜎</m:t>
                          </m:r>
                        </m:e>
                        <m:sub>
                          <m:r>
                            <a:rPr lang="en-US" b="0" i="1" smtClean="0">
                              <a:latin typeface="Cambria Math" panose="02040503050406030204" pitchFamily="18" charset="0"/>
                              <a:cs typeface="Arial" panose="020B0604020202020204" pitchFamily="34" charset="0"/>
                            </a:rPr>
                            <m:t>𝑥</m:t>
                          </m:r>
                        </m:sub>
                      </m:sSub>
                    </m:oMath>
                  </m:oMathPara>
                </a14:m>
                <a:endParaRPr lang="en-US" dirty="0">
                  <a:latin typeface="Arial" panose="020B0604020202020204" pitchFamily="34" charset="0"/>
                  <a:cs typeface="Arial" panose="020B0604020202020204" pitchFamily="34" charset="0"/>
                </a:endParaRPr>
              </a:p>
            </p:txBody>
          </p:sp>
        </mc:Choice>
        <mc:Fallback xmlns="">
          <p:sp>
            <p:nvSpPr>
              <p:cNvPr id="55" name="TextBox 54">
                <a:extLst>
                  <a:ext uri="{FF2B5EF4-FFF2-40B4-BE49-F238E27FC236}">
                    <a16:creationId xmlns:a16="http://schemas.microsoft.com/office/drawing/2014/main" id="{FC0833BE-3A2E-B44E-BA75-64DB33549C5A}"/>
                  </a:ext>
                </a:extLst>
              </p:cNvPr>
              <p:cNvSpPr txBox="1">
                <a:spLocks noRot="1" noChangeAspect="1" noMove="1" noResize="1" noEditPoints="1" noAdjustHandles="1" noChangeArrowheads="1" noChangeShapeType="1" noTextEdit="1"/>
              </p:cNvSpPr>
              <p:nvPr/>
            </p:nvSpPr>
            <p:spPr>
              <a:xfrm>
                <a:off x="2799223" y="2530194"/>
                <a:ext cx="296428" cy="315792"/>
              </a:xfrm>
              <a:prstGeom prst="rect">
                <a:avLst/>
              </a:prstGeom>
              <a:blipFill>
                <a:blip r:embed="rId7"/>
                <a:stretch>
                  <a:fillRect l="-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AEA8E787-BE60-EC45-BB88-2528E73D52EB}"/>
                  </a:ext>
                </a:extLst>
              </p:cNvPr>
              <p:cNvSpPr txBox="1"/>
              <p:nvPr/>
            </p:nvSpPr>
            <p:spPr>
              <a:xfrm>
                <a:off x="3890941" y="1106822"/>
                <a:ext cx="296428"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𝜎</m:t>
                          </m:r>
                        </m:e>
                        <m:sub>
                          <m:r>
                            <a:rPr lang="en-US" b="0" i="1" smtClean="0">
                              <a:latin typeface="Cambria Math" panose="02040503050406030204" pitchFamily="18" charset="0"/>
                              <a:cs typeface="Arial" panose="020B0604020202020204" pitchFamily="34" charset="0"/>
                            </a:rPr>
                            <m:t>𝑥</m:t>
                          </m:r>
                        </m:sub>
                      </m:sSub>
                    </m:oMath>
                  </m:oMathPara>
                </a14:m>
                <a:endParaRPr lang="en-US" dirty="0">
                  <a:latin typeface="Arial" panose="020B0604020202020204" pitchFamily="34" charset="0"/>
                  <a:cs typeface="Arial" panose="020B0604020202020204" pitchFamily="34" charset="0"/>
                </a:endParaRPr>
              </a:p>
            </p:txBody>
          </p:sp>
        </mc:Choice>
        <mc:Fallback xmlns="">
          <p:sp>
            <p:nvSpPr>
              <p:cNvPr id="56" name="TextBox 55">
                <a:extLst>
                  <a:ext uri="{FF2B5EF4-FFF2-40B4-BE49-F238E27FC236}">
                    <a16:creationId xmlns:a16="http://schemas.microsoft.com/office/drawing/2014/main" id="{AEA8E787-BE60-EC45-BB88-2528E73D52EB}"/>
                  </a:ext>
                </a:extLst>
              </p:cNvPr>
              <p:cNvSpPr txBox="1">
                <a:spLocks noRot="1" noChangeAspect="1" noMove="1" noResize="1" noEditPoints="1" noAdjustHandles="1" noChangeArrowheads="1" noChangeShapeType="1" noTextEdit="1"/>
              </p:cNvSpPr>
              <p:nvPr/>
            </p:nvSpPr>
            <p:spPr>
              <a:xfrm>
                <a:off x="3890941" y="1106822"/>
                <a:ext cx="296428" cy="315792"/>
              </a:xfrm>
              <a:prstGeom prst="rect">
                <a:avLst/>
              </a:prstGeom>
              <a:blipFill>
                <a:blip r:embed="rId8"/>
                <a:stretch>
                  <a:fillRect l="-8333"/>
                </a:stretch>
              </a:blipFill>
            </p:spPr>
            <p:txBody>
              <a:bodyPr/>
              <a:lstStyle/>
              <a:p>
                <a:r>
                  <a:rPr lang="en-US">
                    <a:noFill/>
                  </a:rPr>
                  <a:t> </a:t>
                </a:r>
              </a:p>
            </p:txBody>
          </p:sp>
        </mc:Fallback>
      </mc:AlternateContent>
      <p:sp>
        <p:nvSpPr>
          <p:cNvPr id="57" name="TextBox 56">
            <a:extLst>
              <a:ext uri="{FF2B5EF4-FFF2-40B4-BE49-F238E27FC236}">
                <a16:creationId xmlns:a16="http://schemas.microsoft.com/office/drawing/2014/main" id="{96363815-7188-314E-9715-1A179008E3DA}"/>
              </a:ext>
            </a:extLst>
          </p:cNvPr>
          <p:cNvSpPr txBox="1"/>
          <p:nvPr/>
        </p:nvSpPr>
        <p:spPr>
          <a:xfrm>
            <a:off x="5690411" y="3113577"/>
            <a:ext cx="6070123"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viscous shear stress acting in the streamwise (x) direction on a face normal to the transverse direction (y) is </a:t>
            </a:r>
          </a:p>
        </p:txBody>
      </p: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2103EABC-DDDB-7544-B8F4-3E23E9585E28}"/>
                  </a:ext>
                </a:extLst>
              </p:cNvPr>
              <p:cNvSpPr txBox="1"/>
              <p:nvPr/>
            </p:nvSpPr>
            <p:spPr>
              <a:xfrm>
                <a:off x="5996597" y="3761698"/>
                <a:ext cx="2188291" cy="654346"/>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𝑦𝑥</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𝜌𝜈</m:t>
                      </m:r>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𝑢</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𝑣</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e>
                      </m:d>
                    </m:oMath>
                  </m:oMathPara>
                </a14:m>
                <a:endParaRPr lang="en-US" dirty="0">
                  <a:latin typeface="Arial" panose="020B0604020202020204" pitchFamily="34" charset="0"/>
                  <a:cs typeface="Arial" panose="020B0604020202020204" pitchFamily="34" charset="0"/>
                </a:endParaRPr>
              </a:p>
            </p:txBody>
          </p:sp>
        </mc:Choice>
        <mc:Fallback xmlns="">
          <p:sp>
            <p:nvSpPr>
              <p:cNvPr id="58" name="TextBox 57">
                <a:extLst>
                  <a:ext uri="{FF2B5EF4-FFF2-40B4-BE49-F238E27FC236}">
                    <a16:creationId xmlns:a16="http://schemas.microsoft.com/office/drawing/2014/main" id="{2103EABC-DDDB-7544-B8F4-3E23E9585E28}"/>
                  </a:ext>
                </a:extLst>
              </p:cNvPr>
              <p:cNvSpPr txBox="1">
                <a:spLocks noRot="1" noChangeAspect="1" noMove="1" noResize="1" noEditPoints="1" noAdjustHandles="1" noChangeArrowheads="1" noChangeShapeType="1" noTextEdit="1"/>
              </p:cNvSpPr>
              <p:nvPr/>
            </p:nvSpPr>
            <p:spPr>
              <a:xfrm>
                <a:off x="5996597" y="3761698"/>
                <a:ext cx="2188291" cy="654346"/>
              </a:xfrm>
              <a:prstGeom prst="rect">
                <a:avLst/>
              </a:prstGeom>
              <a:blipFill>
                <a:blip r:embed="rId9"/>
                <a:stretch>
                  <a:fillRect l="-578" b="-17308"/>
                </a:stretch>
              </a:blipFill>
            </p:spPr>
            <p:txBody>
              <a:bodyPr/>
              <a:lstStyle/>
              <a:p>
                <a:r>
                  <a:rPr lang="en-US">
                    <a:noFill/>
                  </a:rPr>
                  <a:t> </a:t>
                </a:r>
              </a:p>
            </p:txBody>
          </p:sp>
        </mc:Fallback>
      </mc:AlternateContent>
      <p:sp>
        <p:nvSpPr>
          <p:cNvPr id="59" name="TextBox 58">
            <a:extLst>
              <a:ext uri="{FF2B5EF4-FFF2-40B4-BE49-F238E27FC236}">
                <a16:creationId xmlns:a16="http://schemas.microsoft.com/office/drawing/2014/main" id="{99996140-5A75-AC4B-8697-E987DA2B69A2}"/>
              </a:ext>
            </a:extLst>
          </p:cNvPr>
          <p:cNvSpPr txBox="1"/>
          <p:nvPr/>
        </p:nvSpPr>
        <p:spPr>
          <a:xfrm>
            <a:off x="810185" y="4865917"/>
            <a:ext cx="11009376"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normal stress acting in the streamwise direction for an incompressible fluid is </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671DA27-AE18-5043-A93C-FF5425E77967}"/>
                  </a:ext>
                </a:extLst>
              </p:cNvPr>
              <p:cNvSpPr txBox="1"/>
              <p:nvPr/>
            </p:nvSpPr>
            <p:spPr>
              <a:xfrm>
                <a:off x="810185" y="5400249"/>
                <a:ext cx="1692002" cy="598369"/>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𝜎</m:t>
                          </m:r>
                        </m:e>
                        <m:sub>
                          <m:r>
                            <a:rPr lang="en-US" b="0" i="1" smtClean="0">
                              <a:latin typeface="Cambria Math" panose="02040503050406030204" pitchFamily="18" charset="0"/>
                              <a:cs typeface="Arial" panose="020B0604020202020204" pitchFamily="34" charset="0"/>
                            </a:rPr>
                            <m:t>𝑥</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𝑝</m:t>
                      </m:r>
                      <m:r>
                        <a:rPr lang="en-US" b="0" i="1" smtClean="0">
                          <a:latin typeface="Cambria Math" panose="02040503050406030204" pitchFamily="18" charset="0"/>
                          <a:cs typeface="Arial" panose="020B0604020202020204" pitchFamily="34" charset="0"/>
                        </a:rPr>
                        <m:t>−2</m:t>
                      </m:r>
                      <m:r>
                        <a:rPr lang="en-US" b="0" i="1" smtClean="0">
                          <a:latin typeface="Cambria Math" panose="02040503050406030204" pitchFamily="18" charset="0"/>
                          <a:ea typeface="Cambria Math" panose="02040503050406030204" pitchFamily="18" charset="0"/>
                          <a:cs typeface="Arial" panose="020B0604020202020204" pitchFamily="34" charset="0"/>
                        </a:rPr>
                        <m:t>𝜌𝜈</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𝑢</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oMath>
                  </m:oMathPara>
                </a14:m>
                <a:endParaRPr lang="en-US" dirty="0">
                  <a:latin typeface="Arial" panose="020B0604020202020204" pitchFamily="34" charset="0"/>
                  <a:cs typeface="Arial" panose="020B0604020202020204" pitchFamily="34" charset="0"/>
                </a:endParaRPr>
              </a:p>
            </p:txBody>
          </p:sp>
        </mc:Choice>
        <mc:Fallback xmlns="">
          <p:sp>
            <p:nvSpPr>
              <p:cNvPr id="14" name="TextBox 13">
                <a:extLst>
                  <a:ext uri="{FF2B5EF4-FFF2-40B4-BE49-F238E27FC236}">
                    <a16:creationId xmlns:a16="http://schemas.microsoft.com/office/drawing/2014/main" id="{9671DA27-AE18-5043-A93C-FF5425E77967}"/>
                  </a:ext>
                </a:extLst>
              </p:cNvPr>
              <p:cNvSpPr txBox="1">
                <a:spLocks noRot="1" noChangeAspect="1" noMove="1" noResize="1" noEditPoints="1" noAdjustHandles="1" noChangeArrowheads="1" noChangeShapeType="1" noTextEdit="1"/>
              </p:cNvSpPr>
              <p:nvPr/>
            </p:nvSpPr>
            <p:spPr>
              <a:xfrm>
                <a:off x="810185" y="5400249"/>
                <a:ext cx="1692002" cy="598369"/>
              </a:xfrm>
              <a:prstGeom prst="rect">
                <a:avLst/>
              </a:prstGeom>
              <a:blipFill>
                <a:blip r:embed="rId10"/>
                <a:stretch>
                  <a:fillRect l="-746" r="-2985" b="-145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615D26EC-8FB5-504A-8C61-5B30DD703AC6}"/>
                  </a:ext>
                </a:extLst>
              </p:cNvPr>
              <p:cNvSpPr txBox="1"/>
              <p:nvPr/>
            </p:nvSpPr>
            <p:spPr>
              <a:xfrm>
                <a:off x="4153975" y="5432181"/>
                <a:ext cx="2253694" cy="549509"/>
              </a:xfrm>
              <a:prstGeom prst="rect">
                <a:avLst/>
              </a:prstGeom>
              <a:noFill/>
            </p:spPr>
            <p:txBody>
              <a:bodyPr wrap="none" rtlCol="0">
                <a:spAutoFit/>
              </a:bodyPr>
              <a:lstStyle/>
              <a:p>
                <a:pPr algn="l">
                  <a:lnSpc>
                    <a:spcPct val="114000"/>
                  </a:lnSpc>
                </a:pPr>
                <a:r>
                  <a:rPr lang="en-US" dirty="0">
                    <a:latin typeface="Arial" panose="020B0604020202020204" pitchFamily="34" charset="0"/>
                    <a:cs typeface="Arial" panose="020B0604020202020204" pitchFamily="34" charset="0"/>
                  </a:rPr>
                  <a:t>where </a:t>
                </a:r>
                <a14:m>
                  <m:oMath xmlns:m="http://schemas.openxmlformats.org/officeDocument/2006/math">
                    <m:r>
                      <a:rPr lang="en-US" b="0" i="1" smtClean="0">
                        <a:latin typeface="Cambria Math" panose="02040503050406030204" pitchFamily="18" charset="0"/>
                        <a:cs typeface="Arial" panose="020B0604020202020204" pitchFamily="34" charset="0"/>
                      </a:rPr>
                      <m:t>𝑝</m:t>
                    </m:r>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𝜎</m:t>
                            </m:r>
                          </m:e>
                          <m:sub>
                            <m:r>
                              <a:rPr lang="en-US" b="0" i="1" smtClean="0">
                                <a:latin typeface="Cambria Math" panose="02040503050406030204" pitchFamily="18" charset="0"/>
                                <a:cs typeface="Arial" panose="020B0604020202020204" pitchFamily="34" charset="0"/>
                              </a:rPr>
                              <m:t>𝑥</m:t>
                            </m:r>
                          </m:sub>
                        </m:sSub>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𝜎</m:t>
                            </m:r>
                          </m:e>
                          <m:sub>
                            <m:r>
                              <a:rPr lang="en-US" b="0" i="1" smtClean="0">
                                <a:latin typeface="Cambria Math" panose="02040503050406030204" pitchFamily="18" charset="0"/>
                                <a:cs typeface="Arial" panose="020B0604020202020204" pitchFamily="34" charset="0"/>
                              </a:rPr>
                              <m:t>𝑦</m:t>
                            </m:r>
                          </m:sub>
                        </m:sSub>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𝜎</m:t>
                            </m:r>
                          </m:e>
                          <m:sub>
                            <m:r>
                              <a:rPr lang="en-US" b="0" i="1" smtClean="0">
                                <a:latin typeface="Cambria Math" panose="02040503050406030204" pitchFamily="18" charset="0"/>
                                <a:cs typeface="Arial" panose="020B0604020202020204" pitchFamily="34" charset="0"/>
                              </a:rPr>
                              <m:t>𝑧</m:t>
                            </m:r>
                          </m:sub>
                        </m:sSub>
                      </m:num>
                      <m:den>
                        <m:r>
                          <a:rPr lang="en-US" b="0" i="1" smtClean="0">
                            <a:latin typeface="Cambria Math" panose="02040503050406030204" pitchFamily="18" charset="0"/>
                            <a:cs typeface="Arial" panose="020B0604020202020204" pitchFamily="34" charset="0"/>
                          </a:rPr>
                          <m:t>3</m:t>
                        </m:r>
                      </m:den>
                    </m:f>
                  </m:oMath>
                </a14:m>
                <a:r>
                  <a:rPr lang="en-US" dirty="0">
                    <a:latin typeface="Arial" panose="020B0604020202020204" pitchFamily="34" charset="0"/>
                    <a:cs typeface="Arial" panose="020B0604020202020204" pitchFamily="34" charset="0"/>
                  </a:rPr>
                  <a:t> </a:t>
                </a:r>
              </a:p>
            </p:txBody>
          </p:sp>
        </mc:Choice>
        <mc:Fallback xmlns="">
          <p:sp>
            <p:nvSpPr>
              <p:cNvPr id="32" name="TextBox 31">
                <a:extLst>
                  <a:ext uri="{FF2B5EF4-FFF2-40B4-BE49-F238E27FC236}">
                    <a16:creationId xmlns:a16="http://schemas.microsoft.com/office/drawing/2014/main" id="{615D26EC-8FB5-504A-8C61-5B30DD703AC6}"/>
                  </a:ext>
                </a:extLst>
              </p:cNvPr>
              <p:cNvSpPr txBox="1">
                <a:spLocks noRot="1" noChangeAspect="1" noMove="1" noResize="1" noEditPoints="1" noAdjustHandles="1" noChangeArrowheads="1" noChangeShapeType="1" noTextEdit="1"/>
              </p:cNvSpPr>
              <p:nvPr/>
            </p:nvSpPr>
            <p:spPr>
              <a:xfrm>
                <a:off x="4153975" y="5432181"/>
                <a:ext cx="2253694" cy="549509"/>
              </a:xfrm>
              <a:prstGeom prst="rect">
                <a:avLst/>
              </a:prstGeom>
              <a:blipFill>
                <a:blip r:embed="rId11"/>
                <a:stretch>
                  <a:fillRect l="-1676" b="-4545"/>
                </a:stretch>
              </a:blipFill>
            </p:spPr>
            <p:txBody>
              <a:bodyPr/>
              <a:lstStyle/>
              <a:p>
                <a:r>
                  <a:rPr lang="en-US">
                    <a:noFill/>
                  </a:rPr>
                  <a:t> </a:t>
                </a:r>
              </a:p>
            </p:txBody>
          </p:sp>
        </mc:Fallback>
      </mc:AlternateContent>
      <p:cxnSp>
        <p:nvCxnSpPr>
          <p:cNvPr id="60" name="Straight Arrow Connector 59">
            <a:extLst>
              <a:ext uri="{FF2B5EF4-FFF2-40B4-BE49-F238E27FC236}">
                <a16:creationId xmlns:a16="http://schemas.microsoft.com/office/drawing/2014/main" id="{34263D60-420F-9444-8E43-652C25146B89}"/>
              </a:ext>
            </a:extLst>
          </p:cNvPr>
          <p:cNvCxnSpPr>
            <a:cxnSpLocks/>
          </p:cNvCxnSpPr>
          <p:nvPr/>
        </p:nvCxnSpPr>
        <p:spPr>
          <a:xfrm flipV="1">
            <a:off x="2705863" y="2400295"/>
            <a:ext cx="397435" cy="370613"/>
          </a:xfrm>
          <a:prstGeom prst="straightConnector1">
            <a:avLst/>
          </a:prstGeom>
          <a:ln w="28575">
            <a:solidFill>
              <a:srgbClr val="007AF3"/>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8D645D27-7F14-E745-8E77-80A63FE3ADDB}"/>
              </a:ext>
            </a:extLst>
          </p:cNvPr>
          <p:cNvCxnSpPr>
            <a:cxnSpLocks/>
          </p:cNvCxnSpPr>
          <p:nvPr/>
        </p:nvCxnSpPr>
        <p:spPr>
          <a:xfrm flipV="1">
            <a:off x="3810686" y="1306340"/>
            <a:ext cx="397435" cy="370613"/>
          </a:xfrm>
          <a:prstGeom prst="straightConnector1">
            <a:avLst/>
          </a:prstGeom>
          <a:ln w="28575">
            <a:solidFill>
              <a:srgbClr val="007AF3"/>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11336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34</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Local streamwise momentum conservation</a:t>
            </a:r>
          </a:p>
        </p:txBody>
      </p:sp>
      <p:cxnSp>
        <p:nvCxnSpPr>
          <p:cNvPr id="15" name="Straight Connector 14">
            <a:extLst>
              <a:ext uri="{FF2B5EF4-FFF2-40B4-BE49-F238E27FC236}">
                <a16:creationId xmlns:a16="http://schemas.microsoft.com/office/drawing/2014/main" id="{0FBD2180-E84B-A14C-A983-35EC124DBF5F}"/>
              </a:ext>
            </a:extLst>
          </p:cNvPr>
          <p:cNvCxnSpPr>
            <a:cxnSpLocks/>
          </p:cNvCxnSpPr>
          <p:nvPr/>
        </p:nvCxnSpPr>
        <p:spPr>
          <a:xfrm flipV="1">
            <a:off x="1606478" y="1753848"/>
            <a:ext cx="0" cy="1685762"/>
          </a:xfrm>
          <a:prstGeom prst="line">
            <a:avLst/>
          </a:prstGeom>
          <a:ln w="19050">
            <a:solidFill>
              <a:schemeClr val="tx1"/>
            </a:solidFill>
            <a:headEnd type="none" w="med" len="med"/>
            <a:tailEnd type="arrow" w="lg" len="lg"/>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5B39B85-6E02-634D-9C9E-6DBDA9D0EF7F}"/>
              </a:ext>
            </a:extLst>
          </p:cNvPr>
          <p:cNvCxnSpPr/>
          <p:nvPr/>
        </p:nvCxnSpPr>
        <p:spPr>
          <a:xfrm flipH="1">
            <a:off x="482757" y="3439247"/>
            <a:ext cx="1123721" cy="980501"/>
          </a:xfrm>
          <a:prstGeom prst="line">
            <a:avLst/>
          </a:prstGeom>
          <a:ln w="19050">
            <a:solidFill>
              <a:schemeClr val="tx1"/>
            </a:solidFill>
            <a:headEnd type="none" w="med" len="med"/>
            <a:tailEnd type="arrow" w="lg" len="lg"/>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453A63D-AED2-B647-9786-6F27F5594FF6}"/>
              </a:ext>
            </a:extLst>
          </p:cNvPr>
          <p:cNvCxnSpPr/>
          <p:nvPr/>
        </p:nvCxnSpPr>
        <p:spPr>
          <a:xfrm>
            <a:off x="1606478" y="3439247"/>
            <a:ext cx="2897436" cy="0"/>
          </a:xfrm>
          <a:prstGeom prst="line">
            <a:avLst/>
          </a:prstGeom>
          <a:ln w="19050">
            <a:solidFill>
              <a:schemeClr val="tx1"/>
            </a:solidFill>
            <a:headEnd type="none" w="med" len="med"/>
            <a:tailEnd type="arrow" w="lg" len="lg"/>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CEB748A7-71B2-0B46-A660-3669CADFEE7A}"/>
              </a:ext>
            </a:extLst>
          </p:cNvPr>
          <p:cNvSpPr txBox="1"/>
          <p:nvPr/>
        </p:nvSpPr>
        <p:spPr>
          <a:xfrm>
            <a:off x="482756" y="4419748"/>
            <a:ext cx="386675"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x</a:t>
            </a:r>
          </a:p>
        </p:txBody>
      </p:sp>
      <p:sp>
        <p:nvSpPr>
          <p:cNvPr id="19" name="TextBox 18">
            <a:extLst>
              <a:ext uri="{FF2B5EF4-FFF2-40B4-BE49-F238E27FC236}">
                <a16:creationId xmlns:a16="http://schemas.microsoft.com/office/drawing/2014/main" id="{D3599749-02CD-0643-B23F-3CB6CBBCABD3}"/>
              </a:ext>
            </a:extLst>
          </p:cNvPr>
          <p:cNvSpPr txBox="1"/>
          <p:nvPr/>
        </p:nvSpPr>
        <p:spPr>
          <a:xfrm>
            <a:off x="4428963" y="3408802"/>
            <a:ext cx="386675"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y</a:t>
            </a:r>
          </a:p>
        </p:txBody>
      </p:sp>
      <p:sp>
        <p:nvSpPr>
          <p:cNvPr id="20" name="TextBox 19">
            <a:extLst>
              <a:ext uri="{FF2B5EF4-FFF2-40B4-BE49-F238E27FC236}">
                <a16:creationId xmlns:a16="http://schemas.microsoft.com/office/drawing/2014/main" id="{7A5CD9D0-AF5B-1F44-B189-F42BB4893BD8}"/>
              </a:ext>
            </a:extLst>
          </p:cNvPr>
          <p:cNvSpPr txBox="1"/>
          <p:nvPr/>
        </p:nvSpPr>
        <p:spPr>
          <a:xfrm>
            <a:off x="1219803" y="1694058"/>
            <a:ext cx="386675"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z</a:t>
            </a:r>
          </a:p>
        </p:txBody>
      </p:sp>
      <p:cxnSp>
        <p:nvCxnSpPr>
          <p:cNvPr id="21" name="Straight Connector 20">
            <a:extLst>
              <a:ext uri="{FF2B5EF4-FFF2-40B4-BE49-F238E27FC236}">
                <a16:creationId xmlns:a16="http://schemas.microsoft.com/office/drawing/2014/main" id="{3F8DB2CD-118A-CA44-ADB1-1E5F128AEEBF}"/>
              </a:ext>
            </a:extLst>
          </p:cNvPr>
          <p:cNvCxnSpPr>
            <a:cxnSpLocks/>
          </p:cNvCxnSpPr>
          <p:nvPr/>
        </p:nvCxnSpPr>
        <p:spPr>
          <a:xfrm flipH="1">
            <a:off x="2457846" y="1221053"/>
            <a:ext cx="765041" cy="686115"/>
          </a:xfrm>
          <a:prstGeom prst="line">
            <a:avLst/>
          </a:prstGeom>
          <a:ln w="19050">
            <a:solidFill>
              <a:schemeClr val="tx1"/>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96E6DA2-388D-C24D-8AD4-CADF9577B8C5}"/>
              </a:ext>
            </a:extLst>
          </p:cNvPr>
          <p:cNvCxnSpPr>
            <a:cxnSpLocks/>
          </p:cNvCxnSpPr>
          <p:nvPr/>
        </p:nvCxnSpPr>
        <p:spPr>
          <a:xfrm flipH="1">
            <a:off x="3702569" y="1221053"/>
            <a:ext cx="765041" cy="686115"/>
          </a:xfrm>
          <a:prstGeom prst="line">
            <a:avLst/>
          </a:prstGeom>
          <a:ln w="19050">
            <a:solidFill>
              <a:schemeClr val="tx1"/>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918475D-01F0-7441-8A92-325D29E0B267}"/>
              </a:ext>
            </a:extLst>
          </p:cNvPr>
          <p:cNvCxnSpPr/>
          <p:nvPr/>
        </p:nvCxnSpPr>
        <p:spPr>
          <a:xfrm>
            <a:off x="2457846" y="1907168"/>
            <a:ext cx="124472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3819762-85D5-E640-ACBD-AD6B63A9A853}"/>
              </a:ext>
            </a:extLst>
          </p:cNvPr>
          <p:cNvCxnSpPr/>
          <p:nvPr/>
        </p:nvCxnSpPr>
        <p:spPr>
          <a:xfrm>
            <a:off x="3222887" y="1208234"/>
            <a:ext cx="124472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1592572-CC50-9E4F-989B-6FFA5F110862}"/>
              </a:ext>
            </a:extLst>
          </p:cNvPr>
          <p:cNvCxnSpPr>
            <a:cxnSpLocks/>
          </p:cNvCxnSpPr>
          <p:nvPr/>
        </p:nvCxnSpPr>
        <p:spPr>
          <a:xfrm flipH="1">
            <a:off x="3222887" y="1208234"/>
            <a:ext cx="2497" cy="98033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1983C86-2DBE-BE47-863B-5542404E9F10}"/>
              </a:ext>
            </a:extLst>
          </p:cNvPr>
          <p:cNvCxnSpPr>
            <a:cxnSpLocks/>
          </p:cNvCxnSpPr>
          <p:nvPr/>
        </p:nvCxnSpPr>
        <p:spPr>
          <a:xfrm flipH="1">
            <a:off x="2479926" y="1904088"/>
            <a:ext cx="2497" cy="9803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B9650B4-D578-2047-85BB-4B6E1598F8A6}"/>
              </a:ext>
            </a:extLst>
          </p:cNvPr>
          <p:cNvCxnSpPr>
            <a:cxnSpLocks/>
          </p:cNvCxnSpPr>
          <p:nvPr/>
        </p:nvCxnSpPr>
        <p:spPr>
          <a:xfrm flipH="1">
            <a:off x="3676065" y="1913851"/>
            <a:ext cx="2497" cy="9803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E9B145B-9FB7-C647-B178-CE08FE4B4063}"/>
              </a:ext>
            </a:extLst>
          </p:cNvPr>
          <p:cNvCxnSpPr>
            <a:cxnSpLocks/>
          </p:cNvCxnSpPr>
          <p:nvPr/>
        </p:nvCxnSpPr>
        <p:spPr>
          <a:xfrm flipH="1">
            <a:off x="4479966" y="1208234"/>
            <a:ext cx="2497" cy="9803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E251B70-EF9F-E04D-8F6A-839BD5CAC407}"/>
              </a:ext>
            </a:extLst>
          </p:cNvPr>
          <p:cNvCxnSpPr/>
          <p:nvPr/>
        </p:nvCxnSpPr>
        <p:spPr>
          <a:xfrm>
            <a:off x="2446332" y="2894181"/>
            <a:ext cx="124472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DF98099-5683-B442-8055-C14B4D72C35C}"/>
              </a:ext>
            </a:extLst>
          </p:cNvPr>
          <p:cNvCxnSpPr/>
          <p:nvPr/>
        </p:nvCxnSpPr>
        <p:spPr>
          <a:xfrm>
            <a:off x="3222886" y="2188564"/>
            <a:ext cx="1244723"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D1BE883-FA5A-F242-9043-5F7172149BB9}"/>
              </a:ext>
            </a:extLst>
          </p:cNvPr>
          <p:cNvCxnSpPr>
            <a:cxnSpLocks/>
          </p:cNvCxnSpPr>
          <p:nvPr/>
        </p:nvCxnSpPr>
        <p:spPr>
          <a:xfrm flipH="1">
            <a:off x="3690565" y="2198303"/>
            <a:ext cx="765041" cy="686115"/>
          </a:xfrm>
          <a:prstGeom prst="line">
            <a:avLst/>
          </a:prstGeom>
          <a:ln w="19050">
            <a:solidFill>
              <a:schemeClr val="tx1"/>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79687AD-5AE6-5148-84FC-7732AED2B79C}"/>
              </a:ext>
            </a:extLst>
          </p:cNvPr>
          <p:cNvCxnSpPr>
            <a:cxnSpLocks/>
          </p:cNvCxnSpPr>
          <p:nvPr/>
        </p:nvCxnSpPr>
        <p:spPr>
          <a:xfrm flipH="1">
            <a:off x="2477424" y="2185484"/>
            <a:ext cx="765041" cy="686115"/>
          </a:xfrm>
          <a:prstGeom prst="line">
            <a:avLst/>
          </a:prstGeom>
          <a:ln w="19050">
            <a:solidFill>
              <a:schemeClr val="tx1"/>
            </a:solidFill>
            <a:prstDash val="dash"/>
            <a:headEnd type="none" w="med" len="med"/>
            <a:tailEnd type="none" w="lg" len="lg"/>
          </a:ln>
        </p:spPr>
        <p:style>
          <a:lnRef idx="1">
            <a:schemeClr val="accent1"/>
          </a:lnRef>
          <a:fillRef idx="0">
            <a:schemeClr val="accent1"/>
          </a:fillRef>
          <a:effectRef idx="0">
            <a:schemeClr val="accent1"/>
          </a:effectRef>
          <a:fontRef idx="minor">
            <a:schemeClr val="tx1"/>
          </a:fontRef>
        </p:style>
      </p:cxnSp>
      <p:sp>
        <p:nvSpPr>
          <p:cNvPr id="35" name="Freeform 34">
            <a:extLst>
              <a:ext uri="{FF2B5EF4-FFF2-40B4-BE49-F238E27FC236}">
                <a16:creationId xmlns:a16="http://schemas.microsoft.com/office/drawing/2014/main" id="{E6A74D7B-E0D2-294F-BA02-B714E9E45586}"/>
              </a:ext>
            </a:extLst>
          </p:cNvPr>
          <p:cNvSpPr/>
          <p:nvPr/>
        </p:nvSpPr>
        <p:spPr>
          <a:xfrm>
            <a:off x="2503357" y="1199213"/>
            <a:ext cx="1963712" cy="704538"/>
          </a:xfrm>
          <a:custGeom>
            <a:avLst/>
            <a:gdLst>
              <a:gd name="connsiteX0" fmla="*/ 704538 w 1963712"/>
              <a:gd name="connsiteY0" fmla="*/ 0 h 704538"/>
              <a:gd name="connsiteX1" fmla="*/ 0 w 1963712"/>
              <a:gd name="connsiteY1" fmla="*/ 674557 h 704538"/>
              <a:gd name="connsiteX2" fmla="*/ 1184223 w 1963712"/>
              <a:gd name="connsiteY2" fmla="*/ 704538 h 704538"/>
              <a:gd name="connsiteX3" fmla="*/ 1963712 w 1963712"/>
              <a:gd name="connsiteY3" fmla="*/ 44971 h 704538"/>
              <a:gd name="connsiteX4" fmla="*/ 704538 w 1963712"/>
              <a:gd name="connsiteY4" fmla="*/ 0 h 7045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3712" h="704538">
                <a:moveTo>
                  <a:pt x="704538" y="0"/>
                </a:moveTo>
                <a:lnTo>
                  <a:pt x="0" y="674557"/>
                </a:lnTo>
                <a:lnTo>
                  <a:pt x="1184223" y="704538"/>
                </a:lnTo>
                <a:lnTo>
                  <a:pt x="1963712" y="44971"/>
                </a:lnTo>
                <a:lnTo>
                  <a:pt x="704538" y="0"/>
                </a:lnTo>
                <a:close/>
              </a:path>
            </a:pathLst>
          </a:custGeom>
          <a:solidFill>
            <a:schemeClr val="accent4">
              <a:lumMod val="75000"/>
              <a:alpha val="21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35">
            <a:extLst>
              <a:ext uri="{FF2B5EF4-FFF2-40B4-BE49-F238E27FC236}">
                <a16:creationId xmlns:a16="http://schemas.microsoft.com/office/drawing/2014/main" id="{9FFBF7C4-9DDE-2645-81D0-F5A8028C577A}"/>
              </a:ext>
            </a:extLst>
          </p:cNvPr>
          <p:cNvSpPr/>
          <p:nvPr/>
        </p:nvSpPr>
        <p:spPr>
          <a:xfrm>
            <a:off x="2506884" y="2188733"/>
            <a:ext cx="1963712" cy="704538"/>
          </a:xfrm>
          <a:custGeom>
            <a:avLst/>
            <a:gdLst>
              <a:gd name="connsiteX0" fmla="*/ 704538 w 1963712"/>
              <a:gd name="connsiteY0" fmla="*/ 0 h 704538"/>
              <a:gd name="connsiteX1" fmla="*/ 0 w 1963712"/>
              <a:gd name="connsiteY1" fmla="*/ 674557 h 704538"/>
              <a:gd name="connsiteX2" fmla="*/ 1184223 w 1963712"/>
              <a:gd name="connsiteY2" fmla="*/ 704538 h 704538"/>
              <a:gd name="connsiteX3" fmla="*/ 1963712 w 1963712"/>
              <a:gd name="connsiteY3" fmla="*/ 44971 h 704538"/>
              <a:gd name="connsiteX4" fmla="*/ 704538 w 1963712"/>
              <a:gd name="connsiteY4" fmla="*/ 0 h 7045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3712" h="704538">
                <a:moveTo>
                  <a:pt x="704538" y="0"/>
                </a:moveTo>
                <a:lnTo>
                  <a:pt x="0" y="674557"/>
                </a:lnTo>
                <a:lnTo>
                  <a:pt x="1184223" y="704538"/>
                </a:lnTo>
                <a:lnTo>
                  <a:pt x="1963712" y="44971"/>
                </a:lnTo>
                <a:lnTo>
                  <a:pt x="704538" y="0"/>
                </a:lnTo>
                <a:close/>
              </a:path>
            </a:pathLst>
          </a:custGeom>
          <a:solidFill>
            <a:schemeClr val="accent4">
              <a:lumMod val="75000"/>
              <a:alpha val="43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8BD5EE7E-F2A6-8C44-BE45-230498A61EEC}"/>
              </a:ext>
            </a:extLst>
          </p:cNvPr>
          <p:cNvSpPr>
            <a:spLocks noChangeAspect="1"/>
          </p:cNvSpPr>
          <p:nvPr/>
        </p:nvSpPr>
        <p:spPr>
          <a:xfrm>
            <a:off x="2424561" y="2797716"/>
            <a:ext cx="126908" cy="126000"/>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DF9F112F-92C0-FB45-8307-74A9FE76CA19}"/>
              </a:ext>
            </a:extLst>
          </p:cNvPr>
          <p:cNvSpPr>
            <a:spLocks noChangeAspect="1"/>
          </p:cNvSpPr>
          <p:nvPr/>
        </p:nvSpPr>
        <p:spPr>
          <a:xfrm>
            <a:off x="4376319" y="1151064"/>
            <a:ext cx="126908" cy="126000"/>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D52C2A98-FAA1-A940-A457-D14D02E7D571}"/>
              </a:ext>
            </a:extLst>
          </p:cNvPr>
          <p:cNvSpPr txBox="1"/>
          <p:nvPr/>
        </p:nvSpPr>
        <p:spPr>
          <a:xfrm>
            <a:off x="1569348" y="2661032"/>
            <a:ext cx="982119"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(x, y, z)</a:t>
            </a:r>
          </a:p>
        </p:txBody>
      </p:sp>
      <p:sp>
        <p:nvSpPr>
          <p:cNvPr id="46" name="TextBox 45">
            <a:extLst>
              <a:ext uri="{FF2B5EF4-FFF2-40B4-BE49-F238E27FC236}">
                <a16:creationId xmlns:a16="http://schemas.microsoft.com/office/drawing/2014/main" id="{5FBF6A86-B498-9441-AD60-5FB0D9361D40}"/>
              </a:ext>
            </a:extLst>
          </p:cNvPr>
          <p:cNvSpPr txBox="1"/>
          <p:nvPr/>
        </p:nvSpPr>
        <p:spPr>
          <a:xfrm>
            <a:off x="4030540" y="743940"/>
            <a:ext cx="2377129"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x+</a:t>
            </a:r>
            <a:r>
              <a:rPr lang="en-US"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x</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y+</a:t>
            </a:r>
            <a:r>
              <a:rPr lang="en-US"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z+</a:t>
            </a:r>
            <a:r>
              <a:rPr lang="en-US"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z</a:t>
            </a:r>
            <a:r>
              <a:rPr lang="en-US" dirty="0">
                <a:latin typeface="Arial" panose="020B0604020202020204" pitchFamily="34" charset="0"/>
                <a:cs typeface="Arial" panose="020B0604020202020204" pitchFamily="34" charset="0"/>
              </a:rPr>
              <a:t>)</a:t>
            </a:r>
          </a:p>
        </p:txBody>
      </p:sp>
      <p:sp>
        <p:nvSpPr>
          <p:cNvPr id="47" name="TextBox 46">
            <a:extLst>
              <a:ext uri="{FF2B5EF4-FFF2-40B4-BE49-F238E27FC236}">
                <a16:creationId xmlns:a16="http://schemas.microsoft.com/office/drawing/2014/main" id="{B8186740-8D6C-6D4C-8F14-D0EC318C3899}"/>
              </a:ext>
            </a:extLst>
          </p:cNvPr>
          <p:cNvSpPr txBox="1"/>
          <p:nvPr/>
        </p:nvSpPr>
        <p:spPr>
          <a:xfrm>
            <a:off x="5938091" y="1408886"/>
            <a:ext cx="5704137" cy="1644874"/>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MOMENTUM BALANCE</a:t>
            </a:r>
          </a:p>
          <a:p>
            <a:pPr algn="l">
              <a:lnSpc>
                <a:spcPct val="114000"/>
              </a:lnSpc>
            </a:pPr>
            <a:r>
              <a:rPr lang="en-US" dirty="0">
                <a:latin typeface="Arial" panose="020B0604020202020204" pitchFamily="34" charset="0"/>
                <a:cs typeface="Arial" panose="020B0604020202020204" pitchFamily="34" charset="0"/>
              </a:rPr>
              <a:t>The time rate of change of streamwise momentum in the control volume is equal to the net convective inflow of momentum plus the net shear force, plus the net pressure force plus the downslope pull of gravity</a:t>
            </a:r>
          </a:p>
        </p:txBody>
      </p: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637F8B3C-5249-A947-9F3E-08CE229B50B8}"/>
                  </a:ext>
                </a:extLst>
              </p:cNvPr>
              <p:cNvSpPr txBox="1"/>
              <p:nvPr/>
            </p:nvSpPr>
            <p:spPr>
              <a:xfrm>
                <a:off x="2799223" y="2530194"/>
                <a:ext cx="296428"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𝜎</m:t>
                          </m:r>
                        </m:e>
                        <m:sub>
                          <m:r>
                            <a:rPr lang="en-US" b="0" i="1" smtClean="0">
                              <a:latin typeface="Cambria Math" panose="02040503050406030204" pitchFamily="18" charset="0"/>
                              <a:cs typeface="Arial" panose="020B0604020202020204" pitchFamily="34" charset="0"/>
                            </a:rPr>
                            <m:t>𝑥</m:t>
                          </m:r>
                        </m:sub>
                      </m:sSub>
                    </m:oMath>
                  </m:oMathPara>
                </a14:m>
                <a:endParaRPr lang="en-US" dirty="0">
                  <a:latin typeface="Arial" panose="020B0604020202020204" pitchFamily="34" charset="0"/>
                  <a:cs typeface="Arial" panose="020B0604020202020204" pitchFamily="34" charset="0"/>
                </a:endParaRPr>
              </a:p>
            </p:txBody>
          </p:sp>
        </mc:Choice>
        <mc:Fallback xmlns="">
          <p:sp>
            <p:nvSpPr>
              <p:cNvPr id="58" name="TextBox 57">
                <a:extLst>
                  <a:ext uri="{FF2B5EF4-FFF2-40B4-BE49-F238E27FC236}">
                    <a16:creationId xmlns:a16="http://schemas.microsoft.com/office/drawing/2014/main" id="{637F8B3C-5249-A947-9F3E-08CE229B50B8}"/>
                  </a:ext>
                </a:extLst>
              </p:cNvPr>
              <p:cNvSpPr txBox="1">
                <a:spLocks noRot="1" noChangeAspect="1" noMove="1" noResize="1" noEditPoints="1" noAdjustHandles="1" noChangeArrowheads="1" noChangeShapeType="1" noTextEdit="1"/>
              </p:cNvSpPr>
              <p:nvPr/>
            </p:nvSpPr>
            <p:spPr>
              <a:xfrm>
                <a:off x="2799223" y="2530194"/>
                <a:ext cx="296428" cy="315792"/>
              </a:xfrm>
              <a:prstGeom prst="rect">
                <a:avLst/>
              </a:prstGeom>
              <a:blipFill>
                <a:blip r:embed="rId2"/>
                <a:stretch>
                  <a:fillRect l="-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A67C7623-2DEB-AF4C-814D-8480C30F13BC}"/>
                  </a:ext>
                </a:extLst>
              </p:cNvPr>
              <p:cNvSpPr txBox="1"/>
              <p:nvPr/>
            </p:nvSpPr>
            <p:spPr>
              <a:xfrm>
                <a:off x="3890941" y="1106822"/>
                <a:ext cx="296428"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𝜎</m:t>
                          </m:r>
                        </m:e>
                        <m:sub>
                          <m:r>
                            <a:rPr lang="en-US" b="0" i="1" smtClean="0">
                              <a:latin typeface="Cambria Math" panose="02040503050406030204" pitchFamily="18" charset="0"/>
                              <a:cs typeface="Arial" panose="020B0604020202020204" pitchFamily="34" charset="0"/>
                            </a:rPr>
                            <m:t>𝑥</m:t>
                          </m:r>
                        </m:sub>
                      </m:sSub>
                    </m:oMath>
                  </m:oMathPara>
                </a14:m>
                <a:endParaRPr lang="en-US" dirty="0">
                  <a:latin typeface="Arial" panose="020B0604020202020204" pitchFamily="34" charset="0"/>
                  <a:cs typeface="Arial" panose="020B0604020202020204" pitchFamily="34" charset="0"/>
                </a:endParaRPr>
              </a:p>
            </p:txBody>
          </p:sp>
        </mc:Choice>
        <mc:Fallback xmlns="">
          <p:sp>
            <p:nvSpPr>
              <p:cNvPr id="59" name="TextBox 58">
                <a:extLst>
                  <a:ext uri="{FF2B5EF4-FFF2-40B4-BE49-F238E27FC236}">
                    <a16:creationId xmlns:a16="http://schemas.microsoft.com/office/drawing/2014/main" id="{A67C7623-2DEB-AF4C-814D-8480C30F13BC}"/>
                  </a:ext>
                </a:extLst>
              </p:cNvPr>
              <p:cNvSpPr txBox="1">
                <a:spLocks noRot="1" noChangeAspect="1" noMove="1" noResize="1" noEditPoints="1" noAdjustHandles="1" noChangeArrowheads="1" noChangeShapeType="1" noTextEdit="1"/>
              </p:cNvSpPr>
              <p:nvPr/>
            </p:nvSpPr>
            <p:spPr>
              <a:xfrm>
                <a:off x="3890941" y="1106822"/>
                <a:ext cx="296428" cy="315792"/>
              </a:xfrm>
              <a:prstGeom prst="rect">
                <a:avLst/>
              </a:prstGeom>
              <a:blipFill>
                <a:blip r:embed="rId3"/>
                <a:stretch>
                  <a:fillRect l="-8333"/>
                </a:stretch>
              </a:blipFill>
            </p:spPr>
            <p:txBody>
              <a:bodyPr/>
              <a:lstStyle/>
              <a:p>
                <a:r>
                  <a:rPr lang="en-US">
                    <a:noFill/>
                  </a:rPr>
                  <a:t> </a:t>
                </a:r>
              </a:p>
            </p:txBody>
          </p:sp>
        </mc:Fallback>
      </mc:AlternateContent>
      <p:cxnSp>
        <p:nvCxnSpPr>
          <p:cNvPr id="60" name="Straight Arrow Connector 59">
            <a:extLst>
              <a:ext uri="{FF2B5EF4-FFF2-40B4-BE49-F238E27FC236}">
                <a16:creationId xmlns:a16="http://schemas.microsoft.com/office/drawing/2014/main" id="{650C66E7-0115-D946-AF99-12A04E66301E}"/>
              </a:ext>
            </a:extLst>
          </p:cNvPr>
          <p:cNvCxnSpPr>
            <a:cxnSpLocks/>
          </p:cNvCxnSpPr>
          <p:nvPr/>
        </p:nvCxnSpPr>
        <p:spPr>
          <a:xfrm flipH="1">
            <a:off x="3804973" y="1979364"/>
            <a:ext cx="416043" cy="377997"/>
          </a:xfrm>
          <a:prstGeom prst="straightConnector1">
            <a:avLst/>
          </a:prstGeom>
          <a:ln w="19050">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EFE43883-D823-F84A-A6AF-D8F708F0A49E}"/>
              </a:ext>
            </a:extLst>
          </p:cNvPr>
          <p:cNvCxnSpPr>
            <a:cxnSpLocks/>
          </p:cNvCxnSpPr>
          <p:nvPr/>
        </p:nvCxnSpPr>
        <p:spPr>
          <a:xfrm flipH="1">
            <a:off x="2575155" y="2034088"/>
            <a:ext cx="416043" cy="377997"/>
          </a:xfrm>
          <a:prstGeom prst="straightConnector1">
            <a:avLst/>
          </a:prstGeom>
          <a:ln w="19050">
            <a:solidFill>
              <a:srgbClr val="C0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E800ED4D-B8A2-3746-83A4-E99B2B16E361}"/>
              </a:ext>
            </a:extLst>
          </p:cNvPr>
          <p:cNvCxnSpPr>
            <a:cxnSpLocks/>
          </p:cNvCxnSpPr>
          <p:nvPr/>
        </p:nvCxnSpPr>
        <p:spPr>
          <a:xfrm flipH="1">
            <a:off x="3177794" y="2305984"/>
            <a:ext cx="416043" cy="377997"/>
          </a:xfrm>
          <a:prstGeom prst="straightConnector1">
            <a:avLst/>
          </a:prstGeom>
          <a:ln w="19050">
            <a:solidFill>
              <a:srgbClr val="C0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71995C3C-30DE-4749-8A64-EFCE52B753C3}"/>
              </a:ext>
            </a:extLst>
          </p:cNvPr>
          <p:cNvCxnSpPr>
            <a:cxnSpLocks/>
          </p:cNvCxnSpPr>
          <p:nvPr/>
        </p:nvCxnSpPr>
        <p:spPr>
          <a:xfrm flipH="1">
            <a:off x="3284029" y="1337160"/>
            <a:ext cx="416043" cy="377997"/>
          </a:xfrm>
          <a:prstGeom prst="straightConnector1">
            <a:avLst/>
          </a:prstGeom>
          <a:ln w="19050">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2F1851D1-2F0F-304C-B9C1-31DA960D70C1}"/>
                  </a:ext>
                </a:extLst>
              </p:cNvPr>
              <p:cNvSpPr txBox="1"/>
              <p:nvPr/>
            </p:nvSpPr>
            <p:spPr>
              <a:xfrm>
                <a:off x="3211848" y="1259713"/>
                <a:ext cx="373115"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𝑧𝑥</m:t>
                          </m:r>
                        </m:sub>
                      </m:sSub>
                    </m:oMath>
                  </m:oMathPara>
                </a14:m>
                <a:endParaRPr lang="en-US" dirty="0">
                  <a:latin typeface="Arial" panose="020B0604020202020204" pitchFamily="34" charset="0"/>
                  <a:cs typeface="Arial" panose="020B0604020202020204" pitchFamily="34" charset="0"/>
                </a:endParaRPr>
              </a:p>
            </p:txBody>
          </p:sp>
        </mc:Choice>
        <mc:Fallback xmlns="">
          <p:sp>
            <p:nvSpPr>
              <p:cNvPr id="64" name="TextBox 63">
                <a:extLst>
                  <a:ext uri="{FF2B5EF4-FFF2-40B4-BE49-F238E27FC236}">
                    <a16:creationId xmlns:a16="http://schemas.microsoft.com/office/drawing/2014/main" id="{2F1851D1-2F0F-304C-B9C1-31DA960D70C1}"/>
                  </a:ext>
                </a:extLst>
              </p:cNvPr>
              <p:cNvSpPr txBox="1">
                <a:spLocks noRot="1" noChangeAspect="1" noMove="1" noResize="1" noEditPoints="1" noAdjustHandles="1" noChangeArrowheads="1" noChangeShapeType="1" noTextEdit="1"/>
              </p:cNvSpPr>
              <p:nvPr/>
            </p:nvSpPr>
            <p:spPr>
              <a:xfrm>
                <a:off x="3211848" y="1259713"/>
                <a:ext cx="373115" cy="315792"/>
              </a:xfrm>
              <a:prstGeom prst="rect">
                <a:avLst/>
              </a:prstGeom>
              <a:blipFill>
                <a:blip r:embed="rId4"/>
                <a:stretch>
                  <a:fillRect l="-3226" b="-4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D4D24915-ABE6-1548-A6F0-22CEE073B350}"/>
                  </a:ext>
                </a:extLst>
              </p:cNvPr>
              <p:cNvSpPr txBox="1"/>
              <p:nvPr/>
            </p:nvSpPr>
            <p:spPr>
              <a:xfrm>
                <a:off x="3286902" y="2455116"/>
                <a:ext cx="373115"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𝑧𝑥</m:t>
                          </m:r>
                        </m:sub>
                      </m:sSub>
                    </m:oMath>
                  </m:oMathPara>
                </a14:m>
                <a:endParaRPr lang="en-US" dirty="0">
                  <a:latin typeface="Arial" panose="020B0604020202020204" pitchFamily="34" charset="0"/>
                  <a:cs typeface="Arial" panose="020B0604020202020204" pitchFamily="34" charset="0"/>
                </a:endParaRPr>
              </a:p>
            </p:txBody>
          </p:sp>
        </mc:Choice>
        <mc:Fallback xmlns="">
          <p:sp>
            <p:nvSpPr>
              <p:cNvPr id="65" name="TextBox 64">
                <a:extLst>
                  <a:ext uri="{FF2B5EF4-FFF2-40B4-BE49-F238E27FC236}">
                    <a16:creationId xmlns:a16="http://schemas.microsoft.com/office/drawing/2014/main" id="{D4D24915-ABE6-1548-A6F0-22CEE073B350}"/>
                  </a:ext>
                </a:extLst>
              </p:cNvPr>
              <p:cNvSpPr txBox="1">
                <a:spLocks noRot="1" noChangeAspect="1" noMove="1" noResize="1" noEditPoints="1" noAdjustHandles="1" noChangeArrowheads="1" noChangeShapeType="1" noTextEdit="1"/>
              </p:cNvSpPr>
              <p:nvPr/>
            </p:nvSpPr>
            <p:spPr>
              <a:xfrm>
                <a:off x="3286902" y="2455116"/>
                <a:ext cx="373115" cy="315792"/>
              </a:xfrm>
              <a:prstGeom prst="rect">
                <a:avLst/>
              </a:prstGeom>
              <a:blipFill>
                <a:blip r:embed="rId5"/>
                <a:stretch>
                  <a:fillRect l="-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819EE30F-6602-EC43-981B-73380DD002BA}"/>
                  </a:ext>
                </a:extLst>
              </p:cNvPr>
              <p:cNvSpPr txBox="1"/>
              <p:nvPr/>
            </p:nvSpPr>
            <p:spPr>
              <a:xfrm>
                <a:off x="3786060" y="1713670"/>
                <a:ext cx="390748" cy="340799"/>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𝑦𝑥</m:t>
                          </m:r>
                        </m:sub>
                      </m:sSub>
                    </m:oMath>
                  </m:oMathPara>
                </a14:m>
                <a:endParaRPr lang="en-US" dirty="0">
                  <a:latin typeface="Arial" panose="020B0604020202020204" pitchFamily="34" charset="0"/>
                  <a:cs typeface="Arial" panose="020B0604020202020204" pitchFamily="34" charset="0"/>
                </a:endParaRPr>
              </a:p>
            </p:txBody>
          </p:sp>
        </mc:Choice>
        <mc:Fallback xmlns="">
          <p:sp>
            <p:nvSpPr>
              <p:cNvPr id="66" name="TextBox 65">
                <a:extLst>
                  <a:ext uri="{FF2B5EF4-FFF2-40B4-BE49-F238E27FC236}">
                    <a16:creationId xmlns:a16="http://schemas.microsoft.com/office/drawing/2014/main" id="{819EE30F-6602-EC43-981B-73380DD002BA}"/>
                  </a:ext>
                </a:extLst>
              </p:cNvPr>
              <p:cNvSpPr txBox="1">
                <a:spLocks noRot="1" noChangeAspect="1" noMove="1" noResize="1" noEditPoints="1" noAdjustHandles="1" noChangeArrowheads="1" noChangeShapeType="1" noTextEdit="1"/>
              </p:cNvSpPr>
              <p:nvPr/>
            </p:nvSpPr>
            <p:spPr>
              <a:xfrm>
                <a:off x="3786060" y="1713670"/>
                <a:ext cx="390748" cy="340799"/>
              </a:xfrm>
              <a:prstGeom prst="rect">
                <a:avLst/>
              </a:prstGeom>
              <a:blipFill>
                <a:blip r:embed="rId6"/>
                <a:stretch>
                  <a:fillRect l="-6452" r="-3226" b="-17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2A24D4A3-1A59-4043-B195-CC2916F61374}"/>
                  </a:ext>
                </a:extLst>
              </p:cNvPr>
              <p:cNvSpPr txBox="1"/>
              <p:nvPr/>
            </p:nvSpPr>
            <p:spPr>
              <a:xfrm>
                <a:off x="2877113" y="1811048"/>
                <a:ext cx="390748" cy="340799"/>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𝑦𝑥</m:t>
                          </m:r>
                        </m:sub>
                      </m:sSub>
                    </m:oMath>
                  </m:oMathPara>
                </a14:m>
                <a:endParaRPr lang="en-US" dirty="0">
                  <a:latin typeface="Arial" panose="020B0604020202020204" pitchFamily="34" charset="0"/>
                  <a:cs typeface="Arial" panose="020B0604020202020204" pitchFamily="34" charset="0"/>
                </a:endParaRPr>
              </a:p>
            </p:txBody>
          </p:sp>
        </mc:Choice>
        <mc:Fallback xmlns="">
          <p:sp>
            <p:nvSpPr>
              <p:cNvPr id="67" name="TextBox 66">
                <a:extLst>
                  <a:ext uri="{FF2B5EF4-FFF2-40B4-BE49-F238E27FC236}">
                    <a16:creationId xmlns:a16="http://schemas.microsoft.com/office/drawing/2014/main" id="{2A24D4A3-1A59-4043-B195-CC2916F61374}"/>
                  </a:ext>
                </a:extLst>
              </p:cNvPr>
              <p:cNvSpPr txBox="1">
                <a:spLocks noRot="1" noChangeAspect="1" noMove="1" noResize="1" noEditPoints="1" noAdjustHandles="1" noChangeArrowheads="1" noChangeShapeType="1" noTextEdit="1"/>
              </p:cNvSpPr>
              <p:nvPr/>
            </p:nvSpPr>
            <p:spPr>
              <a:xfrm>
                <a:off x="2877113" y="1811048"/>
                <a:ext cx="390748" cy="340799"/>
              </a:xfrm>
              <a:prstGeom prst="rect">
                <a:avLst/>
              </a:prstGeom>
              <a:blipFill>
                <a:blip r:embed="rId7"/>
                <a:stretch>
                  <a:fillRect l="-3125" r="-3125" b="-17857"/>
                </a:stretch>
              </a:blipFill>
            </p:spPr>
            <p:txBody>
              <a:bodyPr/>
              <a:lstStyle/>
              <a:p>
                <a:r>
                  <a:rPr lang="en-US">
                    <a:noFill/>
                  </a:rPr>
                  <a:t> </a:t>
                </a:r>
              </a:p>
            </p:txBody>
          </p:sp>
        </mc:Fallback>
      </mc:AlternateContent>
      <p:cxnSp>
        <p:nvCxnSpPr>
          <p:cNvPr id="68" name="Straight Arrow Connector 67">
            <a:extLst>
              <a:ext uri="{FF2B5EF4-FFF2-40B4-BE49-F238E27FC236}">
                <a16:creationId xmlns:a16="http://schemas.microsoft.com/office/drawing/2014/main" id="{EC5AFEFB-A6FA-384B-862B-F105372E58D0}"/>
              </a:ext>
            </a:extLst>
          </p:cNvPr>
          <p:cNvCxnSpPr>
            <a:cxnSpLocks/>
          </p:cNvCxnSpPr>
          <p:nvPr/>
        </p:nvCxnSpPr>
        <p:spPr>
          <a:xfrm flipV="1">
            <a:off x="2705863" y="2400295"/>
            <a:ext cx="397435" cy="370613"/>
          </a:xfrm>
          <a:prstGeom prst="straightConnector1">
            <a:avLst/>
          </a:prstGeom>
          <a:ln w="28575">
            <a:solidFill>
              <a:srgbClr val="007AF3"/>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9E80B2FE-3DEA-E845-9B79-54A576DBD9F6}"/>
              </a:ext>
            </a:extLst>
          </p:cNvPr>
          <p:cNvCxnSpPr>
            <a:cxnSpLocks/>
          </p:cNvCxnSpPr>
          <p:nvPr/>
        </p:nvCxnSpPr>
        <p:spPr>
          <a:xfrm flipV="1">
            <a:off x="3810686" y="1306340"/>
            <a:ext cx="397435" cy="370613"/>
          </a:xfrm>
          <a:prstGeom prst="straightConnector1">
            <a:avLst/>
          </a:prstGeom>
          <a:ln w="28575">
            <a:solidFill>
              <a:srgbClr val="007AF3"/>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16266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35</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Local streamwise momentum conservation</a:t>
            </a:r>
          </a:p>
        </p:txBody>
      </p:sp>
      <p:cxnSp>
        <p:nvCxnSpPr>
          <p:cNvPr id="15" name="Straight Connector 14">
            <a:extLst>
              <a:ext uri="{FF2B5EF4-FFF2-40B4-BE49-F238E27FC236}">
                <a16:creationId xmlns:a16="http://schemas.microsoft.com/office/drawing/2014/main" id="{0FBD2180-E84B-A14C-A983-35EC124DBF5F}"/>
              </a:ext>
            </a:extLst>
          </p:cNvPr>
          <p:cNvCxnSpPr>
            <a:cxnSpLocks/>
          </p:cNvCxnSpPr>
          <p:nvPr/>
        </p:nvCxnSpPr>
        <p:spPr>
          <a:xfrm flipV="1">
            <a:off x="1606478" y="1753848"/>
            <a:ext cx="0" cy="1685762"/>
          </a:xfrm>
          <a:prstGeom prst="line">
            <a:avLst/>
          </a:prstGeom>
          <a:ln w="19050">
            <a:solidFill>
              <a:schemeClr val="tx1"/>
            </a:solidFill>
            <a:headEnd type="none" w="med" len="med"/>
            <a:tailEnd type="arrow" w="lg" len="lg"/>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5B39B85-6E02-634D-9C9E-6DBDA9D0EF7F}"/>
              </a:ext>
            </a:extLst>
          </p:cNvPr>
          <p:cNvCxnSpPr/>
          <p:nvPr/>
        </p:nvCxnSpPr>
        <p:spPr>
          <a:xfrm flipH="1">
            <a:off x="482757" y="3439247"/>
            <a:ext cx="1123721" cy="980501"/>
          </a:xfrm>
          <a:prstGeom prst="line">
            <a:avLst/>
          </a:prstGeom>
          <a:ln w="19050">
            <a:solidFill>
              <a:schemeClr val="tx1"/>
            </a:solidFill>
            <a:headEnd type="none" w="med" len="med"/>
            <a:tailEnd type="arrow" w="lg" len="lg"/>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453A63D-AED2-B647-9786-6F27F5594FF6}"/>
              </a:ext>
            </a:extLst>
          </p:cNvPr>
          <p:cNvCxnSpPr/>
          <p:nvPr/>
        </p:nvCxnSpPr>
        <p:spPr>
          <a:xfrm>
            <a:off x="1606478" y="3439247"/>
            <a:ext cx="2897436" cy="0"/>
          </a:xfrm>
          <a:prstGeom prst="line">
            <a:avLst/>
          </a:prstGeom>
          <a:ln w="19050">
            <a:solidFill>
              <a:schemeClr val="tx1"/>
            </a:solidFill>
            <a:headEnd type="none" w="med" len="med"/>
            <a:tailEnd type="arrow" w="lg" len="lg"/>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CEB748A7-71B2-0B46-A660-3669CADFEE7A}"/>
              </a:ext>
            </a:extLst>
          </p:cNvPr>
          <p:cNvSpPr txBox="1"/>
          <p:nvPr/>
        </p:nvSpPr>
        <p:spPr>
          <a:xfrm>
            <a:off x="482756" y="4419748"/>
            <a:ext cx="386675"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x</a:t>
            </a:r>
          </a:p>
        </p:txBody>
      </p:sp>
      <p:sp>
        <p:nvSpPr>
          <p:cNvPr id="19" name="TextBox 18">
            <a:extLst>
              <a:ext uri="{FF2B5EF4-FFF2-40B4-BE49-F238E27FC236}">
                <a16:creationId xmlns:a16="http://schemas.microsoft.com/office/drawing/2014/main" id="{D3599749-02CD-0643-B23F-3CB6CBBCABD3}"/>
              </a:ext>
            </a:extLst>
          </p:cNvPr>
          <p:cNvSpPr txBox="1"/>
          <p:nvPr/>
        </p:nvSpPr>
        <p:spPr>
          <a:xfrm>
            <a:off x="4428963" y="3408802"/>
            <a:ext cx="386675"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y</a:t>
            </a:r>
          </a:p>
        </p:txBody>
      </p:sp>
      <p:sp>
        <p:nvSpPr>
          <p:cNvPr id="20" name="TextBox 19">
            <a:extLst>
              <a:ext uri="{FF2B5EF4-FFF2-40B4-BE49-F238E27FC236}">
                <a16:creationId xmlns:a16="http://schemas.microsoft.com/office/drawing/2014/main" id="{7A5CD9D0-AF5B-1F44-B189-F42BB4893BD8}"/>
              </a:ext>
            </a:extLst>
          </p:cNvPr>
          <p:cNvSpPr txBox="1"/>
          <p:nvPr/>
        </p:nvSpPr>
        <p:spPr>
          <a:xfrm>
            <a:off x="1219803" y="1694058"/>
            <a:ext cx="386675"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z</a:t>
            </a:r>
          </a:p>
        </p:txBody>
      </p:sp>
      <p:cxnSp>
        <p:nvCxnSpPr>
          <p:cNvPr id="21" name="Straight Connector 20">
            <a:extLst>
              <a:ext uri="{FF2B5EF4-FFF2-40B4-BE49-F238E27FC236}">
                <a16:creationId xmlns:a16="http://schemas.microsoft.com/office/drawing/2014/main" id="{3F8DB2CD-118A-CA44-ADB1-1E5F128AEEBF}"/>
              </a:ext>
            </a:extLst>
          </p:cNvPr>
          <p:cNvCxnSpPr>
            <a:cxnSpLocks/>
          </p:cNvCxnSpPr>
          <p:nvPr/>
        </p:nvCxnSpPr>
        <p:spPr>
          <a:xfrm flipH="1">
            <a:off x="2457846" y="1221053"/>
            <a:ext cx="765041" cy="686115"/>
          </a:xfrm>
          <a:prstGeom prst="line">
            <a:avLst/>
          </a:prstGeom>
          <a:ln w="19050">
            <a:solidFill>
              <a:schemeClr val="tx1"/>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96E6DA2-388D-C24D-8AD4-CADF9577B8C5}"/>
              </a:ext>
            </a:extLst>
          </p:cNvPr>
          <p:cNvCxnSpPr>
            <a:cxnSpLocks/>
          </p:cNvCxnSpPr>
          <p:nvPr/>
        </p:nvCxnSpPr>
        <p:spPr>
          <a:xfrm flipH="1">
            <a:off x="3702569" y="1221053"/>
            <a:ext cx="765041" cy="686115"/>
          </a:xfrm>
          <a:prstGeom prst="line">
            <a:avLst/>
          </a:prstGeom>
          <a:ln w="19050">
            <a:solidFill>
              <a:schemeClr val="tx1"/>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918475D-01F0-7441-8A92-325D29E0B267}"/>
              </a:ext>
            </a:extLst>
          </p:cNvPr>
          <p:cNvCxnSpPr/>
          <p:nvPr/>
        </p:nvCxnSpPr>
        <p:spPr>
          <a:xfrm>
            <a:off x="2457846" y="1907168"/>
            <a:ext cx="124472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3819762-85D5-E640-ACBD-AD6B63A9A853}"/>
              </a:ext>
            </a:extLst>
          </p:cNvPr>
          <p:cNvCxnSpPr/>
          <p:nvPr/>
        </p:nvCxnSpPr>
        <p:spPr>
          <a:xfrm>
            <a:off x="3222887" y="1208234"/>
            <a:ext cx="124472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1592572-CC50-9E4F-989B-6FFA5F110862}"/>
              </a:ext>
            </a:extLst>
          </p:cNvPr>
          <p:cNvCxnSpPr>
            <a:cxnSpLocks/>
          </p:cNvCxnSpPr>
          <p:nvPr/>
        </p:nvCxnSpPr>
        <p:spPr>
          <a:xfrm flipH="1">
            <a:off x="3222887" y="1208234"/>
            <a:ext cx="2497" cy="98033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1983C86-2DBE-BE47-863B-5542404E9F10}"/>
              </a:ext>
            </a:extLst>
          </p:cNvPr>
          <p:cNvCxnSpPr>
            <a:cxnSpLocks/>
          </p:cNvCxnSpPr>
          <p:nvPr/>
        </p:nvCxnSpPr>
        <p:spPr>
          <a:xfrm flipH="1">
            <a:off x="2479926" y="1904088"/>
            <a:ext cx="2497" cy="9803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B9650B4-D578-2047-85BB-4B6E1598F8A6}"/>
              </a:ext>
            </a:extLst>
          </p:cNvPr>
          <p:cNvCxnSpPr>
            <a:cxnSpLocks/>
          </p:cNvCxnSpPr>
          <p:nvPr/>
        </p:nvCxnSpPr>
        <p:spPr>
          <a:xfrm flipH="1">
            <a:off x="3676065" y="1913851"/>
            <a:ext cx="2497" cy="9803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E9B145B-9FB7-C647-B178-CE08FE4B4063}"/>
              </a:ext>
            </a:extLst>
          </p:cNvPr>
          <p:cNvCxnSpPr>
            <a:cxnSpLocks/>
          </p:cNvCxnSpPr>
          <p:nvPr/>
        </p:nvCxnSpPr>
        <p:spPr>
          <a:xfrm flipH="1">
            <a:off x="4479966" y="1208234"/>
            <a:ext cx="2497" cy="9803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E251B70-EF9F-E04D-8F6A-839BD5CAC407}"/>
              </a:ext>
            </a:extLst>
          </p:cNvPr>
          <p:cNvCxnSpPr/>
          <p:nvPr/>
        </p:nvCxnSpPr>
        <p:spPr>
          <a:xfrm>
            <a:off x="2446332" y="2894181"/>
            <a:ext cx="124472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DF98099-5683-B442-8055-C14B4D72C35C}"/>
              </a:ext>
            </a:extLst>
          </p:cNvPr>
          <p:cNvCxnSpPr/>
          <p:nvPr/>
        </p:nvCxnSpPr>
        <p:spPr>
          <a:xfrm>
            <a:off x="3222886" y="2188564"/>
            <a:ext cx="1244723"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D1BE883-FA5A-F242-9043-5F7172149BB9}"/>
              </a:ext>
            </a:extLst>
          </p:cNvPr>
          <p:cNvCxnSpPr>
            <a:cxnSpLocks/>
          </p:cNvCxnSpPr>
          <p:nvPr/>
        </p:nvCxnSpPr>
        <p:spPr>
          <a:xfrm flipH="1">
            <a:off x="3690565" y="2198303"/>
            <a:ext cx="765041" cy="686115"/>
          </a:xfrm>
          <a:prstGeom prst="line">
            <a:avLst/>
          </a:prstGeom>
          <a:ln w="19050">
            <a:solidFill>
              <a:schemeClr val="tx1"/>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79687AD-5AE6-5148-84FC-7732AED2B79C}"/>
              </a:ext>
            </a:extLst>
          </p:cNvPr>
          <p:cNvCxnSpPr>
            <a:cxnSpLocks/>
          </p:cNvCxnSpPr>
          <p:nvPr/>
        </p:nvCxnSpPr>
        <p:spPr>
          <a:xfrm flipH="1">
            <a:off x="2477424" y="2185484"/>
            <a:ext cx="765041" cy="686115"/>
          </a:xfrm>
          <a:prstGeom prst="line">
            <a:avLst/>
          </a:prstGeom>
          <a:ln w="19050">
            <a:solidFill>
              <a:schemeClr val="tx1"/>
            </a:solidFill>
            <a:prstDash val="dash"/>
            <a:headEnd type="none" w="med" len="med"/>
            <a:tailEnd type="none" w="lg" len="lg"/>
          </a:ln>
        </p:spPr>
        <p:style>
          <a:lnRef idx="1">
            <a:schemeClr val="accent1"/>
          </a:lnRef>
          <a:fillRef idx="0">
            <a:schemeClr val="accent1"/>
          </a:fillRef>
          <a:effectRef idx="0">
            <a:schemeClr val="accent1"/>
          </a:effectRef>
          <a:fontRef idx="minor">
            <a:schemeClr val="tx1"/>
          </a:fontRef>
        </p:style>
      </p:cxnSp>
      <p:sp>
        <p:nvSpPr>
          <p:cNvPr id="35" name="Freeform 34">
            <a:extLst>
              <a:ext uri="{FF2B5EF4-FFF2-40B4-BE49-F238E27FC236}">
                <a16:creationId xmlns:a16="http://schemas.microsoft.com/office/drawing/2014/main" id="{E6A74D7B-E0D2-294F-BA02-B714E9E45586}"/>
              </a:ext>
            </a:extLst>
          </p:cNvPr>
          <p:cNvSpPr/>
          <p:nvPr/>
        </p:nvSpPr>
        <p:spPr>
          <a:xfrm>
            <a:off x="2503357" y="1199213"/>
            <a:ext cx="1963712" cy="704538"/>
          </a:xfrm>
          <a:custGeom>
            <a:avLst/>
            <a:gdLst>
              <a:gd name="connsiteX0" fmla="*/ 704538 w 1963712"/>
              <a:gd name="connsiteY0" fmla="*/ 0 h 704538"/>
              <a:gd name="connsiteX1" fmla="*/ 0 w 1963712"/>
              <a:gd name="connsiteY1" fmla="*/ 674557 h 704538"/>
              <a:gd name="connsiteX2" fmla="*/ 1184223 w 1963712"/>
              <a:gd name="connsiteY2" fmla="*/ 704538 h 704538"/>
              <a:gd name="connsiteX3" fmla="*/ 1963712 w 1963712"/>
              <a:gd name="connsiteY3" fmla="*/ 44971 h 704538"/>
              <a:gd name="connsiteX4" fmla="*/ 704538 w 1963712"/>
              <a:gd name="connsiteY4" fmla="*/ 0 h 7045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3712" h="704538">
                <a:moveTo>
                  <a:pt x="704538" y="0"/>
                </a:moveTo>
                <a:lnTo>
                  <a:pt x="0" y="674557"/>
                </a:lnTo>
                <a:lnTo>
                  <a:pt x="1184223" y="704538"/>
                </a:lnTo>
                <a:lnTo>
                  <a:pt x="1963712" y="44971"/>
                </a:lnTo>
                <a:lnTo>
                  <a:pt x="704538" y="0"/>
                </a:lnTo>
                <a:close/>
              </a:path>
            </a:pathLst>
          </a:custGeom>
          <a:solidFill>
            <a:schemeClr val="accent4">
              <a:lumMod val="75000"/>
              <a:alpha val="21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35">
            <a:extLst>
              <a:ext uri="{FF2B5EF4-FFF2-40B4-BE49-F238E27FC236}">
                <a16:creationId xmlns:a16="http://schemas.microsoft.com/office/drawing/2014/main" id="{9FFBF7C4-9DDE-2645-81D0-F5A8028C577A}"/>
              </a:ext>
            </a:extLst>
          </p:cNvPr>
          <p:cNvSpPr/>
          <p:nvPr/>
        </p:nvSpPr>
        <p:spPr>
          <a:xfrm>
            <a:off x="2506884" y="2188733"/>
            <a:ext cx="1963712" cy="704538"/>
          </a:xfrm>
          <a:custGeom>
            <a:avLst/>
            <a:gdLst>
              <a:gd name="connsiteX0" fmla="*/ 704538 w 1963712"/>
              <a:gd name="connsiteY0" fmla="*/ 0 h 704538"/>
              <a:gd name="connsiteX1" fmla="*/ 0 w 1963712"/>
              <a:gd name="connsiteY1" fmla="*/ 674557 h 704538"/>
              <a:gd name="connsiteX2" fmla="*/ 1184223 w 1963712"/>
              <a:gd name="connsiteY2" fmla="*/ 704538 h 704538"/>
              <a:gd name="connsiteX3" fmla="*/ 1963712 w 1963712"/>
              <a:gd name="connsiteY3" fmla="*/ 44971 h 704538"/>
              <a:gd name="connsiteX4" fmla="*/ 704538 w 1963712"/>
              <a:gd name="connsiteY4" fmla="*/ 0 h 7045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3712" h="704538">
                <a:moveTo>
                  <a:pt x="704538" y="0"/>
                </a:moveTo>
                <a:lnTo>
                  <a:pt x="0" y="674557"/>
                </a:lnTo>
                <a:lnTo>
                  <a:pt x="1184223" y="704538"/>
                </a:lnTo>
                <a:lnTo>
                  <a:pt x="1963712" y="44971"/>
                </a:lnTo>
                <a:lnTo>
                  <a:pt x="704538" y="0"/>
                </a:lnTo>
                <a:close/>
              </a:path>
            </a:pathLst>
          </a:custGeom>
          <a:solidFill>
            <a:schemeClr val="accent4">
              <a:lumMod val="75000"/>
              <a:alpha val="43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8BD5EE7E-F2A6-8C44-BE45-230498A61EEC}"/>
              </a:ext>
            </a:extLst>
          </p:cNvPr>
          <p:cNvSpPr>
            <a:spLocks noChangeAspect="1"/>
          </p:cNvSpPr>
          <p:nvPr/>
        </p:nvSpPr>
        <p:spPr>
          <a:xfrm>
            <a:off x="2424561" y="2797716"/>
            <a:ext cx="126908" cy="126000"/>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DF9F112F-92C0-FB45-8307-74A9FE76CA19}"/>
              </a:ext>
            </a:extLst>
          </p:cNvPr>
          <p:cNvSpPr>
            <a:spLocks noChangeAspect="1"/>
          </p:cNvSpPr>
          <p:nvPr/>
        </p:nvSpPr>
        <p:spPr>
          <a:xfrm>
            <a:off x="4376319" y="1151064"/>
            <a:ext cx="126908" cy="126000"/>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D52C2A98-FAA1-A940-A457-D14D02E7D571}"/>
              </a:ext>
            </a:extLst>
          </p:cNvPr>
          <p:cNvSpPr txBox="1"/>
          <p:nvPr/>
        </p:nvSpPr>
        <p:spPr>
          <a:xfrm>
            <a:off x="1569348" y="2661032"/>
            <a:ext cx="982119"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(x, y, z)</a:t>
            </a:r>
          </a:p>
        </p:txBody>
      </p:sp>
      <p:sp>
        <p:nvSpPr>
          <p:cNvPr id="46" name="TextBox 45">
            <a:extLst>
              <a:ext uri="{FF2B5EF4-FFF2-40B4-BE49-F238E27FC236}">
                <a16:creationId xmlns:a16="http://schemas.microsoft.com/office/drawing/2014/main" id="{5FBF6A86-B498-9441-AD60-5FB0D9361D40}"/>
              </a:ext>
            </a:extLst>
          </p:cNvPr>
          <p:cNvSpPr txBox="1"/>
          <p:nvPr/>
        </p:nvSpPr>
        <p:spPr>
          <a:xfrm>
            <a:off x="4030540" y="743940"/>
            <a:ext cx="2377129"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x+</a:t>
            </a:r>
            <a:r>
              <a:rPr lang="en-US"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x</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y+</a:t>
            </a:r>
            <a:r>
              <a:rPr lang="en-US"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z+</a:t>
            </a:r>
            <a:r>
              <a:rPr lang="en-US"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z</a:t>
            </a:r>
            <a:r>
              <a:rPr lang="en-US" dirty="0">
                <a:latin typeface="Arial" panose="020B0604020202020204" pitchFamily="34" charset="0"/>
                <a:cs typeface="Arial" panose="020B0604020202020204" pitchFamily="34" charset="0"/>
              </a:rPr>
              <a:t>)</a:t>
            </a:r>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2C6FC912-0B97-CA47-8BE4-0889ECA550FF}"/>
                  </a:ext>
                </a:extLst>
              </p:cNvPr>
              <p:cNvSpPr txBox="1"/>
              <p:nvPr/>
            </p:nvSpPr>
            <p:spPr>
              <a:xfrm>
                <a:off x="1044617" y="4197110"/>
                <a:ext cx="9873665" cy="1803764"/>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m:t>
                          </m:r>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d>
                        <m:dPr>
                          <m:ctrlPr>
                            <a:rPr lang="en-US" i="1" smtClean="0">
                              <a:latin typeface="Cambria Math" panose="02040503050406030204" pitchFamily="18" charset="0"/>
                              <a:cs typeface="Arial" panose="020B0604020202020204" pitchFamily="34" charset="0"/>
                            </a:rPr>
                          </m:ctrlPr>
                        </m:dPr>
                        <m:e>
                          <m:r>
                            <a:rPr lang="en-US" i="1">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cs typeface="Arial" panose="020B0604020202020204" pitchFamily="34" charset="0"/>
                            </a:rPr>
                            <m:t>𝑢</m:t>
                          </m:r>
                        </m:e>
                      </m:d>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d>
                            <m:dPr>
                              <m:begChr m:val=""/>
                              <m:end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r>
                                    <a:rPr lang="en-US" i="1">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cs typeface="Arial" panose="020B0604020202020204" pitchFamily="34" charset="0"/>
                                    </a:rPr>
                                    <m:t>𝑢</m:t>
                                  </m:r>
                                  <m:r>
                                    <a:rPr lang="en-US" b="0" i="1" smtClean="0">
                                      <a:latin typeface="Cambria Math" panose="02040503050406030204" pitchFamily="18" charset="0"/>
                                      <a:cs typeface="Arial" panose="020B0604020202020204" pitchFamily="34" charset="0"/>
                                    </a:rPr>
                                    <m:t>𝑢</m:t>
                                  </m:r>
                                </m:e>
                              </m:d>
                            </m:e>
                          </m:d>
                        </m:e>
                        <m:sub>
                          <m:r>
                            <a:rPr lang="en-US" b="0" i="1" smtClean="0">
                              <a:latin typeface="Cambria Math" panose="02040503050406030204" pitchFamily="18" charset="0"/>
                              <a:ea typeface="Cambria Math" panose="02040503050406030204" pitchFamily="18" charset="0"/>
                              <a:cs typeface="Arial" panose="020B0604020202020204" pitchFamily="34" charset="0"/>
                            </a:rPr>
                            <m:t>𝑥</m:t>
                          </m:r>
                        </m:sub>
                      </m:sSub>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𝑦</m:t>
                      </m:r>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𝑧</m:t>
                      </m:r>
                      <m:r>
                        <a:rPr lang="en-US" i="1">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d>
                            <m:dPr>
                              <m:begChr m:val=""/>
                              <m:endChr m:val="|"/>
                              <m:ctrlPr>
                                <a:rPr lang="en-US" i="1">
                                  <a:latin typeface="Cambria Math" panose="02040503050406030204" pitchFamily="18" charset="0"/>
                                  <a:ea typeface="Cambria Math" panose="02040503050406030204" pitchFamily="18" charset="0"/>
                                  <a:cs typeface="Arial" panose="020B0604020202020204" pitchFamily="34" charset="0"/>
                                </a:rPr>
                              </m:ctrlPr>
                            </m:d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r>
                                    <a:rPr lang="en-US" i="1">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cs typeface="Arial" panose="020B0604020202020204" pitchFamily="34" charset="0"/>
                                    </a:rPr>
                                    <m:t>𝑢</m:t>
                                  </m:r>
                                  <m:r>
                                    <a:rPr lang="en-US" b="0" i="1" smtClean="0">
                                      <a:latin typeface="Cambria Math" panose="02040503050406030204" pitchFamily="18" charset="0"/>
                                      <a:cs typeface="Arial" panose="020B0604020202020204" pitchFamily="34" charset="0"/>
                                    </a:rPr>
                                    <m:t>𝑢</m:t>
                                  </m:r>
                                </m:e>
                              </m:d>
                            </m:e>
                          </m:d>
                        </m:e>
                        <m:sub>
                          <m:r>
                            <a:rPr lang="en-US" i="1">
                              <a:latin typeface="Cambria Math" panose="02040503050406030204" pitchFamily="18" charset="0"/>
                              <a:ea typeface="Cambria Math" panose="02040503050406030204" pitchFamily="18" charset="0"/>
                              <a:cs typeface="Arial" panose="020B0604020202020204" pitchFamily="34" charset="0"/>
                            </a:rPr>
                            <m:t>𝑥</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sub>
                      </m:sSub>
                      <m:r>
                        <m:rPr>
                          <m:nor/>
                        </m:rPr>
                        <a:rPr lang="en-US" i="0" dirty="0">
                          <a:ea typeface="Cambria Math" panose="02040503050406030204" pitchFamily="18" charset="0"/>
                          <a:cs typeface="Arial" panose="020B0604020202020204" pitchFamily="34" charset="0"/>
                        </a:rPr>
                        <m:t> </m:t>
                      </m:r>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𝑦</m:t>
                      </m:r>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𝑧</m:t>
                      </m:r>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d>
                            <m:dPr>
                              <m:begChr m:val=""/>
                              <m:endChr m:val="|"/>
                              <m:ctrlPr>
                                <a:rPr lang="en-US" i="1">
                                  <a:latin typeface="Cambria Math" panose="02040503050406030204" pitchFamily="18" charset="0"/>
                                  <a:ea typeface="Cambria Math" panose="02040503050406030204" pitchFamily="18" charset="0"/>
                                  <a:cs typeface="Arial" panose="020B0604020202020204" pitchFamily="34" charset="0"/>
                                </a:rPr>
                              </m:ctrlPr>
                            </m:d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r>
                                    <a:rPr lang="en-US" i="1">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cs typeface="Arial" panose="020B0604020202020204" pitchFamily="34" charset="0"/>
                                    </a:rPr>
                                    <m:t>𝑣𝑢</m:t>
                                  </m:r>
                                </m:e>
                              </m:d>
                            </m:e>
                          </m:d>
                        </m:e>
                        <m:sub>
                          <m:r>
                            <a:rPr lang="en-US" b="0" i="1" smtClean="0">
                              <a:latin typeface="Cambria Math" panose="02040503050406030204" pitchFamily="18" charset="0"/>
                              <a:cs typeface="Arial" panose="020B0604020202020204" pitchFamily="34" charset="0"/>
                            </a:rPr>
                            <m:t>𝑦</m:t>
                          </m:r>
                        </m:sub>
                      </m:sSub>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r>
                        <a:rPr lang="en-US" i="1">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d>
                            <m:dPr>
                              <m:begChr m:val=""/>
                              <m:endChr m:val="|"/>
                              <m:ctrlPr>
                                <a:rPr lang="en-US" i="1">
                                  <a:latin typeface="Cambria Math" panose="02040503050406030204" pitchFamily="18" charset="0"/>
                                  <a:ea typeface="Cambria Math" panose="02040503050406030204" pitchFamily="18" charset="0"/>
                                  <a:cs typeface="Arial" panose="020B0604020202020204" pitchFamily="34" charset="0"/>
                                </a:rPr>
                              </m:ctrlPr>
                            </m:d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r>
                                    <a:rPr lang="en-US" i="1">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cs typeface="Arial" panose="020B0604020202020204" pitchFamily="34" charset="0"/>
                                    </a:rPr>
                                    <m:t>𝑣𝑢</m:t>
                                  </m:r>
                                </m:e>
                              </m:d>
                            </m:e>
                          </m:d>
                        </m:e>
                        <m:sub>
                          <m:r>
                            <a:rPr lang="en-US" b="0" i="1" smtClean="0">
                              <a:latin typeface="Cambria Math" panose="02040503050406030204" pitchFamily="18" charset="0"/>
                              <a:cs typeface="Arial" panose="020B0604020202020204" pitchFamily="34" charset="0"/>
                            </a:rPr>
                            <m:t>𝑦</m:t>
                          </m:r>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sub>
                      </m:sSub>
                      <m:r>
                        <m:rPr>
                          <m:nor/>
                        </m:rPr>
                        <a:rPr lang="en-US" i="0" dirty="0">
                          <a:ea typeface="Cambria Math" panose="02040503050406030204" pitchFamily="18" charset="0"/>
                          <a:cs typeface="Arial" panose="020B0604020202020204" pitchFamily="34" charset="0"/>
                        </a:rPr>
                        <m:t> </m:t>
                      </m:r>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r>
                        <a:rPr lang="en-US" b="0" i="1" smtClean="0">
                          <a:latin typeface="Cambria Math" panose="02040503050406030204" pitchFamily="18" charset="0"/>
                          <a:ea typeface="Cambria Math" panose="02040503050406030204" pitchFamily="18" charset="0"/>
                          <a:cs typeface="Arial" panose="020B0604020202020204" pitchFamily="34" charset="0"/>
                        </a:rPr>
                        <m:t>+</m:t>
                      </m:r>
                    </m:oMath>
                  </m:oMathPara>
                </a14:m>
                <a:endParaRPr lang="en-US" b="0" i="1" dirty="0">
                  <a:latin typeface="Cambria Math" panose="02040503050406030204" pitchFamily="18" charset="0"/>
                  <a:ea typeface="Cambria Math" panose="02040503050406030204" pitchFamily="18" charset="0"/>
                  <a:cs typeface="Arial" panose="020B0604020202020204" pitchFamily="34" charset="0"/>
                </a:endParaRPr>
              </a:p>
              <a:p>
                <a:pPr>
                  <a:lnSpc>
                    <a:spcPct val="114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d>
                            <m:dPr>
                              <m:begChr m:val=""/>
                              <m:endChr m:val="|"/>
                              <m:ctrlPr>
                                <a:rPr lang="en-US" i="1">
                                  <a:latin typeface="Cambria Math" panose="02040503050406030204" pitchFamily="18" charset="0"/>
                                  <a:ea typeface="Cambria Math" panose="02040503050406030204" pitchFamily="18" charset="0"/>
                                  <a:cs typeface="Arial" panose="020B0604020202020204" pitchFamily="34" charset="0"/>
                                </a:rPr>
                              </m:ctrlPr>
                            </m:dPr>
                            <m:e>
                              <m:d>
                                <m:dPr>
                                  <m:ctrlPr>
                                    <a:rPr lang="en-US" i="1" smtClean="0">
                                      <a:latin typeface="Cambria Math" panose="02040503050406030204" pitchFamily="18" charset="0"/>
                                      <a:ea typeface="Cambria Math" panose="02040503050406030204" pitchFamily="18" charset="0"/>
                                      <a:cs typeface="Arial" panose="020B0604020202020204" pitchFamily="34" charset="0"/>
                                    </a:rPr>
                                  </m:ctrlPr>
                                </m:dPr>
                                <m:e>
                                  <m:r>
                                    <a:rPr lang="en-US" i="1">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ea typeface="Cambria Math" panose="02040503050406030204" pitchFamily="18" charset="0"/>
                                      <a:cs typeface="Arial" panose="020B0604020202020204" pitchFamily="34" charset="0"/>
                                    </a:rPr>
                                    <m:t>𝑤𝑢</m:t>
                                  </m:r>
                                </m:e>
                              </m:d>
                            </m:e>
                          </m:d>
                        </m:e>
                        <m:sub>
                          <m:r>
                            <a:rPr lang="en-US" i="1">
                              <a:latin typeface="Cambria Math" panose="02040503050406030204" pitchFamily="18" charset="0"/>
                              <a:cs typeface="Arial" panose="020B0604020202020204" pitchFamily="34" charset="0"/>
                            </a:rPr>
                            <m:t>𝑧</m:t>
                          </m:r>
                        </m:sub>
                      </m:sSub>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𝑥</m:t>
                      </m:r>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𝑦</m:t>
                      </m:r>
                      <m:r>
                        <a:rPr lang="en-US" i="1">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d>
                            <m:dPr>
                              <m:begChr m:val=""/>
                              <m:endChr m:val="|"/>
                              <m:ctrlPr>
                                <a:rPr lang="en-US" i="1">
                                  <a:latin typeface="Cambria Math" panose="02040503050406030204" pitchFamily="18" charset="0"/>
                                  <a:ea typeface="Cambria Math" panose="02040503050406030204" pitchFamily="18" charset="0"/>
                                  <a:cs typeface="Arial" panose="020B0604020202020204" pitchFamily="34" charset="0"/>
                                </a:rPr>
                              </m:ctrlPr>
                            </m:d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r>
                                    <a:rPr lang="en-US" i="1">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ea typeface="Cambria Math" panose="02040503050406030204" pitchFamily="18" charset="0"/>
                                      <a:cs typeface="Arial" panose="020B0604020202020204" pitchFamily="34" charset="0"/>
                                    </a:rPr>
                                    <m:t>𝑤𝑢</m:t>
                                  </m:r>
                                </m:e>
                              </m:d>
                            </m:e>
                          </m:d>
                        </m:e>
                        <m:sub>
                          <m:r>
                            <a:rPr lang="en-US" i="1">
                              <a:latin typeface="Cambria Math" panose="02040503050406030204" pitchFamily="18" charset="0"/>
                              <a:cs typeface="Arial" panose="020B0604020202020204" pitchFamily="34" charset="0"/>
                            </a:rPr>
                            <m:t>𝑧</m:t>
                          </m:r>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𝑧</m:t>
                          </m:r>
                        </m:sub>
                      </m:sSub>
                      <m:r>
                        <m:rPr>
                          <m:nor/>
                        </m:rPr>
                        <a:rPr lang="en-US" i="0" dirty="0">
                          <a:ea typeface="Cambria Math" panose="02040503050406030204" pitchFamily="18" charset="0"/>
                          <a:cs typeface="Arial" panose="020B0604020202020204" pitchFamily="34" charset="0"/>
                        </a:rPr>
                        <m:t> </m:t>
                      </m:r>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𝑥</m:t>
                      </m:r>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𝑦</m:t>
                      </m:r>
                      <m:r>
                        <a:rPr lang="en-US" i="1">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d>
                            <m:dPr>
                              <m:begChr m:val=""/>
                              <m:endChr m:val="|"/>
                              <m:ctrlPr>
                                <a:rPr lang="en-US" i="1">
                                  <a:latin typeface="Cambria Math" panose="02040503050406030204" pitchFamily="18" charset="0"/>
                                  <a:ea typeface="Cambria Math" panose="02040503050406030204" pitchFamily="18" charset="0"/>
                                  <a:cs typeface="Arial" panose="020B0604020202020204" pitchFamily="34" charset="0"/>
                                </a:rPr>
                              </m:ctrlPr>
                            </m:dPr>
                            <m:e>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𝜎</m:t>
                                  </m:r>
                                </m:e>
                                <m:sub>
                                  <m:r>
                                    <a:rPr lang="en-US" i="1">
                                      <a:latin typeface="Cambria Math" panose="02040503050406030204" pitchFamily="18" charset="0"/>
                                      <a:ea typeface="Cambria Math" panose="02040503050406030204" pitchFamily="18" charset="0"/>
                                      <a:cs typeface="Arial" panose="020B0604020202020204" pitchFamily="34" charset="0"/>
                                    </a:rPr>
                                    <m:t>𝑥</m:t>
                                  </m:r>
                                </m:sub>
                              </m:sSub>
                            </m:e>
                          </m:d>
                        </m:e>
                        <m:sub>
                          <m:r>
                            <a:rPr lang="en-US" i="1">
                              <a:latin typeface="Cambria Math" panose="02040503050406030204" pitchFamily="18" charset="0"/>
                              <a:ea typeface="Cambria Math" panose="02040503050406030204" pitchFamily="18" charset="0"/>
                              <a:cs typeface="Arial" panose="020B0604020202020204" pitchFamily="34" charset="0"/>
                            </a:rPr>
                            <m:t>𝑥</m:t>
                          </m:r>
                        </m:sub>
                      </m:sSub>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𝑧</m:t>
                      </m:r>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𝑦</m:t>
                      </m:r>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d>
                            <m:dPr>
                              <m:begChr m:val=""/>
                              <m:endChr m:val="|"/>
                              <m:ctrlPr>
                                <a:rPr lang="en-US" i="1">
                                  <a:latin typeface="Cambria Math" panose="02040503050406030204" pitchFamily="18" charset="0"/>
                                  <a:ea typeface="Cambria Math" panose="02040503050406030204" pitchFamily="18" charset="0"/>
                                  <a:cs typeface="Arial" panose="020B0604020202020204" pitchFamily="34" charset="0"/>
                                </a:rPr>
                              </m:ctrlPr>
                            </m:dPr>
                            <m:e>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𝜎</m:t>
                                  </m:r>
                                </m:e>
                                <m:sub>
                                  <m:r>
                                    <a:rPr lang="en-US" i="1">
                                      <a:latin typeface="Cambria Math" panose="02040503050406030204" pitchFamily="18" charset="0"/>
                                      <a:ea typeface="Cambria Math" panose="02040503050406030204" pitchFamily="18" charset="0"/>
                                      <a:cs typeface="Arial" panose="020B0604020202020204" pitchFamily="34" charset="0"/>
                                    </a:rPr>
                                    <m:t>𝑥</m:t>
                                  </m:r>
                                </m:sub>
                              </m:sSub>
                            </m:e>
                          </m:d>
                        </m:e>
                        <m:sub>
                          <m:r>
                            <a:rPr lang="en-US" b="0" i="1" smtClean="0">
                              <a:latin typeface="Cambria Math" panose="02040503050406030204" pitchFamily="18" charset="0"/>
                              <a:ea typeface="Cambria Math" panose="02040503050406030204" pitchFamily="18" charset="0"/>
                              <a:cs typeface="Arial" panose="020B0604020202020204" pitchFamily="34" charset="0"/>
                            </a:rPr>
                            <m:t>𝑥</m:t>
                          </m:r>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𝑥</m:t>
                          </m:r>
                        </m:sub>
                      </m:sSub>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𝑦</m:t>
                      </m:r>
                      <m:r>
                        <a:rPr lang="en-US" i="1">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d>
                            <m:dPr>
                              <m:begChr m:val=""/>
                              <m:endChr m:val="|"/>
                              <m:ctrlPr>
                                <a:rPr lang="en-US" i="1">
                                  <a:latin typeface="Cambria Math" panose="02040503050406030204" pitchFamily="18" charset="0"/>
                                  <a:ea typeface="Cambria Math" panose="02040503050406030204" pitchFamily="18" charset="0"/>
                                  <a:cs typeface="Arial" panose="020B0604020202020204" pitchFamily="34" charset="0"/>
                                </a:rPr>
                              </m:ctrlPr>
                            </m:dPr>
                            <m:e>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ea typeface="Cambria Math" panose="02040503050406030204" pitchFamily="18" charset="0"/>
                                      <a:cs typeface="Arial" panose="020B0604020202020204" pitchFamily="34" charset="0"/>
                                    </a:rPr>
                                    <m:t>𝑦𝑥</m:t>
                                  </m:r>
                                </m:sub>
                              </m:sSub>
                            </m:e>
                          </m:d>
                        </m:e>
                        <m:sub>
                          <m:r>
                            <a:rPr lang="en-US" i="1">
                              <a:latin typeface="Cambria Math" panose="02040503050406030204" pitchFamily="18" charset="0"/>
                              <a:ea typeface="Cambria Math" panose="02040503050406030204" pitchFamily="18" charset="0"/>
                              <a:cs typeface="Arial" panose="020B0604020202020204" pitchFamily="34" charset="0"/>
                            </a:rPr>
                            <m:t>𝑦</m:t>
                          </m:r>
                        </m:sub>
                      </m:sSub>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𝑥</m:t>
                      </m:r>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𝑧</m:t>
                      </m:r>
                      <m:r>
                        <a:rPr lang="en-US" i="1">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d>
                            <m:dPr>
                              <m:begChr m:val=""/>
                              <m:endChr m:val="|"/>
                              <m:ctrlPr>
                                <a:rPr lang="en-US" i="1">
                                  <a:latin typeface="Cambria Math" panose="02040503050406030204" pitchFamily="18" charset="0"/>
                                  <a:ea typeface="Cambria Math" panose="02040503050406030204" pitchFamily="18" charset="0"/>
                                  <a:cs typeface="Arial" panose="020B0604020202020204" pitchFamily="34" charset="0"/>
                                </a:rPr>
                              </m:ctrlPr>
                            </m:dPr>
                            <m:e>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ea typeface="Cambria Math" panose="02040503050406030204" pitchFamily="18" charset="0"/>
                                      <a:cs typeface="Arial" panose="020B0604020202020204" pitchFamily="34" charset="0"/>
                                    </a:rPr>
                                    <m:t>𝑦𝑥</m:t>
                                  </m:r>
                                </m:sub>
                              </m:sSub>
                            </m:e>
                          </m:d>
                        </m:e>
                        <m:sub>
                          <m:r>
                            <a:rPr lang="en-US" i="1">
                              <a:latin typeface="Cambria Math" panose="02040503050406030204" pitchFamily="18" charset="0"/>
                              <a:ea typeface="Cambria Math" panose="02040503050406030204" pitchFamily="18" charset="0"/>
                              <a:cs typeface="Arial" panose="020B0604020202020204" pitchFamily="34" charset="0"/>
                            </a:rPr>
                            <m:t>𝑦</m:t>
                          </m:r>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𝑦</m:t>
                          </m:r>
                        </m:sub>
                      </m:sSub>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𝑥</m:t>
                      </m:r>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𝑧</m:t>
                      </m:r>
                      <m:r>
                        <a:rPr lang="en-US" b="0" i="1" smtClean="0">
                          <a:latin typeface="Cambria Math" panose="02040503050406030204" pitchFamily="18" charset="0"/>
                          <a:ea typeface="Cambria Math" panose="02040503050406030204" pitchFamily="18" charset="0"/>
                          <a:cs typeface="Arial" panose="020B0604020202020204" pitchFamily="34" charset="0"/>
                        </a:rPr>
                        <m:t>+</m:t>
                      </m:r>
                    </m:oMath>
                  </m:oMathPara>
                </a14:m>
                <a:endParaRPr lang="en-US" i="1" dirty="0">
                  <a:latin typeface="Cambria Math" panose="02040503050406030204" pitchFamily="18" charset="0"/>
                  <a:ea typeface="Cambria Math" panose="02040503050406030204" pitchFamily="18" charset="0"/>
                  <a:cs typeface="Arial" panose="020B0604020202020204" pitchFamily="34" charset="0"/>
                </a:endParaRPr>
              </a:p>
              <a:p>
                <a:pPr>
                  <a:lnSpc>
                    <a:spcPct val="114000"/>
                  </a:lnSpc>
                </a:pPr>
                <a14:m>
                  <m:oMath xmlns:m="http://schemas.openxmlformats.org/officeDocument/2006/math">
                    <m:r>
                      <a:rPr lang="en-US" i="1">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d>
                          <m:dPr>
                            <m:begChr m:val=""/>
                            <m:endChr m:val="|"/>
                            <m:ctrlPr>
                              <a:rPr lang="en-US" i="1">
                                <a:latin typeface="Cambria Math" panose="02040503050406030204" pitchFamily="18" charset="0"/>
                                <a:ea typeface="Cambria Math" panose="02040503050406030204" pitchFamily="18" charset="0"/>
                                <a:cs typeface="Arial" panose="020B0604020202020204" pitchFamily="34" charset="0"/>
                              </a:rPr>
                            </m:ctrlPr>
                          </m:dPr>
                          <m:e>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ea typeface="Cambria Math" panose="02040503050406030204" pitchFamily="18" charset="0"/>
                                    <a:cs typeface="Arial" panose="020B0604020202020204" pitchFamily="34" charset="0"/>
                                  </a:rPr>
                                  <m:t>𝑧𝑥</m:t>
                                </m:r>
                              </m:sub>
                            </m:sSub>
                          </m:e>
                        </m:d>
                      </m:e>
                      <m:sub>
                        <m:r>
                          <a:rPr lang="en-US" i="1">
                            <a:latin typeface="Cambria Math" panose="02040503050406030204" pitchFamily="18" charset="0"/>
                            <a:ea typeface="Cambria Math" panose="02040503050406030204" pitchFamily="18" charset="0"/>
                            <a:cs typeface="Arial" panose="020B0604020202020204" pitchFamily="34" charset="0"/>
                          </a:rPr>
                          <m:t>𝑧</m:t>
                        </m:r>
                      </m:sub>
                    </m:sSub>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𝑥</m:t>
                    </m:r>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𝑦</m:t>
                    </m:r>
                    <m:r>
                      <a:rPr lang="en-US" i="1">
                        <a:latin typeface="Cambria Math" panose="02040503050406030204" pitchFamily="18" charset="0"/>
                        <a:ea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d>
                          <m:dPr>
                            <m:begChr m:val=""/>
                            <m:end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𝑧𝑥</m:t>
                                </m:r>
                              </m:sub>
                            </m:sSub>
                          </m:e>
                        </m:d>
                      </m:e>
                      <m:sub>
                        <m:r>
                          <a:rPr lang="en-US" b="0" i="1" smtClean="0">
                            <a:latin typeface="Cambria Math" panose="02040503050406030204" pitchFamily="18" charset="0"/>
                            <a:ea typeface="Cambria Math" panose="02040503050406030204" pitchFamily="18" charset="0"/>
                            <a:cs typeface="Arial" panose="020B0604020202020204" pitchFamily="34" charset="0"/>
                          </a:rPr>
                          <m:t>𝑧</m:t>
                        </m:r>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𝑧</m:t>
                        </m:r>
                      </m:sub>
                    </m:sSub>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𝑥</m:t>
                    </m:r>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𝑦</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𝑔</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𝑧𝑆</m:t>
                    </m:r>
                  </m:oMath>
                </a14:m>
                <a:r>
                  <a:rPr lang="en-US" dirty="0">
                    <a:latin typeface="Arial" panose="020B0604020202020204" pitchFamily="34" charset="0"/>
                    <a:cs typeface="Arial" panose="020B0604020202020204" pitchFamily="34" charset="0"/>
                  </a:rPr>
                  <a:t>  </a:t>
                </a:r>
              </a:p>
              <a:p>
                <a:pPr>
                  <a:lnSpc>
                    <a:spcPct val="114000"/>
                  </a:lnSpc>
                </a:pPr>
                <a:endParaRPr lang="en-US" b="0" i="1" dirty="0">
                  <a:latin typeface="Cambria Math" panose="02040503050406030204" pitchFamily="18" charset="0"/>
                  <a:ea typeface="Cambria Math" panose="02040503050406030204" pitchFamily="18" charset="0"/>
                  <a:cs typeface="Arial" panose="020B0604020202020204" pitchFamily="34" charset="0"/>
                </a:endParaRPr>
              </a:p>
            </p:txBody>
          </p:sp>
        </mc:Choice>
        <mc:Fallback xmlns="">
          <p:sp>
            <p:nvSpPr>
              <p:cNvPr id="48" name="TextBox 47">
                <a:extLst>
                  <a:ext uri="{FF2B5EF4-FFF2-40B4-BE49-F238E27FC236}">
                    <a16:creationId xmlns:a16="http://schemas.microsoft.com/office/drawing/2014/main" id="{2C6FC912-0B97-CA47-8BE4-0889ECA550FF}"/>
                  </a:ext>
                </a:extLst>
              </p:cNvPr>
              <p:cNvSpPr txBox="1">
                <a:spLocks noRot="1" noChangeAspect="1" noMove="1" noResize="1" noEditPoints="1" noAdjustHandles="1" noChangeArrowheads="1" noChangeShapeType="1" noTextEdit="1"/>
              </p:cNvSpPr>
              <p:nvPr/>
            </p:nvSpPr>
            <p:spPr>
              <a:xfrm>
                <a:off x="1044617" y="4197110"/>
                <a:ext cx="9873665" cy="1803764"/>
              </a:xfrm>
              <a:prstGeom prst="rect">
                <a:avLst/>
              </a:prstGeom>
              <a:blipFill>
                <a:blip r:embed="rId3"/>
                <a:stretch>
                  <a:fillRect l="-771" t="-41958" b="-35664"/>
                </a:stretch>
              </a:blipFill>
            </p:spPr>
            <p:txBody>
              <a:bodyPr/>
              <a:lstStyle/>
              <a:p>
                <a:r>
                  <a:rPr lang="en-US">
                    <a:noFill/>
                  </a:rPr>
                  <a:t> </a:t>
                </a:r>
              </a:p>
            </p:txBody>
          </p:sp>
        </mc:Fallback>
      </mc:AlternateContent>
      <p:cxnSp>
        <p:nvCxnSpPr>
          <p:cNvPr id="56" name="Straight Arrow Connector 55">
            <a:extLst>
              <a:ext uri="{FF2B5EF4-FFF2-40B4-BE49-F238E27FC236}">
                <a16:creationId xmlns:a16="http://schemas.microsoft.com/office/drawing/2014/main" id="{5DE77AA1-301E-9C45-B616-197BDD40337C}"/>
              </a:ext>
            </a:extLst>
          </p:cNvPr>
          <p:cNvCxnSpPr>
            <a:cxnSpLocks/>
          </p:cNvCxnSpPr>
          <p:nvPr/>
        </p:nvCxnSpPr>
        <p:spPr>
          <a:xfrm flipV="1">
            <a:off x="2705863" y="2400295"/>
            <a:ext cx="397435" cy="370613"/>
          </a:xfrm>
          <a:prstGeom prst="straightConnector1">
            <a:avLst/>
          </a:prstGeom>
          <a:ln w="28575">
            <a:solidFill>
              <a:srgbClr val="007AF3"/>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D6E219D7-EFAD-304A-AC5A-ABC9983FCD85}"/>
              </a:ext>
            </a:extLst>
          </p:cNvPr>
          <p:cNvCxnSpPr>
            <a:cxnSpLocks/>
          </p:cNvCxnSpPr>
          <p:nvPr/>
        </p:nvCxnSpPr>
        <p:spPr>
          <a:xfrm flipV="1">
            <a:off x="3810686" y="1306340"/>
            <a:ext cx="397435" cy="370613"/>
          </a:xfrm>
          <a:prstGeom prst="straightConnector1">
            <a:avLst/>
          </a:prstGeom>
          <a:ln w="28575">
            <a:solidFill>
              <a:srgbClr val="007AF3"/>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03A4F674-3FA1-3B45-B666-2A8DA9F3866E}"/>
                  </a:ext>
                </a:extLst>
              </p:cNvPr>
              <p:cNvSpPr txBox="1"/>
              <p:nvPr/>
            </p:nvSpPr>
            <p:spPr>
              <a:xfrm>
                <a:off x="2799223" y="2530194"/>
                <a:ext cx="296428"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𝜎</m:t>
                          </m:r>
                        </m:e>
                        <m:sub>
                          <m:r>
                            <a:rPr lang="en-US" b="0" i="1" smtClean="0">
                              <a:latin typeface="Cambria Math" panose="02040503050406030204" pitchFamily="18" charset="0"/>
                              <a:cs typeface="Arial" panose="020B0604020202020204" pitchFamily="34" charset="0"/>
                            </a:rPr>
                            <m:t>𝑥</m:t>
                          </m:r>
                        </m:sub>
                      </m:sSub>
                    </m:oMath>
                  </m:oMathPara>
                </a14:m>
                <a:endParaRPr lang="en-US" dirty="0">
                  <a:latin typeface="Arial" panose="020B0604020202020204" pitchFamily="34" charset="0"/>
                  <a:cs typeface="Arial" panose="020B0604020202020204" pitchFamily="34" charset="0"/>
                </a:endParaRPr>
              </a:p>
            </p:txBody>
          </p:sp>
        </mc:Choice>
        <mc:Fallback xmlns="">
          <p:sp>
            <p:nvSpPr>
              <p:cNvPr id="58" name="TextBox 57">
                <a:extLst>
                  <a:ext uri="{FF2B5EF4-FFF2-40B4-BE49-F238E27FC236}">
                    <a16:creationId xmlns:a16="http://schemas.microsoft.com/office/drawing/2014/main" id="{03A4F674-3FA1-3B45-B666-2A8DA9F3866E}"/>
                  </a:ext>
                </a:extLst>
              </p:cNvPr>
              <p:cNvSpPr txBox="1">
                <a:spLocks noRot="1" noChangeAspect="1" noMove="1" noResize="1" noEditPoints="1" noAdjustHandles="1" noChangeArrowheads="1" noChangeShapeType="1" noTextEdit="1"/>
              </p:cNvSpPr>
              <p:nvPr/>
            </p:nvSpPr>
            <p:spPr>
              <a:xfrm>
                <a:off x="2799223" y="2530194"/>
                <a:ext cx="296428" cy="315792"/>
              </a:xfrm>
              <a:prstGeom prst="rect">
                <a:avLst/>
              </a:prstGeom>
              <a:blipFill>
                <a:blip r:embed="rId4"/>
                <a:stretch>
                  <a:fillRect l="-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529A9D9C-F4B3-2944-9B4E-8AAFC5F37354}"/>
                  </a:ext>
                </a:extLst>
              </p:cNvPr>
              <p:cNvSpPr txBox="1"/>
              <p:nvPr/>
            </p:nvSpPr>
            <p:spPr>
              <a:xfrm>
                <a:off x="3890941" y="1106822"/>
                <a:ext cx="296428"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𝜎</m:t>
                          </m:r>
                        </m:e>
                        <m:sub>
                          <m:r>
                            <a:rPr lang="en-US" b="0" i="1" smtClean="0">
                              <a:latin typeface="Cambria Math" panose="02040503050406030204" pitchFamily="18" charset="0"/>
                              <a:cs typeface="Arial" panose="020B0604020202020204" pitchFamily="34" charset="0"/>
                            </a:rPr>
                            <m:t>𝑥</m:t>
                          </m:r>
                        </m:sub>
                      </m:sSub>
                    </m:oMath>
                  </m:oMathPara>
                </a14:m>
                <a:endParaRPr lang="en-US" dirty="0">
                  <a:latin typeface="Arial" panose="020B0604020202020204" pitchFamily="34" charset="0"/>
                  <a:cs typeface="Arial" panose="020B0604020202020204" pitchFamily="34" charset="0"/>
                </a:endParaRPr>
              </a:p>
            </p:txBody>
          </p:sp>
        </mc:Choice>
        <mc:Fallback xmlns="">
          <p:sp>
            <p:nvSpPr>
              <p:cNvPr id="59" name="TextBox 58">
                <a:extLst>
                  <a:ext uri="{FF2B5EF4-FFF2-40B4-BE49-F238E27FC236}">
                    <a16:creationId xmlns:a16="http://schemas.microsoft.com/office/drawing/2014/main" id="{529A9D9C-F4B3-2944-9B4E-8AAFC5F37354}"/>
                  </a:ext>
                </a:extLst>
              </p:cNvPr>
              <p:cNvSpPr txBox="1">
                <a:spLocks noRot="1" noChangeAspect="1" noMove="1" noResize="1" noEditPoints="1" noAdjustHandles="1" noChangeArrowheads="1" noChangeShapeType="1" noTextEdit="1"/>
              </p:cNvSpPr>
              <p:nvPr/>
            </p:nvSpPr>
            <p:spPr>
              <a:xfrm>
                <a:off x="3890941" y="1106822"/>
                <a:ext cx="296428" cy="315792"/>
              </a:xfrm>
              <a:prstGeom prst="rect">
                <a:avLst/>
              </a:prstGeom>
              <a:blipFill>
                <a:blip r:embed="rId5"/>
                <a:stretch>
                  <a:fillRect l="-8333"/>
                </a:stretch>
              </a:blipFill>
            </p:spPr>
            <p:txBody>
              <a:bodyPr/>
              <a:lstStyle/>
              <a:p>
                <a:r>
                  <a:rPr lang="en-US">
                    <a:noFill/>
                  </a:rPr>
                  <a:t> </a:t>
                </a:r>
              </a:p>
            </p:txBody>
          </p:sp>
        </mc:Fallback>
      </mc:AlternateContent>
      <p:cxnSp>
        <p:nvCxnSpPr>
          <p:cNvPr id="60" name="Straight Arrow Connector 59">
            <a:extLst>
              <a:ext uri="{FF2B5EF4-FFF2-40B4-BE49-F238E27FC236}">
                <a16:creationId xmlns:a16="http://schemas.microsoft.com/office/drawing/2014/main" id="{586A2023-5ABC-D949-B1A4-F176BAAD9EA4}"/>
              </a:ext>
            </a:extLst>
          </p:cNvPr>
          <p:cNvCxnSpPr>
            <a:cxnSpLocks/>
          </p:cNvCxnSpPr>
          <p:nvPr/>
        </p:nvCxnSpPr>
        <p:spPr>
          <a:xfrm flipH="1">
            <a:off x="3804973" y="1979364"/>
            <a:ext cx="416043" cy="377997"/>
          </a:xfrm>
          <a:prstGeom prst="straightConnector1">
            <a:avLst/>
          </a:prstGeom>
          <a:ln w="19050">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2B84B139-70C8-5B41-99ED-8A71ED38A72C}"/>
              </a:ext>
            </a:extLst>
          </p:cNvPr>
          <p:cNvCxnSpPr>
            <a:cxnSpLocks/>
          </p:cNvCxnSpPr>
          <p:nvPr/>
        </p:nvCxnSpPr>
        <p:spPr>
          <a:xfrm flipH="1">
            <a:off x="2575155" y="2034088"/>
            <a:ext cx="416043" cy="377997"/>
          </a:xfrm>
          <a:prstGeom prst="straightConnector1">
            <a:avLst/>
          </a:prstGeom>
          <a:ln w="19050">
            <a:solidFill>
              <a:srgbClr val="C0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8AD16097-3EC3-DD45-A5CE-30CE2AC78DCD}"/>
              </a:ext>
            </a:extLst>
          </p:cNvPr>
          <p:cNvCxnSpPr>
            <a:cxnSpLocks/>
          </p:cNvCxnSpPr>
          <p:nvPr/>
        </p:nvCxnSpPr>
        <p:spPr>
          <a:xfrm flipH="1">
            <a:off x="3177794" y="2305984"/>
            <a:ext cx="416043" cy="377997"/>
          </a:xfrm>
          <a:prstGeom prst="straightConnector1">
            <a:avLst/>
          </a:prstGeom>
          <a:ln w="19050">
            <a:solidFill>
              <a:srgbClr val="C0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FACA621F-3956-5E4F-9431-D610C50748E8}"/>
              </a:ext>
            </a:extLst>
          </p:cNvPr>
          <p:cNvCxnSpPr>
            <a:cxnSpLocks/>
          </p:cNvCxnSpPr>
          <p:nvPr/>
        </p:nvCxnSpPr>
        <p:spPr>
          <a:xfrm flipH="1">
            <a:off x="3284029" y="1337160"/>
            <a:ext cx="416043" cy="377997"/>
          </a:xfrm>
          <a:prstGeom prst="straightConnector1">
            <a:avLst/>
          </a:prstGeom>
          <a:ln w="19050">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8403D43B-F3A3-9F4C-A1DF-BF58589FFD90}"/>
                  </a:ext>
                </a:extLst>
              </p:cNvPr>
              <p:cNvSpPr txBox="1"/>
              <p:nvPr/>
            </p:nvSpPr>
            <p:spPr>
              <a:xfrm>
                <a:off x="3211848" y="1259713"/>
                <a:ext cx="373115"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𝑧𝑥</m:t>
                          </m:r>
                        </m:sub>
                      </m:sSub>
                    </m:oMath>
                  </m:oMathPara>
                </a14:m>
                <a:endParaRPr lang="en-US" dirty="0">
                  <a:latin typeface="Arial" panose="020B0604020202020204" pitchFamily="34" charset="0"/>
                  <a:cs typeface="Arial" panose="020B0604020202020204" pitchFamily="34" charset="0"/>
                </a:endParaRPr>
              </a:p>
            </p:txBody>
          </p:sp>
        </mc:Choice>
        <mc:Fallback xmlns="">
          <p:sp>
            <p:nvSpPr>
              <p:cNvPr id="64" name="TextBox 63">
                <a:extLst>
                  <a:ext uri="{FF2B5EF4-FFF2-40B4-BE49-F238E27FC236}">
                    <a16:creationId xmlns:a16="http://schemas.microsoft.com/office/drawing/2014/main" id="{8403D43B-F3A3-9F4C-A1DF-BF58589FFD90}"/>
                  </a:ext>
                </a:extLst>
              </p:cNvPr>
              <p:cNvSpPr txBox="1">
                <a:spLocks noRot="1" noChangeAspect="1" noMove="1" noResize="1" noEditPoints="1" noAdjustHandles="1" noChangeArrowheads="1" noChangeShapeType="1" noTextEdit="1"/>
              </p:cNvSpPr>
              <p:nvPr/>
            </p:nvSpPr>
            <p:spPr>
              <a:xfrm>
                <a:off x="3211848" y="1259713"/>
                <a:ext cx="373115" cy="315792"/>
              </a:xfrm>
              <a:prstGeom prst="rect">
                <a:avLst/>
              </a:prstGeom>
              <a:blipFill>
                <a:blip r:embed="rId6"/>
                <a:stretch>
                  <a:fillRect l="-3226" b="-4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982DB0E0-E831-334A-AAF1-7533B582B11B}"/>
                  </a:ext>
                </a:extLst>
              </p:cNvPr>
              <p:cNvSpPr txBox="1"/>
              <p:nvPr/>
            </p:nvSpPr>
            <p:spPr>
              <a:xfrm>
                <a:off x="3286902" y="2455116"/>
                <a:ext cx="373115"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𝑧𝑥</m:t>
                          </m:r>
                        </m:sub>
                      </m:sSub>
                    </m:oMath>
                  </m:oMathPara>
                </a14:m>
                <a:endParaRPr lang="en-US" dirty="0">
                  <a:latin typeface="Arial" panose="020B0604020202020204" pitchFamily="34" charset="0"/>
                  <a:cs typeface="Arial" panose="020B0604020202020204" pitchFamily="34" charset="0"/>
                </a:endParaRPr>
              </a:p>
            </p:txBody>
          </p:sp>
        </mc:Choice>
        <mc:Fallback xmlns="">
          <p:sp>
            <p:nvSpPr>
              <p:cNvPr id="65" name="TextBox 64">
                <a:extLst>
                  <a:ext uri="{FF2B5EF4-FFF2-40B4-BE49-F238E27FC236}">
                    <a16:creationId xmlns:a16="http://schemas.microsoft.com/office/drawing/2014/main" id="{982DB0E0-E831-334A-AAF1-7533B582B11B}"/>
                  </a:ext>
                </a:extLst>
              </p:cNvPr>
              <p:cNvSpPr txBox="1">
                <a:spLocks noRot="1" noChangeAspect="1" noMove="1" noResize="1" noEditPoints="1" noAdjustHandles="1" noChangeArrowheads="1" noChangeShapeType="1" noTextEdit="1"/>
              </p:cNvSpPr>
              <p:nvPr/>
            </p:nvSpPr>
            <p:spPr>
              <a:xfrm>
                <a:off x="3286902" y="2455116"/>
                <a:ext cx="373115" cy="315792"/>
              </a:xfrm>
              <a:prstGeom prst="rect">
                <a:avLst/>
              </a:prstGeom>
              <a:blipFill>
                <a:blip r:embed="rId7"/>
                <a:stretch>
                  <a:fillRect l="-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1C676613-9444-FD4F-B576-33CDD3EBFD6F}"/>
                  </a:ext>
                </a:extLst>
              </p:cNvPr>
              <p:cNvSpPr txBox="1"/>
              <p:nvPr/>
            </p:nvSpPr>
            <p:spPr>
              <a:xfrm>
                <a:off x="3786060" y="1713670"/>
                <a:ext cx="390748" cy="340799"/>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𝑦𝑥</m:t>
                          </m:r>
                        </m:sub>
                      </m:sSub>
                    </m:oMath>
                  </m:oMathPara>
                </a14:m>
                <a:endParaRPr lang="en-US" dirty="0">
                  <a:latin typeface="Arial" panose="020B0604020202020204" pitchFamily="34" charset="0"/>
                  <a:cs typeface="Arial" panose="020B0604020202020204" pitchFamily="34" charset="0"/>
                </a:endParaRPr>
              </a:p>
            </p:txBody>
          </p:sp>
        </mc:Choice>
        <mc:Fallback xmlns="">
          <p:sp>
            <p:nvSpPr>
              <p:cNvPr id="66" name="TextBox 65">
                <a:extLst>
                  <a:ext uri="{FF2B5EF4-FFF2-40B4-BE49-F238E27FC236}">
                    <a16:creationId xmlns:a16="http://schemas.microsoft.com/office/drawing/2014/main" id="{1C676613-9444-FD4F-B576-33CDD3EBFD6F}"/>
                  </a:ext>
                </a:extLst>
              </p:cNvPr>
              <p:cNvSpPr txBox="1">
                <a:spLocks noRot="1" noChangeAspect="1" noMove="1" noResize="1" noEditPoints="1" noAdjustHandles="1" noChangeArrowheads="1" noChangeShapeType="1" noTextEdit="1"/>
              </p:cNvSpPr>
              <p:nvPr/>
            </p:nvSpPr>
            <p:spPr>
              <a:xfrm>
                <a:off x="3786060" y="1713670"/>
                <a:ext cx="390748" cy="340799"/>
              </a:xfrm>
              <a:prstGeom prst="rect">
                <a:avLst/>
              </a:prstGeom>
              <a:blipFill>
                <a:blip r:embed="rId8"/>
                <a:stretch>
                  <a:fillRect l="-6452" r="-3226" b="-17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352B7FF1-02B5-0D4D-95A1-11176A3EFE49}"/>
                  </a:ext>
                </a:extLst>
              </p:cNvPr>
              <p:cNvSpPr txBox="1"/>
              <p:nvPr/>
            </p:nvSpPr>
            <p:spPr>
              <a:xfrm>
                <a:off x="2877113" y="1811048"/>
                <a:ext cx="390748" cy="340799"/>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𝑦𝑥</m:t>
                          </m:r>
                        </m:sub>
                      </m:sSub>
                    </m:oMath>
                  </m:oMathPara>
                </a14:m>
                <a:endParaRPr lang="en-US" dirty="0">
                  <a:latin typeface="Arial" panose="020B0604020202020204" pitchFamily="34" charset="0"/>
                  <a:cs typeface="Arial" panose="020B0604020202020204" pitchFamily="34" charset="0"/>
                </a:endParaRPr>
              </a:p>
            </p:txBody>
          </p:sp>
        </mc:Choice>
        <mc:Fallback xmlns="">
          <p:sp>
            <p:nvSpPr>
              <p:cNvPr id="67" name="TextBox 66">
                <a:extLst>
                  <a:ext uri="{FF2B5EF4-FFF2-40B4-BE49-F238E27FC236}">
                    <a16:creationId xmlns:a16="http://schemas.microsoft.com/office/drawing/2014/main" id="{352B7FF1-02B5-0D4D-95A1-11176A3EFE49}"/>
                  </a:ext>
                </a:extLst>
              </p:cNvPr>
              <p:cNvSpPr txBox="1">
                <a:spLocks noRot="1" noChangeAspect="1" noMove="1" noResize="1" noEditPoints="1" noAdjustHandles="1" noChangeArrowheads="1" noChangeShapeType="1" noTextEdit="1"/>
              </p:cNvSpPr>
              <p:nvPr/>
            </p:nvSpPr>
            <p:spPr>
              <a:xfrm>
                <a:off x="2877113" y="1811048"/>
                <a:ext cx="390748" cy="340799"/>
              </a:xfrm>
              <a:prstGeom prst="rect">
                <a:avLst/>
              </a:prstGeom>
              <a:blipFill>
                <a:blip r:embed="rId9"/>
                <a:stretch>
                  <a:fillRect l="-3125" r="-3125" b="-17857"/>
                </a:stretch>
              </a:blipFill>
            </p:spPr>
            <p:txBody>
              <a:bodyPr/>
              <a:lstStyle/>
              <a:p>
                <a:r>
                  <a:rPr lang="en-US">
                    <a:noFill/>
                  </a:rPr>
                  <a:t> </a:t>
                </a:r>
              </a:p>
            </p:txBody>
          </p:sp>
        </mc:Fallback>
      </mc:AlternateContent>
      <p:sp>
        <p:nvSpPr>
          <p:cNvPr id="68" name="TextBox 67">
            <a:extLst>
              <a:ext uri="{FF2B5EF4-FFF2-40B4-BE49-F238E27FC236}">
                <a16:creationId xmlns:a16="http://schemas.microsoft.com/office/drawing/2014/main" id="{AEADA48F-363E-D442-8378-C08EA62A1646}"/>
              </a:ext>
            </a:extLst>
          </p:cNvPr>
          <p:cNvSpPr txBox="1"/>
          <p:nvPr/>
        </p:nvSpPr>
        <p:spPr>
          <a:xfrm>
            <a:off x="5938091" y="1408886"/>
            <a:ext cx="5704137" cy="1644874"/>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MOMENTUM BALANCE</a:t>
            </a:r>
          </a:p>
          <a:p>
            <a:pPr algn="l">
              <a:lnSpc>
                <a:spcPct val="114000"/>
              </a:lnSpc>
            </a:pPr>
            <a:r>
              <a:rPr lang="en-US" dirty="0">
                <a:latin typeface="Arial" panose="020B0604020202020204" pitchFamily="34" charset="0"/>
                <a:cs typeface="Arial" panose="020B0604020202020204" pitchFamily="34" charset="0"/>
              </a:rPr>
              <a:t>The time rate of change of streamwise momentum in the control volume is equal to the net convective inflow of momentum plus the net shear force, plus the net pressure force plus the downslope pull of gravity</a:t>
            </a:r>
          </a:p>
        </p:txBody>
      </p:sp>
    </p:spTree>
    <p:extLst>
      <p:ext uri="{BB962C8B-B14F-4D97-AF65-F5344CB8AC3E}">
        <p14:creationId xmlns:p14="http://schemas.microsoft.com/office/powerpoint/2010/main" val="4449892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36</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Local streamwise momentum conservation</a:t>
            </a:r>
          </a:p>
        </p:txBody>
      </p:sp>
      <p:sp>
        <p:nvSpPr>
          <p:cNvPr id="9" name="TextBox 8">
            <a:extLst>
              <a:ext uri="{FF2B5EF4-FFF2-40B4-BE49-F238E27FC236}">
                <a16:creationId xmlns:a16="http://schemas.microsoft.com/office/drawing/2014/main" id="{FDEC7880-8748-8645-9272-104572A2CC37}"/>
              </a:ext>
            </a:extLst>
          </p:cNvPr>
          <p:cNvSpPr txBox="1"/>
          <p:nvPr/>
        </p:nvSpPr>
        <p:spPr>
          <a:xfrm>
            <a:off x="482756" y="946892"/>
            <a:ext cx="11069347" cy="410625"/>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Dividing the momentum balance on slide 24 by </a:t>
            </a:r>
            <a:r>
              <a:rPr lang="en-US" sz="2000"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x</a:t>
            </a:r>
            <a:r>
              <a:rPr lang="en-US" sz="2000"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y</a:t>
            </a:r>
            <a:r>
              <a:rPr lang="en-US"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z</a:t>
            </a:r>
            <a:r>
              <a:rPr lang="en-US" dirty="0">
                <a:latin typeface="Arial" panose="020B0604020202020204" pitchFamily="34" charset="0"/>
                <a:cs typeface="Arial" panose="020B0604020202020204" pitchFamily="34" charset="0"/>
              </a:rPr>
              <a:t> it is found that </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DFD9DF3-E4ED-9C4E-8D8F-AD2127ABB422}"/>
                  </a:ext>
                </a:extLst>
              </p:cNvPr>
              <p:cNvSpPr txBox="1"/>
              <p:nvPr/>
            </p:nvSpPr>
            <p:spPr>
              <a:xfrm>
                <a:off x="561859" y="1486768"/>
                <a:ext cx="5305491" cy="527645"/>
              </a:xfrm>
              <a:prstGeom prst="rect">
                <a:avLst/>
              </a:prstGeom>
              <a:noFill/>
            </p:spPr>
            <p:txBody>
              <a:bodyPr wrap="none" lIns="0" tIns="0" rIns="0" bIns="0" rtlCol="0">
                <a:spAutoFit/>
              </a:bodyPr>
              <a:lstStyle/>
              <a:p>
                <a:pPr>
                  <a:lnSpc>
                    <a:spcPct val="114000"/>
                  </a:lnSpc>
                </a:pPr>
                <a14:m>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𝑢</m:t>
                        </m:r>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𝜕𝜌</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𝑣𝑢</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i="1">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𝑤</m:t>
                        </m:r>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𝜎</m:t>
                            </m:r>
                          </m:e>
                          <m:sub>
                            <m:r>
                              <a:rPr lang="en-US" b="0" i="1" smtClean="0">
                                <a:latin typeface="Cambria Math" panose="02040503050406030204" pitchFamily="18" charset="0"/>
                                <a:ea typeface="Cambria Math" panose="02040503050406030204" pitchFamily="18" charset="0"/>
                                <a:cs typeface="Arial" panose="020B0604020202020204" pitchFamily="34" charset="0"/>
                              </a:rPr>
                              <m:t>𝑥</m:t>
                            </m:r>
                          </m:sub>
                        </m:sSub>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𝑦𝑥</m:t>
                            </m:r>
                          </m:sub>
                        </m:sSub>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𝑧𝑥</m:t>
                            </m:r>
                          </m:sub>
                        </m:sSub>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𝑔𝑆</m:t>
                    </m:r>
                  </m:oMath>
                </a14:m>
                <a:r>
                  <a:rPr lang="en-US" dirty="0">
                    <a:latin typeface="Arial" panose="020B0604020202020204" pitchFamily="34" charset="0"/>
                    <a:cs typeface="Arial" panose="020B0604020202020204" pitchFamily="34" charset="0"/>
                  </a:rPr>
                  <a:t> </a:t>
                </a:r>
              </a:p>
            </p:txBody>
          </p:sp>
        </mc:Choice>
        <mc:Fallback xmlns="">
          <p:sp>
            <p:nvSpPr>
              <p:cNvPr id="3" name="TextBox 2">
                <a:extLst>
                  <a:ext uri="{FF2B5EF4-FFF2-40B4-BE49-F238E27FC236}">
                    <a16:creationId xmlns:a16="http://schemas.microsoft.com/office/drawing/2014/main" id="{3DFD9DF3-E4ED-9C4E-8D8F-AD2127ABB422}"/>
                  </a:ext>
                </a:extLst>
              </p:cNvPr>
              <p:cNvSpPr txBox="1">
                <a:spLocks noRot="1" noChangeAspect="1" noMove="1" noResize="1" noEditPoints="1" noAdjustHandles="1" noChangeArrowheads="1" noChangeShapeType="1" noTextEdit="1"/>
              </p:cNvSpPr>
              <p:nvPr/>
            </p:nvSpPr>
            <p:spPr>
              <a:xfrm>
                <a:off x="561859" y="1486768"/>
                <a:ext cx="5305491" cy="527645"/>
              </a:xfrm>
              <a:prstGeom prst="rect">
                <a:avLst/>
              </a:prstGeom>
              <a:blipFill>
                <a:blip r:embed="rId3"/>
                <a:stretch>
                  <a:fillRect l="-1675" b="-11905"/>
                </a:stretch>
              </a:blipFill>
            </p:spPr>
            <p:txBody>
              <a:bodyPr/>
              <a:lstStyle/>
              <a:p>
                <a:r>
                  <a:rPr lang="en-US">
                    <a:noFill/>
                  </a:rPr>
                  <a:t> </a:t>
                </a:r>
              </a:p>
            </p:txBody>
          </p:sp>
        </mc:Fallback>
      </mc:AlternateContent>
    </p:spTree>
    <p:extLst>
      <p:ext uri="{BB962C8B-B14F-4D97-AF65-F5344CB8AC3E}">
        <p14:creationId xmlns:p14="http://schemas.microsoft.com/office/powerpoint/2010/main" val="27850181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37</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Local streamwise momentum conservation</a:t>
            </a:r>
          </a:p>
        </p:txBody>
      </p:sp>
      <p:sp>
        <p:nvSpPr>
          <p:cNvPr id="9" name="TextBox 8">
            <a:extLst>
              <a:ext uri="{FF2B5EF4-FFF2-40B4-BE49-F238E27FC236}">
                <a16:creationId xmlns:a16="http://schemas.microsoft.com/office/drawing/2014/main" id="{FDEC7880-8748-8645-9272-104572A2CC37}"/>
              </a:ext>
            </a:extLst>
          </p:cNvPr>
          <p:cNvSpPr txBox="1"/>
          <p:nvPr/>
        </p:nvSpPr>
        <p:spPr>
          <a:xfrm>
            <a:off x="482756" y="946892"/>
            <a:ext cx="11069347" cy="410625"/>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Dividing the momentum balance on slide 24 by </a:t>
            </a:r>
            <a:r>
              <a:rPr lang="en-US" sz="2000"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x</a:t>
            </a:r>
            <a:r>
              <a:rPr lang="en-US" sz="2000"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y</a:t>
            </a:r>
            <a:r>
              <a:rPr lang="en-US"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z</a:t>
            </a:r>
            <a:r>
              <a:rPr lang="en-US" dirty="0">
                <a:latin typeface="Arial" panose="020B0604020202020204" pitchFamily="34" charset="0"/>
                <a:cs typeface="Arial" panose="020B0604020202020204" pitchFamily="34" charset="0"/>
              </a:rPr>
              <a:t> it is found that </a:t>
            </a:r>
          </a:p>
        </p:txBody>
      </p:sp>
      <p:sp>
        <p:nvSpPr>
          <p:cNvPr id="62" name="TextBox 61">
            <a:extLst>
              <a:ext uri="{FF2B5EF4-FFF2-40B4-BE49-F238E27FC236}">
                <a16:creationId xmlns:a16="http://schemas.microsoft.com/office/drawing/2014/main" id="{222C911C-8F7A-B64C-8984-9B295C9E9327}"/>
              </a:ext>
            </a:extLst>
          </p:cNvPr>
          <p:cNvSpPr txBox="1"/>
          <p:nvPr/>
        </p:nvSpPr>
        <p:spPr>
          <a:xfrm>
            <a:off x="482756" y="2245046"/>
            <a:ext cx="11069347" cy="381708"/>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Recalling that</a:t>
            </a:r>
          </a:p>
        </p:txBody>
      </p: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3E32F372-8DBD-D04A-8222-78DE2040DE2E}"/>
                  </a:ext>
                </a:extLst>
              </p:cNvPr>
              <p:cNvSpPr txBox="1"/>
              <p:nvPr/>
            </p:nvSpPr>
            <p:spPr>
              <a:xfrm>
                <a:off x="5655754" y="2553810"/>
                <a:ext cx="2215543" cy="607154"/>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𝑧𝑥</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𝜌𝜈</m:t>
                      </m:r>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𝑢</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𝑤</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e>
                      </m:d>
                    </m:oMath>
                  </m:oMathPara>
                </a14:m>
                <a:endParaRPr lang="en-US" dirty="0">
                  <a:latin typeface="Arial" panose="020B0604020202020204" pitchFamily="34" charset="0"/>
                  <a:cs typeface="Arial" panose="020B0604020202020204" pitchFamily="34" charset="0"/>
                </a:endParaRPr>
              </a:p>
            </p:txBody>
          </p:sp>
        </mc:Choice>
        <mc:Fallback xmlns="">
          <p:sp>
            <p:nvSpPr>
              <p:cNvPr id="63" name="TextBox 62">
                <a:extLst>
                  <a:ext uri="{FF2B5EF4-FFF2-40B4-BE49-F238E27FC236}">
                    <a16:creationId xmlns:a16="http://schemas.microsoft.com/office/drawing/2014/main" id="{3E32F372-8DBD-D04A-8222-78DE2040DE2E}"/>
                  </a:ext>
                </a:extLst>
              </p:cNvPr>
              <p:cNvSpPr txBox="1">
                <a:spLocks noRot="1" noChangeAspect="1" noMove="1" noResize="1" noEditPoints="1" noAdjustHandles="1" noChangeArrowheads="1" noChangeShapeType="1" noTextEdit="1"/>
              </p:cNvSpPr>
              <p:nvPr/>
            </p:nvSpPr>
            <p:spPr>
              <a:xfrm>
                <a:off x="5655754" y="2553810"/>
                <a:ext cx="2215543" cy="607154"/>
              </a:xfrm>
              <a:prstGeom prst="rect">
                <a:avLst/>
              </a:prstGeom>
              <a:blipFill>
                <a:blip r:embed="rId3"/>
                <a:stretch>
                  <a:fillRect l="-571" b="-102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2CEE6098-9DA1-E941-BD5F-973D7D458B14}"/>
                  </a:ext>
                </a:extLst>
              </p:cNvPr>
              <p:cNvSpPr txBox="1"/>
              <p:nvPr/>
            </p:nvSpPr>
            <p:spPr>
              <a:xfrm>
                <a:off x="2878823" y="2597881"/>
                <a:ext cx="2188291" cy="654346"/>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𝑦𝑥</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𝜌𝜈</m:t>
                      </m:r>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𝑢</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𝑣</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e>
                      </m:d>
                    </m:oMath>
                  </m:oMathPara>
                </a14:m>
                <a:endParaRPr lang="en-US" dirty="0">
                  <a:latin typeface="Arial" panose="020B0604020202020204" pitchFamily="34" charset="0"/>
                  <a:cs typeface="Arial" panose="020B0604020202020204" pitchFamily="34" charset="0"/>
                </a:endParaRPr>
              </a:p>
            </p:txBody>
          </p:sp>
        </mc:Choice>
        <mc:Fallback xmlns="">
          <p:sp>
            <p:nvSpPr>
              <p:cNvPr id="64" name="TextBox 63">
                <a:extLst>
                  <a:ext uri="{FF2B5EF4-FFF2-40B4-BE49-F238E27FC236}">
                    <a16:creationId xmlns:a16="http://schemas.microsoft.com/office/drawing/2014/main" id="{2CEE6098-9DA1-E941-BD5F-973D7D458B14}"/>
                  </a:ext>
                </a:extLst>
              </p:cNvPr>
              <p:cNvSpPr txBox="1">
                <a:spLocks noRot="1" noChangeAspect="1" noMove="1" noResize="1" noEditPoints="1" noAdjustHandles="1" noChangeArrowheads="1" noChangeShapeType="1" noTextEdit="1"/>
              </p:cNvSpPr>
              <p:nvPr/>
            </p:nvSpPr>
            <p:spPr>
              <a:xfrm>
                <a:off x="2878823" y="2597881"/>
                <a:ext cx="2188291" cy="654346"/>
              </a:xfrm>
              <a:prstGeom prst="rect">
                <a:avLst/>
              </a:prstGeom>
              <a:blipFill>
                <a:blip r:embed="rId4"/>
                <a:stretch>
                  <a:fillRect l="-578" b="-150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30C9F5FD-436E-FE4C-80E3-9D9295BB3D29}"/>
                  </a:ext>
                </a:extLst>
              </p:cNvPr>
              <p:cNvSpPr txBox="1"/>
              <p:nvPr/>
            </p:nvSpPr>
            <p:spPr>
              <a:xfrm>
                <a:off x="598181" y="2653858"/>
                <a:ext cx="1692002" cy="598369"/>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𝜎</m:t>
                          </m:r>
                        </m:e>
                        <m:sub>
                          <m:r>
                            <a:rPr lang="en-US" b="0" i="1" smtClean="0">
                              <a:latin typeface="Cambria Math" panose="02040503050406030204" pitchFamily="18" charset="0"/>
                              <a:cs typeface="Arial" panose="020B0604020202020204" pitchFamily="34" charset="0"/>
                            </a:rPr>
                            <m:t>𝑥</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𝑝</m:t>
                      </m:r>
                      <m:r>
                        <a:rPr lang="en-US" b="0" i="1" smtClean="0">
                          <a:latin typeface="Cambria Math" panose="02040503050406030204" pitchFamily="18" charset="0"/>
                          <a:cs typeface="Arial" panose="020B0604020202020204" pitchFamily="34" charset="0"/>
                        </a:rPr>
                        <m:t>−2</m:t>
                      </m:r>
                      <m:r>
                        <a:rPr lang="en-US" b="0" i="1" smtClean="0">
                          <a:latin typeface="Cambria Math" panose="02040503050406030204" pitchFamily="18" charset="0"/>
                          <a:ea typeface="Cambria Math" panose="02040503050406030204" pitchFamily="18" charset="0"/>
                          <a:cs typeface="Arial" panose="020B0604020202020204" pitchFamily="34" charset="0"/>
                        </a:rPr>
                        <m:t>𝜌𝜈</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𝑢</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oMath>
                  </m:oMathPara>
                </a14:m>
                <a:endParaRPr lang="en-US" dirty="0">
                  <a:latin typeface="Arial" panose="020B0604020202020204" pitchFamily="34" charset="0"/>
                  <a:cs typeface="Arial" panose="020B0604020202020204" pitchFamily="34" charset="0"/>
                </a:endParaRPr>
              </a:p>
            </p:txBody>
          </p:sp>
        </mc:Choice>
        <mc:Fallback xmlns="">
          <p:sp>
            <p:nvSpPr>
              <p:cNvPr id="65" name="TextBox 64">
                <a:extLst>
                  <a:ext uri="{FF2B5EF4-FFF2-40B4-BE49-F238E27FC236}">
                    <a16:creationId xmlns:a16="http://schemas.microsoft.com/office/drawing/2014/main" id="{30C9F5FD-436E-FE4C-80E3-9D9295BB3D29}"/>
                  </a:ext>
                </a:extLst>
              </p:cNvPr>
              <p:cNvSpPr txBox="1">
                <a:spLocks noRot="1" noChangeAspect="1" noMove="1" noResize="1" noEditPoints="1" noAdjustHandles="1" noChangeArrowheads="1" noChangeShapeType="1" noTextEdit="1"/>
              </p:cNvSpPr>
              <p:nvPr/>
            </p:nvSpPr>
            <p:spPr>
              <a:xfrm>
                <a:off x="598181" y="2653858"/>
                <a:ext cx="1692002" cy="598369"/>
              </a:xfrm>
              <a:prstGeom prst="rect">
                <a:avLst/>
              </a:prstGeom>
              <a:blipFill>
                <a:blip r:embed="rId5"/>
                <a:stretch>
                  <a:fillRect l="-746" r="-2239" b="-12245"/>
                </a:stretch>
              </a:blipFill>
            </p:spPr>
            <p:txBody>
              <a:bodyPr/>
              <a:lstStyle/>
              <a:p>
                <a:r>
                  <a:rPr lang="en-US">
                    <a:noFill/>
                  </a:rPr>
                  <a:t> </a:t>
                </a:r>
              </a:p>
            </p:txBody>
          </p:sp>
        </mc:Fallback>
      </mc:AlternateContent>
      <p:sp>
        <p:nvSpPr>
          <p:cNvPr id="66" name="TextBox 65">
            <a:extLst>
              <a:ext uri="{FF2B5EF4-FFF2-40B4-BE49-F238E27FC236}">
                <a16:creationId xmlns:a16="http://schemas.microsoft.com/office/drawing/2014/main" id="{A8E70456-7EC6-C24D-BF5F-88162DBB103C}"/>
              </a:ext>
            </a:extLst>
          </p:cNvPr>
          <p:cNvSpPr txBox="1"/>
          <p:nvPr/>
        </p:nvSpPr>
        <p:spPr>
          <a:xfrm>
            <a:off x="561326" y="3508218"/>
            <a:ext cx="11069347" cy="381708"/>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the equation of conservation of streamwise momentum is rewritten as</a:t>
            </a: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2ADDC289-A792-784A-BFE0-A6F4D585BF56}"/>
                  </a:ext>
                </a:extLst>
              </p:cNvPr>
              <p:cNvSpPr txBox="1"/>
              <p:nvPr/>
            </p:nvSpPr>
            <p:spPr>
              <a:xfrm>
                <a:off x="692226" y="4042428"/>
                <a:ext cx="8631915" cy="527645"/>
              </a:xfrm>
              <a:prstGeom prst="rect">
                <a:avLst/>
              </a:prstGeom>
              <a:noFill/>
            </p:spPr>
            <p:txBody>
              <a:bodyPr wrap="none" lIns="0" tIns="0" rIns="0" bIns="0" rtlCol="0">
                <a:spAutoFit/>
              </a:bodyPr>
              <a:lstStyle/>
              <a:p>
                <a:pPr>
                  <a:lnSpc>
                    <a:spcPct val="114000"/>
                  </a:lnSpc>
                </a:pPr>
                <a14:m>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𝑢</m:t>
                        </m:r>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𝜕𝜌</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𝑣𝑢</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i="1">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𝑤</m:t>
                        </m:r>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𝑝</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cs typeface="Arial" panose="020B0604020202020204" pitchFamily="34" charset="0"/>
                      </a:rPr>
                      <m:t>2</m:t>
                    </m:r>
                    <m:r>
                      <a:rPr lang="en-US" i="1">
                        <a:latin typeface="Cambria Math" panose="02040503050406030204" pitchFamily="18" charset="0"/>
                        <a:ea typeface="Cambria Math" panose="02040503050406030204" pitchFamily="18" charset="0"/>
                        <a:cs typeface="Arial" panose="020B0604020202020204" pitchFamily="34" charset="0"/>
                      </a:rPr>
                      <m:t>𝜌𝜈</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i="1" smtClean="0">
                                <a:latin typeface="Cambria Math" panose="02040503050406030204" pitchFamily="18" charset="0"/>
                                <a:ea typeface="Cambria Math" panose="02040503050406030204" pitchFamily="18" charset="0"/>
                                <a:cs typeface="Arial" panose="020B0604020202020204" pitchFamily="34" charset="0"/>
                              </a:rPr>
                            </m:ctrlPr>
                          </m:sSupPr>
                          <m:e>
                            <m:r>
                              <a:rPr lang="en-US" i="1" smtClean="0">
                                <a:latin typeface="Cambria Math" panose="02040503050406030204" pitchFamily="18" charset="0"/>
                                <a:ea typeface="Cambria Math" panose="02040503050406030204" pitchFamily="18" charset="0"/>
                                <a:cs typeface="Arial" panose="020B0604020202020204" pitchFamily="34" charset="0"/>
                              </a:rPr>
                              <m:t>𝜕</m:t>
                            </m:r>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sSup>
                          <m:sSupPr>
                            <m:ctrlPr>
                              <a:rPr lang="en-US"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𝑥</m:t>
                            </m:r>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den>
                    </m:f>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𝜌𝜈</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𝑦</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den>
                    </m:f>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𝜌𝜈</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r>
                          <a:rPr lang="en-US" b="0" i="1" smtClean="0">
                            <a:latin typeface="Cambria Math" panose="02040503050406030204" pitchFamily="18" charset="0"/>
                            <a:ea typeface="Cambria Math" panose="02040503050406030204" pitchFamily="18" charset="0"/>
                            <a:cs typeface="Arial" panose="020B0604020202020204" pitchFamily="34" charset="0"/>
                          </a:rPr>
                          <m:t>𝑣</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𝜌𝜈</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𝑧</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den>
                    </m:f>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𝜌𝜈</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r>
                          <a:rPr lang="en-US" b="0" i="1" smtClean="0">
                            <a:latin typeface="Cambria Math" panose="02040503050406030204" pitchFamily="18" charset="0"/>
                            <a:ea typeface="Cambria Math" panose="02040503050406030204" pitchFamily="18" charset="0"/>
                            <a:cs typeface="Arial" panose="020B0604020202020204" pitchFamily="34" charset="0"/>
                          </a:rPr>
                          <m:t>𝑤</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𝑔𝑆</m:t>
                    </m:r>
                  </m:oMath>
                </a14:m>
                <a:r>
                  <a:rPr lang="en-US" dirty="0">
                    <a:latin typeface="Arial" panose="020B0604020202020204" pitchFamily="34" charset="0"/>
                    <a:cs typeface="Arial" panose="020B0604020202020204" pitchFamily="34" charset="0"/>
                  </a:rPr>
                  <a:t> </a:t>
                </a:r>
              </a:p>
            </p:txBody>
          </p:sp>
        </mc:Choice>
        <mc:Fallback xmlns="">
          <p:sp>
            <p:nvSpPr>
              <p:cNvPr id="67" name="TextBox 66">
                <a:extLst>
                  <a:ext uri="{FF2B5EF4-FFF2-40B4-BE49-F238E27FC236}">
                    <a16:creationId xmlns:a16="http://schemas.microsoft.com/office/drawing/2014/main" id="{2ADDC289-A792-784A-BFE0-A6F4D585BF56}"/>
                  </a:ext>
                </a:extLst>
              </p:cNvPr>
              <p:cNvSpPr txBox="1">
                <a:spLocks noRot="1" noChangeAspect="1" noMove="1" noResize="1" noEditPoints="1" noAdjustHandles="1" noChangeArrowheads="1" noChangeShapeType="1" noTextEdit="1"/>
              </p:cNvSpPr>
              <p:nvPr/>
            </p:nvSpPr>
            <p:spPr>
              <a:xfrm>
                <a:off x="692226" y="4042428"/>
                <a:ext cx="8631915" cy="527645"/>
              </a:xfrm>
              <a:prstGeom prst="rect">
                <a:avLst/>
              </a:prstGeom>
              <a:blipFill>
                <a:blip r:embed="rId6"/>
                <a:stretch>
                  <a:fillRect l="-881"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FC0B6AC-C142-974E-90BE-90AB8D62DC97}"/>
                  </a:ext>
                </a:extLst>
              </p:cNvPr>
              <p:cNvSpPr txBox="1"/>
              <p:nvPr/>
            </p:nvSpPr>
            <p:spPr>
              <a:xfrm>
                <a:off x="561859" y="1486768"/>
                <a:ext cx="5305491" cy="527645"/>
              </a:xfrm>
              <a:prstGeom prst="rect">
                <a:avLst/>
              </a:prstGeom>
              <a:noFill/>
            </p:spPr>
            <p:txBody>
              <a:bodyPr wrap="none" lIns="0" tIns="0" rIns="0" bIns="0" rtlCol="0">
                <a:spAutoFit/>
              </a:bodyPr>
              <a:lstStyle/>
              <a:p>
                <a:pPr>
                  <a:lnSpc>
                    <a:spcPct val="114000"/>
                  </a:lnSpc>
                </a:pPr>
                <a14:m>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𝑢</m:t>
                        </m:r>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𝜕𝜌</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𝑣𝑢</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i="1">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𝑤</m:t>
                        </m:r>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𝜎</m:t>
                            </m:r>
                          </m:e>
                          <m:sub>
                            <m:r>
                              <a:rPr lang="en-US" b="0" i="1" smtClean="0">
                                <a:latin typeface="Cambria Math" panose="02040503050406030204" pitchFamily="18" charset="0"/>
                                <a:ea typeface="Cambria Math" panose="02040503050406030204" pitchFamily="18" charset="0"/>
                                <a:cs typeface="Arial" panose="020B0604020202020204" pitchFamily="34" charset="0"/>
                              </a:rPr>
                              <m:t>𝑥</m:t>
                            </m:r>
                          </m:sub>
                        </m:sSub>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𝑦𝑥</m:t>
                            </m:r>
                          </m:sub>
                        </m:sSub>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𝑧𝑥</m:t>
                            </m:r>
                          </m:sub>
                        </m:sSub>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𝑔𝑆</m:t>
                    </m:r>
                  </m:oMath>
                </a14:m>
                <a:r>
                  <a:rPr lang="en-US" dirty="0">
                    <a:latin typeface="Arial" panose="020B0604020202020204" pitchFamily="34" charset="0"/>
                    <a:cs typeface="Arial" panose="020B0604020202020204" pitchFamily="34" charset="0"/>
                  </a:rPr>
                  <a:t> </a:t>
                </a:r>
              </a:p>
            </p:txBody>
          </p:sp>
        </mc:Choice>
        <mc:Fallback xmlns="">
          <p:sp>
            <p:nvSpPr>
              <p:cNvPr id="14" name="TextBox 13">
                <a:extLst>
                  <a:ext uri="{FF2B5EF4-FFF2-40B4-BE49-F238E27FC236}">
                    <a16:creationId xmlns:a16="http://schemas.microsoft.com/office/drawing/2014/main" id="{7FC0B6AC-C142-974E-90BE-90AB8D62DC97}"/>
                  </a:ext>
                </a:extLst>
              </p:cNvPr>
              <p:cNvSpPr txBox="1">
                <a:spLocks noRot="1" noChangeAspect="1" noMove="1" noResize="1" noEditPoints="1" noAdjustHandles="1" noChangeArrowheads="1" noChangeShapeType="1" noTextEdit="1"/>
              </p:cNvSpPr>
              <p:nvPr/>
            </p:nvSpPr>
            <p:spPr>
              <a:xfrm>
                <a:off x="561859" y="1486768"/>
                <a:ext cx="5305491" cy="527645"/>
              </a:xfrm>
              <a:prstGeom prst="rect">
                <a:avLst/>
              </a:prstGeom>
              <a:blipFill>
                <a:blip r:embed="rId7"/>
                <a:stretch>
                  <a:fillRect l="-1675" b="-11905"/>
                </a:stretch>
              </a:blipFill>
            </p:spPr>
            <p:txBody>
              <a:bodyPr/>
              <a:lstStyle/>
              <a:p>
                <a:r>
                  <a:rPr lang="en-US">
                    <a:noFill/>
                  </a:rPr>
                  <a:t> </a:t>
                </a:r>
              </a:p>
            </p:txBody>
          </p:sp>
        </mc:Fallback>
      </mc:AlternateContent>
    </p:spTree>
    <p:extLst>
      <p:ext uri="{BB962C8B-B14F-4D97-AF65-F5344CB8AC3E}">
        <p14:creationId xmlns:p14="http://schemas.microsoft.com/office/powerpoint/2010/main" val="18706767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38</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Local streamwise momentum conservation</a:t>
            </a:r>
          </a:p>
        </p:txBody>
      </p:sp>
      <p:sp>
        <p:nvSpPr>
          <p:cNvPr id="9" name="TextBox 8">
            <a:extLst>
              <a:ext uri="{FF2B5EF4-FFF2-40B4-BE49-F238E27FC236}">
                <a16:creationId xmlns:a16="http://schemas.microsoft.com/office/drawing/2014/main" id="{FDEC7880-8748-8645-9272-104572A2CC37}"/>
              </a:ext>
            </a:extLst>
          </p:cNvPr>
          <p:cNvSpPr txBox="1"/>
          <p:nvPr/>
        </p:nvSpPr>
        <p:spPr>
          <a:xfrm>
            <a:off x="482756" y="946892"/>
            <a:ext cx="11069347" cy="410625"/>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Dividing the momentum balance on slide 24 by </a:t>
            </a:r>
            <a:r>
              <a:rPr lang="en-US" sz="2000"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x</a:t>
            </a:r>
            <a:r>
              <a:rPr lang="en-US" sz="2000"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y</a:t>
            </a:r>
            <a:r>
              <a:rPr lang="en-US"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z</a:t>
            </a:r>
            <a:r>
              <a:rPr lang="en-US" dirty="0">
                <a:latin typeface="Arial" panose="020B0604020202020204" pitchFamily="34" charset="0"/>
                <a:cs typeface="Arial" panose="020B0604020202020204" pitchFamily="34" charset="0"/>
              </a:rPr>
              <a:t> it is found that </a:t>
            </a:r>
          </a:p>
        </p:txBody>
      </p:sp>
      <p:sp>
        <p:nvSpPr>
          <p:cNvPr id="62" name="TextBox 61">
            <a:extLst>
              <a:ext uri="{FF2B5EF4-FFF2-40B4-BE49-F238E27FC236}">
                <a16:creationId xmlns:a16="http://schemas.microsoft.com/office/drawing/2014/main" id="{222C911C-8F7A-B64C-8984-9B295C9E9327}"/>
              </a:ext>
            </a:extLst>
          </p:cNvPr>
          <p:cNvSpPr txBox="1"/>
          <p:nvPr/>
        </p:nvSpPr>
        <p:spPr>
          <a:xfrm>
            <a:off x="482756" y="2245046"/>
            <a:ext cx="11069347" cy="381708"/>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Recalling that</a:t>
            </a:r>
          </a:p>
        </p:txBody>
      </p: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3E32F372-8DBD-D04A-8222-78DE2040DE2E}"/>
                  </a:ext>
                </a:extLst>
              </p:cNvPr>
              <p:cNvSpPr txBox="1"/>
              <p:nvPr/>
            </p:nvSpPr>
            <p:spPr>
              <a:xfrm>
                <a:off x="5655754" y="2553810"/>
                <a:ext cx="2215543" cy="607154"/>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𝑧𝑥</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𝜌𝜈</m:t>
                      </m:r>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𝑢</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𝑤</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e>
                      </m:d>
                    </m:oMath>
                  </m:oMathPara>
                </a14:m>
                <a:endParaRPr lang="en-US" dirty="0">
                  <a:latin typeface="Arial" panose="020B0604020202020204" pitchFamily="34" charset="0"/>
                  <a:cs typeface="Arial" panose="020B0604020202020204" pitchFamily="34" charset="0"/>
                </a:endParaRPr>
              </a:p>
            </p:txBody>
          </p:sp>
        </mc:Choice>
        <mc:Fallback xmlns="">
          <p:sp>
            <p:nvSpPr>
              <p:cNvPr id="63" name="TextBox 62">
                <a:extLst>
                  <a:ext uri="{FF2B5EF4-FFF2-40B4-BE49-F238E27FC236}">
                    <a16:creationId xmlns:a16="http://schemas.microsoft.com/office/drawing/2014/main" id="{3E32F372-8DBD-D04A-8222-78DE2040DE2E}"/>
                  </a:ext>
                </a:extLst>
              </p:cNvPr>
              <p:cNvSpPr txBox="1">
                <a:spLocks noRot="1" noChangeAspect="1" noMove="1" noResize="1" noEditPoints="1" noAdjustHandles="1" noChangeArrowheads="1" noChangeShapeType="1" noTextEdit="1"/>
              </p:cNvSpPr>
              <p:nvPr/>
            </p:nvSpPr>
            <p:spPr>
              <a:xfrm>
                <a:off x="5655754" y="2553810"/>
                <a:ext cx="2215543" cy="607154"/>
              </a:xfrm>
              <a:prstGeom prst="rect">
                <a:avLst/>
              </a:prstGeom>
              <a:blipFill>
                <a:blip r:embed="rId3"/>
                <a:stretch>
                  <a:fillRect l="-571" b="-102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2CEE6098-9DA1-E941-BD5F-973D7D458B14}"/>
                  </a:ext>
                </a:extLst>
              </p:cNvPr>
              <p:cNvSpPr txBox="1"/>
              <p:nvPr/>
            </p:nvSpPr>
            <p:spPr>
              <a:xfrm>
                <a:off x="2878823" y="2597881"/>
                <a:ext cx="2188291" cy="654346"/>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𝑦𝑥</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𝜌𝜈</m:t>
                      </m:r>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𝑢</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𝑣</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e>
                      </m:d>
                    </m:oMath>
                  </m:oMathPara>
                </a14:m>
                <a:endParaRPr lang="en-US" dirty="0">
                  <a:latin typeface="Arial" panose="020B0604020202020204" pitchFamily="34" charset="0"/>
                  <a:cs typeface="Arial" panose="020B0604020202020204" pitchFamily="34" charset="0"/>
                </a:endParaRPr>
              </a:p>
            </p:txBody>
          </p:sp>
        </mc:Choice>
        <mc:Fallback xmlns="">
          <p:sp>
            <p:nvSpPr>
              <p:cNvPr id="64" name="TextBox 63">
                <a:extLst>
                  <a:ext uri="{FF2B5EF4-FFF2-40B4-BE49-F238E27FC236}">
                    <a16:creationId xmlns:a16="http://schemas.microsoft.com/office/drawing/2014/main" id="{2CEE6098-9DA1-E941-BD5F-973D7D458B14}"/>
                  </a:ext>
                </a:extLst>
              </p:cNvPr>
              <p:cNvSpPr txBox="1">
                <a:spLocks noRot="1" noChangeAspect="1" noMove="1" noResize="1" noEditPoints="1" noAdjustHandles="1" noChangeArrowheads="1" noChangeShapeType="1" noTextEdit="1"/>
              </p:cNvSpPr>
              <p:nvPr/>
            </p:nvSpPr>
            <p:spPr>
              <a:xfrm>
                <a:off x="2878823" y="2597881"/>
                <a:ext cx="2188291" cy="654346"/>
              </a:xfrm>
              <a:prstGeom prst="rect">
                <a:avLst/>
              </a:prstGeom>
              <a:blipFill>
                <a:blip r:embed="rId4"/>
                <a:stretch>
                  <a:fillRect l="-578" b="-150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30C9F5FD-436E-FE4C-80E3-9D9295BB3D29}"/>
                  </a:ext>
                </a:extLst>
              </p:cNvPr>
              <p:cNvSpPr txBox="1"/>
              <p:nvPr/>
            </p:nvSpPr>
            <p:spPr>
              <a:xfrm>
                <a:off x="598181" y="2653858"/>
                <a:ext cx="1692002" cy="598369"/>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𝜎</m:t>
                          </m:r>
                        </m:e>
                        <m:sub>
                          <m:r>
                            <a:rPr lang="en-US" b="0" i="1" smtClean="0">
                              <a:latin typeface="Cambria Math" panose="02040503050406030204" pitchFamily="18" charset="0"/>
                              <a:cs typeface="Arial" panose="020B0604020202020204" pitchFamily="34" charset="0"/>
                            </a:rPr>
                            <m:t>𝑥</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𝑝</m:t>
                      </m:r>
                      <m:r>
                        <a:rPr lang="en-US" b="0" i="1" smtClean="0">
                          <a:latin typeface="Cambria Math" panose="02040503050406030204" pitchFamily="18" charset="0"/>
                          <a:cs typeface="Arial" panose="020B0604020202020204" pitchFamily="34" charset="0"/>
                        </a:rPr>
                        <m:t>−2</m:t>
                      </m:r>
                      <m:r>
                        <a:rPr lang="en-US" b="0" i="1" smtClean="0">
                          <a:latin typeface="Cambria Math" panose="02040503050406030204" pitchFamily="18" charset="0"/>
                          <a:ea typeface="Cambria Math" panose="02040503050406030204" pitchFamily="18" charset="0"/>
                          <a:cs typeface="Arial" panose="020B0604020202020204" pitchFamily="34" charset="0"/>
                        </a:rPr>
                        <m:t>𝜌𝜈</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𝑢</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oMath>
                  </m:oMathPara>
                </a14:m>
                <a:endParaRPr lang="en-US" dirty="0">
                  <a:latin typeface="Arial" panose="020B0604020202020204" pitchFamily="34" charset="0"/>
                  <a:cs typeface="Arial" panose="020B0604020202020204" pitchFamily="34" charset="0"/>
                </a:endParaRPr>
              </a:p>
            </p:txBody>
          </p:sp>
        </mc:Choice>
        <mc:Fallback xmlns="">
          <p:sp>
            <p:nvSpPr>
              <p:cNvPr id="65" name="TextBox 64">
                <a:extLst>
                  <a:ext uri="{FF2B5EF4-FFF2-40B4-BE49-F238E27FC236}">
                    <a16:creationId xmlns:a16="http://schemas.microsoft.com/office/drawing/2014/main" id="{30C9F5FD-436E-FE4C-80E3-9D9295BB3D29}"/>
                  </a:ext>
                </a:extLst>
              </p:cNvPr>
              <p:cNvSpPr txBox="1">
                <a:spLocks noRot="1" noChangeAspect="1" noMove="1" noResize="1" noEditPoints="1" noAdjustHandles="1" noChangeArrowheads="1" noChangeShapeType="1" noTextEdit="1"/>
              </p:cNvSpPr>
              <p:nvPr/>
            </p:nvSpPr>
            <p:spPr>
              <a:xfrm>
                <a:off x="598181" y="2653858"/>
                <a:ext cx="1692002" cy="598369"/>
              </a:xfrm>
              <a:prstGeom prst="rect">
                <a:avLst/>
              </a:prstGeom>
              <a:blipFill>
                <a:blip r:embed="rId5"/>
                <a:stretch>
                  <a:fillRect l="-746" r="-2239" b="-12245"/>
                </a:stretch>
              </a:blipFill>
            </p:spPr>
            <p:txBody>
              <a:bodyPr/>
              <a:lstStyle/>
              <a:p>
                <a:r>
                  <a:rPr lang="en-US">
                    <a:noFill/>
                  </a:rPr>
                  <a:t> </a:t>
                </a:r>
              </a:p>
            </p:txBody>
          </p:sp>
        </mc:Fallback>
      </mc:AlternateContent>
      <p:sp>
        <p:nvSpPr>
          <p:cNvPr id="66" name="TextBox 65">
            <a:extLst>
              <a:ext uri="{FF2B5EF4-FFF2-40B4-BE49-F238E27FC236}">
                <a16:creationId xmlns:a16="http://schemas.microsoft.com/office/drawing/2014/main" id="{A8E70456-7EC6-C24D-BF5F-88162DBB103C}"/>
              </a:ext>
            </a:extLst>
          </p:cNvPr>
          <p:cNvSpPr txBox="1"/>
          <p:nvPr/>
        </p:nvSpPr>
        <p:spPr>
          <a:xfrm>
            <a:off x="561326" y="3508218"/>
            <a:ext cx="11069347" cy="381708"/>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the equation of conservation of streamwise momentum is rewritten as</a:t>
            </a:r>
          </a:p>
        </p:txBody>
      </p:sp>
      <p:sp>
        <p:nvSpPr>
          <p:cNvPr id="68" name="TextBox 67">
            <a:extLst>
              <a:ext uri="{FF2B5EF4-FFF2-40B4-BE49-F238E27FC236}">
                <a16:creationId xmlns:a16="http://schemas.microsoft.com/office/drawing/2014/main" id="{C2E8F892-BD5C-FE4D-A091-1EA1C2593F16}"/>
              </a:ext>
            </a:extLst>
          </p:cNvPr>
          <p:cNvSpPr txBox="1"/>
          <p:nvPr/>
        </p:nvSpPr>
        <p:spPr>
          <a:xfrm>
            <a:off x="536181" y="4759611"/>
            <a:ext cx="11069347" cy="381708"/>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Rearranging the terms, it is found that</a:t>
            </a:r>
          </a:p>
        </p:txBody>
      </p:sp>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9725D89D-4645-D245-9BF7-AE578C7E165F}"/>
                  </a:ext>
                </a:extLst>
              </p:cNvPr>
              <p:cNvSpPr txBox="1"/>
              <p:nvPr/>
            </p:nvSpPr>
            <p:spPr>
              <a:xfrm>
                <a:off x="692226" y="5257459"/>
                <a:ext cx="8458854" cy="527645"/>
              </a:xfrm>
              <a:prstGeom prst="rect">
                <a:avLst/>
              </a:prstGeom>
              <a:noFill/>
            </p:spPr>
            <p:txBody>
              <a:bodyPr wrap="none" lIns="0" tIns="0" rIns="0" bIns="0" rtlCol="0">
                <a:spAutoFit/>
              </a:bodyPr>
              <a:lstStyle/>
              <a:p>
                <a:pPr>
                  <a:lnSpc>
                    <a:spcPct val="114000"/>
                  </a:lnSpc>
                </a:pPr>
                <a14:m>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𝑢</m:t>
                        </m:r>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𝜕𝜌</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𝑣𝑢</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i="1">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𝑤</m:t>
                        </m:r>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𝑝</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𝜌𝜈</m:t>
                    </m:r>
                    <m:d>
                      <m:dPr>
                        <m:ctrlPr>
                          <a:rPr lang="en-US" i="1" smtClean="0">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𝑥</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𝑦</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𝑧</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den>
                        </m:f>
                      </m:e>
                    </m:d>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𝜌𝜈</m:t>
                    </m:r>
                    <m:f>
                      <m:fPr>
                        <m:ctrlPr>
                          <a:rPr lang="en-US" i="1" smtClean="0">
                            <a:latin typeface="Cambria Math" panose="02040503050406030204" pitchFamily="18" charset="0"/>
                            <a:ea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m:t>
                        </m:r>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d>
                      <m:dPr>
                        <m:ctrlPr>
                          <a:rPr lang="en-US" i="1" smtClean="0">
                            <a:latin typeface="Cambria Math" panose="02040503050406030204" pitchFamily="18" charset="0"/>
                            <a:ea typeface="Cambria Math" panose="02040503050406030204" pitchFamily="18" charset="0"/>
                            <a:cs typeface="Arial" panose="020B0604020202020204" pitchFamily="34" charset="0"/>
                          </a:rPr>
                        </m:ctrlPr>
                      </m:dPr>
                      <m:e>
                        <m:f>
                          <m:fPr>
                            <m:ctrlPr>
                              <a:rPr lang="en-US" i="1" smtClean="0">
                                <a:latin typeface="Cambria Math" panose="02040503050406030204" pitchFamily="18" charset="0"/>
                                <a:ea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𝑢</m:t>
                            </m:r>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𝑣</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𝑤</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e>
                    </m:d>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𝑔𝑆</m:t>
                    </m:r>
                  </m:oMath>
                </a14:m>
                <a:r>
                  <a:rPr lang="en-US" dirty="0">
                    <a:latin typeface="Arial" panose="020B0604020202020204" pitchFamily="34" charset="0"/>
                    <a:cs typeface="Arial" panose="020B0604020202020204" pitchFamily="34" charset="0"/>
                  </a:rPr>
                  <a:t> </a:t>
                </a:r>
              </a:p>
            </p:txBody>
          </p:sp>
        </mc:Choice>
        <mc:Fallback xmlns="">
          <p:sp>
            <p:nvSpPr>
              <p:cNvPr id="69" name="TextBox 68">
                <a:extLst>
                  <a:ext uri="{FF2B5EF4-FFF2-40B4-BE49-F238E27FC236}">
                    <a16:creationId xmlns:a16="http://schemas.microsoft.com/office/drawing/2014/main" id="{9725D89D-4645-D245-9BF7-AE578C7E165F}"/>
                  </a:ext>
                </a:extLst>
              </p:cNvPr>
              <p:cNvSpPr txBox="1">
                <a:spLocks noRot="1" noChangeAspect="1" noMove="1" noResize="1" noEditPoints="1" noAdjustHandles="1" noChangeArrowheads="1" noChangeShapeType="1" noTextEdit="1"/>
              </p:cNvSpPr>
              <p:nvPr/>
            </p:nvSpPr>
            <p:spPr>
              <a:xfrm>
                <a:off x="692226" y="5257459"/>
                <a:ext cx="8458854" cy="527645"/>
              </a:xfrm>
              <a:prstGeom prst="rect">
                <a:avLst/>
              </a:prstGeom>
              <a:blipFill>
                <a:blip r:embed="rId6"/>
                <a:stretch>
                  <a:fillRect l="-900" b="-116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9FA87CA-17FE-D441-8A21-EA7B43B6462B}"/>
                  </a:ext>
                </a:extLst>
              </p:cNvPr>
              <p:cNvSpPr txBox="1"/>
              <p:nvPr/>
            </p:nvSpPr>
            <p:spPr>
              <a:xfrm>
                <a:off x="561859" y="1486768"/>
                <a:ext cx="5305491" cy="527645"/>
              </a:xfrm>
              <a:prstGeom prst="rect">
                <a:avLst/>
              </a:prstGeom>
              <a:noFill/>
            </p:spPr>
            <p:txBody>
              <a:bodyPr wrap="none" lIns="0" tIns="0" rIns="0" bIns="0" rtlCol="0">
                <a:spAutoFit/>
              </a:bodyPr>
              <a:lstStyle/>
              <a:p>
                <a:pPr>
                  <a:lnSpc>
                    <a:spcPct val="114000"/>
                  </a:lnSpc>
                </a:pPr>
                <a14:m>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𝑢</m:t>
                        </m:r>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𝜕𝜌</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𝑣𝑢</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i="1">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𝑤</m:t>
                        </m:r>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𝜎</m:t>
                            </m:r>
                          </m:e>
                          <m:sub>
                            <m:r>
                              <a:rPr lang="en-US" b="0" i="1" smtClean="0">
                                <a:latin typeface="Cambria Math" panose="02040503050406030204" pitchFamily="18" charset="0"/>
                                <a:ea typeface="Cambria Math" panose="02040503050406030204" pitchFamily="18" charset="0"/>
                                <a:cs typeface="Arial" panose="020B0604020202020204" pitchFamily="34" charset="0"/>
                              </a:rPr>
                              <m:t>𝑥</m:t>
                            </m:r>
                          </m:sub>
                        </m:sSub>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𝑦𝑥</m:t>
                            </m:r>
                          </m:sub>
                        </m:sSub>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𝑧𝑥</m:t>
                            </m:r>
                          </m:sub>
                        </m:sSub>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𝑔𝑆</m:t>
                    </m:r>
                  </m:oMath>
                </a14:m>
                <a:r>
                  <a:rPr lang="en-US" dirty="0">
                    <a:latin typeface="Arial" panose="020B0604020202020204" pitchFamily="34" charset="0"/>
                    <a:cs typeface="Arial" panose="020B0604020202020204" pitchFamily="34" charset="0"/>
                  </a:rPr>
                  <a:t> </a:t>
                </a:r>
              </a:p>
            </p:txBody>
          </p:sp>
        </mc:Choice>
        <mc:Fallback xmlns="">
          <p:sp>
            <p:nvSpPr>
              <p:cNvPr id="14" name="TextBox 13">
                <a:extLst>
                  <a:ext uri="{FF2B5EF4-FFF2-40B4-BE49-F238E27FC236}">
                    <a16:creationId xmlns:a16="http://schemas.microsoft.com/office/drawing/2014/main" id="{F9FA87CA-17FE-D441-8A21-EA7B43B6462B}"/>
                  </a:ext>
                </a:extLst>
              </p:cNvPr>
              <p:cNvSpPr txBox="1">
                <a:spLocks noRot="1" noChangeAspect="1" noMove="1" noResize="1" noEditPoints="1" noAdjustHandles="1" noChangeArrowheads="1" noChangeShapeType="1" noTextEdit="1"/>
              </p:cNvSpPr>
              <p:nvPr/>
            </p:nvSpPr>
            <p:spPr>
              <a:xfrm>
                <a:off x="561859" y="1486768"/>
                <a:ext cx="5305491" cy="527645"/>
              </a:xfrm>
              <a:prstGeom prst="rect">
                <a:avLst/>
              </a:prstGeom>
              <a:blipFill>
                <a:blip r:embed="rId7"/>
                <a:stretch>
                  <a:fillRect l="-1675" b="-119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1A907714-A9FF-2F48-916F-72D2E4938074}"/>
                  </a:ext>
                </a:extLst>
              </p:cNvPr>
              <p:cNvSpPr txBox="1"/>
              <p:nvPr/>
            </p:nvSpPr>
            <p:spPr>
              <a:xfrm>
                <a:off x="692226" y="4042428"/>
                <a:ext cx="8631915" cy="527645"/>
              </a:xfrm>
              <a:prstGeom prst="rect">
                <a:avLst/>
              </a:prstGeom>
              <a:noFill/>
            </p:spPr>
            <p:txBody>
              <a:bodyPr wrap="none" lIns="0" tIns="0" rIns="0" bIns="0" rtlCol="0">
                <a:spAutoFit/>
              </a:bodyPr>
              <a:lstStyle/>
              <a:p>
                <a:pPr>
                  <a:lnSpc>
                    <a:spcPct val="114000"/>
                  </a:lnSpc>
                </a:pPr>
                <a14:m>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𝑢</m:t>
                        </m:r>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𝜕𝜌</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𝑣𝑢</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i="1">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𝑤</m:t>
                        </m:r>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𝑝</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cs typeface="Arial" panose="020B0604020202020204" pitchFamily="34" charset="0"/>
                      </a:rPr>
                      <m:t>2</m:t>
                    </m:r>
                    <m:r>
                      <a:rPr lang="en-US" i="1">
                        <a:latin typeface="Cambria Math" panose="02040503050406030204" pitchFamily="18" charset="0"/>
                        <a:ea typeface="Cambria Math" panose="02040503050406030204" pitchFamily="18" charset="0"/>
                        <a:cs typeface="Arial" panose="020B0604020202020204" pitchFamily="34" charset="0"/>
                      </a:rPr>
                      <m:t>𝜌𝜈</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i="1" smtClean="0">
                                <a:latin typeface="Cambria Math" panose="02040503050406030204" pitchFamily="18" charset="0"/>
                                <a:ea typeface="Cambria Math" panose="02040503050406030204" pitchFamily="18" charset="0"/>
                                <a:cs typeface="Arial" panose="020B0604020202020204" pitchFamily="34" charset="0"/>
                              </a:rPr>
                            </m:ctrlPr>
                          </m:sSupPr>
                          <m:e>
                            <m:r>
                              <a:rPr lang="en-US" i="1" smtClean="0">
                                <a:latin typeface="Cambria Math" panose="02040503050406030204" pitchFamily="18" charset="0"/>
                                <a:ea typeface="Cambria Math" panose="02040503050406030204" pitchFamily="18" charset="0"/>
                                <a:cs typeface="Arial" panose="020B0604020202020204" pitchFamily="34" charset="0"/>
                              </a:rPr>
                              <m:t>𝜕</m:t>
                            </m:r>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sSup>
                          <m:sSupPr>
                            <m:ctrlPr>
                              <a:rPr lang="en-US"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𝑥</m:t>
                            </m:r>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den>
                    </m:f>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𝜌𝜈</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𝑦</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den>
                    </m:f>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𝜌𝜈</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r>
                          <a:rPr lang="en-US" b="0" i="1" smtClean="0">
                            <a:latin typeface="Cambria Math" panose="02040503050406030204" pitchFamily="18" charset="0"/>
                            <a:ea typeface="Cambria Math" panose="02040503050406030204" pitchFamily="18" charset="0"/>
                            <a:cs typeface="Arial" panose="020B0604020202020204" pitchFamily="34" charset="0"/>
                          </a:rPr>
                          <m:t>𝑣</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𝜌𝜈</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𝑧</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den>
                    </m:f>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𝜌𝜈</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r>
                          <a:rPr lang="en-US" b="0" i="1" smtClean="0">
                            <a:latin typeface="Cambria Math" panose="02040503050406030204" pitchFamily="18" charset="0"/>
                            <a:ea typeface="Cambria Math" panose="02040503050406030204" pitchFamily="18" charset="0"/>
                            <a:cs typeface="Arial" panose="020B0604020202020204" pitchFamily="34" charset="0"/>
                          </a:rPr>
                          <m:t>𝑤</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𝑔𝑆</m:t>
                    </m:r>
                  </m:oMath>
                </a14:m>
                <a:r>
                  <a:rPr lang="en-US" dirty="0">
                    <a:latin typeface="Arial" panose="020B0604020202020204" pitchFamily="34" charset="0"/>
                    <a:cs typeface="Arial" panose="020B0604020202020204" pitchFamily="34" charset="0"/>
                  </a:rPr>
                  <a:t> </a:t>
                </a:r>
              </a:p>
            </p:txBody>
          </p:sp>
        </mc:Choice>
        <mc:Fallback xmlns="">
          <p:sp>
            <p:nvSpPr>
              <p:cNvPr id="15" name="TextBox 14">
                <a:extLst>
                  <a:ext uri="{FF2B5EF4-FFF2-40B4-BE49-F238E27FC236}">
                    <a16:creationId xmlns:a16="http://schemas.microsoft.com/office/drawing/2014/main" id="{1A907714-A9FF-2F48-916F-72D2E4938074}"/>
                  </a:ext>
                </a:extLst>
              </p:cNvPr>
              <p:cNvSpPr txBox="1">
                <a:spLocks noRot="1" noChangeAspect="1" noMove="1" noResize="1" noEditPoints="1" noAdjustHandles="1" noChangeArrowheads="1" noChangeShapeType="1" noTextEdit="1"/>
              </p:cNvSpPr>
              <p:nvPr/>
            </p:nvSpPr>
            <p:spPr>
              <a:xfrm>
                <a:off x="692226" y="4042428"/>
                <a:ext cx="8631915" cy="527645"/>
              </a:xfrm>
              <a:prstGeom prst="rect">
                <a:avLst/>
              </a:prstGeom>
              <a:blipFill>
                <a:blip r:embed="rId8"/>
                <a:stretch>
                  <a:fillRect l="-881" b="-14286"/>
                </a:stretch>
              </a:blipFill>
            </p:spPr>
            <p:txBody>
              <a:bodyPr/>
              <a:lstStyle/>
              <a:p>
                <a:r>
                  <a:rPr lang="en-US">
                    <a:noFill/>
                  </a:rPr>
                  <a:t> </a:t>
                </a:r>
              </a:p>
            </p:txBody>
          </p:sp>
        </mc:Fallback>
      </mc:AlternateContent>
    </p:spTree>
    <p:extLst>
      <p:ext uri="{BB962C8B-B14F-4D97-AF65-F5344CB8AC3E}">
        <p14:creationId xmlns:p14="http://schemas.microsoft.com/office/powerpoint/2010/main" val="5449361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39</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Local streamwise momentum conservation</a:t>
            </a:r>
          </a:p>
        </p:txBody>
      </p:sp>
      <p:sp>
        <p:nvSpPr>
          <p:cNvPr id="9" name="TextBox 8">
            <a:extLst>
              <a:ext uri="{FF2B5EF4-FFF2-40B4-BE49-F238E27FC236}">
                <a16:creationId xmlns:a16="http://schemas.microsoft.com/office/drawing/2014/main" id="{FDEC7880-8748-8645-9272-104572A2CC37}"/>
              </a:ext>
            </a:extLst>
          </p:cNvPr>
          <p:cNvSpPr txBox="1"/>
          <p:nvPr/>
        </p:nvSpPr>
        <p:spPr>
          <a:xfrm>
            <a:off x="482756" y="946892"/>
            <a:ext cx="11069347" cy="410625"/>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Dividing the momentum balance on slide 24 by </a:t>
            </a:r>
            <a:r>
              <a:rPr lang="en-US" sz="2000"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x</a:t>
            </a:r>
            <a:r>
              <a:rPr lang="en-US" sz="2000"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y</a:t>
            </a:r>
            <a:r>
              <a:rPr lang="en-US"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z</a:t>
            </a:r>
            <a:r>
              <a:rPr lang="en-US" dirty="0">
                <a:latin typeface="Arial" panose="020B0604020202020204" pitchFamily="34" charset="0"/>
                <a:cs typeface="Arial" panose="020B0604020202020204" pitchFamily="34" charset="0"/>
              </a:rPr>
              <a:t> it is found that </a:t>
            </a:r>
          </a:p>
        </p:txBody>
      </p:sp>
      <p:sp>
        <p:nvSpPr>
          <p:cNvPr id="62" name="TextBox 61">
            <a:extLst>
              <a:ext uri="{FF2B5EF4-FFF2-40B4-BE49-F238E27FC236}">
                <a16:creationId xmlns:a16="http://schemas.microsoft.com/office/drawing/2014/main" id="{222C911C-8F7A-B64C-8984-9B295C9E9327}"/>
              </a:ext>
            </a:extLst>
          </p:cNvPr>
          <p:cNvSpPr txBox="1"/>
          <p:nvPr/>
        </p:nvSpPr>
        <p:spPr>
          <a:xfrm>
            <a:off x="482756" y="2245046"/>
            <a:ext cx="11069347" cy="381708"/>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Recalling that</a:t>
            </a:r>
          </a:p>
        </p:txBody>
      </p: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3E32F372-8DBD-D04A-8222-78DE2040DE2E}"/>
                  </a:ext>
                </a:extLst>
              </p:cNvPr>
              <p:cNvSpPr txBox="1"/>
              <p:nvPr/>
            </p:nvSpPr>
            <p:spPr>
              <a:xfrm>
                <a:off x="5655754" y="2553810"/>
                <a:ext cx="2215543" cy="607154"/>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𝑧𝑥</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𝜌𝜈</m:t>
                      </m:r>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𝑢</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𝑤</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e>
                      </m:d>
                    </m:oMath>
                  </m:oMathPara>
                </a14:m>
                <a:endParaRPr lang="en-US" dirty="0">
                  <a:latin typeface="Arial" panose="020B0604020202020204" pitchFamily="34" charset="0"/>
                  <a:cs typeface="Arial" panose="020B0604020202020204" pitchFamily="34" charset="0"/>
                </a:endParaRPr>
              </a:p>
            </p:txBody>
          </p:sp>
        </mc:Choice>
        <mc:Fallback xmlns="">
          <p:sp>
            <p:nvSpPr>
              <p:cNvPr id="63" name="TextBox 62">
                <a:extLst>
                  <a:ext uri="{FF2B5EF4-FFF2-40B4-BE49-F238E27FC236}">
                    <a16:creationId xmlns:a16="http://schemas.microsoft.com/office/drawing/2014/main" id="{3E32F372-8DBD-D04A-8222-78DE2040DE2E}"/>
                  </a:ext>
                </a:extLst>
              </p:cNvPr>
              <p:cNvSpPr txBox="1">
                <a:spLocks noRot="1" noChangeAspect="1" noMove="1" noResize="1" noEditPoints="1" noAdjustHandles="1" noChangeArrowheads="1" noChangeShapeType="1" noTextEdit="1"/>
              </p:cNvSpPr>
              <p:nvPr/>
            </p:nvSpPr>
            <p:spPr>
              <a:xfrm>
                <a:off x="5655754" y="2553810"/>
                <a:ext cx="2215543" cy="607154"/>
              </a:xfrm>
              <a:prstGeom prst="rect">
                <a:avLst/>
              </a:prstGeom>
              <a:blipFill>
                <a:blip r:embed="rId3"/>
                <a:stretch>
                  <a:fillRect l="-571" b="-102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2CEE6098-9DA1-E941-BD5F-973D7D458B14}"/>
                  </a:ext>
                </a:extLst>
              </p:cNvPr>
              <p:cNvSpPr txBox="1"/>
              <p:nvPr/>
            </p:nvSpPr>
            <p:spPr>
              <a:xfrm>
                <a:off x="2878823" y="2597881"/>
                <a:ext cx="2188291" cy="654346"/>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𝑦𝑥</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𝜌𝜈</m:t>
                      </m:r>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𝑢</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𝑣</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e>
                      </m:d>
                    </m:oMath>
                  </m:oMathPara>
                </a14:m>
                <a:endParaRPr lang="en-US" dirty="0">
                  <a:latin typeface="Arial" panose="020B0604020202020204" pitchFamily="34" charset="0"/>
                  <a:cs typeface="Arial" panose="020B0604020202020204" pitchFamily="34" charset="0"/>
                </a:endParaRPr>
              </a:p>
            </p:txBody>
          </p:sp>
        </mc:Choice>
        <mc:Fallback xmlns="">
          <p:sp>
            <p:nvSpPr>
              <p:cNvPr id="64" name="TextBox 63">
                <a:extLst>
                  <a:ext uri="{FF2B5EF4-FFF2-40B4-BE49-F238E27FC236}">
                    <a16:creationId xmlns:a16="http://schemas.microsoft.com/office/drawing/2014/main" id="{2CEE6098-9DA1-E941-BD5F-973D7D458B14}"/>
                  </a:ext>
                </a:extLst>
              </p:cNvPr>
              <p:cNvSpPr txBox="1">
                <a:spLocks noRot="1" noChangeAspect="1" noMove="1" noResize="1" noEditPoints="1" noAdjustHandles="1" noChangeArrowheads="1" noChangeShapeType="1" noTextEdit="1"/>
              </p:cNvSpPr>
              <p:nvPr/>
            </p:nvSpPr>
            <p:spPr>
              <a:xfrm>
                <a:off x="2878823" y="2597881"/>
                <a:ext cx="2188291" cy="654346"/>
              </a:xfrm>
              <a:prstGeom prst="rect">
                <a:avLst/>
              </a:prstGeom>
              <a:blipFill>
                <a:blip r:embed="rId4"/>
                <a:stretch>
                  <a:fillRect l="-578" b="-150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30C9F5FD-436E-FE4C-80E3-9D9295BB3D29}"/>
                  </a:ext>
                </a:extLst>
              </p:cNvPr>
              <p:cNvSpPr txBox="1"/>
              <p:nvPr/>
            </p:nvSpPr>
            <p:spPr>
              <a:xfrm>
                <a:off x="598181" y="2653858"/>
                <a:ext cx="1692002" cy="598369"/>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𝜎</m:t>
                          </m:r>
                        </m:e>
                        <m:sub>
                          <m:r>
                            <a:rPr lang="en-US" b="0" i="1" smtClean="0">
                              <a:latin typeface="Cambria Math" panose="02040503050406030204" pitchFamily="18" charset="0"/>
                              <a:cs typeface="Arial" panose="020B0604020202020204" pitchFamily="34" charset="0"/>
                            </a:rPr>
                            <m:t>𝑥</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𝑝</m:t>
                      </m:r>
                      <m:r>
                        <a:rPr lang="en-US" b="0" i="1" smtClean="0">
                          <a:latin typeface="Cambria Math" panose="02040503050406030204" pitchFamily="18" charset="0"/>
                          <a:cs typeface="Arial" panose="020B0604020202020204" pitchFamily="34" charset="0"/>
                        </a:rPr>
                        <m:t>−2</m:t>
                      </m:r>
                      <m:r>
                        <a:rPr lang="en-US" b="0" i="1" smtClean="0">
                          <a:latin typeface="Cambria Math" panose="02040503050406030204" pitchFamily="18" charset="0"/>
                          <a:ea typeface="Cambria Math" panose="02040503050406030204" pitchFamily="18" charset="0"/>
                          <a:cs typeface="Arial" panose="020B0604020202020204" pitchFamily="34" charset="0"/>
                        </a:rPr>
                        <m:t>𝜌𝜈</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𝑢</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oMath>
                  </m:oMathPara>
                </a14:m>
                <a:endParaRPr lang="en-US" dirty="0">
                  <a:latin typeface="Arial" panose="020B0604020202020204" pitchFamily="34" charset="0"/>
                  <a:cs typeface="Arial" panose="020B0604020202020204" pitchFamily="34" charset="0"/>
                </a:endParaRPr>
              </a:p>
            </p:txBody>
          </p:sp>
        </mc:Choice>
        <mc:Fallback xmlns="">
          <p:sp>
            <p:nvSpPr>
              <p:cNvPr id="65" name="TextBox 64">
                <a:extLst>
                  <a:ext uri="{FF2B5EF4-FFF2-40B4-BE49-F238E27FC236}">
                    <a16:creationId xmlns:a16="http://schemas.microsoft.com/office/drawing/2014/main" id="{30C9F5FD-436E-FE4C-80E3-9D9295BB3D29}"/>
                  </a:ext>
                </a:extLst>
              </p:cNvPr>
              <p:cNvSpPr txBox="1">
                <a:spLocks noRot="1" noChangeAspect="1" noMove="1" noResize="1" noEditPoints="1" noAdjustHandles="1" noChangeArrowheads="1" noChangeShapeType="1" noTextEdit="1"/>
              </p:cNvSpPr>
              <p:nvPr/>
            </p:nvSpPr>
            <p:spPr>
              <a:xfrm>
                <a:off x="598181" y="2653858"/>
                <a:ext cx="1692002" cy="598369"/>
              </a:xfrm>
              <a:prstGeom prst="rect">
                <a:avLst/>
              </a:prstGeom>
              <a:blipFill>
                <a:blip r:embed="rId5"/>
                <a:stretch>
                  <a:fillRect l="-746" r="-2239" b="-12245"/>
                </a:stretch>
              </a:blipFill>
            </p:spPr>
            <p:txBody>
              <a:bodyPr/>
              <a:lstStyle/>
              <a:p>
                <a:r>
                  <a:rPr lang="en-US">
                    <a:noFill/>
                  </a:rPr>
                  <a:t> </a:t>
                </a:r>
              </a:p>
            </p:txBody>
          </p:sp>
        </mc:Fallback>
      </mc:AlternateContent>
      <p:sp>
        <p:nvSpPr>
          <p:cNvPr id="66" name="TextBox 65">
            <a:extLst>
              <a:ext uri="{FF2B5EF4-FFF2-40B4-BE49-F238E27FC236}">
                <a16:creationId xmlns:a16="http://schemas.microsoft.com/office/drawing/2014/main" id="{A8E70456-7EC6-C24D-BF5F-88162DBB103C}"/>
              </a:ext>
            </a:extLst>
          </p:cNvPr>
          <p:cNvSpPr txBox="1"/>
          <p:nvPr/>
        </p:nvSpPr>
        <p:spPr>
          <a:xfrm>
            <a:off x="561326" y="3508218"/>
            <a:ext cx="11069347" cy="381708"/>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the equation of conservation of streamwise momentum is rewritten as</a:t>
            </a:r>
          </a:p>
        </p:txBody>
      </p:sp>
      <p:sp>
        <p:nvSpPr>
          <p:cNvPr id="68" name="TextBox 67">
            <a:extLst>
              <a:ext uri="{FF2B5EF4-FFF2-40B4-BE49-F238E27FC236}">
                <a16:creationId xmlns:a16="http://schemas.microsoft.com/office/drawing/2014/main" id="{C2E8F892-BD5C-FE4D-A091-1EA1C2593F16}"/>
              </a:ext>
            </a:extLst>
          </p:cNvPr>
          <p:cNvSpPr txBox="1"/>
          <p:nvPr/>
        </p:nvSpPr>
        <p:spPr>
          <a:xfrm>
            <a:off x="536181" y="4759611"/>
            <a:ext cx="11069347" cy="381708"/>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Rearranging the terms, it is found that</a:t>
            </a:r>
          </a:p>
        </p:txBody>
      </p:sp>
      <p:cxnSp>
        <p:nvCxnSpPr>
          <p:cNvPr id="6" name="Straight Connector 5">
            <a:extLst>
              <a:ext uri="{FF2B5EF4-FFF2-40B4-BE49-F238E27FC236}">
                <a16:creationId xmlns:a16="http://schemas.microsoft.com/office/drawing/2014/main" id="{72F91A26-EF6B-4440-AC89-80626700241A}"/>
              </a:ext>
            </a:extLst>
          </p:cNvPr>
          <p:cNvCxnSpPr/>
          <p:nvPr/>
        </p:nvCxnSpPr>
        <p:spPr>
          <a:xfrm flipV="1">
            <a:off x="6555036" y="5197425"/>
            <a:ext cx="1894901" cy="7357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573AAB1-ECE2-8B40-84E1-58AD1A838D00}"/>
              </a:ext>
            </a:extLst>
          </p:cNvPr>
          <p:cNvSpPr txBox="1"/>
          <p:nvPr/>
        </p:nvSpPr>
        <p:spPr>
          <a:xfrm>
            <a:off x="7771338" y="4854380"/>
            <a:ext cx="2210862" cy="381708"/>
          </a:xfrm>
          <a:prstGeom prst="rect">
            <a:avLst/>
          </a:prstGeom>
          <a:noFill/>
        </p:spPr>
        <p:txBody>
          <a:bodyPr wrap="none" rtlCol="0">
            <a:spAutoFit/>
          </a:bodyPr>
          <a:lstStyle/>
          <a:p>
            <a:pPr algn="l">
              <a:lnSpc>
                <a:spcPct val="114000"/>
              </a:lnSpc>
            </a:pPr>
            <a:r>
              <a:rPr lang="en-US" dirty="0">
                <a:latin typeface="Arial" panose="020B0604020202020204" pitchFamily="34" charset="0"/>
                <a:cs typeface="Arial" panose="020B0604020202020204" pitchFamily="34" charset="0"/>
              </a:rPr>
              <a:t>incompressible fluid</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6258E7A-D7CC-6A45-873E-E461C17B5232}"/>
                  </a:ext>
                </a:extLst>
              </p:cNvPr>
              <p:cNvSpPr txBox="1"/>
              <p:nvPr/>
            </p:nvSpPr>
            <p:spPr>
              <a:xfrm>
                <a:off x="692226" y="5257459"/>
                <a:ext cx="8458854" cy="527645"/>
              </a:xfrm>
              <a:prstGeom prst="rect">
                <a:avLst/>
              </a:prstGeom>
              <a:noFill/>
            </p:spPr>
            <p:txBody>
              <a:bodyPr wrap="none" lIns="0" tIns="0" rIns="0" bIns="0" rtlCol="0">
                <a:spAutoFit/>
              </a:bodyPr>
              <a:lstStyle/>
              <a:p>
                <a:pPr>
                  <a:lnSpc>
                    <a:spcPct val="114000"/>
                  </a:lnSpc>
                </a:pPr>
                <a14:m>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𝑢</m:t>
                        </m:r>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𝜕𝜌</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𝑣𝑢</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i="1">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𝑤</m:t>
                        </m:r>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𝑝</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𝜌𝜈</m:t>
                    </m:r>
                    <m:d>
                      <m:dPr>
                        <m:ctrlPr>
                          <a:rPr lang="en-US" i="1" smtClean="0">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𝑥</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𝑦</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𝑧</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den>
                        </m:f>
                      </m:e>
                    </m:d>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𝜌𝜈</m:t>
                    </m:r>
                    <m:f>
                      <m:fPr>
                        <m:ctrlPr>
                          <a:rPr lang="en-US" i="1" smtClean="0">
                            <a:latin typeface="Cambria Math" panose="02040503050406030204" pitchFamily="18" charset="0"/>
                            <a:ea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m:t>
                        </m:r>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d>
                      <m:dPr>
                        <m:ctrlPr>
                          <a:rPr lang="en-US" i="1" smtClean="0">
                            <a:latin typeface="Cambria Math" panose="02040503050406030204" pitchFamily="18" charset="0"/>
                            <a:ea typeface="Cambria Math" panose="02040503050406030204" pitchFamily="18" charset="0"/>
                            <a:cs typeface="Arial" panose="020B0604020202020204" pitchFamily="34" charset="0"/>
                          </a:rPr>
                        </m:ctrlPr>
                      </m:dPr>
                      <m:e>
                        <m:f>
                          <m:fPr>
                            <m:ctrlPr>
                              <a:rPr lang="en-US" i="1" smtClean="0">
                                <a:latin typeface="Cambria Math" panose="02040503050406030204" pitchFamily="18" charset="0"/>
                                <a:ea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𝑢</m:t>
                            </m:r>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𝑣</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𝑤</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e>
                    </m:d>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𝑔𝑆</m:t>
                    </m:r>
                  </m:oMath>
                </a14:m>
                <a:r>
                  <a:rPr lang="en-US" dirty="0">
                    <a:latin typeface="Arial" panose="020B0604020202020204" pitchFamily="34" charset="0"/>
                    <a:cs typeface="Arial" panose="020B0604020202020204" pitchFamily="34" charset="0"/>
                  </a:rPr>
                  <a:t> </a:t>
                </a:r>
              </a:p>
            </p:txBody>
          </p:sp>
        </mc:Choice>
        <mc:Fallback xmlns="">
          <p:sp>
            <p:nvSpPr>
              <p:cNvPr id="17" name="TextBox 16">
                <a:extLst>
                  <a:ext uri="{FF2B5EF4-FFF2-40B4-BE49-F238E27FC236}">
                    <a16:creationId xmlns:a16="http://schemas.microsoft.com/office/drawing/2014/main" id="{26258E7A-D7CC-6A45-873E-E461C17B5232}"/>
                  </a:ext>
                </a:extLst>
              </p:cNvPr>
              <p:cNvSpPr txBox="1">
                <a:spLocks noRot="1" noChangeAspect="1" noMove="1" noResize="1" noEditPoints="1" noAdjustHandles="1" noChangeArrowheads="1" noChangeShapeType="1" noTextEdit="1"/>
              </p:cNvSpPr>
              <p:nvPr/>
            </p:nvSpPr>
            <p:spPr>
              <a:xfrm>
                <a:off x="692226" y="5257459"/>
                <a:ext cx="8458854" cy="527645"/>
              </a:xfrm>
              <a:prstGeom prst="rect">
                <a:avLst/>
              </a:prstGeom>
              <a:blipFill>
                <a:blip r:embed="rId6"/>
                <a:stretch>
                  <a:fillRect l="-900" b="-116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DF5CE8F-1AC3-2042-88B7-C3F4CF6FFADA}"/>
                  </a:ext>
                </a:extLst>
              </p:cNvPr>
              <p:cNvSpPr txBox="1"/>
              <p:nvPr/>
            </p:nvSpPr>
            <p:spPr>
              <a:xfrm>
                <a:off x="561859" y="1486768"/>
                <a:ext cx="5305491" cy="527645"/>
              </a:xfrm>
              <a:prstGeom prst="rect">
                <a:avLst/>
              </a:prstGeom>
              <a:noFill/>
            </p:spPr>
            <p:txBody>
              <a:bodyPr wrap="none" lIns="0" tIns="0" rIns="0" bIns="0" rtlCol="0">
                <a:spAutoFit/>
              </a:bodyPr>
              <a:lstStyle/>
              <a:p>
                <a:pPr>
                  <a:lnSpc>
                    <a:spcPct val="114000"/>
                  </a:lnSpc>
                </a:pPr>
                <a14:m>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𝑢</m:t>
                        </m:r>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𝜕𝜌</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𝑣𝑢</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i="1">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𝑤</m:t>
                        </m:r>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𝜎</m:t>
                            </m:r>
                          </m:e>
                          <m:sub>
                            <m:r>
                              <a:rPr lang="en-US" b="0" i="1" smtClean="0">
                                <a:latin typeface="Cambria Math" panose="02040503050406030204" pitchFamily="18" charset="0"/>
                                <a:ea typeface="Cambria Math" panose="02040503050406030204" pitchFamily="18" charset="0"/>
                                <a:cs typeface="Arial" panose="020B0604020202020204" pitchFamily="34" charset="0"/>
                              </a:rPr>
                              <m:t>𝑥</m:t>
                            </m:r>
                          </m:sub>
                        </m:sSub>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𝑦𝑥</m:t>
                            </m:r>
                          </m:sub>
                        </m:sSub>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𝑧𝑥</m:t>
                            </m:r>
                          </m:sub>
                        </m:sSub>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𝑔𝑆</m:t>
                    </m:r>
                  </m:oMath>
                </a14:m>
                <a:r>
                  <a:rPr lang="en-US" dirty="0">
                    <a:latin typeface="Arial" panose="020B0604020202020204" pitchFamily="34" charset="0"/>
                    <a:cs typeface="Arial" panose="020B0604020202020204" pitchFamily="34" charset="0"/>
                  </a:rPr>
                  <a:t> </a:t>
                </a:r>
              </a:p>
            </p:txBody>
          </p:sp>
        </mc:Choice>
        <mc:Fallback xmlns="">
          <p:sp>
            <p:nvSpPr>
              <p:cNvPr id="18" name="TextBox 17">
                <a:extLst>
                  <a:ext uri="{FF2B5EF4-FFF2-40B4-BE49-F238E27FC236}">
                    <a16:creationId xmlns:a16="http://schemas.microsoft.com/office/drawing/2014/main" id="{8DF5CE8F-1AC3-2042-88B7-C3F4CF6FFADA}"/>
                  </a:ext>
                </a:extLst>
              </p:cNvPr>
              <p:cNvSpPr txBox="1">
                <a:spLocks noRot="1" noChangeAspect="1" noMove="1" noResize="1" noEditPoints="1" noAdjustHandles="1" noChangeArrowheads="1" noChangeShapeType="1" noTextEdit="1"/>
              </p:cNvSpPr>
              <p:nvPr/>
            </p:nvSpPr>
            <p:spPr>
              <a:xfrm>
                <a:off x="561859" y="1486768"/>
                <a:ext cx="5305491" cy="527645"/>
              </a:xfrm>
              <a:prstGeom prst="rect">
                <a:avLst/>
              </a:prstGeom>
              <a:blipFill>
                <a:blip r:embed="rId7"/>
                <a:stretch>
                  <a:fillRect l="-1675" b="-119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3652BBD9-F77D-7349-A75C-9AE5EA18F369}"/>
                  </a:ext>
                </a:extLst>
              </p:cNvPr>
              <p:cNvSpPr txBox="1"/>
              <p:nvPr/>
            </p:nvSpPr>
            <p:spPr>
              <a:xfrm>
                <a:off x="692226" y="4042428"/>
                <a:ext cx="8631915" cy="527645"/>
              </a:xfrm>
              <a:prstGeom prst="rect">
                <a:avLst/>
              </a:prstGeom>
              <a:noFill/>
            </p:spPr>
            <p:txBody>
              <a:bodyPr wrap="none" lIns="0" tIns="0" rIns="0" bIns="0" rtlCol="0">
                <a:spAutoFit/>
              </a:bodyPr>
              <a:lstStyle/>
              <a:p>
                <a:pPr>
                  <a:lnSpc>
                    <a:spcPct val="114000"/>
                  </a:lnSpc>
                </a:pPr>
                <a14:m>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𝑢</m:t>
                        </m:r>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𝜕𝜌</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𝑣𝑢</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i="1">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𝑤</m:t>
                        </m:r>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𝑝</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cs typeface="Arial" panose="020B0604020202020204" pitchFamily="34" charset="0"/>
                      </a:rPr>
                      <m:t>2</m:t>
                    </m:r>
                    <m:r>
                      <a:rPr lang="en-US" i="1">
                        <a:latin typeface="Cambria Math" panose="02040503050406030204" pitchFamily="18" charset="0"/>
                        <a:ea typeface="Cambria Math" panose="02040503050406030204" pitchFamily="18" charset="0"/>
                        <a:cs typeface="Arial" panose="020B0604020202020204" pitchFamily="34" charset="0"/>
                      </a:rPr>
                      <m:t>𝜌𝜈</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i="1" smtClean="0">
                                <a:latin typeface="Cambria Math" panose="02040503050406030204" pitchFamily="18" charset="0"/>
                                <a:ea typeface="Cambria Math" panose="02040503050406030204" pitchFamily="18" charset="0"/>
                                <a:cs typeface="Arial" panose="020B0604020202020204" pitchFamily="34" charset="0"/>
                              </a:rPr>
                            </m:ctrlPr>
                          </m:sSupPr>
                          <m:e>
                            <m:r>
                              <a:rPr lang="en-US" i="1" smtClean="0">
                                <a:latin typeface="Cambria Math" panose="02040503050406030204" pitchFamily="18" charset="0"/>
                                <a:ea typeface="Cambria Math" panose="02040503050406030204" pitchFamily="18" charset="0"/>
                                <a:cs typeface="Arial" panose="020B0604020202020204" pitchFamily="34" charset="0"/>
                              </a:rPr>
                              <m:t>𝜕</m:t>
                            </m:r>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sSup>
                          <m:sSupPr>
                            <m:ctrlPr>
                              <a:rPr lang="en-US"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𝑥</m:t>
                            </m:r>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den>
                    </m:f>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𝜌𝜈</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𝑦</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den>
                    </m:f>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𝜌𝜈</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r>
                          <a:rPr lang="en-US" b="0" i="1" smtClean="0">
                            <a:latin typeface="Cambria Math" panose="02040503050406030204" pitchFamily="18" charset="0"/>
                            <a:ea typeface="Cambria Math" panose="02040503050406030204" pitchFamily="18" charset="0"/>
                            <a:cs typeface="Arial" panose="020B0604020202020204" pitchFamily="34" charset="0"/>
                          </a:rPr>
                          <m:t>𝑣</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𝜌𝜈</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𝑧</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den>
                    </m:f>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𝜌𝜈</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r>
                          <a:rPr lang="en-US" b="0" i="1" smtClean="0">
                            <a:latin typeface="Cambria Math" panose="02040503050406030204" pitchFamily="18" charset="0"/>
                            <a:ea typeface="Cambria Math" panose="02040503050406030204" pitchFamily="18" charset="0"/>
                            <a:cs typeface="Arial" panose="020B0604020202020204" pitchFamily="34" charset="0"/>
                          </a:rPr>
                          <m:t>𝑤</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𝑔𝑆</m:t>
                    </m:r>
                  </m:oMath>
                </a14:m>
                <a:r>
                  <a:rPr lang="en-US" dirty="0">
                    <a:latin typeface="Arial" panose="020B0604020202020204" pitchFamily="34" charset="0"/>
                    <a:cs typeface="Arial" panose="020B0604020202020204" pitchFamily="34" charset="0"/>
                  </a:rPr>
                  <a:t> </a:t>
                </a:r>
              </a:p>
            </p:txBody>
          </p:sp>
        </mc:Choice>
        <mc:Fallback xmlns="">
          <p:sp>
            <p:nvSpPr>
              <p:cNvPr id="19" name="TextBox 18">
                <a:extLst>
                  <a:ext uri="{FF2B5EF4-FFF2-40B4-BE49-F238E27FC236}">
                    <a16:creationId xmlns:a16="http://schemas.microsoft.com/office/drawing/2014/main" id="{3652BBD9-F77D-7349-A75C-9AE5EA18F369}"/>
                  </a:ext>
                </a:extLst>
              </p:cNvPr>
              <p:cNvSpPr txBox="1">
                <a:spLocks noRot="1" noChangeAspect="1" noMove="1" noResize="1" noEditPoints="1" noAdjustHandles="1" noChangeArrowheads="1" noChangeShapeType="1" noTextEdit="1"/>
              </p:cNvSpPr>
              <p:nvPr/>
            </p:nvSpPr>
            <p:spPr>
              <a:xfrm>
                <a:off x="692226" y="4042428"/>
                <a:ext cx="8631915" cy="527645"/>
              </a:xfrm>
              <a:prstGeom prst="rect">
                <a:avLst/>
              </a:prstGeom>
              <a:blipFill>
                <a:blip r:embed="rId8"/>
                <a:stretch>
                  <a:fillRect l="-881" b="-14286"/>
                </a:stretch>
              </a:blipFill>
            </p:spPr>
            <p:txBody>
              <a:bodyPr/>
              <a:lstStyle/>
              <a:p>
                <a:r>
                  <a:rPr lang="en-US">
                    <a:noFill/>
                  </a:rPr>
                  <a:t> </a:t>
                </a:r>
              </a:p>
            </p:txBody>
          </p:sp>
        </mc:Fallback>
      </mc:AlternateContent>
    </p:spTree>
    <p:extLst>
      <p:ext uri="{BB962C8B-B14F-4D97-AF65-F5344CB8AC3E}">
        <p14:creationId xmlns:p14="http://schemas.microsoft.com/office/powerpoint/2010/main" val="35887141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40</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Local streamwise momentum conservation</a:t>
            </a:r>
          </a:p>
        </p:txBody>
      </p:sp>
      <p:sp>
        <p:nvSpPr>
          <p:cNvPr id="9" name="TextBox 8">
            <a:extLst>
              <a:ext uri="{FF2B5EF4-FFF2-40B4-BE49-F238E27FC236}">
                <a16:creationId xmlns:a16="http://schemas.microsoft.com/office/drawing/2014/main" id="{FDEC7880-8748-8645-9272-104572A2CC37}"/>
              </a:ext>
            </a:extLst>
          </p:cNvPr>
          <p:cNvSpPr txBox="1"/>
          <p:nvPr/>
        </p:nvSpPr>
        <p:spPr>
          <a:xfrm>
            <a:off x="482756" y="946892"/>
            <a:ext cx="11069347" cy="410625"/>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Dividing the momentum balance on slide 24 by </a:t>
            </a:r>
            <a:r>
              <a:rPr lang="en-US" sz="2000"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x</a:t>
            </a:r>
            <a:r>
              <a:rPr lang="en-US" sz="2000"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y</a:t>
            </a:r>
            <a:r>
              <a:rPr lang="en-US" dirty="0" err="1">
                <a:latin typeface="Symbol" pitchFamily="2" charset="2"/>
                <a:cs typeface="Arial" panose="020B0604020202020204" pitchFamily="34" charset="0"/>
              </a:rPr>
              <a:t>D</a:t>
            </a:r>
            <a:r>
              <a:rPr lang="en-US" dirty="0" err="1">
                <a:latin typeface="Arial" panose="020B0604020202020204" pitchFamily="34" charset="0"/>
                <a:cs typeface="Arial" panose="020B0604020202020204" pitchFamily="34" charset="0"/>
              </a:rPr>
              <a:t>z</a:t>
            </a:r>
            <a:r>
              <a:rPr lang="en-US" dirty="0">
                <a:latin typeface="Arial" panose="020B0604020202020204" pitchFamily="34" charset="0"/>
                <a:cs typeface="Arial" panose="020B0604020202020204" pitchFamily="34" charset="0"/>
              </a:rPr>
              <a:t> it is found that </a:t>
            </a:r>
          </a:p>
        </p:txBody>
      </p:sp>
      <p:sp>
        <p:nvSpPr>
          <p:cNvPr id="62" name="TextBox 61">
            <a:extLst>
              <a:ext uri="{FF2B5EF4-FFF2-40B4-BE49-F238E27FC236}">
                <a16:creationId xmlns:a16="http://schemas.microsoft.com/office/drawing/2014/main" id="{222C911C-8F7A-B64C-8984-9B295C9E9327}"/>
              </a:ext>
            </a:extLst>
          </p:cNvPr>
          <p:cNvSpPr txBox="1"/>
          <p:nvPr/>
        </p:nvSpPr>
        <p:spPr>
          <a:xfrm>
            <a:off x="482756" y="2245046"/>
            <a:ext cx="11069347" cy="381708"/>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Recalling that</a:t>
            </a:r>
          </a:p>
        </p:txBody>
      </p: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3E32F372-8DBD-D04A-8222-78DE2040DE2E}"/>
                  </a:ext>
                </a:extLst>
              </p:cNvPr>
              <p:cNvSpPr txBox="1"/>
              <p:nvPr/>
            </p:nvSpPr>
            <p:spPr>
              <a:xfrm>
                <a:off x="5655754" y="2553810"/>
                <a:ext cx="2215543" cy="607154"/>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𝑧𝑥</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𝜌𝜈</m:t>
                      </m:r>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𝑢</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𝑤</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e>
                      </m:d>
                    </m:oMath>
                  </m:oMathPara>
                </a14:m>
                <a:endParaRPr lang="en-US" dirty="0">
                  <a:latin typeface="Arial" panose="020B0604020202020204" pitchFamily="34" charset="0"/>
                  <a:cs typeface="Arial" panose="020B0604020202020204" pitchFamily="34" charset="0"/>
                </a:endParaRPr>
              </a:p>
            </p:txBody>
          </p:sp>
        </mc:Choice>
        <mc:Fallback xmlns="">
          <p:sp>
            <p:nvSpPr>
              <p:cNvPr id="63" name="TextBox 62">
                <a:extLst>
                  <a:ext uri="{FF2B5EF4-FFF2-40B4-BE49-F238E27FC236}">
                    <a16:creationId xmlns:a16="http://schemas.microsoft.com/office/drawing/2014/main" id="{3E32F372-8DBD-D04A-8222-78DE2040DE2E}"/>
                  </a:ext>
                </a:extLst>
              </p:cNvPr>
              <p:cNvSpPr txBox="1">
                <a:spLocks noRot="1" noChangeAspect="1" noMove="1" noResize="1" noEditPoints="1" noAdjustHandles="1" noChangeArrowheads="1" noChangeShapeType="1" noTextEdit="1"/>
              </p:cNvSpPr>
              <p:nvPr/>
            </p:nvSpPr>
            <p:spPr>
              <a:xfrm>
                <a:off x="5655754" y="2553810"/>
                <a:ext cx="2215543" cy="607154"/>
              </a:xfrm>
              <a:prstGeom prst="rect">
                <a:avLst/>
              </a:prstGeom>
              <a:blipFill>
                <a:blip r:embed="rId3"/>
                <a:stretch>
                  <a:fillRect l="-571" b="-102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2CEE6098-9DA1-E941-BD5F-973D7D458B14}"/>
                  </a:ext>
                </a:extLst>
              </p:cNvPr>
              <p:cNvSpPr txBox="1"/>
              <p:nvPr/>
            </p:nvSpPr>
            <p:spPr>
              <a:xfrm>
                <a:off x="2878823" y="2597881"/>
                <a:ext cx="2188291" cy="654346"/>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𝑦𝑥</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𝜌𝜈</m:t>
                      </m:r>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𝑢</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𝑣</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e>
                      </m:d>
                    </m:oMath>
                  </m:oMathPara>
                </a14:m>
                <a:endParaRPr lang="en-US" dirty="0">
                  <a:latin typeface="Arial" panose="020B0604020202020204" pitchFamily="34" charset="0"/>
                  <a:cs typeface="Arial" panose="020B0604020202020204" pitchFamily="34" charset="0"/>
                </a:endParaRPr>
              </a:p>
            </p:txBody>
          </p:sp>
        </mc:Choice>
        <mc:Fallback xmlns="">
          <p:sp>
            <p:nvSpPr>
              <p:cNvPr id="64" name="TextBox 63">
                <a:extLst>
                  <a:ext uri="{FF2B5EF4-FFF2-40B4-BE49-F238E27FC236}">
                    <a16:creationId xmlns:a16="http://schemas.microsoft.com/office/drawing/2014/main" id="{2CEE6098-9DA1-E941-BD5F-973D7D458B14}"/>
                  </a:ext>
                </a:extLst>
              </p:cNvPr>
              <p:cNvSpPr txBox="1">
                <a:spLocks noRot="1" noChangeAspect="1" noMove="1" noResize="1" noEditPoints="1" noAdjustHandles="1" noChangeArrowheads="1" noChangeShapeType="1" noTextEdit="1"/>
              </p:cNvSpPr>
              <p:nvPr/>
            </p:nvSpPr>
            <p:spPr>
              <a:xfrm>
                <a:off x="2878823" y="2597881"/>
                <a:ext cx="2188291" cy="654346"/>
              </a:xfrm>
              <a:prstGeom prst="rect">
                <a:avLst/>
              </a:prstGeom>
              <a:blipFill>
                <a:blip r:embed="rId4"/>
                <a:stretch>
                  <a:fillRect l="-578" b="-150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30C9F5FD-436E-FE4C-80E3-9D9295BB3D29}"/>
                  </a:ext>
                </a:extLst>
              </p:cNvPr>
              <p:cNvSpPr txBox="1"/>
              <p:nvPr/>
            </p:nvSpPr>
            <p:spPr>
              <a:xfrm>
                <a:off x="598181" y="2653858"/>
                <a:ext cx="1692002" cy="598369"/>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𝜎</m:t>
                          </m:r>
                        </m:e>
                        <m:sub>
                          <m:r>
                            <a:rPr lang="en-US" b="0" i="1" smtClean="0">
                              <a:latin typeface="Cambria Math" panose="02040503050406030204" pitchFamily="18" charset="0"/>
                              <a:cs typeface="Arial" panose="020B0604020202020204" pitchFamily="34" charset="0"/>
                            </a:rPr>
                            <m:t>𝑥</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𝑝</m:t>
                      </m:r>
                      <m:r>
                        <a:rPr lang="en-US" b="0" i="1" smtClean="0">
                          <a:latin typeface="Cambria Math" panose="02040503050406030204" pitchFamily="18" charset="0"/>
                          <a:cs typeface="Arial" panose="020B0604020202020204" pitchFamily="34" charset="0"/>
                        </a:rPr>
                        <m:t>−2</m:t>
                      </m:r>
                      <m:r>
                        <a:rPr lang="en-US" b="0" i="1" smtClean="0">
                          <a:latin typeface="Cambria Math" panose="02040503050406030204" pitchFamily="18" charset="0"/>
                          <a:ea typeface="Cambria Math" panose="02040503050406030204" pitchFamily="18" charset="0"/>
                          <a:cs typeface="Arial" panose="020B0604020202020204" pitchFamily="34" charset="0"/>
                        </a:rPr>
                        <m:t>𝜌𝜈</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𝑢</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oMath>
                  </m:oMathPara>
                </a14:m>
                <a:endParaRPr lang="en-US" dirty="0">
                  <a:latin typeface="Arial" panose="020B0604020202020204" pitchFamily="34" charset="0"/>
                  <a:cs typeface="Arial" panose="020B0604020202020204" pitchFamily="34" charset="0"/>
                </a:endParaRPr>
              </a:p>
            </p:txBody>
          </p:sp>
        </mc:Choice>
        <mc:Fallback xmlns="">
          <p:sp>
            <p:nvSpPr>
              <p:cNvPr id="65" name="TextBox 64">
                <a:extLst>
                  <a:ext uri="{FF2B5EF4-FFF2-40B4-BE49-F238E27FC236}">
                    <a16:creationId xmlns:a16="http://schemas.microsoft.com/office/drawing/2014/main" id="{30C9F5FD-436E-FE4C-80E3-9D9295BB3D29}"/>
                  </a:ext>
                </a:extLst>
              </p:cNvPr>
              <p:cNvSpPr txBox="1">
                <a:spLocks noRot="1" noChangeAspect="1" noMove="1" noResize="1" noEditPoints="1" noAdjustHandles="1" noChangeArrowheads="1" noChangeShapeType="1" noTextEdit="1"/>
              </p:cNvSpPr>
              <p:nvPr/>
            </p:nvSpPr>
            <p:spPr>
              <a:xfrm>
                <a:off x="598181" y="2653858"/>
                <a:ext cx="1692002" cy="598369"/>
              </a:xfrm>
              <a:prstGeom prst="rect">
                <a:avLst/>
              </a:prstGeom>
              <a:blipFill>
                <a:blip r:embed="rId5"/>
                <a:stretch>
                  <a:fillRect l="-746" r="-2239" b="-12245"/>
                </a:stretch>
              </a:blipFill>
            </p:spPr>
            <p:txBody>
              <a:bodyPr/>
              <a:lstStyle/>
              <a:p>
                <a:r>
                  <a:rPr lang="en-US">
                    <a:noFill/>
                  </a:rPr>
                  <a:t> </a:t>
                </a:r>
              </a:p>
            </p:txBody>
          </p:sp>
        </mc:Fallback>
      </mc:AlternateContent>
      <p:sp>
        <p:nvSpPr>
          <p:cNvPr id="66" name="TextBox 65">
            <a:extLst>
              <a:ext uri="{FF2B5EF4-FFF2-40B4-BE49-F238E27FC236}">
                <a16:creationId xmlns:a16="http://schemas.microsoft.com/office/drawing/2014/main" id="{A8E70456-7EC6-C24D-BF5F-88162DBB103C}"/>
              </a:ext>
            </a:extLst>
          </p:cNvPr>
          <p:cNvSpPr txBox="1"/>
          <p:nvPr/>
        </p:nvSpPr>
        <p:spPr>
          <a:xfrm>
            <a:off x="561326" y="3508218"/>
            <a:ext cx="11069347" cy="381708"/>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the equation of conservation of streamwise momentum is rewritten as</a:t>
            </a:r>
          </a:p>
        </p:txBody>
      </p:sp>
      <p:sp>
        <p:nvSpPr>
          <p:cNvPr id="68" name="TextBox 67">
            <a:extLst>
              <a:ext uri="{FF2B5EF4-FFF2-40B4-BE49-F238E27FC236}">
                <a16:creationId xmlns:a16="http://schemas.microsoft.com/office/drawing/2014/main" id="{C2E8F892-BD5C-FE4D-A091-1EA1C2593F16}"/>
              </a:ext>
            </a:extLst>
          </p:cNvPr>
          <p:cNvSpPr txBox="1"/>
          <p:nvPr/>
        </p:nvSpPr>
        <p:spPr>
          <a:xfrm>
            <a:off x="536181" y="4759611"/>
            <a:ext cx="11069347" cy="381708"/>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Rearranging the terms, it is found that</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00C5B3B-BFF6-EE42-882F-29DDA2F39C17}"/>
                  </a:ext>
                </a:extLst>
              </p:cNvPr>
              <p:cNvSpPr txBox="1"/>
              <p:nvPr/>
            </p:nvSpPr>
            <p:spPr>
              <a:xfrm>
                <a:off x="692226" y="5257459"/>
                <a:ext cx="5754011" cy="527645"/>
              </a:xfrm>
              <a:prstGeom prst="rect">
                <a:avLst/>
              </a:prstGeom>
              <a:noFill/>
            </p:spPr>
            <p:txBody>
              <a:bodyPr wrap="none" lIns="0" tIns="0" rIns="0" bIns="0" rtlCol="0">
                <a:spAutoFit/>
              </a:bodyPr>
              <a:lstStyle/>
              <a:p>
                <a:pPr>
                  <a:lnSpc>
                    <a:spcPct val="114000"/>
                  </a:lnSpc>
                </a:pPr>
                <a14:m>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𝑢</m:t>
                        </m:r>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𝑣𝑢</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i="1">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𝑤</m:t>
                        </m:r>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1</m:t>
                        </m:r>
                      </m:num>
                      <m:den>
                        <m:r>
                          <a:rPr lang="en-US" i="1">
                            <a:latin typeface="Cambria Math" panose="02040503050406030204" pitchFamily="18" charset="0"/>
                            <a:ea typeface="Cambria Math" panose="02040503050406030204" pitchFamily="18" charset="0"/>
                            <a:cs typeface="Arial" panose="020B0604020202020204" pitchFamily="34" charset="0"/>
                          </a:rPr>
                          <m:t>𝜌</m:t>
                        </m:r>
                      </m:den>
                    </m:f>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𝑝</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𝜈</m:t>
                    </m:r>
                    <m:d>
                      <m:dPr>
                        <m:ctrlPr>
                          <a:rPr lang="en-US" i="1" smtClean="0">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𝑥</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𝑦</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𝑧</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den>
                        </m:f>
                      </m:e>
                    </m:d>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𝑔𝑆</m:t>
                    </m:r>
                  </m:oMath>
                </a14:m>
                <a:r>
                  <a:rPr lang="en-US" dirty="0">
                    <a:latin typeface="Arial" panose="020B0604020202020204" pitchFamily="34" charset="0"/>
                    <a:cs typeface="Arial" panose="020B0604020202020204" pitchFamily="34" charset="0"/>
                  </a:rPr>
                  <a:t> </a:t>
                </a:r>
              </a:p>
            </p:txBody>
          </p:sp>
        </mc:Choice>
        <mc:Fallback xmlns="">
          <p:sp>
            <p:nvSpPr>
              <p:cNvPr id="16" name="TextBox 15">
                <a:extLst>
                  <a:ext uri="{FF2B5EF4-FFF2-40B4-BE49-F238E27FC236}">
                    <a16:creationId xmlns:a16="http://schemas.microsoft.com/office/drawing/2014/main" id="{000C5B3B-BFF6-EE42-882F-29DDA2F39C17}"/>
                  </a:ext>
                </a:extLst>
              </p:cNvPr>
              <p:cNvSpPr txBox="1">
                <a:spLocks noRot="1" noChangeAspect="1" noMove="1" noResize="1" noEditPoints="1" noAdjustHandles="1" noChangeArrowheads="1" noChangeShapeType="1" noTextEdit="1"/>
              </p:cNvSpPr>
              <p:nvPr/>
            </p:nvSpPr>
            <p:spPr>
              <a:xfrm>
                <a:off x="692226" y="5257459"/>
                <a:ext cx="5754011" cy="527645"/>
              </a:xfrm>
              <a:prstGeom prst="rect">
                <a:avLst/>
              </a:prstGeom>
              <a:blipFill>
                <a:blip r:embed="rId6"/>
                <a:stretch>
                  <a:fillRect l="-1101" b="-139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501080F-1C88-7742-9BF1-D4E71852F04B}"/>
                  </a:ext>
                </a:extLst>
              </p:cNvPr>
              <p:cNvSpPr txBox="1"/>
              <p:nvPr/>
            </p:nvSpPr>
            <p:spPr>
              <a:xfrm>
                <a:off x="561859" y="1486768"/>
                <a:ext cx="5305491" cy="527645"/>
              </a:xfrm>
              <a:prstGeom prst="rect">
                <a:avLst/>
              </a:prstGeom>
              <a:noFill/>
            </p:spPr>
            <p:txBody>
              <a:bodyPr wrap="none" lIns="0" tIns="0" rIns="0" bIns="0" rtlCol="0">
                <a:spAutoFit/>
              </a:bodyPr>
              <a:lstStyle/>
              <a:p>
                <a:pPr>
                  <a:lnSpc>
                    <a:spcPct val="114000"/>
                  </a:lnSpc>
                </a:pPr>
                <a14:m>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𝑢</m:t>
                        </m:r>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𝜕𝜌</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𝑣𝑢</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i="1">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𝑤</m:t>
                        </m:r>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𝜎</m:t>
                            </m:r>
                          </m:e>
                          <m:sub>
                            <m:r>
                              <a:rPr lang="en-US" b="0" i="1" smtClean="0">
                                <a:latin typeface="Cambria Math" panose="02040503050406030204" pitchFamily="18" charset="0"/>
                                <a:ea typeface="Cambria Math" panose="02040503050406030204" pitchFamily="18" charset="0"/>
                                <a:cs typeface="Arial" panose="020B0604020202020204" pitchFamily="34" charset="0"/>
                              </a:rPr>
                              <m:t>𝑥</m:t>
                            </m:r>
                          </m:sub>
                        </m:sSub>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𝑦𝑥</m:t>
                            </m:r>
                          </m:sub>
                        </m:sSub>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𝑧𝑥</m:t>
                            </m:r>
                          </m:sub>
                        </m:sSub>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𝑔𝑆</m:t>
                    </m:r>
                  </m:oMath>
                </a14:m>
                <a:r>
                  <a:rPr lang="en-US" dirty="0">
                    <a:latin typeface="Arial" panose="020B0604020202020204" pitchFamily="34" charset="0"/>
                    <a:cs typeface="Arial" panose="020B0604020202020204" pitchFamily="34" charset="0"/>
                  </a:rPr>
                  <a:t> </a:t>
                </a:r>
              </a:p>
            </p:txBody>
          </p:sp>
        </mc:Choice>
        <mc:Fallback xmlns="">
          <p:sp>
            <p:nvSpPr>
              <p:cNvPr id="17" name="TextBox 16">
                <a:extLst>
                  <a:ext uri="{FF2B5EF4-FFF2-40B4-BE49-F238E27FC236}">
                    <a16:creationId xmlns:a16="http://schemas.microsoft.com/office/drawing/2014/main" id="{0501080F-1C88-7742-9BF1-D4E71852F04B}"/>
                  </a:ext>
                </a:extLst>
              </p:cNvPr>
              <p:cNvSpPr txBox="1">
                <a:spLocks noRot="1" noChangeAspect="1" noMove="1" noResize="1" noEditPoints="1" noAdjustHandles="1" noChangeArrowheads="1" noChangeShapeType="1" noTextEdit="1"/>
              </p:cNvSpPr>
              <p:nvPr/>
            </p:nvSpPr>
            <p:spPr>
              <a:xfrm>
                <a:off x="561859" y="1486768"/>
                <a:ext cx="5305491" cy="527645"/>
              </a:xfrm>
              <a:prstGeom prst="rect">
                <a:avLst/>
              </a:prstGeom>
              <a:blipFill>
                <a:blip r:embed="rId7"/>
                <a:stretch>
                  <a:fillRect l="-1675" b="-119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A09FC0C-32A8-3D4B-8465-317B44D8F3CE}"/>
                  </a:ext>
                </a:extLst>
              </p:cNvPr>
              <p:cNvSpPr txBox="1"/>
              <p:nvPr/>
            </p:nvSpPr>
            <p:spPr>
              <a:xfrm>
                <a:off x="692226" y="4042428"/>
                <a:ext cx="8631915" cy="527645"/>
              </a:xfrm>
              <a:prstGeom prst="rect">
                <a:avLst/>
              </a:prstGeom>
              <a:noFill/>
            </p:spPr>
            <p:txBody>
              <a:bodyPr wrap="none" lIns="0" tIns="0" rIns="0" bIns="0" rtlCol="0">
                <a:spAutoFit/>
              </a:bodyPr>
              <a:lstStyle/>
              <a:p>
                <a:pPr>
                  <a:lnSpc>
                    <a:spcPct val="114000"/>
                  </a:lnSpc>
                </a:pPr>
                <a14:m>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𝑢</m:t>
                        </m:r>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𝜕𝜌</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𝑣𝑢</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i="1">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𝑤</m:t>
                        </m:r>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𝑝</m:t>
                        </m:r>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cs typeface="Arial" panose="020B0604020202020204" pitchFamily="34" charset="0"/>
                      </a:rPr>
                      <m:t>2</m:t>
                    </m:r>
                    <m:r>
                      <a:rPr lang="en-US" i="1">
                        <a:latin typeface="Cambria Math" panose="02040503050406030204" pitchFamily="18" charset="0"/>
                        <a:ea typeface="Cambria Math" panose="02040503050406030204" pitchFamily="18" charset="0"/>
                        <a:cs typeface="Arial" panose="020B0604020202020204" pitchFamily="34" charset="0"/>
                      </a:rPr>
                      <m:t>𝜌𝜈</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i="1" smtClean="0">
                                <a:latin typeface="Cambria Math" panose="02040503050406030204" pitchFamily="18" charset="0"/>
                                <a:ea typeface="Cambria Math" panose="02040503050406030204" pitchFamily="18" charset="0"/>
                                <a:cs typeface="Arial" panose="020B0604020202020204" pitchFamily="34" charset="0"/>
                              </a:rPr>
                            </m:ctrlPr>
                          </m:sSupPr>
                          <m:e>
                            <m:r>
                              <a:rPr lang="en-US" i="1" smtClean="0">
                                <a:latin typeface="Cambria Math" panose="02040503050406030204" pitchFamily="18" charset="0"/>
                                <a:ea typeface="Cambria Math" panose="02040503050406030204" pitchFamily="18" charset="0"/>
                                <a:cs typeface="Arial" panose="020B0604020202020204" pitchFamily="34" charset="0"/>
                              </a:rPr>
                              <m:t>𝜕</m:t>
                            </m:r>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sSup>
                          <m:sSupPr>
                            <m:ctrlPr>
                              <a:rPr lang="en-US"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𝑥</m:t>
                            </m:r>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den>
                    </m:f>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𝜌𝜈</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𝑦</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den>
                    </m:f>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𝜌𝜈</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r>
                          <a:rPr lang="en-US" b="0" i="1" smtClean="0">
                            <a:latin typeface="Cambria Math" panose="02040503050406030204" pitchFamily="18" charset="0"/>
                            <a:ea typeface="Cambria Math" panose="02040503050406030204" pitchFamily="18" charset="0"/>
                            <a:cs typeface="Arial" panose="020B0604020202020204" pitchFamily="34" charset="0"/>
                          </a:rPr>
                          <m:t>𝑣</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𝜌𝜈</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𝑧</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den>
                    </m:f>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𝜌𝜈</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r>
                          <a:rPr lang="en-US" b="0" i="1" smtClean="0">
                            <a:latin typeface="Cambria Math" panose="02040503050406030204" pitchFamily="18" charset="0"/>
                            <a:ea typeface="Cambria Math" panose="02040503050406030204" pitchFamily="18" charset="0"/>
                            <a:cs typeface="Arial" panose="020B0604020202020204" pitchFamily="34" charset="0"/>
                          </a:rPr>
                          <m:t>𝑤</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𝑔𝑆</m:t>
                    </m:r>
                  </m:oMath>
                </a14:m>
                <a:r>
                  <a:rPr lang="en-US" dirty="0">
                    <a:latin typeface="Arial" panose="020B0604020202020204" pitchFamily="34" charset="0"/>
                    <a:cs typeface="Arial" panose="020B0604020202020204" pitchFamily="34" charset="0"/>
                  </a:rPr>
                  <a:t> </a:t>
                </a:r>
              </a:p>
            </p:txBody>
          </p:sp>
        </mc:Choice>
        <mc:Fallback xmlns="">
          <p:sp>
            <p:nvSpPr>
              <p:cNvPr id="18" name="TextBox 17">
                <a:extLst>
                  <a:ext uri="{FF2B5EF4-FFF2-40B4-BE49-F238E27FC236}">
                    <a16:creationId xmlns:a16="http://schemas.microsoft.com/office/drawing/2014/main" id="{FA09FC0C-32A8-3D4B-8465-317B44D8F3CE}"/>
                  </a:ext>
                </a:extLst>
              </p:cNvPr>
              <p:cNvSpPr txBox="1">
                <a:spLocks noRot="1" noChangeAspect="1" noMove="1" noResize="1" noEditPoints="1" noAdjustHandles="1" noChangeArrowheads="1" noChangeShapeType="1" noTextEdit="1"/>
              </p:cNvSpPr>
              <p:nvPr/>
            </p:nvSpPr>
            <p:spPr>
              <a:xfrm>
                <a:off x="692226" y="4042428"/>
                <a:ext cx="8631915" cy="527645"/>
              </a:xfrm>
              <a:prstGeom prst="rect">
                <a:avLst/>
              </a:prstGeom>
              <a:blipFill>
                <a:blip r:embed="rId8"/>
                <a:stretch>
                  <a:fillRect l="-881" b="-14286"/>
                </a:stretch>
              </a:blipFill>
            </p:spPr>
            <p:txBody>
              <a:bodyPr/>
              <a:lstStyle/>
              <a:p>
                <a:r>
                  <a:rPr lang="en-US">
                    <a:noFill/>
                  </a:rPr>
                  <a:t> </a:t>
                </a:r>
              </a:p>
            </p:txBody>
          </p:sp>
        </mc:Fallback>
      </mc:AlternateContent>
    </p:spTree>
    <p:extLst>
      <p:ext uri="{BB962C8B-B14F-4D97-AF65-F5344CB8AC3E}">
        <p14:creationId xmlns:p14="http://schemas.microsoft.com/office/powerpoint/2010/main" val="3838192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41</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Local streamwise momentum conservation</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7D7F52F-0BBE-8142-A688-0ECA9D1E9F05}"/>
                  </a:ext>
                </a:extLst>
              </p:cNvPr>
              <p:cNvSpPr txBox="1"/>
              <p:nvPr/>
            </p:nvSpPr>
            <p:spPr>
              <a:xfrm>
                <a:off x="383626" y="1637055"/>
                <a:ext cx="11069347" cy="2024593"/>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The quantities </a:t>
                </a:r>
                <a14:m>
                  <m:oMath xmlns:m="http://schemas.openxmlformats.org/officeDocument/2006/math">
                    <m:r>
                      <m:rPr>
                        <m:sty m:val="p"/>
                      </m:rPr>
                      <a:rPr lang="el-GR" i="1" smtClean="0">
                        <a:latin typeface="Cambria Math" panose="02040503050406030204" pitchFamily="18" charset="0"/>
                        <a:ea typeface="Cambria Math" panose="02040503050406030204" pitchFamily="18" charset="0"/>
                        <a:cs typeface="Arial" panose="020B0604020202020204" pitchFamily="34" charset="0"/>
                      </a:rPr>
                      <m:t>ρ</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𝑢</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sup>
                            <m:r>
                              <a:rPr lang="en-US" i="1">
                                <a:latin typeface="Cambria Math" panose="02040503050406030204" pitchFamily="18" charset="0"/>
                                <a:ea typeface="Cambria Math" panose="02040503050406030204" pitchFamily="18" charset="0"/>
                                <a:cs typeface="Arial" panose="020B0604020202020204" pitchFamily="34" charset="0"/>
                              </a:rPr>
                              <m:t>2</m:t>
                            </m:r>
                          </m:sup>
                        </m:sSup>
                      </m:e>
                    </m:acc>
                  </m:oMath>
                </a14:m>
                <a:r>
                  <a:rPr lang="en-US" dirty="0">
                    <a:latin typeface="Arial" panose="020B0604020202020204" pitchFamily="34" charset="0"/>
                    <a:cs typeface="Arial" panose="020B0604020202020204" pitchFamily="34" charset="0"/>
                  </a:rPr>
                  <a:t>, </a:t>
                </a:r>
                <a14:m>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𝜌</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𝑢</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𝑣</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oMath>
                </a14:m>
                <a:r>
                  <a:rPr lang="en-US" dirty="0">
                    <a:latin typeface="Arial" panose="020B0604020202020204" pitchFamily="34" charset="0"/>
                    <a:cs typeface="Arial" panose="020B0604020202020204" pitchFamily="34" charset="0"/>
                  </a:rPr>
                  <a:t> and </a:t>
                </a:r>
                <a14:m>
                  <m:oMath xmlns:m="http://schemas.openxmlformats.org/officeDocument/2006/math">
                    <m:r>
                      <a:rPr lang="en-US" i="1">
                        <a:latin typeface="Cambria Math" panose="02040503050406030204" pitchFamily="18" charset="0"/>
                        <a:ea typeface="Cambria Math" panose="02040503050406030204" pitchFamily="18" charset="0"/>
                        <a:cs typeface="Arial" panose="020B0604020202020204" pitchFamily="34" charset="0"/>
                      </a:rPr>
                      <m:t>𝜌</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𝑢</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oMath>
                </a14:m>
                <a:r>
                  <a:rPr lang="en-US" dirty="0">
                    <a:latin typeface="Arial" panose="020B0604020202020204" pitchFamily="34" charset="0"/>
                    <a:cs typeface="Arial" panose="020B0604020202020204" pitchFamily="34" charset="0"/>
                  </a:rPr>
                  <a:t> denote the normal, the y-x and z-x components of the Reynolds stress generated by turbulence.  These terms are also known as Reynolds fluxes of streamwise momentum in the streamwise, transverse and upward direction respectively. </a:t>
                </a:r>
              </a:p>
              <a:p>
                <a:pPr>
                  <a:lnSpc>
                    <a:spcPct val="114000"/>
                  </a:lnSpc>
                </a:pPr>
                <a:endParaRPr lang="en-US" dirty="0">
                  <a:latin typeface="Arial" panose="020B0604020202020204" pitchFamily="34" charset="0"/>
                  <a:cs typeface="Arial" panose="020B0604020202020204" pitchFamily="34" charset="0"/>
                </a:endParaRPr>
              </a:p>
              <a:p>
                <a:pPr>
                  <a:lnSpc>
                    <a:spcPct val="114000"/>
                  </a:lnSpc>
                </a:pPr>
                <a:r>
                  <a:rPr lang="en-US" dirty="0">
                    <a:latin typeface="Arial" panose="020B0604020202020204" pitchFamily="34" charset="0"/>
                    <a:cs typeface="Arial" panose="020B0604020202020204" pitchFamily="34" charset="0"/>
                  </a:rPr>
                  <a:t>For fully turbulent flow, the Reynolds stress is usually much larger than the viscous stress, which can be dropped and the equation of conservation of streamwise momentum averaged over turbulence reduces to </a:t>
                </a:r>
              </a:p>
            </p:txBody>
          </p:sp>
        </mc:Choice>
        <mc:Fallback xmlns="">
          <p:sp>
            <p:nvSpPr>
              <p:cNvPr id="19" name="TextBox 18">
                <a:extLst>
                  <a:ext uri="{FF2B5EF4-FFF2-40B4-BE49-F238E27FC236}">
                    <a16:creationId xmlns:a16="http://schemas.microsoft.com/office/drawing/2014/main" id="{07D7F52F-0BBE-8142-A688-0ECA9D1E9F05}"/>
                  </a:ext>
                </a:extLst>
              </p:cNvPr>
              <p:cNvSpPr txBox="1">
                <a:spLocks noRot="1" noChangeAspect="1" noMove="1" noResize="1" noEditPoints="1" noAdjustHandles="1" noChangeArrowheads="1" noChangeShapeType="1" noTextEdit="1"/>
              </p:cNvSpPr>
              <p:nvPr/>
            </p:nvSpPr>
            <p:spPr>
              <a:xfrm>
                <a:off x="383626" y="1637055"/>
                <a:ext cx="11069347" cy="2024593"/>
              </a:xfrm>
              <a:prstGeom prst="rect">
                <a:avLst/>
              </a:prstGeom>
              <a:blipFill>
                <a:blip r:embed="rId3"/>
                <a:stretch>
                  <a:fillRect l="-459" r="-803" b="-37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DB2C43E4-DAAE-7C47-A241-B0A58EE51CAB}"/>
                  </a:ext>
                </a:extLst>
              </p:cNvPr>
              <p:cNvSpPr txBox="1"/>
              <p:nvPr/>
            </p:nvSpPr>
            <p:spPr>
              <a:xfrm>
                <a:off x="604091" y="704499"/>
                <a:ext cx="8564524" cy="709490"/>
              </a:xfrm>
              <a:prstGeom prst="rect">
                <a:avLst/>
              </a:prstGeom>
              <a:noFill/>
            </p:spPr>
            <p:txBody>
              <a:bodyPr wrap="none" lIns="0" tIns="0" rIns="0" bIns="0" rtlCol="0">
                <a:spAutoFit/>
              </a:bodyPr>
              <a:lstStyle/>
              <a:p>
                <a:pPr>
                  <a:lnSpc>
                    <a:spcPct val="114000"/>
                  </a:lnSpc>
                </a:pPr>
                <a14:m>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𝑢</m:t>
                            </m:r>
                          </m:e>
                        </m:acc>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sSup>
                          <m:sSupPr>
                            <m:ctrlPr>
                              <a:rPr lang="en-US" i="1" smtClean="0">
                                <a:latin typeface="Cambria Math" panose="02040503050406030204" pitchFamily="18" charset="0"/>
                                <a:ea typeface="Cambria Math" panose="02040503050406030204" pitchFamily="18" charset="0"/>
                                <a:cs typeface="Arial" panose="020B0604020202020204" pitchFamily="34" charset="0"/>
                              </a:rPr>
                            </m:ctrlPr>
                          </m:sSupPr>
                          <m:e>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𝑢</m:t>
                                </m:r>
                              </m:e>
                            </m:acc>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𝑢</m:t>
                            </m:r>
                          </m:e>
                        </m:acc>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𝑢</m:t>
                            </m:r>
                          </m:e>
                        </m:acc>
                        <m:r>
                          <a:rPr lang="en-US" b="0" i="1" smtClean="0">
                            <a:latin typeface="Cambria Math" panose="02040503050406030204" pitchFamily="18" charset="0"/>
                            <a:ea typeface="Cambria Math" panose="02040503050406030204" pitchFamily="18" charset="0"/>
                            <a:cs typeface="Arial" panose="020B0604020202020204" pitchFamily="34" charset="0"/>
                          </a:rPr>
                          <m:t>𝑤</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1</m:t>
                        </m:r>
                      </m:num>
                      <m:den>
                        <m:r>
                          <a:rPr lang="en-US" b="0" i="1" smtClean="0">
                            <a:latin typeface="Cambria Math" panose="02040503050406030204" pitchFamily="18" charset="0"/>
                            <a:ea typeface="Cambria Math" panose="02040503050406030204" pitchFamily="18" charset="0"/>
                            <a:cs typeface="Arial" panose="020B0604020202020204" pitchFamily="34" charset="0"/>
                          </a:rPr>
                          <m:t>𝜌</m:t>
                        </m:r>
                      </m:den>
                    </m:f>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𝑝</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i="1">
                        <a:latin typeface="Cambria Math" panose="02040503050406030204" pitchFamily="18" charset="0"/>
                        <a:cs typeface="Arial" panose="020B0604020202020204" pitchFamily="34" charset="0"/>
                      </a:rPr>
                      <m:t>+</m:t>
                    </m:r>
                    <m:r>
                      <a:rPr lang="en-US" i="1" smtClean="0">
                        <a:latin typeface="Cambria Math" panose="02040503050406030204" pitchFamily="18" charset="0"/>
                        <a:ea typeface="Cambria Math" panose="02040503050406030204" pitchFamily="18" charset="0"/>
                        <a:cs typeface="Arial" panose="020B0604020202020204" pitchFamily="34" charset="0"/>
                      </a:rPr>
                      <m:t>𝜈</m:t>
                    </m:r>
                    <m:acc>
                      <m:accPr>
                        <m:chr m:val="̅"/>
                        <m:ctrlPr>
                          <a:rPr lang="en-US" i="1" smtClean="0">
                            <a:latin typeface="Cambria Math" panose="02040503050406030204" pitchFamily="18" charset="0"/>
                            <a:ea typeface="Cambria Math" panose="02040503050406030204" pitchFamily="18" charset="0"/>
                            <a:cs typeface="Arial" panose="020B0604020202020204" pitchFamily="34" charset="0"/>
                          </a:rPr>
                        </m:ctrlPr>
                      </m:acc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𝑥</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den>
                            </m:f>
                            <m:r>
                              <a:rPr lang="en-US" i="1">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𝑦</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den>
                            </m:f>
                            <m:r>
                              <a:rPr lang="en-US" i="1">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𝑧</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den>
                            </m:f>
                          </m:e>
                        </m:d>
                      </m:e>
                    </m:acc>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1</m:t>
                        </m:r>
                      </m:num>
                      <m:den>
                        <m:r>
                          <a:rPr lang="en-US" b="0" i="1" smtClean="0">
                            <a:latin typeface="Cambria Math" panose="02040503050406030204" pitchFamily="18" charset="0"/>
                            <a:ea typeface="Cambria Math" panose="02040503050406030204" pitchFamily="18" charset="0"/>
                            <a:cs typeface="Arial" panose="020B0604020202020204" pitchFamily="34" charset="0"/>
                          </a:rPr>
                          <m:t>𝜌</m:t>
                        </m:r>
                      </m:den>
                    </m:f>
                    <m:d>
                      <m:dPr>
                        <m:ctrlPr>
                          <a:rPr lang="en-US" b="0" i="1" smtClean="0">
                            <a:latin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e>
                            </m:acc>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e>
                            </m:acc>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𝜕𝜌</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𝑢</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e>
                    </m:d>
                    <m:r>
                      <a:rPr lang="en-US" i="1">
                        <a:latin typeface="Cambria Math" panose="02040503050406030204" pitchFamily="18" charset="0"/>
                        <a:cs typeface="Arial" panose="020B0604020202020204" pitchFamily="34" charset="0"/>
                      </a:rPr>
                      <m:t>+</m:t>
                    </m:r>
                    <m:r>
                      <a:rPr lang="en-US" i="1">
                        <a:latin typeface="Cambria Math" panose="02040503050406030204" pitchFamily="18" charset="0"/>
                        <a:cs typeface="Arial" panose="020B0604020202020204" pitchFamily="34" charset="0"/>
                      </a:rPr>
                      <m:t>𝑔𝑆</m:t>
                    </m:r>
                  </m:oMath>
                </a14:m>
                <a:r>
                  <a:rPr lang="en-US" dirty="0">
                    <a:latin typeface="Arial" panose="020B0604020202020204" pitchFamily="34" charset="0"/>
                    <a:cs typeface="Arial" panose="020B0604020202020204" pitchFamily="34" charset="0"/>
                  </a:rPr>
                  <a:t> </a:t>
                </a:r>
              </a:p>
            </p:txBody>
          </p:sp>
        </mc:Choice>
        <mc:Fallback xmlns="">
          <p:sp>
            <p:nvSpPr>
              <p:cNvPr id="22" name="TextBox 21">
                <a:extLst>
                  <a:ext uri="{FF2B5EF4-FFF2-40B4-BE49-F238E27FC236}">
                    <a16:creationId xmlns:a16="http://schemas.microsoft.com/office/drawing/2014/main" id="{DB2C43E4-DAAE-7C47-A241-B0A58EE51CAB}"/>
                  </a:ext>
                </a:extLst>
              </p:cNvPr>
              <p:cNvSpPr txBox="1">
                <a:spLocks noRot="1" noChangeAspect="1" noMove="1" noResize="1" noEditPoints="1" noAdjustHandles="1" noChangeArrowheads="1" noChangeShapeType="1" noTextEdit="1"/>
              </p:cNvSpPr>
              <p:nvPr/>
            </p:nvSpPr>
            <p:spPr>
              <a:xfrm>
                <a:off x="604091" y="704499"/>
                <a:ext cx="8564524" cy="709490"/>
              </a:xfrm>
              <a:prstGeom prst="rect">
                <a:avLst/>
              </a:prstGeom>
              <a:blipFill>
                <a:blip r:embed="rId4"/>
                <a:stretch>
                  <a:fillRect l="-7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FB8F63D-8FF0-AC4B-972F-9C203FBB6EF7}"/>
                  </a:ext>
                </a:extLst>
              </p:cNvPr>
              <p:cNvSpPr txBox="1"/>
              <p:nvPr/>
            </p:nvSpPr>
            <p:spPr>
              <a:xfrm>
                <a:off x="562499" y="3661648"/>
                <a:ext cx="6409127" cy="709490"/>
              </a:xfrm>
              <a:prstGeom prst="rect">
                <a:avLst/>
              </a:prstGeom>
              <a:noFill/>
            </p:spPr>
            <p:txBody>
              <a:bodyPr wrap="none" lIns="0" tIns="0" rIns="0" bIns="0" rtlCol="0">
                <a:spAutoFit/>
              </a:bodyPr>
              <a:lstStyle/>
              <a:p>
                <a:pPr>
                  <a:lnSpc>
                    <a:spcPct val="114000"/>
                  </a:lnSpc>
                </a:pPr>
                <a14:m>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𝑢</m:t>
                            </m:r>
                          </m:e>
                        </m:acc>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sSup>
                          <m:sSupPr>
                            <m:ctrlPr>
                              <a:rPr lang="en-US" i="1" smtClean="0">
                                <a:latin typeface="Cambria Math" panose="02040503050406030204" pitchFamily="18" charset="0"/>
                                <a:ea typeface="Cambria Math" panose="02040503050406030204" pitchFamily="18" charset="0"/>
                                <a:cs typeface="Arial" panose="020B0604020202020204" pitchFamily="34" charset="0"/>
                              </a:rPr>
                            </m:ctrlPr>
                          </m:sSupPr>
                          <m:e>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𝑢</m:t>
                                </m:r>
                              </m:e>
                            </m:acc>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𝑢</m:t>
                            </m:r>
                          </m:e>
                        </m:acc>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𝑢</m:t>
                            </m:r>
                          </m:e>
                        </m:acc>
                        <m:acc>
                          <m:accPr>
                            <m:chr m:val="̅"/>
                            <m:ctrlPr>
                              <a:rPr lang="en-US"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1</m:t>
                        </m:r>
                      </m:num>
                      <m:den>
                        <m:r>
                          <a:rPr lang="en-US" b="0" i="1" smtClean="0">
                            <a:latin typeface="Cambria Math" panose="02040503050406030204" pitchFamily="18" charset="0"/>
                            <a:ea typeface="Cambria Math" panose="02040503050406030204" pitchFamily="18" charset="0"/>
                            <a:cs typeface="Arial" panose="020B0604020202020204" pitchFamily="34" charset="0"/>
                          </a:rPr>
                          <m:t>𝜌</m:t>
                        </m:r>
                      </m:den>
                    </m:f>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𝑝</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1</m:t>
                        </m:r>
                      </m:num>
                      <m:den>
                        <m:r>
                          <a:rPr lang="en-US" i="1">
                            <a:latin typeface="Cambria Math" panose="02040503050406030204" pitchFamily="18" charset="0"/>
                            <a:ea typeface="Cambria Math" panose="02040503050406030204" pitchFamily="18" charset="0"/>
                            <a:cs typeface="Arial" panose="020B0604020202020204" pitchFamily="34" charset="0"/>
                          </a:rPr>
                          <m:t>𝜌</m:t>
                        </m:r>
                      </m:den>
                    </m:f>
                    <m:d>
                      <m:dPr>
                        <m:ctrlPr>
                          <a:rPr lang="en-US" b="0" i="1" smtClean="0">
                            <a:latin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𝜌</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e>
                            </m:acc>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e>
                            </m:acc>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𝜕𝜌</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𝑢</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r>
                                  <a:rPr lang="en-US" b="0" i="1" smtClean="0">
                                    <a:latin typeface="Cambria Math" panose="02040503050406030204" pitchFamily="18" charset="0"/>
                                    <a:ea typeface="Cambria Math" panose="02040503050406030204" pitchFamily="18" charset="0"/>
                                    <a:cs typeface="Arial" panose="020B0604020202020204" pitchFamily="34" charset="0"/>
                                  </a:rPr>
                                  <m:t>𝑤</m:t>
                                </m:r>
                                <m:r>
                                  <a:rPr lang="en-US" b="0" i="1" smtClean="0">
                                    <a:latin typeface="Cambria Math" panose="02040503050406030204" pitchFamily="18" charset="0"/>
                                    <a:ea typeface="Cambria Math" panose="02040503050406030204" pitchFamily="18" charset="0"/>
                                    <a:cs typeface="Arial" panose="020B0604020202020204" pitchFamily="34" charset="0"/>
                                  </a:rPr>
                                  <m:t>′</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e>
                    </m:d>
                    <m:r>
                      <a:rPr lang="en-US" i="1">
                        <a:latin typeface="Cambria Math" panose="02040503050406030204" pitchFamily="18" charset="0"/>
                        <a:cs typeface="Arial" panose="020B0604020202020204" pitchFamily="34" charset="0"/>
                      </a:rPr>
                      <m:t>+</m:t>
                    </m:r>
                    <m:r>
                      <a:rPr lang="en-US" i="1">
                        <a:latin typeface="Cambria Math" panose="02040503050406030204" pitchFamily="18" charset="0"/>
                        <a:cs typeface="Arial" panose="020B0604020202020204" pitchFamily="34" charset="0"/>
                      </a:rPr>
                      <m:t>𝑔𝑆</m:t>
                    </m:r>
                  </m:oMath>
                </a14:m>
                <a:r>
                  <a:rPr lang="en-US" dirty="0">
                    <a:latin typeface="Arial" panose="020B0604020202020204" pitchFamily="34" charset="0"/>
                    <a:cs typeface="Arial" panose="020B0604020202020204" pitchFamily="34" charset="0"/>
                  </a:rPr>
                  <a:t> </a:t>
                </a:r>
              </a:p>
            </p:txBody>
          </p:sp>
        </mc:Choice>
        <mc:Fallback xmlns="">
          <p:sp>
            <p:nvSpPr>
              <p:cNvPr id="13" name="TextBox 12">
                <a:extLst>
                  <a:ext uri="{FF2B5EF4-FFF2-40B4-BE49-F238E27FC236}">
                    <a16:creationId xmlns:a16="http://schemas.microsoft.com/office/drawing/2014/main" id="{EFB8F63D-8FF0-AC4B-972F-9C203FBB6EF7}"/>
                  </a:ext>
                </a:extLst>
              </p:cNvPr>
              <p:cNvSpPr txBox="1">
                <a:spLocks noRot="1" noChangeAspect="1" noMove="1" noResize="1" noEditPoints="1" noAdjustHandles="1" noChangeArrowheads="1" noChangeShapeType="1" noTextEdit="1"/>
              </p:cNvSpPr>
              <p:nvPr/>
            </p:nvSpPr>
            <p:spPr>
              <a:xfrm>
                <a:off x="562499" y="3661648"/>
                <a:ext cx="6409127" cy="709490"/>
              </a:xfrm>
              <a:prstGeom prst="rect">
                <a:avLst/>
              </a:prstGeom>
              <a:blipFill>
                <a:blip r:embed="rId5"/>
                <a:stretch>
                  <a:fillRect l="-1186"/>
                </a:stretch>
              </a:blipFill>
            </p:spPr>
            <p:txBody>
              <a:bodyPr/>
              <a:lstStyle/>
              <a:p>
                <a:r>
                  <a:rPr lang="en-US">
                    <a:noFill/>
                  </a:rPr>
                  <a:t> </a:t>
                </a:r>
              </a:p>
            </p:txBody>
          </p:sp>
        </mc:Fallback>
      </mc:AlternateContent>
    </p:spTree>
    <p:extLst>
      <p:ext uri="{BB962C8B-B14F-4D97-AF65-F5344CB8AC3E}">
        <p14:creationId xmlns:p14="http://schemas.microsoft.com/office/powerpoint/2010/main" val="5086846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42</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Local streamwise momentum conservation</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7D7F52F-0BBE-8142-A688-0ECA9D1E9F05}"/>
                  </a:ext>
                </a:extLst>
              </p:cNvPr>
              <p:cNvSpPr txBox="1"/>
              <p:nvPr/>
            </p:nvSpPr>
            <p:spPr>
              <a:xfrm>
                <a:off x="383626" y="1637055"/>
                <a:ext cx="11069347" cy="2024593"/>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The quantities </a:t>
                </a:r>
                <a14:m>
                  <m:oMath xmlns:m="http://schemas.openxmlformats.org/officeDocument/2006/math">
                    <m:r>
                      <m:rPr>
                        <m:sty m:val="p"/>
                      </m:rPr>
                      <a:rPr lang="el-GR" i="1" smtClean="0">
                        <a:latin typeface="Cambria Math" panose="02040503050406030204" pitchFamily="18" charset="0"/>
                        <a:ea typeface="Cambria Math" panose="02040503050406030204" pitchFamily="18" charset="0"/>
                        <a:cs typeface="Arial" panose="020B0604020202020204" pitchFamily="34" charset="0"/>
                      </a:rPr>
                      <m:t>ρ</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𝑢</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sup>
                            <m:r>
                              <a:rPr lang="en-US" i="1">
                                <a:latin typeface="Cambria Math" panose="02040503050406030204" pitchFamily="18" charset="0"/>
                                <a:ea typeface="Cambria Math" panose="02040503050406030204" pitchFamily="18" charset="0"/>
                                <a:cs typeface="Arial" panose="020B0604020202020204" pitchFamily="34" charset="0"/>
                              </a:rPr>
                              <m:t>2</m:t>
                            </m:r>
                          </m:sup>
                        </m:sSup>
                      </m:e>
                    </m:acc>
                  </m:oMath>
                </a14:m>
                <a:r>
                  <a:rPr lang="en-US" dirty="0">
                    <a:latin typeface="Arial" panose="020B0604020202020204" pitchFamily="34" charset="0"/>
                    <a:cs typeface="Arial" panose="020B0604020202020204" pitchFamily="34" charset="0"/>
                  </a:rPr>
                  <a:t>, </a:t>
                </a:r>
                <a14:m>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𝜌</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𝑢</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𝑣</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oMath>
                </a14:m>
                <a:r>
                  <a:rPr lang="en-US" dirty="0">
                    <a:latin typeface="Arial" panose="020B0604020202020204" pitchFamily="34" charset="0"/>
                    <a:cs typeface="Arial" panose="020B0604020202020204" pitchFamily="34" charset="0"/>
                  </a:rPr>
                  <a:t> and </a:t>
                </a:r>
                <a14:m>
                  <m:oMath xmlns:m="http://schemas.openxmlformats.org/officeDocument/2006/math">
                    <m:r>
                      <a:rPr lang="en-US" i="1">
                        <a:latin typeface="Cambria Math" panose="02040503050406030204" pitchFamily="18" charset="0"/>
                        <a:ea typeface="Cambria Math" panose="02040503050406030204" pitchFamily="18" charset="0"/>
                        <a:cs typeface="Arial" panose="020B0604020202020204" pitchFamily="34" charset="0"/>
                      </a:rPr>
                      <m:t>𝜌</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𝑢</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oMath>
                </a14:m>
                <a:r>
                  <a:rPr lang="en-US" dirty="0">
                    <a:latin typeface="Arial" panose="020B0604020202020204" pitchFamily="34" charset="0"/>
                    <a:cs typeface="Arial" panose="020B0604020202020204" pitchFamily="34" charset="0"/>
                  </a:rPr>
                  <a:t> denote the normal, the y-x and z-x components of the Reynolds stress generated by turbulence.  These terms are also known as Reynolds fluxes of streamwise momentum in the streamwise, transverse and upward direction respectively. </a:t>
                </a:r>
              </a:p>
              <a:p>
                <a:pPr>
                  <a:lnSpc>
                    <a:spcPct val="114000"/>
                  </a:lnSpc>
                </a:pPr>
                <a:endParaRPr lang="en-US" dirty="0">
                  <a:latin typeface="Arial" panose="020B0604020202020204" pitchFamily="34" charset="0"/>
                  <a:cs typeface="Arial" panose="020B0604020202020204" pitchFamily="34" charset="0"/>
                </a:endParaRPr>
              </a:p>
              <a:p>
                <a:pPr>
                  <a:lnSpc>
                    <a:spcPct val="114000"/>
                  </a:lnSpc>
                </a:pPr>
                <a:r>
                  <a:rPr lang="en-US" dirty="0">
                    <a:latin typeface="Arial" panose="020B0604020202020204" pitchFamily="34" charset="0"/>
                    <a:cs typeface="Arial" panose="020B0604020202020204" pitchFamily="34" charset="0"/>
                  </a:rPr>
                  <a:t>For fully turbulent flow, the Reynolds stress is usually much larger than the viscous stress, which can be dropped and the equation of conservation of streamwise momentum averaged over turbulence reduces to </a:t>
                </a:r>
              </a:p>
            </p:txBody>
          </p:sp>
        </mc:Choice>
        <mc:Fallback xmlns="">
          <p:sp>
            <p:nvSpPr>
              <p:cNvPr id="19" name="TextBox 18">
                <a:extLst>
                  <a:ext uri="{FF2B5EF4-FFF2-40B4-BE49-F238E27FC236}">
                    <a16:creationId xmlns:a16="http://schemas.microsoft.com/office/drawing/2014/main" id="{07D7F52F-0BBE-8142-A688-0ECA9D1E9F05}"/>
                  </a:ext>
                </a:extLst>
              </p:cNvPr>
              <p:cNvSpPr txBox="1">
                <a:spLocks noRot="1" noChangeAspect="1" noMove="1" noResize="1" noEditPoints="1" noAdjustHandles="1" noChangeArrowheads="1" noChangeShapeType="1" noTextEdit="1"/>
              </p:cNvSpPr>
              <p:nvPr/>
            </p:nvSpPr>
            <p:spPr>
              <a:xfrm>
                <a:off x="383626" y="1637055"/>
                <a:ext cx="11069347" cy="2024593"/>
              </a:xfrm>
              <a:prstGeom prst="rect">
                <a:avLst/>
              </a:prstGeom>
              <a:blipFill>
                <a:blip r:embed="rId3"/>
                <a:stretch>
                  <a:fillRect l="-459" r="-803" b="-3750"/>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45D8182F-4BE1-C14B-AF70-511793A27E31}"/>
              </a:ext>
            </a:extLst>
          </p:cNvPr>
          <p:cNvSpPr txBox="1"/>
          <p:nvPr/>
        </p:nvSpPr>
        <p:spPr>
          <a:xfrm>
            <a:off x="383626" y="4638958"/>
            <a:ext cx="11069347" cy="1013291"/>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we further assume that the rate of change of the Reynolds stress in the streamwise and transverse directions are smaller than the rate of change in the upward direction, and the above equation is further simplified to</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C6627B0-91F4-D84C-AF4F-F14DD116089F}"/>
                  </a:ext>
                </a:extLst>
              </p:cNvPr>
              <p:cNvSpPr txBox="1"/>
              <p:nvPr/>
            </p:nvSpPr>
            <p:spPr>
              <a:xfrm>
                <a:off x="562498" y="5736431"/>
                <a:ext cx="4633768" cy="687561"/>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𝑢</m:t>
                              </m:r>
                            </m:e>
                          </m:acc>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sSup>
                            <m:sSupPr>
                              <m:ctrlPr>
                                <a:rPr lang="en-US" i="1" smtClean="0">
                                  <a:latin typeface="Cambria Math" panose="02040503050406030204" pitchFamily="18" charset="0"/>
                                  <a:ea typeface="Cambria Math" panose="02040503050406030204" pitchFamily="18" charset="0"/>
                                  <a:cs typeface="Arial" panose="020B0604020202020204" pitchFamily="34" charset="0"/>
                                </a:rPr>
                              </m:ctrlPr>
                            </m:sSupPr>
                            <m:e>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𝑢</m:t>
                                  </m:r>
                                </m:e>
                              </m:acc>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𝑢</m:t>
                              </m:r>
                            </m:e>
                          </m:acc>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𝑢</m:t>
                              </m:r>
                            </m:e>
                          </m:acc>
                          <m:acc>
                            <m:accPr>
                              <m:chr m:val="̅"/>
                              <m:ctrlPr>
                                <a:rPr lang="en-US"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1</m:t>
                          </m:r>
                        </m:num>
                        <m:den>
                          <m:r>
                            <a:rPr lang="en-US" b="0" i="1" smtClean="0">
                              <a:latin typeface="Cambria Math" panose="02040503050406030204" pitchFamily="18" charset="0"/>
                              <a:ea typeface="Cambria Math" panose="02040503050406030204" pitchFamily="18" charset="0"/>
                              <a:cs typeface="Arial" panose="020B0604020202020204" pitchFamily="34" charset="0"/>
                            </a:rPr>
                            <m:t>𝜌</m:t>
                          </m:r>
                        </m:den>
                      </m:f>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𝑝</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1</m:t>
                          </m:r>
                        </m:num>
                        <m:den>
                          <m:r>
                            <a:rPr lang="en-US" b="0" i="1" smtClean="0">
                              <a:latin typeface="Cambria Math" panose="02040503050406030204" pitchFamily="18" charset="0"/>
                              <a:ea typeface="Cambria Math" panose="02040503050406030204" pitchFamily="18" charset="0"/>
                              <a:cs typeface="Arial" panose="020B0604020202020204" pitchFamily="34" charset="0"/>
                            </a:rPr>
                            <m:t>𝜌</m:t>
                          </m:r>
                        </m:den>
                      </m:f>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r>
                            <a:rPr lang="en-US" i="1" smtClean="0">
                              <a:latin typeface="Cambria Math" panose="02040503050406030204" pitchFamily="18" charset="0"/>
                              <a:ea typeface="Cambria Math" panose="02040503050406030204" pitchFamily="18" charset="0"/>
                              <a:cs typeface="Arial" panose="020B0604020202020204" pitchFamily="34" charset="0"/>
                            </a:rPr>
                            <m:t>𝜏</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𝑧</m:t>
                          </m:r>
                        </m:den>
                      </m:f>
                      <m:r>
                        <a:rPr lang="en-US" i="1">
                          <a:latin typeface="Cambria Math" panose="02040503050406030204" pitchFamily="18" charset="0"/>
                          <a:cs typeface="Arial" panose="020B0604020202020204" pitchFamily="34" charset="0"/>
                        </a:rPr>
                        <m:t>+</m:t>
                      </m:r>
                      <m:r>
                        <a:rPr lang="en-US" i="1">
                          <a:latin typeface="Cambria Math" panose="02040503050406030204" pitchFamily="18" charset="0"/>
                          <a:cs typeface="Arial" panose="020B0604020202020204" pitchFamily="34" charset="0"/>
                        </a:rPr>
                        <m:t>𝑔𝑆</m:t>
                      </m:r>
                    </m:oMath>
                  </m:oMathPara>
                </a14:m>
                <a:endParaRPr lang="en-US" dirty="0">
                  <a:latin typeface="Arial" panose="020B0604020202020204" pitchFamily="34" charset="0"/>
                  <a:cs typeface="Arial" panose="020B0604020202020204" pitchFamily="34" charset="0"/>
                </a:endParaRPr>
              </a:p>
            </p:txBody>
          </p:sp>
        </mc:Choice>
        <mc:Fallback xmlns="">
          <p:sp>
            <p:nvSpPr>
              <p:cNvPr id="15" name="TextBox 14">
                <a:extLst>
                  <a:ext uri="{FF2B5EF4-FFF2-40B4-BE49-F238E27FC236}">
                    <a16:creationId xmlns:a16="http://schemas.microsoft.com/office/drawing/2014/main" id="{0C6627B0-91F4-D84C-AF4F-F14DD116089F}"/>
                  </a:ext>
                </a:extLst>
              </p:cNvPr>
              <p:cNvSpPr txBox="1">
                <a:spLocks noRot="1" noChangeAspect="1" noMove="1" noResize="1" noEditPoints="1" noAdjustHandles="1" noChangeArrowheads="1" noChangeShapeType="1" noTextEdit="1"/>
              </p:cNvSpPr>
              <p:nvPr/>
            </p:nvSpPr>
            <p:spPr>
              <a:xfrm>
                <a:off x="562498" y="5736431"/>
                <a:ext cx="4633768" cy="687561"/>
              </a:xfrm>
              <a:prstGeom prst="rect">
                <a:avLst/>
              </a:prstGeom>
              <a:blipFill>
                <a:blip r:embed="rId6"/>
                <a:stretch>
                  <a:fillRect l="-274" r="-548" b="-12727"/>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D2008A92-6E6F-E745-8072-01BF29A23E2E}"/>
              </a:ext>
            </a:extLst>
          </p:cNvPr>
          <p:cNvSpPr txBox="1"/>
          <p:nvPr/>
        </p:nvSpPr>
        <p:spPr>
          <a:xfrm>
            <a:off x="6180463" y="5813445"/>
            <a:ext cx="684803" cy="381708"/>
          </a:xfrm>
          <a:prstGeom prst="rect">
            <a:avLst/>
          </a:prstGeom>
          <a:noFill/>
        </p:spPr>
        <p:txBody>
          <a:bodyPr wrap="none" rtlCol="0">
            <a:spAutoFit/>
          </a:bodyPr>
          <a:lstStyle/>
          <a:p>
            <a:pPr algn="l">
              <a:lnSpc>
                <a:spcPct val="114000"/>
              </a:lnSpc>
            </a:pPr>
            <a:r>
              <a:rPr lang="en-US" dirty="0">
                <a:latin typeface="Arial" panose="020B0604020202020204" pitchFamily="34" charset="0"/>
                <a:cs typeface="Arial" panose="020B0604020202020204" pitchFamily="34" charset="0"/>
              </a:rPr>
              <a:t>where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32F2D0D-C6EF-0141-87D9-66650C77A778}"/>
                  </a:ext>
                </a:extLst>
              </p:cNvPr>
              <p:cNvSpPr txBox="1"/>
              <p:nvPr/>
            </p:nvSpPr>
            <p:spPr>
              <a:xfrm>
                <a:off x="7414352" y="5813445"/>
                <a:ext cx="1242584" cy="317395"/>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𝜏</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𝑢</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𝑤</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e>
                      </m:acc>
                    </m:oMath>
                  </m:oMathPara>
                </a14:m>
                <a:endParaRPr lang="en-US" dirty="0">
                  <a:latin typeface="Arial" panose="020B0604020202020204" pitchFamily="34" charset="0"/>
                  <a:cs typeface="Arial" panose="020B0604020202020204" pitchFamily="34" charset="0"/>
                </a:endParaRPr>
              </a:p>
            </p:txBody>
          </p:sp>
        </mc:Choice>
        <mc:Fallback xmlns="">
          <p:sp>
            <p:nvSpPr>
              <p:cNvPr id="6" name="TextBox 5">
                <a:extLst>
                  <a:ext uri="{FF2B5EF4-FFF2-40B4-BE49-F238E27FC236}">
                    <a16:creationId xmlns:a16="http://schemas.microsoft.com/office/drawing/2014/main" id="{A32F2D0D-C6EF-0141-87D9-66650C77A778}"/>
                  </a:ext>
                </a:extLst>
              </p:cNvPr>
              <p:cNvSpPr txBox="1">
                <a:spLocks noRot="1" noChangeAspect="1" noMove="1" noResize="1" noEditPoints="1" noAdjustHandles="1" noChangeArrowheads="1" noChangeShapeType="1" noTextEdit="1"/>
              </p:cNvSpPr>
              <p:nvPr/>
            </p:nvSpPr>
            <p:spPr>
              <a:xfrm>
                <a:off x="7414352" y="5813445"/>
                <a:ext cx="1242584" cy="317395"/>
              </a:xfrm>
              <a:prstGeom prst="rect">
                <a:avLst/>
              </a:prstGeom>
              <a:blipFill>
                <a:blip r:embed="rId7"/>
                <a:stretch>
                  <a:fillRect l="-1010" b="-19231"/>
                </a:stretch>
              </a:blipFill>
            </p:spPr>
            <p:txBody>
              <a:bodyPr/>
              <a:lstStyle/>
              <a:p>
                <a:r>
                  <a:rPr lang="en-US">
                    <a:noFill/>
                  </a:rPr>
                  <a:t> </a:t>
                </a:r>
              </a:p>
            </p:txBody>
          </p:sp>
        </mc:Fallback>
      </mc:AlternateContent>
      <p:sp>
        <p:nvSpPr>
          <p:cNvPr id="23" name="TextBox 22">
            <a:extLst>
              <a:ext uri="{FF2B5EF4-FFF2-40B4-BE49-F238E27FC236}">
                <a16:creationId xmlns:a16="http://schemas.microsoft.com/office/drawing/2014/main" id="{D88F87DD-A74E-1E4F-992F-E6776C899A76}"/>
              </a:ext>
            </a:extLst>
          </p:cNvPr>
          <p:cNvSpPr txBox="1"/>
          <p:nvPr/>
        </p:nvSpPr>
        <p:spPr>
          <a:xfrm>
            <a:off x="6180463" y="6328367"/>
            <a:ext cx="1107996" cy="381708"/>
          </a:xfrm>
          <a:prstGeom prst="rect">
            <a:avLst/>
          </a:prstGeom>
          <a:noFill/>
        </p:spPr>
        <p:txBody>
          <a:bodyPr wrap="none" rtlCol="0">
            <a:spAutoFit/>
          </a:bodyPr>
          <a:lstStyle/>
          <a:p>
            <a:pPr algn="l">
              <a:lnSpc>
                <a:spcPct val="114000"/>
              </a:lnSpc>
            </a:pPr>
            <a:r>
              <a:rPr lang="en-US" dirty="0">
                <a:latin typeface="Arial" panose="020B0604020202020204" pitchFamily="34" charset="0"/>
                <a:cs typeface="Arial" panose="020B0604020202020204" pitchFamily="34" charset="0"/>
              </a:rPr>
              <a:t>At the bed</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1CA5B1CE-52D2-7748-921D-8AEC56AB00FD}"/>
                  </a:ext>
                </a:extLst>
              </p:cNvPr>
              <p:cNvSpPr txBox="1"/>
              <p:nvPr/>
            </p:nvSpPr>
            <p:spPr>
              <a:xfrm>
                <a:off x="7462767" y="6344069"/>
                <a:ext cx="697049" cy="315792"/>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𝜏</m:t>
                      </m:r>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sub>
                      </m:sSub>
                    </m:oMath>
                  </m:oMathPara>
                </a14:m>
                <a:endParaRPr lang="en-US" dirty="0">
                  <a:latin typeface="Arial" panose="020B0604020202020204" pitchFamily="34" charset="0"/>
                  <a:cs typeface="Arial" panose="020B0604020202020204" pitchFamily="34" charset="0"/>
                </a:endParaRPr>
              </a:p>
            </p:txBody>
          </p:sp>
        </mc:Choice>
        <mc:Fallback xmlns="">
          <p:sp>
            <p:nvSpPr>
              <p:cNvPr id="24" name="TextBox 23">
                <a:extLst>
                  <a:ext uri="{FF2B5EF4-FFF2-40B4-BE49-F238E27FC236}">
                    <a16:creationId xmlns:a16="http://schemas.microsoft.com/office/drawing/2014/main" id="{1CA5B1CE-52D2-7748-921D-8AEC56AB00FD}"/>
                  </a:ext>
                </a:extLst>
              </p:cNvPr>
              <p:cNvSpPr txBox="1">
                <a:spLocks noRot="1" noChangeAspect="1" noMove="1" noResize="1" noEditPoints="1" noAdjustHandles="1" noChangeArrowheads="1" noChangeShapeType="1" noTextEdit="1"/>
              </p:cNvSpPr>
              <p:nvPr/>
            </p:nvSpPr>
            <p:spPr>
              <a:xfrm>
                <a:off x="7462767" y="6344069"/>
                <a:ext cx="697049" cy="315792"/>
              </a:xfrm>
              <a:prstGeom prst="rect">
                <a:avLst/>
              </a:prstGeom>
              <a:blipFill>
                <a:blip r:embed="rId8"/>
                <a:stretch>
                  <a:fillRect l="-1786" b="-38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171C088-11A9-8AC1-B32D-A022CAF90456}"/>
                  </a:ext>
                </a:extLst>
              </p:cNvPr>
              <p:cNvSpPr txBox="1"/>
              <p:nvPr/>
            </p:nvSpPr>
            <p:spPr>
              <a:xfrm>
                <a:off x="604091" y="704499"/>
                <a:ext cx="8564524" cy="709490"/>
              </a:xfrm>
              <a:prstGeom prst="rect">
                <a:avLst/>
              </a:prstGeom>
              <a:noFill/>
            </p:spPr>
            <p:txBody>
              <a:bodyPr wrap="none" lIns="0" tIns="0" rIns="0" bIns="0" rtlCol="0">
                <a:spAutoFit/>
              </a:bodyPr>
              <a:lstStyle/>
              <a:p>
                <a:pPr>
                  <a:lnSpc>
                    <a:spcPct val="114000"/>
                  </a:lnSpc>
                </a:pPr>
                <a14:m>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𝑢</m:t>
                            </m:r>
                          </m:e>
                        </m:acc>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sSup>
                          <m:sSupPr>
                            <m:ctrlPr>
                              <a:rPr lang="en-US" i="1" smtClean="0">
                                <a:latin typeface="Cambria Math" panose="02040503050406030204" pitchFamily="18" charset="0"/>
                                <a:ea typeface="Cambria Math" panose="02040503050406030204" pitchFamily="18" charset="0"/>
                                <a:cs typeface="Arial" panose="020B0604020202020204" pitchFamily="34" charset="0"/>
                              </a:rPr>
                            </m:ctrlPr>
                          </m:sSupPr>
                          <m:e>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𝑢</m:t>
                                </m:r>
                              </m:e>
                            </m:acc>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𝑢</m:t>
                            </m:r>
                          </m:e>
                        </m:acc>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𝑢</m:t>
                            </m:r>
                          </m:e>
                        </m:acc>
                        <m:r>
                          <a:rPr lang="en-US" b="0" i="1" smtClean="0">
                            <a:latin typeface="Cambria Math" panose="02040503050406030204" pitchFamily="18" charset="0"/>
                            <a:ea typeface="Cambria Math" panose="02040503050406030204" pitchFamily="18" charset="0"/>
                            <a:cs typeface="Arial" panose="020B0604020202020204" pitchFamily="34" charset="0"/>
                          </a:rPr>
                          <m:t>𝑤</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1</m:t>
                        </m:r>
                      </m:num>
                      <m:den>
                        <m:r>
                          <a:rPr lang="en-US" b="0" i="1" smtClean="0">
                            <a:latin typeface="Cambria Math" panose="02040503050406030204" pitchFamily="18" charset="0"/>
                            <a:ea typeface="Cambria Math" panose="02040503050406030204" pitchFamily="18" charset="0"/>
                            <a:cs typeface="Arial" panose="020B0604020202020204" pitchFamily="34" charset="0"/>
                          </a:rPr>
                          <m:t>𝜌</m:t>
                        </m:r>
                      </m:den>
                    </m:f>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𝑝</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i="1">
                        <a:latin typeface="Cambria Math" panose="02040503050406030204" pitchFamily="18" charset="0"/>
                        <a:cs typeface="Arial" panose="020B0604020202020204" pitchFamily="34" charset="0"/>
                      </a:rPr>
                      <m:t>+</m:t>
                    </m:r>
                    <m:r>
                      <a:rPr lang="en-US" i="1" smtClean="0">
                        <a:latin typeface="Cambria Math" panose="02040503050406030204" pitchFamily="18" charset="0"/>
                        <a:ea typeface="Cambria Math" panose="02040503050406030204" pitchFamily="18" charset="0"/>
                        <a:cs typeface="Arial" panose="020B0604020202020204" pitchFamily="34" charset="0"/>
                      </a:rPr>
                      <m:t>𝜈</m:t>
                    </m:r>
                    <m:acc>
                      <m:accPr>
                        <m:chr m:val="̅"/>
                        <m:ctrlPr>
                          <a:rPr lang="en-US" i="1" smtClean="0">
                            <a:latin typeface="Cambria Math" panose="02040503050406030204" pitchFamily="18" charset="0"/>
                            <a:ea typeface="Cambria Math" panose="02040503050406030204" pitchFamily="18" charset="0"/>
                            <a:cs typeface="Arial" panose="020B0604020202020204" pitchFamily="34" charset="0"/>
                          </a:rPr>
                        </m:ctrlPr>
                      </m:acc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𝑥</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den>
                            </m:f>
                            <m:r>
                              <a:rPr lang="en-US" i="1">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𝑦</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den>
                            </m:f>
                            <m:r>
                              <a:rPr lang="en-US" i="1">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r>
                                  <a:rPr lang="en-US" i="1">
                                    <a:latin typeface="Cambria Math" panose="02040503050406030204" pitchFamily="18" charset="0"/>
                                    <a:ea typeface="Cambria Math" panose="02040503050406030204" pitchFamily="18" charset="0"/>
                                    <a:cs typeface="Arial" panose="020B0604020202020204" pitchFamily="34" charset="0"/>
                                  </a:rPr>
                                  <m:t>𝑢</m:t>
                                </m:r>
                              </m:num>
                              <m:den>
                                <m:r>
                                  <a:rPr lang="en-US" i="1">
                                    <a:latin typeface="Cambria Math" panose="02040503050406030204" pitchFamily="18" charset="0"/>
                                    <a:ea typeface="Cambria Math" panose="02040503050406030204" pitchFamily="18" charset="0"/>
                                    <a:cs typeface="Arial" panose="020B0604020202020204" pitchFamily="34" charset="0"/>
                                  </a:rPr>
                                  <m:t>𝜕</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𝑧</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den>
                            </m:f>
                          </m:e>
                        </m:d>
                      </m:e>
                    </m:acc>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1</m:t>
                        </m:r>
                      </m:num>
                      <m:den>
                        <m:r>
                          <a:rPr lang="en-US" b="0" i="1" smtClean="0">
                            <a:latin typeface="Cambria Math" panose="02040503050406030204" pitchFamily="18" charset="0"/>
                            <a:ea typeface="Cambria Math" panose="02040503050406030204" pitchFamily="18" charset="0"/>
                            <a:cs typeface="Arial" panose="020B0604020202020204" pitchFamily="34" charset="0"/>
                          </a:rPr>
                          <m:t>𝜌</m:t>
                        </m:r>
                      </m:den>
                    </m:f>
                    <m:d>
                      <m:dPr>
                        <m:ctrlPr>
                          <a:rPr lang="en-US" b="0" i="1" smtClean="0">
                            <a:latin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e>
                            </m:acc>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e>
                            </m:acc>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𝜕𝜌</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𝑢</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e>
                    </m:d>
                    <m:r>
                      <a:rPr lang="en-US" i="1">
                        <a:latin typeface="Cambria Math" panose="02040503050406030204" pitchFamily="18" charset="0"/>
                        <a:cs typeface="Arial" panose="020B0604020202020204" pitchFamily="34" charset="0"/>
                      </a:rPr>
                      <m:t>+</m:t>
                    </m:r>
                    <m:r>
                      <a:rPr lang="en-US" i="1">
                        <a:latin typeface="Cambria Math" panose="02040503050406030204" pitchFamily="18" charset="0"/>
                        <a:cs typeface="Arial" panose="020B0604020202020204" pitchFamily="34" charset="0"/>
                      </a:rPr>
                      <m:t>𝑔𝑆</m:t>
                    </m:r>
                  </m:oMath>
                </a14:m>
                <a:r>
                  <a:rPr lang="en-US" dirty="0">
                    <a:latin typeface="Arial" panose="020B0604020202020204" pitchFamily="34" charset="0"/>
                    <a:cs typeface="Arial" panose="020B0604020202020204" pitchFamily="34" charset="0"/>
                  </a:rPr>
                  <a:t> </a:t>
                </a:r>
              </a:p>
            </p:txBody>
          </p:sp>
        </mc:Choice>
        <mc:Fallback xmlns="">
          <p:sp>
            <p:nvSpPr>
              <p:cNvPr id="16" name="TextBox 15">
                <a:extLst>
                  <a:ext uri="{FF2B5EF4-FFF2-40B4-BE49-F238E27FC236}">
                    <a16:creationId xmlns:a16="http://schemas.microsoft.com/office/drawing/2014/main" id="{8171C088-11A9-8AC1-B32D-A022CAF90456}"/>
                  </a:ext>
                </a:extLst>
              </p:cNvPr>
              <p:cNvSpPr txBox="1">
                <a:spLocks noRot="1" noChangeAspect="1" noMove="1" noResize="1" noEditPoints="1" noAdjustHandles="1" noChangeArrowheads="1" noChangeShapeType="1" noTextEdit="1"/>
              </p:cNvSpPr>
              <p:nvPr/>
            </p:nvSpPr>
            <p:spPr>
              <a:xfrm>
                <a:off x="604091" y="704499"/>
                <a:ext cx="8564524" cy="709490"/>
              </a:xfrm>
              <a:prstGeom prst="rect">
                <a:avLst/>
              </a:prstGeom>
              <a:blipFill>
                <a:blip r:embed="rId9"/>
                <a:stretch>
                  <a:fillRect l="-741" r="-7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9AA134D-D767-09F1-FD56-93EDB6D12411}"/>
                  </a:ext>
                </a:extLst>
              </p:cNvPr>
              <p:cNvSpPr txBox="1"/>
              <p:nvPr/>
            </p:nvSpPr>
            <p:spPr>
              <a:xfrm>
                <a:off x="562499" y="3661648"/>
                <a:ext cx="6409127" cy="709490"/>
              </a:xfrm>
              <a:prstGeom prst="rect">
                <a:avLst/>
              </a:prstGeom>
              <a:noFill/>
            </p:spPr>
            <p:txBody>
              <a:bodyPr wrap="none" lIns="0" tIns="0" rIns="0" bIns="0" rtlCol="0">
                <a:spAutoFit/>
              </a:bodyPr>
              <a:lstStyle/>
              <a:p>
                <a:pPr>
                  <a:lnSpc>
                    <a:spcPct val="114000"/>
                  </a:lnSpc>
                </a:pPr>
                <a14:m>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𝑢</m:t>
                            </m:r>
                          </m:e>
                        </m:acc>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sSup>
                          <m:sSupPr>
                            <m:ctrlPr>
                              <a:rPr lang="en-US" i="1" smtClean="0">
                                <a:latin typeface="Cambria Math" panose="02040503050406030204" pitchFamily="18" charset="0"/>
                                <a:ea typeface="Cambria Math" panose="02040503050406030204" pitchFamily="18" charset="0"/>
                                <a:cs typeface="Arial" panose="020B0604020202020204" pitchFamily="34" charset="0"/>
                              </a:rPr>
                            </m:ctrlPr>
                          </m:sSupPr>
                          <m:e>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𝑢</m:t>
                                </m:r>
                              </m:e>
                            </m:acc>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𝑢</m:t>
                            </m:r>
                          </m:e>
                        </m:acc>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𝑢</m:t>
                            </m:r>
                          </m:e>
                        </m:acc>
                        <m:acc>
                          <m:accPr>
                            <m:chr m:val="̅"/>
                            <m:ctrlPr>
                              <a:rPr lang="en-US"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1</m:t>
                        </m:r>
                      </m:num>
                      <m:den>
                        <m:r>
                          <a:rPr lang="en-US" b="0" i="1" smtClean="0">
                            <a:latin typeface="Cambria Math" panose="02040503050406030204" pitchFamily="18" charset="0"/>
                            <a:ea typeface="Cambria Math" panose="02040503050406030204" pitchFamily="18" charset="0"/>
                            <a:cs typeface="Arial" panose="020B0604020202020204" pitchFamily="34" charset="0"/>
                          </a:rPr>
                          <m:t>𝜌</m:t>
                        </m:r>
                      </m:den>
                    </m:f>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𝑝</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1</m:t>
                        </m:r>
                      </m:num>
                      <m:den>
                        <m:r>
                          <a:rPr lang="en-US" i="1">
                            <a:latin typeface="Cambria Math" panose="02040503050406030204" pitchFamily="18" charset="0"/>
                            <a:ea typeface="Cambria Math" panose="02040503050406030204" pitchFamily="18" charset="0"/>
                            <a:cs typeface="Arial" panose="020B0604020202020204" pitchFamily="34" charset="0"/>
                          </a:rPr>
                          <m:t>𝜌</m:t>
                        </m:r>
                      </m:den>
                    </m:f>
                    <m:d>
                      <m:dPr>
                        <m:ctrlPr>
                          <a:rPr lang="en-US" b="0" i="1" smtClean="0">
                            <a:latin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𝜌</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e>
                            </m:acc>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e>
                            </m:acc>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𝜕𝜌</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𝑢</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r>
                                  <a:rPr lang="en-US" b="0" i="1" smtClean="0">
                                    <a:latin typeface="Cambria Math" panose="02040503050406030204" pitchFamily="18" charset="0"/>
                                    <a:ea typeface="Cambria Math" panose="02040503050406030204" pitchFamily="18" charset="0"/>
                                    <a:cs typeface="Arial" panose="020B0604020202020204" pitchFamily="34" charset="0"/>
                                  </a:rPr>
                                  <m:t>𝑤</m:t>
                                </m:r>
                                <m:r>
                                  <a:rPr lang="en-US" b="0" i="1" smtClean="0">
                                    <a:latin typeface="Cambria Math" panose="02040503050406030204" pitchFamily="18" charset="0"/>
                                    <a:ea typeface="Cambria Math" panose="02040503050406030204" pitchFamily="18" charset="0"/>
                                    <a:cs typeface="Arial" panose="020B0604020202020204" pitchFamily="34" charset="0"/>
                                  </a:rPr>
                                  <m:t>′</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e>
                    </m:d>
                    <m:r>
                      <a:rPr lang="en-US" i="1">
                        <a:latin typeface="Cambria Math" panose="02040503050406030204" pitchFamily="18" charset="0"/>
                        <a:cs typeface="Arial" panose="020B0604020202020204" pitchFamily="34" charset="0"/>
                      </a:rPr>
                      <m:t>+</m:t>
                    </m:r>
                    <m:r>
                      <a:rPr lang="en-US" i="1">
                        <a:latin typeface="Cambria Math" panose="02040503050406030204" pitchFamily="18" charset="0"/>
                        <a:cs typeface="Arial" panose="020B0604020202020204" pitchFamily="34" charset="0"/>
                      </a:rPr>
                      <m:t>𝑔𝑆</m:t>
                    </m:r>
                  </m:oMath>
                </a14:m>
                <a:r>
                  <a:rPr lang="en-US" dirty="0">
                    <a:latin typeface="Arial" panose="020B0604020202020204" pitchFamily="34" charset="0"/>
                    <a:cs typeface="Arial" panose="020B0604020202020204" pitchFamily="34" charset="0"/>
                  </a:rPr>
                  <a:t> </a:t>
                </a:r>
              </a:p>
            </p:txBody>
          </p:sp>
        </mc:Choice>
        <mc:Fallback xmlns="">
          <p:sp>
            <p:nvSpPr>
              <p:cNvPr id="17" name="TextBox 16">
                <a:extLst>
                  <a:ext uri="{FF2B5EF4-FFF2-40B4-BE49-F238E27FC236}">
                    <a16:creationId xmlns:a16="http://schemas.microsoft.com/office/drawing/2014/main" id="{29AA134D-D767-09F1-FD56-93EDB6D12411}"/>
                  </a:ext>
                </a:extLst>
              </p:cNvPr>
              <p:cNvSpPr txBox="1">
                <a:spLocks noRot="1" noChangeAspect="1" noMove="1" noResize="1" noEditPoints="1" noAdjustHandles="1" noChangeArrowheads="1" noChangeShapeType="1" noTextEdit="1"/>
              </p:cNvSpPr>
              <p:nvPr/>
            </p:nvSpPr>
            <p:spPr>
              <a:xfrm>
                <a:off x="562499" y="3661648"/>
                <a:ext cx="6409127" cy="709490"/>
              </a:xfrm>
              <a:prstGeom prst="rect">
                <a:avLst/>
              </a:prstGeom>
              <a:blipFill>
                <a:blip r:embed="rId10"/>
                <a:stretch>
                  <a:fillRect l="-1186"/>
                </a:stretch>
              </a:blipFill>
            </p:spPr>
            <p:txBody>
              <a:bodyPr/>
              <a:lstStyle/>
              <a:p>
                <a:r>
                  <a:rPr lang="en-US">
                    <a:noFill/>
                  </a:rPr>
                  <a:t> </a:t>
                </a:r>
              </a:p>
            </p:txBody>
          </p:sp>
        </mc:Fallback>
      </mc:AlternateContent>
    </p:spTree>
    <p:extLst>
      <p:ext uri="{BB962C8B-B14F-4D97-AF65-F5344CB8AC3E}">
        <p14:creationId xmlns:p14="http://schemas.microsoft.com/office/powerpoint/2010/main" val="11330210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43</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954107"/>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Local streamwise momentum conservation for steady and uniform flow</a:t>
            </a:r>
          </a:p>
        </p:txBody>
      </p:sp>
      <p:sp>
        <p:nvSpPr>
          <p:cNvPr id="14" name="TextBox 13">
            <a:extLst>
              <a:ext uri="{FF2B5EF4-FFF2-40B4-BE49-F238E27FC236}">
                <a16:creationId xmlns:a16="http://schemas.microsoft.com/office/drawing/2014/main" id="{45D8182F-4BE1-C14B-AF70-511793A27E31}"/>
              </a:ext>
            </a:extLst>
          </p:cNvPr>
          <p:cNvSpPr txBox="1"/>
          <p:nvPr/>
        </p:nvSpPr>
        <p:spPr>
          <a:xfrm>
            <a:off x="562498" y="1223846"/>
            <a:ext cx="11069347" cy="697499"/>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If the flow is steady and uniform, the local equation of streamwise momentum conservation averaged over turbulence reduces to</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C6627B0-91F4-D84C-AF4F-F14DD116089F}"/>
                  </a:ext>
                </a:extLst>
              </p:cNvPr>
              <p:cNvSpPr txBox="1"/>
              <p:nvPr/>
            </p:nvSpPr>
            <p:spPr>
              <a:xfrm>
                <a:off x="562498" y="2005340"/>
                <a:ext cx="4692951" cy="687561"/>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𝑢</m:t>
                              </m:r>
                            </m:e>
                          </m:acc>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sSup>
                            <m:sSupPr>
                              <m:ctrlPr>
                                <a:rPr lang="en-US" i="1" smtClean="0">
                                  <a:latin typeface="Cambria Math" panose="02040503050406030204" pitchFamily="18" charset="0"/>
                                  <a:ea typeface="Cambria Math" panose="02040503050406030204" pitchFamily="18" charset="0"/>
                                  <a:cs typeface="Arial" panose="020B0604020202020204" pitchFamily="34" charset="0"/>
                                </a:rPr>
                              </m:ctrlPr>
                            </m:sSupPr>
                            <m:e>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𝑢</m:t>
                                  </m:r>
                                </m:e>
                              </m:acc>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𝑢</m:t>
                              </m:r>
                            </m:e>
                          </m:acc>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𝑢</m:t>
                              </m:r>
                            </m:e>
                          </m:acc>
                          <m:r>
                            <a:rPr lang="en-US" b="0" i="1" smtClean="0">
                              <a:latin typeface="Cambria Math" panose="02040503050406030204" pitchFamily="18" charset="0"/>
                              <a:ea typeface="Cambria Math" panose="02040503050406030204" pitchFamily="18" charset="0"/>
                              <a:cs typeface="Arial" panose="020B0604020202020204" pitchFamily="34" charset="0"/>
                            </a:rPr>
                            <m:t>𝑤</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1</m:t>
                          </m:r>
                        </m:num>
                        <m:den>
                          <m:r>
                            <a:rPr lang="en-US" b="0" i="1" smtClean="0">
                              <a:latin typeface="Cambria Math" panose="02040503050406030204" pitchFamily="18" charset="0"/>
                              <a:ea typeface="Cambria Math" panose="02040503050406030204" pitchFamily="18" charset="0"/>
                              <a:cs typeface="Arial" panose="020B0604020202020204" pitchFamily="34" charset="0"/>
                            </a:rPr>
                            <m:t>𝜌</m:t>
                          </m:r>
                        </m:den>
                      </m:f>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𝑝</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1</m:t>
                          </m:r>
                        </m:num>
                        <m:den>
                          <m:r>
                            <a:rPr lang="en-US" b="0" i="1" smtClean="0">
                              <a:latin typeface="Cambria Math" panose="02040503050406030204" pitchFamily="18" charset="0"/>
                              <a:ea typeface="Cambria Math" panose="02040503050406030204" pitchFamily="18" charset="0"/>
                              <a:cs typeface="Arial" panose="020B0604020202020204" pitchFamily="34" charset="0"/>
                            </a:rPr>
                            <m:t>𝜌</m:t>
                          </m:r>
                        </m:den>
                      </m:f>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r>
                            <a:rPr lang="en-US" i="1" smtClean="0">
                              <a:latin typeface="Cambria Math" panose="02040503050406030204" pitchFamily="18" charset="0"/>
                              <a:ea typeface="Cambria Math" panose="02040503050406030204" pitchFamily="18" charset="0"/>
                              <a:cs typeface="Arial" panose="020B0604020202020204" pitchFamily="34" charset="0"/>
                            </a:rPr>
                            <m:t>𝜏</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𝑧</m:t>
                          </m:r>
                        </m:den>
                      </m:f>
                      <m:r>
                        <a:rPr lang="en-US" i="1">
                          <a:latin typeface="Cambria Math" panose="02040503050406030204" pitchFamily="18" charset="0"/>
                          <a:cs typeface="Arial" panose="020B0604020202020204" pitchFamily="34" charset="0"/>
                        </a:rPr>
                        <m:t>+</m:t>
                      </m:r>
                      <m:r>
                        <a:rPr lang="en-US" i="1">
                          <a:latin typeface="Cambria Math" panose="02040503050406030204" pitchFamily="18" charset="0"/>
                          <a:cs typeface="Arial" panose="020B0604020202020204" pitchFamily="34" charset="0"/>
                        </a:rPr>
                        <m:t>𝑔𝑆</m:t>
                      </m:r>
                    </m:oMath>
                  </m:oMathPara>
                </a14:m>
                <a:endParaRPr lang="en-US" dirty="0">
                  <a:latin typeface="Arial" panose="020B0604020202020204" pitchFamily="34" charset="0"/>
                  <a:cs typeface="Arial" panose="020B0604020202020204" pitchFamily="34" charset="0"/>
                </a:endParaRPr>
              </a:p>
            </p:txBody>
          </p:sp>
        </mc:Choice>
        <mc:Fallback xmlns="">
          <p:sp>
            <p:nvSpPr>
              <p:cNvPr id="15" name="TextBox 14">
                <a:extLst>
                  <a:ext uri="{FF2B5EF4-FFF2-40B4-BE49-F238E27FC236}">
                    <a16:creationId xmlns:a16="http://schemas.microsoft.com/office/drawing/2014/main" id="{0C6627B0-91F4-D84C-AF4F-F14DD116089F}"/>
                  </a:ext>
                </a:extLst>
              </p:cNvPr>
              <p:cNvSpPr txBox="1">
                <a:spLocks noRot="1" noChangeAspect="1" noMove="1" noResize="1" noEditPoints="1" noAdjustHandles="1" noChangeArrowheads="1" noChangeShapeType="1" noTextEdit="1"/>
              </p:cNvSpPr>
              <p:nvPr/>
            </p:nvSpPr>
            <p:spPr>
              <a:xfrm>
                <a:off x="562498" y="2005340"/>
                <a:ext cx="4692951" cy="687561"/>
              </a:xfrm>
              <a:prstGeom prst="rect">
                <a:avLst/>
              </a:prstGeom>
              <a:blipFill>
                <a:blip r:embed="rId3"/>
                <a:stretch>
                  <a:fillRect b="-10714"/>
                </a:stretch>
              </a:blipFill>
            </p:spPr>
            <p:txBody>
              <a:bodyPr/>
              <a:lstStyle/>
              <a:p>
                <a:r>
                  <a:rPr lang="en-US">
                    <a:noFill/>
                  </a:rPr>
                  <a:t> </a:t>
                </a:r>
              </a:p>
            </p:txBody>
          </p:sp>
        </mc:Fallback>
      </mc:AlternateContent>
      <p:cxnSp>
        <p:nvCxnSpPr>
          <p:cNvPr id="7" name="Straight Connector 6">
            <a:extLst>
              <a:ext uri="{FF2B5EF4-FFF2-40B4-BE49-F238E27FC236}">
                <a16:creationId xmlns:a16="http://schemas.microsoft.com/office/drawing/2014/main" id="{4F02C775-DFB4-A347-B483-E7C061DB7BE1}"/>
              </a:ext>
            </a:extLst>
          </p:cNvPr>
          <p:cNvCxnSpPr/>
          <p:nvPr/>
        </p:nvCxnSpPr>
        <p:spPr>
          <a:xfrm flipH="1">
            <a:off x="562498" y="2117035"/>
            <a:ext cx="391659" cy="5758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61E5BA1-0AF3-A247-85B2-A13D03FC4858}"/>
              </a:ext>
            </a:extLst>
          </p:cNvPr>
          <p:cNvCxnSpPr/>
          <p:nvPr/>
        </p:nvCxnSpPr>
        <p:spPr>
          <a:xfrm flipH="1">
            <a:off x="1182037" y="2117035"/>
            <a:ext cx="391659" cy="5758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5986874-CFD7-6442-88C5-5310C69E2CA2}"/>
              </a:ext>
            </a:extLst>
          </p:cNvPr>
          <p:cNvCxnSpPr/>
          <p:nvPr/>
        </p:nvCxnSpPr>
        <p:spPr>
          <a:xfrm flipH="1">
            <a:off x="1887716" y="2117035"/>
            <a:ext cx="391659" cy="5758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70CD912-6DD3-EB46-889C-56B93DAEC83A}"/>
              </a:ext>
            </a:extLst>
          </p:cNvPr>
          <p:cNvCxnSpPr/>
          <p:nvPr/>
        </p:nvCxnSpPr>
        <p:spPr>
          <a:xfrm flipH="1">
            <a:off x="2528191" y="2117035"/>
            <a:ext cx="391659" cy="5758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5FA54F2-A0AC-4244-858D-71B4D89D113D}"/>
              </a:ext>
            </a:extLst>
          </p:cNvPr>
          <p:cNvCxnSpPr/>
          <p:nvPr/>
        </p:nvCxnSpPr>
        <p:spPr>
          <a:xfrm flipH="1">
            <a:off x="3509043" y="2117035"/>
            <a:ext cx="391659" cy="5758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85A956E7-AE74-284A-ABD5-DAC78FE4DAD8}"/>
                  </a:ext>
                </a:extLst>
              </p:cNvPr>
              <p:cNvSpPr/>
              <p:nvPr/>
            </p:nvSpPr>
            <p:spPr>
              <a:xfrm>
                <a:off x="548608" y="2839602"/>
                <a:ext cx="1353704" cy="6190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𝜕𝜏</m:t>
                          </m:r>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cs typeface="Arial" panose="020B0604020202020204" pitchFamily="34" charset="0"/>
                        </a:rPr>
                        <m:t>𝑔𝑆</m:t>
                      </m:r>
                    </m:oMath>
                  </m:oMathPara>
                </a14:m>
                <a:endParaRPr lang="en-US" dirty="0"/>
              </a:p>
            </p:txBody>
          </p:sp>
        </mc:Choice>
        <mc:Fallback xmlns="">
          <p:sp>
            <p:nvSpPr>
              <p:cNvPr id="8" name="Rectangle 7">
                <a:extLst>
                  <a:ext uri="{FF2B5EF4-FFF2-40B4-BE49-F238E27FC236}">
                    <a16:creationId xmlns:a16="http://schemas.microsoft.com/office/drawing/2014/main" id="{85A956E7-AE74-284A-ABD5-DAC78FE4DAD8}"/>
                  </a:ext>
                </a:extLst>
              </p:cNvPr>
              <p:cNvSpPr>
                <a:spLocks noRot="1" noChangeAspect="1" noMove="1" noResize="1" noEditPoints="1" noAdjustHandles="1" noChangeArrowheads="1" noChangeShapeType="1" noTextEdit="1"/>
              </p:cNvSpPr>
              <p:nvPr/>
            </p:nvSpPr>
            <p:spPr>
              <a:xfrm>
                <a:off x="548608" y="2839602"/>
                <a:ext cx="1353704" cy="619016"/>
              </a:xfrm>
              <a:prstGeom prst="rect">
                <a:avLst/>
              </a:prstGeom>
              <a:blipFill>
                <a:blip r:embed="rId4"/>
                <a:stretch>
                  <a:fillRect b="-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6110ACE6-6DA4-0548-B70E-4238A1E4BBB4}"/>
                  </a:ext>
                </a:extLst>
              </p:cNvPr>
              <p:cNvSpPr/>
              <p:nvPr/>
            </p:nvSpPr>
            <p:spPr>
              <a:xfrm>
                <a:off x="562498" y="3560986"/>
                <a:ext cx="172528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𝜏</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cs typeface="Arial" panose="020B0604020202020204" pitchFamily="34" charset="0"/>
                        </a:rPr>
                        <m:t>𝑔𝑆</m:t>
                      </m:r>
                      <m:r>
                        <m:rPr>
                          <m:sty m:val="p"/>
                        </m:rPr>
                        <a:rPr lang="en-US" b="0" i="0" smtClean="0">
                          <a:latin typeface="Cambria Math" panose="02040503050406030204" pitchFamily="18" charset="0"/>
                          <a:cs typeface="Arial" panose="020B0604020202020204" pitchFamily="34" charset="0"/>
                        </a:rPr>
                        <m:t>z</m:t>
                      </m:r>
                      <m:r>
                        <a:rPr lang="en-US" b="0" i="0" smtClean="0">
                          <a:latin typeface="Cambria Math" panose="02040503050406030204" pitchFamily="18" charset="0"/>
                          <a:cs typeface="Arial" panose="020B0604020202020204" pitchFamily="34" charset="0"/>
                        </a:rPr>
                        <m:t>+</m:t>
                      </m:r>
                      <m:r>
                        <m:rPr>
                          <m:sty m:val="p"/>
                        </m:rPr>
                        <a:rPr lang="en-US" b="0" i="0" smtClean="0">
                          <a:latin typeface="Cambria Math" panose="02040503050406030204" pitchFamily="18" charset="0"/>
                          <a:cs typeface="Arial" panose="020B0604020202020204" pitchFamily="34" charset="0"/>
                        </a:rPr>
                        <m:t>C</m:t>
                      </m:r>
                    </m:oMath>
                  </m:oMathPara>
                </a14:m>
                <a:endParaRPr lang="en-US" dirty="0"/>
              </a:p>
            </p:txBody>
          </p:sp>
        </mc:Choice>
        <mc:Fallback xmlns="">
          <p:sp>
            <p:nvSpPr>
              <p:cNvPr id="21" name="Rectangle 20">
                <a:extLst>
                  <a:ext uri="{FF2B5EF4-FFF2-40B4-BE49-F238E27FC236}">
                    <a16:creationId xmlns:a16="http://schemas.microsoft.com/office/drawing/2014/main" id="{6110ACE6-6DA4-0548-B70E-4238A1E4BBB4}"/>
                  </a:ext>
                </a:extLst>
              </p:cNvPr>
              <p:cNvSpPr>
                <a:spLocks noRot="1" noChangeAspect="1" noMove="1" noResize="1" noEditPoints="1" noAdjustHandles="1" noChangeArrowheads="1" noChangeShapeType="1" noTextEdit="1"/>
              </p:cNvSpPr>
              <p:nvPr/>
            </p:nvSpPr>
            <p:spPr>
              <a:xfrm>
                <a:off x="562498" y="3560986"/>
                <a:ext cx="1725280" cy="369332"/>
              </a:xfrm>
              <a:prstGeom prst="rect">
                <a:avLst/>
              </a:prstGeom>
              <a:blipFill>
                <a:blip r:embed="rId5"/>
                <a:stretch>
                  <a:fillRect b="-13333"/>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B2256254-6F8F-1B46-A1A9-17D88A0A3663}"/>
              </a:ext>
            </a:extLst>
          </p:cNvPr>
          <p:cNvSpPr txBox="1"/>
          <p:nvPr/>
        </p:nvSpPr>
        <p:spPr>
          <a:xfrm>
            <a:off x="2919850" y="3560986"/>
            <a:ext cx="3249608" cy="381708"/>
          </a:xfrm>
          <a:prstGeom prst="rect">
            <a:avLst/>
          </a:prstGeom>
          <a:noFill/>
        </p:spPr>
        <p:txBody>
          <a:bodyPr wrap="none" rtlCol="0">
            <a:spAutoFit/>
          </a:bodyPr>
          <a:lstStyle/>
          <a:p>
            <a:pPr algn="l">
              <a:lnSpc>
                <a:spcPct val="114000"/>
              </a:lnSpc>
            </a:pPr>
            <a:r>
              <a:rPr lang="en-US" dirty="0">
                <a:latin typeface="Arial" panose="020B0604020202020204" pitchFamily="34" charset="0"/>
                <a:cs typeface="Arial" panose="020B0604020202020204" pitchFamily="34" charset="0"/>
              </a:rPr>
              <a:t>linear shear stress distribution</a:t>
            </a:r>
          </a:p>
        </p:txBody>
      </p:sp>
      <p:sp>
        <p:nvSpPr>
          <p:cNvPr id="25" name="TextBox 24">
            <a:extLst>
              <a:ext uri="{FF2B5EF4-FFF2-40B4-BE49-F238E27FC236}">
                <a16:creationId xmlns:a16="http://schemas.microsoft.com/office/drawing/2014/main" id="{B8B431E7-FD67-134D-9B8D-8203EA1CB6E3}"/>
              </a:ext>
            </a:extLst>
          </p:cNvPr>
          <p:cNvSpPr txBox="1"/>
          <p:nvPr/>
        </p:nvSpPr>
        <p:spPr>
          <a:xfrm>
            <a:off x="548608" y="4086154"/>
            <a:ext cx="8424101" cy="381708"/>
          </a:xfrm>
          <a:prstGeom prst="rect">
            <a:avLst/>
          </a:prstGeom>
          <a:noFill/>
        </p:spPr>
        <p:txBody>
          <a:bodyPr wrap="none" rtlCol="0">
            <a:spAutoFit/>
          </a:bodyPr>
          <a:lstStyle/>
          <a:p>
            <a:pPr algn="l">
              <a:lnSpc>
                <a:spcPct val="114000"/>
              </a:lnSpc>
            </a:pPr>
            <a:r>
              <a:rPr lang="en-US" dirty="0">
                <a:latin typeface="Arial" panose="020B0604020202020204" pitchFamily="34" charset="0"/>
                <a:cs typeface="Arial" panose="020B0604020202020204" pitchFamily="34" charset="0"/>
              </a:rPr>
              <a:t>The constant C is determined by imposing no stress at the water surface (z = H)</a:t>
            </a:r>
          </a:p>
        </p:txBody>
      </p:sp>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662B1187-D690-CC4E-BD78-25EC10D110E3}"/>
                  </a:ext>
                </a:extLst>
              </p:cNvPr>
              <p:cNvSpPr/>
              <p:nvPr/>
            </p:nvSpPr>
            <p:spPr>
              <a:xfrm>
                <a:off x="554095" y="4619572"/>
                <a:ext cx="176093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cs typeface="Arial" panose="020B0604020202020204" pitchFamily="34" charset="0"/>
                        </a:rPr>
                        <m:t>𝑔𝑆</m:t>
                      </m:r>
                      <m:r>
                        <m:rPr>
                          <m:sty m:val="p"/>
                        </m:rPr>
                        <a:rPr lang="en-US" b="0" i="0" smtClean="0">
                          <a:latin typeface="Cambria Math" panose="02040503050406030204" pitchFamily="18" charset="0"/>
                          <a:cs typeface="Arial" panose="020B0604020202020204" pitchFamily="34" charset="0"/>
                        </a:rPr>
                        <m:t>z</m:t>
                      </m:r>
                      <m:r>
                        <a:rPr lang="en-US" b="0" i="0"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𝐶</m:t>
                      </m:r>
                      <m:r>
                        <a:rPr lang="en-US" b="0" i="0" smtClean="0">
                          <a:latin typeface="Cambria Math" panose="02040503050406030204" pitchFamily="18" charset="0"/>
                          <a:cs typeface="Arial" panose="020B0604020202020204" pitchFamily="34" charset="0"/>
                        </a:rPr>
                        <m:t>=0</m:t>
                      </m:r>
                    </m:oMath>
                  </m:oMathPara>
                </a14:m>
                <a:endParaRPr lang="en-US" dirty="0"/>
              </a:p>
            </p:txBody>
          </p:sp>
        </mc:Choice>
        <mc:Fallback xmlns="">
          <p:sp>
            <p:nvSpPr>
              <p:cNvPr id="26" name="Rectangle 25">
                <a:extLst>
                  <a:ext uri="{FF2B5EF4-FFF2-40B4-BE49-F238E27FC236}">
                    <a16:creationId xmlns:a16="http://schemas.microsoft.com/office/drawing/2014/main" id="{662B1187-D690-CC4E-BD78-25EC10D110E3}"/>
                  </a:ext>
                </a:extLst>
              </p:cNvPr>
              <p:cNvSpPr>
                <a:spLocks noRot="1" noChangeAspect="1" noMove="1" noResize="1" noEditPoints="1" noAdjustHandles="1" noChangeArrowheads="1" noChangeShapeType="1" noTextEdit="1"/>
              </p:cNvSpPr>
              <p:nvPr/>
            </p:nvSpPr>
            <p:spPr>
              <a:xfrm>
                <a:off x="554095" y="4619572"/>
                <a:ext cx="1760931" cy="369332"/>
              </a:xfrm>
              <a:prstGeom prst="rect">
                <a:avLst/>
              </a:prstGeom>
              <a:blipFill>
                <a:blip r:embed="rId6"/>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F7AB6AAB-4EC4-AB49-A406-6B28CE42A278}"/>
                  </a:ext>
                </a:extLst>
              </p:cNvPr>
              <p:cNvSpPr/>
              <p:nvPr/>
            </p:nvSpPr>
            <p:spPr>
              <a:xfrm>
                <a:off x="3340364" y="4608300"/>
                <a:ext cx="179241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𝐶</m:t>
                      </m:r>
                      <m:r>
                        <a:rPr lang="en-US" b="0" i="0" smtClean="0">
                          <a:latin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cs typeface="Arial" panose="020B0604020202020204" pitchFamily="34" charset="0"/>
                        </a:rPr>
                        <m:t>𝑔𝑆𝐻</m:t>
                      </m:r>
                      <m:r>
                        <a:rPr lang="en-US" b="0" i="0"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𝑏</m:t>
                          </m:r>
                        </m:sub>
                      </m:sSub>
                    </m:oMath>
                  </m:oMathPara>
                </a14:m>
                <a:endParaRPr lang="en-US" dirty="0"/>
              </a:p>
            </p:txBody>
          </p:sp>
        </mc:Choice>
        <mc:Fallback xmlns="">
          <p:sp>
            <p:nvSpPr>
              <p:cNvPr id="27" name="Rectangle 26">
                <a:extLst>
                  <a:ext uri="{FF2B5EF4-FFF2-40B4-BE49-F238E27FC236}">
                    <a16:creationId xmlns:a16="http://schemas.microsoft.com/office/drawing/2014/main" id="{F7AB6AAB-4EC4-AB49-A406-6B28CE42A278}"/>
                  </a:ext>
                </a:extLst>
              </p:cNvPr>
              <p:cNvSpPr>
                <a:spLocks noRot="1" noChangeAspect="1" noMove="1" noResize="1" noEditPoints="1" noAdjustHandles="1" noChangeArrowheads="1" noChangeShapeType="1" noTextEdit="1"/>
              </p:cNvSpPr>
              <p:nvPr/>
            </p:nvSpPr>
            <p:spPr>
              <a:xfrm>
                <a:off x="3340364" y="4608300"/>
                <a:ext cx="1792414" cy="369332"/>
              </a:xfrm>
              <a:prstGeom prst="rect">
                <a:avLst/>
              </a:prstGeom>
              <a:blipFill>
                <a:blip r:embed="rId7"/>
                <a:stretch>
                  <a:fillRect b="-9677"/>
                </a:stretch>
              </a:blipFill>
            </p:spPr>
            <p:txBody>
              <a:bodyPr/>
              <a:lstStyle/>
              <a:p>
                <a:r>
                  <a:rPr lang="en-US">
                    <a:noFill/>
                  </a:rPr>
                  <a:t> </a:t>
                </a:r>
              </a:p>
            </p:txBody>
          </p:sp>
        </mc:Fallback>
      </mc:AlternateContent>
      <p:sp>
        <p:nvSpPr>
          <p:cNvPr id="28" name="TextBox 27">
            <a:extLst>
              <a:ext uri="{FF2B5EF4-FFF2-40B4-BE49-F238E27FC236}">
                <a16:creationId xmlns:a16="http://schemas.microsoft.com/office/drawing/2014/main" id="{429F2761-1C3A-DF4E-8BE1-161B316CD6AF}"/>
              </a:ext>
            </a:extLst>
          </p:cNvPr>
          <p:cNvSpPr txBox="1"/>
          <p:nvPr/>
        </p:nvSpPr>
        <p:spPr>
          <a:xfrm>
            <a:off x="548607" y="5140614"/>
            <a:ext cx="3942105" cy="381708"/>
          </a:xfrm>
          <a:prstGeom prst="rect">
            <a:avLst/>
          </a:prstGeom>
          <a:noFill/>
        </p:spPr>
        <p:txBody>
          <a:bodyPr wrap="none" rtlCol="0">
            <a:spAutoFit/>
          </a:bodyPr>
          <a:lstStyle/>
          <a:p>
            <a:pPr algn="l">
              <a:lnSpc>
                <a:spcPct val="114000"/>
              </a:lnSpc>
            </a:pPr>
            <a:r>
              <a:rPr lang="en-US" dirty="0">
                <a:latin typeface="Arial" panose="020B0604020202020204" pitchFamily="34" charset="0"/>
                <a:cs typeface="Arial" panose="020B0604020202020204" pitchFamily="34" charset="0"/>
              </a:rPr>
              <a:t>The linear shear stress distribution is</a:t>
            </a:r>
          </a:p>
        </p:txBody>
      </p:sp>
      <mc:AlternateContent xmlns:mc="http://schemas.openxmlformats.org/markup-compatibility/2006" xmlns:a14="http://schemas.microsoft.com/office/drawing/2010/main">
        <mc:Choice Requires="a14">
          <p:sp>
            <p:nvSpPr>
              <p:cNvPr id="29" name="Rectangle 28">
                <a:extLst>
                  <a:ext uri="{FF2B5EF4-FFF2-40B4-BE49-F238E27FC236}">
                    <a16:creationId xmlns:a16="http://schemas.microsoft.com/office/drawing/2014/main" id="{33E4F23B-0F39-D14E-ABCB-224919628D5E}"/>
                  </a:ext>
                </a:extLst>
              </p:cNvPr>
              <p:cNvSpPr/>
              <p:nvPr/>
            </p:nvSpPr>
            <p:spPr>
              <a:xfrm>
                <a:off x="594630" y="5725795"/>
                <a:ext cx="180543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𝜏</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cs typeface="Arial" panose="020B0604020202020204" pitchFamily="34" charset="0"/>
                        </a:rPr>
                        <m:t>𝑔𝑆</m:t>
                      </m:r>
                      <m:d>
                        <m:dPr>
                          <m:ctrlPr>
                            <a:rPr lang="en-US"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𝐻</m:t>
                          </m:r>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𝑧</m:t>
                          </m:r>
                        </m:e>
                      </m:d>
                    </m:oMath>
                  </m:oMathPara>
                </a14:m>
                <a:endParaRPr lang="en-US" dirty="0"/>
              </a:p>
            </p:txBody>
          </p:sp>
        </mc:Choice>
        <mc:Fallback xmlns="">
          <p:sp>
            <p:nvSpPr>
              <p:cNvPr id="29" name="Rectangle 28">
                <a:extLst>
                  <a:ext uri="{FF2B5EF4-FFF2-40B4-BE49-F238E27FC236}">
                    <a16:creationId xmlns:a16="http://schemas.microsoft.com/office/drawing/2014/main" id="{33E4F23B-0F39-D14E-ABCB-224919628D5E}"/>
                  </a:ext>
                </a:extLst>
              </p:cNvPr>
              <p:cNvSpPr>
                <a:spLocks noRot="1" noChangeAspect="1" noMove="1" noResize="1" noEditPoints="1" noAdjustHandles="1" noChangeArrowheads="1" noChangeShapeType="1" noTextEdit="1"/>
              </p:cNvSpPr>
              <p:nvPr/>
            </p:nvSpPr>
            <p:spPr>
              <a:xfrm>
                <a:off x="594630" y="5725795"/>
                <a:ext cx="1805430" cy="369332"/>
              </a:xfrm>
              <a:prstGeom prst="rect">
                <a:avLst/>
              </a:prstGeom>
              <a:blipFill>
                <a:blip r:embed="rId8"/>
                <a:stretch>
                  <a:fillRect b="-9677"/>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B6631098-96ED-3149-B784-841202350D8B}"/>
              </a:ext>
            </a:extLst>
          </p:cNvPr>
          <p:cNvSpPr txBox="1"/>
          <p:nvPr/>
        </p:nvSpPr>
        <p:spPr>
          <a:xfrm>
            <a:off x="3340364" y="5685304"/>
            <a:ext cx="389850" cy="381708"/>
          </a:xfrm>
          <a:prstGeom prst="rect">
            <a:avLst/>
          </a:prstGeom>
          <a:noFill/>
        </p:spPr>
        <p:txBody>
          <a:bodyPr wrap="none" rtlCol="0">
            <a:spAutoFit/>
          </a:bodyPr>
          <a:lstStyle/>
          <a:p>
            <a:pPr algn="l">
              <a:lnSpc>
                <a:spcPct val="114000"/>
              </a:lnSpc>
            </a:pPr>
            <a:r>
              <a:rPr lang="en-US" dirty="0">
                <a:latin typeface="Arial" panose="020B0604020202020204" pitchFamily="34" charset="0"/>
                <a:cs typeface="Arial" panose="020B0604020202020204" pitchFamily="34" charset="0"/>
              </a:rPr>
              <a:t>or</a:t>
            </a:r>
          </a:p>
        </p:txBody>
      </p:sp>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459E57A8-936C-644C-9E48-887F23D62205}"/>
                  </a:ext>
                </a:extLst>
              </p:cNvPr>
              <p:cNvSpPr/>
              <p:nvPr/>
            </p:nvSpPr>
            <p:spPr>
              <a:xfrm>
                <a:off x="4380017" y="5624690"/>
                <a:ext cx="1750864" cy="5629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𝜏</m:t>
                      </m:r>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sub>
                      </m:sSub>
                      <m:d>
                        <m:dPr>
                          <m:ctrlPr>
                            <a:rPr lang="en-US"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1−</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𝑧</m:t>
                              </m:r>
                            </m:num>
                            <m:den>
                              <m:r>
                                <a:rPr lang="en-US" b="0" i="1" smtClean="0">
                                  <a:latin typeface="Cambria Math" panose="02040503050406030204" pitchFamily="18" charset="0"/>
                                  <a:cs typeface="Arial" panose="020B0604020202020204" pitchFamily="34" charset="0"/>
                                </a:rPr>
                                <m:t>𝐻</m:t>
                              </m:r>
                            </m:den>
                          </m:f>
                        </m:e>
                      </m:d>
                    </m:oMath>
                  </m:oMathPara>
                </a14:m>
                <a:endParaRPr lang="en-US" dirty="0"/>
              </a:p>
            </p:txBody>
          </p:sp>
        </mc:Choice>
        <mc:Fallback xmlns="">
          <p:sp>
            <p:nvSpPr>
              <p:cNvPr id="30" name="Rectangle 29">
                <a:extLst>
                  <a:ext uri="{FF2B5EF4-FFF2-40B4-BE49-F238E27FC236}">
                    <a16:creationId xmlns:a16="http://schemas.microsoft.com/office/drawing/2014/main" id="{459E57A8-936C-644C-9E48-887F23D62205}"/>
                  </a:ext>
                </a:extLst>
              </p:cNvPr>
              <p:cNvSpPr>
                <a:spLocks noRot="1" noChangeAspect="1" noMove="1" noResize="1" noEditPoints="1" noAdjustHandles="1" noChangeArrowheads="1" noChangeShapeType="1" noTextEdit="1"/>
              </p:cNvSpPr>
              <p:nvPr/>
            </p:nvSpPr>
            <p:spPr>
              <a:xfrm>
                <a:off x="4380017" y="5624690"/>
                <a:ext cx="1750864" cy="562975"/>
              </a:xfrm>
              <a:prstGeom prst="rect">
                <a:avLst/>
              </a:prstGeom>
              <a:blipFill>
                <a:blip r:embed="rId9"/>
                <a:stretch>
                  <a:fillRect b="-4444"/>
                </a:stretch>
              </a:blipFill>
            </p:spPr>
            <p:txBody>
              <a:bodyPr/>
              <a:lstStyle/>
              <a:p>
                <a:r>
                  <a:rPr lang="en-US">
                    <a:noFill/>
                  </a:rPr>
                  <a:t> </a:t>
                </a:r>
              </a:p>
            </p:txBody>
          </p:sp>
        </mc:Fallback>
      </mc:AlternateContent>
    </p:spTree>
    <p:extLst>
      <p:ext uri="{BB962C8B-B14F-4D97-AF65-F5344CB8AC3E}">
        <p14:creationId xmlns:p14="http://schemas.microsoft.com/office/powerpoint/2010/main" val="7835743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44</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Reynolds flux of streamwise momentum</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93BFC86-46AE-6C49-B622-DBBBCF969899}"/>
                  </a:ext>
                </a:extLst>
              </p:cNvPr>
              <p:cNvSpPr txBox="1"/>
              <p:nvPr/>
            </p:nvSpPr>
            <p:spPr>
              <a:xfrm>
                <a:off x="383626" y="911498"/>
                <a:ext cx="11283655" cy="1014893"/>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The quantity </a:t>
                </a:r>
                <a14:m>
                  <m:oMath xmlns:m="http://schemas.openxmlformats.org/officeDocument/2006/math">
                    <m:r>
                      <a:rPr lang="en-US" b="0" i="0"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𝑢</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oMath>
                </a14:m>
                <a:r>
                  <a:rPr lang="en-US" dirty="0">
                    <a:latin typeface="Arial" panose="020B0604020202020204" pitchFamily="34" charset="0"/>
                    <a:cs typeface="Arial" panose="020B0604020202020204" pitchFamily="34" charset="0"/>
                  </a:rPr>
                  <a:t> denotes the Reynolds stress </a:t>
                </a:r>
                <a14:m>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𝑅𝑧𝑥</m:t>
                        </m:r>
                      </m:sub>
                    </m:sSub>
                  </m:oMath>
                </a14:m>
                <a:r>
                  <a:rPr lang="en-US" dirty="0">
                    <a:latin typeface="Arial" panose="020B0604020202020204" pitchFamily="34" charset="0"/>
                    <a:cs typeface="Arial" panose="020B0604020202020204" pitchFamily="34" charset="0"/>
                  </a:rPr>
                  <a:t> generated by turbulence, or equivalently the Reynolds flux of streamwise momentum (x) in the upward (z) direction. It characterizes the tendency of turbulence to transport streamwise momentum from areas of high concentrations to areas of low concentration. </a:t>
                </a:r>
              </a:p>
            </p:txBody>
          </p:sp>
        </mc:Choice>
        <mc:Fallback xmlns="">
          <p:sp>
            <p:nvSpPr>
              <p:cNvPr id="16" name="TextBox 15">
                <a:extLst>
                  <a:ext uri="{FF2B5EF4-FFF2-40B4-BE49-F238E27FC236}">
                    <a16:creationId xmlns:a16="http://schemas.microsoft.com/office/drawing/2014/main" id="{E93BFC86-46AE-6C49-B622-DBBBCF969899}"/>
                  </a:ext>
                </a:extLst>
              </p:cNvPr>
              <p:cNvSpPr txBox="1">
                <a:spLocks noRot="1" noChangeAspect="1" noMove="1" noResize="1" noEditPoints="1" noAdjustHandles="1" noChangeArrowheads="1" noChangeShapeType="1" noTextEdit="1"/>
              </p:cNvSpPr>
              <p:nvPr/>
            </p:nvSpPr>
            <p:spPr>
              <a:xfrm>
                <a:off x="383626" y="911498"/>
                <a:ext cx="11283655" cy="1014893"/>
              </a:xfrm>
              <a:prstGeom prst="rect">
                <a:avLst/>
              </a:prstGeom>
              <a:blipFill>
                <a:blip r:embed="rId3"/>
                <a:stretch>
                  <a:fillRect l="-450" t="-2500" r="-450" b="-8750"/>
                </a:stretch>
              </a:blipFill>
            </p:spPr>
            <p:txBody>
              <a:bodyPr/>
              <a:lstStyle/>
              <a:p>
                <a:r>
                  <a:rPr lang="en-US">
                    <a:noFill/>
                  </a:rPr>
                  <a:t> </a:t>
                </a:r>
              </a:p>
            </p:txBody>
          </p:sp>
        </mc:Fallback>
      </mc:AlternateContent>
    </p:spTree>
    <p:extLst>
      <p:ext uri="{BB962C8B-B14F-4D97-AF65-F5344CB8AC3E}">
        <p14:creationId xmlns:p14="http://schemas.microsoft.com/office/powerpoint/2010/main" val="40445272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45</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Reynolds flux of streamwise momentum</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93BFC86-46AE-6C49-B622-DBBBCF969899}"/>
                  </a:ext>
                </a:extLst>
              </p:cNvPr>
              <p:cNvSpPr txBox="1"/>
              <p:nvPr/>
            </p:nvSpPr>
            <p:spPr>
              <a:xfrm>
                <a:off x="383626" y="911498"/>
                <a:ext cx="11306803" cy="1014893"/>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The quantity </a:t>
                </a:r>
                <a14:m>
                  <m:oMath xmlns:m="http://schemas.openxmlformats.org/officeDocument/2006/math">
                    <m:r>
                      <a:rPr lang="en-US" b="0" i="0"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𝑢</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oMath>
                </a14:m>
                <a:r>
                  <a:rPr lang="en-US" dirty="0">
                    <a:latin typeface="Arial" panose="020B0604020202020204" pitchFamily="34" charset="0"/>
                    <a:cs typeface="Arial" panose="020B0604020202020204" pitchFamily="34" charset="0"/>
                  </a:rPr>
                  <a:t> denotes the Reynolds stress </a:t>
                </a:r>
                <a14:m>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𝑅𝑧𝑥</m:t>
                        </m:r>
                      </m:sub>
                    </m:sSub>
                  </m:oMath>
                </a14:m>
                <a:r>
                  <a:rPr lang="en-US" dirty="0">
                    <a:latin typeface="Arial" panose="020B0604020202020204" pitchFamily="34" charset="0"/>
                    <a:cs typeface="Arial" panose="020B0604020202020204" pitchFamily="34" charset="0"/>
                  </a:rPr>
                  <a:t> generated by turbulence, or equivalently the Reynolds flux of streamwise momentum (x) in the upward (z) direction. It characterizes the tendency of turbulence to transport streamwise momentum from areas of high concentration to areas of low concentration. </a:t>
                </a:r>
              </a:p>
            </p:txBody>
          </p:sp>
        </mc:Choice>
        <mc:Fallback xmlns="">
          <p:sp>
            <p:nvSpPr>
              <p:cNvPr id="16" name="TextBox 15">
                <a:extLst>
                  <a:ext uri="{FF2B5EF4-FFF2-40B4-BE49-F238E27FC236}">
                    <a16:creationId xmlns:a16="http://schemas.microsoft.com/office/drawing/2014/main" id="{E93BFC86-46AE-6C49-B622-DBBBCF969899}"/>
                  </a:ext>
                </a:extLst>
              </p:cNvPr>
              <p:cNvSpPr txBox="1">
                <a:spLocks noRot="1" noChangeAspect="1" noMove="1" noResize="1" noEditPoints="1" noAdjustHandles="1" noChangeArrowheads="1" noChangeShapeType="1" noTextEdit="1"/>
              </p:cNvSpPr>
              <p:nvPr/>
            </p:nvSpPr>
            <p:spPr>
              <a:xfrm>
                <a:off x="383626" y="911498"/>
                <a:ext cx="11306803" cy="1014893"/>
              </a:xfrm>
              <a:prstGeom prst="rect">
                <a:avLst/>
              </a:prstGeom>
              <a:blipFill>
                <a:blip r:embed="rId3"/>
                <a:stretch>
                  <a:fillRect l="-449" t="-2500" r="-224" b="-8750"/>
                </a:stretch>
              </a:blipFill>
            </p:spPr>
            <p:txBody>
              <a:bodyPr/>
              <a:lstStyle/>
              <a:p>
                <a:r>
                  <a:rPr lang="en-US">
                    <a:noFill/>
                  </a:rPr>
                  <a:t> </a:t>
                </a:r>
              </a:p>
            </p:txBody>
          </p:sp>
        </mc:Fallback>
      </mc:AlternateContent>
      <p:sp>
        <p:nvSpPr>
          <p:cNvPr id="17" name="Rectangle 16">
            <a:extLst>
              <a:ext uri="{FF2B5EF4-FFF2-40B4-BE49-F238E27FC236}">
                <a16:creationId xmlns:a16="http://schemas.microsoft.com/office/drawing/2014/main" id="{ECAFBF10-1DC2-6B4A-AA12-0CF2694046EE}"/>
              </a:ext>
            </a:extLst>
          </p:cNvPr>
          <p:cNvSpPr/>
          <p:nvPr/>
        </p:nvSpPr>
        <p:spPr>
          <a:xfrm>
            <a:off x="2063956" y="2079463"/>
            <a:ext cx="8362122" cy="1770419"/>
          </a:xfrm>
          <a:prstGeom prst="rect">
            <a:avLst/>
          </a:prstGeom>
          <a:gradFill flip="none" rotWithShape="1">
            <a:gsLst>
              <a:gs pos="0">
                <a:schemeClr val="accent5">
                  <a:lumMod val="42000"/>
                  <a:lumOff val="58000"/>
                </a:schemeClr>
              </a:gs>
              <a:gs pos="100000">
                <a:schemeClr val="accent4">
                  <a:lumMod val="75000"/>
                </a:schemeClr>
              </a:gs>
            </a:gsLst>
            <a:lin ang="5400000" scaled="1"/>
            <a:tileRect/>
          </a:gra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1F2B3CA-1C20-694E-B276-5E2C754C33E9}"/>
              </a:ext>
            </a:extLst>
          </p:cNvPr>
          <p:cNvSpPr/>
          <p:nvPr/>
        </p:nvSpPr>
        <p:spPr>
          <a:xfrm>
            <a:off x="2063956" y="3309897"/>
            <a:ext cx="8362122" cy="540000"/>
          </a:xfrm>
          <a:prstGeom prst="rect">
            <a:avLst/>
          </a:prstGeom>
          <a:pattFill prst="pct25">
            <a:fgClr>
              <a:schemeClr val="accent4">
                <a:lumMod val="75000"/>
              </a:schemeClr>
            </a:fgClr>
            <a:bgClr>
              <a:schemeClr val="bg1"/>
            </a:bgClr>
          </a:patt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B8F9072B-FAED-E34D-A493-1550A6EF10EB}"/>
              </a:ext>
            </a:extLst>
          </p:cNvPr>
          <p:cNvSpPr/>
          <p:nvPr/>
        </p:nvSpPr>
        <p:spPr>
          <a:xfrm>
            <a:off x="963496" y="2725452"/>
            <a:ext cx="936994" cy="374754"/>
          </a:xfrm>
          <a:prstGeom prst="right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F0F5E43C-3EC3-444E-806E-821D7084C74D}"/>
              </a:ext>
            </a:extLst>
          </p:cNvPr>
          <p:cNvSpPr txBox="1"/>
          <p:nvPr/>
        </p:nvSpPr>
        <p:spPr>
          <a:xfrm>
            <a:off x="965940" y="2464965"/>
            <a:ext cx="936994"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flow</a:t>
            </a:r>
          </a:p>
        </p:txBody>
      </p:sp>
      <p:cxnSp>
        <p:nvCxnSpPr>
          <p:cNvPr id="26" name="Straight Arrow Connector 25">
            <a:extLst>
              <a:ext uri="{FF2B5EF4-FFF2-40B4-BE49-F238E27FC236}">
                <a16:creationId xmlns:a16="http://schemas.microsoft.com/office/drawing/2014/main" id="{F47901D6-43B5-294C-9981-55254364F5EE}"/>
              </a:ext>
            </a:extLst>
          </p:cNvPr>
          <p:cNvCxnSpPr/>
          <p:nvPr/>
        </p:nvCxnSpPr>
        <p:spPr>
          <a:xfrm flipV="1">
            <a:off x="3317007" y="2630762"/>
            <a:ext cx="0" cy="679135"/>
          </a:xfrm>
          <a:prstGeom prst="straightConnector1">
            <a:avLst/>
          </a:prstGeom>
          <a:ln w="190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0E4D3EA0-66F0-794D-8FE4-2DBD8F2E41DC}"/>
              </a:ext>
            </a:extLst>
          </p:cNvPr>
          <p:cNvSpPr txBox="1"/>
          <p:nvPr/>
        </p:nvSpPr>
        <p:spPr>
          <a:xfrm>
            <a:off x="3002469" y="2464965"/>
            <a:ext cx="46605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z</a:t>
            </a:r>
          </a:p>
        </p:txBody>
      </p:sp>
      <p:cxnSp>
        <p:nvCxnSpPr>
          <p:cNvPr id="28" name="Straight Connector 27">
            <a:extLst>
              <a:ext uri="{FF2B5EF4-FFF2-40B4-BE49-F238E27FC236}">
                <a16:creationId xmlns:a16="http://schemas.microsoft.com/office/drawing/2014/main" id="{31F383C2-98BF-DB4F-9B64-AB7F8E7427A9}"/>
              </a:ext>
            </a:extLst>
          </p:cNvPr>
          <p:cNvCxnSpPr/>
          <p:nvPr/>
        </p:nvCxnSpPr>
        <p:spPr>
          <a:xfrm>
            <a:off x="5475591" y="2079463"/>
            <a:ext cx="0" cy="12304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8483155-485F-2D41-BC7E-FC7ED7DE3B86}"/>
              </a:ext>
            </a:extLst>
          </p:cNvPr>
          <p:cNvCxnSpPr/>
          <p:nvPr/>
        </p:nvCxnSpPr>
        <p:spPr>
          <a:xfrm>
            <a:off x="7231939" y="2068010"/>
            <a:ext cx="0" cy="12304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Freeform 29">
            <a:extLst>
              <a:ext uri="{FF2B5EF4-FFF2-40B4-BE49-F238E27FC236}">
                <a16:creationId xmlns:a16="http://schemas.microsoft.com/office/drawing/2014/main" id="{FDA1D57E-8616-9149-843D-C1904ACF8159}"/>
              </a:ext>
            </a:extLst>
          </p:cNvPr>
          <p:cNvSpPr/>
          <p:nvPr/>
        </p:nvSpPr>
        <p:spPr>
          <a:xfrm>
            <a:off x="5769148" y="2103029"/>
            <a:ext cx="584617" cy="1184223"/>
          </a:xfrm>
          <a:custGeom>
            <a:avLst/>
            <a:gdLst>
              <a:gd name="connsiteX0" fmla="*/ 0 w 584617"/>
              <a:gd name="connsiteY0" fmla="*/ 0 h 1184223"/>
              <a:gd name="connsiteX1" fmla="*/ 44971 w 584617"/>
              <a:gd name="connsiteY1" fmla="*/ 329784 h 1184223"/>
              <a:gd name="connsiteX2" fmla="*/ 179882 w 584617"/>
              <a:gd name="connsiteY2" fmla="*/ 749508 h 1184223"/>
              <a:gd name="connsiteX3" fmla="*/ 389745 w 584617"/>
              <a:gd name="connsiteY3" fmla="*/ 1019331 h 1184223"/>
              <a:gd name="connsiteX4" fmla="*/ 524656 w 584617"/>
              <a:gd name="connsiteY4" fmla="*/ 1094282 h 1184223"/>
              <a:gd name="connsiteX5" fmla="*/ 584617 w 584617"/>
              <a:gd name="connsiteY5" fmla="*/ 1184223 h 1184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4617" h="1184223">
                <a:moveTo>
                  <a:pt x="0" y="0"/>
                </a:moveTo>
                <a:cubicBezTo>
                  <a:pt x="7495" y="102433"/>
                  <a:pt x="14991" y="204866"/>
                  <a:pt x="44971" y="329784"/>
                </a:cubicBezTo>
                <a:cubicBezTo>
                  <a:pt x="74951" y="454702"/>
                  <a:pt x="122420" y="634584"/>
                  <a:pt x="179882" y="749508"/>
                </a:cubicBezTo>
                <a:cubicBezTo>
                  <a:pt x="237344" y="864432"/>
                  <a:pt x="332283" y="961869"/>
                  <a:pt x="389745" y="1019331"/>
                </a:cubicBezTo>
                <a:cubicBezTo>
                  <a:pt x="447207" y="1076793"/>
                  <a:pt x="492177" y="1066800"/>
                  <a:pt x="524656" y="1094282"/>
                </a:cubicBezTo>
                <a:cubicBezTo>
                  <a:pt x="557135" y="1121764"/>
                  <a:pt x="570876" y="1152993"/>
                  <a:pt x="584617" y="1184223"/>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a:extLst>
              <a:ext uri="{FF2B5EF4-FFF2-40B4-BE49-F238E27FC236}">
                <a16:creationId xmlns:a16="http://schemas.microsoft.com/office/drawing/2014/main" id="{5C0DF430-FD64-8449-89AD-986886FBD0C0}"/>
              </a:ext>
            </a:extLst>
          </p:cNvPr>
          <p:cNvSpPr/>
          <p:nvPr/>
        </p:nvSpPr>
        <p:spPr>
          <a:xfrm>
            <a:off x="7244430" y="2061136"/>
            <a:ext cx="854439" cy="1214203"/>
          </a:xfrm>
          <a:custGeom>
            <a:avLst/>
            <a:gdLst>
              <a:gd name="connsiteX0" fmla="*/ 0 w 854439"/>
              <a:gd name="connsiteY0" fmla="*/ 1214203 h 1214203"/>
              <a:gd name="connsiteX1" fmla="*/ 539646 w 854439"/>
              <a:gd name="connsiteY1" fmla="*/ 1154242 h 1214203"/>
              <a:gd name="connsiteX2" fmla="*/ 704538 w 854439"/>
              <a:gd name="connsiteY2" fmla="*/ 974360 h 1214203"/>
              <a:gd name="connsiteX3" fmla="*/ 824459 w 854439"/>
              <a:gd name="connsiteY3" fmla="*/ 404734 h 1214203"/>
              <a:gd name="connsiteX4" fmla="*/ 854439 w 854439"/>
              <a:gd name="connsiteY4" fmla="*/ 0 h 12142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439" h="1214203">
                <a:moveTo>
                  <a:pt x="0" y="1214203"/>
                </a:moveTo>
                <a:cubicBezTo>
                  <a:pt x="211111" y="1204209"/>
                  <a:pt x="422223" y="1194216"/>
                  <a:pt x="539646" y="1154242"/>
                </a:cubicBezTo>
                <a:cubicBezTo>
                  <a:pt x="657069" y="1114268"/>
                  <a:pt x="657069" y="1099278"/>
                  <a:pt x="704538" y="974360"/>
                </a:cubicBezTo>
                <a:cubicBezTo>
                  <a:pt x="752007" y="849442"/>
                  <a:pt x="799476" y="567127"/>
                  <a:pt x="824459" y="404734"/>
                </a:cubicBezTo>
                <a:cubicBezTo>
                  <a:pt x="849443" y="242341"/>
                  <a:pt x="851941" y="121170"/>
                  <a:pt x="854439" y="0"/>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Arrow Connector 31">
            <a:extLst>
              <a:ext uri="{FF2B5EF4-FFF2-40B4-BE49-F238E27FC236}">
                <a16:creationId xmlns:a16="http://schemas.microsoft.com/office/drawing/2014/main" id="{7846BE5B-B97B-B244-8654-6CDD5746D03E}"/>
              </a:ext>
            </a:extLst>
          </p:cNvPr>
          <p:cNvCxnSpPr>
            <a:cxnSpLocks/>
          </p:cNvCxnSpPr>
          <p:nvPr/>
        </p:nvCxnSpPr>
        <p:spPr>
          <a:xfrm>
            <a:off x="5475591" y="2964672"/>
            <a:ext cx="585865"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9338797-7F8F-8141-BC03-D66907748AF3}"/>
              </a:ext>
            </a:extLst>
          </p:cNvPr>
          <p:cNvCxnSpPr>
            <a:cxnSpLocks/>
          </p:cNvCxnSpPr>
          <p:nvPr/>
        </p:nvCxnSpPr>
        <p:spPr>
          <a:xfrm>
            <a:off x="7244430" y="2838308"/>
            <a:ext cx="749508"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7C91644B-183D-5041-BD6F-B91339E019C1}"/>
                  </a:ext>
                </a:extLst>
              </p:cNvPr>
              <p:cNvSpPr txBox="1"/>
              <p:nvPr/>
            </p:nvSpPr>
            <p:spPr>
              <a:xfrm>
                <a:off x="5538489" y="2668237"/>
                <a:ext cx="177228"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oMath>
                  </m:oMathPara>
                </a14:m>
                <a:endParaRPr lang="en-US" dirty="0">
                  <a:latin typeface="Arial" panose="020B0604020202020204" pitchFamily="34" charset="0"/>
                  <a:cs typeface="Arial" panose="020B0604020202020204" pitchFamily="34" charset="0"/>
                </a:endParaRPr>
              </a:p>
            </p:txBody>
          </p:sp>
        </mc:Choice>
        <mc:Fallback xmlns="">
          <p:sp>
            <p:nvSpPr>
              <p:cNvPr id="34" name="TextBox 33">
                <a:extLst>
                  <a:ext uri="{FF2B5EF4-FFF2-40B4-BE49-F238E27FC236}">
                    <a16:creationId xmlns:a16="http://schemas.microsoft.com/office/drawing/2014/main" id="{7C91644B-183D-5041-BD6F-B91339E019C1}"/>
                  </a:ext>
                </a:extLst>
              </p:cNvPr>
              <p:cNvSpPr txBox="1">
                <a:spLocks noRot="1" noChangeAspect="1" noMove="1" noResize="1" noEditPoints="1" noAdjustHandles="1" noChangeArrowheads="1" noChangeShapeType="1" noTextEdit="1"/>
              </p:cNvSpPr>
              <p:nvPr/>
            </p:nvSpPr>
            <p:spPr>
              <a:xfrm>
                <a:off x="5538489" y="2668237"/>
                <a:ext cx="177228" cy="315792"/>
              </a:xfrm>
              <a:prstGeom prst="rect">
                <a:avLst/>
              </a:prstGeom>
              <a:blipFill>
                <a:blip r:embed="rId4"/>
                <a:stretch>
                  <a:fillRect l="-20000" r="-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97AE2F3-1D65-9048-BC0D-E736250F704D}"/>
                  </a:ext>
                </a:extLst>
              </p:cNvPr>
              <p:cNvSpPr txBox="1"/>
              <p:nvPr/>
            </p:nvSpPr>
            <p:spPr>
              <a:xfrm>
                <a:off x="7472064" y="2491811"/>
                <a:ext cx="203004"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𝑢</m:t>
                          </m:r>
                        </m:e>
                      </m:acc>
                    </m:oMath>
                  </m:oMathPara>
                </a14:m>
                <a:endParaRPr lang="en-US" dirty="0">
                  <a:latin typeface="Arial" panose="020B0604020202020204" pitchFamily="34" charset="0"/>
                  <a:cs typeface="Arial" panose="020B0604020202020204" pitchFamily="34" charset="0"/>
                </a:endParaRPr>
              </a:p>
            </p:txBody>
          </p:sp>
        </mc:Choice>
        <mc:Fallback xmlns="">
          <p:sp>
            <p:nvSpPr>
              <p:cNvPr id="35" name="TextBox 34">
                <a:extLst>
                  <a:ext uri="{FF2B5EF4-FFF2-40B4-BE49-F238E27FC236}">
                    <a16:creationId xmlns:a16="http://schemas.microsoft.com/office/drawing/2014/main" id="{597AE2F3-1D65-9048-BC0D-E736250F704D}"/>
                  </a:ext>
                </a:extLst>
              </p:cNvPr>
              <p:cNvSpPr txBox="1">
                <a:spLocks noRot="1" noChangeAspect="1" noMove="1" noResize="1" noEditPoints="1" noAdjustHandles="1" noChangeArrowheads="1" noChangeShapeType="1" noTextEdit="1"/>
              </p:cNvSpPr>
              <p:nvPr/>
            </p:nvSpPr>
            <p:spPr>
              <a:xfrm>
                <a:off x="7472064" y="2491811"/>
                <a:ext cx="203004" cy="315792"/>
              </a:xfrm>
              <a:prstGeom prst="rect">
                <a:avLst/>
              </a:prstGeom>
              <a:blipFill>
                <a:blip r:embed="rId5"/>
                <a:stretch>
                  <a:fillRect l="-11765" r="-5882"/>
                </a:stretch>
              </a:blipFill>
            </p:spPr>
            <p:txBody>
              <a:bodyPr/>
              <a:lstStyle/>
              <a:p>
                <a:r>
                  <a:rPr lang="en-US">
                    <a:noFill/>
                  </a:rPr>
                  <a:t> </a:t>
                </a:r>
              </a:p>
            </p:txBody>
          </p:sp>
        </mc:Fallback>
      </mc:AlternateContent>
      <p:cxnSp>
        <p:nvCxnSpPr>
          <p:cNvPr id="36" name="Straight Arrow Connector 35">
            <a:extLst>
              <a:ext uri="{FF2B5EF4-FFF2-40B4-BE49-F238E27FC236}">
                <a16:creationId xmlns:a16="http://schemas.microsoft.com/office/drawing/2014/main" id="{37276F2E-B504-C14B-9BA0-9B153DAB8943}"/>
              </a:ext>
            </a:extLst>
          </p:cNvPr>
          <p:cNvCxnSpPr/>
          <p:nvPr/>
        </p:nvCxnSpPr>
        <p:spPr>
          <a:xfrm>
            <a:off x="9193151" y="2079463"/>
            <a:ext cx="0" cy="1230434"/>
          </a:xfrm>
          <a:prstGeom prst="straightConnector1">
            <a:avLst/>
          </a:prstGeom>
          <a:ln w="19050">
            <a:solidFill>
              <a:schemeClr val="tx1"/>
            </a:solidFill>
            <a:headEnd type="arrow" w="lg" len="lg"/>
            <a:tailEnd type="arrow" w="lg" len="lg"/>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81ED501-140C-8346-9135-AEA297EBB31E}"/>
              </a:ext>
            </a:extLst>
          </p:cNvPr>
          <p:cNvSpPr txBox="1"/>
          <p:nvPr/>
        </p:nvSpPr>
        <p:spPr>
          <a:xfrm>
            <a:off x="8862011" y="2407531"/>
            <a:ext cx="46605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H</a:t>
            </a:r>
          </a:p>
        </p:txBody>
      </p:sp>
      <p:sp>
        <p:nvSpPr>
          <p:cNvPr id="2" name="TextBox 1">
            <a:extLst>
              <a:ext uri="{FF2B5EF4-FFF2-40B4-BE49-F238E27FC236}">
                <a16:creationId xmlns:a16="http://schemas.microsoft.com/office/drawing/2014/main" id="{4578764D-EA09-084E-AC2E-754A721232BA}"/>
              </a:ext>
            </a:extLst>
          </p:cNvPr>
          <p:cNvSpPr txBox="1"/>
          <p:nvPr/>
        </p:nvSpPr>
        <p:spPr>
          <a:xfrm>
            <a:off x="383626" y="4144617"/>
            <a:ext cx="11435937" cy="2276457"/>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This downward momentum must be fluxed toward the bed where the loss of momentum is manifested as a resistive force to achieve momentum balance. </a:t>
            </a:r>
          </a:p>
          <a:p>
            <a:pPr algn="l">
              <a:lnSpc>
                <a:spcPct val="114000"/>
              </a:lnSpc>
            </a:pPr>
            <a:r>
              <a:rPr lang="en-US" dirty="0">
                <a:latin typeface="Arial" panose="020B0604020202020204" pitchFamily="34" charset="0"/>
                <a:cs typeface="Arial" panose="020B0604020202020204" pitchFamily="34" charset="0"/>
              </a:rPr>
              <a:t>The downward flux of streamwise momentum is maintained by maintaining high velocity in the upper part of the flow and low velocity in the lower part of the flow. </a:t>
            </a:r>
          </a:p>
          <a:p>
            <a:pPr algn="l">
              <a:lnSpc>
                <a:spcPct val="114000"/>
              </a:lnSpc>
            </a:pPr>
            <a:endParaRPr lang="en-US" dirty="0">
              <a:latin typeface="Arial" panose="020B0604020202020204" pitchFamily="34" charset="0"/>
              <a:cs typeface="Arial" panose="020B0604020202020204" pitchFamily="34" charset="0"/>
            </a:endParaRPr>
          </a:p>
          <a:p>
            <a:pPr>
              <a:lnSpc>
                <a:spcPct val="114000"/>
              </a:lnSpc>
            </a:pPr>
            <a:r>
              <a:rPr lang="en-US" dirty="0">
                <a:latin typeface="Arial" panose="020B0604020202020204" pitchFamily="34" charset="0"/>
                <a:cs typeface="Arial" panose="020B0604020202020204" pitchFamily="34" charset="0"/>
              </a:rPr>
              <a:t>In open channel flow the source of streamwise momentum is the downstream pull of gravity </a:t>
            </a:r>
            <a:r>
              <a:rPr lang="en-US" dirty="0" err="1">
                <a:latin typeface="Arial" panose="020B0604020202020204" pitchFamily="34" charset="0"/>
                <a:cs typeface="Arial" panose="020B0604020202020204" pitchFamily="34" charset="0"/>
              </a:rPr>
              <a:t>gS</a:t>
            </a:r>
            <a:r>
              <a:rPr lang="en-US" dirty="0">
                <a:latin typeface="Arial" panose="020B0604020202020204" pitchFamily="34" charset="0"/>
                <a:cs typeface="Arial" panose="020B0604020202020204" pitchFamily="34" charset="0"/>
              </a:rPr>
              <a:t>. </a:t>
            </a:r>
          </a:p>
          <a:p>
            <a:pPr algn="l">
              <a:lnSpc>
                <a:spcPct val="114000"/>
              </a:lnSpc>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843684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46</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Reynolds flux of streamwise momentum</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93BFC86-46AE-6C49-B622-DBBBCF969899}"/>
                  </a:ext>
                </a:extLst>
              </p:cNvPr>
              <p:cNvSpPr txBox="1"/>
              <p:nvPr/>
            </p:nvSpPr>
            <p:spPr>
              <a:xfrm>
                <a:off x="383626" y="911498"/>
                <a:ext cx="11260504" cy="1014893"/>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The quantity </a:t>
                </a:r>
                <a14:m>
                  <m:oMath xmlns:m="http://schemas.openxmlformats.org/officeDocument/2006/math">
                    <m:r>
                      <a:rPr lang="en-US" b="0" i="0"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𝑢</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oMath>
                </a14:m>
                <a:r>
                  <a:rPr lang="en-US" dirty="0">
                    <a:latin typeface="Arial" panose="020B0604020202020204" pitchFamily="34" charset="0"/>
                    <a:cs typeface="Arial" panose="020B0604020202020204" pitchFamily="34" charset="0"/>
                  </a:rPr>
                  <a:t> denotes the Reynolds stress </a:t>
                </a:r>
                <a14:m>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𝑅𝑧𝑥</m:t>
                        </m:r>
                      </m:sub>
                    </m:sSub>
                  </m:oMath>
                </a14:m>
                <a:r>
                  <a:rPr lang="en-US" dirty="0">
                    <a:latin typeface="Arial" panose="020B0604020202020204" pitchFamily="34" charset="0"/>
                    <a:cs typeface="Arial" panose="020B0604020202020204" pitchFamily="34" charset="0"/>
                  </a:rPr>
                  <a:t> generated by turbulence, or equivalently the Reynolds flux of streamwise momentum (x) in the upward (z) direction. It characterizes the tendency of turbulence to transport streamwise momentum from areas of high concentration to areas of low concentration. </a:t>
                </a:r>
              </a:p>
            </p:txBody>
          </p:sp>
        </mc:Choice>
        <mc:Fallback xmlns="">
          <p:sp>
            <p:nvSpPr>
              <p:cNvPr id="16" name="TextBox 15">
                <a:extLst>
                  <a:ext uri="{FF2B5EF4-FFF2-40B4-BE49-F238E27FC236}">
                    <a16:creationId xmlns:a16="http://schemas.microsoft.com/office/drawing/2014/main" id="{E93BFC86-46AE-6C49-B622-DBBBCF969899}"/>
                  </a:ext>
                </a:extLst>
              </p:cNvPr>
              <p:cNvSpPr txBox="1">
                <a:spLocks noRot="1" noChangeAspect="1" noMove="1" noResize="1" noEditPoints="1" noAdjustHandles="1" noChangeArrowheads="1" noChangeShapeType="1" noTextEdit="1"/>
              </p:cNvSpPr>
              <p:nvPr/>
            </p:nvSpPr>
            <p:spPr>
              <a:xfrm>
                <a:off x="383626" y="911498"/>
                <a:ext cx="11260504" cy="1014893"/>
              </a:xfrm>
              <a:prstGeom prst="rect">
                <a:avLst/>
              </a:prstGeom>
              <a:blipFill>
                <a:blip r:embed="rId3"/>
                <a:stretch>
                  <a:fillRect l="-451" t="-2500" r="-676" b="-8750"/>
                </a:stretch>
              </a:blipFill>
            </p:spPr>
            <p:txBody>
              <a:bodyPr/>
              <a:lstStyle/>
              <a:p>
                <a:r>
                  <a:rPr lang="en-US">
                    <a:noFill/>
                  </a:rPr>
                  <a:t> </a:t>
                </a:r>
              </a:p>
            </p:txBody>
          </p:sp>
        </mc:Fallback>
      </mc:AlternateContent>
      <p:sp>
        <p:nvSpPr>
          <p:cNvPr id="17" name="Rectangle 16">
            <a:extLst>
              <a:ext uri="{FF2B5EF4-FFF2-40B4-BE49-F238E27FC236}">
                <a16:creationId xmlns:a16="http://schemas.microsoft.com/office/drawing/2014/main" id="{ECAFBF10-1DC2-6B4A-AA12-0CF2694046EE}"/>
              </a:ext>
            </a:extLst>
          </p:cNvPr>
          <p:cNvSpPr/>
          <p:nvPr/>
        </p:nvSpPr>
        <p:spPr>
          <a:xfrm>
            <a:off x="2063956" y="2079463"/>
            <a:ext cx="8362122" cy="1770419"/>
          </a:xfrm>
          <a:prstGeom prst="rect">
            <a:avLst/>
          </a:prstGeom>
          <a:gradFill flip="none" rotWithShape="1">
            <a:gsLst>
              <a:gs pos="0">
                <a:schemeClr val="accent5">
                  <a:lumMod val="42000"/>
                  <a:lumOff val="58000"/>
                </a:schemeClr>
              </a:gs>
              <a:gs pos="100000">
                <a:schemeClr val="accent4">
                  <a:lumMod val="75000"/>
                </a:schemeClr>
              </a:gs>
            </a:gsLst>
            <a:lin ang="5400000" scaled="1"/>
            <a:tileRect/>
          </a:gra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1F2B3CA-1C20-694E-B276-5E2C754C33E9}"/>
              </a:ext>
            </a:extLst>
          </p:cNvPr>
          <p:cNvSpPr/>
          <p:nvPr/>
        </p:nvSpPr>
        <p:spPr>
          <a:xfrm>
            <a:off x="2063956" y="3309897"/>
            <a:ext cx="8362122" cy="540000"/>
          </a:xfrm>
          <a:prstGeom prst="rect">
            <a:avLst/>
          </a:prstGeom>
          <a:pattFill prst="pct25">
            <a:fgClr>
              <a:schemeClr val="accent4">
                <a:lumMod val="75000"/>
              </a:schemeClr>
            </a:fgClr>
            <a:bgClr>
              <a:schemeClr val="bg1"/>
            </a:bgClr>
          </a:patt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B8F9072B-FAED-E34D-A493-1550A6EF10EB}"/>
              </a:ext>
            </a:extLst>
          </p:cNvPr>
          <p:cNvSpPr/>
          <p:nvPr/>
        </p:nvSpPr>
        <p:spPr>
          <a:xfrm>
            <a:off x="963496" y="2725452"/>
            <a:ext cx="936994" cy="374754"/>
          </a:xfrm>
          <a:prstGeom prst="right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F0F5E43C-3EC3-444E-806E-821D7084C74D}"/>
              </a:ext>
            </a:extLst>
          </p:cNvPr>
          <p:cNvSpPr txBox="1"/>
          <p:nvPr/>
        </p:nvSpPr>
        <p:spPr>
          <a:xfrm>
            <a:off x="965940" y="2464965"/>
            <a:ext cx="936994"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flow</a:t>
            </a:r>
          </a:p>
        </p:txBody>
      </p:sp>
      <p:cxnSp>
        <p:nvCxnSpPr>
          <p:cNvPr id="26" name="Straight Arrow Connector 25">
            <a:extLst>
              <a:ext uri="{FF2B5EF4-FFF2-40B4-BE49-F238E27FC236}">
                <a16:creationId xmlns:a16="http://schemas.microsoft.com/office/drawing/2014/main" id="{F47901D6-43B5-294C-9981-55254364F5EE}"/>
              </a:ext>
            </a:extLst>
          </p:cNvPr>
          <p:cNvCxnSpPr/>
          <p:nvPr/>
        </p:nvCxnSpPr>
        <p:spPr>
          <a:xfrm flipV="1">
            <a:off x="3317007" y="2630762"/>
            <a:ext cx="0" cy="679135"/>
          </a:xfrm>
          <a:prstGeom prst="straightConnector1">
            <a:avLst/>
          </a:prstGeom>
          <a:ln w="190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0E4D3EA0-66F0-794D-8FE4-2DBD8F2E41DC}"/>
              </a:ext>
            </a:extLst>
          </p:cNvPr>
          <p:cNvSpPr txBox="1"/>
          <p:nvPr/>
        </p:nvSpPr>
        <p:spPr>
          <a:xfrm>
            <a:off x="3002469" y="2464965"/>
            <a:ext cx="46605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z</a:t>
            </a:r>
          </a:p>
        </p:txBody>
      </p:sp>
      <p:cxnSp>
        <p:nvCxnSpPr>
          <p:cNvPr id="28" name="Straight Connector 27">
            <a:extLst>
              <a:ext uri="{FF2B5EF4-FFF2-40B4-BE49-F238E27FC236}">
                <a16:creationId xmlns:a16="http://schemas.microsoft.com/office/drawing/2014/main" id="{31F383C2-98BF-DB4F-9B64-AB7F8E7427A9}"/>
              </a:ext>
            </a:extLst>
          </p:cNvPr>
          <p:cNvCxnSpPr/>
          <p:nvPr/>
        </p:nvCxnSpPr>
        <p:spPr>
          <a:xfrm>
            <a:off x="5475591" y="2079463"/>
            <a:ext cx="0" cy="12304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8483155-485F-2D41-BC7E-FC7ED7DE3B86}"/>
              </a:ext>
            </a:extLst>
          </p:cNvPr>
          <p:cNvCxnSpPr/>
          <p:nvPr/>
        </p:nvCxnSpPr>
        <p:spPr>
          <a:xfrm>
            <a:off x="7231939" y="2068010"/>
            <a:ext cx="0" cy="12304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Freeform 29">
            <a:extLst>
              <a:ext uri="{FF2B5EF4-FFF2-40B4-BE49-F238E27FC236}">
                <a16:creationId xmlns:a16="http://schemas.microsoft.com/office/drawing/2014/main" id="{FDA1D57E-8616-9149-843D-C1904ACF8159}"/>
              </a:ext>
            </a:extLst>
          </p:cNvPr>
          <p:cNvSpPr/>
          <p:nvPr/>
        </p:nvSpPr>
        <p:spPr>
          <a:xfrm>
            <a:off x="5769148" y="2103029"/>
            <a:ext cx="584617" cy="1184223"/>
          </a:xfrm>
          <a:custGeom>
            <a:avLst/>
            <a:gdLst>
              <a:gd name="connsiteX0" fmla="*/ 0 w 584617"/>
              <a:gd name="connsiteY0" fmla="*/ 0 h 1184223"/>
              <a:gd name="connsiteX1" fmla="*/ 44971 w 584617"/>
              <a:gd name="connsiteY1" fmla="*/ 329784 h 1184223"/>
              <a:gd name="connsiteX2" fmla="*/ 179882 w 584617"/>
              <a:gd name="connsiteY2" fmla="*/ 749508 h 1184223"/>
              <a:gd name="connsiteX3" fmla="*/ 389745 w 584617"/>
              <a:gd name="connsiteY3" fmla="*/ 1019331 h 1184223"/>
              <a:gd name="connsiteX4" fmla="*/ 524656 w 584617"/>
              <a:gd name="connsiteY4" fmla="*/ 1094282 h 1184223"/>
              <a:gd name="connsiteX5" fmla="*/ 584617 w 584617"/>
              <a:gd name="connsiteY5" fmla="*/ 1184223 h 1184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4617" h="1184223">
                <a:moveTo>
                  <a:pt x="0" y="0"/>
                </a:moveTo>
                <a:cubicBezTo>
                  <a:pt x="7495" y="102433"/>
                  <a:pt x="14991" y="204866"/>
                  <a:pt x="44971" y="329784"/>
                </a:cubicBezTo>
                <a:cubicBezTo>
                  <a:pt x="74951" y="454702"/>
                  <a:pt x="122420" y="634584"/>
                  <a:pt x="179882" y="749508"/>
                </a:cubicBezTo>
                <a:cubicBezTo>
                  <a:pt x="237344" y="864432"/>
                  <a:pt x="332283" y="961869"/>
                  <a:pt x="389745" y="1019331"/>
                </a:cubicBezTo>
                <a:cubicBezTo>
                  <a:pt x="447207" y="1076793"/>
                  <a:pt x="492177" y="1066800"/>
                  <a:pt x="524656" y="1094282"/>
                </a:cubicBezTo>
                <a:cubicBezTo>
                  <a:pt x="557135" y="1121764"/>
                  <a:pt x="570876" y="1152993"/>
                  <a:pt x="584617" y="1184223"/>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a:extLst>
              <a:ext uri="{FF2B5EF4-FFF2-40B4-BE49-F238E27FC236}">
                <a16:creationId xmlns:a16="http://schemas.microsoft.com/office/drawing/2014/main" id="{5C0DF430-FD64-8449-89AD-986886FBD0C0}"/>
              </a:ext>
            </a:extLst>
          </p:cNvPr>
          <p:cNvSpPr/>
          <p:nvPr/>
        </p:nvSpPr>
        <p:spPr>
          <a:xfrm>
            <a:off x="7244430" y="2061136"/>
            <a:ext cx="854439" cy="1214203"/>
          </a:xfrm>
          <a:custGeom>
            <a:avLst/>
            <a:gdLst>
              <a:gd name="connsiteX0" fmla="*/ 0 w 854439"/>
              <a:gd name="connsiteY0" fmla="*/ 1214203 h 1214203"/>
              <a:gd name="connsiteX1" fmla="*/ 539646 w 854439"/>
              <a:gd name="connsiteY1" fmla="*/ 1154242 h 1214203"/>
              <a:gd name="connsiteX2" fmla="*/ 704538 w 854439"/>
              <a:gd name="connsiteY2" fmla="*/ 974360 h 1214203"/>
              <a:gd name="connsiteX3" fmla="*/ 824459 w 854439"/>
              <a:gd name="connsiteY3" fmla="*/ 404734 h 1214203"/>
              <a:gd name="connsiteX4" fmla="*/ 854439 w 854439"/>
              <a:gd name="connsiteY4" fmla="*/ 0 h 12142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439" h="1214203">
                <a:moveTo>
                  <a:pt x="0" y="1214203"/>
                </a:moveTo>
                <a:cubicBezTo>
                  <a:pt x="211111" y="1204209"/>
                  <a:pt x="422223" y="1194216"/>
                  <a:pt x="539646" y="1154242"/>
                </a:cubicBezTo>
                <a:cubicBezTo>
                  <a:pt x="657069" y="1114268"/>
                  <a:pt x="657069" y="1099278"/>
                  <a:pt x="704538" y="974360"/>
                </a:cubicBezTo>
                <a:cubicBezTo>
                  <a:pt x="752007" y="849442"/>
                  <a:pt x="799476" y="567127"/>
                  <a:pt x="824459" y="404734"/>
                </a:cubicBezTo>
                <a:cubicBezTo>
                  <a:pt x="849443" y="242341"/>
                  <a:pt x="851941" y="121170"/>
                  <a:pt x="854439" y="0"/>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Arrow Connector 31">
            <a:extLst>
              <a:ext uri="{FF2B5EF4-FFF2-40B4-BE49-F238E27FC236}">
                <a16:creationId xmlns:a16="http://schemas.microsoft.com/office/drawing/2014/main" id="{7846BE5B-B97B-B244-8654-6CDD5746D03E}"/>
              </a:ext>
            </a:extLst>
          </p:cNvPr>
          <p:cNvCxnSpPr>
            <a:cxnSpLocks/>
          </p:cNvCxnSpPr>
          <p:nvPr/>
        </p:nvCxnSpPr>
        <p:spPr>
          <a:xfrm>
            <a:off x="5475591" y="2964672"/>
            <a:ext cx="585865"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9338797-7F8F-8141-BC03-D66907748AF3}"/>
              </a:ext>
            </a:extLst>
          </p:cNvPr>
          <p:cNvCxnSpPr>
            <a:cxnSpLocks/>
          </p:cNvCxnSpPr>
          <p:nvPr/>
        </p:nvCxnSpPr>
        <p:spPr>
          <a:xfrm>
            <a:off x="7244430" y="2838308"/>
            <a:ext cx="749508"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7C91644B-183D-5041-BD6F-B91339E019C1}"/>
                  </a:ext>
                </a:extLst>
              </p:cNvPr>
              <p:cNvSpPr txBox="1"/>
              <p:nvPr/>
            </p:nvSpPr>
            <p:spPr>
              <a:xfrm>
                <a:off x="5538489" y="2668237"/>
                <a:ext cx="177228"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oMath>
                  </m:oMathPara>
                </a14:m>
                <a:endParaRPr lang="en-US" dirty="0">
                  <a:latin typeface="Arial" panose="020B0604020202020204" pitchFamily="34" charset="0"/>
                  <a:cs typeface="Arial" panose="020B0604020202020204" pitchFamily="34" charset="0"/>
                </a:endParaRPr>
              </a:p>
            </p:txBody>
          </p:sp>
        </mc:Choice>
        <mc:Fallback xmlns="">
          <p:sp>
            <p:nvSpPr>
              <p:cNvPr id="34" name="TextBox 33">
                <a:extLst>
                  <a:ext uri="{FF2B5EF4-FFF2-40B4-BE49-F238E27FC236}">
                    <a16:creationId xmlns:a16="http://schemas.microsoft.com/office/drawing/2014/main" id="{7C91644B-183D-5041-BD6F-B91339E019C1}"/>
                  </a:ext>
                </a:extLst>
              </p:cNvPr>
              <p:cNvSpPr txBox="1">
                <a:spLocks noRot="1" noChangeAspect="1" noMove="1" noResize="1" noEditPoints="1" noAdjustHandles="1" noChangeArrowheads="1" noChangeShapeType="1" noTextEdit="1"/>
              </p:cNvSpPr>
              <p:nvPr/>
            </p:nvSpPr>
            <p:spPr>
              <a:xfrm>
                <a:off x="5538489" y="2668237"/>
                <a:ext cx="177228" cy="315792"/>
              </a:xfrm>
              <a:prstGeom prst="rect">
                <a:avLst/>
              </a:prstGeom>
              <a:blipFill>
                <a:blip r:embed="rId4"/>
                <a:stretch>
                  <a:fillRect l="-20000" r="-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97AE2F3-1D65-9048-BC0D-E736250F704D}"/>
                  </a:ext>
                </a:extLst>
              </p:cNvPr>
              <p:cNvSpPr txBox="1"/>
              <p:nvPr/>
            </p:nvSpPr>
            <p:spPr>
              <a:xfrm>
                <a:off x="7472064" y="2491811"/>
                <a:ext cx="203004"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𝑢</m:t>
                          </m:r>
                        </m:e>
                      </m:acc>
                    </m:oMath>
                  </m:oMathPara>
                </a14:m>
                <a:endParaRPr lang="en-US" dirty="0">
                  <a:latin typeface="Arial" panose="020B0604020202020204" pitchFamily="34" charset="0"/>
                  <a:cs typeface="Arial" panose="020B0604020202020204" pitchFamily="34" charset="0"/>
                </a:endParaRPr>
              </a:p>
            </p:txBody>
          </p:sp>
        </mc:Choice>
        <mc:Fallback xmlns="">
          <p:sp>
            <p:nvSpPr>
              <p:cNvPr id="35" name="TextBox 34">
                <a:extLst>
                  <a:ext uri="{FF2B5EF4-FFF2-40B4-BE49-F238E27FC236}">
                    <a16:creationId xmlns:a16="http://schemas.microsoft.com/office/drawing/2014/main" id="{597AE2F3-1D65-9048-BC0D-E736250F704D}"/>
                  </a:ext>
                </a:extLst>
              </p:cNvPr>
              <p:cNvSpPr txBox="1">
                <a:spLocks noRot="1" noChangeAspect="1" noMove="1" noResize="1" noEditPoints="1" noAdjustHandles="1" noChangeArrowheads="1" noChangeShapeType="1" noTextEdit="1"/>
              </p:cNvSpPr>
              <p:nvPr/>
            </p:nvSpPr>
            <p:spPr>
              <a:xfrm>
                <a:off x="7472064" y="2491811"/>
                <a:ext cx="203004" cy="315792"/>
              </a:xfrm>
              <a:prstGeom prst="rect">
                <a:avLst/>
              </a:prstGeom>
              <a:blipFill>
                <a:blip r:embed="rId5"/>
                <a:stretch>
                  <a:fillRect l="-11765" r="-5882"/>
                </a:stretch>
              </a:blipFill>
            </p:spPr>
            <p:txBody>
              <a:bodyPr/>
              <a:lstStyle/>
              <a:p>
                <a:r>
                  <a:rPr lang="en-US">
                    <a:noFill/>
                  </a:rPr>
                  <a:t> </a:t>
                </a:r>
              </a:p>
            </p:txBody>
          </p:sp>
        </mc:Fallback>
      </mc:AlternateContent>
      <p:cxnSp>
        <p:nvCxnSpPr>
          <p:cNvPr id="36" name="Straight Arrow Connector 35">
            <a:extLst>
              <a:ext uri="{FF2B5EF4-FFF2-40B4-BE49-F238E27FC236}">
                <a16:creationId xmlns:a16="http://schemas.microsoft.com/office/drawing/2014/main" id="{37276F2E-B504-C14B-9BA0-9B153DAB8943}"/>
              </a:ext>
            </a:extLst>
          </p:cNvPr>
          <p:cNvCxnSpPr/>
          <p:nvPr/>
        </p:nvCxnSpPr>
        <p:spPr>
          <a:xfrm>
            <a:off x="9193151" y="2079463"/>
            <a:ext cx="0" cy="1230434"/>
          </a:xfrm>
          <a:prstGeom prst="straightConnector1">
            <a:avLst/>
          </a:prstGeom>
          <a:ln w="19050">
            <a:solidFill>
              <a:schemeClr val="tx1"/>
            </a:solidFill>
            <a:headEnd type="arrow" w="lg" len="lg"/>
            <a:tailEnd type="arrow" w="lg" len="lg"/>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81ED501-140C-8346-9135-AEA297EBB31E}"/>
              </a:ext>
            </a:extLst>
          </p:cNvPr>
          <p:cNvSpPr txBox="1"/>
          <p:nvPr/>
        </p:nvSpPr>
        <p:spPr>
          <a:xfrm>
            <a:off x="8862011" y="2407531"/>
            <a:ext cx="46605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H</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578764D-EA09-084E-AC2E-754A721232BA}"/>
                  </a:ext>
                </a:extLst>
              </p:cNvPr>
              <p:cNvSpPr txBox="1"/>
              <p:nvPr/>
            </p:nvSpPr>
            <p:spPr>
              <a:xfrm>
                <a:off x="383626" y="4144617"/>
                <a:ext cx="11435937" cy="1961627"/>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This downward momentum must be fluxed toward the bed where the loss of momentum is manifested as a resistive force to achieve momentum balance. </a:t>
                </a:r>
              </a:p>
              <a:p>
                <a:pPr algn="l">
                  <a:lnSpc>
                    <a:spcPct val="114000"/>
                  </a:lnSpc>
                </a:pPr>
                <a:r>
                  <a:rPr lang="en-US" dirty="0">
                    <a:latin typeface="Arial" panose="020B0604020202020204" pitchFamily="34" charset="0"/>
                    <a:cs typeface="Arial" panose="020B0604020202020204" pitchFamily="34" charset="0"/>
                  </a:rPr>
                  <a:t>The downward flux of streamwise momentum is maintained by maintaining high velocity in the upper part of the flow and low velocity in the lower part of the flow. </a:t>
                </a:r>
              </a:p>
              <a:p>
                <a:pPr algn="l">
                  <a:lnSpc>
                    <a:spcPct val="114000"/>
                  </a:lnSpc>
                </a:pPr>
                <a:endParaRPr lang="en-US" dirty="0">
                  <a:latin typeface="Arial" panose="020B0604020202020204" pitchFamily="34" charset="0"/>
                  <a:cs typeface="Arial" panose="020B0604020202020204" pitchFamily="34" charset="0"/>
                </a:endParaRPr>
              </a:p>
              <a:p>
                <a:pPr>
                  <a:lnSpc>
                    <a:spcPct val="114000"/>
                  </a:lnSpc>
                </a:pPr>
                <a:r>
                  <a:rPr lang="en-US" dirty="0">
                    <a:latin typeface="Arial" panose="020B0604020202020204" pitchFamily="34" charset="0"/>
                    <a:cs typeface="Arial" panose="020B0604020202020204" pitchFamily="34" charset="0"/>
                  </a:rPr>
                  <a:t>The velocity distribution generates a negative value of </a:t>
                </a:r>
                <a14:m>
                  <m:oMath xmlns:m="http://schemas.openxmlformats.org/officeDocument/2006/math">
                    <m:r>
                      <a:rPr lang="en-US" i="1">
                        <a:latin typeface="Cambria Math" panose="02040503050406030204" pitchFamily="18" charset="0"/>
                        <a:ea typeface="Cambria Math" panose="02040503050406030204" pitchFamily="18" charset="0"/>
                        <a:cs typeface="Arial" panose="020B0604020202020204" pitchFamily="34" charset="0"/>
                      </a:rPr>
                      <m:t>𝜌</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𝑢</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𝑤</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oMath>
                </a14:m>
                <a:r>
                  <a:rPr lang="en-US" dirty="0">
                    <a:latin typeface="Arial" panose="020B0604020202020204" pitchFamily="34" charset="0"/>
                    <a:cs typeface="Arial" panose="020B0604020202020204" pitchFamily="34" charset="0"/>
                  </a:rPr>
                  <a:t> and a positive value of </a:t>
                </a:r>
                <a14:m>
                  <m:oMath xmlns:m="http://schemas.openxmlformats.org/officeDocument/2006/math">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cs typeface="Arial" panose="020B0604020202020204" pitchFamily="34" charset="0"/>
                          </a:rPr>
                          <m:t>𝑅𝑧𝑥</m:t>
                        </m:r>
                      </m:sub>
                    </m:sSub>
                    <m:r>
                      <a:rPr lang="en-US" b="0" i="0" smtClean="0">
                        <a:latin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𝑢</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𝑤</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oMath>
                </a14:m>
                <a:r>
                  <a:rPr lang="en-US" dirty="0">
                    <a:latin typeface="Arial" panose="020B0604020202020204" pitchFamily="34" charset="0"/>
                    <a:cs typeface="Arial" panose="020B0604020202020204" pitchFamily="34" charset="0"/>
                  </a:rPr>
                  <a:t>.</a:t>
                </a:r>
              </a:p>
            </p:txBody>
          </p:sp>
        </mc:Choice>
        <mc:Fallback xmlns="">
          <p:sp>
            <p:nvSpPr>
              <p:cNvPr id="2" name="TextBox 1">
                <a:extLst>
                  <a:ext uri="{FF2B5EF4-FFF2-40B4-BE49-F238E27FC236}">
                    <a16:creationId xmlns:a16="http://schemas.microsoft.com/office/drawing/2014/main" id="{4578764D-EA09-084E-AC2E-754A721232BA}"/>
                  </a:ext>
                </a:extLst>
              </p:cNvPr>
              <p:cNvSpPr txBox="1">
                <a:spLocks noRot="1" noChangeAspect="1" noMove="1" noResize="1" noEditPoints="1" noAdjustHandles="1" noChangeArrowheads="1" noChangeShapeType="1" noTextEdit="1"/>
              </p:cNvSpPr>
              <p:nvPr/>
            </p:nvSpPr>
            <p:spPr>
              <a:xfrm>
                <a:off x="383626" y="4144617"/>
                <a:ext cx="11435937" cy="1961627"/>
              </a:xfrm>
              <a:prstGeom prst="rect">
                <a:avLst/>
              </a:prstGeom>
              <a:blipFill>
                <a:blip r:embed="rId6"/>
                <a:stretch>
                  <a:fillRect l="-444" t="-1290" r="-777" b="-4516"/>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379537B7-8D1F-704C-8631-787FF2934087}"/>
              </a:ext>
            </a:extLst>
          </p:cNvPr>
          <p:cNvCxnSpPr>
            <a:cxnSpLocks/>
          </p:cNvCxnSpPr>
          <p:nvPr/>
        </p:nvCxnSpPr>
        <p:spPr>
          <a:xfrm>
            <a:off x="8407654" y="2470148"/>
            <a:ext cx="5605" cy="513881"/>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B1D33BD-71A3-D149-82F4-B3ACC6C4F6A6}"/>
                  </a:ext>
                </a:extLst>
              </p:cNvPr>
              <p:cNvSpPr txBox="1"/>
              <p:nvPr/>
            </p:nvSpPr>
            <p:spPr>
              <a:xfrm>
                <a:off x="8109863" y="3390208"/>
                <a:ext cx="2423612" cy="315792"/>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𝑢</m:t>
                          </m:r>
                        </m:e>
                        <m:sup>
                          <m:r>
                            <a:rPr lang="en-US" b="0" i="1" smtClean="0">
                              <a:latin typeface="Cambria Math" panose="02040503050406030204" pitchFamily="18" charset="0"/>
                              <a:cs typeface="Arial" panose="020B0604020202020204" pitchFamily="34" charset="0"/>
                            </a:rPr>
                            <m:t>′</m:t>
                          </m:r>
                        </m:sup>
                      </m:sSup>
                      <m:r>
                        <a:rPr lang="en-US" b="0" i="1" smtClean="0">
                          <a:latin typeface="Cambria Math" panose="02040503050406030204" pitchFamily="18" charset="0"/>
                          <a:cs typeface="Arial" panose="020B0604020202020204" pitchFamily="34" charset="0"/>
                        </a:rPr>
                        <m:t>&gt;0, </m:t>
                      </m:r>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𝑤</m:t>
                          </m:r>
                        </m:e>
                        <m:sup>
                          <m:r>
                            <a:rPr lang="en-US" b="0" i="1" smtClean="0">
                              <a:latin typeface="Cambria Math" panose="02040503050406030204" pitchFamily="18" charset="0"/>
                              <a:cs typeface="Arial" panose="020B0604020202020204" pitchFamily="34" charset="0"/>
                            </a:rPr>
                            <m:t>′</m:t>
                          </m:r>
                        </m:sup>
                      </m:sSup>
                      <m:r>
                        <a:rPr lang="en-US" b="0" i="1" smtClean="0">
                          <a:latin typeface="Cambria Math" panose="02040503050406030204" pitchFamily="18" charset="0"/>
                          <a:cs typeface="Arial" panose="020B0604020202020204" pitchFamily="34" charset="0"/>
                        </a:rPr>
                        <m:t>&lt;0,</m:t>
                      </m:r>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𝑢</m:t>
                          </m:r>
                        </m:e>
                        <m:sup>
                          <m:r>
                            <a:rPr lang="en-US" i="1">
                              <a:latin typeface="Cambria Math" panose="02040503050406030204" pitchFamily="18" charset="0"/>
                              <a:cs typeface="Arial" panose="020B0604020202020204" pitchFamily="34" charset="0"/>
                            </a:rPr>
                            <m:t>′</m:t>
                          </m:r>
                        </m:sup>
                      </m:sSup>
                      <m:r>
                        <a:rPr lang="en-US" i="1">
                          <a:latin typeface="Cambria Math" panose="02040503050406030204" pitchFamily="18" charset="0"/>
                          <a:cs typeface="Arial" panose="020B0604020202020204" pitchFamily="34" charset="0"/>
                        </a:rPr>
                        <m:t>𝑤</m:t>
                      </m:r>
                      <m:r>
                        <a:rPr lang="en-US" i="1">
                          <a:latin typeface="Cambria Math" panose="02040503050406030204" pitchFamily="18" charset="0"/>
                          <a:cs typeface="Arial" panose="020B0604020202020204" pitchFamily="34" charset="0"/>
                        </a:rPr>
                        <m:t>′&lt;0</m:t>
                      </m:r>
                    </m:oMath>
                  </m:oMathPara>
                </a14:m>
                <a:endParaRPr lang="en-US" dirty="0">
                  <a:latin typeface="Arial" panose="020B0604020202020204" pitchFamily="34" charset="0"/>
                  <a:cs typeface="Arial" panose="020B0604020202020204" pitchFamily="34" charset="0"/>
                </a:endParaRPr>
              </a:p>
            </p:txBody>
          </p:sp>
        </mc:Choice>
        <mc:Fallback xmlns="">
          <p:sp>
            <p:nvSpPr>
              <p:cNvPr id="9" name="TextBox 8">
                <a:extLst>
                  <a:ext uri="{FF2B5EF4-FFF2-40B4-BE49-F238E27FC236}">
                    <a16:creationId xmlns:a16="http://schemas.microsoft.com/office/drawing/2014/main" id="{5B1D33BD-71A3-D149-82F4-B3ACC6C4F6A6}"/>
                  </a:ext>
                </a:extLst>
              </p:cNvPr>
              <p:cNvSpPr txBox="1">
                <a:spLocks noRot="1" noChangeAspect="1" noMove="1" noResize="1" noEditPoints="1" noAdjustHandles="1" noChangeArrowheads="1" noChangeShapeType="1" noTextEdit="1"/>
              </p:cNvSpPr>
              <p:nvPr/>
            </p:nvSpPr>
            <p:spPr>
              <a:xfrm>
                <a:off x="8109863" y="3390208"/>
                <a:ext cx="2423612" cy="315792"/>
              </a:xfrm>
              <a:prstGeom prst="rect">
                <a:avLst/>
              </a:prstGeom>
              <a:blipFill>
                <a:blip r:embed="rId7"/>
                <a:stretch>
                  <a:fillRect l="-521" r="-1563" b="-3846"/>
                </a:stretch>
              </a:blipFill>
            </p:spPr>
            <p:txBody>
              <a:bodyPr/>
              <a:lstStyle/>
              <a:p>
                <a:r>
                  <a:rPr lang="en-US">
                    <a:noFill/>
                  </a:rPr>
                  <a:t> </a:t>
                </a:r>
              </a:p>
            </p:txBody>
          </p:sp>
        </mc:Fallback>
      </mc:AlternateContent>
    </p:spTree>
    <p:extLst>
      <p:ext uri="{BB962C8B-B14F-4D97-AF65-F5344CB8AC3E}">
        <p14:creationId xmlns:p14="http://schemas.microsoft.com/office/powerpoint/2010/main" val="39235610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47</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Reynolds flux of streamwise momentum</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93BFC86-46AE-6C49-B622-DBBBCF969899}"/>
                  </a:ext>
                </a:extLst>
              </p:cNvPr>
              <p:cNvSpPr txBox="1"/>
              <p:nvPr/>
            </p:nvSpPr>
            <p:spPr>
              <a:xfrm>
                <a:off x="383626" y="911498"/>
                <a:ext cx="11527088" cy="1014893"/>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The quantity </a:t>
                </a:r>
                <a14:m>
                  <m:oMath xmlns:m="http://schemas.openxmlformats.org/officeDocument/2006/math">
                    <m:r>
                      <a:rPr lang="en-US" b="0" i="0"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𝑢</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oMath>
                </a14:m>
                <a:r>
                  <a:rPr lang="en-US" dirty="0">
                    <a:latin typeface="Arial" panose="020B0604020202020204" pitchFamily="34" charset="0"/>
                    <a:cs typeface="Arial" panose="020B0604020202020204" pitchFamily="34" charset="0"/>
                  </a:rPr>
                  <a:t> denotes the Reynolds stress </a:t>
                </a:r>
                <a14:m>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𝑅𝑧𝑥</m:t>
                        </m:r>
                      </m:sub>
                    </m:sSub>
                  </m:oMath>
                </a14:m>
                <a:r>
                  <a:rPr lang="en-US" dirty="0">
                    <a:latin typeface="Arial" panose="020B0604020202020204" pitchFamily="34" charset="0"/>
                    <a:cs typeface="Arial" panose="020B0604020202020204" pitchFamily="34" charset="0"/>
                  </a:rPr>
                  <a:t> generated by turbulence, or equivalently the Reynolds flux of streamwise momentum (x) in the upward (z) direction. It characterizes the tendency of turbulence to transport streamwise momentum from areas of high concentration to areas of low concentration. </a:t>
                </a:r>
              </a:p>
            </p:txBody>
          </p:sp>
        </mc:Choice>
        <mc:Fallback xmlns="">
          <p:sp>
            <p:nvSpPr>
              <p:cNvPr id="16" name="TextBox 15">
                <a:extLst>
                  <a:ext uri="{FF2B5EF4-FFF2-40B4-BE49-F238E27FC236}">
                    <a16:creationId xmlns:a16="http://schemas.microsoft.com/office/drawing/2014/main" id="{E93BFC86-46AE-6C49-B622-DBBBCF969899}"/>
                  </a:ext>
                </a:extLst>
              </p:cNvPr>
              <p:cNvSpPr txBox="1">
                <a:spLocks noRot="1" noChangeAspect="1" noMove="1" noResize="1" noEditPoints="1" noAdjustHandles="1" noChangeArrowheads="1" noChangeShapeType="1" noTextEdit="1"/>
              </p:cNvSpPr>
              <p:nvPr/>
            </p:nvSpPr>
            <p:spPr>
              <a:xfrm>
                <a:off x="383626" y="911498"/>
                <a:ext cx="11527088" cy="1014893"/>
              </a:xfrm>
              <a:prstGeom prst="rect">
                <a:avLst/>
              </a:prstGeom>
              <a:blipFill>
                <a:blip r:embed="rId3"/>
                <a:stretch>
                  <a:fillRect l="-441" t="-2500" b="-8750"/>
                </a:stretch>
              </a:blipFill>
            </p:spPr>
            <p:txBody>
              <a:bodyPr/>
              <a:lstStyle/>
              <a:p>
                <a:r>
                  <a:rPr lang="en-US">
                    <a:noFill/>
                  </a:rPr>
                  <a:t> </a:t>
                </a:r>
              </a:p>
            </p:txBody>
          </p:sp>
        </mc:Fallback>
      </mc:AlternateContent>
      <p:sp>
        <p:nvSpPr>
          <p:cNvPr id="17" name="Rectangle 16">
            <a:extLst>
              <a:ext uri="{FF2B5EF4-FFF2-40B4-BE49-F238E27FC236}">
                <a16:creationId xmlns:a16="http://schemas.microsoft.com/office/drawing/2014/main" id="{ECAFBF10-1DC2-6B4A-AA12-0CF2694046EE}"/>
              </a:ext>
            </a:extLst>
          </p:cNvPr>
          <p:cNvSpPr/>
          <p:nvPr/>
        </p:nvSpPr>
        <p:spPr>
          <a:xfrm>
            <a:off x="2063956" y="2079463"/>
            <a:ext cx="8362122" cy="1770419"/>
          </a:xfrm>
          <a:prstGeom prst="rect">
            <a:avLst/>
          </a:prstGeom>
          <a:gradFill flip="none" rotWithShape="1">
            <a:gsLst>
              <a:gs pos="0">
                <a:schemeClr val="accent5">
                  <a:lumMod val="42000"/>
                  <a:lumOff val="58000"/>
                </a:schemeClr>
              </a:gs>
              <a:gs pos="100000">
                <a:schemeClr val="accent4">
                  <a:lumMod val="75000"/>
                </a:schemeClr>
              </a:gs>
            </a:gsLst>
            <a:lin ang="5400000" scaled="1"/>
            <a:tileRect/>
          </a:gra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1F2B3CA-1C20-694E-B276-5E2C754C33E9}"/>
              </a:ext>
            </a:extLst>
          </p:cNvPr>
          <p:cNvSpPr/>
          <p:nvPr/>
        </p:nvSpPr>
        <p:spPr>
          <a:xfrm>
            <a:off x="2063956" y="3309897"/>
            <a:ext cx="8362122" cy="540000"/>
          </a:xfrm>
          <a:prstGeom prst="rect">
            <a:avLst/>
          </a:prstGeom>
          <a:pattFill prst="pct25">
            <a:fgClr>
              <a:schemeClr val="accent4">
                <a:lumMod val="75000"/>
              </a:schemeClr>
            </a:fgClr>
            <a:bgClr>
              <a:schemeClr val="bg1"/>
            </a:bgClr>
          </a:patt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B8F9072B-FAED-E34D-A493-1550A6EF10EB}"/>
              </a:ext>
            </a:extLst>
          </p:cNvPr>
          <p:cNvSpPr/>
          <p:nvPr/>
        </p:nvSpPr>
        <p:spPr>
          <a:xfrm>
            <a:off x="963496" y="2725452"/>
            <a:ext cx="936994" cy="374754"/>
          </a:xfrm>
          <a:prstGeom prst="right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F0F5E43C-3EC3-444E-806E-821D7084C74D}"/>
              </a:ext>
            </a:extLst>
          </p:cNvPr>
          <p:cNvSpPr txBox="1"/>
          <p:nvPr/>
        </p:nvSpPr>
        <p:spPr>
          <a:xfrm>
            <a:off x="965940" y="2464965"/>
            <a:ext cx="936994"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flow</a:t>
            </a:r>
          </a:p>
        </p:txBody>
      </p:sp>
      <p:cxnSp>
        <p:nvCxnSpPr>
          <p:cNvPr id="26" name="Straight Arrow Connector 25">
            <a:extLst>
              <a:ext uri="{FF2B5EF4-FFF2-40B4-BE49-F238E27FC236}">
                <a16:creationId xmlns:a16="http://schemas.microsoft.com/office/drawing/2014/main" id="{F47901D6-43B5-294C-9981-55254364F5EE}"/>
              </a:ext>
            </a:extLst>
          </p:cNvPr>
          <p:cNvCxnSpPr/>
          <p:nvPr/>
        </p:nvCxnSpPr>
        <p:spPr>
          <a:xfrm flipV="1">
            <a:off x="3317007" y="2630762"/>
            <a:ext cx="0" cy="679135"/>
          </a:xfrm>
          <a:prstGeom prst="straightConnector1">
            <a:avLst/>
          </a:prstGeom>
          <a:ln w="190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0E4D3EA0-66F0-794D-8FE4-2DBD8F2E41DC}"/>
              </a:ext>
            </a:extLst>
          </p:cNvPr>
          <p:cNvSpPr txBox="1"/>
          <p:nvPr/>
        </p:nvSpPr>
        <p:spPr>
          <a:xfrm>
            <a:off x="3002469" y="2464965"/>
            <a:ext cx="46605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z</a:t>
            </a:r>
          </a:p>
        </p:txBody>
      </p:sp>
      <p:cxnSp>
        <p:nvCxnSpPr>
          <p:cNvPr id="28" name="Straight Connector 27">
            <a:extLst>
              <a:ext uri="{FF2B5EF4-FFF2-40B4-BE49-F238E27FC236}">
                <a16:creationId xmlns:a16="http://schemas.microsoft.com/office/drawing/2014/main" id="{31F383C2-98BF-DB4F-9B64-AB7F8E7427A9}"/>
              </a:ext>
            </a:extLst>
          </p:cNvPr>
          <p:cNvCxnSpPr/>
          <p:nvPr/>
        </p:nvCxnSpPr>
        <p:spPr>
          <a:xfrm>
            <a:off x="5475591" y="2079463"/>
            <a:ext cx="0" cy="12304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8483155-485F-2D41-BC7E-FC7ED7DE3B86}"/>
              </a:ext>
            </a:extLst>
          </p:cNvPr>
          <p:cNvCxnSpPr/>
          <p:nvPr/>
        </p:nvCxnSpPr>
        <p:spPr>
          <a:xfrm>
            <a:off x="7231939" y="2068010"/>
            <a:ext cx="0" cy="12304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Freeform 29">
            <a:extLst>
              <a:ext uri="{FF2B5EF4-FFF2-40B4-BE49-F238E27FC236}">
                <a16:creationId xmlns:a16="http://schemas.microsoft.com/office/drawing/2014/main" id="{FDA1D57E-8616-9149-843D-C1904ACF8159}"/>
              </a:ext>
            </a:extLst>
          </p:cNvPr>
          <p:cNvSpPr/>
          <p:nvPr/>
        </p:nvSpPr>
        <p:spPr>
          <a:xfrm>
            <a:off x="5769148" y="2103029"/>
            <a:ext cx="584617" cy="1184223"/>
          </a:xfrm>
          <a:custGeom>
            <a:avLst/>
            <a:gdLst>
              <a:gd name="connsiteX0" fmla="*/ 0 w 584617"/>
              <a:gd name="connsiteY0" fmla="*/ 0 h 1184223"/>
              <a:gd name="connsiteX1" fmla="*/ 44971 w 584617"/>
              <a:gd name="connsiteY1" fmla="*/ 329784 h 1184223"/>
              <a:gd name="connsiteX2" fmla="*/ 179882 w 584617"/>
              <a:gd name="connsiteY2" fmla="*/ 749508 h 1184223"/>
              <a:gd name="connsiteX3" fmla="*/ 389745 w 584617"/>
              <a:gd name="connsiteY3" fmla="*/ 1019331 h 1184223"/>
              <a:gd name="connsiteX4" fmla="*/ 524656 w 584617"/>
              <a:gd name="connsiteY4" fmla="*/ 1094282 h 1184223"/>
              <a:gd name="connsiteX5" fmla="*/ 584617 w 584617"/>
              <a:gd name="connsiteY5" fmla="*/ 1184223 h 1184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4617" h="1184223">
                <a:moveTo>
                  <a:pt x="0" y="0"/>
                </a:moveTo>
                <a:cubicBezTo>
                  <a:pt x="7495" y="102433"/>
                  <a:pt x="14991" y="204866"/>
                  <a:pt x="44971" y="329784"/>
                </a:cubicBezTo>
                <a:cubicBezTo>
                  <a:pt x="74951" y="454702"/>
                  <a:pt x="122420" y="634584"/>
                  <a:pt x="179882" y="749508"/>
                </a:cubicBezTo>
                <a:cubicBezTo>
                  <a:pt x="237344" y="864432"/>
                  <a:pt x="332283" y="961869"/>
                  <a:pt x="389745" y="1019331"/>
                </a:cubicBezTo>
                <a:cubicBezTo>
                  <a:pt x="447207" y="1076793"/>
                  <a:pt x="492177" y="1066800"/>
                  <a:pt x="524656" y="1094282"/>
                </a:cubicBezTo>
                <a:cubicBezTo>
                  <a:pt x="557135" y="1121764"/>
                  <a:pt x="570876" y="1152993"/>
                  <a:pt x="584617" y="1184223"/>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a:extLst>
              <a:ext uri="{FF2B5EF4-FFF2-40B4-BE49-F238E27FC236}">
                <a16:creationId xmlns:a16="http://schemas.microsoft.com/office/drawing/2014/main" id="{5C0DF430-FD64-8449-89AD-986886FBD0C0}"/>
              </a:ext>
            </a:extLst>
          </p:cNvPr>
          <p:cNvSpPr/>
          <p:nvPr/>
        </p:nvSpPr>
        <p:spPr>
          <a:xfrm>
            <a:off x="7244430" y="2061136"/>
            <a:ext cx="854439" cy="1214203"/>
          </a:xfrm>
          <a:custGeom>
            <a:avLst/>
            <a:gdLst>
              <a:gd name="connsiteX0" fmla="*/ 0 w 854439"/>
              <a:gd name="connsiteY0" fmla="*/ 1214203 h 1214203"/>
              <a:gd name="connsiteX1" fmla="*/ 539646 w 854439"/>
              <a:gd name="connsiteY1" fmla="*/ 1154242 h 1214203"/>
              <a:gd name="connsiteX2" fmla="*/ 704538 w 854439"/>
              <a:gd name="connsiteY2" fmla="*/ 974360 h 1214203"/>
              <a:gd name="connsiteX3" fmla="*/ 824459 w 854439"/>
              <a:gd name="connsiteY3" fmla="*/ 404734 h 1214203"/>
              <a:gd name="connsiteX4" fmla="*/ 854439 w 854439"/>
              <a:gd name="connsiteY4" fmla="*/ 0 h 12142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439" h="1214203">
                <a:moveTo>
                  <a:pt x="0" y="1214203"/>
                </a:moveTo>
                <a:cubicBezTo>
                  <a:pt x="211111" y="1204209"/>
                  <a:pt x="422223" y="1194216"/>
                  <a:pt x="539646" y="1154242"/>
                </a:cubicBezTo>
                <a:cubicBezTo>
                  <a:pt x="657069" y="1114268"/>
                  <a:pt x="657069" y="1099278"/>
                  <a:pt x="704538" y="974360"/>
                </a:cubicBezTo>
                <a:cubicBezTo>
                  <a:pt x="752007" y="849442"/>
                  <a:pt x="799476" y="567127"/>
                  <a:pt x="824459" y="404734"/>
                </a:cubicBezTo>
                <a:cubicBezTo>
                  <a:pt x="849443" y="242341"/>
                  <a:pt x="851941" y="121170"/>
                  <a:pt x="854439" y="0"/>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Arrow Connector 31">
            <a:extLst>
              <a:ext uri="{FF2B5EF4-FFF2-40B4-BE49-F238E27FC236}">
                <a16:creationId xmlns:a16="http://schemas.microsoft.com/office/drawing/2014/main" id="{7846BE5B-B97B-B244-8654-6CDD5746D03E}"/>
              </a:ext>
            </a:extLst>
          </p:cNvPr>
          <p:cNvCxnSpPr>
            <a:cxnSpLocks/>
          </p:cNvCxnSpPr>
          <p:nvPr/>
        </p:nvCxnSpPr>
        <p:spPr>
          <a:xfrm>
            <a:off x="5475591" y="2964672"/>
            <a:ext cx="585865"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9338797-7F8F-8141-BC03-D66907748AF3}"/>
              </a:ext>
            </a:extLst>
          </p:cNvPr>
          <p:cNvCxnSpPr>
            <a:cxnSpLocks/>
          </p:cNvCxnSpPr>
          <p:nvPr/>
        </p:nvCxnSpPr>
        <p:spPr>
          <a:xfrm>
            <a:off x="7244430" y="2838308"/>
            <a:ext cx="749508"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7C91644B-183D-5041-BD6F-B91339E019C1}"/>
                  </a:ext>
                </a:extLst>
              </p:cNvPr>
              <p:cNvSpPr txBox="1"/>
              <p:nvPr/>
            </p:nvSpPr>
            <p:spPr>
              <a:xfrm>
                <a:off x="5538489" y="2668237"/>
                <a:ext cx="177228"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oMath>
                  </m:oMathPara>
                </a14:m>
                <a:endParaRPr lang="en-US" dirty="0">
                  <a:latin typeface="Arial" panose="020B0604020202020204" pitchFamily="34" charset="0"/>
                  <a:cs typeface="Arial" panose="020B0604020202020204" pitchFamily="34" charset="0"/>
                </a:endParaRPr>
              </a:p>
            </p:txBody>
          </p:sp>
        </mc:Choice>
        <mc:Fallback xmlns="">
          <p:sp>
            <p:nvSpPr>
              <p:cNvPr id="34" name="TextBox 33">
                <a:extLst>
                  <a:ext uri="{FF2B5EF4-FFF2-40B4-BE49-F238E27FC236}">
                    <a16:creationId xmlns:a16="http://schemas.microsoft.com/office/drawing/2014/main" id="{7C91644B-183D-5041-BD6F-B91339E019C1}"/>
                  </a:ext>
                </a:extLst>
              </p:cNvPr>
              <p:cNvSpPr txBox="1">
                <a:spLocks noRot="1" noChangeAspect="1" noMove="1" noResize="1" noEditPoints="1" noAdjustHandles="1" noChangeArrowheads="1" noChangeShapeType="1" noTextEdit="1"/>
              </p:cNvSpPr>
              <p:nvPr/>
            </p:nvSpPr>
            <p:spPr>
              <a:xfrm>
                <a:off x="5538489" y="2668237"/>
                <a:ext cx="177228" cy="315792"/>
              </a:xfrm>
              <a:prstGeom prst="rect">
                <a:avLst/>
              </a:prstGeom>
              <a:blipFill>
                <a:blip r:embed="rId4"/>
                <a:stretch>
                  <a:fillRect l="-20000" r="-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97AE2F3-1D65-9048-BC0D-E736250F704D}"/>
                  </a:ext>
                </a:extLst>
              </p:cNvPr>
              <p:cNvSpPr txBox="1"/>
              <p:nvPr/>
            </p:nvSpPr>
            <p:spPr>
              <a:xfrm>
                <a:off x="7472064" y="2491811"/>
                <a:ext cx="203004"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𝑢</m:t>
                          </m:r>
                        </m:e>
                      </m:acc>
                    </m:oMath>
                  </m:oMathPara>
                </a14:m>
                <a:endParaRPr lang="en-US" dirty="0">
                  <a:latin typeface="Arial" panose="020B0604020202020204" pitchFamily="34" charset="0"/>
                  <a:cs typeface="Arial" panose="020B0604020202020204" pitchFamily="34" charset="0"/>
                </a:endParaRPr>
              </a:p>
            </p:txBody>
          </p:sp>
        </mc:Choice>
        <mc:Fallback xmlns="">
          <p:sp>
            <p:nvSpPr>
              <p:cNvPr id="35" name="TextBox 34">
                <a:extLst>
                  <a:ext uri="{FF2B5EF4-FFF2-40B4-BE49-F238E27FC236}">
                    <a16:creationId xmlns:a16="http://schemas.microsoft.com/office/drawing/2014/main" id="{597AE2F3-1D65-9048-BC0D-E736250F704D}"/>
                  </a:ext>
                </a:extLst>
              </p:cNvPr>
              <p:cNvSpPr txBox="1">
                <a:spLocks noRot="1" noChangeAspect="1" noMove="1" noResize="1" noEditPoints="1" noAdjustHandles="1" noChangeArrowheads="1" noChangeShapeType="1" noTextEdit="1"/>
              </p:cNvSpPr>
              <p:nvPr/>
            </p:nvSpPr>
            <p:spPr>
              <a:xfrm>
                <a:off x="7472064" y="2491811"/>
                <a:ext cx="203004" cy="315792"/>
              </a:xfrm>
              <a:prstGeom prst="rect">
                <a:avLst/>
              </a:prstGeom>
              <a:blipFill>
                <a:blip r:embed="rId5"/>
                <a:stretch>
                  <a:fillRect l="-11765" r="-5882"/>
                </a:stretch>
              </a:blipFill>
            </p:spPr>
            <p:txBody>
              <a:bodyPr/>
              <a:lstStyle/>
              <a:p>
                <a:r>
                  <a:rPr lang="en-US">
                    <a:noFill/>
                  </a:rPr>
                  <a:t> </a:t>
                </a:r>
              </a:p>
            </p:txBody>
          </p:sp>
        </mc:Fallback>
      </mc:AlternateContent>
      <p:cxnSp>
        <p:nvCxnSpPr>
          <p:cNvPr id="36" name="Straight Arrow Connector 35">
            <a:extLst>
              <a:ext uri="{FF2B5EF4-FFF2-40B4-BE49-F238E27FC236}">
                <a16:creationId xmlns:a16="http://schemas.microsoft.com/office/drawing/2014/main" id="{37276F2E-B504-C14B-9BA0-9B153DAB8943}"/>
              </a:ext>
            </a:extLst>
          </p:cNvPr>
          <p:cNvCxnSpPr/>
          <p:nvPr/>
        </p:nvCxnSpPr>
        <p:spPr>
          <a:xfrm>
            <a:off x="9193151" y="2079463"/>
            <a:ext cx="0" cy="1230434"/>
          </a:xfrm>
          <a:prstGeom prst="straightConnector1">
            <a:avLst/>
          </a:prstGeom>
          <a:ln w="19050">
            <a:solidFill>
              <a:schemeClr val="tx1"/>
            </a:solidFill>
            <a:headEnd type="arrow" w="lg" len="lg"/>
            <a:tailEnd type="arrow" w="lg" len="lg"/>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81ED501-140C-8346-9135-AEA297EBB31E}"/>
              </a:ext>
            </a:extLst>
          </p:cNvPr>
          <p:cNvSpPr txBox="1"/>
          <p:nvPr/>
        </p:nvSpPr>
        <p:spPr>
          <a:xfrm>
            <a:off x="8862011" y="2407531"/>
            <a:ext cx="46605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H</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578764D-EA09-084E-AC2E-754A721232BA}"/>
                  </a:ext>
                </a:extLst>
              </p:cNvPr>
              <p:cNvSpPr txBox="1"/>
              <p:nvPr/>
            </p:nvSpPr>
            <p:spPr>
              <a:xfrm>
                <a:off x="383626" y="4144617"/>
                <a:ext cx="11435937" cy="1961627"/>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This downward momentum must be fluxed toward the bed where the loss of momentum is manifested as a resistive force to achieve momentum balance. </a:t>
                </a:r>
              </a:p>
              <a:p>
                <a:pPr algn="l">
                  <a:lnSpc>
                    <a:spcPct val="114000"/>
                  </a:lnSpc>
                </a:pPr>
                <a:r>
                  <a:rPr lang="en-US" dirty="0">
                    <a:latin typeface="Arial" panose="020B0604020202020204" pitchFamily="34" charset="0"/>
                    <a:cs typeface="Arial" panose="020B0604020202020204" pitchFamily="34" charset="0"/>
                  </a:rPr>
                  <a:t>The downward flux of streamwise momentum is maintained by maintaining high velocity in the upper part of the flow and low velocity in the lower part of the flow. </a:t>
                </a:r>
              </a:p>
              <a:p>
                <a:pPr algn="l">
                  <a:lnSpc>
                    <a:spcPct val="114000"/>
                  </a:lnSpc>
                </a:pPr>
                <a:endParaRPr lang="en-US" dirty="0">
                  <a:latin typeface="Arial" panose="020B0604020202020204" pitchFamily="34" charset="0"/>
                  <a:cs typeface="Arial" panose="020B0604020202020204" pitchFamily="34" charset="0"/>
                </a:endParaRPr>
              </a:p>
              <a:p>
                <a:pPr>
                  <a:lnSpc>
                    <a:spcPct val="114000"/>
                  </a:lnSpc>
                </a:pPr>
                <a:r>
                  <a:rPr lang="en-US" dirty="0">
                    <a:latin typeface="Arial" panose="020B0604020202020204" pitchFamily="34" charset="0"/>
                    <a:cs typeface="Arial" panose="020B0604020202020204" pitchFamily="34" charset="0"/>
                  </a:rPr>
                  <a:t>The velocity distribution generates a negative value of </a:t>
                </a:r>
                <a14:m>
                  <m:oMath xmlns:m="http://schemas.openxmlformats.org/officeDocument/2006/math">
                    <m:r>
                      <a:rPr lang="en-US" i="1">
                        <a:latin typeface="Cambria Math" panose="02040503050406030204" pitchFamily="18" charset="0"/>
                        <a:ea typeface="Cambria Math" panose="02040503050406030204" pitchFamily="18" charset="0"/>
                        <a:cs typeface="Arial" panose="020B0604020202020204" pitchFamily="34" charset="0"/>
                      </a:rPr>
                      <m:t>𝜌</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𝑢</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𝑤</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oMath>
                </a14:m>
                <a:r>
                  <a:rPr lang="en-US" dirty="0">
                    <a:latin typeface="Arial" panose="020B0604020202020204" pitchFamily="34" charset="0"/>
                    <a:cs typeface="Arial" panose="020B0604020202020204" pitchFamily="34" charset="0"/>
                  </a:rPr>
                  <a:t> and a positive value of </a:t>
                </a:r>
                <a14:m>
                  <m:oMath xmlns:m="http://schemas.openxmlformats.org/officeDocument/2006/math">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cs typeface="Arial" panose="020B0604020202020204" pitchFamily="34" charset="0"/>
                          </a:rPr>
                          <m:t>𝑅𝑧𝑥</m:t>
                        </m:r>
                      </m:sub>
                    </m:sSub>
                    <m:r>
                      <a:rPr lang="en-US" b="0" i="0" smtClean="0">
                        <a:latin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𝑢</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𝑤</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oMath>
                </a14:m>
                <a:r>
                  <a:rPr lang="en-US" dirty="0">
                    <a:latin typeface="Arial" panose="020B0604020202020204" pitchFamily="34" charset="0"/>
                    <a:cs typeface="Arial" panose="020B0604020202020204" pitchFamily="34" charset="0"/>
                  </a:rPr>
                  <a:t>.</a:t>
                </a:r>
              </a:p>
            </p:txBody>
          </p:sp>
        </mc:Choice>
        <mc:Fallback xmlns="">
          <p:sp>
            <p:nvSpPr>
              <p:cNvPr id="2" name="TextBox 1">
                <a:extLst>
                  <a:ext uri="{FF2B5EF4-FFF2-40B4-BE49-F238E27FC236}">
                    <a16:creationId xmlns:a16="http://schemas.microsoft.com/office/drawing/2014/main" id="{4578764D-EA09-084E-AC2E-754A721232BA}"/>
                  </a:ext>
                </a:extLst>
              </p:cNvPr>
              <p:cNvSpPr txBox="1">
                <a:spLocks noRot="1" noChangeAspect="1" noMove="1" noResize="1" noEditPoints="1" noAdjustHandles="1" noChangeArrowheads="1" noChangeShapeType="1" noTextEdit="1"/>
              </p:cNvSpPr>
              <p:nvPr/>
            </p:nvSpPr>
            <p:spPr>
              <a:xfrm>
                <a:off x="383626" y="4144617"/>
                <a:ext cx="11435937" cy="1961627"/>
              </a:xfrm>
              <a:prstGeom prst="rect">
                <a:avLst/>
              </a:prstGeom>
              <a:blipFill>
                <a:blip r:embed="rId6"/>
                <a:stretch>
                  <a:fillRect l="-444" t="-1290" r="-777" b="-4516"/>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379537B7-8D1F-704C-8631-787FF2934087}"/>
              </a:ext>
            </a:extLst>
          </p:cNvPr>
          <p:cNvCxnSpPr>
            <a:cxnSpLocks/>
          </p:cNvCxnSpPr>
          <p:nvPr/>
        </p:nvCxnSpPr>
        <p:spPr>
          <a:xfrm>
            <a:off x="8407654" y="2470148"/>
            <a:ext cx="5605" cy="513881"/>
          </a:xfrm>
          <a:prstGeom prst="straightConnector1">
            <a:avLst/>
          </a:prstGeom>
          <a:ln w="38100">
            <a:solidFill>
              <a:srgbClr val="FF0000"/>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B1D33BD-71A3-D149-82F4-B3ACC6C4F6A6}"/>
                  </a:ext>
                </a:extLst>
              </p:cNvPr>
              <p:cNvSpPr txBox="1"/>
              <p:nvPr/>
            </p:nvSpPr>
            <p:spPr>
              <a:xfrm>
                <a:off x="8109863" y="3390208"/>
                <a:ext cx="2423612" cy="315792"/>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𝑢</m:t>
                          </m:r>
                        </m:e>
                        <m:sup>
                          <m:r>
                            <a:rPr lang="en-US" b="0" i="1" smtClean="0">
                              <a:latin typeface="Cambria Math" panose="02040503050406030204" pitchFamily="18" charset="0"/>
                              <a:cs typeface="Arial" panose="020B0604020202020204" pitchFamily="34" charset="0"/>
                            </a:rPr>
                            <m:t>′</m:t>
                          </m:r>
                        </m:sup>
                      </m:sSup>
                      <m:r>
                        <a:rPr lang="en-US" b="0" i="1" smtClean="0">
                          <a:latin typeface="Cambria Math" panose="02040503050406030204" pitchFamily="18" charset="0"/>
                          <a:cs typeface="Arial" panose="020B0604020202020204" pitchFamily="34" charset="0"/>
                        </a:rPr>
                        <m:t>&lt;0, </m:t>
                      </m:r>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𝑤</m:t>
                          </m:r>
                        </m:e>
                        <m:sup>
                          <m:r>
                            <a:rPr lang="en-US" b="0" i="1" smtClean="0">
                              <a:latin typeface="Cambria Math" panose="02040503050406030204" pitchFamily="18" charset="0"/>
                              <a:cs typeface="Arial" panose="020B0604020202020204" pitchFamily="34" charset="0"/>
                            </a:rPr>
                            <m:t>′</m:t>
                          </m:r>
                        </m:sup>
                      </m:sSup>
                      <m:r>
                        <a:rPr lang="en-US" b="0" i="1" smtClean="0">
                          <a:latin typeface="Cambria Math" panose="02040503050406030204" pitchFamily="18" charset="0"/>
                          <a:cs typeface="Arial" panose="020B0604020202020204" pitchFamily="34" charset="0"/>
                        </a:rPr>
                        <m:t>&gt;0,</m:t>
                      </m:r>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𝑢</m:t>
                          </m:r>
                        </m:e>
                        <m:sup>
                          <m:r>
                            <a:rPr lang="en-US" i="1">
                              <a:latin typeface="Cambria Math" panose="02040503050406030204" pitchFamily="18" charset="0"/>
                              <a:cs typeface="Arial" panose="020B0604020202020204" pitchFamily="34" charset="0"/>
                            </a:rPr>
                            <m:t>′</m:t>
                          </m:r>
                        </m:sup>
                      </m:sSup>
                      <m:r>
                        <a:rPr lang="en-US" i="1">
                          <a:latin typeface="Cambria Math" panose="02040503050406030204" pitchFamily="18" charset="0"/>
                          <a:cs typeface="Arial" panose="020B0604020202020204" pitchFamily="34" charset="0"/>
                        </a:rPr>
                        <m:t>𝑤</m:t>
                      </m:r>
                      <m:r>
                        <a:rPr lang="en-US" i="1">
                          <a:latin typeface="Cambria Math" panose="02040503050406030204" pitchFamily="18" charset="0"/>
                          <a:cs typeface="Arial" panose="020B0604020202020204" pitchFamily="34" charset="0"/>
                        </a:rPr>
                        <m:t>′&lt;0</m:t>
                      </m:r>
                    </m:oMath>
                  </m:oMathPara>
                </a14:m>
                <a:endParaRPr lang="en-US" dirty="0">
                  <a:latin typeface="Arial" panose="020B0604020202020204" pitchFamily="34" charset="0"/>
                  <a:cs typeface="Arial" panose="020B0604020202020204" pitchFamily="34" charset="0"/>
                </a:endParaRPr>
              </a:p>
            </p:txBody>
          </p:sp>
        </mc:Choice>
        <mc:Fallback xmlns="">
          <p:sp>
            <p:nvSpPr>
              <p:cNvPr id="9" name="TextBox 8">
                <a:extLst>
                  <a:ext uri="{FF2B5EF4-FFF2-40B4-BE49-F238E27FC236}">
                    <a16:creationId xmlns:a16="http://schemas.microsoft.com/office/drawing/2014/main" id="{5B1D33BD-71A3-D149-82F4-B3ACC6C4F6A6}"/>
                  </a:ext>
                </a:extLst>
              </p:cNvPr>
              <p:cNvSpPr txBox="1">
                <a:spLocks noRot="1" noChangeAspect="1" noMove="1" noResize="1" noEditPoints="1" noAdjustHandles="1" noChangeArrowheads="1" noChangeShapeType="1" noTextEdit="1"/>
              </p:cNvSpPr>
              <p:nvPr/>
            </p:nvSpPr>
            <p:spPr>
              <a:xfrm>
                <a:off x="8109863" y="3390208"/>
                <a:ext cx="2423612" cy="315792"/>
              </a:xfrm>
              <a:prstGeom prst="rect">
                <a:avLst/>
              </a:prstGeom>
              <a:blipFill>
                <a:blip r:embed="rId7"/>
                <a:stretch>
                  <a:fillRect l="-521" r="-1563" b="-3846"/>
                </a:stretch>
              </a:blipFill>
            </p:spPr>
            <p:txBody>
              <a:bodyPr/>
              <a:lstStyle/>
              <a:p>
                <a:r>
                  <a:rPr lang="en-US">
                    <a:noFill/>
                  </a:rPr>
                  <a:t> </a:t>
                </a:r>
              </a:p>
            </p:txBody>
          </p:sp>
        </mc:Fallback>
      </mc:AlternateContent>
    </p:spTree>
    <p:extLst>
      <p:ext uri="{BB962C8B-B14F-4D97-AF65-F5344CB8AC3E}">
        <p14:creationId xmlns:p14="http://schemas.microsoft.com/office/powerpoint/2010/main" val="16642290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48</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One way to model the Reynolds flux</a:t>
            </a:r>
          </a:p>
        </p:txBody>
      </p:sp>
      <p:sp>
        <p:nvSpPr>
          <p:cNvPr id="16" name="TextBox 15">
            <a:extLst>
              <a:ext uri="{FF2B5EF4-FFF2-40B4-BE49-F238E27FC236}">
                <a16:creationId xmlns:a16="http://schemas.microsoft.com/office/drawing/2014/main" id="{E93BFC86-46AE-6C49-B622-DBBBCF969899}"/>
              </a:ext>
            </a:extLst>
          </p:cNvPr>
          <p:cNvSpPr txBox="1"/>
          <p:nvPr/>
        </p:nvSpPr>
        <p:spPr>
          <a:xfrm>
            <a:off x="383626" y="911498"/>
            <a:ext cx="11069347" cy="2346604"/>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The concentration of any quantity in a flow is the quantity per unit volume. </a:t>
            </a:r>
          </a:p>
          <a:p>
            <a:pPr>
              <a:lnSpc>
                <a:spcPct val="114000"/>
              </a:lnSpc>
            </a:pPr>
            <a:endParaRPr lang="en-US" dirty="0">
              <a:latin typeface="Arial" panose="020B0604020202020204" pitchFamily="34" charset="0"/>
              <a:cs typeface="Arial" panose="020B0604020202020204" pitchFamily="34" charset="0"/>
            </a:endParaRPr>
          </a:p>
          <a:p>
            <a:pPr>
              <a:lnSpc>
                <a:spcPct val="114000"/>
              </a:lnSpc>
            </a:pPr>
            <a:r>
              <a:rPr lang="en-US" dirty="0">
                <a:latin typeface="Arial" panose="020B0604020202020204" pitchFamily="34" charset="0"/>
                <a:cs typeface="Arial" panose="020B0604020202020204" pitchFamily="34" charset="0"/>
              </a:rPr>
              <a:t>The tendency for turbulence to mix any quantity against its concentration gradient (from high concentration to low concentration) can be represented in terms of a kinematic eddy diffusivity. </a:t>
            </a:r>
          </a:p>
          <a:p>
            <a:pPr>
              <a:lnSpc>
                <a:spcPct val="114000"/>
              </a:lnSpc>
            </a:pPr>
            <a:endParaRPr lang="en-US" dirty="0">
              <a:latin typeface="Arial" panose="020B0604020202020204" pitchFamily="34" charset="0"/>
              <a:cs typeface="Arial" panose="020B0604020202020204" pitchFamily="34" charset="0"/>
            </a:endParaRPr>
          </a:p>
          <a:p>
            <a:pPr>
              <a:lnSpc>
                <a:spcPct val="114000"/>
              </a:lnSpc>
            </a:pPr>
            <a:r>
              <a:rPr lang="en-US" dirty="0">
                <a:latin typeface="Arial" panose="020B0604020202020204" pitchFamily="34" charset="0"/>
                <a:cs typeface="Arial" panose="020B0604020202020204" pitchFamily="34" charset="0"/>
              </a:rPr>
              <a:t>In the case of streamwise momentum, the concentration is </a:t>
            </a:r>
            <a:r>
              <a:rPr lang="en-US" sz="2000" dirty="0" err="1">
                <a:latin typeface="Symbol" pitchFamily="2" charset="2"/>
                <a:cs typeface="Arial" panose="020B0604020202020204" pitchFamily="34" charset="0"/>
              </a:rPr>
              <a:t>r</a:t>
            </a:r>
            <a:r>
              <a:rPr lang="en-US" dirty="0" err="1">
                <a:latin typeface="Arial" panose="020B0604020202020204" pitchFamily="34" charset="0"/>
                <a:cs typeface="Arial" panose="020B0604020202020204" pitchFamily="34" charset="0"/>
              </a:rPr>
              <a:t>u</a:t>
            </a:r>
            <a:r>
              <a:rPr lang="en-US" dirty="0">
                <a:latin typeface="Arial" panose="020B0604020202020204" pitchFamily="34" charset="0"/>
                <a:cs typeface="Arial" panose="020B0604020202020204" pitchFamily="34" charset="0"/>
              </a:rPr>
              <a:t> and the Reynolds flux of streamwise momentum in the z direction is </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B010F42-1BE9-BF46-80B9-106B9D6AB637}"/>
                  </a:ext>
                </a:extLst>
              </p:cNvPr>
              <p:cNvSpPr txBox="1"/>
              <p:nvPr/>
            </p:nvSpPr>
            <p:spPr>
              <a:xfrm>
                <a:off x="480349" y="3300714"/>
                <a:ext cx="1752659" cy="598369"/>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𝜌</m:t>
                      </m:r>
                      <m:acc>
                        <m:accPr>
                          <m:chr m:val="̅"/>
                          <m:ctrlPr>
                            <a:rPr lang="en-US" i="1" smtClean="0">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r>
                            <a:rPr lang="en-US" b="0" i="1" smtClean="0">
                              <a:latin typeface="Cambria Math" panose="02040503050406030204" pitchFamily="18" charset="0"/>
                              <a:ea typeface="Cambria Math" panose="02040503050406030204" pitchFamily="18" charset="0"/>
                              <a:cs typeface="Arial" panose="020B0604020202020204" pitchFamily="34" charset="0"/>
                            </a:rPr>
                            <m:t>𝑤</m:t>
                          </m:r>
                          <m:r>
                            <a:rPr lang="en-US" b="0" i="1" smtClean="0">
                              <a:latin typeface="Cambria Math" panose="02040503050406030204" pitchFamily="18" charset="0"/>
                              <a:ea typeface="Cambria Math" panose="02040503050406030204" pitchFamily="18" charset="0"/>
                              <a:cs typeface="Arial" panose="020B0604020202020204" pitchFamily="34" charset="0"/>
                            </a:rPr>
                            <m:t>′</m:t>
                          </m:r>
                        </m:e>
                      </m:acc>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𝜈</m:t>
                          </m:r>
                        </m:e>
                        <m:sub>
                          <m:r>
                            <a:rPr lang="en-US" b="0" i="1" smtClean="0">
                              <a:latin typeface="Cambria Math" panose="02040503050406030204" pitchFamily="18" charset="0"/>
                              <a:ea typeface="Cambria Math" panose="02040503050406030204" pitchFamily="18" charset="0"/>
                              <a:cs typeface="Arial" panose="020B0604020202020204" pitchFamily="34" charset="0"/>
                            </a:rPr>
                            <m:t>𝑡</m:t>
                          </m:r>
                        </m:sub>
                      </m:sSub>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acc>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oMath>
                  </m:oMathPara>
                </a14:m>
                <a:endParaRPr lang="en-US" dirty="0">
                  <a:latin typeface="Arial" panose="020B0604020202020204" pitchFamily="34" charset="0"/>
                  <a:cs typeface="Arial" panose="020B0604020202020204" pitchFamily="34" charset="0"/>
                </a:endParaRPr>
              </a:p>
            </p:txBody>
          </p:sp>
        </mc:Choice>
        <mc:Fallback xmlns="">
          <p:sp>
            <p:nvSpPr>
              <p:cNvPr id="3" name="TextBox 2">
                <a:extLst>
                  <a:ext uri="{FF2B5EF4-FFF2-40B4-BE49-F238E27FC236}">
                    <a16:creationId xmlns:a16="http://schemas.microsoft.com/office/drawing/2014/main" id="{5B010F42-1BE9-BF46-80B9-106B9D6AB637}"/>
                  </a:ext>
                </a:extLst>
              </p:cNvPr>
              <p:cNvSpPr txBox="1">
                <a:spLocks noRot="1" noChangeAspect="1" noMove="1" noResize="1" noEditPoints="1" noAdjustHandles="1" noChangeArrowheads="1" noChangeShapeType="1" noTextEdit="1"/>
              </p:cNvSpPr>
              <p:nvPr/>
            </p:nvSpPr>
            <p:spPr>
              <a:xfrm>
                <a:off x="480349" y="3300714"/>
                <a:ext cx="1752659" cy="598369"/>
              </a:xfrm>
              <a:prstGeom prst="rect">
                <a:avLst/>
              </a:prstGeom>
              <a:blipFill>
                <a:blip r:embed="rId3"/>
                <a:stretch>
                  <a:fillRect l="-2158" r="-2158" b="-12245"/>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75E31572-9DE1-D043-B9E0-F4AF49FA63C4}"/>
              </a:ext>
            </a:extLst>
          </p:cNvPr>
          <p:cNvSpPr/>
          <p:nvPr/>
        </p:nvSpPr>
        <p:spPr>
          <a:xfrm>
            <a:off x="480349" y="4085472"/>
            <a:ext cx="8107348" cy="400110"/>
          </a:xfrm>
          <a:prstGeom prst="rect">
            <a:avLst/>
          </a:prstGeom>
        </p:spPr>
        <p:txBody>
          <a:bodyPr wrap="none">
            <a:spAutoFit/>
          </a:bodyPr>
          <a:lstStyle/>
          <a:p>
            <a:r>
              <a:rPr lang="en-US" dirty="0">
                <a:latin typeface="Arial" panose="020B0604020202020204" pitchFamily="34" charset="0"/>
                <a:cs typeface="Arial" panose="020B0604020202020204" pitchFamily="34" charset="0"/>
              </a:rPr>
              <a:t>where </a:t>
            </a:r>
            <a:r>
              <a:rPr lang="en-US" sz="2000" dirty="0" err="1">
                <a:latin typeface="Symbol" pitchFamily="2" charset="2"/>
                <a:cs typeface="Arial" panose="020B0604020202020204" pitchFamily="34" charset="0"/>
              </a:rPr>
              <a:t>n</a:t>
            </a:r>
            <a:r>
              <a:rPr lang="en-US" baseline="-25000" dirty="0" err="1">
                <a:latin typeface="Arial" panose="020B0604020202020204" pitchFamily="34" charset="0"/>
                <a:cs typeface="Arial" panose="020B0604020202020204" pitchFamily="34" charset="0"/>
              </a:rPr>
              <a:t>t</a:t>
            </a:r>
            <a:r>
              <a:rPr lang="en-US" baseline="-25000"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is the kinematic eddy diffusivity of momentum (eddy viscosity) [L</a:t>
            </a:r>
            <a:r>
              <a:rPr lang="en-US" baseline="30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/T].</a:t>
            </a:r>
            <a:endParaRPr lang="en-US" dirty="0"/>
          </a:p>
        </p:txBody>
      </p:sp>
    </p:spTree>
    <p:extLst>
      <p:ext uri="{BB962C8B-B14F-4D97-AF65-F5344CB8AC3E}">
        <p14:creationId xmlns:p14="http://schemas.microsoft.com/office/powerpoint/2010/main" val="8873982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49</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Eddy viscosity of turbulent open channel flow </a:t>
            </a:r>
          </a:p>
        </p:txBody>
      </p:sp>
      <p:sp>
        <p:nvSpPr>
          <p:cNvPr id="16" name="TextBox 15">
            <a:extLst>
              <a:ext uri="{FF2B5EF4-FFF2-40B4-BE49-F238E27FC236}">
                <a16:creationId xmlns:a16="http://schemas.microsoft.com/office/drawing/2014/main" id="{E93BFC86-46AE-6C49-B622-DBBBCF969899}"/>
              </a:ext>
            </a:extLst>
          </p:cNvPr>
          <p:cNvSpPr txBox="1"/>
          <p:nvPr/>
        </p:nvSpPr>
        <p:spPr>
          <a:xfrm>
            <a:off x="383626" y="814497"/>
            <a:ext cx="11527088" cy="381708"/>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The velocity profile for hydraulically rough turbulent open channel flow is generally modeled as </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444DB51-1865-1542-9544-53507864172C}"/>
                  </a:ext>
                </a:extLst>
              </p:cNvPr>
              <p:cNvSpPr txBox="1"/>
              <p:nvPr/>
            </p:nvSpPr>
            <p:spPr>
              <a:xfrm>
                <a:off x="521805" y="1350957"/>
                <a:ext cx="3500254" cy="646587"/>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𝑢</m:t>
                              </m:r>
                            </m:e>
                          </m:acc>
                        </m:num>
                        <m:den>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m:t>
                              </m:r>
                            </m:sub>
                          </m:sSub>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1</m:t>
                          </m:r>
                        </m:num>
                        <m:den>
                          <m:r>
                            <a:rPr lang="en-US" b="0" i="1" smtClean="0">
                              <a:latin typeface="Cambria Math" panose="02040503050406030204" pitchFamily="18" charset="0"/>
                              <a:ea typeface="Cambria Math" panose="02040503050406030204" pitchFamily="18" charset="0"/>
                              <a:cs typeface="Arial" panose="020B0604020202020204" pitchFamily="34" charset="0"/>
                            </a:rPr>
                            <m:t>𝜅</m:t>
                          </m:r>
                        </m:den>
                      </m:f>
                      <m:r>
                        <a:rPr lang="en-US" b="0" i="1" smtClean="0">
                          <a:latin typeface="Cambria Math" panose="02040503050406030204" pitchFamily="18" charset="0"/>
                          <a:cs typeface="Arial" panose="020B0604020202020204" pitchFamily="34" charset="0"/>
                        </a:rPr>
                        <m:t>𝑙𝑛</m:t>
                      </m:r>
                      <m:d>
                        <m:dPr>
                          <m:ctrlPr>
                            <a:rPr lang="en-US" b="0" i="1" smtClean="0">
                              <a:latin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𝑧</m:t>
                              </m:r>
                            </m:num>
                            <m:den>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𝑘</m:t>
                                  </m:r>
                                </m:e>
                                <m:sub>
                                  <m:r>
                                    <a:rPr lang="en-US" b="0" i="1" smtClean="0">
                                      <a:latin typeface="Cambria Math" panose="02040503050406030204" pitchFamily="18" charset="0"/>
                                      <a:cs typeface="Arial" panose="020B0604020202020204" pitchFamily="34" charset="0"/>
                                    </a:rPr>
                                    <m:t>𝑠</m:t>
                                  </m:r>
                                </m:sub>
                              </m:sSub>
                            </m:den>
                          </m:f>
                        </m:e>
                      </m:d>
                      <m:r>
                        <a:rPr lang="en-US" b="0" i="1" smtClean="0">
                          <a:latin typeface="Cambria Math" panose="02040503050406030204" pitchFamily="18" charset="0"/>
                          <a:cs typeface="Arial" panose="020B0604020202020204" pitchFamily="34" charset="0"/>
                        </a:rPr>
                        <m:t>+8.5=</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1</m:t>
                          </m:r>
                        </m:num>
                        <m:den>
                          <m:r>
                            <a:rPr lang="en-US" i="1">
                              <a:latin typeface="Cambria Math" panose="02040503050406030204" pitchFamily="18" charset="0"/>
                              <a:ea typeface="Cambria Math" panose="02040503050406030204" pitchFamily="18" charset="0"/>
                              <a:cs typeface="Arial" panose="020B0604020202020204" pitchFamily="34" charset="0"/>
                            </a:rPr>
                            <m:t>𝜅</m:t>
                          </m:r>
                        </m:den>
                      </m:f>
                      <m:r>
                        <a:rPr lang="en-US" i="1">
                          <a:latin typeface="Cambria Math" panose="02040503050406030204" pitchFamily="18" charset="0"/>
                          <a:cs typeface="Arial" panose="020B0604020202020204" pitchFamily="34" charset="0"/>
                        </a:rPr>
                        <m:t>𝑙𝑛</m:t>
                      </m:r>
                      <m:d>
                        <m:dPr>
                          <m:ctrlPr>
                            <a:rPr lang="en-US" i="1">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30</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𝑧</m:t>
                              </m:r>
                            </m:num>
                            <m:den>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𝑘</m:t>
                                  </m:r>
                                </m:e>
                                <m:sub>
                                  <m:r>
                                    <a:rPr lang="en-US" i="1">
                                      <a:latin typeface="Cambria Math" panose="02040503050406030204" pitchFamily="18" charset="0"/>
                                      <a:cs typeface="Arial" panose="020B0604020202020204" pitchFamily="34" charset="0"/>
                                    </a:rPr>
                                    <m:t>𝑠</m:t>
                                  </m:r>
                                </m:sub>
                              </m:sSub>
                            </m:den>
                          </m:f>
                        </m:e>
                      </m:d>
                    </m:oMath>
                  </m:oMathPara>
                </a14:m>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B444DB51-1865-1542-9544-53507864172C}"/>
                  </a:ext>
                </a:extLst>
              </p:cNvPr>
              <p:cNvSpPr txBox="1">
                <a:spLocks noRot="1" noChangeAspect="1" noMove="1" noResize="1" noEditPoints="1" noAdjustHandles="1" noChangeArrowheads="1" noChangeShapeType="1" noTextEdit="1"/>
              </p:cNvSpPr>
              <p:nvPr/>
            </p:nvSpPr>
            <p:spPr>
              <a:xfrm>
                <a:off x="521805" y="1350957"/>
                <a:ext cx="3500254" cy="646587"/>
              </a:xfrm>
              <a:prstGeom prst="rect">
                <a:avLst/>
              </a:prstGeom>
              <a:blipFill>
                <a:blip r:embed="rId3"/>
                <a:stretch>
                  <a:fillRect l="-362" b="-57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B0C3F3A7-5B70-CA4C-9747-B526C8EB7168}"/>
                  </a:ext>
                </a:extLst>
              </p:cNvPr>
              <p:cNvSpPr txBox="1"/>
              <p:nvPr/>
            </p:nvSpPr>
            <p:spPr>
              <a:xfrm>
                <a:off x="383626" y="2229166"/>
                <a:ext cx="11527088" cy="1079847"/>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where </a:t>
                </a:r>
                <a14:m>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𝜅</m:t>
                    </m:r>
                    <m:r>
                      <a:rPr lang="en-US" b="0" i="1" smtClean="0">
                        <a:latin typeface="Cambria Math" panose="02040503050406030204" pitchFamily="18" charset="0"/>
                        <a:ea typeface="Cambria Math" panose="02040503050406030204" pitchFamily="18" charset="0"/>
                        <a:cs typeface="Arial" panose="020B0604020202020204" pitchFamily="34" charset="0"/>
                      </a:rPr>
                      <m:t>=0.4</m:t>
                    </m:r>
                  </m:oMath>
                </a14:m>
                <a:r>
                  <a:rPr lang="en-US" dirty="0">
                    <a:latin typeface="Arial" panose="020B0604020202020204" pitchFamily="34" charset="0"/>
                    <a:cs typeface="Arial" panose="020B0604020202020204" pitchFamily="34" charset="0"/>
                  </a:rPr>
                  <a:t> and </a:t>
                </a:r>
                <a14:m>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m:t>
                        </m:r>
                      </m:sub>
                    </m:sSub>
                    <m:r>
                      <a:rPr lang="en-US" b="0" i="1" smtClean="0">
                        <a:latin typeface="Cambria Math" panose="02040503050406030204" pitchFamily="18" charset="0"/>
                        <a:cs typeface="Arial" panose="020B0604020202020204" pitchFamily="34" charset="0"/>
                      </a:rPr>
                      <m:t>=</m:t>
                    </m:r>
                    <m:rad>
                      <m:radPr>
                        <m:degHide m:val="on"/>
                        <m:ctrlPr>
                          <a:rPr lang="en-US" b="0" i="1" smtClean="0">
                            <a:latin typeface="Cambria Math" panose="02040503050406030204" pitchFamily="18" charset="0"/>
                            <a:cs typeface="Arial" panose="020B0604020202020204" pitchFamily="34" charset="0"/>
                          </a:rPr>
                        </m:ctrlPr>
                      </m:radPr>
                      <m:deg/>
                      <m:e>
                        <m:r>
                          <a:rPr lang="en-US" b="0" i="1" smtClean="0">
                            <a:latin typeface="Cambria Math" panose="02040503050406030204" pitchFamily="18" charset="0"/>
                            <a:cs typeface="Arial" panose="020B0604020202020204" pitchFamily="34" charset="0"/>
                          </a:rPr>
                          <m:t>𝑔𝐻𝑆</m:t>
                        </m:r>
                      </m:e>
                    </m:rad>
                  </m:oMath>
                </a14:m>
                <a:r>
                  <a:rPr lang="en-US" dirty="0">
                    <a:latin typeface="Arial" panose="020B0604020202020204" pitchFamily="34" charset="0"/>
                    <a:cs typeface="Arial" panose="020B0604020202020204" pitchFamily="34" charset="0"/>
                  </a:rPr>
                  <a:t>.</a:t>
                </a:r>
              </a:p>
              <a:p>
                <a:pPr>
                  <a:lnSpc>
                    <a:spcPct val="114000"/>
                  </a:lnSpc>
                </a:pPr>
                <a:endParaRPr lang="en-US" dirty="0">
                  <a:latin typeface="Arial" panose="020B0604020202020204" pitchFamily="34" charset="0"/>
                  <a:cs typeface="Arial" panose="020B0604020202020204" pitchFamily="34" charset="0"/>
                </a:endParaRPr>
              </a:p>
              <a:p>
                <a:pPr>
                  <a:lnSpc>
                    <a:spcPct val="114000"/>
                  </a:lnSpc>
                </a:pPr>
                <a:r>
                  <a:rPr lang="en-US" dirty="0">
                    <a:latin typeface="Arial" panose="020B0604020202020204" pitchFamily="34" charset="0"/>
                    <a:cs typeface="Arial" panose="020B0604020202020204" pitchFamily="34" charset="0"/>
                  </a:rPr>
                  <a:t>The eddy diffusivity of momentum can now be calculated as follows</a:t>
                </a:r>
              </a:p>
            </p:txBody>
          </p:sp>
        </mc:Choice>
        <mc:Fallback xmlns="">
          <p:sp>
            <p:nvSpPr>
              <p:cNvPr id="39" name="TextBox 38">
                <a:extLst>
                  <a:ext uri="{FF2B5EF4-FFF2-40B4-BE49-F238E27FC236}">
                    <a16:creationId xmlns:a16="http://schemas.microsoft.com/office/drawing/2014/main" id="{B0C3F3A7-5B70-CA4C-9747-B526C8EB7168}"/>
                  </a:ext>
                </a:extLst>
              </p:cNvPr>
              <p:cNvSpPr txBox="1">
                <a:spLocks noRot="1" noChangeAspect="1" noMove="1" noResize="1" noEditPoints="1" noAdjustHandles="1" noChangeArrowheads="1" noChangeShapeType="1" noTextEdit="1"/>
              </p:cNvSpPr>
              <p:nvPr/>
            </p:nvSpPr>
            <p:spPr>
              <a:xfrm>
                <a:off x="383626" y="2229166"/>
                <a:ext cx="11527088" cy="1079847"/>
              </a:xfrm>
              <a:prstGeom prst="rect">
                <a:avLst/>
              </a:prstGeom>
              <a:blipFill>
                <a:blip r:embed="rId4"/>
                <a:stretch>
                  <a:fillRect l="-441" b="-814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D04F5AC-8C55-DB4D-8A4E-2E7719E244AC}"/>
                  </a:ext>
                </a:extLst>
              </p:cNvPr>
              <p:cNvSpPr txBox="1"/>
              <p:nvPr/>
            </p:nvSpPr>
            <p:spPr>
              <a:xfrm>
                <a:off x="521805" y="3558210"/>
                <a:ext cx="3091808" cy="599523"/>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𝜏</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e>
                      </m:acc>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𝜈</m:t>
                          </m:r>
                        </m:e>
                        <m:sub>
                          <m:r>
                            <a:rPr lang="en-US" b="0" i="1" smtClean="0">
                              <a:latin typeface="Cambria Math" panose="02040503050406030204" pitchFamily="18" charset="0"/>
                              <a:ea typeface="Cambria Math" panose="02040503050406030204" pitchFamily="18" charset="0"/>
                              <a:cs typeface="Arial" panose="020B0604020202020204" pitchFamily="34" charset="0"/>
                            </a:rPr>
                            <m:t>𝑡</m:t>
                          </m:r>
                        </m:sub>
                      </m:sSub>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𝑑</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acc>
                        </m:num>
                        <m:den>
                          <m:r>
                            <a:rPr lang="en-US" b="0" i="1" smtClean="0">
                              <a:latin typeface="Cambria Math" panose="02040503050406030204" pitchFamily="18" charset="0"/>
                              <a:ea typeface="Cambria Math" panose="02040503050406030204" pitchFamily="18" charset="0"/>
                              <a:cs typeface="Arial" panose="020B0604020202020204" pitchFamily="34" charset="0"/>
                            </a:rPr>
                            <m:t>𝑑𝑧</m:t>
                          </m:r>
                        </m:den>
                      </m:f>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𝜈</m:t>
                          </m:r>
                        </m:e>
                        <m:sub>
                          <m:r>
                            <a:rPr lang="en-US" i="1">
                              <a:latin typeface="Cambria Math" panose="02040503050406030204" pitchFamily="18" charset="0"/>
                              <a:ea typeface="Cambria Math" panose="02040503050406030204" pitchFamily="18" charset="0"/>
                              <a:cs typeface="Arial" panose="020B0604020202020204" pitchFamily="34" charset="0"/>
                            </a:rPr>
                            <m:t>𝑡</m:t>
                          </m:r>
                        </m:sub>
                      </m:sSub>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b>
                              <m:r>
                                <a:rPr lang="en-US" b="0" i="1" smtClean="0">
                                  <a:latin typeface="Cambria Math" panose="02040503050406030204" pitchFamily="18" charset="0"/>
                                  <a:ea typeface="Cambria Math" panose="02040503050406030204" pitchFamily="18" charset="0"/>
                                  <a:cs typeface="Arial" panose="020B0604020202020204" pitchFamily="34" charset="0"/>
                                </a:rPr>
                                <m:t>∗</m:t>
                              </m:r>
                            </m:sub>
                          </m:sSub>
                        </m:num>
                        <m:den>
                          <m:r>
                            <a:rPr lang="en-US" b="0" i="1" smtClean="0">
                              <a:latin typeface="Cambria Math" panose="02040503050406030204" pitchFamily="18" charset="0"/>
                              <a:ea typeface="Cambria Math" panose="02040503050406030204" pitchFamily="18" charset="0"/>
                              <a:cs typeface="Arial" panose="020B0604020202020204" pitchFamily="34" charset="0"/>
                            </a:rPr>
                            <m:t>𝜅</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oMath>
                  </m:oMathPara>
                </a14:m>
                <a:endParaRPr lang="en-US" dirty="0">
                  <a:latin typeface="Arial" panose="020B0604020202020204" pitchFamily="34" charset="0"/>
                  <a:cs typeface="Arial" panose="020B0604020202020204" pitchFamily="34" charset="0"/>
                </a:endParaRPr>
              </a:p>
            </p:txBody>
          </p:sp>
        </mc:Choice>
        <mc:Fallback xmlns="">
          <p:sp>
            <p:nvSpPr>
              <p:cNvPr id="10" name="TextBox 9">
                <a:extLst>
                  <a:ext uri="{FF2B5EF4-FFF2-40B4-BE49-F238E27FC236}">
                    <a16:creationId xmlns:a16="http://schemas.microsoft.com/office/drawing/2014/main" id="{DD04F5AC-8C55-DB4D-8A4E-2E7719E244AC}"/>
                  </a:ext>
                </a:extLst>
              </p:cNvPr>
              <p:cNvSpPr txBox="1">
                <a:spLocks noRot="1" noChangeAspect="1" noMove="1" noResize="1" noEditPoints="1" noAdjustHandles="1" noChangeArrowheads="1" noChangeShapeType="1" noTextEdit="1"/>
              </p:cNvSpPr>
              <p:nvPr/>
            </p:nvSpPr>
            <p:spPr>
              <a:xfrm>
                <a:off x="521805" y="3558210"/>
                <a:ext cx="3091808" cy="599523"/>
              </a:xfrm>
              <a:prstGeom prst="rect">
                <a:avLst/>
              </a:prstGeom>
              <a:blipFill>
                <a:blip r:embed="rId5"/>
                <a:stretch>
                  <a:fillRect l="-820" r="-820" b="-14583"/>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73CFF68A-8989-F742-834D-3D65459B0B7C}"/>
              </a:ext>
            </a:extLst>
          </p:cNvPr>
          <p:cNvSpPr/>
          <p:nvPr/>
        </p:nvSpPr>
        <p:spPr>
          <a:xfrm>
            <a:off x="4412974" y="3667117"/>
            <a:ext cx="2922105" cy="381708"/>
          </a:xfrm>
          <a:prstGeom prst="rect">
            <a:avLst/>
          </a:prstGeom>
        </p:spPr>
        <p:txBody>
          <a:bodyPr wrap="square">
            <a:spAutoFit/>
          </a:bodyPr>
          <a:lstStyle/>
          <a:p>
            <a:pPr>
              <a:lnSpc>
                <a:spcPct val="114000"/>
              </a:lnSpc>
            </a:pPr>
            <a:r>
              <a:rPr lang="en-US" dirty="0">
                <a:latin typeface="Arial" panose="020B0604020202020204" pitchFamily="34" charset="0"/>
                <a:cs typeface="Arial" panose="020B0604020202020204" pitchFamily="34" charset="0"/>
              </a:rPr>
              <a:t>On slide 32 we found that</a:t>
            </a:r>
          </a:p>
        </p:txBody>
      </p:sp>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52185C0B-7A78-9E43-8712-DD413441502C}"/>
                  </a:ext>
                </a:extLst>
              </p:cNvPr>
              <p:cNvSpPr/>
              <p:nvPr/>
            </p:nvSpPr>
            <p:spPr>
              <a:xfrm>
                <a:off x="7857253" y="3540635"/>
                <a:ext cx="3229154" cy="5629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𝜏</m:t>
                      </m:r>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sub>
                      </m:sSub>
                      <m:d>
                        <m:dPr>
                          <m:ctrlPr>
                            <a:rPr lang="en-US"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1−</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𝑧</m:t>
                              </m:r>
                            </m:num>
                            <m:den>
                              <m:r>
                                <a:rPr lang="en-US" b="0" i="1" smtClean="0">
                                  <a:latin typeface="Cambria Math" panose="02040503050406030204" pitchFamily="18" charset="0"/>
                                  <a:cs typeface="Arial" panose="020B0604020202020204" pitchFamily="34" charset="0"/>
                                </a:rPr>
                                <m:t>𝐻</m:t>
                              </m:r>
                            </m:den>
                          </m:f>
                        </m:e>
                      </m:d>
                      <m:r>
                        <a:rPr lang="en-US" b="0" i="0" smtClean="0">
                          <a:latin typeface="Cambria Math" panose="02040503050406030204" pitchFamily="18" charset="0"/>
                          <a:cs typeface="Arial" panose="020B0604020202020204" pitchFamily="34" charset="0"/>
                        </a:rPr>
                        <m:t>=</m:t>
                      </m:r>
                      <m:r>
                        <m:rPr>
                          <m:sty m:val="p"/>
                        </m:rPr>
                        <a:rPr lang="el-GR" b="0" i="1" smtClean="0">
                          <a:latin typeface="Cambria Math" panose="02040503050406030204" pitchFamily="18" charset="0"/>
                          <a:ea typeface="Cambria Math" panose="02040503050406030204" pitchFamily="18" charset="0"/>
                          <a:cs typeface="Arial" panose="020B0604020202020204" pitchFamily="34" charset="0"/>
                        </a:rPr>
                        <m:t>ρ</m:t>
                      </m:r>
                      <m:sSubSup>
                        <m:sSubSupPr>
                          <m:ctrlPr>
                            <a:rPr lang="el-GR" b="0" i="1" smtClean="0">
                              <a:latin typeface="Cambria Math" panose="02040503050406030204" pitchFamily="18" charset="0"/>
                              <a:ea typeface="Cambria Math" panose="02040503050406030204" pitchFamily="18" charset="0"/>
                              <a:cs typeface="Arial" panose="020B0604020202020204" pitchFamily="34" charset="0"/>
                            </a:rPr>
                          </m:ctrlPr>
                        </m:sSub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b>
                          <m:r>
                            <a:rPr lang="en-US" b="0" i="1" smtClean="0">
                              <a:latin typeface="Cambria Math" panose="02040503050406030204" pitchFamily="18" charset="0"/>
                              <a:ea typeface="Cambria Math" panose="02040503050406030204" pitchFamily="18" charset="0"/>
                              <a:cs typeface="Arial" panose="020B0604020202020204" pitchFamily="34" charset="0"/>
                            </a:rPr>
                            <m:t>∗</m:t>
                          </m:r>
                        </m:sub>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bSup>
                      <m:d>
                        <m:dPr>
                          <m:ctrlPr>
                            <a:rPr lang="en-US" i="1">
                              <a:latin typeface="Cambria Math" panose="02040503050406030204" pitchFamily="18" charset="0"/>
                              <a:cs typeface="Arial" panose="020B0604020202020204" pitchFamily="34" charset="0"/>
                            </a:rPr>
                          </m:ctrlPr>
                        </m:dPr>
                        <m:e>
                          <m:r>
                            <a:rPr lang="en-US" i="1">
                              <a:latin typeface="Cambria Math" panose="02040503050406030204" pitchFamily="18" charset="0"/>
                              <a:cs typeface="Arial" panose="020B0604020202020204" pitchFamily="34" charset="0"/>
                            </a:rPr>
                            <m:t>1−</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𝑧</m:t>
                              </m:r>
                            </m:num>
                            <m:den>
                              <m:r>
                                <a:rPr lang="en-US" i="1">
                                  <a:latin typeface="Cambria Math" panose="02040503050406030204" pitchFamily="18" charset="0"/>
                                  <a:cs typeface="Arial" panose="020B0604020202020204" pitchFamily="34" charset="0"/>
                                </a:rPr>
                                <m:t>𝐻</m:t>
                              </m:r>
                            </m:den>
                          </m:f>
                        </m:e>
                      </m:d>
                    </m:oMath>
                  </m:oMathPara>
                </a14:m>
                <a:endParaRPr lang="en-US" dirty="0"/>
              </a:p>
            </p:txBody>
          </p:sp>
        </mc:Choice>
        <mc:Fallback xmlns="">
          <p:sp>
            <p:nvSpPr>
              <p:cNvPr id="40" name="Rectangle 39">
                <a:extLst>
                  <a:ext uri="{FF2B5EF4-FFF2-40B4-BE49-F238E27FC236}">
                    <a16:creationId xmlns:a16="http://schemas.microsoft.com/office/drawing/2014/main" id="{52185C0B-7A78-9E43-8712-DD413441502C}"/>
                  </a:ext>
                </a:extLst>
              </p:cNvPr>
              <p:cNvSpPr>
                <a:spLocks noRot="1" noChangeAspect="1" noMove="1" noResize="1" noEditPoints="1" noAdjustHandles="1" noChangeArrowheads="1" noChangeShapeType="1" noTextEdit="1"/>
              </p:cNvSpPr>
              <p:nvPr/>
            </p:nvSpPr>
            <p:spPr>
              <a:xfrm>
                <a:off x="7857253" y="3540635"/>
                <a:ext cx="3229154" cy="562975"/>
              </a:xfrm>
              <a:prstGeom prst="rect">
                <a:avLst/>
              </a:prstGeom>
              <a:blipFill>
                <a:blip r:embed="rId6"/>
                <a:stretch>
                  <a:fillRect b="-4348"/>
                </a:stretch>
              </a:blipFill>
            </p:spPr>
            <p:txBody>
              <a:bodyPr/>
              <a:lstStyle/>
              <a:p>
                <a:r>
                  <a:rPr lang="en-US">
                    <a:noFill/>
                  </a:rPr>
                  <a:t> </a:t>
                </a:r>
              </a:p>
            </p:txBody>
          </p:sp>
        </mc:Fallback>
      </mc:AlternateContent>
      <p:sp>
        <p:nvSpPr>
          <p:cNvPr id="42" name="Rectangle 41">
            <a:extLst>
              <a:ext uri="{FF2B5EF4-FFF2-40B4-BE49-F238E27FC236}">
                <a16:creationId xmlns:a16="http://schemas.microsoft.com/office/drawing/2014/main" id="{7A222832-6A79-FC4A-ABCA-16F41D90F344}"/>
              </a:ext>
            </a:extLst>
          </p:cNvPr>
          <p:cNvSpPr/>
          <p:nvPr/>
        </p:nvSpPr>
        <p:spPr>
          <a:xfrm>
            <a:off x="383626" y="4450973"/>
            <a:ext cx="2922105" cy="381708"/>
          </a:xfrm>
          <a:prstGeom prst="rect">
            <a:avLst/>
          </a:prstGeom>
        </p:spPr>
        <p:txBody>
          <a:bodyPr wrap="square">
            <a:spAutoFit/>
          </a:bodyPr>
          <a:lstStyle/>
          <a:p>
            <a:pPr>
              <a:lnSpc>
                <a:spcPct val="114000"/>
              </a:lnSpc>
            </a:pPr>
            <a:r>
              <a:rPr lang="en-US" dirty="0">
                <a:latin typeface="Arial" panose="020B0604020202020204" pitchFamily="34" charset="0"/>
                <a:cs typeface="Arial" panose="020B0604020202020204" pitchFamily="34" charset="0"/>
              </a:rPr>
              <a:t>It can thus be written that</a:t>
            </a: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E47046E9-8DE8-0D48-B82C-22FA4100CAC2}"/>
                  </a:ext>
                </a:extLst>
              </p:cNvPr>
              <p:cNvSpPr/>
              <p:nvPr/>
            </p:nvSpPr>
            <p:spPr>
              <a:xfrm>
                <a:off x="462170" y="4940349"/>
                <a:ext cx="2365071" cy="5666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𝜌</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𝜈</m:t>
                          </m:r>
                        </m:e>
                        <m:sub>
                          <m:r>
                            <a:rPr lang="en-US" i="1">
                              <a:latin typeface="Cambria Math" panose="02040503050406030204" pitchFamily="18" charset="0"/>
                              <a:ea typeface="Cambria Math" panose="02040503050406030204" pitchFamily="18" charset="0"/>
                              <a:cs typeface="Arial" panose="020B0604020202020204" pitchFamily="34" charset="0"/>
                            </a:rPr>
                            <m:t>𝑡</m:t>
                          </m:r>
                        </m:sub>
                      </m:sSub>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num>
                        <m:den>
                          <m:r>
                            <a:rPr lang="en-US" i="1">
                              <a:latin typeface="Cambria Math" panose="02040503050406030204" pitchFamily="18" charset="0"/>
                              <a:ea typeface="Cambria Math" panose="02040503050406030204" pitchFamily="18" charset="0"/>
                              <a:cs typeface="Arial" panose="020B0604020202020204" pitchFamily="34" charset="0"/>
                            </a:rPr>
                            <m:t>𝜅</m:t>
                          </m:r>
                          <m:r>
                            <a:rPr lang="en-US" i="1">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r>
                        <m:rPr>
                          <m:sty m:val="p"/>
                        </m:rPr>
                        <a:rPr lang="el-GR" i="1">
                          <a:latin typeface="Cambria Math" panose="02040503050406030204" pitchFamily="18" charset="0"/>
                          <a:ea typeface="Cambria Math" panose="02040503050406030204" pitchFamily="18" charset="0"/>
                          <a:cs typeface="Arial" panose="020B0604020202020204" pitchFamily="34" charset="0"/>
                        </a:rPr>
                        <m:t>ρ</m:t>
                      </m:r>
                      <m:sSubSup>
                        <m:sSubSupPr>
                          <m:ctrlPr>
                            <a:rPr lang="el-GR" i="1">
                              <a:latin typeface="Cambria Math" panose="02040503050406030204" pitchFamily="18" charset="0"/>
                              <a:ea typeface="Cambria Math" panose="02040503050406030204" pitchFamily="18" charset="0"/>
                              <a:cs typeface="Arial" panose="020B0604020202020204" pitchFamily="34" charset="0"/>
                            </a:rPr>
                          </m:ctrlPr>
                        </m:sSubSup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up>
                          <m:r>
                            <a:rPr lang="en-US" i="1">
                              <a:latin typeface="Cambria Math" panose="02040503050406030204" pitchFamily="18" charset="0"/>
                              <a:ea typeface="Cambria Math" panose="02040503050406030204" pitchFamily="18" charset="0"/>
                              <a:cs typeface="Arial" panose="020B0604020202020204" pitchFamily="34" charset="0"/>
                            </a:rPr>
                            <m:t>2</m:t>
                          </m:r>
                        </m:sup>
                      </m:sSubSup>
                      <m:d>
                        <m:dPr>
                          <m:ctrlPr>
                            <a:rPr lang="en-US" i="1">
                              <a:latin typeface="Cambria Math" panose="02040503050406030204" pitchFamily="18" charset="0"/>
                              <a:cs typeface="Arial" panose="020B0604020202020204" pitchFamily="34" charset="0"/>
                            </a:rPr>
                          </m:ctrlPr>
                        </m:dPr>
                        <m:e>
                          <m:r>
                            <a:rPr lang="en-US" i="1">
                              <a:latin typeface="Cambria Math" panose="02040503050406030204" pitchFamily="18" charset="0"/>
                              <a:cs typeface="Arial" panose="020B0604020202020204" pitchFamily="34" charset="0"/>
                            </a:rPr>
                            <m:t>1−</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𝑧</m:t>
                              </m:r>
                            </m:num>
                            <m:den>
                              <m:r>
                                <a:rPr lang="en-US" i="1">
                                  <a:latin typeface="Cambria Math" panose="02040503050406030204" pitchFamily="18" charset="0"/>
                                  <a:cs typeface="Arial" panose="020B0604020202020204" pitchFamily="34" charset="0"/>
                                </a:rPr>
                                <m:t>𝐻</m:t>
                              </m:r>
                            </m:den>
                          </m:f>
                        </m:e>
                      </m:d>
                    </m:oMath>
                  </m:oMathPara>
                </a14:m>
                <a:endParaRPr lang="en-US" dirty="0"/>
              </a:p>
            </p:txBody>
          </p:sp>
        </mc:Choice>
        <mc:Fallback xmlns="">
          <p:sp>
            <p:nvSpPr>
              <p:cNvPr id="12" name="Rectangle 11">
                <a:extLst>
                  <a:ext uri="{FF2B5EF4-FFF2-40B4-BE49-F238E27FC236}">
                    <a16:creationId xmlns:a16="http://schemas.microsoft.com/office/drawing/2014/main" id="{E47046E9-8DE8-0D48-B82C-22FA4100CAC2}"/>
                  </a:ext>
                </a:extLst>
              </p:cNvPr>
              <p:cNvSpPr>
                <a:spLocks noRot="1" noChangeAspect="1" noMove="1" noResize="1" noEditPoints="1" noAdjustHandles="1" noChangeArrowheads="1" noChangeShapeType="1" noTextEdit="1"/>
              </p:cNvSpPr>
              <p:nvPr/>
            </p:nvSpPr>
            <p:spPr>
              <a:xfrm>
                <a:off x="462170" y="4940349"/>
                <a:ext cx="2365071" cy="566694"/>
              </a:xfrm>
              <a:prstGeom prst="rect">
                <a:avLst/>
              </a:prstGeom>
              <a:blipFill>
                <a:blip r:embed="rId7"/>
                <a:stretch>
                  <a:fillRect b="-4348"/>
                </a:stretch>
              </a:blipFill>
            </p:spPr>
            <p:txBody>
              <a:bodyPr/>
              <a:lstStyle/>
              <a:p>
                <a:r>
                  <a:rPr lang="en-US">
                    <a:noFill/>
                  </a:rPr>
                  <a:t> </a:t>
                </a:r>
              </a:p>
            </p:txBody>
          </p:sp>
        </mc:Fallback>
      </mc:AlternateContent>
      <p:sp>
        <p:nvSpPr>
          <p:cNvPr id="43" name="Rectangle 42">
            <a:extLst>
              <a:ext uri="{FF2B5EF4-FFF2-40B4-BE49-F238E27FC236}">
                <a16:creationId xmlns:a16="http://schemas.microsoft.com/office/drawing/2014/main" id="{56183C47-B9A0-C647-BAA2-193BAA716421}"/>
              </a:ext>
            </a:extLst>
          </p:cNvPr>
          <p:cNvSpPr/>
          <p:nvPr/>
        </p:nvSpPr>
        <p:spPr>
          <a:xfrm>
            <a:off x="3030749" y="4999931"/>
            <a:ext cx="1680400" cy="410625"/>
          </a:xfrm>
          <a:prstGeom prst="rect">
            <a:avLst/>
          </a:prstGeom>
        </p:spPr>
        <p:txBody>
          <a:bodyPr wrap="square">
            <a:spAutoFit/>
          </a:bodyPr>
          <a:lstStyle/>
          <a:p>
            <a:pPr>
              <a:lnSpc>
                <a:spcPct val="114000"/>
              </a:lnSpc>
            </a:pPr>
            <a:r>
              <a:rPr lang="en-US" dirty="0">
                <a:latin typeface="Arial" panose="020B0604020202020204" pitchFamily="34" charset="0"/>
                <a:cs typeface="Arial" panose="020B0604020202020204" pitchFamily="34" charset="0"/>
              </a:rPr>
              <a:t>solving for </a:t>
            </a:r>
            <a:r>
              <a:rPr lang="en-US" sz="2000" dirty="0" err="1">
                <a:latin typeface="Symbol" pitchFamily="2" charset="2"/>
                <a:cs typeface="Arial" panose="020B0604020202020204" pitchFamily="34" charset="0"/>
              </a:rPr>
              <a:t>n</a:t>
            </a:r>
            <a:r>
              <a:rPr lang="en-US" baseline="-25000" dirty="0" err="1">
                <a:latin typeface="Arial" panose="020B0604020202020204" pitchFamily="34" charset="0"/>
                <a:cs typeface="Arial" panose="020B0604020202020204" pitchFamily="34" charset="0"/>
              </a:rPr>
              <a:t>t</a:t>
            </a:r>
            <a:endParaRPr lang="en-US" baseline="-250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654E464-297A-AE45-B288-B3F362B104B0}"/>
                  </a:ext>
                </a:extLst>
              </p:cNvPr>
              <p:cNvSpPr txBox="1"/>
              <p:nvPr/>
            </p:nvSpPr>
            <p:spPr>
              <a:xfrm>
                <a:off x="4785448" y="4873202"/>
                <a:ext cx="1881412" cy="536557"/>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𝜈</m:t>
                          </m:r>
                        </m:e>
                        <m:sub>
                          <m:r>
                            <a:rPr lang="en-US" b="0" i="1" smtClean="0">
                              <a:latin typeface="Cambria Math" panose="02040503050406030204" pitchFamily="18" charset="0"/>
                              <a:cs typeface="Arial" panose="020B0604020202020204" pitchFamily="34" charset="0"/>
                            </a:rPr>
                            <m:t>𝑡</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𝜅</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b>
                          <m:r>
                            <a:rPr lang="en-US" b="0" i="1" smtClean="0">
                              <a:latin typeface="Cambria Math" panose="02040503050406030204" pitchFamily="18" charset="0"/>
                              <a:ea typeface="Cambria Math" panose="02040503050406030204" pitchFamily="18" charset="0"/>
                              <a:cs typeface="Arial" panose="020B0604020202020204" pitchFamily="34" charset="0"/>
                            </a:rPr>
                            <m:t>∗</m:t>
                          </m:r>
                        </m:sub>
                      </m:sSub>
                      <m:r>
                        <a:rPr lang="en-US" b="0" i="1" smtClean="0">
                          <a:latin typeface="Cambria Math" panose="02040503050406030204" pitchFamily="18" charset="0"/>
                          <a:ea typeface="Cambria Math" panose="02040503050406030204" pitchFamily="18" charset="0"/>
                          <a:cs typeface="Arial" panose="020B0604020202020204" pitchFamily="34" charset="0"/>
                        </a:rPr>
                        <m:t>𝑧</m:t>
                      </m:r>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r>
                            <a:rPr lang="en-US" i="1">
                              <a:latin typeface="Cambria Math" panose="02040503050406030204" pitchFamily="18" charset="0"/>
                              <a:cs typeface="Arial" panose="020B0604020202020204" pitchFamily="34" charset="0"/>
                            </a:rPr>
                            <m:t>1−</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𝑧</m:t>
                              </m:r>
                            </m:num>
                            <m:den>
                              <m:r>
                                <a:rPr lang="en-US" i="1">
                                  <a:latin typeface="Cambria Math" panose="02040503050406030204" pitchFamily="18" charset="0"/>
                                  <a:cs typeface="Arial" panose="020B0604020202020204" pitchFamily="34" charset="0"/>
                                </a:rPr>
                                <m:t>𝐻</m:t>
                              </m:r>
                            </m:den>
                          </m:f>
                        </m:e>
                      </m:d>
                    </m:oMath>
                  </m:oMathPara>
                </a14:m>
                <a:endParaRPr lang="en-US" dirty="0">
                  <a:latin typeface="Arial" panose="020B0604020202020204" pitchFamily="34" charset="0"/>
                  <a:cs typeface="Arial" panose="020B0604020202020204" pitchFamily="34" charset="0"/>
                </a:endParaRPr>
              </a:p>
            </p:txBody>
          </p:sp>
        </mc:Choice>
        <mc:Fallback xmlns="">
          <p:sp>
            <p:nvSpPr>
              <p:cNvPr id="13" name="TextBox 12">
                <a:extLst>
                  <a:ext uri="{FF2B5EF4-FFF2-40B4-BE49-F238E27FC236}">
                    <a16:creationId xmlns:a16="http://schemas.microsoft.com/office/drawing/2014/main" id="{2654E464-297A-AE45-B288-B3F362B104B0}"/>
                  </a:ext>
                </a:extLst>
              </p:cNvPr>
              <p:cNvSpPr txBox="1">
                <a:spLocks noRot="1" noChangeAspect="1" noMove="1" noResize="1" noEditPoints="1" noAdjustHandles="1" noChangeArrowheads="1" noChangeShapeType="1" noTextEdit="1"/>
              </p:cNvSpPr>
              <p:nvPr/>
            </p:nvSpPr>
            <p:spPr>
              <a:xfrm>
                <a:off x="4785448" y="4873202"/>
                <a:ext cx="1881412" cy="536557"/>
              </a:xfrm>
              <a:prstGeom prst="rect">
                <a:avLst/>
              </a:prstGeom>
              <a:blipFill>
                <a:blip r:embed="rId8"/>
                <a:stretch>
                  <a:fillRect l="-667" b="-16279"/>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1B3D4E48-4713-F940-A071-6FF58FB372BE}"/>
              </a:ext>
            </a:extLst>
          </p:cNvPr>
          <p:cNvSpPr txBox="1"/>
          <p:nvPr/>
        </p:nvSpPr>
        <p:spPr>
          <a:xfrm>
            <a:off x="5208104" y="5409759"/>
            <a:ext cx="665922"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or</a:t>
            </a: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FCCF5236-47D3-CF48-84E7-AB2005C24D7D}"/>
                  </a:ext>
                </a:extLst>
              </p:cNvPr>
              <p:cNvSpPr txBox="1"/>
              <p:nvPr/>
            </p:nvSpPr>
            <p:spPr>
              <a:xfrm>
                <a:off x="4785448" y="5791467"/>
                <a:ext cx="1727781" cy="592406"/>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𝜈</m:t>
                              </m:r>
                            </m:e>
                            <m:sub>
                              <m:r>
                                <a:rPr lang="en-US" i="1">
                                  <a:latin typeface="Cambria Math" panose="02040503050406030204" pitchFamily="18" charset="0"/>
                                  <a:cs typeface="Arial" panose="020B0604020202020204" pitchFamily="34" charset="0"/>
                                </a:rPr>
                                <m:t>𝑡</m:t>
                              </m:r>
                            </m:sub>
                          </m:sSub>
                        </m:num>
                        <m:den>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r>
                            <a:rPr lang="en-US" i="1">
                              <a:latin typeface="Cambria Math" panose="02040503050406030204" pitchFamily="18" charset="0"/>
                              <a:ea typeface="Cambria Math" panose="02040503050406030204" pitchFamily="18" charset="0"/>
                              <a:cs typeface="Arial" panose="020B0604020202020204" pitchFamily="34" charset="0"/>
                            </a:rPr>
                            <m:t>𝐻</m:t>
                          </m:r>
                        </m:den>
                      </m:f>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𝜁</m:t>
                      </m:r>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r>
                            <a:rPr lang="en-US" i="1">
                              <a:latin typeface="Cambria Math" panose="02040503050406030204" pitchFamily="18" charset="0"/>
                              <a:cs typeface="Arial" panose="020B0604020202020204" pitchFamily="34" charset="0"/>
                            </a:rPr>
                            <m:t>1−</m:t>
                          </m:r>
                          <m:r>
                            <a:rPr lang="en-US" i="1" smtClean="0">
                              <a:latin typeface="Cambria Math" panose="02040503050406030204" pitchFamily="18" charset="0"/>
                              <a:ea typeface="Cambria Math" panose="02040503050406030204" pitchFamily="18" charset="0"/>
                              <a:cs typeface="Arial" panose="020B0604020202020204" pitchFamily="34" charset="0"/>
                            </a:rPr>
                            <m:t>𝜁</m:t>
                          </m:r>
                        </m:e>
                      </m:d>
                    </m:oMath>
                  </m:oMathPara>
                </a14:m>
                <a:endParaRPr lang="en-US" dirty="0">
                  <a:latin typeface="Arial" panose="020B0604020202020204" pitchFamily="34" charset="0"/>
                  <a:cs typeface="Arial" panose="020B0604020202020204" pitchFamily="34" charset="0"/>
                </a:endParaRPr>
              </a:p>
            </p:txBody>
          </p:sp>
        </mc:Choice>
        <mc:Fallback xmlns="">
          <p:sp>
            <p:nvSpPr>
              <p:cNvPr id="44" name="TextBox 43">
                <a:extLst>
                  <a:ext uri="{FF2B5EF4-FFF2-40B4-BE49-F238E27FC236}">
                    <a16:creationId xmlns:a16="http://schemas.microsoft.com/office/drawing/2014/main" id="{FCCF5236-47D3-CF48-84E7-AB2005C24D7D}"/>
                  </a:ext>
                </a:extLst>
              </p:cNvPr>
              <p:cNvSpPr txBox="1">
                <a:spLocks noRot="1" noChangeAspect="1" noMove="1" noResize="1" noEditPoints="1" noAdjustHandles="1" noChangeArrowheads="1" noChangeShapeType="1" noTextEdit="1"/>
              </p:cNvSpPr>
              <p:nvPr/>
            </p:nvSpPr>
            <p:spPr>
              <a:xfrm>
                <a:off x="4785448" y="5791467"/>
                <a:ext cx="1727781" cy="592406"/>
              </a:xfrm>
              <a:prstGeom prst="rect">
                <a:avLst/>
              </a:prstGeom>
              <a:blipFill>
                <a:blip r:embed="rId9"/>
                <a:stretch>
                  <a:fillRect l="-730" b="-4255"/>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5C9E18F5-733C-304D-B6CA-45487F25EF4D}"/>
              </a:ext>
            </a:extLst>
          </p:cNvPr>
          <p:cNvSpPr txBox="1"/>
          <p:nvPr/>
        </p:nvSpPr>
        <p:spPr>
          <a:xfrm>
            <a:off x="7036905" y="5846408"/>
            <a:ext cx="1391478"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where</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E936C55-58C3-5049-A40F-3E3492A1CB39}"/>
                  </a:ext>
                </a:extLst>
              </p:cNvPr>
              <p:cNvSpPr txBox="1"/>
              <p:nvPr/>
            </p:nvSpPr>
            <p:spPr>
              <a:xfrm>
                <a:off x="8235515" y="5768983"/>
                <a:ext cx="658577" cy="536557"/>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𝜁</m:t>
                      </m:r>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𝑧</m:t>
                          </m:r>
                        </m:num>
                        <m:den>
                          <m:r>
                            <a:rPr lang="en-US" b="0" i="1" smtClean="0">
                              <a:latin typeface="Cambria Math" panose="02040503050406030204" pitchFamily="18" charset="0"/>
                              <a:ea typeface="Cambria Math" panose="02040503050406030204" pitchFamily="18" charset="0"/>
                              <a:cs typeface="Arial" panose="020B0604020202020204" pitchFamily="34" charset="0"/>
                            </a:rPr>
                            <m:t>𝐻</m:t>
                          </m:r>
                        </m:den>
                      </m:f>
                    </m:oMath>
                  </m:oMathPara>
                </a14:m>
                <a:endParaRPr lang="en-US" dirty="0">
                  <a:latin typeface="Arial" panose="020B0604020202020204" pitchFamily="34" charset="0"/>
                  <a:cs typeface="Arial" panose="020B0604020202020204" pitchFamily="34" charset="0"/>
                </a:endParaRPr>
              </a:p>
            </p:txBody>
          </p:sp>
        </mc:Choice>
        <mc:Fallback xmlns="">
          <p:sp>
            <p:nvSpPr>
              <p:cNvPr id="19" name="TextBox 18">
                <a:extLst>
                  <a:ext uri="{FF2B5EF4-FFF2-40B4-BE49-F238E27FC236}">
                    <a16:creationId xmlns:a16="http://schemas.microsoft.com/office/drawing/2014/main" id="{BE936C55-58C3-5049-A40F-3E3492A1CB39}"/>
                  </a:ext>
                </a:extLst>
              </p:cNvPr>
              <p:cNvSpPr txBox="1">
                <a:spLocks noRot="1" noChangeAspect="1" noMove="1" noResize="1" noEditPoints="1" noAdjustHandles="1" noChangeArrowheads="1" noChangeShapeType="1" noTextEdit="1"/>
              </p:cNvSpPr>
              <p:nvPr/>
            </p:nvSpPr>
            <p:spPr>
              <a:xfrm>
                <a:off x="8235515" y="5768983"/>
                <a:ext cx="658577" cy="536557"/>
              </a:xfrm>
              <a:prstGeom prst="rect">
                <a:avLst/>
              </a:prstGeom>
              <a:blipFill>
                <a:blip r:embed="rId10"/>
                <a:stretch>
                  <a:fillRect l="-11321" r="-5660" b="-13953"/>
                </a:stretch>
              </a:blipFill>
            </p:spPr>
            <p:txBody>
              <a:bodyPr/>
              <a:lstStyle/>
              <a:p>
                <a:r>
                  <a:rPr lang="en-US">
                    <a:noFill/>
                  </a:rPr>
                  <a:t> </a:t>
                </a:r>
              </a:p>
            </p:txBody>
          </p:sp>
        </mc:Fallback>
      </mc:AlternateContent>
      <p:sp>
        <p:nvSpPr>
          <p:cNvPr id="45" name="Rectangle 44">
            <a:extLst>
              <a:ext uri="{FF2B5EF4-FFF2-40B4-BE49-F238E27FC236}">
                <a16:creationId xmlns:a16="http://schemas.microsoft.com/office/drawing/2014/main" id="{C3DF10D6-79FB-D04C-93FC-87476288E22F}"/>
              </a:ext>
            </a:extLst>
          </p:cNvPr>
          <p:cNvSpPr/>
          <p:nvPr/>
        </p:nvSpPr>
        <p:spPr>
          <a:xfrm>
            <a:off x="7036904" y="4936167"/>
            <a:ext cx="3846443" cy="381708"/>
          </a:xfrm>
          <a:prstGeom prst="rect">
            <a:avLst/>
          </a:prstGeom>
        </p:spPr>
        <p:txBody>
          <a:bodyPr wrap="square">
            <a:spAutoFit/>
          </a:bodyPr>
          <a:lstStyle/>
          <a:p>
            <a:pPr>
              <a:lnSpc>
                <a:spcPct val="114000"/>
              </a:lnSpc>
            </a:pPr>
            <a:r>
              <a:rPr lang="en-US" dirty="0">
                <a:latin typeface="Arial" panose="020B0604020202020204" pitchFamily="34" charset="0"/>
                <a:cs typeface="Arial" panose="020B0604020202020204" pitchFamily="34" charset="0"/>
              </a:rPr>
              <a:t>a parabolic equation is obtained</a:t>
            </a:r>
            <a:endParaRPr lang="en-US" baseline="-25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546444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50</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Reynolds flux of suspended sediment</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93BFC86-46AE-6C49-B622-DBBBCF969899}"/>
                  </a:ext>
                </a:extLst>
              </p:cNvPr>
              <p:cNvSpPr txBox="1"/>
              <p:nvPr/>
            </p:nvSpPr>
            <p:spPr>
              <a:xfrm>
                <a:off x="383626" y="1420784"/>
                <a:ext cx="11527088" cy="1014893"/>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The quantities </a:t>
                </a:r>
                <a14:m>
                  <m:oMath xmlns:m="http://schemas.openxmlformats.org/officeDocument/2006/math">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𝑢</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oMath>
                </a14:m>
                <a:r>
                  <a:rPr lang="en-US" dirty="0">
                    <a:latin typeface="Arial" panose="020B0604020202020204" pitchFamily="34" charset="0"/>
                    <a:cs typeface="Arial" panose="020B0604020202020204" pitchFamily="34" charset="0"/>
                  </a:rPr>
                  <a:t>, </a:t>
                </a:r>
                <a14:m>
                  <m:oMath xmlns:m="http://schemas.openxmlformats.org/officeDocument/2006/math">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𝑐</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oMath>
                </a14:m>
                <a:r>
                  <a:rPr lang="en-US" dirty="0">
                    <a:latin typeface="Arial" panose="020B0604020202020204" pitchFamily="34" charset="0"/>
                    <a:cs typeface="Arial" panose="020B0604020202020204" pitchFamily="34" charset="0"/>
                  </a:rPr>
                  <a:t> and </a:t>
                </a:r>
                <a14:m>
                  <m:oMath xmlns:m="http://schemas.openxmlformats.org/officeDocument/2006/math">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𝑐</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oMath>
                </a14:m>
                <a:r>
                  <a:rPr lang="en-US" dirty="0">
                    <a:latin typeface="Arial" panose="020B0604020202020204" pitchFamily="34" charset="0"/>
                    <a:cs typeface="Arial" panose="020B0604020202020204" pitchFamily="34" charset="0"/>
                  </a:rPr>
                  <a:t>  denote the convective Reynolds fluxes of suspended sediment. They characterize the tendency of turbulence to mix suspended sediment from areas of high concentrations to areas of low concentration, i.e. down the gradient of mean concentration. </a:t>
                </a:r>
              </a:p>
            </p:txBody>
          </p:sp>
        </mc:Choice>
        <mc:Fallback xmlns="">
          <p:sp>
            <p:nvSpPr>
              <p:cNvPr id="16" name="TextBox 15">
                <a:extLst>
                  <a:ext uri="{FF2B5EF4-FFF2-40B4-BE49-F238E27FC236}">
                    <a16:creationId xmlns:a16="http://schemas.microsoft.com/office/drawing/2014/main" id="{E93BFC86-46AE-6C49-B622-DBBBCF969899}"/>
                  </a:ext>
                </a:extLst>
              </p:cNvPr>
              <p:cNvSpPr txBox="1">
                <a:spLocks noRot="1" noChangeAspect="1" noMove="1" noResize="1" noEditPoints="1" noAdjustHandles="1" noChangeArrowheads="1" noChangeShapeType="1" noTextEdit="1"/>
              </p:cNvSpPr>
              <p:nvPr/>
            </p:nvSpPr>
            <p:spPr>
              <a:xfrm>
                <a:off x="383626" y="1420784"/>
                <a:ext cx="11527088" cy="1014893"/>
              </a:xfrm>
              <a:prstGeom prst="rect">
                <a:avLst/>
              </a:prstGeom>
              <a:blipFill>
                <a:blip r:embed="rId3"/>
                <a:stretch>
                  <a:fillRect l="-441" t="-1235" b="-8642"/>
                </a:stretch>
              </a:blipFill>
            </p:spPr>
            <p:txBody>
              <a:bodyPr/>
              <a:lstStyle/>
              <a:p>
                <a:r>
                  <a:rPr lang="en-US">
                    <a:noFill/>
                  </a:rPr>
                  <a:t> </a:t>
                </a:r>
              </a:p>
            </p:txBody>
          </p:sp>
        </mc:Fallback>
      </mc:AlternateContent>
      <p:sp>
        <p:nvSpPr>
          <p:cNvPr id="17" name="Rectangle 16">
            <a:extLst>
              <a:ext uri="{FF2B5EF4-FFF2-40B4-BE49-F238E27FC236}">
                <a16:creationId xmlns:a16="http://schemas.microsoft.com/office/drawing/2014/main" id="{ECAFBF10-1DC2-6B4A-AA12-0CF2694046EE}"/>
              </a:ext>
            </a:extLst>
          </p:cNvPr>
          <p:cNvSpPr/>
          <p:nvPr/>
        </p:nvSpPr>
        <p:spPr>
          <a:xfrm>
            <a:off x="2063956" y="2588749"/>
            <a:ext cx="8362122" cy="1770419"/>
          </a:xfrm>
          <a:prstGeom prst="rect">
            <a:avLst/>
          </a:prstGeom>
          <a:gradFill flip="none" rotWithShape="1">
            <a:gsLst>
              <a:gs pos="0">
                <a:schemeClr val="accent5">
                  <a:lumMod val="42000"/>
                  <a:lumOff val="58000"/>
                </a:schemeClr>
              </a:gs>
              <a:gs pos="100000">
                <a:schemeClr val="accent4">
                  <a:lumMod val="75000"/>
                </a:schemeClr>
              </a:gs>
            </a:gsLst>
            <a:lin ang="5400000" scaled="1"/>
            <a:tileRect/>
          </a:gra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1F2B3CA-1C20-694E-B276-5E2C754C33E9}"/>
              </a:ext>
            </a:extLst>
          </p:cNvPr>
          <p:cNvSpPr/>
          <p:nvPr/>
        </p:nvSpPr>
        <p:spPr>
          <a:xfrm>
            <a:off x="2063956" y="3819183"/>
            <a:ext cx="8362122" cy="540000"/>
          </a:xfrm>
          <a:prstGeom prst="rect">
            <a:avLst/>
          </a:prstGeom>
          <a:pattFill prst="pct25">
            <a:fgClr>
              <a:schemeClr val="accent4">
                <a:lumMod val="75000"/>
              </a:schemeClr>
            </a:fgClr>
            <a:bgClr>
              <a:schemeClr val="bg1"/>
            </a:bgClr>
          </a:patt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B8F9072B-FAED-E34D-A493-1550A6EF10EB}"/>
              </a:ext>
            </a:extLst>
          </p:cNvPr>
          <p:cNvSpPr/>
          <p:nvPr/>
        </p:nvSpPr>
        <p:spPr>
          <a:xfrm>
            <a:off x="963496" y="3234738"/>
            <a:ext cx="936994" cy="374754"/>
          </a:xfrm>
          <a:prstGeom prst="right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F0F5E43C-3EC3-444E-806E-821D7084C74D}"/>
              </a:ext>
            </a:extLst>
          </p:cNvPr>
          <p:cNvSpPr txBox="1"/>
          <p:nvPr/>
        </p:nvSpPr>
        <p:spPr>
          <a:xfrm>
            <a:off x="965940" y="2974251"/>
            <a:ext cx="936994"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flow</a:t>
            </a:r>
          </a:p>
        </p:txBody>
      </p:sp>
      <p:cxnSp>
        <p:nvCxnSpPr>
          <p:cNvPr id="26" name="Straight Arrow Connector 25">
            <a:extLst>
              <a:ext uri="{FF2B5EF4-FFF2-40B4-BE49-F238E27FC236}">
                <a16:creationId xmlns:a16="http://schemas.microsoft.com/office/drawing/2014/main" id="{F47901D6-43B5-294C-9981-55254364F5EE}"/>
              </a:ext>
            </a:extLst>
          </p:cNvPr>
          <p:cNvCxnSpPr/>
          <p:nvPr/>
        </p:nvCxnSpPr>
        <p:spPr>
          <a:xfrm flipV="1">
            <a:off x="3317007" y="3140048"/>
            <a:ext cx="0" cy="679135"/>
          </a:xfrm>
          <a:prstGeom prst="straightConnector1">
            <a:avLst/>
          </a:prstGeom>
          <a:ln w="190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0E4D3EA0-66F0-794D-8FE4-2DBD8F2E41DC}"/>
              </a:ext>
            </a:extLst>
          </p:cNvPr>
          <p:cNvSpPr txBox="1"/>
          <p:nvPr/>
        </p:nvSpPr>
        <p:spPr>
          <a:xfrm>
            <a:off x="3002469" y="2974251"/>
            <a:ext cx="46605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z</a:t>
            </a:r>
          </a:p>
        </p:txBody>
      </p:sp>
      <p:cxnSp>
        <p:nvCxnSpPr>
          <p:cNvPr id="28" name="Straight Connector 27">
            <a:extLst>
              <a:ext uri="{FF2B5EF4-FFF2-40B4-BE49-F238E27FC236}">
                <a16:creationId xmlns:a16="http://schemas.microsoft.com/office/drawing/2014/main" id="{31F383C2-98BF-DB4F-9B64-AB7F8E7427A9}"/>
              </a:ext>
            </a:extLst>
          </p:cNvPr>
          <p:cNvCxnSpPr/>
          <p:nvPr/>
        </p:nvCxnSpPr>
        <p:spPr>
          <a:xfrm>
            <a:off x="5475591" y="2588749"/>
            <a:ext cx="0" cy="12304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8483155-485F-2D41-BC7E-FC7ED7DE3B86}"/>
              </a:ext>
            </a:extLst>
          </p:cNvPr>
          <p:cNvCxnSpPr/>
          <p:nvPr/>
        </p:nvCxnSpPr>
        <p:spPr>
          <a:xfrm>
            <a:off x="7231939" y="2577296"/>
            <a:ext cx="0" cy="12304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Freeform 29">
            <a:extLst>
              <a:ext uri="{FF2B5EF4-FFF2-40B4-BE49-F238E27FC236}">
                <a16:creationId xmlns:a16="http://schemas.microsoft.com/office/drawing/2014/main" id="{FDA1D57E-8616-9149-843D-C1904ACF8159}"/>
              </a:ext>
            </a:extLst>
          </p:cNvPr>
          <p:cNvSpPr/>
          <p:nvPr/>
        </p:nvSpPr>
        <p:spPr>
          <a:xfrm>
            <a:off x="5769148" y="2612315"/>
            <a:ext cx="584617" cy="1184223"/>
          </a:xfrm>
          <a:custGeom>
            <a:avLst/>
            <a:gdLst>
              <a:gd name="connsiteX0" fmla="*/ 0 w 584617"/>
              <a:gd name="connsiteY0" fmla="*/ 0 h 1184223"/>
              <a:gd name="connsiteX1" fmla="*/ 44971 w 584617"/>
              <a:gd name="connsiteY1" fmla="*/ 329784 h 1184223"/>
              <a:gd name="connsiteX2" fmla="*/ 179882 w 584617"/>
              <a:gd name="connsiteY2" fmla="*/ 749508 h 1184223"/>
              <a:gd name="connsiteX3" fmla="*/ 389745 w 584617"/>
              <a:gd name="connsiteY3" fmla="*/ 1019331 h 1184223"/>
              <a:gd name="connsiteX4" fmla="*/ 524656 w 584617"/>
              <a:gd name="connsiteY4" fmla="*/ 1094282 h 1184223"/>
              <a:gd name="connsiteX5" fmla="*/ 584617 w 584617"/>
              <a:gd name="connsiteY5" fmla="*/ 1184223 h 1184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4617" h="1184223">
                <a:moveTo>
                  <a:pt x="0" y="0"/>
                </a:moveTo>
                <a:cubicBezTo>
                  <a:pt x="7495" y="102433"/>
                  <a:pt x="14991" y="204866"/>
                  <a:pt x="44971" y="329784"/>
                </a:cubicBezTo>
                <a:cubicBezTo>
                  <a:pt x="74951" y="454702"/>
                  <a:pt x="122420" y="634584"/>
                  <a:pt x="179882" y="749508"/>
                </a:cubicBezTo>
                <a:cubicBezTo>
                  <a:pt x="237344" y="864432"/>
                  <a:pt x="332283" y="961869"/>
                  <a:pt x="389745" y="1019331"/>
                </a:cubicBezTo>
                <a:cubicBezTo>
                  <a:pt x="447207" y="1076793"/>
                  <a:pt x="492177" y="1066800"/>
                  <a:pt x="524656" y="1094282"/>
                </a:cubicBezTo>
                <a:cubicBezTo>
                  <a:pt x="557135" y="1121764"/>
                  <a:pt x="570876" y="1152993"/>
                  <a:pt x="584617" y="1184223"/>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a:extLst>
              <a:ext uri="{FF2B5EF4-FFF2-40B4-BE49-F238E27FC236}">
                <a16:creationId xmlns:a16="http://schemas.microsoft.com/office/drawing/2014/main" id="{5C0DF430-FD64-8449-89AD-986886FBD0C0}"/>
              </a:ext>
            </a:extLst>
          </p:cNvPr>
          <p:cNvSpPr/>
          <p:nvPr/>
        </p:nvSpPr>
        <p:spPr>
          <a:xfrm>
            <a:off x="7244430" y="2570422"/>
            <a:ext cx="854439" cy="1214203"/>
          </a:xfrm>
          <a:custGeom>
            <a:avLst/>
            <a:gdLst>
              <a:gd name="connsiteX0" fmla="*/ 0 w 854439"/>
              <a:gd name="connsiteY0" fmla="*/ 1214203 h 1214203"/>
              <a:gd name="connsiteX1" fmla="*/ 539646 w 854439"/>
              <a:gd name="connsiteY1" fmla="*/ 1154242 h 1214203"/>
              <a:gd name="connsiteX2" fmla="*/ 704538 w 854439"/>
              <a:gd name="connsiteY2" fmla="*/ 974360 h 1214203"/>
              <a:gd name="connsiteX3" fmla="*/ 824459 w 854439"/>
              <a:gd name="connsiteY3" fmla="*/ 404734 h 1214203"/>
              <a:gd name="connsiteX4" fmla="*/ 854439 w 854439"/>
              <a:gd name="connsiteY4" fmla="*/ 0 h 12142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439" h="1214203">
                <a:moveTo>
                  <a:pt x="0" y="1214203"/>
                </a:moveTo>
                <a:cubicBezTo>
                  <a:pt x="211111" y="1204209"/>
                  <a:pt x="422223" y="1194216"/>
                  <a:pt x="539646" y="1154242"/>
                </a:cubicBezTo>
                <a:cubicBezTo>
                  <a:pt x="657069" y="1114268"/>
                  <a:pt x="657069" y="1099278"/>
                  <a:pt x="704538" y="974360"/>
                </a:cubicBezTo>
                <a:cubicBezTo>
                  <a:pt x="752007" y="849442"/>
                  <a:pt x="799476" y="567127"/>
                  <a:pt x="824459" y="404734"/>
                </a:cubicBezTo>
                <a:cubicBezTo>
                  <a:pt x="849443" y="242341"/>
                  <a:pt x="851941" y="121170"/>
                  <a:pt x="854439" y="0"/>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Arrow Connector 31">
            <a:extLst>
              <a:ext uri="{FF2B5EF4-FFF2-40B4-BE49-F238E27FC236}">
                <a16:creationId xmlns:a16="http://schemas.microsoft.com/office/drawing/2014/main" id="{7846BE5B-B97B-B244-8654-6CDD5746D03E}"/>
              </a:ext>
            </a:extLst>
          </p:cNvPr>
          <p:cNvCxnSpPr>
            <a:cxnSpLocks/>
          </p:cNvCxnSpPr>
          <p:nvPr/>
        </p:nvCxnSpPr>
        <p:spPr>
          <a:xfrm>
            <a:off x="5475591" y="3473958"/>
            <a:ext cx="585865"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9338797-7F8F-8141-BC03-D66907748AF3}"/>
              </a:ext>
            </a:extLst>
          </p:cNvPr>
          <p:cNvCxnSpPr>
            <a:cxnSpLocks/>
          </p:cNvCxnSpPr>
          <p:nvPr/>
        </p:nvCxnSpPr>
        <p:spPr>
          <a:xfrm>
            <a:off x="7244430" y="3347594"/>
            <a:ext cx="749508"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7C91644B-183D-5041-BD6F-B91339E019C1}"/>
                  </a:ext>
                </a:extLst>
              </p:cNvPr>
              <p:cNvSpPr txBox="1"/>
              <p:nvPr/>
            </p:nvSpPr>
            <p:spPr>
              <a:xfrm>
                <a:off x="5538489" y="3177523"/>
                <a:ext cx="177228"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oMath>
                  </m:oMathPara>
                </a14:m>
                <a:endParaRPr lang="en-US" dirty="0">
                  <a:latin typeface="Arial" panose="020B0604020202020204" pitchFamily="34" charset="0"/>
                  <a:cs typeface="Arial" panose="020B0604020202020204" pitchFamily="34" charset="0"/>
                </a:endParaRPr>
              </a:p>
            </p:txBody>
          </p:sp>
        </mc:Choice>
        <mc:Fallback xmlns="">
          <p:sp>
            <p:nvSpPr>
              <p:cNvPr id="34" name="TextBox 33">
                <a:extLst>
                  <a:ext uri="{FF2B5EF4-FFF2-40B4-BE49-F238E27FC236}">
                    <a16:creationId xmlns:a16="http://schemas.microsoft.com/office/drawing/2014/main" id="{7C91644B-183D-5041-BD6F-B91339E019C1}"/>
                  </a:ext>
                </a:extLst>
              </p:cNvPr>
              <p:cNvSpPr txBox="1">
                <a:spLocks noRot="1" noChangeAspect="1" noMove="1" noResize="1" noEditPoints="1" noAdjustHandles="1" noChangeArrowheads="1" noChangeShapeType="1" noTextEdit="1"/>
              </p:cNvSpPr>
              <p:nvPr/>
            </p:nvSpPr>
            <p:spPr>
              <a:xfrm>
                <a:off x="5538489" y="3177523"/>
                <a:ext cx="177228" cy="315792"/>
              </a:xfrm>
              <a:prstGeom prst="rect">
                <a:avLst/>
              </a:prstGeom>
              <a:blipFill>
                <a:blip r:embed="rId4"/>
                <a:stretch>
                  <a:fillRect l="-20000" r="-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97AE2F3-1D65-9048-BC0D-E736250F704D}"/>
                  </a:ext>
                </a:extLst>
              </p:cNvPr>
              <p:cNvSpPr txBox="1"/>
              <p:nvPr/>
            </p:nvSpPr>
            <p:spPr>
              <a:xfrm>
                <a:off x="7472064" y="3001097"/>
                <a:ext cx="203004"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𝑢</m:t>
                          </m:r>
                        </m:e>
                      </m:acc>
                    </m:oMath>
                  </m:oMathPara>
                </a14:m>
                <a:endParaRPr lang="en-US" dirty="0">
                  <a:latin typeface="Arial" panose="020B0604020202020204" pitchFamily="34" charset="0"/>
                  <a:cs typeface="Arial" panose="020B0604020202020204" pitchFamily="34" charset="0"/>
                </a:endParaRPr>
              </a:p>
            </p:txBody>
          </p:sp>
        </mc:Choice>
        <mc:Fallback xmlns="">
          <p:sp>
            <p:nvSpPr>
              <p:cNvPr id="35" name="TextBox 34">
                <a:extLst>
                  <a:ext uri="{FF2B5EF4-FFF2-40B4-BE49-F238E27FC236}">
                    <a16:creationId xmlns:a16="http://schemas.microsoft.com/office/drawing/2014/main" id="{597AE2F3-1D65-9048-BC0D-E736250F704D}"/>
                  </a:ext>
                </a:extLst>
              </p:cNvPr>
              <p:cNvSpPr txBox="1">
                <a:spLocks noRot="1" noChangeAspect="1" noMove="1" noResize="1" noEditPoints="1" noAdjustHandles="1" noChangeArrowheads="1" noChangeShapeType="1" noTextEdit="1"/>
              </p:cNvSpPr>
              <p:nvPr/>
            </p:nvSpPr>
            <p:spPr>
              <a:xfrm>
                <a:off x="7472064" y="3001097"/>
                <a:ext cx="203004" cy="315792"/>
              </a:xfrm>
              <a:prstGeom prst="rect">
                <a:avLst/>
              </a:prstGeom>
              <a:blipFill>
                <a:blip r:embed="rId5"/>
                <a:stretch>
                  <a:fillRect l="-11765" r="-5882"/>
                </a:stretch>
              </a:blipFill>
            </p:spPr>
            <p:txBody>
              <a:bodyPr/>
              <a:lstStyle/>
              <a:p>
                <a:r>
                  <a:rPr lang="en-US">
                    <a:noFill/>
                  </a:rPr>
                  <a:t> </a:t>
                </a:r>
              </a:p>
            </p:txBody>
          </p:sp>
        </mc:Fallback>
      </mc:AlternateContent>
      <p:cxnSp>
        <p:nvCxnSpPr>
          <p:cNvPr id="36" name="Straight Arrow Connector 35">
            <a:extLst>
              <a:ext uri="{FF2B5EF4-FFF2-40B4-BE49-F238E27FC236}">
                <a16:creationId xmlns:a16="http://schemas.microsoft.com/office/drawing/2014/main" id="{37276F2E-B504-C14B-9BA0-9B153DAB8943}"/>
              </a:ext>
            </a:extLst>
          </p:cNvPr>
          <p:cNvCxnSpPr/>
          <p:nvPr/>
        </p:nvCxnSpPr>
        <p:spPr>
          <a:xfrm>
            <a:off x="9193151" y="2588749"/>
            <a:ext cx="0" cy="1230434"/>
          </a:xfrm>
          <a:prstGeom prst="straightConnector1">
            <a:avLst/>
          </a:prstGeom>
          <a:ln w="19050">
            <a:solidFill>
              <a:schemeClr val="tx1"/>
            </a:solidFill>
            <a:headEnd type="arrow" w="lg" len="lg"/>
            <a:tailEnd type="arrow" w="lg" len="lg"/>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81ED501-140C-8346-9135-AEA297EBB31E}"/>
              </a:ext>
            </a:extLst>
          </p:cNvPr>
          <p:cNvSpPr txBox="1"/>
          <p:nvPr/>
        </p:nvSpPr>
        <p:spPr>
          <a:xfrm>
            <a:off x="8862011" y="2916817"/>
            <a:ext cx="46605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H</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578764D-EA09-084E-AC2E-754A721232BA}"/>
                  </a:ext>
                </a:extLst>
              </p:cNvPr>
              <p:cNvSpPr txBox="1"/>
              <p:nvPr/>
            </p:nvSpPr>
            <p:spPr>
              <a:xfrm>
                <a:off x="383626" y="4653903"/>
                <a:ext cx="11435937" cy="1014252"/>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In the figure above concentration declines in the positive z direction, turbulence mixes sediment from zones of high concentration (lower part of the water column) to zones of low concentration (higher part of the water column). This generates a positive value of </a:t>
                </a:r>
                <a14:m>
                  <m:oMath xmlns:m="http://schemas.openxmlformats.org/officeDocument/2006/math">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oMath>
                </a14:m>
                <a:r>
                  <a:rPr lang="en-US" dirty="0">
                    <a:latin typeface="Arial" panose="020B0604020202020204" pitchFamily="34" charset="0"/>
                    <a:cs typeface="Arial" panose="020B0604020202020204" pitchFamily="34" charset="0"/>
                  </a:rPr>
                  <a:t>.</a:t>
                </a:r>
              </a:p>
            </p:txBody>
          </p:sp>
        </mc:Choice>
        <mc:Fallback xmlns="">
          <p:sp>
            <p:nvSpPr>
              <p:cNvPr id="2" name="TextBox 1">
                <a:extLst>
                  <a:ext uri="{FF2B5EF4-FFF2-40B4-BE49-F238E27FC236}">
                    <a16:creationId xmlns:a16="http://schemas.microsoft.com/office/drawing/2014/main" id="{4578764D-EA09-084E-AC2E-754A721232BA}"/>
                  </a:ext>
                </a:extLst>
              </p:cNvPr>
              <p:cNvSpPr txBox="1">
                <a:spLocks noRot="1" noChangeAspect="1" noMove="1" noResize="1" noEditPoints="1" noAdjustHandles="1" noChangeArrowheads="1" noChangeShapeType="1" noTextEdit="1"/>
              </p:cNvSpPr>
              <p:nvPr/>
            </p:nvSpPr>
            <p:spPr>
              <a:xfrm>
                <a:off x="383626" y="4653903"/>
                <a:ext cx="11435937" cy="1014252"/>
              </a:xfrm>
              <a:prstGeom prst="rect">
                <a:avLst/>
              </a:prstGeom>
              <a:blipFill>
                <a:blip r:embed="rId6"/>
                <a:stretch>
                  <a:fillRect l="-444" t="-2469" b="-8642"/>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379537B7-8D1F-704C-8631-787FF2934087}"/>
              </a:ext>
            </a:extLst>
          </p:cNvPr>
          <p:cNvCxnSpPr>
            <a:cxnSpLocks/>
          </p:cNvCxnSpPr>
          <p:nvPr/>
        </p:nvCxnSpPr>
        <p:spPr>
          <a:xfrm>
            <a:off x="6614925" y="2908234"/>
            <a:ext cx="5605" cy="513881"/>
          </a:xfrm>
          <a:prstGeom prst="straightConnector1">
            <a:avLst/>
          </a:prstGeom>
          <a:ln w="38100">
            <a:solidFill>
              <a:srgbClr val="FF0000"/>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B1D33BD-71A3-D149-82F4-B3ACC6C4F6A6}"/>
                  </a:ext>
                </a:extLst>
              </p:cNvPr>
              <p:cNvSpPr txBox="1"/>
              <p:nvPr/>
            </p:nvSpPr>
            <p:spPr>
              <a:xfrm>
                <a:off x="5768523" y="3865256"/>
                <a:ext cx="2434063" cy="315792"/>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𝑐</m:t>
                          </m:r>
                        </m:e>
                        <m:sup>
                          <m:r>
                            <a:rPr lang="en-US" b="0" i="1" smtClean="0">
                              <a:latin typeface="Cambria Math" panose="02040503050406030204" pitchFamily="18" charset="0"/>
                              <a:cs typeface="Arial" panose="020B0604020202020204" pitchFamily="34" charset="0"/>
                            </a:rPr>
                            <m:t>′</m:t>
                          </m:r>
                        </m:sup>
                      </m:sSup>
                      <m:r>
                        <a:rPr lang="en-US" b="0" i="1" smtClean="0">
                          <a:latin typeface="Cambria Math" panose="02040503050406030204" pitchFamily="18" charset="0"/>
                          <a:cs typeface="Arial" panose="020B0604020202020204" pitchFamily="34" charset="0"/>
                        </a:rPr>
                        <m:t>&gt;0, </m:t>
                      </m:r>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𝑤</m:t>
                          </m:r>
                        </m:e>
                        <m:sup>
                          <m:r>
                            <a:rPr lang="en-US" b="0" i="1" smtClean="0">
                              <a:latin typeface="Cambria Math" panose="02040503050406030204" pitchFamily="18" charset="0"/>
                              <a:cs typeface="Arial" panose="020B0604020202020204" pitchFamily="34" charset="0"/>
                            </a:rPr>
                            <m:t>′</m:t>
                          </m:r>
                        </m:sup>
                      </m:sSup>
                      <m:r>
                        <a:rPr lang="en-US" b="0" i="1" smtClean="0">
                          <a:latin typeface="Cambria Math" panose="02040503050406030204" pitchFamily="18" charset="0"/>
                          <a:cs typeface="Arial" panose="020B0604020202020204" pitchFamily="34" charset="0"/>
                        </a:rPr>
                        <m:t>&gt;0,</m:t>
                      </m:r>
                      <m:sSup>
                        <m:sSupPr>
                          <m:ctrlPr>
                            <a:rPr lang="en-US" i="1">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 </m:t>
                          </m:r>
                          <m:r>
                            <a:rPr lang="en-US" i="1">
                              <a:latin typeface="Cambria Math" panose="02040503050406030204" pitchFamily="18" charset="0"/>
                              <a:cs typeface="Arial" panose="020B0604020202020204" pitchFamily="34" charset="0"/>
                            </a:rPr>
                            <m:t>𝑤</m:t>
                          </m:r>
                        </m:e>
                        <m:sup>
                          <m:r>
                            <a:rPr lang="en-US" i="1">
                              <a:latin typeface="Cambria Math" panose="02040503050406030204" pitchFamily="18" charset="0"/>
                              <a:cs typeface="Arial" panose="020B0604020202020204" pitchFamily="34" charset="0"/>
                            </a:rPr>
                            <m:t>′</m:t>
                          </m:r>
                        </m:sup>
                      </m:sSup>
                      <m:r>
                        <a:rPr lang="en-US" i="1" smtClean="0">
                          <a:latin typeface="Cambria Math" panose="02040503050406030204" pitchFamily="18" charset="0"/>
                          <a:cs typeface="Arial" panose="020B0604020202020204" pitchFamily="34" charset="0"/>
                        </a:rPr>
                        <m:t>𝑐</m:t>
                      </m:r>
                      <m:r>
                        <a:rPr lang="en-US" i="1" smtClean="0">
                          <a:latin typeface="Cambria Math" panose="02040503050406030204" pitchFamily="18" charset="0"/>
                          <a:cs typeface="Arial" panose="020B0604020202020204" pitchFamily="34" charset="0"/>
                        </a:rPr>
                        <m:t>′&gt;0</m:t>
                      </m:r>
                    </m:oMath>
                  </m:oMathPara>
                </a14:m>
                <a:endParaRPr lang="en-US" dirty="0">
                  <a:latin typeface="Arial" panose="020B0604020202020204" pitchFamily="34" charset="0"/>
                  <a:cs typeface="Arial" panose="020B0604020202020204" pitchFamily="34" charset="0"/>
                </a:endParaRPr>
              </a:p>
            </p:txBody>
          </p:sp>
        </mc:Choice>
        <mc:Fallback xmlns="">
          <p:sp>
            <p:nvSpPr>
              <p:cNvPr id="9" name="TextBox 8">
                <a:extLst>
                  <a:ext uri="{FF2B5EF4-FFF2-40B4-BE49-F238E27FC236}">
                    <a16:creationId xmlns:a16="http://schemas.microsoft.com/office/drawing/2014/main" id="{5B1D33BD-71A3-D149-82F4-B3ACC6C4F6A6}"/>
                  </a:ext>
                </a:extLst>
              </p:cNvPr>
              <p:cNvSpPr txBox="1">
                <a:spLocks noRot="1" noChangeAspect="1" noMove="1" noResize="1" noEditPoints="1" noAdjustHandles="1" noChangeArrowheads="1" noChangeShapeType="1" noTextEdit="1"/>
              </p:cNvSpPr>
              <p:nvPr/>
            </p:nvSpPr>
            <p:spPr>
              <a:xfrm>
                <a:off x="5768523" y="3865256"/>
                <a:ext cx="2434063" cy="315792"/>
              </a:xfrm>
              <a:prstGeom prst="rect">
                <a:avLst/>
              </a:prstGeom>
              <a:blipFill>
                <a:blip r:embed="rId7"/>
                <a:stretch>
                  <a:fillRect l="-518" t="-3846" r="-1036" b="-23077"/>
                </a:stretch>
              </a:blipFill>
            </p:spPr>
            <p:txBody>
              <a:bodyPr/>
              <a:lstStyle/>
              <a:p>
                <a:r>
                  <a:rPr lang="en-US">
                    <a:noFill/>
                  </a:rPr>
                  <a:t> </a:t>
                </a:r>
              </a:p>
            </p:txBody>
          </p:sp>
        </mc:Fallback>
      </mc:AlternateContent>
      <p:sp>
        <p:nvSpPr>
          <p:cNvPr id="24" name="Oval 23">
            <a:extLst>
              <a:ext uri="{FF2B5EF4-FFF2-40B4-BE49-F238E27FC236}">
                <a16:creationId xmlns:a16="http://schemas.microsoft.com/office/drawing/2014/main" id="{66CD56BB-EF97-C740-ACE1-DCF189143D4E}"/>
              </a:ext>
            </a:extLst>
          </p:cNvPr>
          <p:cNvSpPr/>
          <p:nvPr/>
        </p:nvSpPr>
        <p:spPr>
          <a:xfrm>
            <a:off x="6302869" y="601358"/>
            <a:ext cx="2559142" cy="804231"/>
          </a:xfrm>
          <a:prstGeom prst="ellipse">
            <a:avLst/>
          </a:prstGeom>
          <a:solidFill>
            <a:srgbClr val="F9D9FF"/>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C3A620C-5EAF-8E47-9690-9D09A73664E0}"/>
                  </a:ext>
                </a:extLst>
              </p:cNvPr>
              <p:cNvSpPr txBox="1"/>
              <p:nvPr/>
            </p:nvSpPr>
            <p:spPr>
              <a:xfrm>
                <a:off x="3433910" y="693135"/>
                <a:ext cx="5030673" cy="545727"/>
              </a:xfrm>
              <a:prstGeom prst="rect">
                <a:avLst/>
              </a:prstGeom>
              <a:noFill/>
            </p:spPr>
            <p:txBody>
              <a:bodyPr wrap="none" lIns="0" tIns="0" rIns="0" bIns="0" rtlCol="0">
                <a:spAutoFit/>
              </a:bodyPr>
              <a:lstStyle/>
              <a:p>
                <a:pPr>
                  <a:lnSpc>
                    <a:spcPct val="114000"/>
                  </a:lnSpc>
                </a:pPr>
                <a14:m>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acc>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acc>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acc>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acc>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𝑣</m:t>
                        </m:r>
                      </m:e>
                      <m:sub>
                        <m:r>
                          <a:rPr lang="en-US" i="1">
                            <a:latin typeface="Cambria Math" panose="02040503050406030204" pitchFamily="18" charset="0"/>
                            <a:ea typeface="Cambria Math" panose="02040503050406030204" pitchFamily="18" charset="0"/>
                            <a:cs typeface="Arial" panose="020B0604020202020204" pitchFamily="34" charset="0"/>
                          </a:rPr>
                          <m:t>𝑠</m:t>
                        </m:r>
                      </m:sub>
                    </m:sSub>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r>
                              <a:rPr lang="en-US" b="0" i="1" smtClean="0">
                                <a:latin typeface="Cambria Math" panose="02040503050406030204" pitchFamily="18" charset="0"/>
                                <a:ea typeface="Cambria Math" panose="02040503050406030204" pitchFamily="18" charset="0"/>
                                <a:cs typeface="Arial" panose="020B0604020202020204" pitchFamily="34" charset="0"/>
                              </a:rPr>
                              <m:t>𝑐</m:t>
                            </m:r>
                            <m:r>
                              <a:rPr lang="en-US" b="0" i="1" smtClean="0">
                                <a:latin typeface="Cambria Math" panose="02040503050406030204" pitchFamily="18" charset="0"/>
                                <a:ea typeface="Cambria Math" panose="02040503050406030204" pitchFamily="18" charset="0"/>
                                <a:cs typeface="Arial" panose="020B0604020202020204" pitchFamily="34" charset="0"/>
                              </a:rPr>
                              <m:t>′</m:t>
                            </m:r>
                          </m:e>
                        </m:acc>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i="1">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r>
                              <a:rPr lang="en-US" i="1">
                                <a:latin typeface="Cambria Math" panose="02040503050406030204" pitchFamily="18" charset="0"/>
                                <a:ea typeface="Cambria Math" panose="02040503050406030204" pitchFamily="18" charset="0"/>
                                <a:cs typeface="Arial" panose="020B0604020202020204" pitchFamily="34" charset="0"/>
                              </a:rPr>
                              <m:t>𝑐</m:t>
                            </m:r>
                            <m:r>
                              <a:rPr lang="en-US" i="1">
                                <a:latin typeface="Cambria Math" panose="02040503050406030204" pitchFamily="18" charset="0"/>
                                <a:ea typeface="Cambria Math" panose="02040503050406030204" pitchFamily="18" charset="0"/>
                                <a:cs typeface="Arial" panose="020B0604020202020204" pitchFamily="34" charset="0"/>
                              </a:rPr>
                              <m:t>′</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oMath>
                </a14:m>
                <a:r>
                  <a:rPr lang="en-US" dirty="0">
                    <a:ea typeface="Cambria Math" panose="02040503050406030204" pitchFamily="18" charset="0"/>
                    <a:cs typeface="Arial" panose="020B0604020202020204" pitchFamily="34" charset="0"/>
                  </a:rPr>
                  <a:t> </a:t>
                </a:r>
                <a14:m>
                  <m:oMath xmlns:m="http://schemas.openxmlformats.org/officeDocument/2006/math">
                    <m:r>
                      <a:rPr lang="en-US" i="1">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r>
                              <a:rPr lang="en-US" i="1">
                                <a:latin typeface="Cambria Math" panose="02040503050406030204" pitchFamily="18" charset="0"/>
                                <a:ea typeface="Cambria Math" panose="02040503050406030204" pitchFamily="18" charset="0"/>
                                <a:cs typeface="Arial" panose="020B0604020202020204" pitchFamily="34" charset="0"/>
                              </a:rPr>
                              <m:t>𝑐</m:t>
                            </m:r>
                            <m:r>
                              <a:rPr lang="en-US" i="1">
                                <a:latin typeface="Cambria Math" panose="02040503050406030204" pitchFamily="18" charset="0"/>
                                <a:ea typeface="Cambria Math" panose="02040503050406030204" pitchFamily="18" charset="0"/>
                                <a:cs typeface="Arial" panose="020B0604020202020204" pitchFamily="34" charset="0"/>
                              </a:rPr>
                              <m:t>′</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oMath>
                </a14:m>
                <a:endParaRPr lang="en-US" dirty="0">
                  <a:latin typeface="Arial" panose="020B0604020202020204" pitchFamily="34" charset="0"/>
                  <a:cs typeface="Arial" panose="020B0604020202020204" pitchFamily="34" charset="0"/>
                </a:endParaRPr>
              </a:p>
            </p:txBody>
          </p:sp>
        </mc:Choice>
        <mc:Fallback xmlns="">
          <p:sp>
            <p:nvSpPr>
              <p:cNvPr id="25" name="TextBox 24">
                <a:extLst>
                  <a:ext uri="{FF2B5EF4-FFF2-40B4-BE49-F238E27FC236}">
                    <a16:creationId xmlns:a16="http://schemas.microsoft.com/office/drawing/2014/main" id="{FC3A620C-5EAF-8E47-9690-9D09A73664E0}"/>
                  </a:ext>
                </a:extLst>
              </p:cNvPr>
              <p:cNvSpPr txBox="1">
                <a:spLocks noRot="1" noChangeAspect="1" noMove="1" noResize="1" noEditPoints="1" noAdjustHandles="1" noChangeArrowheads="1" noChangeShapeType="1" noTextEdit="1"/>
              </p:cNvSpPr>
              <p:nvPr/>
            </p:nvSpPr>
            <p:spPr>
              <a:xfrm>
                <a:off x="3433910" y="693135"/>
                <a:ext cx="5030673" cy="545727"/>
              </a:xfrm>
              <a:prstGeom prst="rect">
                <a:avLst/>
              </a:prstGeom>
              <a:blipFill>
                <a:blip r:embed="rId8"/>
                <a:stretch>
                  <a:fillRect l="-1511" r="-756" b="-9091"/>
                </a:stretch>
              </a:blipFill>
            </p:spPr>
            <p:txBody>
              <a:bodyPr/>
              <a:lstStyle/>
              <a:p>
                <a:r>
                  <a:rPr lang="en-US">
                    <a:noFill/>
                  </a:rPr>
                  <a:t> </a:t>
                </a:r>
              </a:p>
            </p:txBody>
          </p:sp>
        </mc:Fallback>
      </mc:AlternateContent>
    </p:spTree>
    <p:extLst>
      <p:ext uri="{BB962C8B-B14F-4D97-AF65-F5344CB8AC3E}">
        <p14:creationId xmlns:p14="http://schemas.microsoft.com/office/powerpoint/2010/main" val="3467456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51</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Reynolds flux of suspended sediment</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93BFC86-46AE-6C49-B622-DBBBCF969899}"/>
                  </a:ext>
                </a:extLst>
              </p:cNvPr>
              <p:cNvSpPr txBox="1"/>
              <p:nvPr/>
            </p:nvSpPr>
            <p:spPr>
              <a:xfrm>
                <a:off x="383626" y="1420784"/>
                <a:ext cx="11527088" cy="1014893"/>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The quantities </a:t>
                </a:r>
                <a14:m>
                  <m:oMath xmlns:m="http://schemas.openxmlformats.org/officeDocument/2006/math">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𝑢</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oMath>
                </a14:m>
                <a:r>
                  <a:rPr lang="en-US" dirty="0">
                    <a:latin typeface="Arial" panose="020B0604020202020204" pitchFamily="34" charset="0"/>
                    <a:cs typeface="Arial" panose="020B0604020202020204" pitchFamily="34" charset="0"/>
                  </a:rPr>
                  <a:t>, </a:t>
                </a:r>
                <a14:m>
                  <m:oMath xmlns:m="http://schemas.openxmlformats.org/officeDocument/2006/math">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𝑐</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oMath>
                </a14:m>
                <a:r>
                  <a:rPr lang="en-US" dirty="0">
                    <a:latin typeface="Arial" panose="020B0604020202020204" pitchFamily="34" charset="0"/>
                    <a:cs typeface="Arial" panose="020B0604020202020204" pitchFamily="34" charset="0"/>
                  </a:rPr>
                  <a:t> and </a:t>
                </a:r>
                <a14:m>
                  <m:oMath xmlns:m="http://schemas.openxmlformats.org/officeDocument/2006/math">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𝑐</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oMath>
                </a14:m>
                <a:r>
                  <a:rPr lang="en-US" dirty="0">
                    <a:latin typeface="Arial" panose="020B0604020202020204" pitchFamily="34" charset="0"/>
                    <a:cs typeface="Arial" panose="020B0604020202020204" pitchFamily="34" charset="0"/>
                  </a:rPr>
                  <a:t>  denote the convective Reynolds fluxes of suspended sediment. They characterize the tendency of turbulence to mix suspended sediment from areas of high concentrations to areas of low concentration, i.e. down the gradient of mean concentration. </a:t>
                </a:r>
              </a:p>
            </p:txBody>
          </p:sp>
        </mc:Choice>
        <mc:Fallback xmlns="">
          <p:sp>
            <p:nvSpPr>
              <p:cNvPr id="16" name="TextBox 15">
                <a:extLst>
                  <a:ext uri="{FF2B5EF4-FFF2-40B4-BE49-F238E27FC236}">
                    <a16:creationId xmlns:a16="http://schemas.microsoft.com/office/drawing/2014/main" id="{E93BFC86-46AE-6C49-B622-DBBBCF969899}"/>
                  </a:ext>
                </a:extLst>
              </p:cNvPr>
              <p:cNvSpPr txBox="1">
                <a:spLocks noRot="1" noChangeAspect="1" noMove="1" noResize="1" noEditPoints="1" noAdjustHandles="1" noChangeArrowheads="1" noChangeShapeType="1" noTextEdit="1"/>
              </p:cNvSpPr>
              <p:nvPr/>
            </p:nvSpPr>
            <p:spPr>
              <a:xfrm>
                <a:off x="383626" y="1420784"/>
                <a:ext cx="11527088" cy="1014893"/>
              </a:xfrm>
              <a:prstGeom prst="rect">
                <a:avLst/>
              </a:prstGeom>
              <a:blipFill>
                <a:blip r:embed="rId3"/>
                <a:stretch>
                  <a:fillRect l="-441" t="-1235" b="-8642"/>
                </a:stretch>
              </a:blipFill>
            </p:spPr>
            <p:txBody>
              <a:bodyPr/>
              <a:lstStyle/>
              <a:p>
                <a:r>
                  <a:rPr lang="en-US">
                    <a:noFill/>
                  </a:rPr>
                  <a:t> </a:t>
                </a:r>
              </a:p>
            </p:txBody>
          </p:sp>
        </mc:Fallback>
      </mc:AlternateContent>
      <p:sp>
        <p:nvSpPr>
          <p:cNvPr id="17" name="Rectangle 16">
            <a:extLst>
              <a:ext uri="{FF2B5EF4-FFF2-40B4-BE49-F238E27FC236}">
                <a16:creationId xmlns:a16="http://schemas.microsoft.com/office/drawing/2014/main" id="{ECAFBF10-1DC2-6B4A-AA12-0CF2694046EE}"/>
              </a:ext>
            </a:extLst>
          </p:cNvPr>
          <p:cNvSpPr/>
          <p:nvPr/>
        </p:nvSpPr>
        <p:spPr>
          <a:xfrm>
            <a:off x="2063956" y="2588749"/>
            <a:ext cx="8362122" cy="1770419"/>
          </a:xfrm>
          <a:prstGeom prst="rect">
            <a:avLst/>
          </a:prstGeom>
          <a:gradFill flip="none" rotWithShape="1">
            <a:gsLst>
              <a:gs pos="0">
                <a:schemeClr val="accent5">
                  <a:lumMod val="42000"/>
                  <a:lumOff val="58000"/>
                </a:schemeClr>
              </a:gs>
              <a:gs pos="100000">
                <a:schemeClr val="accent4">
                  <a:lumMod val="75000"/>
                </a:schemeClr>
              </a:gs>
            </a:gsLst>
            <a:lin ang="5400000" scaled="1"/>
            <a:tileRect/>
          </a:gra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1F2B3CA-1C20-694E-B276-5E2C754C33E9}"/>
              </a:ext>
            </a:extLst>
          </p:cNvPr>
          <p:cNvSpPr/>
          <p:nvPr/>
        </p:nvSpPr>
        <p:spPr>
          <a:xfrm>
            <a:off x="2063956" y="3819183"/>
            <a:ext cx="8362122" cy="540000"/>
          </a:xfrm>
          <a:prstGeom prst="rect">
            <a:avLst/>
          </a:prstGeom>
          <a:pattFill prst="pct25">
            <a:fgClr>
              <a:schemeClr val="accent4">
                <a:lumMod val="75000"/>
              </a:schemeClr>
            </a:fgClr>
            <a:bgClr>
              <a:schemeClr val="bg1"/>
            </a:bgClr>
          </a:patt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B8F9072B-FAED-E34D-A493-1550A6EF10EB}"/>
              </a:ext>
            </a:extLst>
          </p:cNvPr>
          <p:cNvSpPr/>
          <p:nvPr/>
        </p:nvSpPr>
        <p:spPr>
          <a:xfrm>
            <a:off x="963496" y="3234738"/>
            <a:ext cx="936994" cy="374754"/>
          </a:xfrm>
          <a:prstGeom prst="right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F0F5E43C-3EC3-444E-806E-821D7084C74D}"/>
              </a:ext>
            </a:extLst>
          </p:cNvPr>
          <p:cNvSpPr txBox="1"/>
          <p:nvPr/>
        </p:nvSpPr>
        <p:spPr>
          <a:xfrm>
            <a:off x="965940" y="2974251"/>
            <a:ext cx="936994"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flow</a:t>
            </a:r>
          </a:p>
        </p:txBody>
      </p:sp>
      <p:cxnSp>
        <p:nvCxnSpPr>
          <p:cNvPr id="26" name="Straight Arrow Connector 25">
            <a:extLst>
              <a:ext uri="{FF2B5EF4-FFF2-40B4-BE49-F238E27FC236}">
                <a16:creationId xmlns:a16="http://schemas.microsoft.com/office/drawing/2014/main" id="{F47901D6-43B5-294C-9981-55254364F5EE}"/>
              </a:ext>
            </a:extLst>
          </p:cNvPr>
          <p:cNvCxnSpPr/>
          <p:nvPr/>
        </p:nvCxnSpPr>
        <p:spPr>
          <a:xfrm flipV="1">
            <a:off x="3317007" y="3140048"/>
            <a:ext cx="0" cy="679135"/>
          </a:xfrm>
          <a:prstGeom prst="straightConnector1">
            <a:avLst/>
          </a:prstGeom>
          <a:ln w="190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0E4D3EA0-66F0-794D-8FE4-2DBD8F2E41DC}"/>
              </a:ext>
            </a:extLst>
          </p:cNvPr>
          <p:cNvSpPr txBox="1"/>
          <p:nvPr/>
        </p:nvSpPr>
        <p:spPr>
          <a:xfrm>
            <a:off x="3002469" y="2974251"/>
            <a:ext cx="46605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z</a:t>
            </a:r>
          </a:p>
        </p:txBody>
      </p:sp>
      <p:cxnSp>
        <p:nvCxnSpPr>
          <p:cNvPr id="28" name="Straight Connector 27">
            <a:extLst>
              <a:ext uri="{FF2B5EF4-FFF2-40B4-BE49-F238E27FC236}">
                <a16:creationId xmlns:a16="http://schemas.microsoft.com/office/drawing/2014/main" id="{31F383C2-98BF-DB4F-9B64-AB7F8E7427A9}"/>
              </a:ext>
            </a:extLst>
          </p:cNvPr>
          <p:cNvCxnSpPr/>
          <p:nvPr/>
        </p:nvCxnSpPr>
        <p:spPr>
          <a:xfrm>
            <a:off x="5475591" y="2588749"/>
            <a:ext cx="0" cy="12304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8483155-485F-2D41-BC7E-FC7ED7DE3B86}"/>
              </a:ext>
            </a:extLst>
          </p:cNvPr>
          <p:cNvCxnSpPr/>
          <p:nvPr/>
        </p:nvCxnSpPr>
        <p:spPr>
          <a:xfrm>
            <a:off x="7231939" y="2577296"/>
            <a:ext cx="0" cy="12304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Freeform 29">
            <a:extLst>
              <a:ext uri="{FF2B5EF4-FFF2-40B4-BE49-F238E27FC236}">
                <a16:creationId xmlns:a16="http://schemas.microsoft.com/office/drawing/2014/main" id="{FDA1D57E-8616-9149-843D-C1904ACF8159}"/>
              </a:ext>
            </a:extLst>
          </p:cNvPr>
          <p:cNvSpPr/>
          <p:nvPr/>
        </p:nvSpPr>
        <p:spPr>
          <a:xfrm>
            <a:off x="5769148" y="2612315"/>
            <a:ext cx="584617" cy="1184223"/>
          </a:xfrm>
          <a:custGeom>
            <a:avLst/>
            <a:gdLst>
              <a:gd name="connsiteX0" fmla="*/ 0 w 584617"/>
              <a:gd name="connsiteY0" fmla="*/ 0 h 1184223"/>
              <a:gd name="connsiteX1" fmla="*/ 44971 w 584617"/>
              <a:gd name="connsiteY1" fmla="*/ 329784 h 1184223"/>
              <a:gd name="connsiteX2" fmla="*/ 179882 w 584617"/>
              <a:gd name="connsiteY2" fmla="*/ 749508 h 1184223"/>
              <a:gd name="connsiteX3" fmla="*/ 389745 w 584617"/>
              <a:gd name="connsiteY3" fmla="*/ 1019331 h 1184223"/>
              <a:gd name="connsiteX4" fmla="*/ 524656 w 584617"/>
              <a:gd name="connsiteY4" fmla="*/ 1094282 h 1184223"/>
              <a:gd name="connsiteX5" fmla="*/ 584617 w 584617"/>
              <a:gd name="connsiteY5" fmla="*/ 1184223 h 1184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4617" h="1184223">
                <a:moveTo>
                  <a:pt x="0" y="0"/>
                </a:moveTo>
                <a:cubicBezTo>
                  <a:pt x="7495" y="102433"/>
                  <a:pt x="14991" y="204866"/>
                  <a:pt x="44971" y="329784"/>
                </a:cubicBezTo>
                <a:cubicBezTo>
                  <a:pt x="74951" y="454702"/>
                  <a:pt x="122420" y="634584"/>
                  <a:pt x="179882" y="749508"/>
                </a:cubicBezTo>
                <a:cubicBezTo>
                  <a:pt x="237344" y="864432"/>
                  <a:pt x="332283" y="961869"/>
                  <a:pt x="389745" y="1019331"/>
                </a:cubicBezTo>
                <a:cubicBezTo>
                  <a:pt x="447207" y="1076793"/>
                  <a:pt x="492177" y="1066800"/>
                  <a:pt x="524656" y="1094282"/>
                </a:cubicBezTo>
                <a:cubicBezTo>
                  <a:pt x="557135" y="1121764"/>
                  <a:pt x="570876" y="1152993"/>
                  <a:pt x="584617" y="1184223"/>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a:extLst>
              <a:ext uri="{FF2B5EF4-FFF2-40B4-BE49-F238E27FC236}">
                <a16:creationId xmlns:a16="http://schemas.microsoft.com/office/drawing/2014/main" id="{5C0DF430-FD64-8449-89AD-986886FBD0C0}"/>
              </a:ext>
            </a:extLst>
          </p:cNvPr>
          <p:cNvSpPr/>
          <p:nvPr/>
        </p:nvSpPr>
        <p:spPr>
          <a:xfrm>
            <a:off x="7244430" y="2570422"/>
            <a:ext cx="854439" cy="1214203"/>
          </a:xfrm>
          <a:custGeom>
            <a:avLst/>
            <a:gdLst>
              <a:gd name="connsiteX0" fmla="*/ 0 w 854439"/>
              <a:gd name="connsiteY0" fmla="*/ 1214203 h 1214203"/>
              <a:gd name="connsiteX1" fmla="*/ 539646 w 854439"/>
              <a:gd name="connsiteY1" fmla="*/ 1154242 h 1214203"/>
              <a:gd name="connsiteX2" fmla="*/ 704538 w 854439"/>
              <a:gd name="connsiteY2" fmla="*/ 974360 h 1214203"/>
              <a:gd name="connsiteX3" fmla="*/ 824459 w 854439"/>
              <a:gd name="connsiteY3" fmla="*/ 404734 h 1214203"/>
              <a:gd name="connsiteX4" fmla="*/ 854439 w 854439"/>
              <a:gd name="connsiteY4" fmla="*/ 0 h 12142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439" h="1214203">
                <a:moveTo>
                  <a:pt x="0" y="1214203"/>
                </a:moveTo>
                <a:cubicBezTo>
                  <a:pt x="211111" y="1204209"/>
                  <a:pt x="422223" y="1194216"/>
                  <a:pt x="539646" y="1154242"/>
                </a:cubicBezTo>
                <a:cubicBezTo>
                  <a:pt x="657069" y="1114268"/>
                  <a:pt x="657069" y="1099278"/>
                  <a:pt x="704538" y="974360"/>
                </a:cubicBezTo>
                <a:cubicBezTo>
                  <a:pt x="752007" y="849442"/>
                  <a:pt x="799476" y="567127"/>
                  <a:pt x="824459" y="404734"/>
                </a:cubicBezTo>
                <a:cubicBezTo>
                  <a:pt x="849443" y="242341"/>
                  <a:pt x="851941" y="121170"/>
                  <a:pt x="854439" y="0"/>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Arrow Connector 31">
            <a:extLst>
              <a:ext uri="{FF2B5EF4-FFF2-40B4-BE49-F238E27FC236}">
                <a16:creationId xmlns:a16="http://schemas.microsoft.com/office/drawing/2014/main" id="{7846BE5B-B97B-B244-8654-6CDD5746D03E}"/>
              </a:ext>
            </a:extLst>
          </p:cNvPr>
          <p:cNvCxnSpPr>
            <a:cxnSpLocks/>
          </p:cNvCxnSpPr>
          <p:nvPr/>
        </p:nvCxnSpPr>
        <p:spPr>
          <a:xfrm>
            <a:off x="5475591" y="3473958"/>
            <a:ext cx="585865"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9338797-7F8F-8141-BC03-D66907748AF3}"/>
              </a:ext>
            </a:extLst>
          </p:cNvPr>
          <p:cNvCxnSpPr>
            <a:cxnSpLocks/>
          </p:cNvCxnSpPr>
          <p:nvPr/>
        </p:nvCxnSpPr>
        <p:spPr>
          <a:xfrm>
            <a:off x="7244430" y="3347594"/>
            <a:ext cx="749508"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7C91644B-183D-5041-BD6F-B91339E019C1}"/>
                  </a:ext>
                </a:extLst>
              </p:cNvPr>
              <p:cNvSpPr txBox="1"/>
              <p:nvPr/>
            </p:nvSpPr>
            <p:spPr>
              <a:xfrm>
                <a:off x="5538489" y="3177523"/>
                <a:ext cx="177228"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oMath>
                  </m:oMathPara>
                </a14:m>
                <a:endParaRPr lang="en-US" dirty="0">
                  <a:latin typeface="Arial" panose="020B0604020202020204" pitchFamily="34" charset="0"/>
                  <a:cs typeface="Arial" panose="020B0604020202020204" pitchFamily="34" charset="0"/>
                </a:endParaRPr>
              </a:p>
            </p:txBody>
          </p:sp>
        </mc:Choice>
        <mc:Fallback xmlns="">
          <p:sp>
            <p:nvSpPr>
              <p:cNvPr id="34" name="TextBox 33">
                <a:extLst>
                  <a:ext uri="{FF2B5EF4-FFF2-40B4-BE49-F238E27FC236}">
                    <a16:creationId xmlns:a16="http://schemas.microsoft.com/office/drawing/2014/main" id="{7C91644B-183D-5041-BD6F-B91339E019C1}"/>
                  </a:ext>
                </a:extLst>
              </p:cNvPr>
              <p:cNvSpPr txBox="1">
                <a:spLocks noRot="1" noChangeAspect="1" noMove="1" noResize="1" noEditPoints="1" noAdjustHandles="1" noChangeArrowheads="1" noChangeShapeType="1" noTextEdit="1"/>
              </p:cNvSpPr>
              <p:nvPr/>
            </p:nvSpPr>
            <p:spPr>
              <a:xfrm>
                <a:off x="5538489" y="3177523"/>
                <a:ext cx="177228" cy="315792"/>
              </a:xfrm>
              <a:prstGeom prst="rect">
                <a:avLst/>
              </a:prstGeom>
              <a:blipFill>
                <a:blip r:embed="rId4"/>
                <a:stretch>
                  <a:fillRect l="-20000" r="-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97AE2F3-1D65-9048-BC0D-E736250F704D}"/>
                  </a:ext>
                </a:extLst>
              </p:cNvPr>
              <p:cNvSpPr txBox="1"/>
              <p:nvPr/>
            </p:nvSpPr>
            <p:spPr>
              <a:xfrm>
                <a:off x="7472064" y="3001097"/>
                <a:ext cx="203004"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𝑢</m:t>
                          </m:r>
                        </m:e>
                      </m:acc>
                    </m:oMath>
                  </m:oMathPara>
                </a14:m>
                <a:endParaRPr lang="en-US" dirty="0">
                  <a:latin typeface="Arial" panose="020B0604020202020204" pitchFamily="34" charset="0"/>
                  <a:cs typeface="Arial" panose="020B0604020202020204" pitchFamily="34" charset="0"/>
                </a:endParaRPr>
              </a:p>
            </p:txBody>
          </p:sp>
        </mc:Choice>
        <mc:Fallback xmlns="">
          <p:sp>
            <p:nvSpPr>
              <p:cNvPr id="35" name="TextBox 34">
                <a:extLst>
                  <a:ext uri="{FF2B5EF4-FFF2-40B4-BE49-F238E27FC236}">
                    <a16:creationId xmlns:a16="http://schemas.microsoft.com/office/drawing/2014/main" id="{597AE2F3-1D65-9048-BC0D-E736250F704D}"/>
                  </a:ext>
                </a:extLst>
              </p:cNvPr>
              <p:cNvSpPr txBox="1">
                <a:spLocks noRot="1" noChangeAspect="1" noMove="1" noResize="1" noEditPoints="1" noAdjustHandles="1" noChangeArrowheads="1" noChangeShapeType="1" noTextEdit="1"/>
              </p:cNvSpPr>
              <p:nvPr/>
            </p:nvSpPr>
            <p:spPr>
              <a:xfrm>
                <a:off x="7472064" y="3001097"/>
                <a:ext cx="203004" cy="315792"/>
              </a:xfrm>
              <a:prstGeom prst="rect">
                <a:avLst/>
              </a:prstGeom>
              <a:blipFill>
                <a:blip r:embed="rId5"/>
                <a:stretch>
                  <a:fillRect l="-11765" r="-5882"/>
                </a:stretch>
              </a:blipFill>
            </p:spPr>
            <p:txBody>
              <a:bodyPr/>
              <a:lstStyle/>
              <a:p>
                <a:r>
                  <a:rPr lang="en-US">
                    <a:noFill/>
                  </a:rPr>
                  <a:t> </a:t>
                </a:r>
              </a:p>
            </p:txBody>
          </p:sp>
        </mc:Fallback>
      </mc:AlternateContent>
      <p:cxnSp>
        <p:nvCxnSpPr>
          <p:cNvPr id="36" name="Straight Arrow Connector 35">
            <a:extLst>
              <a:ext uri="{FF2B5EF4-FFF2-40B4-BE49-F238E27FC236}">
                <a16:creationId xmlns:a16="http://schemas.microsoft.com/office/drawing/2014/main" id="{37276F2E-B504-C14B-9BA0-9B153DAB8943}"/>
              </a:ext>
            </a:extLst>
          </p:cNvPr>
          <p:cNvCxnSpPr/>
          <p:nvPr/>
        </p:nvCxnSpPr>
        <p:spPr>
          <a:xfrm>
            <a:off x="9193151" y="2588749"/>
            <a:ext cx="0" cy="1230434"/>
          </a:xfrm>
          <a:prstGeom prst="straightConnector1">
            <a:avLst/>
          </a:prstGeom>
          <a:ln w="19050">
            <a:solidFill>
              <a:schemeClr val="tx1"/>
            </a:solidFill>
            <a:headEnd type="arrow" w="lg" len="lg"/>
            <a:tailEnd type="arrow" w="lg" len="lg"/>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81ED501-140C-8346-9135-AEA297EBB31E}"/>
              </a:ext>
            </a:extLst>
          </p:cNvPr>
          <p:cNvSpPr txBox="1"/>
          <p:nvPr/>
        </p:nvSpPr>
        <p:spPr>
          <a:xfrm>
            <a:off x="8862011" y="2916817"/>
            <a:ext cx="46605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H</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578764D-EA09-084E-AC2E-754A721232BA}"/>
                  </a:ext>
                </a:extLst>
              </p:cNvPr>
              <p:cNvSpPr txBox="1"/>
              <p:nvPr/>
            </p:nvSpPr>
            <p:spPr>
              <a:xfrm>
                <a:off x="383626" y="4653903"/>
                <a:ext cx="11435937" cy="1014252"/>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In the figure above concentration declines in the positive z direction, turbulence mixes sediment from zones of high concentration (lower part of the water column) to zones of low concentration (higher part of the water column). This generates a positive value of </a:t>
                </a:r>
                <a14:m>
                  <m:oMath xmlns:m="http://schemas.openxmlformats.org/officeDocument/2006/math">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oMath>
                </a14:m>
                <a:r>
                  <a:rPr lang="en-US" dirty="0">
                    <a:latin typeface="Arial" panose="020B0604020202020204" pitchFamily="34" charset="0"/>
                    <a:cs typeface="Arial" panose="020B0604020202020204" pitchFamily="34" charset="0"/>
                  </a:rPr>
                  <a:t>.</a:t>
                </a:r>
              </a:p>
            </p:txBody>
          </p:sp>
        </mc:Choice>
        <mc:Fallback xmlns="">
          <p:sp>
            <p:nvSpPr>
              <p:cNvPr id="2" name="TextBox 1">
                <a:extLst>
                  <a:ext uri="{FF2B5EF4-FFF2-40B4-BE49-F238E27FC236}">
                    <a16:creationId xmlns:a16="http://schemas.microsoft.com/office/drawing/2014/main" id="{4578764D-EA09-084E-AC2E-754A721232BA}"/>
                  </a:ext>
                </a:extLst>
              </p:cNvPr>
              <p:cNvSpPr txBox="1">
                <a:spLocks noRot="1" noChangeAspect="1" noMove="1" noResize="1" noEditPoints="1" noAdjustHandles="1" noChangeArrowheads="1" noChangeShapeType="1" noTextEdit="1"/>
              </p:cNvSpPr>
              <p:nvPr/>
            </p:nvSpPr>
            <p:spPr>
              <a:xfrm>
                <a:off x="383626" y="4653903"/>
                <a:ext cx="11435937" cy="1014252"/>
              </a:xfrm>
              <a:prstGeom prst="rect">
                <a:avLst/>
              </a:prstGeom>
              <a:blipFill>
                <a:blip r:embed="rId6"/>
                <a:stretch>
                  <a:fillRect l="-444" t="-2469" b="-8642"/>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379537B7-8D1F-704C-8631-787FF2934087}"/>
              </a:ext>
            </a:extLst>
          </p:cNvPr>
          <p:cNvCxnSpPr>
            <a:cxnSpLocks/>
          </p:cNvCxnSpPr>
          <p:nvPr/>
        </p:nvCxnSpPr>
        <p:spPr>
          <a:xfrm>
            <a:off x="6614925" y="2908234"/>
            <a:ext cx="5605" cy="513881"/>
          </a:xfrm>
          <a:prstGeom prst="straightConnector1">
            <a:avLst/>
          </a:prstGeom>
          <a:ln w="38100">
            <a:solidFill>
              <a:srgbClr val="FF0000"/>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B1D33BD-71A3-D149-82F4-B3ACC6C4F6A6}"/>
                  </a:ext>
                </a:extLst>
              </p:cNvPr>
              <p:cNvSpPr txBox="1"/>
              <p:nvPr/>
            </p:nvSpPr>
            <p:spPr>
              <a:xfrm>
                <a:off x="5768523" y="3865256"/>
                <a:ext cx="2382767" cy="315792"/>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𝑐</m:t>
                          </m:r>
                        </m:e>
                        <m:sup>
                          <m:r>
                            <a:rPr lang="en-US" b="0" i="1" smtClean="0">
                              <a:latin typeface="Cambria Math" panose="02040503050406030204" pitchFamily="18" charset="0"/>
                              <a:cs typeface="Arial" panose="020B0604020202020204" pitchFamily="34" charset="0"/>
                            </a:rPr>
                            <m:t>′</m:t>
                          </m:r>
                        </m:sup>
                      </m:sSup>
                      <m:r>
                        <a:rPr lang="en-US" b="0" i="1" smtClean="0">
                          <a:latin typeface="Cambria Math" panose="02040503050406030204" pitchFamily="18" charset="0"/>
                          <a:cs typeface="Arial" panose="020B0604020202020204" pitchFamily="34" charset="0"/>
                        </a:rPr>
                        <m:t>&lt;0, </m:t>
                      </m:r>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𝑤</m:t>
                          </m:r>
                        </m:e>
                        <m:sup>
                          <m:r>
                            <a:rPr lang="en-US" b="0" i="1" smtClean="0">
                              <a:latin typeface="Cambria Math" panose="02040503050406030204" pitchFamily="18" charset="0"/>
                              <a:cs typeface="Arial" panose="020B0604020202020204" pitchFamily="34" charset="0"/>
                            </a:rPr>
                            <m:t>′</m:t>
                          </m:r>
                        </m:sup>
                      </m:sSup>
                      <m:r>
                        <a:rPr lang="en-US" b="0" i="1" smtClean="0">
                          <a:latin typeface="Cambria Math" panose="02040503050406030204" pitchFamily="18" charset="0"/>
                          <a:cs typeface="Arial" panose="020B0604020202020204" pitchFamily="34" charset="0"/>
                        </a:rPr>
                        <m:t>&lt;0,</m:t>
                      </m:r>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𝑤</m:t>
                          </m:r>
                        </m:e>
                        <m:sup>
                          <m:r>
                            <a:rPr lang="en-US" i="1">
                              <a:latin typeface="Cambria Math" panose="02040503050406030204" pitchFamily="18" charset="0"/>
                              <a:cs typeface="Arial" panose="020B0604020202020204" pitchFamily="34" charset="0"/>
                            </a:rPr>
                            <m:t>′</m:t>
                          </m:r>
                        </m:sup>
                      </m:sSup>
                      <m:r>
                        <a:rPr lang="en-US" i="1">
                          <a:latin typeface="Cambria Math" panose="02040503050406030204" pitchFamily="18" charset="0"/>
                          <a:cs typeface="Arial" panose="020B0604020202020204" pitchFamily="34" charset="0"/>
                        </a:rPr>
                        <m:t>𝑐</m:t>
                      </m:r>
                      <m:r>
                        <a:rPr lang="en-US" i="1">
                          <a:latin typeface="Cambria Math" panose="02040503050406030204" pitchFamily="18" charset="0"/>
                          <a:cs typeface="Arial" panose="020B0604020202020204" pitchFamily="34" charset="0"/>
                        </a:rPr>
                        <m:t>′&gt;0</m:t>
                      </m:r>
                    </m:oMath>
                  </m:oMathPara>
                </a14:m>
                <a:endParaRPr lang="en-US" dirty="0">
                  <a:latin typeface="Arial" panose="020B0604020202020204" pitchFamily="34" charset="0"/>
                  <a:cs typeface="Arial" panose="020B0604020202020204" pitchFamily="34" charset="0"/>
                </a:endParaRPr>
              </a:p>
            </p:txBody>
          </p:sp>
        </mc:Choice>
        <mc:Fallback xmlns="">
          <p:sp>
            <p:nvSpPr>
              <p:cNvPr id="9" name="TextBox 8">
                <a:extLst>
                  <a:ext uri="{FF2B5EF4-FFF2-40B4-BE49-F238E27FC236}">
                    <a16:creationId xmlns:a16="http://schemas.microsoft.com/office/drawing/2014/main" id="{5B1D33BD-71A3-D149-82F4-B3ACC6C4F6A6}"/>
                  </a:ext>
                </a:extLst>
              </p:cNvPr>
              <p:cNvSpPr txBox="1">
                <a:spLocks noRot="1" noChangeAspect="1" noMove="1" noResize="1" noEditPoints="1" noAdjustHandles="1" noChangeArrowheads="1" noChangeShapeType="1" noTextEdit="1"/>
              </p:cNvSpPr>
              <p:nvPr/>
            </p:nvSpPr>
            <p:spPr>
              <a:xfrm>
                <a:off x="5768523" y="3865256"/>
                <a:ext cx="2382767" cy="315792"/>
              </a:xfrm>
              <a:prstGeom prst="rect">
                <a:avLst/>
              </a:prstGeom>
              <a:blipFill>
                <a:blip r:embed="rId7"/>
                <a:stretch>
                  <a:fillRect l="-1064" r="-1596"/>
                </a:stretch>
              </a:blipFill>
            </p:spPr>
            <p:txBody>
              <a:bodyPr/>
              <a:lstStyle/>
              <a:p>
                <a:r>
                  <a:rPr lang="en-US">
                    <a:noFill/>
                  </a:rPr>
                  <a:t> </a:t>
                </a:r>
              </a:p>
            </p:txBody>
          </p:sp>
        </mc:Fallback>
      </mc:AlternateContent>
      <p:sp>
        <p:nvSpPr>
          <p:cNvPr id="24" name="Oval 23">
            <a:extLst>
              <a:ext uri="{FF2B5EF4-FFF2-40B4-BE49-F238E27FC236}">
                <a16:creationId xmlns:a16="http://schemas.microsoft.com/office/drawing/2014/main" id="{66CD56BB-EF97-C740-ACE1-DCF189143D4E}"/>
              </a:ext>
            </a:extLst>
          </p:cNvPr>
          <p:cNvSpPr/>
          <p:nvPr/>
        </p:nvSpPr>
        <p:spPr>
          <a:xfrm>
            <a:off x="6302869" y="601358"/>
            <a:ext cx="2559142" cy="804231"/>
          </a:xfrm>
          <a:prstGeom prst="ellipse">
            <a:avLst/>
          </a:prstGeom>
          <a:solidFill>
            <a:srgbClr val="F9D9FF"/>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C3A620C-5EAF-8E47-9690-9D09A73664E0}"/>
                  </a:ext>
                </a:extLst>
              </p:cNvPr>
              <p:cNvSpPr txBox="1"/>
              <p:nvPr/>
            </p:nvSpPr>
            <p:spPr>
              <a:xfrm>
                <a:off x="3433910" y="693135"/>
                <a:ext cx="5030673" cy="545727"/>
              </a:xfrm>
              <a:prstGeom prst="rect">
                <a:avLst/>
              </a:prstGeom>
              <a:noFill/>
            </p:spPr>
            <p:txBody>
              <a:bodyPr wrap="none" lIns="0" tIns="0" rIns="0" bIns="0" rtlCol="0">
                <a:spAutoFit/>
              </a:bodyPr>
              <a:lstStyle/>
              <a:p>
                <a:pPr>
                  <a:lnSpc>
                    <a:spcPct val="114000"/>
                  </a:lnSpc>
                </a:pPr>
                <a14:m>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acc>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acc>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acc>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acc>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𝑣</m:t>
                        </m:r>
                      </m:e>
                      <m:sub>
                        <m:r>
                          <a:rPr lang="en-US" i="1">
                            <a:latin typeface="Cambria Math" panose="02040503050406030204" pitchFamily="18" charset="0"/>
                            <a:ea typeface="Cambria Math" panose="02040503050406030204" pitchFamily="18" charset="0"/>
                            <a:cs typeface="Arial" panose="020B0604020202020204" pitchFamily="34" charset="0"/>
                          </a:rPr>
                          <m:t>𝑠</m:t>
                        </m:r>
                      </m:sub>
                    </m:sSub>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r>
                              <a:rPr lang="en-US" b="0" i="1" smtClean="0">
                                <a:latin typeface="Cambria Math" panose="02040503050406030204" pitchFamily="18" charset="0"/>
                                <a:ea typeface="Cambria Math" panose="02040503050406030204" pitchFamily="18" charset="0"/>
                                <a:cs typeface="Arial" panose="020B0604020202020204" pitchFamily="34" charset="0"/>
                              </a:rPr>
                              <m:t>𝑐</m:t>
                            </m:r>
                            <m:r>
                              <a:rPr lang="en-US" b="0" i="1" smtClean="0">
                                <a:latin typeface="Cambria Math" panose="02040503050406030204" pitchFamily="18" charset="0"/>
                                <a:ea typeface="Cambria Math" panose="02040503050406030204" pitchFamily="18" charset="0"/>
                                <a:cs typeface="Arial" panose="020B0604020202020204" pitchFamily="34" charset="0"/>
                              </a:rPr>
                              <m:t>′</m:t>
                            </m:r>
                          </m:e>
                        </m:acc>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i="1">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r>
                              <a:rPr lang="en-US" i="1">
                                <a:latin typeface="Cambria Math" panose="02040503050406030204" pitchFamily="18" charset="0"/>
                                <a:ea typeface="Cambria Math" panose="02040503050406030204" pitchFamily="18" charset="0"/>
                                <a:cs typeface="Arial" panose="020B0604020202020204" pitchFamily="34" charset="0"/>
                              </a:rPr>
                              <m:t>𝑐</m:t>
                            </m:r>
                            <m:r>
                              <a:rPr lang="en-US" i="1">
                                <a:latin typeface="Cambria Math" panose="02040503050406030204" pitchFamily="18" charset="0"/>
                                <a:ea typeface="Cambria Math" panose="02040503050406030204" pitchFamily="18" charset="0"/>
                                <a:cs typeface="Arial" panose="020B0604020202020204" pitchFamily="34" charset="0"/>
                              </a:rPr>
                              <m:t>′</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oMath>
                </a14:m>
                <a:r>
                  <a:rPr lang="en-US" dirty="0">
                    <a:ea typeface="Cambria Math" panose="02040503050406030204" pitchFamily="18" charset="0"/>
                    <a:cs typeface="Arial" panose="020B0604020202020204" pitchFamily="34" charset="0"/>
                  </a:rPr>
                  <a:t> </a:t>
                </a:r>
                <a14:m>
                  <m:oMath xmlns:m="http://schemas.openxmlformats.org/officeDocument/2006/math">
                    <m:r>
                      <a:rPr lang="en-US" i="1">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r>
                              <a:rPr lang="en-US" i="1">
                                <a:latin typeface="Cambria Math" panose="02040503050406030204" pitchFamily="18" charset="0"/>
                                <a:ea typeface="Cambria Math" panose="02040503050406030204" pitchFamily="18" charset="0"/>
                                <a:cs typeface="Arial" panose="020B0604020202020204" pitchFamily="34" charset="0"/>
                              </a:rPr>
                              <m:t>𝑐</m:t>
                            </m:r>
                            <m:r>
                              <a:rPr lang="en-US" i="1">
                                <a:latin typeface="Cambria Math" panose="02040503050406030204" pitchFamily="18" charset="0"/>
                                <a:ea typeface="Cambria Math" panose="02040503050406030204" pitchFamily="18" charset="0"/>
                                <a:cs typeface="Arial" panose="020B0604020202020204" pitchFamily="34" charset="0"/>
                              </a:rPr>
                              <m:t>′</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oMath>
                </a14:m>
                <a:endParaRPr lang="en-US" dirty="0">
                  <a:latin typeface="Arial" panose="020B0604020202020204" pitchFamily="34" charset="0"/>
                  <a:cs typeface="Arial" panose="020B0604020202020204" pitchFamily="34" charset="0"/>
                </a:endParaRPr>
              </a:p>
            </p:txBody>
          </p:sp>
        </mc:Choice>
        <mc:Fallback xmlns="">
          <p:sp>
            <p:nvSpPr>
              <p:cNvPr id="25" name="TextBox 24">
                <a:extLst>
                  <a:ext uri="{FF2B5EF4-FFF2-40B4-BE49-F238E27FC236}">
                    <a16:creationId xmlns:a16="http://schemas.microsoft.com/office/drawing/2014/main" id="{FC3A620C-5EAF-8E47-9690-9D09A73664E0}"/>
                  </a:ext>
                </a:extLst>
              </p:cNvPr>
              <p:cNvSpPr txBox="1">
                <a:spLocks noRot="1" noChangeAspect="1" noMove="1" noResize="1" noEditPoints="1" noAdjustHandles="1" noChangeArrowheads="1" noChangeShapeType="1" noTextEdit="1"/>
              </p:cNvSpPr>
              <p:nvPr/>
            </p:nvSpPr>
            <p:spPr>
              <a:xfrm>
                <a:off x="3433910" y="693135"/>
                <a:ext cx="5030673" cy="545727"/>
              </a:xfrm>
              <a:prstGeom prst="rect">
                <a:avLst/>
              </a:prstGeom>
              <a:blipFill>
                <a:blip r:embed="rId8"/>
                <a:stretch>
                  <a:fillRect l="-1511" r="-756" b="-9091"/>
                </a:stretch>
              </a:blipFill>
            </p:spPr>
            <p:txBody>
              <a:bodyPr/>
              <a:lstStyle/>
              <a:p>
                <a:r>
                  <a:rPr lang="en-US">
                    <a:noFill/>
                  </a:rPr>
                  <a:t> </a:t>
                </a:r>
              </a:p>
            </p:txBody>
          </p:sp>
        </mc:Fallback>
      </mc:AlternateContent>
    </p:spTree>
    <p:extLst>
      <p:ext uri="{BB962C8B-B14F-4D97-AF65-F5344CB8AC3E}">
        <p14:creationId xmlns:p14="http://schemas.microsoft.com/office/powerpoint/2010/main" val="25125302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52</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Reynolds flux of suspended sediment</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93BFC86-46AE-6C49-B622-DBBBCF969899}"/>
                  </a:ext>
                </a:extLst>
              </p:cNvPr>
              <p:cNvSpPr txBox="1"/>
              <p:nvPr/>
            </p:nvSpPr>
            <p:spPr>
              <a:xfrm>
                <a:off x="383626" y="1420784"/>
                <a:ext cx="11527088" cy="1014893"/>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The quantities </a:t>
                </a:r>
                <a14:m>
                  <m:oMath xmlns:m="http://schemas.openxmlformats.org/officeDocument/2006/math">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𝑢</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oMath>
                </a14:m>
                <a:r>
                  <a:rPr lang="en-US" dirty="0">
                    <a:latin typeface="Arial" panose="020B0604020202020204" pitchFamily="34" charset="0"/>
                    <a:cs typeface="Arial" panose="020B0604020202020204" pitchFamily="34" charset="0"/>
                  </a:rPr>
                  <a:t>, </a:t>
                </a:r>
                <a14:m>
                  <m:oMath xmlns:m="http://schemas.openxmlformats.org/officeDocument/2006/math">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𝑐</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oMath>
                </a14:m>
                <a:r>
                  <a:rPr lang="en-US" dirty="0">
                    <a:latin typeface="Arial" panose="020B0604020202020204" pitchFamily="34" charset="0"/>
                    <a:cs typeface="Arial" panose="020B0604020202020204" pitchFamily="34" charset="0"/>
                  </a:rPr>
                  <a:t> and </a:t>
                </a:r>
                <a14:m>
                  <m:oMath xmlns:m="http://schemas.openxmlformats.org/officeDocument/2006/math">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𝑐</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oMath>
                </a14:m>
                <a:r>
                  <a:rPr lang="en-US" dirty="0">
                    <a:latin typeface="Arial" panose="020B0604020202020204" pitchFamily="34" charset="0"/>
                    <a:cs typeface="Arial" panose="020B0604020202020204" pitchFamily="34" charset="0"/>
                  </a:rPr>
                  <a:t>  denote the convective Reynolds fluxes of suspended sediment. They characterize the tendency of turbulence to mix suspended sediment from areas of high concentrations to areas of low concentration, i.e. down the gradient of mean concentration. </a:t>
                </a:r>
              </a:p>
            </p:txBody>
          </p:sp>
        </mc:Choice>
        <mc:Fallback xmlns="">
          <p:sp>
            <p:nvSpPr>
              <p:cNvPr id="16" name="TextBox 15">
                <a:extLst>
                  <a:ext uri="{FF2B5EF4-FFF2-40B4-BE49-F238E27FC236}">
                    <a16:creationId xmlns:a16="http://schemas.microsoft.com/office/drawing/2014/main" id="{E93BFC86-46AE-6C49-B622-DBBBCF969899}"/>
                  </a:ext>
                </a:extLst>
              </p:cNvPr>
              <p:cNvSpPr txBox="1">
                <a:spLocks noRot="1" noChangeAspect="1" noMove="1" noResize="1" noEditPoints="1" noAdjustHandles="1" noChangeArrowheads="1" noChangeShapeType="1" noTextEdit="1"/>
              </p:cNvSpPr>
              <p:nvPr/>
            </p:nvSpPr>
            <p:spPr>
              <a:xfrm>
                <a:off x="383626" y="1420784"/>
                <a:ext cx="11527088" cy="1014893"/>
              </a:xfrm>
              <a:prstGeom prst="rect">
                <a:avLst/>
              </a:prstGeom>
              <a:blipFill>
                <a:blip r:embed="rId3"/>
                <a:stretch>
                  <a:fillRect l="-441" t="-1235" b="-8642"/>
                </a:stretch>
              </a:blipFill>
            </p:spPr>
            <p:txBody>
              <a:bodyPr/>
              <a:lstStyle/>
              <a:p>
                <a:r>
                  <a:rPr lang="en-US">
                    <a:noFill/>
                  </a:rPr>
                  <a:t> </a:t>
                </a:r>
              </a:p>
            </p:txBody>
          </p:sp>
        </mc:Fallback>
      </mc:AlternateContent>
      <p:sp>
        <p:nvSpPr>
          <p:cNvPr id="17" name="Rectangle 16">
            <a:extLst>
              <a:ext uri="{FF2B5EF4-FFF2-40B4-BE49-F238E27FC236}">
                <a16:creationId xmlns:a16="http://schemas.microsoft.com/office/drawing/2014/main" id="{ECAFBF10-1DC2-6B4A-AA12-0CF2694046EE}"/>
              </a:ext>
            </a:extLst>
          </p:cNvPr>
          <p:cNvSpPr/>
          <p:nvPr/>
        </p:nvSpPr>
        <p:spPr>
          <a:xfrm>
            <a:off x="2063956" y="2588749"/>
            <a:ext cx="8362122" cy="1770419"/>
          </a:xfrm>
          <a:prstGeom prst="rect">
            <a:avLst/>
          </a:prstGeom>
          <a:gradFill flip="none" rotWithShape="1">
            <a:gsLst>
              <a:gs pos="0">
                <a:schemeClr val="accent5">
                  <a:lumMod val="42000"/>
                  <a:lumOff val="58000"/>
                </a:schemeClr>
              </a:gs>
              <a:gs pos="100000">
                <a:schemeClr val="accent4">
                  <a:lumMod val="75000"/>
                </a:schemeClr>
              </a:gs>
            </a:gsLst>
            <a:lin ang="5400000" scaled="1"/>
            <a:tileRect/>
          </a:gra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1F2B3CA-1C20-694E-B276-5E2C754C33E9}"/>
              </a:ext>
            </a:extLst>
          </p:cNvPr>
          <p:cNvSpPr/>
          <p:nvPr/>
        </p:nvSpPr>
        <p:spPr>
          <a:xfrm>
            <a:off x="2063956" y="3819183"/>
            <a:ext cx="8362122" cy="540000"/>
          </a:xfrm>
          <a:prstGeom prst="rect">
            <a:avLst/>
          </a:prstGeom>
          <a:pattFill prst="pct25">
            <a:fgClr>
              <a:schemeClr val="accent4">
                <a:lumMod val="75000"/>
              </a:schemeClr>
            </a:fgClr>
            <a:bgClr>
              <a:schemeClr val="bg1"/>
            </a:bgClr>
          </a:patt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B8F9072B-FAED-E34D-A493-1550A6EF10EB}"/>
              </a:ext>
            </a:extLst>
          </p:cNvPr>
          <p:cNvSpPr/>
          <p:nvPr/>
        </p:nvSpPr>
        <p:spPr>
          <a:xfrm>
            <a:off x="963496" y="3234738"/>
            <a:ext cx="936994" cy="374754"/>
          </a:xfrm>
          <a:prstGeom prst="right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F0F5E43C-3EC3-444E-806E-821D7084C74D}"/>
              </a:ext>
            </a:extLst>
          </p:cNvPr>
          <p:cNvSpPr txBox="1"/>
          <p:nvPr/>
        </p:nvSpPr>
        <p:spPr>
          <a:xfrm>
            <a:off x="965940" y="2974251"/>
            <a:ext cx="936994"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flow</a:t>
            </a:r>
          </a:p>
        </p:txBody>
      </p:sp>
      <p:cxnSp>
        <p:nvCxnSpPr>
          <p:cNvPr id="26" name="Straight Arrow Connector 25">
            <a:extLst>
              <a:ext uri="{FF2B5EF4-FFF2-40B4-BE49-F238E27FC236}">
                <a16:creationId xmlns:a16="http://schemas.microsoft.com/office/drawing/2014/main" id="{F47901D6-43B5-294C-9981-55254364F5EE}"/>
              </a:ext>
            </a:extLst>
          </p:cNvPr>
          <p:cNvCxnSpPr/>
          <p:nvPr/>
        </p:nvCxnSpPr>
        <p:spPr>
          <a:xfrm flipV="1">
            <a:off x="3317007" y="3140048"/>
            <a:ext cx="0" cy="679135"/>
          </a:xfrm>
          <a:prstGeom prst="straightConnector1">
            <a:avLst/>
          </a:prstGeom>
          <a:ln w="190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0E4D3EA0-66F0-794D-8FE4-2DBD8F2E41DC}"/>
              </a:ext>
            </a:extLst>
          </p:cNvPr>
          <p:cNvSpPr txBox="1"/>
          <p:nvPr/>
        </p:nvSpPr>
        <p:spPr>
          <a:xfrm>
            <a:off x="3002469" y="2974251"/>
            <a:ext cx="46605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z</a:t>
            </a:r>
          </a:p>
        </p:txBody>
      </p:sp>
      <p:cxnSp>
        <p:nvCxnSpPr>
          <p:cNvPr id="28" name="Straight Connector 27">
            <a:extLst>
              <a:ext uri="{FF2B5EF4-FFF2-40B4-BE49-F238E27FC236}">
                <a16:creationId xmlns:a16="http://schemas.microsoft.com/office/drawing/2014/main" id="{31F383C2-98BF-DB4F-9B64-AB7F8E7427A9}"/>
              </a:ext>
            </a:extLst>
          </p:cNvPr>
          <p:cNvCxnSpPr/>
          <p:nvPr/>
        </p:nvCxnSpPr>
        <p:spPr>
          <a:xfrm>
            <a:off x="5475591" y="2588749"/>
            <a:ext cx="0" cy="12304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8483155-485F-2D41-BC7E-FC7ED7DE3B86}"/>
              </a:ext>
            </a:extLst>
          </p:cNvPr>
          <p:cNvCxnSpPr/>
          <p:nvPr/>
        </p:nvCxnSpPr>
        <p:spPr>
          <a:xfrm>
            <a:off x="7231939" y="2577296"/>
            <a:ext cx="0" cy="12304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Freeform 29">
            <a:extLst>
              <a:ext uri="{FF2B5EF4-FFF2-40B4-BE49-F238E27FC236}">
                <a16:creationId xmlns:a16="http://schemas.microsoft.com/office/drawing/2014/main" id="{FDA1D57E-8616-9149-843D-C1904ACF8159}"/>
              </a:ext>
            </a:extLst>
          </p:cNvPr>
          <p:cNvSpPr/>
          <p:nvPr/>
        </p:nvSpPr>
        <p:spPr>
          <a:xfrm>
            <a:off x="5769148" y="2612315"/>
            <a:ext cx="584617" cy="1184223"/>
          </a:xfrm>
          <a:custGeom>
            <a:avLst/>
            <a:gdLst>
              <a:gd name="connsiteX0" fmla="*/ 0 w 584617"/>
              <a:gd name="connsiteY0" fmla="*/ 0 h 1184223"/>
              <a:gd name="connsiteX1" fmla="*/ 44971 w 584617"/>
              <a:gd name="connsiteY1" fmla="*/ 329784 h 1184223"/>
              <a:gd name="connsiteX2" fmla="*/ 179882 w 584617"/>
              <a:gd name="connsiteY2" fmla="*/ 749508 h 1184223"/>
              <a:gd name="connsiteX3" fmla="*/ 389745 w 584617"/>
              <a:gd name="connsiteY3" fmla="*/ 1019331 h 1184223"/>
              <a:gd name="connsiteX4" fmla="*/ 524656 w 584617"/>
              <a:gd name="connsiteY4" fmla="*/ 1094282 h 1184223"/>
              <a:gd name="connsiteX5" fmla="*/ 584617 w 584617"/>
              <a:gd name="connsiteY5" fmla="*/ 1184223 h 1184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4617" h="1184223">
                <a:moveTo>
                  <a:pt x="0" y="0"/>
                </a:moveTo>
                <a:cubicBezTo>
                  <a:pt x="7495" y="102433"/>
                  <a:pt x="14991" y="204866"/>
                  <a:pt x="44971" y="329784"/>
                </a:cubicBezTo>
                <a:cubicBezTo>
                  <a:pt x="74951" y="454702"/>
                  <a:pt x="122420" y="634584"/>
                  <a:pt x="179882" y="749508"/>
                </a:cubicBezTo>
                <a:cubicBezTo>
                  <a:pt x="237344" y="864432"/>
                  <a:pt x="332283" y="961869"/>
                  <a:pt x="389745" y="1019331"/>
                </a:cubicBezTo>
                <a:cubicBezTo>
                  <a:pt x="447207" y="1076793"/>
                  <a:pt x="492177" y="1066800"/>
                  <a:pt x="524656" y="1094282"/>
                </a:cubicBezTo>
                <a:cubicBezTo>
                  <a:pt x="557135" y="1121764"/>
                  <a:pt x="570876" y="1152993"/>
                  <a:pt x="584617" y="1184223"/>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a:extLst>
              <a:ext uri="{FF2B5EF4-FFF2-40B4-BE49-F238E27FC236}">
                <a16:creationId xmlns:a16="http://schemas.microsoft.com/office/drawing/2014/main" id="{5C0DF430-FD64-8449-89AD-986886FBD0C0}"/>
              </a:ext>
            </a:extLst>
          </p:cNvPr>
          <p:cNvSpPr/>
          <p:nvPr/>
        </p:nvSpPr>
        <p:spPr>
          <a:xfrm>
            <a:off x="7244430" y="2570422"/>
            <a:ext cx="854439" cy="1214203"/>
          </a:xfrm>
          <a:custGeom>
            <a:avLst/>
            <a:gdLst>
              <a:gd name="connsiteX0" fmla="*/ 0 w 854439"/>
              <a:gd name="connsiteY0" fmla="*/ 1214203 h 1214203"/>
              <a:gd name="connsiteX1" fmla="*/ 539646 w 854439"/>
              <a:gd name="connsiteY1" fmla="*/ 1154242 h 1214203"/>
              <a:gd name="connsiteX2" fmla="*/ 704538 w 854439"/>
              <a:gd name="connsiteY2" fmla="*/ 974360 h 1214203"/>
              <a:gd name="connsiteX3" fmla="*/ 824459 w 854439"/>
              <a:gd name="connsiteY3" fmla="*/ 404734 h 1214203"/>
              <a:gd name="connsiteX4" fmla="*/ 854439 w 854439"/>
              <a:gd name="connsiteY4" fmla="*/ 0 h 12142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439" h="1214203">
                <a:moveTo>
                  <a:pt x="0" y="1214203"/>
                </a:moveTo>
                <a:cubicBezTo>
                  <a:pt x="211111" y="1204209"/>
                  <a:pt x="422223" y="1194216"/>
                  <a:pt x="539646" y="1154242"/>
                </a:cubicBezTo>
                <a:cubicBezTo>
                  <a:pt x="657069" y="1114268"/>
                  <a:pt x="657069" y="1099278"/>
                  <a:pt x="704538" y="974360"/>
                </a:cubicBezTo>
                <a:cubicBezTo>
                  <a:pt x="752007" y="849442"/>
                  <a:pt x="799476" y="567127"/>
                  <a:pt x="824459" y="404734"/>
                </a:cubicBezTo>
                <a:cubicBezTo>
                  <a:pt x="849443" y="242341"/>
                  <a:pt x="851941" y="121170"/>
                  <a:pt x="854439" y="0"/>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Arrow Connector 31">
            <a:extLst>
              <a:ext uri="{FF2B5EF4-FFF2-40B4-BE49-F238E27FC236}">
                <a16:creationId xmlns:a16="http://schemas.microsoft.com/office/drawing/2014/main" id="{7846BE5B-B97B-B244-8654-6CDD5746D03E}"/>
              </a:ext>
            </a:extLst>
          </p:cNvPr>
          <p:cNvCxnSpPr>
            <a:cxnSpLocks/>
          </p:cNvCxnSpPr>
          <p:nvPr/>
        </p:nvCxnSpPr>
        <p:spPr>
          <a:xfrm>
            <a:off x="5475591" y="3473958"/>
            <a:ext cx="585865"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9338797-7F8F-8141-BC03-D66907748AF3}"/>
              </a:ext>
            </a:extLst>
          </p:cNvPr>
          <p:cNvCxnSpPr>
            <a:cxnSpLocks/>
          </p:cNvCxnSpPr>
          <p:nvPr/>
        </p:nvCxnSpPr>
        <p:spPr>
          <a:xfrm>
            <a:off x="7244430" y="3347594"/>
            <a:ext cx="749508"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7C91644B-183D-5041-BD6F-B91339E019C1}"/>
                  </a:ext>
                </a:extLst>
              </p:cNvPr>
              <p:cNvSpPr txBox="1"/>
              <p:nvPr/>
            </p:nvSpPr>
            <p:spPr>
              <a:xfrm>
                <a:off x="5538489" y="3177523"/>
                <a:ext cx="177228"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oMath>
                  </m:oMathPara>
                </a14:m>
                <a:endParaRPr lang="en-US" dirty="0">
                  <a:latin typeface="Arial" panose="020B0604020202020204" pitchFamily="34" charset="0"/>
                  <a:cs typeface="Arial" panose="020B0604020202020204" pitchFamily="34" charset="0"/>
                </a:endParaRPr>
              </a:p>
            </p:txBody>
          </p:sp>
        </mc:Choice>
        <mc:Fallback xmlns="">
          <p:sp>
            <p:nvSpPr>
              <p:cNvPr id="34" name="TextBox 33">
                <a:extLst>
                  <a:ext uri="{FF2B5EF4-FFF2-40B4-BE49-F238E27FC236}">
                    <a16:creationId xmlns:a16="http://schemas.microsoft.com/office/drawing/2014/main" id="{7C91644B-183D-5041-BD6F-B91339E019C1}"/>
                  </a:ext>
                </a:extLst>
              </p:cNvPr>
              <p:cNvSpPr txBox="1">
                <a:spLocks noRot="1" noChangeAspect="1" noMove="1" noResize="1" noEditPoints="1" noAdjustHandles="1" noChangeArrowheads="1" noChangeShapeType="1" noTextEdit="1"/>
              </p:cNvSpPr>
              <p:nvPr/>
            </p:nvSpPr>
            <p:spPr>
              <a:xfrm>
                <a:off x="5538489" y="3177523"/>
                <a:ext cx="177228" cy="315792"/>
              </a:xfrm>
              <a:prstGeom prst="rect">
                <a:avLst/>
              </a:prstGeom>
              <a:blipFill>
                <a:blip r:embed="rId4"/>
                <a:stretch>
                  <a:fillRect l="-20000" r="-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97AE2F3-1D65-9048-BC0D-E736250F704D}"/>
                  </a:ext>
                </a:extLst>
              </p:cNvPr>
              <p:cNvSpPr txBox="1"/>
              <p:nvPr/>
            </p:nvSpPr>
            <p:spPr>
              <a:xfrm>
                <a:off x="7472064" y="3001097"/>
                <a:ext cx="203004"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𝑢</m:t>
                          </m:r>
                        </m:e>
                      </m:acc>
                    </m:oMath>
                  </m:oMathPara>
                </a14:m>
                <a:endParaRPr lang="en-US" dirty="0">
                  <a:latin typeface="Arial" panose="020B0604020202020204" pitchFamily="34" charset="0"/>
                  <a:cs typeface="Arial" panose="020B0604020202020204" pitchFamily="34" charset="0"/>
                </a:endParaRPr>
              </a:p>
            </p:txBody>
          </p:sp>
        </mc:Choice>
        <mc:Fallback xmlns="">
          <p:sp>
            <p:nvSpPr>
              <p:cNvPr id="35" name="TextBox 34">
                <a:extLst>
                  <a:ext uri="{FF2B5EF4-FFF2-40B4-BE49-F238E27FC236}">
                    <a16:creationId xmlns:a16="http://schemas.microsoft.com/office/drawing/2014/main" id="{597AE2F3-1D65-9048-BC0D-E736250F704D}"/>
                  </a:ext>
                </a:extLst>
              </p:cNvPr>
              <p:cNvSpPr txBox="1">
                <a:spLocks noRot="1" noChangeAspect="1" noMove="1" noResize="1" noEditPoints="1" noAdjustHandles="1" noChangeArrowheads="1" noChangeShapeType="1" noTextEdit="1"/>
              </p:cNvSpPr>
              <p:nvPr/>
            </p:nvSpPr>
            <p:spPr>
              <a:xfrm>
                <a:off x="7472064" y="3001097"/>
                <a:ext cx="203004" cy="315792"/>
              </a:xfrm>
              <a:prstGeom prst="rect">
                <a:avLst/>
              </a:prstGeom>
              <a:blipFill>
                <a:blip r:embed="rId5"/>
                <a:stretch>
                  <a:fillRect l="-11765" r="-5882"/>
                </a:stretch>
              </a:blipFill>
            </p:spPr>
            <p:txBody>
              <a:bodyPr/>
              <a:lstStyle/>
              <a:p>
                <a:r>
                  <a:rPr lang="en-US">
                    <a:noFill/>
                  </a:rPr>
                  <a:t> </a:t>
                </a:r>
              </a:p>
            </p:txBody>
          </p:sp>
        </mc:Fallback>
      </mc:AlternateContent>
      <p:cxnSp>
        <p:nvCxnSpPr>
          <p:cNvPr id="36" name="Straight Arrow Connector 35">
            <a:extLst>
              <a:ext uri="{FF2B5EF4-FFF2-40B4-BE49-F238E27FC236}">
                <a16:creationId xmlns:a16="http://schemas.microsoft.com/office/drawing/2014/main" id="{37276F2E-B504-C14B-9BA0-9B153DAB8943}"/>
              </a:ext>
            </a:extLst>
          </p:cNvPr>
          <p:cNvCxnSpPr/>
          <p:nvPr/>
        </p:nvCxnSpPr>
        <p:spPr>
          <a:xfrm>
            <a:off x="9193151" y="2588749"/>
            <a:ext cx="0" cy="1230434"/>
          </a:xfrm>
          <a:prstGeom prst="straightConnector1">
            <a:avLst/>
          </a:prstGeom>
          <a:ln w="19050">
            <a:solidFill>
              <a:schemeClr val="tx1"/>
            </a:solidFill>
            <a:headEnd type="arrow" w="lg" len="lg"/>
            <a:tailEnd type="arrow" w="lg" len="lg"/>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81ED501-140C-8346-9135-AEA297EBB31E}"/>
              </a:ext>
            </a:extLst>
          </p:cNvPr>
          <p:cNvSpPr txBox="1"/>
          <p:nvPr/>
        </p:nvSpPr>
        <p:spPr>
          <a:xfrm>
            <a:off x="8862011" y="2916817"/>
            <a:ext cx="46605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H</a:t>
            </a:r>
          </a:p>
        </p:txBody>
      </p:sp>
      <p:sp>
        <p:nvSpPr>
          <p:cNvPr id="2" name="TextBox 1">
            <a:extLst>
              <a:ext uri="{FF2B5EF4-FFF2-40B4-BE49-F238E27FC236}">
                <a16:creationId xmlns:a16="http://schemas.microsoft.com/office/drawing/2014/main" id="{4578764D-EA09-084E-AC2E-754A721232BA}"/>
              </a:ext>
            </a:extLst>
          </p:cNvPr>
          <p:cNvSpPr txBox="1"/>
          <p:nvPr/>
        </p:nvSpPr>
        <p:spPr>
          <a:xfrm>
            <a:off x="383626" y="4653903"/>
            <a:ext cx="11435937"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Reynolds flux of suspended sediment in the z direction can be modeled in terms of a kinematic eddy diffusivity as</a:t>
            </a:r>
          </a:p>
        </p:txBody>
      </p:sp>
      <p:cxnSp>
        <p:nvCxnSpPr>
          <p:cNvPr id="7" name="Straight Arrow Connector 6">
            <a:extLst>
              <a:ext uri="{FF2B5EF4-FFF2-40B4-BE49-F238E27FC236}">
                <a16:creationId xmlns:a16="http://schemas.microsoft.com/office/drawing/2014/main" id="{379537B7-8D1F-704C-8631-787FF2934087}"/>
              </a:ext>
            </a:extLst>
          </p:cNvPr>
          <p:cNvCxnSpPr>
            <a:cxnSpLocks/>
          </p:cNvCxnSpPr>
          <p:nvPr/>
        </p:nvCxnSpPr>
        <p:spPr>
          <a:xfrm>
            <a:off x="6614925" y="2908234"/>
            <a:ext cx="5605" cy="513881"/>
          </a:xfrm>
          <a:prstGeom prst="straightConnector1">
            <a:avLst/>
          </a:prstGeom>
          <a:ln w="38100">
            <a:solidFill>
              <a:srgbClr val="FF0000"/>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B1D33BD-71A3-D149-82F4-B3ACC6C4F6A6}"/>
                  </a:ext>
                </a:extLst>
              </p:cNvPr>
              <p:cNvSpPr txBox="1"/>
              <p:nvPr/>
            </p:nvSpPr>
            <p:spPr>
              <a:xfrm>
                <a:off x="5768523" y="3865256"/>
                <a:ext cx="2382767" cy="315792"/>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𝑐</m:t>
                          </m:r>
                        </m:e>
                        <m:sup>
                          <m:r>
                            <a:rPr lang="en-US" b="0" i="1" smtClean="0">
                              <a:latin typeface="Cambria Math" panose="02040503050406030204" pitchFamily="18" charset="0"/>
                              <a:cs typeface="Arial" panose="020B0604020202020204" pitchFamily="34" charset="0"/>
                            </a:rPr>
                            <m:t>′</m:t>
                          </m:r>
                        </m:sup>
                      </m:sSup>
                      <m:r>
                        <a:rPr lang="en-US" b="0" i="1" smtClean="0">
                          <a:latin typeface="Cambria Math" panose="02040503050406030204" pitchFamily="18" charset="0"/>
                          <a:cs typeface="Arial" panose="020B0604020202020204" pitchFamily="34" charset="0"/>
                        </a:rPr>
                        <m:t>&lt;0, </m:t>
                      </m:r>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𝑤</m:t>
                          </m:r>
                        </m:e>
                        <m:sup>
                          <m:r>
                            <a:rPr lang="en-US" b="0" i="1" smtClean="0">
                              <a:latin typeface="Cambria Math" panose="02040503050406030204" pitchFamily="18" charset="0"/>
                              <a:cs typeface="Arial" panose="020B0604020202020204" pitchFamily="34" charset="0"/>
                            </a:rPr>
                            <m:t>′</m:t>
                          </m:r>
                        </m:sup>
                      </m:sSup>
                      <m:r>
                        <a:rPr lang="en-US" b="0" i="1" smtClean="0">
                          <a:latin typeface="Cambria Math" panose="02040503050406030204" pitchFamily="18" charset="0"/>
                          <a:cs typeface="Arial" panose="020B0604020202020204" pitchFamily="34" charset="0"/>
                        </a:rPr>
                        <m:t>&lt;0,</m:t>
                      </m:r>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𝑤</m:t>
                          </m:r>
                        </m:e>
                        <m:sup>
                          <m:r>
                            <a:rPr lang="en-US" i="1">
                              <a:latin typeface="Cambria Math" panose="02040503050406030204" pitchFamily="18" charset="0"/>
                              <a:cs typeface="Arial" panose="020B0604020202020204" pitchFamily="34" charset="0"/>
                            </a:rPr>
                            <m:t>′</m:t>
                          </m:r>
                        </m:sup>
                      </m:sSup>
                      <m:r>
                        <a:rPr lang="en-US" i="1">
                          <a:latin typeface="Cambria Math" panose="02040503050406030204" pitchFamily="18" charset="0"/>
                          <a:cs typeface="Arial" panose="020B0604020202020204" pitchFamily="34" charset="0"/>
                        </a:rPr>
                        <m:t>𝑐</m:t>
                      </m:r>
                      <m:r>
                        <a:rPr lang="en-US" i="1">
                          <a:latin typeface="Cambria Math" panose="02040503050406030204" pitchFamily="18" charset="0"/>
                          <a:cs typeface="Arial" panose="020B0604020202020204" pitchFamily="34" charset="0"/>
                        </a:rPr>
                        <m:t>′&gt;0</m:t>
                      </m:r>
                    </m:oMath>
                  </m:oMathPara>
                </a14:m>
                <a:endParaRPr lang="en-US" dirty="0">
                  <a:latin typeface="Arial" panose="020B0604020202020204" pitchFamily="34" charset="0"/>
                  <a:cs typeface="Arial" panose="020B0604020202020204" pitchFamily="34" charset="0"/>
                </a:endParaRPr>
              </a:p>
            </p:txBody>
          </p:sp>
        </mc:Choice>
        <mc:Fallback xmlns="">
          <p:sp>
            <p:nvSpPr>
              <p:cNvPr id="9" name="TextBox 8">
                <a:extLst>
                  <a:ext uri="{FF2B5EF4-FFF2-40B4-BE49-F238E27FC236}">
                    <a16:creationId xmlns:a16="http://schemas.microsoft.com/office/drawing/2014/main" id="{5B1D33BD-71A3-D149-82F4-B3ACC6C4F6A6}"/>
                  </a:ext>
                </a:extLst>
              </p:cNvPr>
              <p:cNvSpPr txBox="1">
                <a:spLocks noRot="1" noChangeAspect="1" noMove="1" noResize="1" noEditPoints="1" noAdjustHandles="1" noChangeArrowheads="1" noChangeShapeType="1" noTextEdit="1"/>
              </p:cNvSpPr>
              <p:nvPr/>
            </p:nvSpPr>
            <p:spPr>
              <a:xfrm>
                <a:off x="5768523" y="3865256"/>
                <a:ext cx="2382767" cy="315792"/>
              </a:xfrm>
              <a:prstGeom prst="rect">
                <a:avLst/>
              </a:prstGeom>
              <a:blipFill>
                <a:blip r:embed="rId6"/>
                <a:stretch>
                  <a:fillRect l="-1064" r="-1596"/>
                </a:stretch>
              </a:blipFill>
            </p:spPr>
            <p:txBody>
              <a:bodyPr/>
              <a:lstStyle/>
              <a:p>
                <a:r>
                  <a:rPr lang="en-US">
                    <a:noFill/>
                  </a:rPr>
                  <a:t> </a:t>
                </a:r>
              </a:p>
            </p:txBody>
          </p:sp>
        </mc:Fallback>
      </mc:AlternateContent>
      <p:sp>
        <p:nvSpPr>
          <p:cNvPr id="24" name="Oval 23">
            <a:extLst>
              <a:ext uri="{FF2B5EF4-FFF2-40B4-BE49-F238E27FC236}">
                <a16:creationId xmlns:a16="http://schemas.microsoft.com/office/drawing/2014/main" id="{66CD56BB-EF97-C740-ACE1-DCF189143D4E}"/>
              </a:ext>
            </a:extLst>
          </p:cNvPr>
          <p:cNvSpPr/>
          <p:nvPr/>
        </p:nvSpPr>
        <p:spPr>
          <a:xfrm>
            <a:off x="6302869" y="601358"/>
            <a:ext cx="2559142" cy="804231"/>
          </a:xfrm>
          <a:prstGeom prst="ellipse">
            <a:avLst/>
          </a:prstGeom>
          <a:solidFill>
            <a:srgbClr val="F9D9FF"/>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C3A620C-5EAF-8E47-9690-9D09A73664E0}"/>
                  </a:ext>
                </a:extLst>
              </p:cNvPr>
              <p:cNvSpPr txBox="1"/>
              <p:nvPr/>
            </p:nvSpPr>
            <p:spPr>
              <a:xfrm>
                <a:off x="3433910" y="693135"/>
                <a:ext cx="5030673" cy="545727"/>
              </a:xfrm>
              <a:prstGeom prst="rect">
                <a:avLst/>
              </a:prstGeom>
              <a:noFill/>
            </p:spPr>
            <p:txBody>
              <a:bodyPr wrap="none" lIns="0" tIns="0" rIns="0" bIns="0" rtlCol="0">
                <a:spAutoFit/>
              </a:bodyPr>
              <a:lstStyle/>
              <a:p>
                <a:pPr>
                  <a:lnSpc>
                    <a:spcPct val="114000"/>
                  </a:lnSpc>
                </a:pPr>
                <a14:m>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acc>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acc>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acc>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acc>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𝑣</m:t>
                        </m:r>
                      </m:e>
                      <m:sub>
                        <m:r>
                          <a:rPr lang="en-US" i="1">
                            <a:latin typeface="Cambria Math" panose="02040503050406030204" pitchFamily="18" charset="0"/>
                            <a:ea typeface="Cambria Math" panose="02040503050406030204" pitchFamily="18" charset="0"/>
                            <a:cs typeface="Arial" panose="020B0604020202020204" pitchFamily="34" charset="0"/>
                          </a:rPr>
                          <m:t>𝑠</m:t>
                        </m:r>
                      </m:sub>
                    </m:sSub>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r>
                              <a:rPr lang="en-US" b="0" i="1" smtClean="0">
                                <a:latin typeface="Cambria Math" panose="02040503050406030204" pitchFamily="18" charset="0"/>
                                <a:ea typeface="Cambria Math" panose="02040503050406030204" pitchFamily="18" charset="0"/>
                                <a:cs typeface="Arial" panose="020B0604020202020204" pitchFamily="34" charset="0"/>
                              </a:rPr>
                              <m:t>𝑐</m:t>
                            </m:r>
                            <m:r>
                              <a:rPr lang="en-US" b="0" i="1" smtClean="0">
                                <a:latin typeface="Cambria Math" panose="02040503050406030204" pitchFamily="18" charset="0"/>
                                <a:ea typeface="Cambria Math" panose="02040503050406030204" pitchFamily="18" charset="0"/>
                                <a:cs typeface="Arial" panose="020B0604020202020204" pitchFamily="34" charset="0"/>
                              </a:rPr>
                              <m:t>′</m:t>
                            </m:r>
                          </m:e>
                        </m:acc>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i="1">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r>
                              <a:rPr lang="en-US" i="1">
                                <a:latin typeface="Cambria Math" panose="02040503050406030204" pitchFamily="18" charset="0"/>
                                <a:ea typeface="Cambria Math" panose="02040503050406030204" pitchFamily="18" charset="0"/>
                                <a:cs typeface="Arial" panose="020B0604020202020204" pitchFamily="34" charset="0"/>
                              </a:rPr>
                              <m:t>𝑐</m:t>
                            </m:r>
                            <m:r>
                              <a:rPr lang="en-US" i="1">
                                <a:latin typeface="Cambria Math" panose="02040503050406030204" pitchFamily="18" charset="0"/>
                                <a:ea typeface="Cambria Math" panose="02040503050406030204" pitchFamily="18" charset="0"/>
                                <a:cs typeface="Arial" panose="020B0604020202020204" pitchFamily="34" charset="0"/>
                              </a:rPr>
                              <m:t>′</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oMath>
                </a14:m>
                <a:r>
                  <a:rPr lang="en-US" dirty="0">
                    <a:ea typeface="Cambria Math" panose="02040503050406030204" pitchFamily="18" charset="0"/>
                    <a:cs typeface="Arial" panose="020B0604020202020204" pitchFamily="34" charset="0"/>
                  </a:rPr>
                  <a:t> </a:t>
                </a:r>
                <a14:m>
                  <m:oMath xmlns:m="http://schemas.openxmlformats.org/officeDocument/2006/math">
                    <m:r>
                      <a:rPr lang="en-US" i="1">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r>
                              <a:rPr lang="en-US" i="1">
                                <a:latin typeface="Cambria Math" panose="02040503050406030204" pitchFamily="18" charset="0"/>
                                <a:ea typeface="Cambria Math" panose="02040503050406030204" pitchFamily="18" charset="0"/>
                                <a:cs typeface="Arial" panose="020B0604020202020204" pitchFamily="34" charset="0"/>
                              </a:rPr>
                              <m:t>𝑐</m:t>
                            </m:r>
                            <m:r>
                              <a:rPr lang="en-US" i="1">
                                <a:latin typeface="Cambria Math" panose="02040503050406030204" pitchFamily="18" charset="0"/>
                                <a:ea typeface="Cambria Math" panose="02040503050406030204" pitchFamily="18" charset="0"/>
                                <a:cs typeface="Arial" panose="020B0604020202020204" pitchFamily="34" charset="0"/>
                              </a:rPr>
                              <m:t>′</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oMath>
                </a14:m>
                <a:endParaRPr lang="en-US" dirty="0">
                  <a:latin typeface="Arial" panose="020B0604020202020204" pitchFamily="34" charset="0"/>
                  <a:cs typeface="Arial" panose="020B0604020202020204" pitchFamily="34" charset="0"/>
                </a:endParaRPr>
              </a:p>
            </p:txBody>
          </p:sp>
        </mc:Choice>
        <mc:Fallback xmlns="">
          <p:sp>
            <p:nvSpPr>
              <p:cNvPr id="25" name="TextBox 24">
                <a:extLst>
                  <a:ext uri="{FF2B5EF4-FFF2-40B4-BE49-F238E27FC236}">
                    <a16:creationId xmlns:a16="http://schemas.microsoft.com/office/drawing/2014/main" id="{FC3A620C-5EAF-8E47-9690-9D09A73664E0}"/>
                  </a:ext>
                </a:extLst>
              </p:cNvPr>
              <p:cNvSpPr txBox="1">
                <a:spLocks noRot="1" noChangeAspect="1" noMove="1" noResize="1" noEditPoints="1" noAdjustHandles="1" noChangeArrowheads="1" noChangeShapeType="1" noTextEdit="1"/>
              </p:cNvSpPr>
              <p:nvPr/>
            </p:nvSpPr>
            <p:spPr>
              <a:xfrm>
                <a:off x="3433910" y="693135"/>
                <a:ext cx="5030673" cy="545727"/>
              </a:xfrm>
              <a:prstGeom prst="rect">
                <a:avLst/>
              </a:prstGeom>
              <a:blipFill>
                <a:blip r:embed="rId7"/>
                <a:stretch>
                  <a:fillRect l="-1511" r="-756" b="-90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FDBE42A-DB09-7F40-B795-BAAF0A14A921}"/>
                  </a:ext>
                </a:extLst>
              </p:cNvPr>
              <p:cNvSpPr txBox="1"/>
              <p:nvPr/>
            </p:nvSpPr>
            <p:spPr>
              <a:xfrm>
                <a:off x="422902" y="5511926"/>
                <a:ext cx="1521506" cy="598369"/>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𝑐</m:t>
                              </m:r>
                            </m:e>
                            <m:sup>
                              <m:r>
                                <a:rPr lang="en-US" b="0" i="1" smtClean="0">
                                  <a:latin typeface="Cambria Math" panose="02040503050406030204" pitchFamily="18" charset="0"/>
                                  <a:cs typeface="Arial" panose="020B0604020202020204" pitchFamily="34" charset="0"/>
                                </a:rPr>
                                <m:t>′</m:t>
                              </m:r>
                            </m:sup>
                          </m:sSup>
                          <m:r>
                            <a:rPr lang="en-US" b="0" i="1" smtClean="0">
                              <a:latin typeface="Cambria Math" panose="02040503050406030204" pitchFamily="18" charset="0"/>
                              <a:cs typeface="Arial" panose="020B0604020202020204" pitchFamily="34" charset="0"/>
                            </a:rPr>
                            <m:t>𝑤</m:t>
                          </m:r>
                          <m:r>
                            <a:rPr lang="en-US" b="0" i="1" smtClean="0">
                              <a:latin typeface="Cambria Math" panose="02040503050406030204" pitchFamily="18" charset="0"/>
                              <a:cs typeface="Arial" panose="020B0604020202020204" pitchFamily="34" charset="0"/>
                            </a:rPr>
                            <m:t>′</m:t>
                          </m:r>
                        </m:e>
                      </m:acc>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𝜈</m:t>
                          </m:r>
                        </m:e>
                        <m:sub>
                          <m:r>
                            <a:rPr lang="en-US" b="0" i="1" smtClean="0">
                              <a:latin typeface="Cambria Math" panose="02040503050406030204" pitchFamily="18" charset="0"/>
                              <a:cs typeface="Arial" panose="020B0604020202020204" pitchFamily="34" charset="0"/>
                            </a:rPr>
                            <m:t>𝑠𝑡</m:t>
                          </m:r>
                        </m:sub>
                      </m:sSub>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acc>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oMath>
                  </m:oMathPara>
                </a14:m>
                <a:endParaRPr lang="en-US" dirty="0">
                  <a:latin typeface="Arial" panose="020B0604020202020204" pitchFamily="34" charset="0"/>
                  <a:cs typeface="Arial" panose="020B0604020202020204" pitchFamily="34" charset="0"/>
                </a:endParaRPr>
              </a:p>
            </p:txBody>
          </p:sp>
        </mc:Choice>
        <mc:Fallback xmlns="">
          <p:sp>
            <p:nvSpPr>
              <p:cNvPr id="3" name="TextBox 2">
                <a:extLst>
                  <a:ext uri="{FF2B5EF4-FFF2-40B4-BE49-F238E27FC236}">
                    <a16:creationId xmlns:a16="http://schemas.microsoft.com/office/drawing/2014/main" id="{0FDBE42A-DB09-7F40-B795-BAAF0A14A921}"/>
                  </a:ext>
                </a:extLst>
              </p:cNvPr>
              <p:cNvSpPr txBox="1">
                <a:spLocks noRot="1" noChangeAspect="1" noMove="1" noResize="1" noEditPoints="1" noAdjustHandles="1" noChangeArrowheads="1" noChangeShapeType="1" noTextEdit="1"/>
              </p:cNvSpPr>
              <p:nvPr/>
            </p:nvSpPr>
            <p:spPr>
              <a:xfrm>
                <a:off x="422902" y="5511926"/>
                <a:ext cx="1521506" cy="598369"/>
              </a:xfrm>
              <a:prstGeom prst="rect">
                <a:avLst/>
              </a:prstGeom>
              <a:blipFill>
                <a:blip r:embed="rId8"/>
                <a:stretch>
                  <a:fillRect l="-1653" r="-2479" b="-14583"/>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A1D32EA5-F492-544B-88E4-940E1306F891}"/>
              </a:ext>
            </a:extLst>
          </p:cNvPr>
          <p:cNvSpPr txBox="1"/>
          <p:nvPr/>
        </p:nvSpPr>
        <p:spPr>
          <a:xfrm>
            <a:off x="3057380" y="5574185"/>
            <a:ext cx="4174559" cy="732573"/>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with </a:t>
            </a:r>
            <a:r>
              <a:rPr lang="en-US" sz="2000" dirty="0" err="1">
                <a:latin typeface="Symbol" pitchFamily="2" charset="2"/>
                <a:cs typeface="Arial" panose="020B0604020202020204" pitchFamily="34" charset="0"/>
              </a:rPr>
              <a:t>n</a:t>
            </a:r>
            <a:r>
              <a:rPr lang="en-US" baseline="-25000" dirty="0" err="1">
                <a:latin typeface="Arial" panose="020B0604020202020204" pitchFamily="34" charset="0"/>
                <a:cs typeface="Arial" panose="020B0604020202020204" pitchFamily="34" charset="0"/>
              </a:rPr>
              <a:t>st</a:t>
            </a:r>
            <a:r>
              <a:rPr lang="en-US" dirty="0">
                <a:latin typeface="Arial" panose="020B0604020202020204" pitchFamily="34" charset="0"/>
                <a:cs typeface="Arial" panose="020B0604020202020204" pitchFamily="34" charset="0"/>
              </a:rPr>
              <a:t> being the kinematic eddy diffusivity of suspended sediment.</a:t>
            </a: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3177D4B6-02A3-0D47-BECD-338392224D36}"/>
                  </a:ext>
                </a:extLst>
              </p:cNvPr>
              <p:cNvSpPr txBox="1"/>
              <p:nvPr/>
            </p:nvSpPr>
            <p:spPr>
              <a:xfrm>
                <a:off x="9548915" y="5452872"/>
                <a:ext cx="877163" cy="872355"/>
              </a:xfrm>
              <a:prstGeom prst="rect">
                <a:avLst/>
              </a:prstGeom>
              <a:solidFill>
                <a:srgbClr val="FFFF00"/>
              </a:solidFill>
              <a:ln w="38100">
                <a:solidFill>
                  <a:srgbClr val="C00000"/>
                </a:solidFill>
              </a:ln>
            </p:spPr>
            <p:txBody>
              <a:bodyPr wrap="none" rtlCol="0">
                <a:spAutoFit/>
              </a:bodyPr>
              <a:lstStyle/>
              <a:p>
                <a:pPr algn="l">
                  <a:lnSpc>
                    <a:spcPct val="114000"/>
                  </a:lnSpc>
                </a:pPr>
                <a:r>
                  <a:rPr lang="en-US" dirty="0">
                    <a:latin typeface="Arial" panose="020B0604020202020204" pitchFamily="34" charset="0"/>
                    <a:cs typeface="Arial" panose="020B0604020202020204" pitchFamily="34" charset="0"/>
                  </a:rPr>
                  <a:t>NOTE</a:t>
                </a:r>
              </a:p>
              <a:p>
                <a:pPr algn="l">
                  <a:lnSpc>
                    <a:spcPct val="114000"/>
                  </a:lnSpc>
                </a:pPr>
                <a:r>
                  <a:rPr lang="en-US" dirty="0">
                    <a:latin typeface="Arial" panose="020B0604020202020204" pitchFamily="34" charset="0"/>
                    <a:cs typeface="Arial" panose="020B0604020202020204" pitchFamily="34" charset="0"/>
                  </a:rPr>
                  <a:t> </a:t>
                </a:r>
                <a14:m>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acc>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cs typeface="Arial" panose="020B0604020202020204" pitchFamily="34" charset="0"/>
                      </a:rPr>
                      <m:t>&lt;0</m:t>
                    </m:r>
                  </m:oMath>
                </a14:m>
                <a:endParaRPr lang="en-US" dirty="0">
                  <a:latin typeface="Arial" panose="020B0604020202020204" pitchFamily="34" charset="0"/>
                  <a:cs typeface="Arial" panose="020B0604020202020204" pitchFamily="34" charset="0"/>
                </a:endParaRPr>
              </a:p>
            </p:txBody>
          </p:sp>
        </mc:Choice>
        <mc:Fallback xmlns="">
          <p:sp>
            <p:nvSpPr>
              <p:cNvPr id="38" name="TextBox 37">
                <a:extLst>
                  <a:ext uri="{FF2B5EF4-FFF2-40B4-BE49-F238E27FC236}">
                    <a16:creationId xmlns:a16="http://schemas.microsoft.com/office/drawing/2014/main" id="{3177D4B6-02A3-0D47-BECD-338392224D36}"/>
                  </a:ext>
                </a:extLst>
              </p:cNvPr>
              <p:cNvSpPr txBox="1">
                <a:spLocks noRot="1" noChangeAspect="1" noMove="1" noResize="1" noEditPoints="1" noAdjustHandles="1" noChangeArrowheads="1" noChangeShapeType="1" noTextEdit="1"/>
              </p:cNvSpPr>
              <p:nvPr/>
            </p:nvSpPr>
            <p:spPr>
              <a:xfrm>
                <a:off x="9548915" y="5452872"/>
                <a:ext cx="877163" cy="872355"/>
              </a:xfrm>
              <a:prstGeom prst="rect">
                <a:avLst/>
              </a:prstGeom>
              <a:blipFill>
                <a:blip r:embed="rId9"/>
                <a:stretch>
                  <a:fillRect l="-4110" t="-1389"/>
                </a:stretch>
              </a:blipFill>
              <a:ln w="38100">
                <a:solidFill>
                  <a:srgbClr val="C00000"/>
                </a:solidFill>
              </a:ln>
            </p:spPr>
            <p:txBody>
              <a:bodyPr/>
              <a:lstStyle/>
              <a:p>
                <a:r>
                  <a:rPr lang="en-US">
                    <a:noFill/>
                  </a:rPr>
                  <a:t> </a:t>
                </a:r>
              </a:p>
            </p:txBody>
          </p:sp>
        </mc:Fallback>
      </mc:AlternateContent>
    </p:spTree>
    <p:extLst>
      <p:ext uri="{BB962C8B-B14F-4D97-AF65-F5344CB8AC3E}">
        <p14:creationId xmlns:p14="http://schemas.microsoft.com/office/powerpoint/2010/main" val="5945416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53</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Equilibrium vertical distribution of suspended sediment</a:t>
            </a:r>
          </a:p>
        </p:txBody>
      </p:sp>
      <p:sp>
        <p:nvSpPr>
          <p:cNvPr id="16" name="TextBox 15">
            <a:extLst>
              <a:ext uri="{FF2B5EF4-FFF2-40B4-BE49-F238E27FC236}">
                <a16:creationId xmlns:a16="http://schemas.microsoft.com/office/drawing/2014/main" id="{E93BFC86-46AE-6C49-B622-DBBBCF969899}"/>
              </a:ext>
            </a:extLst>
          </p:cNvPr>
          <p:cNvSpPr txBox="1"/>
          <p:nvPr/>
        </p:nvSpPr>
        <p:spPr>
          <a:xfrm>
            <a:off x="383626" y="814497"/>
            <a:ext cx="11527088" cy="2305375"/>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Turbulence transfers any quantity (momentum, heat, sediment mass) in the same fundamental way (Reynolds analogy).</a:t>
            </a:r>
          </a:p>
          <a:p>
            <a:pPr>
              <a:lnSpc>
                <a:spcPct val="114000"/>
              </a:lnSpc>
            </a:pPr>
            <a:r>
              <a:rPr lang="en-US" dirty="0">
                <a:latin typeface="Arial" panose="020B0604020202020204" pitchFamily="34" charset="0"/>
                <a:cs typeface="Arial" panose="020B0604020202020204" pitchFamily="34" charset="0"/>
              </a:rPr>
              <a:t>The Reynolds analogy is an approximation that is good over a wide range of conditions and will help us understand how sediment is transported in the water column of open channels. </a:t>
            </a:r>
          </a:p>
          <a:p>
            <a:pPr>
              <a:lnSpc>
                <a:spcPct val="114000"/>
              </a:lnSpc>
            </a:pPr>
            <a:endParaRPr lang="en-US" dirty="0">
              <a:latin typeface="Arial" panose="020B0604020202020204" pitchFamily="34" charset="0"/>
              <a:cs typeface="Arial" panose="020B0604020202020204" pitchFamily="34" charset="0"/>
            </a:endParaRPr>
          </a:p>
          <a:p>
            <a:pPr>
              <a:lnSpc>
                <a:spcPct val="114000"/>
              </a:lnSpc>
            </a:pPr>
            <a:r>
              <a:rPr lang="en-US" dirty="0">
                <a:latin typeface="Arial" panose="020B0604020202020204" pitchFamily="34" charset="0"/>
                <a:cs typeface="Arial" panose="020B0604020202020204" pitchFamily="34" charset="0"/>
              </a:rPr>
              <a:t>Consequence of the Reynolds analogy relevant to our problem is that the kinematic eddy diffusivity of suspended sediment </a:t>
            </a:r>
            <a:r>
              <a:rPr lang="en-US" sz="2000" dirty="0" err="1">
                <a:latin typeface="Symbol" pitchFamily="2" charset="2"/>
                <a:cs typeface="Arial" panose="020B0604020202020204" pitchFamily="34" charset="0"/>
              </a:rPr>
              <a:t>n</a:t>
            </a:r>
            <a:r>
              <a:rPr lang="en-US" baseline="-25000" dirty="0" err="1">
                <a:latin typeface="Arial" panose="020B0604020202020204" pitchFamily="34" charset="0"/>
                <a:cs typeface="Arial" panose="020B0604020202020204" pitchFamily="34" charset="0"/>
              </a:rPr>
              <a:t>st</a:t>
            </a:r>
            <a:r>
              <a:rPr lang="en-US" dirty="0">
                <a:latin typeface="Arial" panose="020B0604020202020204" pitchFamily="34" charset="0"/>
                <a:cs typeface="Arial" panose="020B0604020202020204" pitchFamily="34" charset="0"/>
              </a:rPr>
              <a:t> is equal to the eddy viscosity </a:t>
            </a:r>
            <a:r>
              <a:rPr lang="en-US" sz="2000" dirty="0">
                <a:latin typeface="Symbol" pitchFamily="2" charset="2"/>
                <a:cs typeface="Arial" panose="020B0604020202020204" pitchFamily="34" charset="0"/>
              </a:rPr>
              <a:t>n</a:t>
            </a:r>
            <a:r>
              <a:rPr lang="en-US" baseline="-25000" dirty="0">
                <a:latin typeface="Arial" panose="020B0604020202020204" pitchFamily="34" charset="0"/>
                <a:cs typeface="Arial" panose="020B0604020202020204" pitchFamily="34" charset="0"/>
              </a:rPr>
              <a:t>t</a:t>
            </a:r>
            <a:r>
              <a:rPr lang="en-US" dirty="0">
                <a:latin typeface="Arial" panose="020B0604020202020204" pitchFamily="34" charset="0"/>
                <a:cs typeface="Arial" panose="020B0604020202020204" pitchFamily="34" charset="0"/>
              </a:rPr>
              <a:t>. Thus, in the case of open channel flow</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031E3C4-8293-FC46-B1FC-BFC3CD090764}"/>
                  </a:ext>
                </a:extLst>
              </p:cNvPr>
              <p:cNvSpPr txBox="1"/>
              <p:nvPr/>
            </p:nvSpPr>
            <p:spPr>
              <a:xfrm>
                <a:off x="640830" y="3274624"/>
                <a:ext cx="2460354" cy="536557"/>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𝜈</m:t>
                          </m:r>
                        </m:e>
                        <m:sub>
                          <m:r>
                            <a:rPr lang="en-US" b="0" i="1" smtClean="0">
                              <a:latin typeface="Cambria Math" panose="02040503050406030204" pitchFamily="18" charset="0"/>
                              <a:cs typeface="Arial" panose="020B0604020202020204" pitchFamily="34" charset="0"/>
                            </a:rPr>
                            <m:t>𝑠𝑡</m:t>
                          </m:r>
                        </m:sub>
                      </m:sSub>
                      <m:r>
                        <a:rPr lang="en-US" b="0" i="1" smtClean="0">
                          <a:latin typeface="Cambria Math" panose="02040503050406030204" pitchFamily="18" charset="0"/>
                          <a:cs typeface="Arial" panose="020B0604020202020204" pitchFamily="34" charset="0"/>
                        </a:rPr>
                        <m:t>=</m:t>
                      </m:r>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𝜈</m:t>
                          </m:r>
                        </m:e>
                        <m:sub>
                          <m:r>
                            <a:rPr lang="en-US" b="0" i="1" smtClean="0">
                              <a:latin typeface="Cambria Math" panose="02040503050406030204" pitchFamily="18" charset="0"/>
                              <a:cs typeface="Arial" panose="020B0604020202020204" pitchFamily="34" charset="0"/>
                            </a:rPr>
                            <m:t>𝑡</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𝜅</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b>
                          <m:r>
                            <a:rPr lang="en-US" b="0" i="1" smtClean="0">
                              <a:latin typeface="Cambria Math" panose="02040503050406030204" pitchFamily="18" charset="0"/>
                              <a:ea typeface="Cambria Math" panose="02040503050406030204" pitchFamily="18" charset="0"/>
                              <a:cs typeface="Arial" panose="020B0604020202020204" pitchFamily="34" charset="0"/>
                            </a:rPr>
                            <m:t>∗</m:t>
                          </m:r>
                        </m:sub>
                      </m:sSub>
                      <m:r>
                        <a:rPr lang="en-US" b="0" i="1" smtClean="0">
                          <a:latin typeface="Cambria Math" panose="02040503050406030204" pitchFamily="18" charset="0"/>
                          <a:ea typeface="Cambria Math" panose="02040503050406030204" pitchFamily="18" charset="0"/>
                          <a:cs typeface="Arial" panose="020B0604020202020204" pitchFamily="34" charset="0"/>
                        </a:rPr>
                        <m:t>𝑧</m:t>
                      </m:r>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r>
                            <a:rPr lang="en-US" i="1">
                              <a:latin typeface="Cambria Math" panose="02040503050406030204" pitchFamily="18" charset="0"/>
                              <a:cs typeface="Arial" panose="020B0604020202020204" pitchFamily="34" charset="0"/>
                            </a:rPr>
                            <m:t>1−</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𝑧</m:t>
                              </m:r>
                            </m:num>
                            <m:den>
                              <m:r>
                                <a:rPr lang="en-US" i="1">
                                  <a:latin typeface="Cambria Math" panose="02040503050406030204" pitchFamily="18" charset="0"/>
                                  <a:cs typeface="Arial" panose="020B0604020202020204" pitchFamily="34" charset="0"/>
                                </a:rPr>
                                <m:t>𝐻</m:t>
                              </m:r>
                            </m:den>
                          </m:f>
                        </m:e>
                      </m:d>
                    </m:oMath>
                  </m:oMathPara>
                </a14:m>
                <a:endParaRPr lang="en-US" dirty="0">
                  <a:latin typeface="Arial" panose="020B0604020202020204" pitchFamily="34" charset="0"/>
                  <a:cs typeface="Arial" panose="020B0604020202020204" pitchFamily="34" charset="0"/>
                </a:endParaRPr>
              </a:p>
            </p:txBody>
          </p:sp>
        </mc:Choice>
        <mc:Fallback xmlns="">
          <p:sp>
            <p:nvSpPr>
              <p:cNvPr id="21" name="TextBox 20">
                <a:extLst>
                  <a:ext uri="{FF2B5EF4-FFF2-40B4-BE49-F238E27FC236}">
                    <a16:creationId xmlns:a16="http://schemas.microsoft.com/office/drawing/2014/main" id="{F031E3C4-8293-FC46-B1FC-BFC3CD090764}"/>
                  </a:ext>
                </a:extLst>
              </p:cNvPr>
              <p:cNvSpPr txBox="1">
                <a:spLocks noRot="1" noChangeAspect="1" noMove="1" noResize="1" noEditPoints="1" noAdjustHandles="1" noChangeArrowheads="1" noChangeShapeType="1" noTextEdit="1"/>
              </p:cNvSpPr>
              <p:nvPr/>
            </p:nvSpPr>
            <p:spPr>
              <a:xfrm>
                <a:off x="640830" y="3274624"/>
                <a:ext cx="2460354" cy="536557"/>
              </a:xfrm>
              <a:prstGeom prst="rect">
                <a:avLst/>
              </a:prstGeom>
              <a:blipFill>
                <a:blip r:embed="rId3"/>
                <a:stretch>
                  <a:fillRect l="-1026" b="-16279"/>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F8FF2769-4FDD-F641-AB9C-13B23BA92AAB}"/>
              </a:ext>
            </a:extLst>
          </p:cNvPr>
          <p:cNvSpPr txBox="1"/>
          <p:nvPr/>
        </p:nvSpPr>
        <p:spPr>
          <a:xfrm>
            <a:off x="536713" y="3995530"/>
            <a:ext cx="10942983"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In the case of steady and uniform open channel flow, the local equation of conservation of suspended sediment mass averaged over turbulence reduces to</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C6F4D98-9931-1744-96AD-D3688A9B4C14}"/>
                  </a:ext>
                </a:extLst>
              </p:cNvPr>
              <p:cNvSpPr txBox="1"/>
              <p:nvPr/>
            </p:nvSpPr>
            <p:spPr>
              <a:xfrm>
                <a:off x="640830" y="4877378"/>
                <a:ext cx="5030673" cy="545727"/>
              </a:xfrm>
              <a:prstGeom prst="rect">
                <a:avLst/>
              </a:prstGeom>
              <a:noFill/>
            </p:spPr>
            <p:txBody>
              <a:bodyPr wrap="none" lIns="0" tIns="0" rIns="0" bIns="0" rtlCol="0">
                <a:spAutoFit/>
              </a:bodyPr>
              <a:lstStyle/>
              <a:p>
                <a:pPr>
                  <a:lnSpc>
                    <a:spcPct val="114000"/>
                  </a:lnSpc>
                </a:pPr>
                <a14:m>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𝑐</m:t>
                            </m:r>
                          </m:e>
                        </m:acc>
                      </m:num>
                      <m:den>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acc>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acc>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acc>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𝑣</m:t>
                        </m:r>
                      </m:e>
                      <m:sub>
                        <m:r>
                          <a:rPr lang="en-US" i="1">
                            <a:latin typeface="Cambria Math" panose="02040503050406030204" pitchFamily="18" charset="0"/>
                            <a:ea typeface="Cambria Math" panose="02040503050406030204" pitchFamily="18" charset="0"/>
                            <a:cs typeface="Arial" panose="020B0604020202020204" pitchFamily="34" charset="0"/>
                          </a:rPr>
                          <m:t>𝑠</m:t>
                        </m:r>
                      </m:sub>
                    </m:sSub>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p>
                            <m:r>
                              <a:rPr lang="en-US" b="0" i="1" smtClean="0">
                                <a:latin typeface="Cambria Math" panose="02040503050406030204" pitchFamily="18" charset="0"/>
                                <a:ea typeface="Cambria Math" panose="02040503050406030204" pitchFamily="18" charset="0"/>
                                <a:cs typeface="Arial" panose="020B0604020202020204" pitchFamily="34" charset="0"/>
                              </a:rPr>
                              <m:t>𝑐</m:t>
                            </m:r>
                            <m:r>
                              <a:rPr lang="en-US" b="0" i="1" smtClean="0">
                                <a:latin typeface="Cambria Math" panose="02040503050406030204" pitchFamily="18" charset="0"/>
                                <a:ea typeface="Cambria Math" panose="02040503050406030204" pitchFamily="18" charset="0"/>
                                <a:cs typeface="Arial" panose="020B0604020202020204" pitchFamily="34" charset="0"/>
                              </a:rPr>
                              <m:t>′</m:t>
                            </m:r>
                          </m:e>
                        </m:acc>
                      </m:num>
                      <m:den>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den>
                    </m:f>
                    <m:r>
                      <a:rPr lang="en-US" i="1">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r>
                              <a:rPr lang="en-US" i="1">
                                <a:latin typeface="Cambria Math" panose="02040503050406030204" pitchFamily="18" charset="0"/>
                                <a:ea typeface="Cambria Math" panose="02040503050406030204" pitchFamily="18" charset="0"/>
                                <a:cs typeface="Arial" panose="020B0604020202020204" pitchFamily="34" charset="0"/>
                              </a:rPr>
                              <m:t>𝑐</m:t>
                            </m:r>
                            <m:r>
                              <a:rPr lang="en-US" i="1">
                                <a:latin typeface="Cambria Math" panose="02040503050406030204" pitchFamily="18" charset="0"/>
                                <a:ea typeface="Cambria Math" panose="02040503050406030204" pitchFamily="18" charset="0"/>
                                <a:cs typeface="Arial" panose="020B0604020202020204" pitchFamily="34" charset="0"/>
                              </a:rPr>
                              <m:t>′</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𝑦</m:t>
                        </m:r>
                      </m:den>
                    </m:f>
                  </m:oMath>
                </a14:m>
                <a:r>
                  <a:rPr lang="en-US" dirty="0">
                    <a:ea typeface="Cambria Math" panose="02040503050406030204" pitchFamily="18" charset="0"/>
                    <a:cs typeface="Arial" panose="020B0604020202020204" pitchFamily="34" charset="0"/>
                  </a:rPr>
                  <a:t> </a:t>
                </a:r>
                <a14:m>
                  <m:oMath xmlns:m="http://schemas.openxmlformats.org/officeDocument/2006/math">
                    <m:r>
                      <a:rPr lang="en-US" i="1">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r>
                              <a:rPr lang="en-US" i="1">
                                <a:latin typeface="Cambria Math" panose="02040503050406030204" pitchFamily="18" charset="0"/>
                                <a:ea typeface="Cambria Math" panose="02040503050406030204" pitchFamily="18" charset="0"/>
                                <a:cs typeface="Arial" panose="020B0604020202020204" pitchFamily="34" charset="0"/>
                              </a:rPr>
                              <m:t>𝑐</m:t>
                            </m:r>
                            <m:r>
                              <a:rPr lang="en-US" i="1">
                                <a:latin typeface="Cambria Math" panose="02040503050406030204" pitchFamily="18" charset="0"/>
                                <a:ea typeface="Cambria Math" panose="02040503050406030204" pitchFamily="18" charset="0"/>
                                <a:cs typeface="Arial" panose="020B0604020202020204" pitchFamily="34" charset="0"/>
                              </a:rPr>
                              <m:t>′</m:t>
                            </m:r>
                          </m:e>
                        </m:acc>
                      </m:num>
                      <m:den>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oMath>
                </a14:m>
                <a:endParaRPr lang="en-US" dirty="0">
                  <a:latin typeface="Arial" panose="020B0604020202020204" pitchFamily="34" charset="0"/>
                  <a:cs typeface="Arial" panose="020B0604020202020204" pitchFamily="34" charset="0"/>
                </a:endParaRPr>
              </a:p>
            </p:txBody>
          </p:sp>
        </mc:Choice>
        <mc:Fallback xmlns="">
          <p:sp>
            <p:nvSpPr>
              <p:cNvPr id="22" name="TextBox 21">
                <a:extLst>
                  <a:ext uri="{FF2B5EF4-FFF2-40B4-BE49-F238E27FC236}">
                    <a16:creationId xmlns:a16="http://schemas.microsoft.com/office/drawing/2014/main" id="{9C6F4D98-9931-1744-96AD-D3688A9B4C14}"/>
                  </a:ext>
                </a:extLst>
              </p:cNvPr>
              <p:cNvSpPr txBox="1">
                <a:spLocks noRot="1" noChangeAspect="1" noMove="1" noResize="1" noEditPoints="1" noAdjustHandles="1" noChangeArrowheads="1" noChangeShapeType="1" noTextEdit="1"/>
              </p:cNvSpPr>
              <p:nvPr/>
            </p:nvSpPr>
            <p:spPr>
              <a:xfrm>
                <a:off x="640830" y="4877378"/>
                <a:ext cx="5030673" cy="545727"/>
              </a:xfrm>
              <a:prstGeom prst="rect">
                <a:avLst/>
              </a:prstGeom>
              <a:blipFill>
                <a:blip r:embed="rId4"/>
                <a:stretch>
                  <a:fillRect l="-1259" r="-756" b="-9091"/>
                </a:stretch>
              </a:blipFill>
            </p:spPr>
            <p:txBody>
              <a:bodyPr/>
              <a:lstStyle/>
              <a:p>
                <a:r>
                  <a:rPr lang="en-US">
                    <a:noFill/>
                  </a:rPr>
                  <a:t> </a:t>
                </a:r>
              </a:p>
            </p:txBody>
          </p:sp>
        </mc:Fallback>
      </mc:AlternateContent>
      <p:cxnSp>
        <p:nvCxnSpPr>
          <p:cNvPr id="6" name="Straight Connector 5">
            <a:extLst>
              <a:ext uri="{FF2B5EF4-FFF2-40B4-BE49-F238E27FC236}">
                <a16:creationId xmlns:a16="http://schemas.microsoft.com/office/drawing/2014/main" id="{D649E830-A030-3849-9DBF-BA731E432336}"/>
              </a:ext>
            </a:extLst>
          </p:cNvPr>
          <p:cNvCxnSpPr/>
          <p:nvPr/>
        </p:nvCxnSpPr>
        <p:spPr>
          <a:xfrm flipH="1">
            <a:off x="536713" y="4800600"/>
            <a:ext cx="447261" cy="7680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6FA1F56-7D80-134E-BDFE-541B95FB35C3}"/>
              </a:ext>
            </a:extLst>
          </p:cNvPr>
          <p:cNvCxnSpPr/>
          <p:nvPr/>
        </p:nvCxnSpPr>
        <p:spPr>
          <a:xfrm flipH="1">
            <a:off x="983974" y="4837254"/>
            <a:ext cx="447261" cy="7680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792AA7F-D92A-EC41-B49E-A1D388E59E51}"/>
              </a:ext>
            </a:extLst>
          </p:cNvPr>
          <p:cNvCxnSpPr/>
          <p:nvPr/>
        </p:nvCxnSpPr>
        <p:spPr>
          <a:xfrm flipH="1">
            <a:off x="1550748" y="4877378"/>
            <a:ext cx="447261" cy="7680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C90A73C-B0FA-634F-944D-5F5137349974}"/>
              </a:ext>
            </a:extLst>
          </p:cNvPr>
          <p:cNvCxnSpPr/>
          <p:nvPr/>
        </p:nvCxnSpPr>
        <p:spPr>
          <a:xfrm flipH="1">
            <a:off x="2142492" y="4837253"/>
            <a:ext cx="447261" cy="7680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70403DB-B2F0-EC49-9878-3CEB8A4EFF5C}"/>
              </a:ext>
            </a:extLst>
          </p:cNvPr>
          <p:cNvCxnSpPr/>
          <p:nvPr/>
        </p:nvCxnSpPr>
        <p:spPr>
          <a:xfrm flipH="1">
            <a:off x="3748271" y="4843899"/>
            <a:ext cx="447261" cy="7680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F47CC16-57E3-4844-BECC-969FC462FC8C}"/>
              </a:ext>
            </a:extLst>
          </p:cNvPr>
          <p:cNvCxnSpPr/>
          <p:nvPr/>
        </p:nvCxnSpPr>
        <p:spPr>
          <a:xfrm flipH="1">
            <a:off x="4486256" y="4766197"/>
            <a:ext cx="447261" cy="7680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43AD02A8-1FF5-3C48-9A8C-21023932E0E7}"/>
                  </a:ext>
                </a:extLst>
              </p:cNvPr>
              <p:cNvSpPr txBox="1"/>
              <p:nvPr/>
            </p:nvSpPr>
            <p:spPr>
              <a:xfrm>
                <a:off x="536713" y="5789690"/>
                <a:ext cx="1702325" cy="494815"/>
              </a:xfrm>
              <a:prstGeom prst="rect">
                <a:avLst/>
              </a:prstGeom>
              <a:noFill/>
            </p:spPr>
            <p:txBody>
              <a:bodyPr wrap="none" lIns="0" tIns="0" rIns="0" bIns="0" rtlCol="0">
                <a:spAutoFit/>
              </a:bodyPr>
              <a:lstStyle/>
              <a:p>
                <a:pPr>
                  <a:lnSpc>
                    <a:spcPct val="114000"/>
                  </a:lnSpc>
                </a:pPr>
                <a14:m>
                  <m:oMath xmlns:m="http://schemas.openxmlformats.org/officeDocument/2006/math">
                    <m:sSub>
                      <m:sSubPr>
                        <m:ctrlPr>
                          <a:rPr lang="en-US" i="1" smtClean="0">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𝑣</m:t>
                        </m:r>
                      </m:e>
                      <m:sub>
                        <m:r>
                          <a:rPr lang="en-US" i="1">
                            <a:latin typeface="Cambria Math" panose="02040503050406030204" pitchFamily="18" charset="0"/>
                            <a:ea typeface="Cambria Math" panose="02040503050406030204" pitchFamily="18" charset="0"/>
                            <a:cs typeface="Arial" panose="020B0604020202020204" pitchFamily="34" charset="0"/>
                          </a:rPr>
                          <m:t>𝑠</m:t>
                        </m:r>
                      </m:sub>
                    </m:sSub>
                    <m:f>
                      <m:fPr>
                        <m:ctrlPr>
                          <a:rPr lang="en-US" i="1">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𝑑</m:t>
                        </m:r>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b="0" i="1" smtClean="0">
                            <a:latin typeface="Cambria Math" panose="02040503050406030204" pitchFamily="18" charset="0"/>
                            <a:cs typeface="Arial" panose="020B0604020202020204" pitchFamily="34" charset="0"/>
                          </a:rPr>
                          <m:t>𝑑</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𝑑</m:t>
                        </m:r>
                        <m:acc>
                          <m:accPr>
                            <m:chr m:val="̅"/>
                            <m:ctrlPr>
                              <a:rPr lang="en-US" i="1" smtClean="0">
                                <a:latin typeface="Cambria Math" panose="02040503050406030204" pitchFamily="18" charset="0"/>
                                <a:ea typeface="Cambria Math" panose="02040503050406030204" pitchFamily="18" charset="0"/>
                                <a:cs typeface="Arial" panose="020B0604020202020204" pitchFamily="34" charset="0"/>
                              </a:rPr>
                            </m:ctrlPr>
                          </m:accPr>
                          <m:e>
                            <m:sSup>
                              <m:sSupPr>
                                <m:ctrlPr>
                                  <a:rPr lang="en-US"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𝑤</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𝑐</m:t>
                                </m:r>
                              </m:e>
                              <m:sup>
                                <m:r>
                                  <a:rPr lang="en-US" i="1">
                                    <a:latin typeface="Cambria Math" panose="02040503050406030204" pitchFamily="18" charset="0"/>
                                    <a:ea typeface="Cambria Math" panose="02040503050406030204" pitchFamily="18" charset="0"/>
                                    <a:cs typeface="Arial" panose="020B0604020202020204" pitchFamily="34" charset="0"/>
                                  </a:rPr>
                                  <m:t>′</m:t>
                                </m:r>
                              </m:sup>
                            </m:sSup>
                          </m:e>
                        </m:acc>
                      </m:num>
                      <m:den>
                        <m:r>
                          <a:rPr lang="en-US" b="0" i="1" smtClean="0">
                            <a:latin typeface="Cambria Math" panose="02040503050406030204" pitchFamily="18" charset="0"/>
                            <a:ea typeface="Cambria Math" panose="02040503050406030204" pitchFamily="18" charset="0"/>
                            <a:cs typeface="Arial" panose="020B0604020202020204" pitchFamily="34" charset="0"/>
                          </a:rPr>
                          <m:t>𝑑𝑧</m:t>
                        </m:r>
                      </m:den>
                    </m:f>
                    <m:r>
                      <a:rPr lang="en-US" b="0" i="1" smtClean="0">
                        <a:latin typeface="Cambria Math" panose="02040503050406030204" pitchFamily="18" charset="0"/>
                        <a:ea typeface="Cambria Math" panose="02040503050406030204" pitchFamily="18" charset="0"/>
                        <a:cs typeface="Arial" panose="020B0604020202020204" pitchFamily="34" charset="0"/>
                      </a:rPr>
                      <m:t>=0</m:t>
                    </m:r>
                  </m:oMath>
                </a14:m>
                <a:r>
                  <a:rPr lang="en-US" dirty="0">
                    <a:latin typeface="Arial" panose="020B0604020202020204" pitchFamily="34" charset="0"/>
                    <a:cs typeface="Arial" panose="020B0604020202020204" pitchFamily="34" charset="0"/>
                  </a:rPr>
                  <a:t> </a:t>
                </a:r>
              </a:p>
            </p:txBody>
          </p:sp>
        </mc:Choice>
        <mc:Fallback xmlns="">
          <p:sp>
            <p:nvSpPr>
              <p:cNvPr id="30" name="TextBox 29">
                <a:extLst>
                  <a:ext uri="{FF2B5EF4-FFF2-40B4-BE49-F238E27FC236}">
                    <a16:creationId xmlns:a16="http://schemas.microsoft.com/office/drawing/2014/main" id="{43AD02A8-1FF5-3C48-9A8C-21023932E0E7}"/>
                  </a:ext>
                </a:extLst>
              </p:cNvPr>
              <p:cNvSpPr txBox="1">
                <a:spLocks noRot="1" noChangeAspect="1" noMove="1" noResize="1" noEditPoints="1" noAdjustHandles="1" noChangeArrowheads="1" noChangeShapeType="1" noTextEdit="1"/>
              </p:cNvSpPr>
              <p:nvPr/>
            </p:nvSpPr>
            <p:spPr>
              <a:xfrm>
                <a:off x="536713" y="5789690"/>
                <a:ext cx="1702325" cy="494815"/>
              </a:xfrm>
              <a:prstGeom prst="rect">
                <a:avLst/>
              </a:prstGeom>
              <a:blipFill>
                <a:blip r:embed="rId5"/>
                <a:stretch>
                  <a:fillRect l="-3704" b="-10256"/>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7F344959-9CCC-064A-BA63-875AF3A7DFDB}"/>
              </a:ext>
            </a:extLst>
          </p:cNvPr>
          <p:cNvSpPr txBox="1"/>
          <p:nvPr/>
        </p:nvSpPr>
        <p:spPr>
          <a:xfrm>
            <a:off x="2823205" y="5852649"/>
            <a:ext cx="665922"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or</a:t>
            </a: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8CA9FAE2-3E0D-2E4D-8EC7-968828488AFB}"/>
                  </a:ext>
                </a:extLst>
              </p:cNvPr>
              <p:cNvSpPr txBox="1"/>
              <p:nvPr/>
            </p:nvSpPr>
            <p:spPr>
              <a:xfrm>
                <a:off x="3635093" y="5757900"/>
                <a:ext cx="1436162" cy="454804"/>
              </a:xfrm>
              <a:prstGeom prst="rect">
                <a:avLst/>
              </a:prstGeom>
              <a:noFill/>
            </p:spPr>
            <p:txBody>
              <a:bodyPr wrap="none" lIns="0" tIns="0" rIns="0" bIns="0" rtlCol="0">
                <a:spAutoFit/>
              </a:bodyPr>
              <a:lstStyle/>
              <a:p>
                <a:pPr>
                  <a:lnSpc>
                    <a:spcPct val="114000"/>
                  </a:lnSpc>
                </a:pPr>
                <a14:m>
                  <m:oMath xmlns:m="http://schemas.openxmlformats.org/officeDocument/2006/math">
                    <m:sSub>
                      <m:sSubPr>
                        <m:ctrlPr>
                          <a:rPr lang="en-US" i="1" smtClean="0">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𝑣</m:t>
                        </m:r>
                      </m:e>
                      <m:sub>
                        <m:r>
                          <a:rPr lang="en-US" i="1">
                            <a:latin typeface="Cambria Math" panose="02040503050406030204" pitchFamily="18" charset="0"/>
                            <a:ea typeface="Cambria Math" panose="02040503050406030204" pitchFamily="18" charset="0"/>
                            <a:cs typeface="Arial" panose="020B0604020202020204" pitchFamily="34" charset="0"/>
                          </a:rPr>
                          <m:t>𝑠</m:t>
                        </m:r>
                      </m:sub>
                    </m:sSub>
                    <m:f>
                      <m:fPr>
                        <m:ctrlPr>
                          <a:rPr lang="en-US" i="1">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𝑑</m:t>
                        </m:r>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b="0" i="1" smtClean="0">
                            <a:latin typeface="Cambria Math" panose="02040503050406030204" pitchFamily="18" charset="0"/>
                            <a:cs typeface="Arial" panose="020B0604020202020204" pitchFamily="34" charset="0"/>
                          </a:rPr>
                          <m:t>𝑑</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𝑑</m:t>
                        </m:r>
                        <m:r>
                          <a:rPr lang="en-US" i="1" smtClean="0">
                            <a:latin typeface="Cambria Math" panose="02040503050406030204" pitchFamily="18" charset="0"/>
                            <a:ea typeface="Cambria Math" panose="02040503050406030204" pitchFamily="18" charset="0"/>
                            <a:cs typeface="Arial" panose="020B0604020202020204" pitchFamily="34" charset="0"/>
                          </a:rPr>
                          <m:t>𝐹</m:t>
                        </m:r>
                      </m:num>
                      <m:den>
                        <m:r>
                          <a:rPr lang="en-US" b="0" i="1" smtClean="0">
                            <a:latin typeface="Cambria Math" panose="02040503050406030204" pitchFamily="18" charset="0"/>
                            <a:ea typeface="Cambria Math" panose="02040503050406030204" pitchFamily="18" charset="0"/>
                            <a:cs typeface="Arial" panose="020B0604020202020204" pitchFamily="34" charset="0"/>
                          </a:rPr>
                          <m:t>𝑑𝑧</m:t>
                        </m:r>
                      </m:den>
                    </m:f>
                    <m:r>
                      <a:rPr lang="en-US" b="0" i="1" smtClean="0">
                        <a:latin typeface="Cambria Math" panose="02040503050406030204" pitchFamily="18" charset="0"/>
                        <a:ea typeface="Cambria Math" panose="02040503050406030204" pitchFamily="18" charset="0"/>
                        <a:cs typeface="Arial" panose="020B0604020202020204" pitchFamily="34" charset="0"/>
                      </a:rPr>
                      <m:t>=0</m:t>
                    </m:r>
                  </m:oMath>
                </a14:m>
                <a:r>
                  <a:rPr lang="en-US" dirty="0">
                    <a:latin typeface="Arial" panose="020B0604020202020204" pitchFamily="34" charset="0"/>
                    <a:cs typeface="Arial" panose="020B0604020202020204" pitchFamily="34" charset="0"/>
                  </a:rPr>
                  <a:t> </a:t>
                </a:r>
              </a:p>
            </p:txBody>
          </p:sp>
        </mc:Choice>
        <mc:Fallback xmlns="">
          <p:sp>
            <p:nvSpPr>
              <p:cNvPr id="32" name="TextBox 31">
                <a:extLst>
                  <a:ext uri="{FF2B5EF4-FFF2-40B4-BE49-F238E27FC236}">
                    <a16:creationId xmlns:a16="http://schemas.microsoft.com/office/drawing/2014/main" id="{8CA9FAE2-3E0D-2E4D-8EC7-968828488AFB}"/>
                  </a:ext>
                </a:extLst>
              </p:cNvPr>
              <p:cNvSpPr txBox="1">
                <a:spLocks noRot="1" noChangeAspect="1" noMove="1" noResize="1" noEditPoints="1" noAdjustHandles="1" noChangeArrowheads="1" noChangeShapeType="1" noTextEdit="1"/>
              </p:cNvSpPr>
              <p:nvPr/>
            </p:nvSpPr>
            <p:spPr>
              <a:xfrm>
                <a:off x="3635093" y="5757900"/>
                <a:ext cx="1436162" cy="454804"/>
              </a:xfrm>
              <a:prstGeom prst="rect">
                <a:avLst/>
              </a:prstGeom>
              <a:blipFill>
                <a:blip r:embed="rId6"/>
                <a:stretch>
                  <a:fillRect l="-4386" b="-81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DD82F6EB-F567-684A-9504-73567EB36452}"/>
                  </a:ext>
                </a:extLst>
              </p:cNvPr>
              <p:cNvSpPr txBox="1"/>
              <p:nvPr/>
            </p:nvSpPr>
            <p:spPr>
              <a:xfrm>
                <a:off x="6147170" y="5765118"/>
                <a:ext cx="3434152" cy="38266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where </a:t>
                </a:r>
                <a14:m>
                  <m:oMath xmlns:m="http://schemas.openxmlformats.org/officeDocument/2006/math">
                    <m:r>
                      <a:rPr lang="en-US" b="0" i="1" smtClean="0">
                        <a:latin typeface="Cambria Math" panose="02040503050406030204" pitchFamily="18" charset="0"/>
                        <a:cs typeface="Arial" panose="020B0604020202020204" pitchFamily="34" charset="0"/>
                      </a:rPr>
                      <m:t>𝐹</m:t>
                    </m:r>
                    <m:r>
                      <a:rPr lang="en-US" b="0" i="1" smtClean="0">
                        <a:latin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cs typeface="Arial" panose="020B0604020202020204" pitchFamily="34" charset="0"/>
                          </a:rPr>
                        </m:ctrlPr>
                      </m:accPr>
                      <m:e>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𝑤</m:t>
                            </m:r>
                          </m:e>
                          <m:sup>
                            <m:r>
                              <a:rPr lang="en-US" b="0" i="1" smtClean="0">
                                <a:latin typeface="Cambria Math" panose="02040503050406030204" pitchFamily="18" charset="0"/>
                                <a:cs typeface="Arial" panose="020B0604020202020204" pitchFamily="34" charset="0"/>
                              </a:rPr>
                              <m:t>′</m:t>
                            </m:r>
                          </m:sup>
                        </m:sSup>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𝑐</m:t>
                            </m:r>
                          </m:e>
                          <m:sup>
                            <m:r>
                              <a:rPr lang="en-US" b="0" i="1" smtClean="0">
                                <a:latin typeface="Cambria Math" panose="02040503050406030204" pitchFamily="18" charset="0"/>
                                <a:cs typeface="Arial" panose="020B0604020202020204" pitchFamily="34" charset="0"/>
                              </a:rPr>
                              <m:t>′</m:t>
                            </m:r>
                          </m:sup>
                        </m:sSup>
                      </m:e>
                    </m:acc>
                  </m:oMath>
                </a14:m>
                <a:endParaRPr lang="en-US" dirty="0">
                  <a:latin typeface="Arial" panose="020B0604020202020204" pitchFamily="34" charset="0"/>
                  <a:cs typeface="Arial" panose="020B0604020202020204" pitchFamily="34" charset="0"/>
                </a:endParaRPr>
              </a:p>
            </p:txBody>
          </p:sp>
        </mc:Choice>
        <mc:Fallback xmlns="">
          <p:sp>
            <p:nvSpPr>
              <p:cNvPr id="33" name="TextBox 32">
                <a:extLst>
                  <a:ext uri="{FF2B5EF4-FFF2-40B4-BE49-F238E27FC236}">
                    <a16:creationId xmlns:a16="http://schemas.microsoft.com/office/drawing/2014/main" id="{DD82F6EB-F567-684A-9504-73567EB36452}"/>
                  </a:ext>
                </a:extLst>
              </p:cNvPr>
              <p:cNvSpPr txBox="1">
                <a:spLocks noRot="1" noChangeAspect="1" noMove="1" noResize="1" noEditPoints="1" noAdjustHandles="1" noChangeArrowheads="1" noChangeShapeType="1" noTextEdit="1"/>
              </p:cNvSpPr>
              <p:nvPr/>
            </p:nvSpPr>
            <p:spPr>
              <a:xfrm>
                <a:off x="6147170" y="5765118"/>
                <a:ext cx="3434152" cy="382669"/>
              </a:xfrm>
              <a:prstGeom prst="rect">
                <a:avLst/>
              </a:prstGeom>
              <a:blipFill>
                <a:blip r:embed="rId7"/>
                <a:stretch>
                  <a:fillRect l="-1103" t="-6667" b="-30000"/>
                </a:stretch>
              </a:blipFill>
            </p:spPr>
            <p:txBody>
              <a:bodyPr/>
              <a:lstStyle/>
              <a:p>
                <a:r>
                  <a:rPr lang="en-US">
                    <a:noFill/>
                  </a:rPr>
                  <a:t> </a:t>
                </a:r>
              </a:p>
            </p:txBody>
          </p:sp>
        </mc:Fallback>
      </mc:AlternateContent>
    </p:spTree>
    <p:extLst>
      <p:ext uri="{BB962C8B-B14F-4D97-AF65-F5344CB8AC3E}">
        <p14:creationId xmlns:p14="http://schemas.microsoft.com/office/powerpoint/2010/main" val="19755803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54</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Equilibrium vertical distribution of suspended sediment</a:t>
            </a:r>
          </a:p>
        </p:txBody>
      </p:sp>
      <p:sp>
        <p:nvSpPr>
          <p:cNvPr id="2" name="TextBox 1">
            <a:extLst>
              <a:ext uri="{FF2B5EF4-FFF2-40B4-BE49-F238E27FC236}">
                <a16:creationId xmlns:a16="http://schemas.microsoft.com/office/drawing/2014/main" id="{F8FF2769-4FDD-F641-AB9C-13B23BA92AAB}"/>
              </a:ext>
            </a:extLst>
          </p:cNvPr>
          <p:cNvSpPr txBox="1"/>
          <p:nvPr/>
        </p:nvSpPr>
        <p:spPr>
          <a:xfrm>
            <a:off x="410817" y="805659"/>
            <a:ext cx="10942983" cy="1013291"/>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local equation of conservation of suspended sediment mass averaged over turbulence for steady and uniform open channel flow is integrated with the boundary condition of zero sediment flux in the vertical (z) direction at the water surface</a:t>
            </a: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8CA9FAE2-3E0D-2E4D-8EC7-968828488AFB}"/>
                  </a:ext>
                </a:extLst>
              </p:cNvPr>
              <p:cNvSpPr txBox="1"/>
              <p:nvPr/>
            </p:nvSpPr>
            <p:spPr>
              <a:xfrm>
                <a:off x="583780" y="1964864"/>
                <a:ext cx="1436162" cy="454804"/>
              </a:xfrm>
              <a:prstGeom prst="rect">
                <a:avLst/>
              </a:prstGeom>
              <a:noFill/>
            </p:spPr>
            <p:txBody>
              <a:bodyPr wrap="none" lIns="0" tIns="0" rIns="0" bIns="0" rtlCol="0">
                <a:spAutoFit/>
              </a:bodyPr>
              <a:lstStyle/>
              <a:p>
                <a:pPr>
                  <a:lnSpc>
                    <a:spcPct val="114000"/>
                  </a:lnSpc>
                </a:pPr>
                <a14:m>
                  <m:oMath xmlns:m="http://schemas.openxmlformats.org/officeDocument/2006/math">
                    <m:sSub>
                      <m:sSubPr>
                        <m:ctrlPr>
                          <a:rPr lang="en-US" i="1" smtClean="0">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𝑣</m:t>
                        </m:r>
                      </m:e>
                      <m:sub>
                        <m:r>
                          <a:rPr lang="en-US" i="1">
                            <a:latin typeface="Cambria Math" panose="02040503050406030204" pitchFamily="18" charset="0"/>
                            <a:ea typeface="Cambria Math" panose="02040503050406030204" pitchFamily="18" charset="0"/>
                            <a:cs typeface="Arial" panose="020B0604020202020204" pitchFamily="34" charset="0"/>
                          </a:rPr>
                          <m:t>𝑠</m:t>
                        </m:r>
                      </m:sub>
                    </m:sSub>
                    <m:f>
                      <m:fPr>
                        <m:ctrlPr>
                          <a:rPr lang="en-US" i="1">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𝑑</m:t>
                        </m:r>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b="0" i="1" smtClean="0">
                            <a:latin typeface="Cambria Math" panose="02040503050406030204" pitchFamily="18" charset="0"/>
                            <a:cs typeface="Arial" panose="020B0604020202020204" pitchFamily="34" charset="0"/>
                          </a:rPr>
                          <m:t>𝑑</m:t>
                        </m:r>
                        <m:r>
                          <a:rPr lang="en-US" b="0" i="1" smtClean="0">
                            <a:latin typeface="Cambria Math" panose="02040503050406030204" pitchFamily="18" charset="0"/>
                            <a:ea typeface="Cambria Math" panose="02040503050406030204" pitchFamily="18" charset="0"/>
                            <a:cs typeface="Arial" panose="020B0604020202020204" pitchFamily="34" charset="0"/>
                          </a:rPr>
                          <m:t>𝑧</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𝑑</m:t>
                        </m:r>
                        <m:r>
                          <a:rPr lang="en-US" i="1" smtClean="0">
                            <a:latin typeface="Cambria Math" panose="02040503050406030204" pitchFamily="18" charset="0"/>
                            <a:ea typeface="Cambria Math" panose="02040503050406030204" pitchFamily="18" charset="0"/>
                            <a:cs typeface="Arial" panose="020B0604020202020204" pitchFamily="34" charset="0"/>
                          </a:rPr>
                          <m:t>𝐹</m:t>
                        </m:r>
                      </m:num>
                      <m:den>
                        <m:r>
                          <a:rPr lang="en-US" b="0" i="1" smtClean="0">
                            <a:latin typeface="Cambria Math" panose="02040503050406030204" pitchFamily="18" charset="0"/>
                            <a:ea typeface="Cambria Math" panose="02040503050406030204" pitchFamily="18" charset="0"/>
                            <a:cs typeface="Arial" panose="020B0604020202020204" pitchFamily="34" charset="0"/>
                          </a:rPr>
                          <m:t>𝑑𝑧</m:t>
                        </m:r>
                      </m:den>
                    </m:f>
                    <m:r>
                      <a:rPr lang="en-US" b="0" i="1" smtClean="0">
                        <a:latin typeface="Cambria Math" panose="02040503050406030204" pitchFamily="18" charset="0"/>
                        <a:ea typeface="Cambria Math" panose="02040503050406030204" pitchFamily="18" charset="0"/>
                        <a:cs typeface="Arial" panose="020B0604020202020204" pitchFamily="34" charset="0"/>
                      </a:rPr>
                      <m:t>=0</m:t>
                    </m:r>
                  </m:oMath>
                </a14:m>
                <a:r>
                  <a:rPr lang="en-US" dirty="0">
                    <a:latin typeface="Arial" panose="020B0604020202020204" pitchFamily="34" charset="0"/>
                    <a:cs typeface="Arial" panose="020B0604020202020204" pitchFamily="34" charset="0"/>
                  </a:rPr>
                  <a:t> </a:t>
                </a:r>
              </a:p>
            </p:txBody>
          </p:sp>
        </mc:Choice>
        <mc:Fallback xmlns="">
          <p:sp>
            <p:nvSpPr>
              <p:cNvPr id="32" name="TextBox 31">
                <a:extLst>
                  <a:ext uri="{FF2B5EF4-FFF2-40B4-BE49-F238E27FC236}">
                    <a16:creationId xmlns:a16="http://schemas.microsoft.com/office/drawing/2014/main" id="{8CA9FAE2-3E0D-2E4D-8EC7-968828488AFB}"/>
                  </a:ext>
                </a:extLst>
              </p:cNvPr>
              <p:cNvSpPr txBox="1">
                <a:spLocks noRot="1" noChangeAspect="1" noMove="1" noResize="1" noEditPoints="1" noAdjustHandles="1" noChangeArrowheads="1" noChangeShapeType="1" noTextEdit="1"/>
              </p:cNvSpPr>
              <p:nvPr/>
            </p:nvSpPr>
            <p:spPr>
              <a:xfrm>
                <a:off x="583780" y="1964864"/>
                <a:ext cx="1436162" cy="454804"/>
              </a:xfrm>
              <a:prstGeom prst="rect">
                <a:avLst/>
              </a:prstGeom>
              <a:blipFill>
                <a:blip r:embed="rId3"/>
                <a:stretch>
                  <a:fillRect l="-4425" r="-885" b="-108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9A4FB48-8A07-A642-BDE8-BA9D218621C2}"/>
                  </a:ext>
                </a:extLst>
              </p:cNvPr>
              <p:cNvSpPr txBox="1"/>
              <p:nvPr/>
            </p:nvSpPr>
            <p:spPr>
              <a:xfrm>
                <a:off x="533919" y="2700975"/>
                <a:ext cx="1238929"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𝑣</m:t>
                          </m:r>
                        </m:e>
                        <m:sub>
                          <m:r>
                            <a:rPr lang="en-US" b="0" i="1" smtClean="0">
                              <a:latin typeface="Cambria Math" panose="02040503050406030204" pitchFamily="18" charset="0"/>
                              <a:cs typeface="Arial" panose="020B0604020202020204" pitchFamily="34" charset="0"/>
                            </a:rPr>
                            <m:t>𝑠</m:t>
                          </m:r>
                        </m:sub>
                      </m:sSub>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𝐹</m:t>
                      </m:r>
                      <m:r>
                        <a:rPr lang="en-US" b="0" i="1" smtClean="0">
                          <a:latin typeface="Cambria Math" panose="02040503050406030204" pitchFamily="18" charset="0"/>
                          <a:cs typeface="Arial" panose="020B0604020202020204" pitchFamily="34" charset="0"/>
                        </a:rPr>
                        <m:t>=0</m:t>
                      </m:r>
                    </m:oMath>
                  </m:oMathPara>
                </a14:m>
                <a:endParaRPr lang="en-US" dirty="0">
                  <a:latin typeface="Arial" panose="020B0604020202020204" pitchFamily="34" charset="0"/>
                  <a:cs typeface="Arial" panose="020B0604020202020204" pitchFamily="34" charset="0"/>
                </a:endParaRPr>
              </a:p>
            </p:txBody>
          </p:sp>
        </mc:Choice>
        <mc:Fallback xmlns="">
          <p:sp>
            <p:nvSpPr>
              <p:cNvPr id="3" name="TextBox 2">
                <a:extLst>
                  <a:ext uri="{FF2B5EF4-FFF2-40B4-BE49-F238E27FC236}">
                    <a16:creationId xmlns:a16="http://schemas.microsoft.com/office/drawing/2014/main" id="{59A4FB48-8A07-A642-BDE8-BA9D218621C2}"/>
                  </a:ext>
                </a:extLst>
              </p:cNvPr>
              <p:cNvSpPr txBox="1">
                <a:spLocks noRot="1" noChangeAspect="1" noMove="1" noResize="1" noEditPoints="1" noAdjustHandles="1" noChangeArrowheads="1" noChangeShapeType="1" noTextEdit="1"/>
              </p:cNvSpPr>
              <p:nvPr/>
            </p:nvSpPr>
            <p:spPr>
              <a:xfrm>
                <a:off x="533919" y="2700975"/>
                <a:ext cx="1238929" cy="315792"/>
              </a:xfrm>
              <a:prstGeom prst="rect">
                <a:avLst/>
              </a:prstGeom>
              <a:blipFill>
                <a:blip r:embed="rId4"/>
                <a:stretch>
                  <a:fillRect l="-2041" r="-4082"/>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F77C4F74-D4DD-BC4E-A89D-35BA6C04924B}"/>
              </a:ext>
            </a:extLst>
          </p:cNvPr>
          <p:cNvSpPr txBox="1"/>
          <p:nvPr/>
        </p:nvSpPr>
        <p:spPr>
          <a:xfrm>
            <a:off x="583780" y="3220278"/>
            <a:ext cx="10770020" cy="1329082"/>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upward flux of suspended sediment driven by turbulence (F) is perfectly balanced by the downward flux of suspended sediment associated with the particle settling velocity. </a:t>
            </a:r>
          </a:p>
          <a:p>
            <a:pPr algn="l">
              <a:lnSpc>
                <a:spcPct val="114000"/>
              </a:lnSpc>
            </a:pPr>
            <a:endParaRPr lang="en-US" dirty="0">
              <a:latin typeface="Arial" panose="020B0604020202020204" pitchFamily="34" charset="0"/>
              <a:cs typeface="Arial" panose="020B0604020202020204" pitchFamily="34" charset="0"/>
            </a:endParaRPr>
          </a:p>
          <a:p>
            <a:pPr algn="l">
              <a:lnSpc>
                <a:spcPct val="114000"/>
              </a:lnSpc>
            </a:pPr>
            <a:r>
              <a:rPr lang="en-US" dirty="0">
                <a:latin typeface="Arial" panose="020B0604020202020204" pitchFamily="34" charset="0"/>
                <a:cs typeface="Arial" panose="020B0604020202020204" pitchFamily="34" charset="0"/>
              </a:rPr>
              <a:t>Recalling that </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1A52A91-E7A2-BE47-9649-64C36C96B4C6}"/>
                  </a:ext>
                </a:extLst>
              </p:cNvPr>
              <p:cNvSpPr txBox="1"/>
              <p:nvPr/>
            </p:nvSpPr>
            <p:spPr>
              <a:xfrm>
                <a:off x="583780" y="4556648"/>
                <a:ext cx="4084900" cy="599523"/>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𝐹</m:t>
                      </m:r>
                      <m:r>
                        <a:rPr lang="en-US" b="0" i="1" smtClean="0">
                          <a:latin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cs typeface="Arial" panose="020B0604020202020204" pitchFamily="34" charset="0"/>
                            </a:rPr>
                          </m:ctrlPr>
                        </m:accPr>
                        <m:e>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𝑤</m:t>
                              </m:r>
                            </m:e>
                            <m:sup>
                              <m:r>
                                <a:rPr lang="en-US" b="0" i="1" smtClean="0">
                                  <a:latin typeface="Cambria Math" panose="02040503050406030204" pitchFamily="18" charset="0"/>
                                  <a:cs typeface="Arial" panose="020B0604020202020204" pitchFamily="34" charset="0"/>
                                </a:rPr>
                                <m:t>′</m:t>
                              </m:r>
                            </m:sup>
                          </m:sSup>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𝑐</m:t>
                              </m:r>
                            </m:e>
                            <m:sup>
                              <m:r>
                                <a:rPr lang="en-US" b="0" i="1" smtClean="0">
                                  <a:latin typeface="Cambria Math" panose="02040503050406030204" pitchFamily="18" charset="0"/>
                                  <a:cs typeface="Arial" panose="020B0604020202020204" pitchFamily="34" charset="0"/>
                                </a:rPr>
                                <m:t>′</m:t>
                              </m:r>
                            </m:sup>
                          </m:sSup>
                        </m:e>
                      </m:acc>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𝜈</m:t>
                          </m:r>
                        </m:e>
                        <m:sub>
                          <m:r>
                            <a:rPr lang="en-US" b="0" i="1" smtClean="0">
                              <a:latin typeface="Cambria Math" panose="02040503050406030204" pitchFamily="18" charset="0"/>
                              <a:cs typeface="Arial" panose="020B0604020202020204" pitchFamily="34" charset="0"/>
                            </a:rPr>
                            <m:t>𝑠𝑡</m:t>
                          </m:r>
                        </m:sub>
                      </m:sSub>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𝑑</m:t>
                          </m:r>
                          <m:acc>
                            <m:accPr>
                              <m:chr m:val="̅"/>
                              <m:ctrlPr>
                                <a:rPr lang="en-US" b="0"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num>
                        <m:den>
                          <m:r>
                            <a:rPr lang="en-US" b="0" i="1" smtClean="0">
                              <a:latin typeface="Cambria Math" panose="02040503050406030204" pitchFamily="18" charset="0"/>
                              <a:cs typeface="Arial" panose="020B0604020202020204" pitchFamily="34" charset="0"/>
                            </a:rPr>
                            <m:t>𝑑𝑧</m:t>
                          </m:r>
                        </m:den>
                      </m:f>
                      <m:r>
                        <a:rPr lang="en-US" b="0" i="1" smtClean="0">
                          <a:latin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r>
                        <a:rPr lang="en-US" i="1">
                          <a:latin typeface="Cambria Math" panose="02040503050406030204" pitchFamily="18" charset="0"/>
                          <a:ea typeface="Cambria Math" panose="02040503050406030204" pitchFamily="18" charset="0"/>
                          <a:cs typeface="Arial" panose="020B0604020202020204" pitchFamily="34" charset="0"/>
                        </a:rPr>
                        <m:t>𝑧</m:t>
                      </m:r>
                      <m:d>
                        <m:dPr>
                          <m:ctrlPr>
                            <a:rPr lang="en-US" i="1">
                              <a:latin typeface="Cambria Math" panose="02040503050406030204" pitchFamily="18" charset="0"/>
                              <a:ea typeface="Cambria Math" panose="02040503050406030204" pitchFamily="18" charset="0"/>
                              <a:cs typeface="Arial" panose="020B0604020202020204" pitchFamily="34" charset="0"/>
                            </a:rPr>
                          </m:ctrlPr>
                        </m:dPr>
                        <m:e>
                          <m:r>
                            <a:rPr lang="en-US" i="1">
                              <a:latin typeface="Cambria Math" panose="02040503050406030204" pitchFamily="18" charset="0"/>
                              <a:cs typeface="Arial" panose="020B0604020202020204" pitchFamily="34" charset="0"/>
                            </a:rPr>
                            <m:t>1−</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𝑧</m:t>
                              </m:r>
                            </m:num>
                            <m:den>
                              <m:r>
                                <a:rPr lang="en-US" i="1">
                                  <a:latin typeface="Cambria Math" panose="02040503050406030204" pitchFamily="18" charset="0"/>
                                  <a:cs typeface="Arial" panose="020B0604020202020204" pitchFamily="34" charset="0"/>
                                </a:rPr>
                                <m:t>𝐻</m:t>
                              </m:r>
                            </m:den>
                          </m:f>
                        </m:e>
                      </m:d>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𝑑</m:t>
                          </m:r>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i="1">
                              <a:latin typeface="Cambria Math" panose="02040503050406030204" pitchFamily="18" charset="0"/>
                              <a:cs typeface="Arial" panose="020B0604020202020204" pitchFamily="34" charset="0"/>
                            </a:rPr>
                            <m:t>𝑑𝑧</m:t>
                          </m:r>
                        </m:den>
                      </m:f>
                    </m:oMath>
                  </m:oMathPara>
                </a14:m>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31A52A91-E7A2-BE47-9649-64C36C96B4C6}"/>
                  </a:ext>
                </a:extLst>
              </p:cNvPr>
              <p:cNvSpPr txBox="1">
                <a:spLocks noRot="1" noChangeAspect="1" noMove="1" noResize="1" noEditPoints="1" noAdjustHandles="1" noChangeArrowheads="1" noChangeShapeType="1" noTextEdit="1"/>
              </p:cNvSpPr>
              <p:nvPr/>
            </p:nvSpPr>
            <p:spPr>
              <a:xfrm>
                <a:off x="583780" y="4556648"/>
                <a:ext cx="4084900" cy="599523"/>
              </a:xfrm>
              <a:prstGeom prst="rect">
                <a:avLst/>
              </a:prstGeom>
              <a:blipFill>
                <a:blip r:embed="rId5"/>
                <a:stretch>
                  <a:fillRect l="-932" r="-621" b="-12245"/>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DE5393CD-6FF7-2243-80DB-E8DF376CA249}"/>
              </a:ext>
            </a:extLst>
          </p:cNvPr>
          <p:cNvSpPr txBox="1"/>
          <p:nvPr/>
        </p:nvSpPr>
        <p:spPr>
          <a:xfrm>
            <a:off x="583780" y="5249103"/>
            <a:ext cx="1130079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balance equation takes the form</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091E483-B21C-A440-B8FF-6B8BD8130EC4}"/>
                  </a:ext>
                </a:extLst>
              </p:cNvPr>
              <p:cNvSpPr txBox="1"/>
              <p:nvPr/>
            </p:nvSpPr>
            <p:spPr>
              <a:xfrm>
                <a:off x="671752" y="5650926"/>
                <a:ext cx="2696379" cy="599523"/>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𝑣</m:t>
                          </m:r>
                        </m:e>
                        <m:sub>
                          <m:r>
                            <a:rPr lang="en-US" b="0" i="1" smtClean="0">
                              <a:latin typeface="Cambria Math" panose="02040503050406030204" pitchFamily="18" charset="0"/>
                              <a:cs typeface="Arial" panose="020B0604020202020204" pitchFamily="34" charset="0"/>
                            </a:rPr>
                            <m:t>𝑠</m:t>
                          </m:r>
                        </m:sub>
                      </m:sSub>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r>
                        <a:rPr lang="en-US" b="0" i="1" smtClean="0">
                          <a:latin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r>
                        <a:rPr lang="en-US" i="1">
                          <a:latin typeface="Cambria Math" panose="02040503050406030204" pitchFamily="18" charset="0"/>
                          <a:ea typeface="Cambria Math" panose="02040503050406030204" pitchFamily="18" charset="0"/>
                          <a:cs typeface="Arial" panose="020B0604020202020204" pitchFamily="34" charset="0"/>
                        </a:rPr>
                        <m:t>𝑧</m:t>
                      </m:r>
                      <m:d>
                        <m:dPr>
                          <m:ctrlPr>
                            <a:rPr lang="en-US" i="1">
                              <a:latin typeface="Cambria Math" panose="02040503050406030204" pitchFamily="18" charset="0"/>
                              <a:ea typeface="Cambria Math" panose="02040503050406030204" pitchFamily="18" charset="0"/>
                              <a:cs typeface="Arial" panose="020B0604020202020204" pitchFamily="34" charset="0"/>
                            </a:rPr>
                          </m:ctrlPr>
                        </m:dPr>
                        <m:e>
                          <m:r>
                            <a:rPr lang="en-US" i="1">
                              <a:latin typeface="Cambria Math" panose="02040503050406030204" pitchFamily="18" charset="0"/>
                              <a:cs typeface="Arial" panose="020B0604020202020204" pitchFamily="34" charset="0"/>
                            </a:rPr>
                            <m:t>1−</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𝑧</m:t>
                              </m:r>
                            </m:num>
                            <m:den>
                              <m:r>
                                <a:rPr lang="en-US" i="1">
                                  <a:latin typeface="Cambria Math" panose="02040503050406030204" pitchFamily="18" charset="0"/>
                                  <a:cs typeface="Arial" panose="020B0604020202020204" pitchFamily="34" charset="0"/>
                                </a:rPr>
                                <m:t>𝐻</m:t>
                              </m:r>
                            </m:den>
                          </m:f>
                        </m:e>
                      </m:d>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𝑑</m:t>
                          </m:r>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i="1">
                              <a:latin typeface="Cambria Math" panose="02040503050406030204" pitchFamily="18" charset="0"/>
                              <a:cs typeface="Arial" panose="020B0604020202020204" pitchFamily="34" charset="0"/>
                            </a:rPr>
                            <m:t>𝑑𝑧</m:t>
                          </m:r>
                        </m:den>
                      </m:f>
                      <m:r>
                        <a:rPr lang="en-US" b="0" i="1" smtClean="0">
                          <a:latin typeface="Cambria Math" panose="02040503050406030204" pitchFamily="18" charset="0"/>
                          <a:cs typeface="Arial" panose="020B0604020202020204" pitchFamily="34" charset="0"/>
                        </a:rPr>
                        <m:t>=0</m:t>
                      </m:r>
                    </m:oMath>
                  </m:oMathPara>
                </a14:m>
                <a:endParaRPr lang="en-US" dirty="0">
                  <a:latin typeface="Arial" panose="020B0604020202020204" pitchFamily="34" charset="0"/>
                  <a:cs typeface="Arial" panose="020B0604020202020204" pitchFamily="34" charset="0"/>
                </a:endParaRPr>
              </a:p>
            </p:txBody>
          </p:sp>
        </mc:Choice>
        <mc:Fallback xmlns="">
          <p:sp>
            <p:nvSpPr>
              <p:cNvPr id="23" name="TextBox 22">
                <a:extLst>
                  <a:ext uri="{FF2B5EF4-FFF2-40B4-BE49-F238E27FC236}">
                    <a16:creationId xmlns:a16="http://schemas.microsoft.com/office/drawing/2014/main" id="{0091E483-B21C-A440-B8FF-6B8BD8130EC4}"/>
                  </a:ext>
                </a:extLst>
              </p:cNvPr>
              <p:cNvSpPr txBox="1">
                <a:spLocks noRot="1" noChangeAspect="1" noMove="1" noResize="1" noEditPoints="1" noAdjustHandles="1" noChangeArrowheads="1" noChangeShapeType="1" noTextEdit="1"/>
              </p:cNvSpPr>
              <p:nvPr/>
            </p:nvSpPr>
            <p:spPr>
              <a:xfrm>
                <a:off x="671752" y="5650926"/>
                <a:ext cx="2696379" cy="599523"/>
              </a:xfrm>
              <a:prstGeom prst="rect">
                <a:avLst/>
              </a:prstGeom>
              <a:blipFill>
                <a:blip r:embed="rId6"/>
                <a:stretch>
                  <a:fillRect l="-467" r="-935" b="-12245"/>
                </a:stretch>
              </a:blipFill>
            </p:spPr>
            <p:txBody>
              <a:bodyPr/>
              <a:lstStyle/>
              <a:p>
                <a:r>
                  <a:rPr lang="en-US">
                    <a:noFill/>
                  </a:rPr>
                  <a:t> </a:t>
                </a:r>
              </a:p>
            </p:txBody>
          </p:sp>
        </mc:Fallback>
      </mc:AlternateContent>
    </p:spTree>
    <p:extLst>
      <p:ext uri="{BB962C8B-B14F-4D97-AF65-F5344CB8AC3E}">
        <p14:creationId xmlns:p14="http://schemas.microsoft.com/office/powerpoint/2010/main" val="11853619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55</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Equilibrium vertical distribution of suspended sediment</a:t>
            </a:r>
          </a:p>
        </p:txBody>
      </p:sp>
      <p:sp>
        <p:nvSpPr>
          <p:cNvPr id="2" name="TextBox 1">
            <a:extLst>
              <a:ext uri="{FF2B5EF4-FFF2-40B4-BE49-F238E27FC236}">
                <a16:creationId xmlns:a16="http://schemas.microsoft.com/office/drawing/2014/main" id="{F8FF2769-4FDD-F641-AB9C-13B23BA92AAB}"/>
              </a:ext>
            </a:extLst>
          </p:cNvPr>
          <p:cNvSpPr txBox="1"/>
          <p:nvPr/>
        </p:nvSpPr>
        <p:spPr>
          <a:xfrm>
            <a:off x="410817" y="805659"/>
            <a:ext cx="10942983"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balance equation between the upward sediment flux driven by turbulence and the downward flux associated with the particle settling velocity is</a:t>
            </a:r>
          </a:p>
        </p:txBody>
      </p:sp>
      <p:sp>
        <p:nvSpPr>
          <p:cNvPr id="7" name="TextBox 6">
            <a:extLst>
              <a:ext uri="{FF2B5EF4-FFF2-40B4-BE49-F238E27FC236}">
                <a16:creationId xmlns:a16="http://schemas.microsoft.com/office/drawing/2014/main" id="{F77C4F74-D4DD-BC4E-A89D-35BA6C04924B}"/>
              </a:ext>
            </a:extLst>
          </p:cNvPr>
          <p:cNvSpPr txBox="1"/>
          <p:nvPr/>
        </p:nvSpPr>
        <p:spPr>
          <a:xfrm>
            <a:off x="410817" y="2238732"/>
            <a:ext cx="10770020"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Rearranging the terms</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091E483-B21C-A440-B8FF-6B8BD8130EC4}"/>
                  </a:ext>
                </a:extLst>
              </p:cNvPr>
              <p:cNvSpPr txBox="1"/>
              <p:nvPr/>
            </p:nvSpPr>
            <p:spPr>
              <a:xfrm>
                <a:off x="502787" y="1413288"/>
                <a:ext cx="2696379" cy="599523"/>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𝑣</m:t>
                          </m:r>
                        </m:e>
                        <m:sub>
                          <m:r>
                            <a:rPr lang="en-US" b="0" i="1" smtClean="0">
                              <a:latin typeface="Cambria Math" panose="02040503050406030204" pitchFamily="18" charset="0"/>
                              <a:cs typeface="Arial" panose="020B0604020202020204" pitchFamily="34" charset="0"/>
                            </a:rPr>
                            <m:t>𝑠</m:t>
                          </m:r>
                        </m:sub>
                      </m:sSub>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r>
                        <a:rPr lang="en-US" b="0" i="1" smtClean="0">
                          <a:latin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r>
                        <a:rPr lang="en-US" i="1">
                          <a:latin typeface="Cambria Math" panose="02040503050406030204" pitchFamily="18" charset="0"/>
                          <a:ea typeface="Cambria Math" panose="02040503050406030204" pitchFamily="18" charset="0"/>
                          <a:cs typeface="Arial" panose="020B0604020202020204" pitchFamily="34" charset="0"/>
                        </a:rPr>
                        <m:t>𝑧</m:t>
                      </m:r>
                      <m:d>
                        <m:dPr>
                          <m:ctrlPr>
                            <a:rPr lang="en-US" i="1">
                              <a:latin typeface="Cambria Math" panose="02040503050406030204" pitchFamily="18" charset="0"/>
                              <a:ea typeface="Cambria Math" panose="02040503050406030204" pitchFamily="18" charset="0"/>
                              <a:cs typeface="Arial" panose="020B0604020202020204" pitchFamily="34" charset="0"/>
                            </a:rPr>
                          </m:ctrlPr>
                        </m:dPr>
                        <m:e>
                          <m:r>
                            <a:rPr lang="en-US" i="1">
                              <a:latin typeface="Cambria Math" panose="02040503050406030204" pitchFamily="18" charset="0"/>
                              <a:cs typeface="Arial" panose="020B0604020202020204" pitchFamily="34" charset="0"/>
                            </a:rPr>
                            <m:t>1−</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𝑧</m:t>
                              </m:r>
                            </m:num>
                            <m:den>
                              <m:r>
                                <a:rPr lang="en-US" i="1">
                                  <a:latin typeface="Cambria Math" panose="02040503050406030204" pitchFamily="18" charset="0"/>
                                  <a:cs typeface="Arial" panose="020B0604020202020204" pitchFamily="34" charset="0"/>
                                </a:rPr>
                                <m:t>𝐻</m:t>
                              </m:r>
                            </m:den>
                          </m:f>
                        </m:e>
                      </m:d>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𝑑</m:t>
                          </m:r>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i="1">
                              <a:latin typeface="Cambria Math" panose="02040503050406030204" pitchFamily="18" charset="0"/>
                              <a:cs typeface="Arial" panose="020B0604020202020204" pitchFamily="34" charset="0"/>
                            </a:rPr>
                            <m:t>𝑑𝑧</m:t>
                          </m:r>
                        </m:den>
                      </m:f>
                      <m:r>
                        <a:rPr lang="en-US" b="0" i="1" smtClean="0">
                          <a:latin typeface="Cambria Math" panose="02040503050406030204" pitchFamily="18" charset="0"/>
                          <a:cs typeface="Arial" panose="020B0604020202020204" pitchFamily="34" charset="0"/>
                        </a:rPr>
                        <m:t>=0</m:t>
                      </m:r>
                    </m:oMath>
                  </m:oMathPara>
                </a14:m>
                <a:endParaRPr lang="en-US" dirty="0">
                  <a:latin typeface="Arial" panose="020B0604020202020204" pitchFamily="34" charset="0"/>
                  <a:cs typeface="Arial" panose="020B0604020202020204" pitchFamily="34" charset="0"/>
                </a:endParaRPr>
              </a:p>
            </p:txBody>
          </p:sp>
        </mc:Choice>
        <mc:Fallback xmlns="">
          <p:sp>
            <p:nvSpPr>
              <p:cNvPr id="23" name="TextBox 22">
                <a:extLst>
                  <a:ext uri="{FF2B5EF4-FFF2-40B4-BE49-F238E27FC236}">
                    <a16:creationId xmlns:a16="http://schemas.microsoft.com/office/drawing/2014/main" id="{0091E483-B21C-A440-B8FF-6B8BD8130EC4}"/>
                  </a:ext>
                </a:extLst>
              </p:cNvPr>
              <p:cNvSpPr txBox="1">
                <a:spLocks noRot="1" noChangeAspect="1" noMove="1" noResize="1" noEditPoints="1" noAdjustHandles="1" noChangeArrowheads="1" noChangeShapeType="1" noTextEdit="1"/>
              </p:cNvSpPr>
              <p:nvPr/>
            </p:nvSpPr>
            <p:spPr>
              <a:xfrm>
                <a:off x="502787" y="1413288"/>
                <a:ext cx="2696379" cy="599523"/>
              </a:xfrm>
              <a:prstGeom prst="rect">
                <a:avLst/>
              </a:prstGeom>
              <a:blipFill>
                <a:blip r:embed="rId3"/>
                <a:stretch>
                  <a:fillRect l="-467" r="-935" b="-145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8EBF8F3-A63A-5941-9316-44A98BFA04BF}"/>
                  </a:ext>
                </a:extLst>
              </p:cNvPr>
              <p:cNvSpPr txBox="1"/>
              <p:nvPr/>
            </p:nvSpPr>
            <p:spPr>
              <a:xfrm>
                <a:off x="502787" y="2748385"/>
                <a:ext cx="2490104" cy="822341"/>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𝑑</m:t>
                          </m:r>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r>
                            <a:rPr lang="en-US" i="1">
                              <a:latin typeface="Cambria Math" panose="02040503050406030204" pitchFamily="18" charset="0"/>
                              <a:cs typeface="Arial" panose="020B0604020202020204" pitchFamily="34" charset="0"/>
                            </a:rPr>
                            <m:t>𝑑𝑧</m:t>
                          </m:r>
                        </m:den>
                      </m:f>
                      <m:r>
                        <a:rPr lang="en-US" i="1">
                          <a:latin typeface="Cambria Math" panose="02040503050406030204" pitchFamily="18" charset="0"/>
                          <a:cs typeface="Arial" panose="020B0604020202020204" pitchFamily="34" charset="0"/>
                        </a:rPr>
                        <m:t>+</m:t>
                      </m:r>
                      <m:f>
                        <m:fPr>
                          <m:ctrlPr>
                            <a:rPr lang="en-US" i="1" smtClean="0">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num>
                        <m:den>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r>
                            <a:rPr lang="en-US" i="1">
                              <a:latin typeface="Cambria Math" panose="02040503050406030204" pitchFamily="18" charset="0"/>
                              <a:ea typeface="Cambria Math" panose="02040503050406030204" pitchFamily="18" charset="0"/>
                              <a:cs typeface="Arial" panose="020B0604020202020204" pitchFamily="34" charset="0"/>
                            </a:rPr>
                            <m:t>𝑧</m:t>
                          </m:r>
                          <m:d>
                            <m:dPr>
                              <m:ctrlPr>
                                <a:rPr lang="en-US" i="1">
                                  <a:latin typeface="Cambria Math" panose="02040503050406030204" pitchFamily="18" charset="0"/>
                                  <a:ea typeface="Cambria Math" panose="02040503050406030204" pitchFamily="18" charset="0"/>
                                  <a:cs typeface="Arial" panose="020B0604020202020204" pitchFamily="34" charset="0"/>
                                </a:rPr>
                              </m:ctrlPr>
                            </m:dPr>
                            <m:e>
                              <m:r>
                                <a:rPr lang="en-US" i="1">
                                  <a:latin typeface="Cambria Math" panose="02040503050406030204" pitchFamily="18" charset="0"/>
                                  <a:cs typeface="Arial" panose="020B0604020202020204" pitchFamily="34" charset="0"/>
                                </a:rPr>
                                <m:t>1−</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𝑧</m:t>
                                  </m:r>
                                </m:num>
                                <m:den>
                                  <m:r>
                                    <a:rPr lang="en-US" i="1">
                                      <a:latin typeface="Cambria Math" panose="02040503050406030204" pitchFamily="18" charset="0"/>
                                      <a:cs typeface="Arial" panose="020B0604020202020204" pitchFamily="34" charset="0"/>
                                    </a:rPr>
                                    <m:t>𝐻</m:t>
                                  </m:r>
                                </m:den>
                              </m:f>
                            </m:e>
                          </m:d>
                        </m:den>
                      </m:f>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r>
                        <a:rPr lang="en-US" b="0" i="1" smtClean="0">
                          <a:latin typeface="Cambria Math" panose="02040503050406030204" pitchFamily="18" charset="0"/>
                          <a:cs typeface="Arial" panose="020B0604020202020204" pitchFamily="34" charset="0"/>
                        </a:rPr>
                        <m:t>=0</m:t>
                      </m:r>
                    </m:oMath>
                  </m:oMathPara>
                </a14:m>
                <a:endParaRPr lang="en-US" dirty="0">
                  <a:latin typeface="Arial" panose="020B0604020202020204" pitchFamily="34" charset="0"/>
                  <a:cs typeface="Arial" panose="020B0604020202020204" pitchFamily="34" charset="0"/>
                </a:endParaRPr>
              </a:p>
            </p:txBody>
          </p:sp>
        </mc:Choice>
        <mc:Fallback xmlns="">
          <p:sp>
            <p:nvSpPr>
              <p:cNvPr id="11" name="TextBox 10">
                <a:extLst>
                  <a:ext uri="{FF2B5EF4-FFF2-40B4-BE49-F238E27FC236}">
                    <a16:creationId xmlns:a16="http://schemas.microsoft.com/office/drawing/2014/main" id="{D8EBF8F3-A63A-5941-9316-44A98BFA04BF}"/>
                  </a:ext>
                </a:extLst>
              </p:cNvPr>
              <p:cNvSpPr txBox="1">
                <a:spLocks noRot="1" noChangeAspect="1" noMove="1" noResize="1" noEditPoints="1" noAdjustHandles="1" noChangeArrowheads="1" noChangeShapeType="1" noTextEdit="1"/>
              </p:cNvSpPr>
              <p:nvPr/>
            </p:nvSpPr>
            <p:spPr>
              <a:xfrm>
                <a:off x="502787" y="2748385"/>
                <a:ext cx="2490104" cy="822341"/>
              </a:xfrm>
              <a:prstGeom prst="rect">
                <a:avLst/>
              </a:prstGeom>
              <a:blipFill>
                <a:blip r:embed="rId4"/>
                <a:stretch>
                  <a:fillRect l="-1523" r="-1523" b="-75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506CC1A-05FD-174A-959C-8682CDB2654F}"/>
                  </a:ext>
                </a:extLst>
              </p:cNvPr>
              <p:cNvSpPr txBox="1"/>
              <p:nvPr/>
            </p:nvSpPr>
            <p:spPr>
              <a:xfrm>
                <a:off x="410817" y="3791464"/>
                <a:ext cx="10770020" cy="718210"/>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above equation is integrated with the boundary condition of near-bed (z = b) suspended sediment concentration averaged over turbulence equal to </a:t>
                </a: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𝑐</m:t>
                            </m:r>
                          </m:e>
                          <m:sub>
                            <m:r>
                              <a:rPr lang="en-US" b="0" i="1" smtClean="0">
                                <a:latin typeface="Cambria Math" panose="02040503050406030204" pitchFamily="18" charset="0"/>
                                <a:cs typeface="Arial" panose="020B0604020202020204" pitchFamily="34" charset="0"/>
                              </a:rPr>
                              <m:t>𝑏</m:t>
                            </m:r>
                          </m:sub>
                        </m:sSub>
                      </m:e>
                    </m:acc>
                  </m:oMath>
                </a14:m>
                <a:endParaRPr lang="en-US" dirty="0">
                  <a:latin typeface="Arial" panose="020B0604020202020204" pitchFamily="34" charset="0"/>
                  <a:cs typeface="Arial" panose="020B0604020202020204" pitchFamily="34" charset="0"/>
                </a:endParaRPr>
              </a:p>
            </p:txBody>
          </p:sp>
        </mc:Choice>
        <mc:Fallback xmlns="">
          <p:sp>
            <p:nvSpPr>
              <p:cNvPr id="12" name="TextBox 11">
                <a:extLst>
                  <a:ext uri="{FF2B5EF4-FFF2-40B4-BE49-F238E27FC236}">
                    <a16:creationId xmlns:a16="http://schemas.microsoft.com/office/drawing/2014/main" id="{B506CC1A-05FD-174A-959C-8682CDB2654F}"/>
                  </a:ext>
                </a:extLst>
              </p:cNvPr>
              <p:cNvSpPr txBox="1">
                <a:spLocks noRot="1" noChangeAspect="1" noMove="1" noResize="1" noEditPoints="1" noAdjustHandles="1" noChangeArrowheads="1" noChangeShapeType="1" noTextEdit="1"/>
              </p:cNvSpPr>
              <p:nvPr/>
            </p:nvSpPr>
            <p:spPr>
              <a:xfrm>
                <a:off x="410817" y="3791464"/>
                <a:ext cx="10770020" cy="718210"/>
              </a:xfrm>
              <a:prstGeom prst="rect">
                <a:avLst/>
              </a:prstGeom>
              <a:blipFill>
                <a:blip r:embed="rId5"/>
                <a:stretch>
                  <a:fillRect l="-471" t="-3448" b="-86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AD6A53E-4D20-8E49-9D2D-05F00DF52C4E}"/>
                  </a:ext>
                </a:extLst>
              </p:cNvPr>
              <p:cNvSpPr txBox="1"/>
              <p:nvPr/>
            </p:nvSpPr>
            <p:spPr>
              <a:xfrm>
                <a:off x="502787" y="4622371"/>
                <a:ext cx="2433871" cy="822341"/>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𝑑</m:t>
                          </m:r>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den>
                      </m:f>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num>
                        <m:den>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r>
                            <a:rPr lang="en-US" i="1">
                              <a:latin typeface="Cambria Math" panose="02040503050406030204" pitchFamily="18" charset="0"/>
                              <a:ea typeface="Cambria Math" panose="02040503050406030204" pitchFamily="18" charset="0"/>
                              <a:cs typeface="Arial" panose="020B0604020202020204" pitchFamily="34" charset="0"/>
                            </a:rPr>
                            <m:t>𝑧</m:t>
                          </m:r>
                          <m:d>
                            <m:dPr>
                              <m:ctrlPr>
                                <a:rPr lang="en-US" i="1">
                                  <a:latin typeface="Cambria Math" panose="02040503050406030204" pitchFamily="18" charset="0"/>
                                  <a:ea typeface="Cambria Math" panose="02040503050406030204" pitchFamily="18" charset="0"/>
                                  <a:cs typeface="Arial" panose="020B0604020202020204" pitchFamily="34" charset="0"/>
                                </a:rPr>
                              </m:ctrlPr>
                            </m:dPr>
                            <m:e>
                              <m:r>
                                <a:rPr lang="en-US" i="1">
                                  <a:latin typeface="Cambria Math" panose="02040503050406030204" pitchFamily="18" charset="0"/>
                                  <a:cs typeface="Arial" panose="020B0604020202020204" pitchFamily="34" charset="0"/>
                                </a:rPr>
                                <m:t>1−</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𝑧</m:t>
                                  </m:r>
                                </m:num>
                                <m:den>
                                  <m:r>
                                    <a:rPr lang="en-US" i="1">
                                      <a:latin typeface="Cambria Math" panose="02040503050406030204" pitchFamily="18" charset="0"/>
                                      <a:cs typeface="Arial" panose="020B0604020202020204" pitchFamily="34" charset="0"/>
                                    </a:rPr>
                                    <m:t>𝐻</m:t>
                                  </m:r>
                                </m:den>
                              </m:f>
                            </m:e>
                          </m:d>
                        </m:den>
                      </m:f>
                      <m:r>
                        <a:rPr lang="en-US" b="0" i="1" smtClean="0">
                          <a:latin typeface="Cambria Math" panose="02040503050406030204" pitchFamily="18" charset="0"/>
                          <a:cs typeface="Arial" panose="020B0604020202020204" pitchFamily="34" charset="0"/>
                        </a:rPr>
                        <m:t>𝑑𝑧</m:t>
                      </m:r>
                    </m:oMath>
                  </m:oMathPara>
                </a14:m>
                <a:endParaRPr lang="en-US" dirty="0">
                  <a:latin typeface="Arial" panose="020B0604020202020204" pitchFamily="34" charset="0"/>
                  <a:cs typeface="Arial" panose="020B0604020202020204" pitchFamily="34" charset="0"/>
                </a:endParaRPr>
              </a:p>
            </p:txBody>
          </p:sp>
        </mc:Choice>
        <mc:Fallback xmlns="">
          <p:sp>
            <p:nvSpPr>
              <p:cNvPr id="14" name="TextBox 13">
                <a:extLst>
                  <a:ext uri="{FF2B5EF4-FFF2-40B4-BE49-F238E27FC236}">
                    <a16:creationId xmlns:a16="http://schemas.microsoft.com/office/drawing/2014/main" id="{3AD6A53E-4D20-8E49-9D2D-05F00DF52C4E}"/>
                  </a:ext>
                </a:extLst>
              </p:cNvPr>
              <p:cNvSpPr txBox="1">
                <a:spLocks noRot="1" noChangeAspect="1" noMove="1" noResize="1" noEditPoints="1" noAdjustHandles="1" noChangeArrowheads="1" noChangeShapeType="1" noTextEdit="1"/>
              </p:cNvSpPr>
              <p:nvPr/>
            </p:nvSpPr>
            <p:spPr>
              <a:xfrm>
                <a:off x="502787" y="4622371"/>
                <a:ext cx="2433871" cy="822341"/>
              </a:xfrm>
              <a:prstGeom prst="rect">
                <a:avLst/>
              </a:prstGeom>
              <a:blipFill>
                <a:blip r:embed="rId6"/>
                <a:stretch>
                  <a:fillRect l="-1554" r="-1554" b="-75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9F459FF-E804-9C43-BFE2-D602F2784866}"/>
                  </a:ext>
                </a:extLst>
              </p:cNvPr>
              <p:cNvSpPr txBox="1"/>
              <p:nvPr/>
            </p:nvSpPr>
            <p:spPr>
              <a:xfrm>
                <a:off x="3458816" y="4790661"/>
                <a:ext cx="4035287"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recalling that </a:t>
                </a:r>
                <a14:m>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𝜁</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𝑧</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𝐻</m:t>
                    </m:r>
                  </m:oMath>
                </a14:m>
                <a:r>
                  <a:rPr lang="en-US" dirty="0">
                    <a:latin typeface="Arial" panose="020B0604020202020204" pitchFamily="34" charset="0"/>
                    <a:cs typeface="Arial" panose="020B0604020202020204" pitchFamily="34" charset="0"/>
                  </a:rPr>
                  <a:t> it is found that</a:t>
                </a:r>
              </a:p>
            </p:txBody>
          </p:sp>
        </mc:Choice>
        <mc:Fallback xmlns="">
          <p:sp>
            <p:nvSpPr>
              <p:cNvPr id="6" name="TextBox 5">
                <a:extLst>
                  <a:ext uri="{FF2B5EF4-FFF2-40B4-BE49-F238E27FC236}">
                    <a16:creationId xmlns:a16="http://schemas.microsoft.com/office/drawing/2014/main" id="{49F459FF-E804-9C43-BFE2-D602F2784866}"/>
                  </a:ext>
                </a:extLst>
              </p:cNvPr>
              <p:cNvSpPr txBox="1">
                <a:spLocks noRot="1" noChangeAspect="1" noMove="1" noResize="1" noEditPoints="1" noAdjustHandles="1" noChangeArrowheads="1" noChangeShapeType="1" noTextEdit="1"/>
              </p:cNvSpPr>
              <p:nvPr/>
            </p:nvSpPr>
            <p:spPr>
              <a:xfrm>
                <a:off x="3458816" y="4790661"/>
                <a:ext cx="4035287" cy="381708"/>
              </a:xfrm>
              <a:prstGeom prst="rect">
                <a:avLst/>
              </a:prstGeom>
              <a:blipFill>
                <a:blip r:embed="rId7"/>
                <a:stretch>
                  <a:fillRect l="-1258" t="-9677" b="-225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B9719F4-CB12-B047-B463-838D007D6AB9}"/>
                  </a:ext>
                </a:extLst>
              </p:cNvPr>
              <p:cNvSpPr txBox="1"/>
              <p:nvPr/>
            </p:nvSpPr>
            <p:spPr>
              <a:xfrm>
                <a:off x="7674838" y="4655656"/>
                <a:ext cx="2307362" cy="651717"/>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𝑑</m:t>
                          </m:r>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den>
                      </m:f>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num>
                        <m:den>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r>
                            <a:rPr lang="en-US" i="1" smtClean="0">
                              <a:latin typeface="Cambria Math" panose="02040503050406030204" pitchFamily="18" charset="0"/>
                              <a:ea typeface="Cambria Math" panose="02040503050406030204" pitchFamily="18" charset="0"/>
                              <a:cs typeface="Arial" panose="020B0604020202020204" pitchFamily="34" charset="0"/>
                            </a:rPr>
                            <m:t>𝜁</m:t>
                          </m:r>
                          <m:d>
                            <m:dPr>
                              <m:ctrlPr>
                                <a:rPr lang="en-US" i="1">
                                  <a:latin typeface="Cambria Math" panose="02040503050406030204" pitchFamily="18" charset="0"/>
                                  <a:ea typeface="Cambria Math" panose="02040503050406030204" pitchFamily="18" charset="0"/>
                                  <a:cs typeface="Arial" panose="020B0604020202020204" pitchFamily="34" charset="0"/>
                                </a:rPr>
                              </m:ctrlPr>
                            </m:dPr>
                            <m:e>
                              <m:r>
                                <a:rPr lang="en-US" i="1">
                                  <a:latin typeface="Cambria Math" panose="02040503050406030204" pitchFamily="18" charset="0"/>
                                  <a:cs typeface="Arial" panose="020B0604020202020204" pitchFamily="34" charset="0"/>
                                </a:rPr>
                                <m:t>1−</m:t>
                              </m:r>
                              <m:r>
                                <a:rPr lang="en-US" i="1" smtClean="0">
                                  <a:latin typeface="Cambria Math" panose="02040503050406030204" pitchFamily="18" charset="0"/>
                                  <a:ea typeface="Cambria Math" panose="02040503050406030204" pitchFamily="18" charset="0"/>
                                  <a:cs typeface="Arial" panose="020B0604020202020204" pitchFamily="34" charset="0"/>
                                </a:rPr>
                                <m:t>𝜁</m:t>
                              </m:r>
                            </m:e>
                          </m:d>
                        </m:den>
                      </m:f>
                      <m:r>
                        <a:rPr lang="en-US" b="0" i="1" smtClean="0">
                          <a:latin typeface="Cambria Math" panose="02040503050406030204" pitchFamily="18" charset="0"/>
                          <a:cs typeface="Arial" panose="020B0604020202020204" pitchFamily="34" charset="0"/>
                        </a:rPr>
                        <m:t>𝑑</m:t>
                      </m:r>
                      <m:r>
                        <a:rPr lang="en-US" b="0" i="1" smtClean="0">
                          <a:latin typeface="Cambria Math" panose="02040503050406030204" pitchFamily="18" charset="0"/>
                          <a:ea typeface="Cambria Math" panose="02040503050406030204" pitchFamily="18" charset="0"/>
                          <a:cs typeface="Arial" panose="020B0604020202020204" pitchFamily="34" charset="0"/>
                        </a:rPr>
                        <m:t>𝜁</m:t>
                      </m:r>
                    </m:oMath>
                  </m:oMathPara>
                </a14:m>
                <a:endParaRPr lang="en-US" dirty="0">
                  <a:latin typeface="Arial" panose="020B0604020202020204" pitchFamily="34" charset="0"/>
                  <a:cs typeface="Arial" panose="020B0604020202020204" pitchFamily="34" charset="0"/>
                </a:endParaRPr>
              </a:p>
            </p:txBody>
          </p:sp>
        </mc:Choice>
        <mc:Fallback xmlns="">
          <p:sp>
            <p:nvSpPr>
              <p:cNvPr id="16" name="TextBox 15">
                <a:extLst>
                  <a:ext uri="{FF2B5EF4-FFF2-40B4-BE49-F238E27FC236}">
                    <a16:creationId xmlns:a16="http://schemas.microsoft.com/office/drawing/2014/main" id="{5B9719F4-CB12-B047-B463-838D007D6AB9}"/>
                  </a:ext>
                </a:extLst>
              </p:cNvPr>
              <p:cNvSpPr txBox="1">
                <a:spLocks noRot="1" noChangeAspect="1" noMove="1" noResize="1" noEditPoints="1" noAdjustHandles="1" noChangeArrowheads="1" noChangeShapeType="1" noTextEdit="1"/>
              </p:cNvSpPr>
              <p:nvPr/>
            </p:nvSpPr>
            <p:spPr>
              <a:xfrm>
                <a:off x="7674838" y="4655656"/>
                <a:ext cx="2307362" cy="651717"/>
              </a:xfrm>
              <a:prstGeom prst="rect">
                <a:avLst/>
              </a:prstGeom>
              <a:blipFill>
                <a:blip r:embed="rId8"/>
                <a:stretch>
                  <a:fillRect l="-2186" r="-2186" b="-13208"/>
                </a:stretch>
              </a:blipFill>
            </p:spPr>
            <p:txBody>
              <a:bodyPr/>
              <a:lstStyle/>
              <a:p>
                <a:r>
                  <a:rPr lang="en-US">
                    <a:noFill/>
                  </a:rPr>
                  <a:t> </a:t>
                </a:r>
              </a:p>
            </p:txBody>
          </p:sp>
        </mc:Fallback>
      </mc:AlternateContent>
    </p:spTree>
    <p:extLst>
      <p:ext uri="{BB962C8B-B14F-4D97-AF65-F5344CB8AC3E}">
        <p14:creationId xmlns:p14="http://schemas.microsoft.com/office/powerpoint/2010/main" val="193854825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56</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Equilibrium vertical distribution of suspended sediment</a:t>
            </a:r>
          </a:p>
        </p:txBody>
      </p:sp>
      <p:sp>
        <p:nvSpPr>
          <p:cNvPr id="7" name="TextBox 6">
            <a:extLst>
              <a:ext uri="{FF2B5EF4-FFF2-40B4-BE49-F238E27FC236}">
                <a16:creationId xmlns:a16="http://schemas.microsoft.com/office/drawing/2014/main" id="{F77C4F74-D4DD-BC4E-A89D-35BA6C04924B}"/>
              </a:ext>
            </a:extLst>
          </p:cNvPr>
          <p:cNvSpPr txBox="1"/>
          <p:nvPr/>
        </p:nvSpPr>
        <p:spPr>
          <a:xfrm>
            <a:off x="383626" y="1596543"/>
            <a:ext cx="10770020"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Is integrated and it is found that</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B9719F4-CB12-B047-B463-838D007D6AB9}"/>
                  </a:ext>
                </a:extLst>
              </p:cNvPr>
              <p:cNvSpPr txBox="1"/>
              <p:nvPr/>
            </p:nvSpPr>
            <p:spPr>
              <a:xfrm>
                <a:off x="502787" y="761571"/>
                <a:ext cx="2307362" cy="651717"/>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𝑑</m:t>
                          </m:r>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num>
                        <m:den>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den>
                      </m:f>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num>
                        <m:den>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r>
                            <a:rPr lang="en-US" i="1" smtClean="0">
                              <a:latin typeface="Cambria Math" panose="02040503050406030204" pitchFamily="18" charset="0"/>
                              <a:ea typeface="Cambria Math" panose="02040503050406030204" pitchFamily="18" charset="0"/>
                              <a:cs typeface="Arial" panose="020B0604020202020204" pitchFamily="34" charset="0"/>
                            </a:rPr>
                            <m:t>𝜁</m:t>
                          </m:r>
                          <m:d>
                            <m:dPr>
                              <m:ctrlPr>
                                <a:rPr lang="en-US" i="1">
                                  <a:latin typeface="Cambria Math" panose="02040503050406030204" pitchFamily="18" charset="0"/>
                                  <a:ea typeface="Cambria Math" panose="02040503050406030204" pitchFamily="18" charset="0"/>
                                  <a:cs typeface="Arial" panose="020B0604020202020204" pitchFamily="34" charset="0"/>
                                </a:rPr>
                              </m:ctrlPr>
                            </m:dPr>
                            <m:e>
                              <m:r>
                                <a:rPr lang="en-US" i="1">
                                  <a:latin typeface="Cambria Math" panose="02040503050406030204" pitchFamily="18" charset="0"/>
                                  <a:cs typeface="Arial" panose="020B0604020202020204" pitchFamily="34" charset="0"/>
                                </a:rPr>
                                <m:t>1−</m:t>
                              </m:r>
                              <m:r>
                                <a:rPr lang="en-US" i="1" smtClean="0">
                                  <a:latin typeface="Cambria Math" panose="02040503050406030204" pitchFamily="18" charset="0"/>
                                  <a:ea typeface="Cambria Math" panose="02040503050406030204" pitchFamily="18" charset="0"/>
                                  <a:cs typeface="Arial" panose="020B0604020202020204" pitchFamily="34" charset="0"/>
                                </a:rPr>
                                <m:t>𝜁</m:t>
                              </m:r>
                            </m:e>
                          </m:d>
                        </m:den>
                      </m:f>
                      <m:r>
                        <a:rPr lang="en-US" b="0" i="1" smtClean="0">
                          <a:latin typeface="Cambria Math" panose="02040503050406030204" pitchFamily="18" charset="0"/>
                          <a:cs typeface="Arial" panose="020B0604020202020204" pitchFamily="34" charset="0"/>
                        </a:rPr>
                        <m:t>𝑑</m:t>
                      </m:r>
                      <m:r>
                        <a:rPr lang="en-US" b="0" i="1" smtClean="0">
                          <a:latin typeface="Cambria Math" panose="02040503050406030204" pitchFamily="18" charset="0"/>
                          <a:ea typeface="Cambria Math" panose="02040503050406030204" pitchFamily="18" charset="0"/>
                          <a:cs typeface="Arial" panose="020B0604020202020204" pitchFamily="34" charset="0"/>
                        </a:rPr>
                        <m:t>𝜁</m:t>
                      </m:r>
                    </m:oMath>
                  </m:oMathPara>
                </a14:m>
                <a:endParaRPr lang="en-US" dirty="0">
                  <a:latin typeface="Arial" panose="020B0604020202020204" pitchFamily="34" charset="0"/>
                  <a:cs typeface="Arial" panose="020B0604020202020204" pitchFamily="34" charset="0"/>
                </a:endParaRPr>
              </a:p>
            </p:txBody>
          </p:sp>
        </mc:Choice>
        <mc:Fallback xmlns="">
          <p:sp>
            <p:nvSpPr>
              <p:cNvPr id="16" name="TextBox 15">
                <a:extLst>
                  <a:ext uri="{FF2B5EF4-FFF2-40B4-BE49-F238E27FC236}">
                    <a16:creationId xmlns:a16="http://schemas.microsoft.com/office/drawing/2014/main" id="{5B9719F4-CB12-B047-B463-838D007D6AB9}"/>
                  </a:ext>
                </a:extLst>
              </p:cNvPr>
              <p:cNvSpPr txBox="1">
                <a:spLocks noRot="1" noChangeAspect="1" noMove="1" noResize="1" noEditPoints="1" noAdjustHandles="1" noChangeArrowheads="1" noChangeShapeType="1" noTextEdit="1"/>
              </p:cNvSpPr>
              <p:nvPr/>
            </p:nvSpPr>
            <p:spPr>
              <a:xfrm>
                <a:off x="502787" y="761571"/>
                <a:ext cx="2307362" cy="651717"/>
              </a:xfrm>
              <a:prstGeom prst="rect">
                <a:avLst/>
              </a:prstGeom>
              <a:blipFill>
                <a:blip r:embed="rId3"/>
                <a:stretch>
                  <a:fillRect l="-1639" r="-2186" b="-15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BF1BC14-B667-2948-891A-FD62CCBD7ACD}"/>
                  </a:ext>
                </a:extLst>
              </p:cNvPr>
              <p:cNvSpPr txBox="1"/>
              <p:nvPr/>
            </p:nvSpPr>
            <p:spPr>
              <a:xfrm>
                <a:off x="406751" y="1813437"/>
                <a:ext cx="10723770" cy="796180"/>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cs typeface="Arial" panose="020B0604020202020204" pitchFamily="34" charset="0"/>
                            </a:rPr>
                          </m:ctrlPr>
                        </m:funcPr>
                        <m:fName>
                          <m:r>
                            <a:rPr lang="en-US" b="0" i="1" smtClean="0">
                              <a:latin typeface="Cambria Math" panose="02040503050406030204" pitchFamily="18" charset="0"/>
                              <a:cs typeface="Arial" panose="020B0604020202020204" pitchFamily="34" charset="0"/>
                            </a:rPr>
                            <m:t>𝑙𝑛</m:t>
                          </m:r>
                        </m:fName>
                        <m:e>
                          <m:d>
                            <m:dPr>
                              <m:ctrlPr>
                                <a:rPr lang="en-US" b="0" i="1" smtClean="0">
                                  <a:latin typeface="Cambria Math" panose="02040503050406030204" pitchFamily="18" charset="0"/>
                                  <a:cs typeface="Arial" panose="020B0604020202020204" pitchFamily="34" charset="0"/>
                                </a:rPr>
                              </m:ctrlPr>
                            </m:dPr>
                            <m:e>
                              <m:acc>
                                <m:accPr>
                                  <m:chr m:val="̅"/>
                                  <m:ctrlPr>
                                    <a:rPr lang="en-US" b="0"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e>
                          </m:d>
                        </m:e>
                      </m:func>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num>
                        <m:den>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den>
                      </m:f>
                      <m:d>
                        <m:dPr>
                          <m:begChr m:val="["/>
                          <m:endChr m:val="]"/>
                          <m:ctrlPr>
                            <a:rPr lang="en-US" i="1" smtClean="0">
                              <a:latin typeface="Cambria Math" panose="02040503050406030204" pitchFamily="18" charset="0"/>
                              <a:ea typeface="Cambria Math" panose="02040503050406030204" pitchFamily="18" charset="0"/>
                              <a:cs typeface="Arial" panose="020B0604020202020204" pitchFamily="34" charset="0"/>
                            </a:rPr>
                          </m:ctrlPr>
                        </m:dPr>
                        <m:e>
                          <m:r>
                            <a:rPr lang="en-US" b="0" i="1" smtClean="0">
                              <a:latin typeface="Cambria Math" panose="02040503050406030204" pitchFamily="18" charset="0"/>
                              <a:ea typeface="Cambria Math" panose="02040503050406030204" pitchFamily="18" charset="0"/>
                              <a:cs typeface="Arial" panose="020B0604020202020204" pitchFamily="34" charset="0"/>
                            </a:rPr>
                            <m:t>𝑙𝑛</m:t>
                          </m:r>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r>
                                <a:rPr lang="en-US" b="0" i="1" smtClean="0">
                                  <a:latin typeface="Cambria Math" panose="02040503050406030204" pitchFamily="18" charset="0"/>
                                  <a:ea typeface="Cambria Math" panose="02040503050406030204" pitchFamily="18" charset="0"/>
                                  <a:cs typeface="Arial" panose="020B0604020202020204" pitchFamily="34" charset="0"/>
                                </a:rPr>
                                <m:t>𝜁</m:t>
                              </m:r>
                            </m:e>
                          </m:d>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𝑙𝑛</m:t>
                          </m:r>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r>
                                <a:rPr lang="en-US" b="0" i="1" smtClean="0">
                                  <a:latin typeface="Cambria Math" panose="02040503050406030204" pitchFamily="18" charset="0"/>
                                  <a:ea typeface="Cambria Math" panose="02040503050406030204" pitchFamily="18" charset="0"/>
                                  <a:cs typeface="Arial" panose="020B0604020202020204" pitchFamily="34" charset="0"/>
                                </a:rPr>
                                <m:t>1−</m:t>
                              </m:r>
                              <m:r>
                                <a:rPr lang="en-US" b="0" i="1" smtClean="0">
                                  <a:latin typeface="Cambria Math" panose="02040503050406030204" pitchFamily="18" charset="0"/>
                                  <a:ea typeface="Cambria Math" panose="02040503050406030204" pitchFamily="18" charset="0"/>
                                  <a:cs typeface="Arial" panose="020B0604020202020204" pitchFamily="34" charset="0"/>
                                </a:rPr>
                                <m:t>𝜁</m:t>
                              </m:r>
                            </m:e>
                          </m:d>
                        </m:e>
                      </m:d>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𝑐𝑜𝑛𝑠𝑡𝑎𝑛𝑡</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𝑙𝑛</m:t>
                      </m:r>
                      <m:d>
                        <m:dPr>
                          <m:begChr m:val="["/>
                          <m:endChr m:val="]"/>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𝜁</m:t>
                                      </m:r>
                                    </m:num>
                                    <m:den>
                                      <m:r>
                                        <a:rPr lang="en-US" i="1">
                                          <a:latin typeface="Cambria Math" panose="02040503050406030204" pitchFamily="18" charset="0"/>
                                          <a:ea typeface="Cambria Math" panose="02040503050406030204" pitchFamily="18" charset="0"/>
                                          <a:cs typeface="Arial" panose="020B0604020202020204" pitchFamily="34" charset="0"/>
                                        </a:rPr>
                                        <m:t>1−</m:t>
                                      </m:r>
                                      <m:r>
                                        <a:rPr lang="en-US" i="1">
                                          <a:latin typeface="Cambria Math" panose="02040503050406030204" pitchFamily="18" charset="0"/>
                                          <a:ea typeface="Cambria Math" panose="02040503050406030204" pitchFamily="18" charset="0"/>
                                          <a:cs typeface="Arial" panose="020B0604020202020204" pitchFamily="34" charset="0"/>
                                        </a:rPr>
                                        <m:t>𝜁</m:t>
                                      </m:r>
                                    </m:den>
                                  </m:f>
                                </m:e>
                              </m:d>
                            </m:e>
                            <m:sup>
                              <m:r>
                                <a:rPr lang="en-US" i="1">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num>
                                <m:den>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den>
                              </m:f>
                            </m:sup>
                          </m:sSup>
                        </m:e>
                      </m:d>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i="1" smtClean="0">
                          <a:latin typeface="Cambria Math" panose="02040503050406030204" pitchFamily="18" charset="0"/>
                          <a:ea typeface="Cambria Math" panose="02040503050406030204" pitchFamily="18" charset="0"/>
                          <a:cs typeface="Arial" panose="020B0604020202020204" pitchFamily="34" charset="0"/>
                        </a:rPr>
                        <m:t>𝑐𝑜𝑛𝑠𝑡𝑎𝑛𝑡</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𝑙𝑛</m:t>
                      </m:r>
                      <m:d>
                        <m:dPr>
                          <m:begChr m:val="["/>
                          <m:endChr m:val="]"/>
                          <m:ctrlPr>
                            <a:rPr lang="en-US" i="1">
                              <a:latin typeface="Cambria Math" panose="02040503050406030204" pitchFamily="18" charset="0"/>
                              <a:ea typeface="Cambria Math" panose="02040503050406030204" pitchFamily="18" charset="0"/>
                              <a:cs typeface="Arial" panose="020B0604020202020204" pitchFamily="34" charset="0"/>
                            </a:rPr>
                          </m:ctrlPr>
                        </m:dPr>
                        <m:e>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1−</m:t>
                                      </m:r>
                                      <m:r>
                                        <a:rPr lang="en-US" i="1">
                                          <a:latin typeface="Cambria Math" panose="02040503050406030204" pitchFamily="18" charset="0"/>
                                          <a:ea typeface="Cambria Math" panose="02040503050406030204" pitchFamily="18" charset="0"/>
                                          <a:cs typeface="Arial" panose="020B0604020202020204" pitchFamily="34" charset="0"/>
                                        </a:rPr>
                                        <m:t>𝜁</m:t>
                                      </m:r>
                                    </m:num>
                                    <m:den>
                                      <m:r>
                                        <a:rPr lang="en-US" i="1">
                                          <a:latin typeface="Cambria Math" panose="02040503050406030204" pitchFamily="18" charset="0"/>
                                          <a:ea typeface="Cambria Math" panose="02040503050406030204" pitchFamily="18" charset="0"/>
                                          <a:cs typeface="Arial" panose="020B0604020202020204" pitchFamily="34" charset="0"/>
                                        </a:rPr>
                                        <m:t>𝜁</m:t>
                                      </m:r>
                                    </m:den>
                                  </m:f>
                                </m:e>
                              </m:d>
                            </m:e>
                            <m:sup>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num>
                                <m:den>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den>
                              </m:f>
                            </m:sup>
                          </m:sSup>
                        </m:e>
                      </m:d>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𝑐𝑜𝑛𝑠𝑡𝑎𝑛𝑡</m:t>
                      </m:r>
                    </m:oMath>
                  </m:oMathPara>
                </a14:m>
                <a:endParaRPr lang="en-US" dirty="0">
                  <a:latin typeface="Arial" panose="020B0604020202020204" pitchFamily="34" charset="0"/>
                  <a:cs typeface="Arial" panose="020B0604020202020204" pitchFamily="34" charset="0"/>
                </a:endParaRPr>
              </a:p>
            </p:txBody>
          </p:sp>
        </mc:Choice>
        <mc:Fallback xmlns="">
          <p:sp>
            <p:nvSpPr>
              <p:cNvPr id="3" name="TextBox 2">
                <a:extLst>
                  <a:ext uri="{FF2B5EF4-FFF2-40B4-BE49-F238E27FC236}">
                    <a16:creationId xmlns:a16="http://schemas.microsoft.com/office/drawing/2014/main" id="{2BF1BC14-B667-2948-891A-FD62CCBD7ACD}"/>
                  </a:ext>
                </a:extLst>
              </p:cNvPr>
              <p:cNvSpPr txBox="1">
                <a:spLocks noRot="1" noChangeAspect="1" noMove="1" noResize="1" noEditPoints="1" noAdjustHandles="1" noChangeArrowheads="1" noChangeShapeType="1" noTextEdit="1"/>
              </p:cNvSpPr>
              <p:nvPr/>
            </p:nvSpPr>
            <p:spPr>
              <a:xfrm>
                <a:off x="406751" y="1813437"/>
                <a:ext cx="10723770" cy="796180"/>
              </a:xfrm>
              <a:prstGeom prst="rect">
                <a:avLst/>
              </a:prstGeom>
              <a:blipFill>
                <a:blip r:embed="rId4"/>
                <a:stretch>
                  <a:fillRect b="-12500"/>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14AABE1A-685B-E043-825F-EE14EE539E7B}"/>
              </a:ext>
            </a:extLst>
          </p:cNvPr>
          <p:cNvSpPr txBox="1"/>
          <p:nvPr/>
        </p:nvSpPr>
        <p:spPr>
          <a:xfrm>
            <a:off x="406751" y="2667639"/>
            <a:ext cx="10770020"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above equation is rewritten as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FCBF841-3295-CE4A-9448-5E964F977C47}"/>
                  </a:ext>
                </a:extLst>
              </p:cNvPr>
              <p:cNvSpPr txBox="1"/>
              <p:nvPr/>
            </p:nvSpPr>
            <p:spPr>
              <a:xfrm>
                <a:off x="479680" y="3030025"/>
                <a:ext cx="1555106" cy="617605"/>
              </a:xfrm>
              <a:prstGeom prst="rect">
                <a:avLst/>
              </a:prstGeom>
              <a:noFill/>
            </p:spPr>
            <p:txBody>
              <a:bodyPr wrap="none" lIns="0" tIns="0" rIns="0" bIns="0" rtlCol="0">
                <a:spAutoFit/>
              </a:bodyPr>
              <a:lstStyle/>
              <a:p>
                <a:pPr>
                  <a:lnSpc>
                    <a:spcPct val="114000"/>
                  </a:lnSpc>
                </a:pP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𝐶</m:t>
                        </m:r>
                      </m:e>
                      <m:sub>
                        <m:r>
                          <a:rPr lang="en-US" b="0" i="1" smtClean="0">
                            <a:latin typeface="Cambria Math" panose="02040503050406030204" pitchFamily="18" charset="0"/>
                            <a:cs typeface="Arial" panose="020B0604020202020204" pitchFamily="34" charset="0"/>
                          </a:rPr>
                          <m:t>1</m:t>
                        </m:r>
                      </m:sub>
                    </m:sSub>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1−</m:t>
                                </m:r>
                                <m:r>
                                  <a:rPr lang="en-US" i="1">
                                    <a:latin typeface="Cambria Math" panose="02040503050406030204" pitchFamily="18" charset="0"/>
                                    <a:ea typeface="Cambria Math" panose="02040503050406030204" pitchFamily="18" charset="0"/>
                                    <a:cs typeface="Arial" panose="020B0604020202020204" pitchFamily="34" charset="0"/>
                                  </a:rPr>
                                  <m:t>𝜁</m:t>
                                </m:r>
                              </m:num>
                              <m:den>
                                <m:r>
                                  <a:rPr lang="en-US" i="1">
                                    <a:latin typeface="Cambria Math" panose="02040503050406030204" pitchFamily="18" charset="0"/>
                                    <a:ea typeface="Cambria Math" panose="02040503050406030204" pitchFamily="18" charset="0"/>
                                    <a:cs typeface="Arial" panose="020B0604020202020204" pitchFamily="34" charset="0"/>
                                  </a:rPr>
                                  <m:t>𝜁</m:t>
                                </m:r>
                              </m:den>
                            </m:f>
                          </m:e>
                        </m:d>
                      </m:e>
                      <m:sup>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num>
                          <m:den>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den>
                        </m:f>
                      </m:sup>
                    </m:sSup>
                  </m:oMath>
                </a14:m>
                <a:r>
                  <a:rPr lang="en-US" dirty="0">
                    <a:latin typeface="Arial" panose="020B0604020202020204" pitchFamily="34" charset="0"/>
                    <a:cs typeface="Arial" panose="020B0604020202020204" pitchFamily="34" charset="0"/>
                  </a:rPr>
                  <a:t> </a:t>
                </a:r>
              </a:p>
            </p:txBody>
          </p:sp>
        </mc:Choice>
        <mc:Fallback xmlns="">
          <p:sp>
            <p:nvSpPr>
              <p:cNvPr id="8" name="TextBox 7">
                <a:extLst>
                  <a:ext uri="{FF2B5EF4-FFF2-40B4-BE49-F238E27FC236}">
                    <a16:creationId xmlns:a16="http://schemas.microsoft.com/office/drawing/2014/main" id="{FFCBF841-3295-CE4A-9448-5E964F977C47}"/>
                  </a:ext>
                </a:extLst>
              </p:cNvPr>
              <p:cNvSpPr txBox="1">
                <a:spLocks noRot="1" noChangeAspect="1" noMove="1" noResize="1" noEditPoints="1" noAdjustHandles="1" noChangeArrowheads="1" noChangeShapeType="1" noTextEdit="1"/>
              </p:cNvSpPr>
              <p:nvPr/>
            </p:nvSpPr>
            <p:spPr>
              <a:xfrm>
                <a:off x="479680" y="3030025"/>
                <a:ext cx="1555106" cy="617605"/>
              </a:xfrm>
              <a:prstGeom prst="rect">
                <a:avLst/>
              </a:prstGeom>
              <a:blipFill>
                <a:blip r:embed="rId5"/>
                <a:stretch>
                  <a:fillRect l="-3226"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38B562E-5EB1-C84B-9878-B04B4BD07FB8}"/>
                  </a:ext>
                </a:extLst>
              </p:cNvPr>
              <p:cNvSpPr txBox="1"/>
              <p:nvPr/>
            </p:nvSpPr>
            <p:spPr>
              <a:xfrm>
                <a:off x="383626" y="3811710"/>
                <a:ext cx="10770020" cy="410625"/>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constant C</a:t>
                </a:r>
                <a:r>
                  <a:rPr lang="en-US" baseline="-25000" dirty="0">
                    <a:latin typeface="Arial" panose="020B0604020202020204" pitchFamily="34" charset="0"/>
                    <a:cs typeface="Arial" panose="020B0604020202020204" pitchFamily="34" charset="0"/>
                  </a:rPr>
                  <a:t>1</a:t>
                </a:r>
                <a:r>
                  <a:rPr lang="en-US" dirty="0">
                    <a:latin typeface="Arial" panose="020B0604020202020204" pitchFamily="34" charset="0"/>
                    <a:cs typeface="Arial" panose="020B0604020202020204" pitchFamily="34" charset="0"/>
                  </a:rPr>
                  <a:t> is determined with the boundary condition </a:t>
                </a: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r>
                      <a:rPr lang="en-US" b="0" i="1" smtClean="0">
                        <a:latin typeface="Cambria Math" panose="02040503050406030204" pitchFamily="18" charset="0"/>
                        <a:cs typeface="Arial" panose="020B0604020202020204" pitchFamily="34" charset="0"/>
                      </a:rPr>
                      <m:t>=</m:t>
                    </m:r>
                    <m:acc>
                      <m:accPr>
                        <m:chr m:val="̅"/>
                        <m:ctrlPr>
                          <a:rPr lang="en-US" b="0" i="1" smtClean="0">
                            <a:latin typeface="Cambria Math" panose="02040503050406030204" pitchFamily="18" charset="0"/>
                            <a:cs typeface="Arial" panose="020B0604020202020204" pitchFamily="34" charset="0"/>
                          </a:rPr>
                        </m:ctrlPr>
                      </m:accPr>
                      <m:e>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𝑐</m:t>
                            </m:r>
                          </m:e>
                          <m:sub>
                            <m:r>
                              <a:rPr lang="en-US" b="0" i="1" smtClean="0">
                                <a:latin typeface="Cambria Math" panose="02040503050406030204" pitchFamily="18" charset="0"/>
                                <a:cs typeface="Arial" panose="020B0604020202020204" pitchFamily="34" charset="0"/>
                              </a:rPr>
                              <m:t>𝑏</m:t>
                            </m:r>
                          </m:sub>
                        </m:sSub>
                      </m:e>
                    </m:acc>
                  </m:oMath>
                </a14:m>
                <a:r>
                  <a:rPr lang="en-US" dirty="0">
                    <a:latin typeface="Arial" panose="020B0604020202020204" pitchFamily="34" charset="0"/>
                    <a:cs typeface="Arial" panose="020B0604020202020204" pitchFamily="34" charset="0"/>
                  </a:rPr>
                  <a:t> for z = b (or </a:t>
                </a:r>
                <a:r>
                  <a:rPr lang="en-US" sz="2000" dirty="0">
                    <a:latin typeface="Symbol" pitchFamily="2" charset="2"/>
                    <a:cs typeface="Arial" panose="020B0604020202020204" pitchFamily="34" charset="0"/>
                  </a:rPr>
                  <a:t>z</a:t>
                </a:r>
                <a:r>
                  <a:rPr lang="en-US" dirty="0">
                    <a:latin typeface="Arial" panose="020B0604020202020204" pitchFamily="34" charset="0"/>
                    <a:cs typeface="Arial" panose="020B0604020202020204" pitchFamily="34" charset="0"/>
                  </a:rPr>
                  <a:t> = </a:t>
                </a:r>
                <a:r>
                  <a:rPr lang="en-US" sz="2000" dirty="0" err="1">
                    <a:latin typeface="Symbol" pitchFamily="2" charset="2"/>
                    <a:cs typeface="Arial" panose="020B0604020202020204" pitchFamily="34" charset="0"/>
                  </a:rPr>
                  <a:t>z</a:t>
                </a:r>
                <a:r>
                  <a:rPr lang="en-US" baseline="-25000" dirty="0" err="1">
                    <a:latin typeface="Arial" panose="020B0604020202020204" pitchFamily="34" charset="0"/>
                    <a:cs typeface="Arial" panose="020B0604020202020204" pitchFamily="34" charset="0"/>
                  </a:rPr>
                  <a:t>b</a:t>
                </a:r>
                <a:r>
                  <a:rPr lang="en-US" dirty="0">
                    <a:latin typeface="Arial" panose="020B0604020202020204" pitchFamily="34" charset="0"/>
                    <a:cs typeface="Arial" panose="020B0604020202020204" pitchFamily="34" charset="0"/>
                  </a:rPr>
                  <a:t>) </a:t>
                </a:r>
              </a:p>
            </p:txBody>
          </p:sp>
        </mc:Choice>
        <mc:Fallback xmlns="">
          <p:sp>
            <p:nvSpPr>
              <p:cNvPr id="15" name="TextBox 14">
                <a:extLst>
                  <a:ext uri="{FF2B5EF4-FFF2-40B4-BE49-F238E27FC236}">
                    <a16:creationId xmlns:a16="http://schemas.microsoft.com/office/drawing/2014/main" id="{338B562E-5EB1-C84B-9878-B04B4BD07FB8}"/>
                  </a:ext>
                </a:extLst>
              </p:cNvPr>
              <p:cNvSpPr txBox="1">
                <a:spLocks noRot="1" noChangeAspect="1" noMove="1" noResize="1" noEditPoints="1" noAdjustHandles="1" noChangeArrowheads="1" noChangeShapeType="1" noTextEdit="1"/>
              </p:cNvSpPr>
              <p:nvPr/>
            </p:nvSpPr>
            <p:spPr>
              <a:xfrm>
                <a:off x="383626" y="3811710"/>
                <a:ext cx="10770020" cy="410625"/>
              </a:xfrm>
              <a:prstGeom prst="rect">
                <a:avLst/>
              </a:prstGeom>
              <a:blipFill>
                <a:blip r:embed="rId6"/>
                <a:stretch>
                  <a:fillRect l="-471" t="-6061" b="-242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E43829E-54EC-C84D-8242-E7513C5EEEBE}"/>
                  </a:ext>
                </a:extLst>
              </p:cNvPr>
              <p:cNvSpPr txBox="1"/>
              <p:nvPr/>
            </p:nvSpPr>
            <p:spPr>
              <a:xfrm>
                <a:off x="479680" y="4259291"/>
                <a:ext cx="1740028" cy="619400"/>
              </a:xfrm>
              <a:prstGeom prst="rect">
                <a:avLst/>
              </a:prstGeom>
              <a:noFill/>
            </p:spPr>
            <p:txBody>
              <a:bodyPr wrap="none" lIns="0" tIns="0" rIns="0" bIns="0" rtlCol="0">
                <a:spAutoFit/>
              </a:bodyPr>
              <a:lstStyle/>
              <a:p>
                <a:pPr>
                  <a:lnSpc>
                    <a:spcPct val="114000"/>
                  </a:lnSpc>
                </a:pP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𝑐</m:t>
                            </m:r>
                          </m:e>
                          <m:sub>
                            <m:r>
                              <a:rPr lang="en-US" b="0" i="1" smtClean="0">
                                <a:latin typeface="Cambria Math" panose="02040503050406030204" pitchFamily="18" charset="0"/>
                                <a:cs typeface="Arial" panose="020B0604020202020204" pitchFamily="34" charset="0"/>
                              </a:rPr>
                              <m:t>𝑏</m:t>
                            </m:r>
                          </m:sub>
                        </m:sSub>
                      </m:e>
                    </m:acc>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𝐶</m:t>
                        </m:r>
                      </m:e>
                      <m:sub>
                        <m:r>
                          <a:rPr lang="en-US" b="0" i="1" smtClean="0">
                            <a:latin typeface="Cambria Math" panose="02040503050406030204" pitchFamily="18" charset="0"/>
                            <a:cs typeface="Arial" panose="020B0604020202020204" pitchFamily="34" charset="0"/>
                          </a:rPr>
                          <m:t>1</m:t>
                        </m:r>
                      </m:sub>
                    </m:sSub>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1−</m:t>
                                </m:r>
                                <m:sSub>
                                  <m:sSubPr>
                                    <m:ctrlPr>
                                      <a:rPr lang="en-US" i="1" smtClean="0">
                                        <a:latin typeface="Cambria Math" panose="02040503050406030204" pitchFamily="18" charset="0"/>
                                        <a:ea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𝜁</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sub>
                                </m:sSub>
                              </m:num>
                              <m:den>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𝜁</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den>
                            </m:f>
                          </m:e>
                        </m:d>
                      </m:e>
                      <m:sup>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num>
                          <m:den>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den>
                        </m:f>
                      </m:sup>
                    </m:sSup>
                  </m:oMath>
                </a14:m>
                <a:r>
                  <a:rPr lang="en-US" dirty="0">
                    <a:latin typeface="Arial" panose="020B0604020202020204" pitchFamily="34" charset="0"/>
                    <a:cs typeface="Arial" panose="020B0604020202020204" pitchFamily="34" charset="0"/>
                  </a:rPr>
                  <a:t> </a:t>
                </a:r>
              </a:p>
            </p:txBody>
          </p:sp>
        </mc:Choice>
        <mc:Fallback xmlns="">
          <p:sp>
            <p:nvSpPr>
              <p:cNvPr id="17" name="TextBox 16">
                <a:extLst>
                  <a:ext uri="{FF2B5EF4-FFF2-40B4-BE49-F238E27FC236}">
                    <a16:creationId xmlns:a16="http://schemas.microsoft.com/office/drawing/2014/main" id="{4E43829E-54EC-C84D-8242-E7513C5EEEBE}"/>
                  </a:ext>
                </a:extLst>
              </p:cNvPr>
              <p:cNvSpPr txBox="1">
                <a:spLocks noRot="1" noChangeAspect="1" noMove="1" noResize="1" noEditPoints="1" noAdjustHandles="1" noChangeArrowheads="1" noChangeShapeType="1" noTextEdit="1"/>
              </p:cNvSpPr>
              <p:nvPr/>
            </p:nvSpPr>
            <p:spPr>
              <a:xfrm>
                <a:off x="479680" y="4259291"/>
                <a:ext cx="1740028" cy="619400"/>
              </a:xfrm>
              <a:prstGeom prst="rect">
                <a:avLst/>
              </a:prstGeom>
              <a:blipFill>
                <a:blip r:embed="rId7"/>
                <a:stretch>
                  <a:fillRect l="-2899" b="-12245"/>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E23A9CFC-851C-3843-918A-6F488F9B0B23}"/>
              </a:ext>
            </a:extLst>
          </p:cNvPr>
          <p:cNvSpPr txBox="1"/>
          <p:nvPr/>
        </p:nvSpPr>
        <p:spPr>
          <a:xfrm>
            <a:off x="2961969" y="4423585"/>
            <a:ext cx="1073427"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and</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ED1272-73BE-3B42-A7EE-5E913FBDFB8C}"/>
                  </a:ext>
                </a:extLst>
              </p:cNvPr>
              <p:cNvSpPr txBox="1"/>
              <p:nvPr/>
            </p:nvSpPr>
            <p:spPr>
              <a:xfrm>
                <a:off x="4035396" y="4211546"/>
                <a:ext cx="1384482" cy="797270"/>
              </a:xfrm>
              <a:prstGeom prst="rect">
                <a:avLst/>
              </a:prstGeom>
              <a:noFill/>
            </p:spPr>
            <p:txBody>
              <a:bodyPr wrap="none" lIns="0" tIns="0" rIns="0" bIns="0" rtlCol="0">
                <a:spAutoFit/>
              </a:bodyPr>
              <a:lstStyle/>
              <a:p>
                <a:pPr>
                  <a:lnSpc>
                    <a:spcPct val="114000"/>
                  </a:lnSpc>
                </a:pPr>
                <a14:m>
                  <m:oMath xmlns:m="http://schemas.openxmlformats.org/officeDocument/2006/math">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𝐶</m:t>
                        </m:r>
                      </m:e>
                      <m:sub>
                        <m:r>
                          <a:rPr lang="en-US" b="0" i="1" smtClean="0">
                            <a:latin typeface="Cambria Math" panose="02040503050406030204" pitchFamily="18" charset="0"/>
                            <a:cs typeface="Arial" panose="020B0604020202020204" pitchFamily="34" charset="0"/>
                          </a:rPr>
                          <m:t>1</m:t>
                        </m:r>
                      </m:sub>
                    </m:sSub>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smtClean="0">
                            <a:latin typeface="Cambria Math" panose="02040503050406030204" pitchFamily="18" charset="0"/>
                            <a:ea typeface="Cambria Math" panose="02040503050406030204" pitchFamily="18" charset="0"/>
                            <a:cs typeface="Arial" panose="020B0604020202020204" pitchFamily="34" charset="0"/>
                          </a:rPr>
                        </m:ctrlPr>
                      </m:fPr>
                      <m:num>
                        <m:acc>
                          <m:accPr>
                            <m:chr m:val="̅"/>
                            <m:ctrlPr>
                              <a:rPr lang="en-US" i="1">
                                <a:latin typeface="Cambria Math" panose="02040503050406030204" pitchFamily="18" charset="0"/>
                                <a:cs typeface="Arial" panose="020B0604020202020204" pitchFamily="34" charset="0"/>
                              </a:rPr>
                            </m:ctrlPr>
                          </m:accPr>
                          <m:e>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𝑐</m:t>
                                </m:r>
                              </m:e>
                              <m:sub>
                                <m:r>
                                  <a:rPr lang="en-US" i="1">
                                    <a:latin typeface="Cambria Math" panose="02040503050406030204" pitchFamily="18" charset="0"/>
                                    <a:cs typeface="Arial" panose="020B0604020202020204" pitchFamily="34" charset="0"/>
                                  </a:rPr>
                                  <m:t>𝑏</m:t>
                                </m:r>
                              </m:sub>
                            </m:sSub>
                          </m:e>
                        </m:acc>
                      </m:num>
                      <m:den>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1−</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𝜁</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num>
                                  <m:den>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𝜁</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den>
                                </m:f>
                              </m:e>
                            </m:d>
                          </m:e>
                          <m:sup>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num>
                              <m:den>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den>
                            </m:f>
                          </m:sup>
                        </m:sSup>
                      </m:den>
                    </m:f>
                  </m:oMath>
                </a14:m>
                <a:r>
                  <a:rPr lang="en-US" dirty="0">
                    <a:latin typeface="Arial" panose="020B0604020202020204" pitchFamily="34" charset="0"/>
                    <a:cs typeface="Arial" panose="020B0604020202020204" pitchFamily="34" charset="0"/>
                  </a:rPr>
                  <a:t> </a:t>
                </a:r>
              </a:p>
            </p:txBody>
          </p:sp>
        </mc:Choice>
        <mc:Fallback xmlns="">
          <p:sp>
            <p:nvSpPr>
              <p:cNvPr id="18" name="TextBox 17">
                <a:extLst>
                  <a:ext uri="{FF2B5EF4-FFF2-40B4-BE49-F238E27FC236}">
                    <a16:creationId xmlns:a16="http://schemas.microsoft.com/office/drawing/2014/main" id="{95ED1272-73BE-3B42-A7EE-5E913FBDFB8C}"/>
                  </a:ext>
                </a:extLst>
              </p:cNvPr>
              <p:cNvSpPr txBox="1">
                <a:spLocks noRot="1" noChangeAspect="1" noMove="1" noResize="1" noEditPoints="1" noAdjustHandles="1" noChangeArrowheads="1" noChangeShapeType="1" noTextEdit="1"/>
              </p:cNvSpPr>
              <p:nvPr/>
            </p:nvSpPr>
            <p:spPr>
              <a:xfrm>
                <a:off x="4035396" y="4211546"/>
                <a:ext cx="1384482" cy="797270"/>
              </a:xfrm>
              <a:prstGeom prst="rect">
                <a:avLst/>
              </a:prstGeom>
              <a:blipFill>
                <a:blip r:embed="rId8"/>
                <a:stretch>
                  <a:fillRect l="-5455" b="-6250"/>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D7479BE8-38EE-B44C-BB59-72C2294EC64E}"/>
              </a:ext>
            </a:extLst>
          </p:cNvPr>
          <p:cNvSpPr txBox="1"/>
          <p:nvPr/>
        </p:nvSpPr>
        <p:spPr>
          <a:xfrm>
            <a:off x="383626" y="5079941"/>
            <a:ext cx="10770020"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substituting C1 in the equation expressing the equilibrium vertical distribution of suspended sediment, the Rouse profile is derived </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C6F1889E-3389-5C49-9CC3-13D07C0BB7F7}"/>
                  </a:ext>
                </a:extLst>
              </p:cNvPr>
              <p:cNvSpPr txBox="1"/>
              <p:nvPr/>
            </p:nvSpPr>
            <p:spPr>
              <a:xfrm>
                <a:off x="642020" y="5787626"/>
                <a:ext cx="2121415" cy="942822"/>
              </a:xfrm>
              <a:prstGeom prst="rect">
                <a:avLst/>
              </a:prstGeom>
              <a:noFill/>
            </p:spPr>
            <p:txBody>
              <a:bodyPr wrap="none" lIns="0" tIns="0" rIns="0" bIns="0" rtlCol="0">
                <a:spAutoFit/>
              </a:bodyPr>
              <a:lstStyle/>
              <a:p>
                <a:pPr>
                  <a:lnSpc>
                    <a:spcPct val="114000"/>
                  </a:lnSpc>
                </a:pP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acc>
                          <m:accPr>
                            <m:chr m:val="̅"/>
                            <m:ctrlPr>
                              <a:rPr lang="en-US" i="1">
                                <a:latin typeface="Cambria Math" panose="02040503050406030204" pitchFamily="18" charset="0"/>
                                <a:cs typeface="Arial" panose="020B0604020202020204" pitchFamily="34" charset="0"/>
                              </a:rPr>
                            </m:ctrlPr>
                          </m:accPr>
                          <m:e>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𝑐</m:t>
                                </m:r>
                              </m:e>
                              <m:sub>
                                <m:r>
                                  <a:rPr lang="en-US" i="1">
                                    <a:latin typeface="Cambria Math" panose="02040503050406030204" pitchFamily="18" charset="0"/>
                                    <a:cs typeface="Arial" panose="020B0604020202020204" pitchFamily="34" charset="0"/>
                                  </a:rPr>
                                  <m:t>𝑏</m:t>
                                </m:r>
                              </m:sub>
                            </m:sSub>
                          </m:e>
                        </m:acc>
                      </m:num>
                      <m:den>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1−</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𝜁</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num>
                                  <m:den>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𝜁</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den>
                                </m:f>
                              </m:e>
                            </m:d>
                          </m:e>
                          <m:sup>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num>
                              <m:den>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den>
                            </m:f>
                          </m:sup>
                        </m:sSup>
                      </m:den>
                    </m:f>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1−</m:t>
                                </m:r>
                                <m:r>
                                  <a:rPr lang="en-US" i="1">
                                    <a:latin typeface="Cambria Math" panose="02040503050406030204" pitchFamily="18" charset="0"/>
                                    <a:ea typeface="Cambria Math" panose="02040503050406030204" pitchFamily="18" charset="0"/>
                                    <a:cs typeface="Arial" panose="020B0604020202020204" pitchFamily="34" charset="0"/>
                                  </a:rPr>
                                  <m:t>𝜁</m:t>
                                </m:r>
                              </m:num>
                              <m:den>
                                <m:r>
                                  <a:rPr lang="en-US" i="1">
                                    <a:latin typeface="Cambria Math" panose="02040503050406030204" pitchFamily="18" charset="0"/>
                                    <a:ea typeface="Cambria Math" panose="02040503050406030204" pitchFamily="18" charset="0"/>
                                    <a:cs typeface="Arial" panose="020B0604020202020204" pitchFamily="34" charset="0"/>
                                  </a:rPr>
                                  <m:t>𝜁</m:t>
                                </m:r>
                              </m:den>
                            </m:f>
                          </m:e>
                        </m:d>
                      </m:e>
                      <m:sup>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num>
                          <m:den>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den>
                        </m:f>
                      </m:sup>
                    </m:sSup>
                  </m:oMath>
                </a14:m>
                <a:r>
                  <a:rPr lang="en-US" dirty="0">
                    <a:latin typeface="Arial" panose="020B0604020202020204" pitchFamily="34" charset="0"/>
                    <a:cs typeface="Arial" panose="020B0604020202020204" pitchFamily="34" charset="0"/>
                  </a:rPr>
                  <a:t> </a:t>
                </a:r>
              </a:p>
            </p:txBody>
          </p:sp>
        </mc:Choice>
        <mc:Fallback xmlns="">
          <p:sp>
            <p:nvSpPr>
              <p:cNvPr id="20" name="TextBox 19">
                <a:extLst>
                  <a:ext uri="{FF2B5EF4-FFF2-40B4-BE49-F238E27FC236}">
                    <a16:creationId xmlns:a16="http://schemas.microsoft.com/office/drawing/2014/main" id="{C6F1889E-3389-5C49-9CC3-13D07C0BB7F7}"/>
                  </a:ext>
                </a:extLst>
              </p:cNvPr>
              <p:cNvSpPr txBox="1">
                <a:spLocks noRot="1" noChangeAspect="1" noMove="1" noResize="1" noEditPoints="1" noAdjustHandles="1" noChangeArrowheads="1" noChangeShapeType="1" noTextEdit="1"/>
              </p:cNvSpPr>
              <p:nvPr/>
            </p:nvSpPr>
            <p:spPr>
              <a:xfrm>
                <a:off x="642020" y="5787626"/>
                <a:ext cx="2121415" cy="942822"/>
              </a:xfrm>
              <a:prstGeom prst="rect">
                <a:avLst/>
              </a:prstGeom>
              <a:blipFill>
                <a:blip r:embed="rId9"/>
                <a:stretch>
                  <a:fillRect l="-2976" b="-6667"/>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455CAD0D-76C7-D145-BCAD-E65617663EA5}"/>
              </a:ext>
            </a:extLst>
          </p:cNvPr>
          <p:cNvSpPr txBox="1"/>
          <p:nvPr/>
        </p:nvSpPr>
        <p:spPr>
          <a:xfrm>
            <a:off x="3498682" y="5993296"/>
            <a:ext cx="536714"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or</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A897EA7-78E4-8A47-A19A-8BD6D9BF4A2C}"/>
                  </a:ext>
                </a:extLst>
              </p:cNvPr>
              <p:cNvSpPr txBox="1"/>
              <p:nvPr/>
            </p:nvSpPr>
            <p:spPr>
              <a:xfrm>
                <a:off x="4584181" y="5694504"/>
                <a:ext cx="1980799" cy="853311"/>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num>
                        <m:den>
                          <m:acc>
                            <m:accPr>
                              <m:chr m:val="̅"/>
                              <m:ctrlPr>
                                <a:rPr lang="en-US" i="1" smtClean="0">
                                  <a:latin typeface="Cambria Math" panose="02040503050406030204" pitchFamily="18" charset="0"/>
                                  <a:cs typeface="Arial" panose="020B0604020202020204" pitchFamily="34" charset="0"/>
                                </a:rPr>
                              </m:ctrlPr>
                            </m:accPr>
                            <m:e>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𝑐</m:t>
                                  </m:r>
                                </m:e>
                                <m:sub>
                                  <m:r>
                                    <a:rPr lang="en-US" b="0" i="1" smtClean="0">
                                      <a:latin typeface="Cambria Math" panose="02040503050406030204" pitchFamily="18" charset="0"/>
                                      <a:cs typeface="Arial" panose="020B0604020202020204" pitchFamily="34" charset="0"/>
                                    </a:rPr>
                                    <m:t>𝑏</m:t>
                                  </m:r>
                                </m:sub>
                              </m:sSub>
                            </m:e>
                          </m:acc>
                        </m:den>
                      </m:f>
                      <m:r>
                        <a:rPr lang="en-US" b="0" i="1" smtClean="0">
                          <a:latin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cs typeface="Arial" panose="020B0604020202020204" pitchFamily="34" charset="0"/>
                            </a:rPr>
                          </m:ctrlPr>
                        </m:sSupPr>
                        <m:e>
                          <m:d>
                            <m:dPr>
                              <m:begChr m:val="["/>
                              <m:endChr m:val="]"/>
                              <m:ctrlPr>
                                <a:rPr lang="en-US" b="0" i="1" smtClean="0">
                                  <a:latin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cs typeface="Arial" panose="020B0604020202020204" pitchFamily="34" charset="0"/>
                                    </a:rPr>
                                  </m:ctrlPr>
                                </m:fPr>
                                <m:num>
                                  <m:d>
                                    <m:dPr>
                                      <m:ctrlPr>
                                        <a:rPr lang="en-US" b="0" i="1" smtClean="0">
                                          <a:latin typeface="Cambria Math" panose="02040503050406030204" pitchFamily="18" charset="0"/>
                                          <a:cs typeface="Arial" panose="020B0604020202020204" pitchFamily="34" charset="0"/>
                                        </a:rPr>
                                      </m:ctrlPr>
                                    </m:dPr>
                                    <m:e>
                                      <m:r>
                                        <a:rPr lang="en-US" i="1">
                                          <a:latin typeface="Cambria Math" panose="02040503050406030204" pitchFamily="18" charset="0"/>
                                          <a:ea typeface="Cambria Math" panose="02040503050406030204" pitchFamily="18" charset="0"/>
                                          <a:cs typeface="Arial" panose="020B0604020202020204" pitchFamily="34" charset="0"/>
                                        </a:rPr>
                                        <m:t>1−</m:t>
                                      </m:r>
                                      <m:r>
                                        <a:rPr lang="en-US" i="1">
                                          <a:latin typeface="Cambria Math" panose="02040503050406030204" pitchFamily="18" charset="0"/>
                                          <a:ea typeface="Cambria Math" panose="02040503050406030204" pitchFamily="18" charset="0"/>
                                          <a:cs typeface="Arial" panose="020B0604020202020204" pitchFamily="34" charset="0"/>
                                        </a:rPr>
                                        <m:t>𝜁</m:t>
                                      </m:r>
                                    </m:e>
                                  </m:d>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𝜁</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num>
                                <m:den>
                                  <m:d>
                                    <m:dPr>
                                      <m:ctrlPr>
                                        <a:rPr lang="en-US" b="0" i="1" smtClean="0">
                                          <a:latin typeface="Cambria Math" panose="02040503050406030204" pitchFamily="18" charset="0"/>
                                          <a:cs typeface="Arial" panose="020B0604020202020204" pitchFamily="34" charset="0"/>
                                        </a:rPr>
                                      </m:ctrlPr>
                                    </m:dPr>
                                    <m:e>
                                      <m:r>
                                        <a:rPr lang="en-US" i="1">
                                          <a:latin typeface="Cambria Math" panose="02040503050406030204" pitchFamily="18" charset="0"/>
                                          <a:ea typeface="Cambria Math" panose="02040503050406030204" pitchFamily="18" charset="0"/>
                                          <a:cs typeface="Arial" panose="020B0604020202020204" pitchFamily="34" charset="0"/>
                                        </a:rPr>
                                        <m:t>1−</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𝜁</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e>
                                  </m:d>
                                  <m:r>
                                    <a:rPr lang="en-US" b="0" i="1" smtClean="0">
                                      <a:latin typeface="Cambria Math" panose="02040503050406030204" pitchFamily="18" charset="0"/>
                                      <a:ea typeface="Cambria Math" panose="02040503050406030204" pitchFamily="18" charset="0"/>
                                      <a:cs typeface="Arial" panose="020B0604020202020204" pitchFamily="34" charset="0"/>
                                    </a:rPr>
                                    <m:t>𝜁</m:t>
                                  </m:r>
                                </m:den>
                              </m:f>
                            </m:e>
                          </m:d>
                        </m:e>
                        <m:sup>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num>
                            <m:den>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den>
                          </m:f>
                        </m:sup>
                      </m:sSup>
                    </m:oMath>
                  </m:oMathPara>
                </a14:m>
                <a:endParaRPr lang="en-US" dirty="0">
                  <a:latin typeface="Arial" panose="020B0604020202020204" pitchFamily="34" charset="0"/>
                  <a:cs typeface="Arial" panose="020B0604020202020204" pitchFamily="34" charset="0"/>
                </a:endParaRPr>
              </a:p>
            </p:txBody>
          </p:sp>
        </mc:Choice>
        <mc:Fallback xmlns="">
          <p:sp>
            <p:nvSpPr>
              <p:cNvPr id="21" name="TextBox 20">
                <a:extLst>
                  <a:ext uri="{FF2B5EF4-FFF2-40B4-BE49-F238E27FC236}">
                    <a16:creationId xmlns:a16="http://schemas.microsoft.com/office/drawing/2014/main" id="{DA897EA7-78E4-8A47-A19A-8BD6D9BF4A2C}"/>
                  </a:ext>
                </a:extLst>
              </p:cNvPr>
              <p:cNvSpPr txBox="1">
                <a:spLocks noRot="1" noChangeAspect="1" noMove="1" noResize="1" noEditPoints="1" noAdjustHandles="1" noChangeArrowheads="1" noChangeShapeType="1" noTextEdit="1"/>
              </p:cNvSpPr>
              <p:nvPr/>
            </p:nvSpPr>
            <p:spPr>
              <a:xfrm>
                <a:off x="4584181" y="5694504"/>
                <a:ext cx="1980799" cy="853311"/>
              </a:xfrm>
              <a:prstGeom prst="rect">
                <a:avLst/>
              </a:prstGeom>
              <a:blipFill>
                <a:blip r:embed="rId10"/>
                <a:stretch>
                  <a:fillRect l="-637" b="-88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ounded Rectangle 21">
                <a:extLst>
                  <a:ext uri="{FF2B5EF4-FFF2-40B4-BE49-F238E27FC236}">
                    <a16:creationId xmlns:a16="http://schemas.microsoft.com/office/drawing/2014/main" id="{BC959373-20DD-6146-B2AC-62D5DBA77A9A}"/>
                  </a:ext>
                </a:extLst>
              </p:cNvPr>
              <p:cNvSpPr/>
              <p:nvPr/>
            </p:nvSpPr>
            <p:spPr>
              <a:xfrm>
                <a:off x="7770316" y="5626434"/>
                <a:ext cx="2862469" cy="1035944"/>
              </a:xfrm>
              <a:prstGeom prst="roundRect">
                <a:avLst/>
              </a:prstGeom>
              <a:solidFill>
                <a:srgbClr val="FFFF00"/>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EQUILIBRIUM SUSPENSION</a:t>
                </a:r>
              </a:p>
              <a:p>
                <a:pPr algn="ctr"/>
                <a:endParaRPr lang="en-US" dirty="0">
                  <a:solidFill>
                    <a:schemeClr val="tx1"/>
                  </a:solidFill>
                </a:endParaRPr>
              </a:p>
              <a:p>
                <a:pPr algn="ctr"/>
                <a14:m>
                  <m:oMathPara xmlns:m="http://schemas.openxmlformats.org/officeDocument/2006/math">
                    <m:oMathParaPr>
                      <m:jc m:val="centerGroup"/>
                    </m:oMathParaPr>
                    <m:oMath xmlns:m="http://schemas.openxmlformats.org/officeDocument/2006/math">
                      <m:acc>
                        <m:accPr>
                          <m:chr m:val="̅"/>
                          <m:ctrlPr>
                            <a:rPr lang="en-US" i="1" smtClean="0">
                              <a:solidFill>
                                <a:schemeClr val="tx1"/>
                              </a:solidFill>
                              <a:latin typeface="Cambria Math" panose="02040503050406030204" pitchFamily="18" charset="0"/>
                            </a:rPr>
                          </m:ctrlPr>
                        </m:accPr>
                        <m:e>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𝑐</m:t>
                              </m:r>
                            </m:e>
                            <m:sub>
                              <m:r>
                                <a:rPr lang="en-US" b="0" i="1" smtClean="0">
                                  <a:solidFill>
                                    <a:schemeClr val="tx1"/>
                                  </a:solidFill>
                                  <a:latin typeface="Cambria Math" panose="02040503050406030204" pitchFamily="18" charset="0"/>
                                </a:rPr>
                                <m:t>𝑏</m:t>
                              </m:r>
                            </m:sub>
                          </m:sSub>
                        </m:e>
                      </m:acc>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𝐸</m:t>
                      </m:r>
                    </m:oMath>
                  </m:oMathPara>
                </a14:m>
                <a:endParaRPr lang="en-US" dirty="0">
                  <a:solidFill>
                    <a:schemeClr val="tx1"/>
                  </a:solidFill>
                </a:endParaRPr>
              </a:p>
            </p:txBody>
          </p:sp>
        </mc:Choice>
        <mc:Fallback xmlns="">
          <p:sp>
            <p:nvSpPr>
              <p:cNvPr id="22" name="Rounded Rectangle 21">
                <a:extLst>
                  <a:ext uri="{FF2B5EF4-FFF2-40B4-BE49-F238E27FC236}">
                    <a16:creationId xmlns:a16="http://schemas.microsoft.com/office/drawing/2014/main" id="{BC959373-20DD-6146-B2AC-62D5DBA77A9A}"/>
                  </a:ext>
                </a:extLst>
              </p:cNvPr>
              <p:cNvSpPr>
                <a:spLocks noRot="1" noChangeAspect="1" noMove="1" noResize="1" noEditPoints="1" noAdjustHandles="1" noChangeArrowheads="1" noChangeShapeType="1" noTextEdit="1"/>
              </p:cNvSpPr>
              <p:nvPr/>
            </p:nvSpPr>
            <p:spPr>
              <a:xfrm>
                <a:off x="7770316" y="5626434"/>
                <a:ext cx="2862469" cy="1035944"/>
              </a:xfrm>
              <a:prstGeom prst="roundRect">
                <a:avLst/>
              </a:prstGeom>
              <a:blipFill>
                <a:blip r:embed="rId11"/>
                <a:stretch>
                  <a:fillRect/>
                </a:stretch>
              </a:blipFill>
              <a:ln w="38100">
                <a:solidFill>
                  <a:srgbClr val="C00000"/>
                </a:solidFill>
              </a:ln>
            </p:spPr>
            <p:txBody>
              <a:bodyPr/>
              <a:lstStyle/>
              <a:p>
                <a:r>
                  <a:rPr lang="en-US">
                    <a:noFill/>
                  </a:rPr>
                  <a:t> </a:t>
                </a:r>
              </a:p>
            </p:txBody>
          </p:sp>
        </mc:Fallback>
      </mc:AlternateContent>
    </p:spTree>
    <p:extLst>
      <p:ext uri="{BB962C8B-B14F-4D97-AF65-F5344CB8AC3E}">
        <p14:creationId xmlns:p14="http://schemas.microsoft.com/office/powerpoint/2010/main" val="5321571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57</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Calculation of 1D suspended sediment transport rate</a:t>
            </a:r>
          </a:p>
        </p:txBody>
      </p:sp>
      <p:sp>
        <p:nvSpPr>
          <p:cNvPr id="7" name="TextBox 6">
            <a:extLst>
              <a:ext uri="{FF2B5EF4-FFF2-40B4-BE49-F238E27FC236}">
                <a16:creationId xmlns:a16="http://schemas.microsoft.com/office/drawing/2014/main" id="{F77C4F74-D4DD-BC4E-A89D-35BA6C04924B}"/>
              </a:ext>
            </a:extLst>
          </p:cNvPr>
          <p:cNvSpPr txBox="1"/>
          <p:nvPr/>
        </p:nvSpPr>
        <p:spPr>
          <a:xfrm>
            <a:off x="383626" y="817980"/>
            <a:ext cx="10770020"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volume suspended sediment transport rate per unit channel width </a:t>
            </a:r>
            <a:r>
              <a:rPr lang="en-US" dirty="0" err="1">
                <a:latin typeface="Arial" panose="020B0604020202020204" pitchFamily="34" charset="0"/>
                <a:cs typeface="Arial" panose="020B0604020202020204" pitchFamily="34" charset="0"/>
              </a:rPr>
              <a:t>q</a:t>
            </a:r>
            <a:r>
              <a:rPr lang="en-US" baseline="-25000" dirty="0" err="1">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is computed as</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76008BB-186C-984B-9AD8-618732D42B8D}"/>
                  </a:ext>
                </a:extLst>
              </p:cNvPr>
              <p:cNvSpPr txBox="1"/>
              <p:nvPr/>
            </p:nvSpPr>
            <p:spPr>
              <a:xfrm>
                <a:off x="496270" y="1551099"/>
                <a:ext cx="2494529" cy="415883"/>
              </a:xfrm>
              <a:prstGeom prst="rect">
                <a:avLst/>
              </a:prstGeom>
              <a:noFill/>
            </p:spPr>
            <p:txBody>
              <a:bodyPr wrap="none" lIns="0" tIns="0" rIns="0" bIns="0" rtlCol="0">
                <a:spAutoFit/>
              </a:bodyPr>
              <a:lstStyle/>
              <a:p>
                <a:pPr>
                  <a:lnSpc>
                    <a:spcPct val="114000"/>
                  </a:lnSpc>
                </a:pPr>
                <a14:m>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𝑞</m:t>
                        </m:r>
                      </m:e>
                      <m:sub>
                        <m:r>
                          <a:rPr lang="en-US" b="0" i="1" smtClean="0">
                            <a:latin typeface="Cambria Math" panose="02040503050406030204" pitchFamily="18" charset="0"/>
                            <a:cs typeface="Arial" panose="020B0604020202020204" pitchFamily="34" charset="0"/>
                          </a:rPr>
                          <m:t>𝑠</m:t>
                        </m:r>
                      </m:sub>
                    </m:sSub>
                    <m:r>
                      <a:rPr lang="en-US" b="0" i="1" smtClean="0">
                        <a:latin typeface="Cambria Math" panose="02040503050406030204" pitchFamily="18" charset="0"/>
                        <a:cs typeface="Arial" panose="020B0604020202020204" pitchFamily="34" charset="0"/>
                      </a:rPr>
                      <m:t>=</m:t>
                    </m:r>
                    <m:nary>
                      <m:naryPr>
                        <m:limLoc m:val="undOvr"/>
                        <m:ctrlPr>
                          <a:rPr lang="en-US" b="0" i="1" smtClean="0">
                            <a:latin typeface="Cambria Math" panose="02040503050406030204" pitchFamily="18" charset="0"/>
                            <a:cs typeface="Arial" panose="020B0604020202020204" pitchFamily="34" charset="0"/>
                          </a:rPr>
                        </m:ctrlPr>
                      </m:naryPr>
                      <m:sub>
                        <m:r>
                          <m:rPr>
                            <m:brk m:alnAt="24"/>
                          </m:rPr>
                          <a:rPr lang="en-US" b="0" i="1" smtClean="0">
                            <a:latin typeface="Cambria Math" panose="02040503050406030204" pitchFamily="18" charset="0"/>
                            <a:cs typeface="Arial" panose="020B0604020202020204" pitchFamily="34" charset="0"/>
                          </a:rPr>
                          <m:t>0</m:t>
                        </m:r>
                      </m:sub>
                      <m:sup>
                        <m:r>
                          <a:rPr lang="en-US" b="0" i="1" smtClean="0">
                            <a:latin typeface="Cambria Math" panose="02040503050406030204" pitchFamily="18" charset="0"/>
                            <a:cs typeface="Arial" panose="020B0604020202020204" pitchFamily="34" charset="0"/>
                          </a:rPr>
                          <m:t>𝐻</m:t>
                        </m:r>
                      </m:sup>
                      <m:e>
                        <m:acc>
                          <m:accPr>
                            <m:chr m:val="̅"/>
                            <m:ctrlPr>
                              <a:rPr lang="en-US" b="0"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𝑢</m:t>
                            </m:r>
                          </m:e>
                        </m:acc>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r>
                          <a:rPr lang="en-US" b="0" i="1" smtClean="0">
                            <a:latin typeface="Cambria Math" panose="02040503050406030204" pitchFamily="18" charset="0"/>
                            <a:cs typeface="Arial" panose="020B0604020202020204" pitchFamily="34" charset="0"/>
                          </a:rPr>
                          <m:t>𝑑𝑧</m:t>
                        </m:r>
                      </m:e>
                    </m:nary>
                    <m:r>
                      <a:rPr lang="en-US" b="0" i="1" smtClean="0">
                        <a:latin typeface="Cambria Math" panose="02040503050406030204" pitchFamily="18" charset="0"/>
                        <a:ea typeface="Cambria Math" panose="02040503050406030204" pitchFamily="18" charset="0"/>
                        <a:cs typeface="Arial" panose="020B0604020202020204" pitchFamily="34" charset="0"/>
                      </a:rPr>
                      <m:t>≅</m:t>
                    </m:r>
                    <m:nary>
                      <m:naryPr>
                        <m:limLoc m:val="undOvr"/>
                        <m:ctrlPr>
                          <a:rPr lang="en-US" i="1">
                            <a:latin typeface="Cambria Math" panose="02040503050406030204" pitchFamily="18" charset="0"/>
                            <a:cs typeface="Arial" panose="020B0604020202020204" pitchFamily="34" charset="0"/>
                          </a:rPr>
                        </m:ctrlPr>
                      </m:naryPr>
                      <m:sub>
                        <m:r>
                          <a:rPr lang="en-US" b="0" i="1" smtClean="0">
                            <a:latin typeface="Cambria Math" panose="02040503050406030204" pitchFamily="18" charset="0"/>
                            <a:cs typeface="Arial" panose="020B0604020202020204" pitchFamily="34" charset="0"/>
                          </a:rPr>
                          <m:t>𝑏</m:t>
                        </m:r>
                      </m:sub>
                      <m:sup>
                        <m:r>
                          <a:rPr lang="en-US" i="1">
                            <a:latin typeface="Cambria Math" panose="02040503050406030204" pitchFamily="18" charset="0"/>
                            <a:cs typeface="Arial" panose="020B0604020202020204" pitchFamily="34" charset="0"/>
                          </a:rPr>
                          <m:t>𝐻</m:t>
                        </m:r>
                      </m:sup>
                      <m:e>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𝑢</m:t>
                            </m:r>
                          </m:e>
                        </m:acc>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r>
                          <a:rPr lang="en-US" i="1">
                            <a:latin typeface="Cambria Math" panose="02040503050406030204" pitchFamily="18" charset="0"/>
                            <a:cs typeface="Arial" panose="020B0604020202020204" pitchFamily="34" charset="0"/>
                          </a:rPr>
                          <m:t>𝑑𝑧</m:t>
                        </m:r>
                      </m:e>
                    </m:nary>
                  </m:oMath>
                </a14:m>
                <a:r>
                  <a:rPr lang="en-US" dirty="0">
                    <a:latin typeface="Arial" panose="020B0604020202020204" pitchFamily="34" charset="0"/>
                    <a:cs typeface="Arial" panose="020B0604020202020204" pitchFamily="34" charset="0"/>
                  </a:rPr>
                  <a:t> </a:t>
                </a:r>
              </a:p>
            </p:txBody>
          </p:sp>
        </mc:Choice>
        <mc:Fallback xmlns="">
          <p:sp>
            <p:nvSpPr>
              <p:cNvPr id="2" name="TextBox 1">
                <a:extLst>
                  <a:ext uri="{FF2B5EF4-FFF2-40B4-BE49-F238E27FC236}">
                    <a16:creationId xmlns:a16="http://schemas.microsoft.com/office/drawing/2014/main" id="{176008BB-186C-984B-9AD8-618732D42B8D}"/>
                  </a:ext>
                </a:extLst>
              </p:cNvPr>
              <p:cNvSpPr txBox="1">
                <a:spLocks noRot="1" noChangeAspect="1" noMove="1" noResize="1" noEditPoints="1" noAdjustHandles="1" noChangeArrowheads="1" noChangeShapeType="1" noTextEdit="1"/>
              </p:cNvSpPr>
              <p:nvPr/>
            </p:nvSpPr>
            <p:spPr>
              <a:xfrm>
                <a:off x="496270" y="1551099"/>
                <a:ext cx="2494529" cy="415883"/>
              </a:xfrm>
              <a:prstGeom prst="rect">
                <a:avLst/>
              </a:prstGeom>
              <a:blipFill>
                <a:blip r:embed="rId3"/>
                <a:stretch>
                  <a:fillRect l="-3030" t="-105714" b="-18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A46665F7-D027-824C-9943-B21C4CF40A7F}"/>
                  </a:ext>
                </a:extLst>
              </p:cNvPr>
              <p:cNvSpPr txBox="1"/>
              <p:nvPr/>
            </p:nvSpPr>
            <p:spPr>
              <a:xfrm>
                <a:off x="5597973" y="1199688"/>
                <a:ext cx="1980799" cy="853311"/>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𝑐</m:t>
                              </m:r>
                            </m:e>
                          </m:acc>
                        </m:num>
                        <m:den>
                          <m:acc>
                            <m:accPr>
                              <m:chr m:val="̅"/>
                              <m:ctrlPr>
                                <a:rPr lang="en-US" i="1" smtClean="0">
                                  <a:latin typeface="Cambria Math" panose="02040503050406030204" pitchFamily="18" charset="0"/>
                                  <a:cs typeface="Arial" panose="020B0604020202020204" pitchFamily="34" charset="0"/>
                                </a:rPr>
                              </m:ctrlPr>
                            </m:accPr>
                            <m:e>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𝑐</m:t>
                                  </m:r>
                                </m:e>
                                <m:sub>
                                  <m:r>
                                    <a:rPr lang="en-US" b="0" i="1" smtClean="0">
                                      <a:latin typeface="Cambria Math" panose="02040503050406030204" pitchFamily="18" charset="0"/>
                                      <a:cs typeface="Arial" panose="020B0604020202020204" pitchFamily="34" charset="0"/>
                                    </a:rPr>
                                    <m:t>𝑏</m:t>
                                  </m:r>
                                </m:sub>
                              </m:sSub>
                            </m:e>
                          </m:acc>
                        </m:den>
                      </m:f>
                      <m:r>
                        <a:rPr lang="en-US" b="0" i="1" smtClean="0">
                          <a:latin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cs typeface="Arial" panose="020B0604020202020204" pitchFamily="34" charset="0"/>
                            </a:rPr>
                          </m:ctrlPr>
                        </m:sSupPr>
                        <m:e>
                          <m:d>
                            <m:dPr>
                              <m:begChr m:val="["/>
                              <m:endChr m:val="]"/>
                              <m:ctrlPr>
                                <a:rPr lang="en-US" b="0" i="1" smtClean="0">
                                  <a:latin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cs typeface="Arial" panose="020B0604020202020204" pitchFamily="34" charset="0"/>
                                    </a:rPr>
                                  </m:ctrlPr>
                                </m:fPr>
                                <m:num>
                                  <m:d>
                                    <m:dPr>
                                      <m:ctrlPr>
                                        <a:rPr lang="en-US" b="0" i="1" smtClean="0">
                                          <a:latin typeface="Cambria Math" panose="02040503050406030204" pitchFamily="18" charset="0"/>
                                          <a:cs typeface="Arial" panose="020B0604020202020204" pitchFamily="34" charset="0"/>
                                        </a:rPr>
                                      </m:ctrlPr>
                                    </m:dPr>
                                    <m:e>
                                      <m:r>
                                        <a:rPr lang="en-US" i="1">
                                          <a:latin typeface="Cambria Math" panose="02040503050406030204" pitchFamily="18" charset="0"/>
                                          <a:ea typeface="Cambria Math" panose="02040503050406030204" pitchFamily="18" charset="0"/>
                                          <a:cs typeface="Arial" panose="020B0604020202020204" pitchFamily="34" charset="0"/>
                                        </a:rPr>
                                        <m:t>1−</m:t>
                                      </m:r>
                                      <m:r>
                                        <a:rPr lang="en-US" i="1">
                                          <a:latin typeface="Cambria Math" panose="02040503050406030204" pitchFamily="18" charset="0"/>
                                          <a:ea typeface="Cambria Math" panose="02040503050406030204" pitchFamily="18" charset="0"/>
                                          <a:cs typeface="Arial" panose="020B0604020202020204" pitchFamily="34" charset="0"/>
                                        </a:rPr>
                                        <m:t>𝜁</m:t>
                                      </m:r>
                                    </m:e>
                                  </m:d>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𝜁</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num>
                                <m:den>
                                  <m:d>
                                    <m:dPr>
                                      <m:ctrlPr>
                                        <a:rPr lang="en-US" b="0" i="1" smtClean="0">
                                          <a:latin typeface="Cambria Math" panose="02040503050406030204" pitchFamily="18" charset="0"/>
                                          <a:cs typeface="Arial" panose="020B0604020202020204" pitchFamily="34" charset="0"/>
                                        </a:rPr>
                                      </m:ctrlPr>
                                    </m:dPr>
                                    <m:e>
                                      <m:r>
                                        <a:rPr lang="en-US" i="1">
                                          <a:latin typeface="Cambria Math" panose="02040503050406030204" pitchFamily="18" charset="0"/>
                                          <a:ea typeface="Cambria Math" panose="02040503050406030204" pitchFamily="18" charset="0"/>
                                          <a:cs typeface="Arial" panose="020B0604020202020204" pitchFamily="34" charset="0"/>
                                        </a:rPr>
                                        <m:t>1−</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𝜁</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e>
                                  </m:d>
                                  <m:r>
                                    <a:rPr lang="en-US" b="0" i="1" smtClean="0">
                                      <a:latin typeface="Cambria Math" panose="02040503050406030204" pitchFamily="18" charset="0"/>
                                      <a:ea typeface="Cambria Math" panose="02040503050406030204" pitchFamily="18" charset="0"/>
                                      <a:cs typeface="Arial" panose="020B0604020202020204" pitchFamily="34" charset="0"/>
                                    </a:rPr>
                                    <m:t>𝜁</m:t>
                                  </m:r>
                                </m:den>
                              </m:f>
                            </m:e>
                          </m:d>
                        </m:e>
                        <m:sup>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num>
                            <m:den>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den>
                          </m:f>
                        </m:sup>
                      </m:sSup>
                    </m:oMath>
                  </m:oMathPara>
                </a14:m>
                <a:endParaRPr lang="en-US" dirty="0">
                  <a:latin typeface="Arial" panose="020B0604020202020204" pitchFamily="34" charset="0"/>
                  <a:cs typeface="Arial" panose="020B0604020202020204" pitchFamily="34" charset="0"/>
                </a:endParaRPr>
              </a:p>
            </p:txBody>
          </p:sp>
        </mc:Choice>
        <mc:Fallback xmlns="">
          <p:sp>
            <p:nvSpPr>
              <p:cNvPr id="23" name="TextBox 22">
                <a:extLst>
                  <a:ext uri="{FF2B5EF4-FFF2-40B4-BE49-F238E27FC236}">
                    <a16:creationId xmlns:a16="http://schemas.microsoft.com/office/drawing/2014/main" id="{A46665F7-D027-824C-9943-B21C4CF40A7F}"/>
                  </a:ext>
                </a:extLst>
              </p:cNvPr>
              <p:cNvSpPr txBox="1">
                <a:spLocks noRot="1" noChangeAspect="1" noMove="1" noResize="1" noEditPoints="1" noAdjustHandles="1" noChangeArrowheads="1" noChangeShapeType="1" noTextEdit="1"/>
              </p:cNvSpPr>
              <p:nvPr/>
            </p:nvSpPr>
            <p:spPr>
              <a:xfrm>
                <a:off x="5597973" y="1199688"/>
                <a:ext cx="1980799" cy="853311"/>
              </a:xfrm>
              <a:prstGeom prst="rect">
                <a:avLst/>
              </a:prstGeom>
              <a:blipFill>
                <a:blip r:embed="rId4"/>
                <a:stretch>
                  <a:fillRect l="-637" b="-8824"/>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84F07E43-8324-4E40-A9BD-F04F0E88C6C1}"/>
              </a:ext>
            </a:extLst>
          </p:cNvPr>
          <p:cNvSpPr txBox="1"/>
          <p:nvPr/>
        </p:nvSpPr>
        <p:spPr>
          <a:xfrm>
            <a:off x="4047468" y="1568186"/>
            <a:ext cx="1110940"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where</a:t>
            </a:r>
          </a:p>
        </p:txBody>
      </p:sp>
      <p:sp>
        <p:nvSpPr>
          <p:cNvPr id="24" name="TextBox 23">
            <a:extLst>
              <a:ext uri="{FF2B5EF4-FFF2-40B4-BE49-F238E27FC236}">
                <a16:creationId xmlns:a16="http://schemas.microsoft.com/office/drawing/2014/main" id="{BDD77E58-A792-6A4A-85B1-F44EA84DC2D1}"/>
              </a:ext>
            </a:extLst>
          </p:cNvPr>
          <p:cNvSpPr txBox="1"/>
          <p:nvPr/>
        </p:nvSpPr>
        <p:spPr>
          <a:xfrm>
            <a:off x="5718940" y="2243853"/>
            <a:ext cx="2670313"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and </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4BD1C8D-B0A2-0742-A7E0-60316528E769}"/>
                  </a:ext>
                </a:extLst>
              </p:cNvPr>
              <p:cNvSpPr txBox="1"/>
              <p:nvPr/>
            </p:nvSpPr>
            <p:spPr>
              <a:xfrm>
                <a:off x="5718940" y="2769969"/>
                <a:ext cx="1678408" cy="503792"/>
              </a:xfrm>
              <a:prstGeom prst="rect">
                <a:avLst/>
              </a:prstGeom>
              <a:noFill/>
            </p:spPr>
            <p:txBody>
              <a:bodyPr wrap="none" lIns="0" tIns="0" rIns="0" bIns="0" rtlCol="0">
                <a:spAutoFit/>
              </a:bodyPr>
              <a:lstStyle/>
              <a:p>
                <a:pPr algn="l">
                  <a:lnSpc>
                    <a:spcPct val="114000"/>
                  </a:lnSpc>
                </a:pP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𝑢</m:t>
                        </m:r>
                      </m:e>
                    </m:acc>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m:t>
                            </m:r>
                          </m:sub>
                        </m:sSub>
                      </m:num>
                      <m:den>
                        <m:r>
                          <a:rPr lang="en-US" b="0" i="1" smtClean="0">
                            <a:latin typeface="Cambria Math" panose="02040503050406030204" pitchFamily="18" charset="0"/>
                            <a:ea typeface="Cambria Math" panose="02040503050406030204" pitchFamily="18" charset="0"/>
                            <a:cs typeface="Arial" panose="020B0604020202020204" pitchFamily="34" charset="0"/>
                          </a:rPr>
                          <m:t>𝜅</m:t>
                        </m:r>
                      </m:den>
                    </m:f>
                    <m:r>
                      <a:rPr lang="en-US" b="0" i="1" smtClean="0">
                        <a:latin typeface="Cambria Math" panose="02040503050406030204" pitchFamily="18" charset="0"/>
                        <a:cs typeface="Arial" panose="020B0604020202020204" pitchFamily="34" charset="0"/>
                      </a:rPr>
                      <m:t>𝑙𝑛</m:t>
                    </m:r>
                    <m:d>
                      <m:dPr>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30</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𝑧</m:t>
                            </m:r>
                          </m:num>
                          <m:den>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𝑘</m:t>
                                </m:r>
                              </m:e>
                              <m:sub>
                                <m:r>
                                  <a:rPr lang="en-US" b="0" i="1" smtClean="0">
                                    <a:latin typeface="Cambria Math" panose="02040503050406030204" pitchFamily="18" charset="0"/>
                                    <a:cs typeface="Arial" panose="020B0604020202020204" pitchFamily="34" charset="0"/>
                                  </a:rPr>
                                  <m:t>𝑐</m:t>
                                </m:r>
                              </m:sub>
                            </m:sSub>
                          </m:den>
                        </m:f>
                      </m:e>
                    </m:d>
                  </m:oMath>
                </a14:m>
                <a:r>
                  <a:rPr lang="en-US" dirty="0">
                    <a:latin typeface="Arial" panose="020B0604020202020204" pitchFamily="34" charset="0"/>
                    <a:cs typeface="Arial" panose="020B0604020202020204" pitchFamily="34" charset="0"/>
                  </a:rPr>
                  <a:t> </a:t>
                </a:r>
              </a:p>
            </p:txBody>
          </p:sp>
        </mc:Choice>
        <mc:Fallback xmlns="">
          <p:sp>
            <p:nvSpPr>
              <p:cNvPr id="11" name="TextBox 10">
                <a:extLst>
                  <a:ext uri="{FF2B5EF4-FFF2-40B4-BE49-F238E27FC236}">
                    <a16:creationId xmlns:a16="http://schemas.microsoft.com/office/drawing/2014/main" id="{24BD1C8D-B0A2-0742-A7E0-60316528E769}"/>
                  </a:ext>
                </a:extLst>
              </p:cNvPr>
              <p:cNvSpPr txBox="1">
                <a:spLocks noRot="1" noChangeAspect="1" noMove="1" noResize="1" noEditPoints="1" noAdjustHandles="1" noChangeArrowheads="1" noChangeShapeType="1" noTextEdit="1"/>
              </p:cNvSpPr>
              <p:nvPr/>
            </p:nvSpPr>
            <p:spPr>
              <a:xfrm>
                <a:off x="5718940" y="2769969"/>
                <a:ext cx="1678408" cy="503792"/>
              </a:xfrm>
              <a:prstGeom prst="rect">
                <a:avLst/>
              </a:prstGeom>
              <a:blipFill>
                <a:blip r:embed="rId5"/>
                <a:stretch>
                  <a:fillRect l="-3759" b="-48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883FA462-0A05-0143-B008-8C41DACDC8B7}"/>
                  </a:ext>
                </a:extLst>
              </p:cNvPr>
              <p:cNvSpPr txBox="1"/>
              <p:nvPr/>
            </p:nvSpPr>
            <p:spPr>
              <a:xfrm>
                <a:off x="496270" y="3587165"/>
                <a:ext cx="10857530" cy="1329082"/>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where k</a:t>
                </a:r>
                <a:r>
                  <a:rPr lang="en-US" baseline="-25000" dirty="0">
                    <a:latin typeface="Arial" panose="020B0604020202020204" pitchFamily="34" charset="0"/>
                    <a:cs typeface="Arial" panose="020B0604020202020204" pitchFamily="34" charset="0"/>
                  </a:rPr>
                  <a:t>c</a:t>
                </a:r>
                <a:r>
                  <a:rPr lang="en-US" dirty="0">
                    <a:latin typeface="Arial" panose="020B0604020202020204" pitchFamily="34" charset="0"/>
                    <a:cs typeface="Arial" panose="020B0604020202020204" pitchFamily="34" charset="0"/>
                  </a:rPr>
                  <a:t> is a composite roughness height. </a:t>
                </a:r>
              </a:p>
              <a:p>
                <a:pPr algn="l">
                  <a:lnSpc>
                    <a:spcPct val="114000"/>
                  </a:lnSpc>
                </a:pPr>
                <a:r>
                  <a:rPr lang="en-US" dirty="0">
                    <a:latin typeface="Arial" panose="020B0604020202020204" pitchFamily="34" charset="0"/>
                    <a:cs typeface="Arial" panose="020B0604020202020204" pitchFamily="34" charset="0"/>
                  </a:rPr>
                  <a:t>If bedforms are absent k</a:t>
                </a:r>
                <a:r>
                  <a:rPr lang="en-US" baseline="-25000" dirty="0">
                    <a:latin typeface="Arial" panose="020B0604020202020204" pitchFamily="34" charset="0"/>
                    <a:cs typeface="Arial" panose="020B0604020202020204" pitchFamily="34" charset="0"/>
                  </a:rPr>
                  <a:t>c</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k</a:t>
                </a:r>
                <a:r>
                  <a:rPr lang="en-US" baseline="-25000" dirty="0" err="1">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 n</a:t>
                </a:r>
                <a:r>
                  <a:rPr lang="en-US" baseline="-25000" dirty="0">
                    <a:latin typeface="Arial" panose="020B0604020202020204" pitchFamily="34" charset="0"/>
                    <a:cs typeface="Arial" panose="020B0604020202020204" pitchFamily="34" charset="0"/>
                  </a:rPr>
                  <a:t>k</a:t>
                </a:r>
                <a:r>
                  <a:rPr lang="en-US" dirty="0">
                    <a:latin typeface="Arial" panose="020B0604020202020204" pitchFamily="34" charset="0"/>
                    <a:cs typeface="Arial" panose="020B0604020202020204" pitchFamily="34" charset="0"/>
                  </a:rPr>
                  <a:t>D</a:t>
                </a:r>
                <a:r>
                  <a:rPr lang="en-US" baseline="-25000" dirty="0">
                    <a:latin typeface="Arial" panose="020B0604020202020204" pitchFamily="34" charset="0"/>
                    <a:cs typeface="Arial" panose="020B0604020202020204" pitchFamily="34" charset="0"/>
                  </a:rPr>
                  <a:t>s90</a:t>
                </a:r>
                <a:r>
                  <a:rPr lang="en-US" dirty="0">
                    <a:latin typeface="Arial" panose="020B0604020202020204" pitchFamily="34" charset="0"/>
                    <a:cs typeface="Arial" panose="020B0604020202020204" pitchFamily="34" charset="0"/>
                  </a:rPr>
                  <a:t>. </a:t>
                </a:r>
              </a:p>
              <a:p>
                <a:pPr algn="l">
                  <a:lnSpc>
                    <a:spcPct val="114000"/>
                  </a:lnSpc>
                </a:pPr>
                <a:r>
                  <a:rPr lang="en-US" dirty="0">
                    <a:latin typeface="Arial" panose="020B0604020202020204" pitchFamily="34" charset="0"/>
                    <a:cs typeface="Arial" panose="020B0604020202020204" pitchFamily="34" charset="0"/>
                  </a:rPr>
                  <a:t>If bedforms are present, the total friction coefficient C</a:t>
                </a:r>
                <a:r>
                  <a:rPr lang="en-US" baseline="-25000" dirty="0">
                    <a:latin typeface="Arial" panose="020B0604020202020204" pitchFamily="34" charset="0"/>
                    <a:cs typeface="Arial" panose="020B0604020202020204" pitchFamily="34" charset="0"/>
                  </a:rPr>
                  <a:t>f</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C</a:t>
                </a:r>
                <a:r>
                  <a:rPr lang="en-US" baseline="-25000" dirty="0" err="1">
                    <a:latin typeface="Arial" panose="020B0604020202020204" pitchFamily="34" charset="0"/>
                    <a:cs typeface="Arial" panose="020B0604020202020204" pitchFamily="34" charset="0"/>
                  </a:rPr>
                  <a:t>fs</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C</a:t>
                </a:r>
                <a:r>
                  <a:rPr lang="en-US" baseline="-25000" dirty="0" err="1">
                    <a:latin typeface="Arial" panose="020B0604020202020204" pitchFamily="34" charset="0"/>
                    <a:cs typeface="Arial" panose="020B0604020202020204" pitchFamily="34" charset="0"/>
                  </a:rPr>
                  <a:t>ff</a:t>
                </a:r>
                <a:r>
                  <a:rPr lang="en-US" dirty="0">
                    <a:latin typeface="Arial" panose="020B0604020202020204" pitchFamily="34" charset="0"/>
                    <a:cs typeface="Arial" panose="020B0604020202020204" pitchFamily="34" charset="0"/>
                  </a:rPr>
                  <a:t> may be evaluated from field data or a resistance predictor and k</a:t>
                </a:r>
                <a14:m>
                  <m:oMath xmlns:m="http://schemas.openxmlformats.org/officeDocument/2006/math">
                    <m:r>
                      <a:rPr lang="en-US" i="1" baseline="-25000" dirty="0" smtClean="0">
                        <a:latin typeface="Cambria Math" panose="02040503050406030204" pitchFamily="18" charset="0"/>
                        <a:cs typeface="Arial" panose="020B0604020202020204" pitchFamily="34" charset="0"/>
                      </a:rPr>
                      <m:t>𝑐</m:t>
                    </m:r>
                  </m:oMath>
                </a14:m>
                <a:r>
                  <a:rPr lang="en-US" dirty="0">
                    <a:latin typeface="Arial" panose="020B0604020202020204" pitchFamily="34" charset="0"/>
                    <a:cs typeface="Arial" panose="020B0604020202020204" pitchFamily="34" charset="0"/>
                  </a:rPr>
                  <a:t> can be back calculated from e.g.</a:t>
                </a:r>
              </a:p>
            </p:txBody>
          </p:sp>
        </mc:Choice>
        <mc:Fallback xmlns="">
          <p:sp>
            <p:nvSpPr>
              <p:cNvPr id="25" name="TextBox 24">
                <a:extLst>
                  <a:ext uri="{FF2B5EF4-FFF2-40B4-BE49-F238E27FC236}">
                    <a16:creationId xmlns:a16="http://schemas.microsoft.com/office/drawing/2014/main" id="{883FA462-0A05-0143-B008-8C41DACDC8B7}"/>
                  </a:ext>
                </a:extLst>
              </p:cNvPr>
              <p:cNvSpPr txBox="1">
                <a:spLocks noRot="1" noChangeAspect="1" noMove="1" noResize="1" noEditPoints="1" noAdjustHandles="1" noChangeArrowheads="1" noChangeShapeType="1" noTextEdit="1"/>
              </p:cNvSpPr>
              <p:nvPr/>
            </p:nvSpPr>
            <p:spPr>
              <a:xfrm>
                <a:off x="496270" y="3587165"/>
                <a:ext cx="10857530" cy="1329082"/>
              </a:xfrm>
              <a:prstGeom prst="rect">
                <a:avLst/>
              </a:prstGeom>
              <a:blipFill>
                <a:blip r:embed="rId6"/>
                <a:stretch>
                  <a:fillRect l="-350" t="-1905"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9E7F10A-2766-9F46-9ED7-B2D0815878E9}"/>
                  </a:ext>
                </a:extLst>
              </p:cNvPr>
              <p:cNvSpPr txBox="1"/>
              <p:nvPr/>
            </p:nvSpPr>
            <p:spPr>
              <a:xfrm>
                <a:off x="1748439" y="5299442"/>
                <a:ext cx="2484719" cy="725840"/>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𝐶𝑧</m:t>
                      </m:r>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1</m:t>
                          </m:r>
                        </m:num>
                        <m:den>
                          <m:rad>
                            <m:radPr>
                              <m:degHide m:val="on"/>
                              <m:ctrlPr>
                                <a:rPr lang="en-US" b="0" i="1" smtClean="0">
                                  <a:latin typeface="Cambria Math" panose="02040503050406030204" pitchFamily="18" charset="0"/>
                                  <a:cs typeface="Arial" panose="020B0604020202020204" pitchFamily="34" charset="0"/>
                                </a:rPr>
                              </m:ctrlPr>
                            </m:radPr>
                            <m:deg/>
                            <m:e>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𝐶</m:t>
                                  </m:r>
                                </m:e>
                                <m:sub>
                                  <m:r>
                                    <a:rPr lang="en-US" b="0" i="1" smtClean="0">
                                      <a:latin typeface="Cambria Math" panose="02040503050406030204" pitchFamily="18" charset="0"/>
                                      <a:cs typeface="Arial" panose="020B0604020202020204" pitchFamily="34" charset="0"/>
                                    </a:rPr>
                                    <m:t>𝑓</m:t>
                                  </m:r>
                                </m:sub>
                              </m:sSub>
                            </m:e>
                          </m:rad>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1</m:t>
                          </m:r>
                        </m:num>
                        <m:den>
                          <m:r>
                            <a:rPr lang="en-US" b="0" i="1" smtClean="0">
                              <a:latin typeface="Cambria Math" panose="02040503050406030204" pitchFamily="18" charset="0"/>
                              <a:ea typeface="Cambria Math" panose="02040503050406030204" pitchFamily="18" charset="0"/>
                              <a:cs typeface="Arial" panose="020B0604020202020204" pitchFamily="34" charset="0"/>
                            </a:rPr>
                            <m:t>𝜅</m:t>
                          </m:r>
                        </m:den>
                      </m:f>
                      <m:r>
                        <a:rPr lang="en-US" b="0" i="1" smtClean="0">
                          <a:latin typeface="Cambria Math" panose="02040503050406030204" pitchFamily="18" charset="0"/>
                          <a:cs typeface="Arial" panose="020B0604020202020204" pitchFamily="34" charset="0"/>
                        </a:rPr>
                        <m:t>𝑙𝑛</m:t>
                      </m:r>
                      <m:d>
                        <m:dPr>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11</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𝐻</m:t>
                              </m:r>
                            </m:num>
                            <m:den>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𝑘</m:t>
                                  </m:r>
                                </m:e>
                                <m:sub>
                                  <m:r>
                                    <a:rPr lang="en-US" b="0" i="1" smtClean="0">
                                      <a:latin typeface="Cambria Math" panose="02040503050406030204" pitchFamily="18" charset="0"/>
                                      <a:cs typeface="Arial" panose="020B0604020202020204" pitchFamily="34" charset="0"/>
                                    </a:rPr>
                                    <m:t>𝑐</m:t>
                                  </m:r>
                                </m:sub>
                              </m:sSub>
                            </m:den>
                          </m:f>
                        </m:e>
                      </m:d>
                    </m:oMath>
                  </m:oMathPara>
                </a14:m>
                <a:endParaRPr lang="en-US" dirty="0">
                  <a:latin typeface="Arial" panose="020B0604020202020204" pitchFamily="34" charset="0"/>
                  <a:cs typeface="Arial" panose="020B0604020202020204" pitchFamily="34" charset="0"/>
                </a:endParaRPr>
              </a:p>
            </p:txBody>
          </p:sp>
        </mc:Choice>
        <mc:Fallback xmlns="">
          <p:sp>
            <p:nvSpPr>
              <p:cNvPr id="12" name="TextBox 11">
                <a:extLst>
                  <a:ext uri="{FF2B5EF4-FFF2-40B4-BE49-F238E27FC236}">
                    <a16:creationId xmlns:a16="http://schemas.microsoft.com/office/drawing/2014/main" id="{E9E7F10A-2766-9F46-9ED7-B2D0815878E9}"/>
                  </a:ext>
                </a:extLst>
              </p:cNvPr>
              <p:cNvSpPr txBox="1">
                <a:spLocks noRot="1" noChangeAspect="1" noMove="1" noResize="1" noEditPoints="1" noAdjustHandles="1" noChangeArrowheads="1" noChangeShapeType="1" noTextEdit="1"/>
              </p:cNvSpPr>
              <p:nvPr/>
            </p:nvSpPr>
            <p:spPr>
              <a:xfrm>
                <a:off x="1748439" y="5299442"/>
                <a:ext cx="2484719" cy="725840"/>
              </a:xfrm>
              <a:prstGeom prst="rect">
                <a:avLst/>
              </a:prstGeom>
              <a:blipFill>
                <a:blip r:embed="rId7"/>
                <a:stretch>
                  <a:fillRect l="-1523" b="-86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419D3B6-A4C4-D540-8135-B84E354C55D7}"/>
                  </a:ext>
                </a:extLst>
              </p:cNvPr>
              <p:cNvSpPr txBox="1"/>
              <p:nvPr/>
            </p:nvSpPr>
            <p:spPr>
              <a:xfrm>
                <a:off x="5768636" y="5336283"/>
                <a:ext cx="1518108" cy="646459"/>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𝑘</m:t>
                          </m:r>
                        </m:e>
                        <m:sub>
                          <m:r>
                            <a:rPr lang="en-US" b="0" i="1" smtClean="0">
                              <a:latin typeface="Cambria Math" panose="02040503050406030204" pitchFamily="18" charset="0"/>
                              <a:cs typeface="Arial" panose="020B0604020202020204" pitchFamily="34" charset="0"/>
                            </a:rPr>
                            <m:t>𝑐</m:t>
                          </m:r>
                        </m:sub>
                      </m:sSub>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11</m:t>
                          </m:r>
                          <m:r>
                            <a:rPr lang="en-US" b="0" i="1" smtClean="0">
                              <a:latin typeface="Cambria Math" panose="02040503050406030204" pitchFamily="18" charset="0"/>
                              <a:cs typeface="Arial" panose="020B0604020202020204" pitchFamily="34" charset="0"/>
                            </a:rPr>
                            <m:t>𝐻</m:t>
                          </m:r>
                        </m:num>
                        <m:den>
                          <m:r>
                            <a:rPr lang="en-US" b="0" i="1" smtClean="0">
                              <a:latin typeface="Cambria Math" panose="02040503050406030204" pitchFamily="18" charset="0"/>
                              <a:cs typeface="Arial" panose="020B0604020202020204" pitchFamily="34" charset="0"/>
                            </a:rPr>
                            <m:t>𝑒𝑥𝑝</m:t>
                          </m:r>
                          <m:d>
                            <m:dPr>
                              <m:begChr m:val="{"/>
                              <m:endChr m:val="}"/>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ea typeface="Cambria Math" panose="02040503050406030204" pitchFamily="18" charset="0"/>
                                  <a:cs typeface="Arial" panose="020B0604020202020204" pitchFamily="34" charset="0"/>
                                </a:rPr>
                                <m:t>𝜅</m:t>
                              </m:r>
                              <m:r>
                                <a:rPr lang="en-US" b="0" i="1" smtClean="0">
                                  <a:latin typeface="Cambria Math" panose="02040503050406030204" pitchFamily="18" charset="0"/>
                                  <a:ea typeface="Cambria Math" panose="02040503050406030204" pitchFamily="18" charset="0"/>
                                  <a:cs typeface="Arial" panose="020B0604020202020204" pitchFamily="34" charset="0"/>
                                </a:rPr>
                                <m:t>𝐶𝑧</m:t>
                              </m:r>
                            </m:e>
                          </m:d>
                        </m:den>
                      </m:f>
                    </m:oMath>
                  </m:oMathPara>
                </a14:m>
                <a:endParaRPr lang="en-US" dirty="0">
                  <a:latin typeface="Arial" panose="020B0604020202020204" pitchFamily="34" charset="0"/>
                  <a:cs typeface="Arial" panose="020B0604020202020204" pitchFamily="34" charset="0"/>
                </a:endParaRPr>
              </a:p>
            </p:txBody>
          </p:sp>
        </mc:Choice>
        <mc:Fallback xmlns="">
          <p:sp>
            <p:nvSpPr>
              <p:cNvPr id="26" name="TextBox 25">
                <a:extLst>
                  <a:ext uri="{FF2B5EF4-FFF2-40B4-BE49-F238E27FC236}">
                    <a16:creationId xmlns:a16="http://schemas.microsoft.com/office/drawing/2014/main" id="{A419D3B6-A4C4-D540-8135-B84E354C55D7}"/>
                  </a:ext>
                </a:extLst>
              </p:cNvPr>
              <p:cNvSpPr txBox="1">
                <a:spLocks noRot="1" noChangeAspect="1" noMove="1" noResize="1" noEditPoints="1" noAdjustHandles="1" noChangeArrowheads="1" noChangeShapeType="1" noTextEdit="1"/>
              </p:cNvSpPr>
              <p:nvPr/>
            </p:nvSpPr>
            <p:spPr>
              <a:xfrm>
                <a:off x="5768636" y="5336283"/>
                <a:ext cx="1518108" cy="646459"/>
              </a:xfrm>
              <a:prstGeom prst="rect">
                <a:avLst/>
              </a:prstGeom>
              <a:blipFill>
                <a:blip r:embed="rId8"/>
                <a:stretch>
                  <a:fillRect l="-3333" b="-15686"/>
                </a:stretch>
              </a:blipFill>
            </p:spPr>
            <p:txBody>
              <a:bodyPr/>
              <a:lstStyle/>
              <a:p>
                <a:r>
                  <a:rPr lang="en-US">
                    <a:noFill/>
                  </a:rPr>
                  <a:t> </a:t>
                </a:r>
              </a:p>
            </p:txBody>
          </p:sp>
        </mc:Fallback>
      </mc:AlternateContent>
    </p:spTree>
    <p:extLst>
      <p:ext uri="{BB962C8B-B14F-4D97-AF65-F5344CB8AC3E}">
        <p14:creationId xmlns:p14="http://schemas.microsoft.com/office/powerpoint/2010/main" val="5415660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58</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383626" y="136525"/>
            <a:ext cx="1143593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Calculation of suspended sediment transport rate</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77C4F74-D4DD-BC4E-A89D-35BA6C04924B}"/>
                  </a:ext>
                </a:extLst>
              </p:cNvPr>
              <p:cNvSpPr txBox="1"/>
              <p:nvPr/>
            </p:nvSpPr>
            <p:spPr>
              <a:xfrm>
                <a:off x="383626" y="817980"/>
                <a:ext cx="10770020" cy="718210"/>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Recalling that </a:t>
                </a:r>
                <a:r>
                  <a:rPr lang="en-US" dirty="0">
                    <a:latin typeface="Symbol" pitchFamily="2" charset="2"/>
                    <a:cs typeface="Arial" panose="020B0604020202020204" pitchFamily="34" charset="0"/>
                  </a:rPr>
                  <a:t>z</a:t>
                </a:r>
                <a:r>
                  <a:rPr lang="en-US" dirty="0">
                    <a:latin typeface="Arial" panose="020B0604020202020204" pitchFamily="34" charset="0"/>
                    <a:cs typeface="Arial" panose="020B0604020202020204" pitchFamily="34" charset="0"/>
                  </a:rPr>
                  <a:t> = z/H, the volume suspended sediment transport rate per unit channel width </a:t>
                </a:r>
                <a:r>
                  <a:rPr lang="en-US" dirty="0" err="1">
                    <a:latin typeface="Arial" panose="020B0604020202020204" pitchFamily="34" charset="0"/>
                    <a:cs typeface="Arial" panose="020B0604020202020204" pitchFamily="34" charset="0"/>
                  </a:rPr>
                  <a:t>q</a:t>
                </a:r>
                <a:r>
                  <a:rPr lang="en-US" baseline="-25000" dirty="0" err="1">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for the case of equilibrium suspension (</a:t>
                </a: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𝑐</m:t>
                            </m:r>
                          </m:e>
                          <m:sub>
                            <m:r>
                              <a:rPr lang="en-US" b="0" i="1" smtClean="0">
                                <a:latin typeface="Cambria Math" panose="02040503050406030204" pitchFamily="18" charset="0"/>
                                <a:cs typeface="Arial" panose="020B0604020202020204" pitchFamily="34" charset="0"/>
                              </a:rPr>
                              <m:t>𝑏</m:t>
                            </m:r>
                          </m:sub>
                        </m:sSub>
                      </m:e>
                    </m:acc>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𝐸</m:t>
                    </m:r>
                  </m:oMath>
                </a14:m>
                <a:r>
                  <a:rPr lang="en-US" dirty="0">
                    <a:latin typeface="Arial" panose="020B0604020202020204" pitchFamily="34" charset="0"/>
                    <a:cs typeface="Arial" panose="020B0604020202020204" pitchFamily="34" charset="0"/>
                  </a:rPr>
                  <a:t>) is computed as</a:t>
                </a:r>
              </a:p>
            </p:txBody>
          </p:sp>
        </mc:Choice>
        <mc:Fallback xmlns="">
          <p:sp>
            <p:nvSpPr>
              <p:cNvPr id="7" name="TextBox 6">
                <a:extLst>
                  <a:ext uri="{FF2B5EF4-FFF2-40B4-BE49-F238E27FC236}">
                    <a16:creationId xmlns:a16="http://schemas.microsoft.com/office/drawing/2014/main" id="{F77C4F74-D4DD-BC4E-A89D-35BA6C04924B}"/>
                  </a:ext>
                </a:extLst>
              </p:cNvPr>
              <p:cNvSpPr txBox="1">
                <a:spLocks noRot="1" noChangeAspect="1" noMove="1" noResize="1" noEditPoints="1" noAdjustHandles="1" noChangeArrowheads="1" noChangeShapeType="1" noTextEdit="1"/>
              </p:cNvSpPr>
              <p:nvPr/>
            </p:nvSpPr>
            <p:spPr>
              <a:xfrm>
                <a:off x="383626" y="817980"/>
                <a:ext cx="10770020" cy="718210"/>
              </a:xfrm>
              <a:prstGeom prst="rect">
                <a:avLst/>
              </a:prstGeom>
              <a:blipFill>
                <a:blip r:embed="rId3"/>
                <a:stretch>
                  <a:fillRect l="-471" t="-3509" b="-105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76008BB-186C-984B-9AD8-618732D42B8D}"/>
                  </a:ext>
                </a:extLst>
              </p:cNvPr>
              <p:cNvSpPr txBox="1"/>
              <p:nvPr/>
            </p:nvSpPr>
            <p:spPr>
              <a:xfrm>
                <a:off x="471296" y="1651031"/>
                <a:ext cx="7064691" cy="624915"/>
              </a:xfrm>
              <a:prstGeom prst="rect">
                <a:avLst/>
              </a:prstGeom>
              <a:noFill/>
            </p:spPr>
            <p:txBody>
              <a:bodyPr wrap="none" lIns="0" tIns="0" rIns="0" bIns="0" rtlCol="0">
                <a:spAutoFit/>
              </a:bodyPr>
              <a:lstStyle/>
              <a:p>
                <a:pPr>
                  <a:lnSpc>
                    <a:spcPct val="114000"/>
                  </a:lnSpc>
                </a:pPr>
                <a14:m>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𝑞</m:t>
                        </m:r>
                      </m:e>
                      <m:sub>
                        <m:r>
                          <a:rPr lang="en-US" b="0" i="1" smtClean="0">
                            <a:latin typeface="Cambria Math" panose="02040503050406030204" pitchFamily="18" charset="0"/>
                            <a:cs typeface="Arial" panose="020B0604020202020204" pitchFamily="34" charset="0"/>
                          </a:rPr>
                          <m:t>𝑠</m:t>
                        </m:r>
                      </m:sub>
                    </m:sSub>
                    <m:r>
                      <a:rPr lang="en-US" b="0" i="1" smtClean="0">
                        <a:latin typeface="Cambria Math" panose="02040503050406030204" pitchFamily="18" charset="0"/>
                        <a:cs typeface="Arial" panose="020B0604020202020204" pitchFamily="34" charset="0"/>
                      </a:rPr>
                      <m:t>=</m:t>
                    </m:r>
                    <m:nary>
                      <m:naryPr>
                        <m:limLoc m:val="undOvr"/>
                        <m:ctrlPr>
                          <a:rPr lang="en-US" i="1">
                            <a:latin typeface="Cambria Math" panose="02040503050406030204" pitchFamily="18" charset="0"/>
                            <a:cs typeface="Arial" panose="020B0604020202020204" pitchFamily="34" charset="0"/>
                          </a:rPr>
                        </m:ctrlPr>
                      </m:naryPr>
                      <m:sub>
                        <m:r>
                          <a:rPr lang="en-US" b="0" i="1" smtClean="0">
                            <a:latin typeface="Cambria Math" panose="02040503050406030204" pitchFamily="18" charset="0"/>
                            <a:cs typeface="Arial" panose="020B0604020202020204" pitchFamily="34" charset="0"/>
                          </a:rPr>
                          <m:t>𝑏</m:t>
                        </m:r>
                      </m:sub>
                      <m:sup>
                        <m:r>
                          <a:rPr lang="en-US" i="1">
                            <a:latin typeface="Cambria Math" panose="02040503050406030204" pitchFamily="18" charset="0"/>
                            <a:cs typeface="Arial" panose="020B0604020202020204" pitchFamily="34" charset="0"/>
                          </a:rPr>
                          <m:t>𝐻</m:t>
                        </m:r>
                      </m:sup>
                      <m:e>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𝑢</m:t>
                            </m:r>
                          </m:e>
                        </m:acc>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r>
                          <a:rPr lang="en-US" i="1">
                            <a:latin typeface="Cambria Math" panose="02040503050406030204" pitchFamily="18" charset="0"/>
                            <a:cs typeface="Arial" panose="020B0604020202020204" pitchFamily="34" charset="0"/>
                          </a:rPr>
                          <m:t>𝑑𝑧</m:t>
                        </m:r>
                      </m:e>
                    </m:nary>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𝐸</m:t>
                    </m:r>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𝑢</m:t>
                            </m:r>
                          </m:e>
                          <m:sub>
                            <m:r>
                              <a:rPr lang="en-US" i="1">
                                <a:latin typeface="Cambria Math" panose="02040503050406030204" pitchFamily="18" charset="0"/>
                                <a:cs typeface="Arial" panose="020B0604020202020204" pitchFamily="34" charset="0"/>
                              </a:rPr>
                              <m:t>∗</m:t>
                            </m:r>
                          </m:sub>
                        </m:sSub>
                        <m:r>
                          <a:rPr lang="en-US" b="0" i="1" smtClean="0">
                            <a:latin typeface="Cambria Math" panose="02040503050406030204" pitchFamily="18" charset="0"/>
                            <a:cs typeface="Arial" panose="020B0604020202020204" pitchFamily="34" charset="0"/>
                          </a:rPr>
                          <m:t>𝐻</m:t>
                        </m:r>
                      </m:num>
                      <m:den>
                        <m:r>
                          <a:rPr lang="en-US" i="1">
                            <a:latin typeface="Cambria Math" panose="02040503050406030204" pitchFamily="18" charset="0"/>
                            <a:ea typeface="Cambria Math" panose="02040503050406030204" pitchFamily="18" charset="0"/>
                            <a:cs typeface="Arial" panose="020B0604020202020204" pitchFamily="34" charset="0"/>
                          </a:rPr>
                          <m:t>𝜅</m:t>
                        </m:r>
                      </m:den>
                    </m:f>
                    <m:nary>
                      <m:naryPr>
                        <m:limLoc m:val="undOvr"/>
                        <m:ctrlPr>
                          <a:rPr lang="en-US" i="1">
                            <a:latin typeface="Cambria Math" panose="02040503050406030204" pitchFamily="18" charset="0"/>
                            <a:cs typeface="Arial" panose="020B0604020202020204" pitchFamily="34" charset="0"/>
                          </a:rPr>
                        </m:ctrlPr>
                      </m:naryPr>
                      <m:sub>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𝜁</m:t>
                            </m:r>
                          </m:e>
                          <m:sub>
                            <m:r>
                              <a:rPr lang="en-US" b="0" i="1" smtClean="0">
                                <a:latin typeface="Cambria Math" panose="02040503050406030204" pitchFamily="18" charset="0"/>
                                <a:cs typeface="Arial" panose="020B0604020202020204" pitchFamily="34" charset="0"/>
                              </a:rPr>
                              <m:t>𝑏</m:t>
                            </m:r>
                          </m:sub>
                        </m:sSub>
                      </m:sub>
                      <m:sup>
                        <m:r>
                          <a:rPr lang="en-US" b="0" i="1" smtClean="0">
                            <a:latin typeface="Cambria Math" panose="02040503050406030204" pitchFamily="18" charset="0"/>
                            <a:cs typeface="Arial" panose="020B0604020202020204" pitchFamily="34" charset="0"/>
                          </a:rPr>
                          <m:t>1</m:t>
                        </m:r>
                      </m:sup>
                      <m:e>
                        <m:sSup>
                          <m:sSupPr>
                            <m:ctrlPr>
                              <a:rPr lang="en-US" i="1">
                                <a:latin typeface="Cambria Math" panose="02040503050406030204" pitchFamily="18" charset="0"/>
                                <a:cs typeface="Arial" panose="020B0604020202020204" pitchFamily="34" charset="0"/>
                              </a:rPr>
                            </m:ctrlPr>
                          </m:sSupPr>
                          <m:e>
                            <m:d>
                              <m:dPr>
                                <m:begChr m:val="["/>
                                <m:endChr m:val="]"/>
                                <m:ctrlPr>
                                  <a:rPr lang="en-US" i="1">
                                    <a:latin typeface="Cambria Math" panose="02040503050406030204" pitchFamily="18" charset="0"/>
                                    <a:cs typeface="Arial" panose="020B0604020202020204" pitchFamily="34" charset="0"/>
                                  </a:rPr>
                                </m:ctrlPr>
                              </m:dPr>
                              <m:e>
                                <m:f>
                                  <m:fPr>
                                    <m:ctrlPr>
                                      <a:rPr lang="en-US" i="1">
                                        <a:latin typeface="Cambria Math" panose="02040503050406030204" pitchFamily="18" charset="0"/>
                                        <a:cs typeface="Arial" panose="020B0604020202020204" pitchFamily="34" charset="0"/>
                                      </a:rPr>
                                    </m:ctrlPr>
                                  </m:fPr>
                                  <m:num>
                                    <m:d>
                                      <m:dPr>
                                        <m:ctrlPr>
                                          <a:rPr lang="en-US" i="1">
                                            <a:latin typeface="Cambria Math" panose="02040503050406030204" pitchFamily="18" charset="0"/>
                                            <a:cs typeface="Arial" panose="020B0604020202020204" pitchFamily="34" charset="0"/>
                                          </a:rPr>
                                        </m:ctrlPr>
                                      </m:dPr>
                                      <m:e>
                                        <m:r>
                                          <a:rPr lang="en-US" i="1">
                                            <a:latin typeface="Cambria Math" panose="02040503050406030204" pitchFamily="18" charset="0"/>
                                            <a:ea typeface="Cambria Math" panose="02040503050406030204" pitchFamily="18" charset="0"/>
                                            <a:cs typeface="Arial" panose="020B0604020202020204" pitchFamily="34" charset="0"/>
                                          </a:rPr>
                                          <m:t>1−</m:t>
                                        </m:r>
                                        <m:r>
                                          <a:rPr lang="en-US" i="1">
                                            <a:latin typeface="Cambria Math" panose="02040503050406030204" pitchFamily="18" charset="0"/>
                                            <a:ea typeface="Cambria Math" panose="02040503050406030204" pitchFamily="18" charset="0"/>
                                            <a:cs typeface="Arial" panose="020B0604020202020204" pitchFamily="34" charset="0"/>
                                          </a:rPr>
                                          <m:t>𝜁</m:t>
                                        </m:r>
                                      </m:e>
                                    </m:d>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𝜁</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num>
                                  <m:den>
                                    <m:d>
                                      <m:dPr>
                                        <m:ctrlPr>
                                          <a:rPr lang="en-US" i="1">
                                            <a:latin typeface="Cambria Math" panose="02040503050406030204" pitchFamily="18" charset="0"/>
                                            <a:cs typeface="Arial" panose="020B0604020202020204" pitchFamily="34" charset="0"/>
                                          </a:rPr>
                                        </m:ctrlPr>
                                      </m:dPr>
                                      <m:e>
                                        <m:r>
                                          <a:rPr lang="en-US" i="1">
                                            <a:latin typeface="Cambria Math" panose="02040503050406030204" pitchFamily="18" charset="0"/>
                                            <a:ea typeface="Cambria Math" panose="02040503050406030204" pitchFamily="18" charset="0"/>
                                            <a:cs typeface="Arial" panose="020B0604020202020204" pitchFamily="34" charset="0"/>
                                          </a:rPr>
                                          <m:t>1−</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𝜁</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e>
                                    </m:d>
                                    <m:r>
                                      <a:rPr lang="en-US" i="1">
                                        <a:latin typeface="Cambria Math" panose="02040503050406030204" pitchFamily="18" charset="0"/>
                                        <a:ea typeface="Cambria Math" panose="02040503050406030204" pitchFamily="18" charset="0"/>
                                        <a:cs typeface="Arial" panose="020B0604020202020204" pitchFamily="34" charset="0"/>
                                      </a:rPr>
                                      <m:t>𝜁</m:t>
                                    </m:r>
                                  </m:den>
                                </m:f>
                              </m:e>
                            </m:d>
                          </m:e>
                          <m:sup>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num>
                              <m:den>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den>
                            </m:f>
                          </m:sup>
                        </m:sSup>
                        <m:r>
                          <a:rPr lang="en-US" i="1">
                            <a:latin typeface="Cambria Math" panose="02040503050406030204" pitchFamily="18" charset="0"/>
                            <a:cs typeface="Arial" panose="020B0604020202020204" pitchFamily="34" charset="0"/>
                          </a:rPr>
                          <m:t>𝑙𝑛</m:t>
                        </m:r>
                        <m:d>
                          <m:dPr>
                            <m:ctrlPr>
                              <a:rPr lang="en-US" i="1">
                                <a:latin typeface="Cambria Math" panose="02040503050406030204" pitchFamily="18" charset="0"/>
                                <a:cs typeface="Arial" panose="020B0604020202020204" pitchFamily="34" charset="0"/>
                              </a:rPr>
                            </m:ctrlPr>
                          </m:dPr>
                          <m:e>
                            <m:r>
                              <a:rPr lang="en-US" i="1">
                                <a:latin typeface="Cambria Math" panose="02040503050406030204" pitchFamily="18" charset="0"/>
                                <a:cs typeface="Arial" panose="020B0604020202020204" pitchFamily="34" charset="0"/>
                              </a:rPr>
                              <m:t>30</m:t>
                            </m:r>
                            <m:f>
                              <m:fPr>
                                <m:ctrlPr>
                                  <a:rPr lang="en-US" i="1">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𝐻</m:t>
                                </m:r>
                              </m:num>
                              <m:den>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𝑘</m:t>
                                    </m:r>
                                  </m:e>
                                  <m:sub>
                                    <m:r>
                                      <a:rPr lang="en-US" i="1">
                                        <a:latin typeface="Cambria Math" panose="02040503050406030204" pitchFamily="18" charset="0"/>
                                        <a:cs typeface="Arial" panose="020B0604020202020204" pitchFamily="34" charset="0"/>
                                      </a:rPr>
                                      <m:t>𝑐</m:t>
                                    </m:r>
                                  </m:sub>
                                </m:sSub>
                              </m:den>
                            </m:f>
                            <m:r>
                              <a:rPr lang="en-US" i="1" smtClean="0">
                                <a:latin typeface="Cambria Math" panose="02040503050406030204" pitchFamily="18" charset="0"/>
                                <a:ea typeface="Cambria Math" panose="02040503050406030204" pitchFamily="18" charset="0"/>
                                <a:cs typeface="Arial" panose="020B0604020202020204" pitchFamily="34" charset="0"/>
                              </a:rPr>
                              <m:t>𝜁</m:t>
                            </m:r>
                          </m:e>
                        </m:d>
                        <m:r>
                          <a:rPr lang="en-US" b="0" i="1" smtClean="0">
                            <a:latin typeface="Cambria Math" panose="02040503050406030204" pitchFamily="18" charset="0"/>
                            <a:cs typeface="Arial" panose="020B0604020202020204" pitchFamily="34" charset="0"/>
                          </a:rPr>
                          <m:t>𝑑</m:t>
                        </m:r>
                        <m:r>
                          <a:rPr lang="en-US" b="0" i="1" smtClean="0">
                            <a:latin typeface="Cambria Math" panose="02040503050406030204" pitchFamily="18" charset="0"/>
                            <a:ea typeface="Cambria Math" panose="02040503050406030204" pitchFamily="18" charset="0"/>
                            <a:cs typeface="Arial" panose="020B0604020202020204" pitchFamily="34" charset="0"/>
                          </a:rPr>
                          <m:t>𝜁</m:t>
                        </m:r>
                      </m:e>
                    </m:nary>
                    <m:r>
                      <a:rPr lang="en-US" b="0" i="1" smtClean="0">
                        <a:latin typeface="Cambria Math" panose="02040503050406030204" pitchFamily="18" charset="0"/>
                        <a:cs typeface="Arial" panose="020B0604020202020204" pitchFamily="34" charset="0"/>
                      </a:rPr>
                      <m:t>=</m:t>
                    </m:r>
                    <m:r>
                      <a:rPr lang="en-US" i="1">
                        <a:latin typeface="Cambria Math" panose="02040503050406030204" pitchFamily="18" charset="0"/>
                        <a:cs typeface="Arial" panose="020B0604020202020204" pitchFamily="34" charset="0"/>
                      </a:rPr>
                      <m:t>𝐸</m:t>
                    </m:r>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𝑢</m:t>
                            </m:r>
                          </m:e>
                          <m:sub>
                            <m:r>
                              <a:rPr lang="en-US" i="1">
                                <a:latin typeface="Cambria Math" panose="02040503050406030204" pitchFamily="18" charset="0"/>
                                <a:cs typeface="Arial" panose="020B0604020202020204" pitchFamily="34" charset="0"/>
                              </a:rPr>
                              <m:t>∗</m:t>
                            </m:r>
                          </m:sub>
                        </m:sSub>
                        <m:r>
                          <a:rPr lang="en-US" i="1">
                            <a:latin typeface="Cambria Math" panose="02040503050406030204" pitchFamily="18" charset="0"/>
                            <a:cs typeface="Arial" panose="020B0604020202020204" pitchFamily="34" charset="0"/>
                          </a:rPr>
                          <m:t>𝐻</m:t>
                        </m:r>
                      </m:num>
                      <m:den>
                        <m:r>
                          <a:rPr lang="en-US" i="1">
                            <a:latin typeface="Cambria Math" panose="02040503050406030204" pitchFamily="18" charset="0"/>
                            <a:ea typeface="Cambria Math" panose="02040503050406030204" pitchFamily="18" charset="0"/>
                            <a:cs typeface="Arial" panose="020B0604020202020204" pitchFamily="34" charset="0"/>
                          </a:rPr>
                          <m:t>𝜅</m:t>
                        </m:r>
                      </m:den>
                    </m:f>
                    <m:r>
                      <m:rPr>
                        <m:sty m:val="p"/>
                      </m:rPr>
                      <a:rPr lang="en-US" b="0" i="0" smtClean="0">
                        <a:latin typeface="Cambria Math" panose="02040503050406030204" pitchFamily="18" charset="0"/>
                        <a:ea typeface="Cambria Math" panose="02040503050406030204" pitchFamily="18" charset="0"/>
                        <a:cs typeface="Arial" panose="020B0604020202020204" pitchFamily="34" charset="0"/>
                      </a:rPr>
                      <m:t>I</m:t>
                    </m:r>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b>
                                <m:r>
                                  <a:rPr lang="en-US" b="0" i="1" smtClean="0">
                                    <a:latin typeface="Cambria Math" panose="02040503050406030204" pitchFamily="18" charset="0"/>
                                    <a:ea typeface="Cambria Math" panose="02040503050406030204" pitchFamily="18" charset="0"/>
                                    <a:cs typeface="Arial" panose="020B0604020202020204" pitchFamily="34" charset="0"/>
                                  </a:rPr>
                                  <m:t>∗</m:t>
                                </m:r>
                              </m:sub>
                            </m:sSub>
                          </m:num>
                          <m:den>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𝑣</m:t>
                                </m:r>
                              </m:e>
                              <m:sub>
                                <m:r>
                                  <a:rPr lang="en-US" b="0" i="1" smtClean="0">
                                    <a:latin typeface="Cambria Math" panose="02040503050406030204" pitchFamily="18" charset="0"/>
                                    <a:ea typeface="Cambria Math" panose="02040503050406030204" pitchFamily="18" charset="0"/>
                                    <a:cs typeface="Arial" panose="020B0604020202020204" pitchFamily="34" charset="0"/>
                                  </a:rPr>
                                  <m:t>𝑠</m:t>
                                </m:r>
                              </m:sub>
                            </m:sSub>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𝐻</m:t>
                            </m:r>
                          </m:num>
                          <m:den>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𝑘</m:t>
                                </m:r>
                              </m:e>
                              <m:sub>
                                <m:r>
                                  <a:rPr lang="en-US" b="0" i="1" smtClean="0">
                                    <a:latin typeface="Cambria Math" panose="02040503050406030204" pitchFamily="18" charset="0"/>
                                    <a:ea typeface="Cambria Math" panose="02040503050406030204" pitchFamily="18" charset="0"/>
                                    <a:cs typeface="Arial" panose="020B0604020202020204" pitchFamily="34" charset="0"/>
                                  </a:rPr>
                                  <m:t>𝑐</m:t>
                                </m:r>
                              </m:sub>
                            </m:sSub>
                          </m:den>
                        </m:f>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𝜁</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sub>
                        </m:sSub>
                      </m:e>
                    </m:d>
                  </m:oMath>
                </a14:m>
                <a:r>
                  <a:rPr lang="en-US" dirty="0">
                    <a:latin typeface="Arial" panose="020B0604020202020204" pitchFamily="34" charset="0"/>
                    <a:cs typeface="Arial" panose="020B0604020202020204" pitchFamily="34" charset="0"/>
                  </a:rPr>
                  <a:t> </a:t>
                </a:r>
              </a:p>
            </p:txBody>
          </p:sp>
        </mc:Choice>
        <mc:Fallback xmlns="">
          <p:sp>
            <p:nvSpPr>
              <p:cNvPr id="2" name="TextBox 1">
                <a:extLst>
                  <a:ext uri="{FF2B5EF4-FFF2-40B4-BE49-F238E27FC236}">
                    <a16:creationId xmlns:a16="http://schemas.microsoft.com/office/drawing/2014/main" id="{176008BB-186C-984B-9AD8-618732D42B8D}"/>
                  </a:ext>
                </a:extLst>
              </p:cNvPr>
              <p:cNvSpPr txBox="1">
                <a:spLocks noRot="1" noChangeAspect="1" noMove="1" noResize="1" noEditPoints="1" noAdjustHandles="1" noChangeArrowheads="1" noChangeShapeType="1" noTextEdit="1"/>
              </p:cNvSpPr>
              <p:nvPr/>
            </p:nvSpPr>
            <p:spPr>
              <a:xfrm>
                <a:off x="471296" y="1651031"/>
                <a:ext cx="7064691" cy="624915"/>
              </a:xfrm>
              <a:prstGeom prst="rect">
                <a:avLst/>
              </a:prstGeom>
              <a:blipFill>
                <a:blip r:embed="rId4"/>
                <a:stretch>
                  <a:fillRect l="-1075" t="-52000" b="-118000"/>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28CCFF3A-6207-7146-A7C4-EE04695F437C}"/>
              </a:ext>
            </a:extLst>
          </p:cNvPr>
          <p:cNvSpPr txBox="1"/>
          <p:nvPr/>
        </p:nvSpPr>
        <p:spPr>
          <a:xfrm>
            <a:off x="471296" y="2527476"/>
            <a:ext cx="1834583"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where </a:t>
            </a: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CDFF37CD-5F89-FF4F-BDC7-C09BF77FA94A}"/>
                  </a:ext>
                </a:extLst>
              </p:cNvPr>
              <p:cNvSpPr/>
              <p:nvPr/>
            </p:nvSpPr>
            <p:spPr>
              <a:xfrm>
                <a:off x="551478" y="2959556"/>
                <a:ext cx="3452163" cy="657809"/>
              </a:xfrm>
              <a:prstGeom prst="rect">
                <a:avLst/>
              </a:prstGeom>
            </p:spPr>
            <p:txBody>
              <a:bodyPr wrap="none">
                <a:spAutoFit/>
              </a:bodyPr>
              <a:lstStyle/>
              <a:p>
                <a14:m>
                  <m:oMath xmlns:m="http://schemas.openxmlformats.org/officeDocument/2006/math">
                    <m:r>
                      <a:rPr lang="en-US" b="0" i="1" smtClean="0">
                        <a:latin typeface="Cambria Math" panose="02040503050406030204" pitchFamily="18" charset="0"/>
                        <a:cs typeface="Arial" panose="020B0604020202020204" pitchFamily="34" charset="0"/>
                      </a:rPr>
                      <m:t>𝐼</m:t>
                    </m:r>
                    <m:r>
                      <a:rPr lang="en-US" b="0" i="1" smtClean="0">
                        <a:latin typeface="Cambria Math" panose="02040503050406030204" pitchFamily="18" charset="0"/>
                        <a:cs typeface="Arial" panose="020B0604020202020204" pitchFamily="34" charset="0"/>
                      </a:rPr>
                      <m:t>=</m:t>
                    </m:r>
                    <m:nary>
                      <m:naryPr>
                        <m:limLoc m:val="undOvr"/>
                        <m:ctrlPr>
                          <a:rPr lang="en-US" i="1">
                            <a:latin typeface="Cambria Math" panose="02040503050406030204" pitchFamily="18" charset="0"/>
                            <a:cs typeface="Arial" panose="020B0604020202020204" pitchFamily="34" charset="0"/>
                          </a:rPr>
                        </m:ctrlPr>
                      </m:naryPr>
                      <m:sub>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𝜁</m:t>
                            </m:r>
                          </m:e>
                          <m:sub>
                            <m:r>
                              <a:rPr lang="en-US" i="1">
                                <a:latin typeface="Cambria Math" panose="02040503050406030204" pitchFamily="18" charset="0"/>
                                <a:cs typeface="Arial" panose="020B0604020202020204" pitchFamily="34" charset="0"/>
                              </a:rPr>
                              <m:t>𝑏</m:t>
                            </m:r>
                          </m:sub>
                        </m:sSub>
                      </m:sub>
                      <m:sup>
                        <m:r>
                          <a:rPr lang="en-US" i="1">
                            <a:latin typeface="Cambria Math" panose="02040503050406030204" pitchFamily="18" charset="0"/>
                            <a:cs typeface="Arial" panose="020B0604020202020204" pitchFamily="34" charset="0"/>
                          </a:rPr>
                          <m:t>1</m:t>
                        </m:r>
                      </m:sup>
                      <m:e>
                        <m:sSup>
                          <m:sSupPr>
                            <m:ctrlPr>
                              <a:rPr lang="en-US" i="1">
                                <a:latin typeface="Cambria Math" panose="02040503050406030204" pitchFamily="18" charset="0"/>
                                <a:cs typeface="Arial" panose="020B0604020202020204" pitchFamily="34" charset="0"/>
                              </a:rPr>
                            </m:ctrlPr>
                          </m:sSupPr>
                          <m:e>
                            <m:d>
                              <m:dPr>
                                <m:begChr m:val="["/>
                                <m:endChr m:val="]"/>
                                <m:ctrlPr>
                                  <a:rPr lang="en-US" i="1">
                                    <a:latin typeface="Cambria Math" panose="02040503050406030204" pitchFamily="18" charset="0"/>
                                    <a:cs typeface="Arial" panose="020B0604020202020204" pitchFamily="34" charset="0"/>
                                  </a:rPr>
                                </m:ctrlPr>
                              </m:dPr>
                              <m:e>
                                <m:f>
                                  <m:fPr>
                                    <m:ctrlPr>
                                      <a:rPr lang="en-US" i="1">
                                        <a:latin typeface="Cambria Math" panose="02040503050406030204" pitchFamily="18" charset="0"/>
                                        <a:cs typeface="Arial" panose="020B0604020202020204" pitchFamily="34" charset="0"/>
                                      </a:rPr>
                                    </m:ctrlPr>
                                  </m:fPr>
                                  <m:num>
                                    <m:d>
                                      <m:dPr>
                                        <m:ctrlPr>
                                          <a:rPr lang="en-US" i="1">
                                            <a:latin typeface="Cambria Math" panose="02040503050406030204" pitchFamily="18" charset="0"/>
                                            <a:cs typeface="Arial" panose="020B0604020202020204" pitchFamily="34" charset="0"/>
                                          </a:rPr>
                                        </m:ctrlPr>
                                      </m:dPr>
                                      <m:e>
                                        <m:r>
                                          <a:rPr lang="en-US" i="1">
                                            <a:latin typeface="Cambria Math" panose="02040503050406030204" pitchFamily="18" charset="0"/>
                                            <a:ea typeface="Cambria Math" panose="02040503050406030204" pitchFamily="18" charset="0"/>
                                            <a:cs typeface="Arial" panose="020B0604020202020204" pitchFamily="34" charset="0"/>
                                          </a:rPr>
                                          <m:t>1−</m:t>
                                        </m:r>
                                        <m:r>
                                          <a:rPr lang="en-US" i="1">
                                            <a:latin typeface="Cambria Math" panose="02040503050406030204" pitchFamily="18" charset="0"/>
                                            <a:ea typeface="Cambria Math" panose="02040503050406030204" pitchFamily="18" charset="0"/>
                                            <a:cs typeface="Arial" panose="020B0604020202020204" pitchFamily="34" charset="0"/>
                                          </a:rPr>
                                          <m:t>𝜁</m:t>
                                        </m:r>
                                      </m:e>
                                    </m:d>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𝜁</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num>
                                  <m:den>
                                    <m:d>
                                      <m:dPr>
                                        <m:ctrlPr>
                                          <a:rPr lang="en-US" i="1">
                                            <a:latin typeface="Cambria Math" panose="02040503050406030204" pitchFamily="18" charset="0"/>
                                            <a:cs typeface="Arial" panose="020B0604020202020204" pitchFamily="34" charset="0"/>
                                          </a:rPr>
                                        </m:ctrlPr>
                                      </m:dPr>
                                      <m:e>
                                        <m:r>
                                          <a:rPr lang="en-US" i="1">
                                            <a:latin typeface="Cambria Math" panose="02040503050406030204" pitchFamily="18" charset="0"/>
                                            <a:ea typeface="Cambria Math" panose="02040503050406030204" pitchFamily="18" charset="0"/>
                                            <a:cs typeface="Arial" panose="020B0604020202020204" pitchFamily="34" charset="0"/>
                                          </a:rPr>
                                          <m:t>1−</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𝜁</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e>
                                    </m:d>
                                    <m:r>
                                      <a:rPr lang="en-US" i="1">
                                        <a:latin typeface="Cambria Math" panose="02040503050406030204" pitchFamily="18" charset="0"/>
                                        <a:ea typeface="Cambria Math" panose="02040503050406030204" pitchFamily="18" charset="0"/>
                                        <a:cs typeface="Arial" panose="020B0604020202020204" pitchFamily="34" charset="0"/>
                                      </a:rPr>
                                      <m:t>𝜁</m:t>
                                    </m:r>
                                  </m:den>
                                </m:f>
                              </m:e>
                            </m:d>
                          </m:e>
                          <m:sup>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𝑣</m:t>
                                    </m:r>
                                  </m:e>
                                  <m:sub>
                                    <m:r>
                                      <a:rPr lang="en-US" i="1">
                                        <a:latin typeface="Cambria Math" panose="02040503050406030204" pitchFamily="18" charset="0"/>
                                        <a:cs typeface="Arial" panose="020B0604020202020204" pitchFamily="34" charset="0"/>
                                      </a:rPr>
                                      <m:t>𝑠</m:t>
                                    </m:r>
                                  </m:sub>
                                </m:sSub>
                              </m:num>
                              <m:den>
                                <m:r>
                                  <a:rPr lang="en-US" i="1">
                                    <a:latin typeface="Cambria Math" panose="02040503050406030204" pitchFamily="18" charset="0"/>
                                    <a:ea typeface="Cambria Math" panose="02040503050406030204" pitchFamily="18" charset="0"/>
                                    <a:cs typeface="Arial" panose="020B0604020202020204" pitchFamily="34" charset="0"/>
                                  </a:rPr>
                                  <m:t>𝜅</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𝑢</m:t>
                                    </m:r>
                                  </m:e>
                                  <m:sub>
                                    <m:r>
                                      <a:rPr lang="en-US" i="1">
                                        <a:latin typeface="Cambria Math" panose="02040503050406030204" pitchFamily="18" charset="0"/>
                                        <a:ea typeface="Cambria Math" panose="02040503050406030204" pitchFamily="18" charset="0"/>
                                        <a:cs typeface="Arial" panose="020B0604020202020204" pitchFamily="34" charset="0"/>
                                      </a:rPr>
                                      <m:t>∗</m:t>
                                    </m:r>
                                  </m:sub>
                                </m:sSub>
                              </m:den>
                            </m:f>
                          </m:sup>
                        </m:sSup>
                        <m:r>
                          <a:rPr lang="en-US" i="1">
                            <a:latin typeface="Cambria Math" panose="02040503050406030204" pitchFamily="18" charset="0"/>
                            <a:cs typeface="Arial" panose="020B0604020202020204" pitchFamily="34" charset="0"/>
                          </a:rPr>
                          <m:t>𝑙𝑛</m:t>
                        </m:r>
                        <m:d>
                          <m:dPr>
                            <m:ctrlPr>
                              <a:rPr lang="en-US" i="1">
                                <a:latin typeface="Cambria Math" panose="02040503050406030204" pitchFamily="18" charset="0"/>
                                <a:cs typeface="Arial" panose="020B0604020202020204" pitchFamily="34" charset="0"/>
                              </a:rPr>
                            </m:ctrlPr>
                          </m:dPr>
                          <m:e>
                            <m:r>
                              <a:rPr lang="en-US" i="1">
                                <a:latin typeface="Cambria Math" panose="02040503050406030204" pitchFamily="18" charset="0"/>
                                <a:cs typeface="Arial" panose="020B0604020202020204" pitchFamily="34" charset="0"/>
                              </a:rPr>
                              <m:t>30</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𝐻</m:t>
                                </m:r>
                              </m:num>
                              <m:den>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𝑘</m:t>
                                    </m:r>
                                  </m:e>
                                  <m:sub>
                                    <m:r>
                                      <a:rPr lang="en-US" i="1">
                                        <a:latin typeface="Cambria Math" panose="02040503050406030204" pitchFamily="18" charset="0"/>
                                        <a:cs typeface="Arial" panose="020B0604020202020204" pitchFamily="34" charset="0"/>
                                      </a:rPr>
                                      <m:t>𝑐</m:t>
                                    </m:r>
                                  </m:sub>
                                </m:sSub>
                              </m:den>
                            </m:f>
                            <m:r>
                              <a:rPr lang="en-US" i="1">
                                <a:latin typeface="Cambria Math" panose="02040503050406030204" pitchFamily="18" charset="0"/>
                                <a:ea typeface="Cambria Math" panose="02040503050406030204" pitchFamily="18" charset="0"/>
                                <a:cs typeface="Arial" panose="020B0604020202020204" pitchFamily="34" charset="0"/>
                              </a:rPr>
                              <m:t>𝜁</m:t>
                            </m:r>
                          </m:e>
                        </m:d>
                        <m:r>
                          <a:rPr lang="en-US" i="1">
                            <a:latin typeface="Cambria Math" panose="02040503050406030204" pitchFamily="18" charset="0"/>
                            <a:cs typeface="Arial" panose="020B0604020202020204" pitchFamily="34" charset="0"/>
                          </a:rPr>
                          <m:t>𝑑</m:t>
                        </m:r>
                        <m:r>
                          <a:rPr lang="en-US" i="1">
                            <a:latin typeface="Cambria Math" panose="02040503050406030204" pitchFamily="18" charset="0"/>
                            <a:ea typeface="Cambria Math" panose="02040503050406030204" pitchFamily="18" charset="0"/>
                            <a:cs typeface="Arial" panose="020B0604020202020204" pitchFamily="34" charset="0"/>
                          </a:rPr>
                          <m:t>𝜁</m:t>
                        </m:r>
                      </m:e>
                    </m:nary>
                  </m:oMath>
                </a14:m>
                <a:r>
                  <a:rPr lang="en-US" dirty="0"/>
                  <a:t> </a:t>
                </a:r>
              </a:p>
            </p:txBody>
          </p:sp>
        </mc:Choice>
        <mc:Fallback xmlns="">
          <p:sp>
            <p:nvSpPr>
              <p:cNvPr id="8" name="Rectangle 7">
                <a:extLst>
                  <a:ext uri="{FF2B5EF4-FFF2-40B4-BE49-F238E27FC236}">
                    <a16:creationId xmlns:a16="http://schemas.microsoft.com/office/drawing/2014/main" id="{CDFF37CD-5F89-FF4F-BDC7-C09BF77FA94A}"/>
                  </a:ext>
                </a:extLst>
              </p:cNvPr>
              <p:cNvSpPr>
                <a:spLocks noRot="1" noChangeAspect="1" noMove="1" noResize="1" noEditPoints="1" noAdjustHandles="1" noChangeArrowheads="1" noChangeShapeType="1" noTextEdit="1"/>
              </p:cNvSpPr>
              <p:nvPr/>
            </p:nvSpPr>
            <p:spPr>
              <a:xfrm>
                <a:off x="551478" y="2959556"/>
                <a:ext cx="3452163" cy="657809"/>
              </a:xfrm>
              <a:prstGeom prst="rect">
                <a:avLst/>
              </a:prstGeom>
              <a:blipFill>
                <a:blip r:embed="rId5"/>
                <a:stretch>
                  <a:fillRect t="-49057" b="-103774"/>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7CDF2899-94E5-9447-AA70-A1DAF91801E5}"/>
              </a:ext>
            </a:extLst>
          </p:cNvPr>
          <p:cNvSpPr txBox="1"/>
          <p:nvPr/>
        </p:nvSpPr>
        <p:spPr>
          <a:xfrm>
            <a:off x="442976" y="3842754"/>
            <a:ext cx="11285198" cy="1013291"/>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In this formulation the reference level z = b (</a:t>
            </a:r>
            <a:r>
              <a:rPr lang="en-US" dirty="0">
                <a:latin typeface="Symbol" pitchFamily="2" charset="2"/>
                <a:cs typeface="Arial" panose="020B0604020202020204" pitchFamily="34" charset="0"/>
              </a:rPr>
              <a:t>z</a:t>
            </a:r>
            <a:r>
              <a:rPr lang="en-US" dirty="0">
                <a:latin typeface="Arial" panose="020B0604020202020204" pitchFamily="34" charset="0"/>
                <a:cs typeface="Arial" panose="020B0604020202020204" pitchFamily="34" charset="0"/>
              </a:rPr>
              <a:t> = </a:t>
            </a:r>
            <a:r>
              <a:rPr lang="en-US" dirty="0" err="1">
                <a:latin typeface="Symbol" pitchFamily="2" charset="2"/>
                <a:cs typeface="Arial" panose="020B0604020202020204" pitchFamily="34" charset="0"/>
              </a:rPr>
              <a:t>z</a:t>
            </a:r>
            <a:r>
              <a:rPr lang="en-US" baseline="-25000" dirty="0" err="1">
                <a:latin typeface="Arial" panose="020B0604020202020204" pitchFamily="34" charset="0"/>
                <a:cs typeface="Arial" panose="020B0604020202020204" pitchFamily="34" charset="0"/>
              </a:rPr>
              <a:t>b</a:t>
            </a:r>
            <a:r>
              <a:rPr lang="en-US" dirty="0">
                <a:latin typeface="Arial" panose="020B0604020202020204" pitchFamily="34" charset="0"/>
                <a:cs typeface="Arial" panose="020B0604020202020204" pitchFamily="34" charset="0"/>
              </a:rPr>
              <a:t>) cannot be set equal to 0 because turbulence cannot persist all the way down to a solid boundary or a granular bed. </a:t>
            </a:r>
          </a:p>
          <a:p>
            <a:pPr algn="l">
              <a:lnSpc>
                <a:spcPct val="114000"/>
              </a:lnSpc>
            </a:pPr>
            <a:r>
              <a:rPr lang="en-US" dirty="0">
                <a:latin typeface="Arial" panose="020B0604020202020204" pitchFamily="34" charset="0"/>
                <a:cs typeface="Arial" panose="020B0604020202020204" pitchFamily="34" charset="0"/>
              </a:rPr>
              <a:t>For this reason, the logarithmic velocity profile predicts infinite negative velocity at z = 0. </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9E718EA-5D5D-6F41-8B64-8CFAB9278315}"/>
                  </a:ext>
                </a:extLst>
              </p:cNvPr>
              <p:cNvSpPr txBox="1"/>
              <p:nvPr/>
            </p:nvSpPr>
            <p:spPr>
              <a:xfrm>
                <a:off x="627471" y="4856045"/>
                <a:ext cx="1678408" cy="503792"/>
              </a:xfrm>
              <a:prstGeom prst="rect">
                <a:avLst/>
              </a:prstGeom>
              <a:noFill/>
            </p:spPr>
            <p:txBody>
              <a:bodyPr wrap="none" lIns="0" tIns="0" rIns="0" bIns="0" rtlCol="0">
                <a:spAutoFit/>
              </a:bodyPr>
              <a:lstStyle/>
              <a:p>
                <a:pPr algn="l">
                  <a:lnSpc>
                    <a:spcPct val="114000"/>
                  </a:lnSpc>
                </a:pP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𝑢</m:t>
                        </m:r>
                      </m:e>
                    </m:acc>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m:t>
                            </m:r>
                          </m:sub>
                        </m:sSub>
                      </m:num>
                      <m:den>
                        <m:r>
                          <a:rPr lang="en-US" b="0" i="1" smtClean="0">
                            <a:latin typeface="Cambria Math" panose="02040503050406030204" pitchFamily="18" charset="0"/>
                            <a:ea typeface="Cambria Math" panose="02040503050406030204" pitchFamily="18" charset="0"/>
                            <a:cs typeface="Arial" panose="020B0604020202020204" pitchFamily="34" charset="0"/>
                          </a:rPr>
                          <m:t>𝜅</m:t>
                        </m:r>
                      </m:den>
                    </m:f>
                    <m:r>
                      <a:rPr lang="en-US" b="0" i="1" smtClean="0">
                        <a:latin typeface="Cambria Math" panose="02040503050406030204" pitchFamily="18" charset="0"/>
                        <a:cs typeface="Arial" panose="020B0604020202020204" pitchFamily="34" charset="0"/>
                      </a:rPr>
                      <m:t>𝑙𝑛</m:t>
                    </m:r>
                    <m:d>
                      <m:dPr>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30</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𝑧</m:t>
                            </m:r>
                          </m:num>
                          <m:den>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𝑘</m:t>
                                </m:r>
                              </m:e>
                              <m:sub>
                                <m:r>
                                  <a:rPr lang="en-US" b="0" i="1" smtClean="0">
                                    <a:latin typeface="Cambria Math" panose="02040503050406030204" pitchFamily="18" charset="0"/>
                                    <a:cs typeface="Arial" panose="020B0604020202020204" pitchFamily="34" charset="0"/>
                                  </a:rPr>
                                  <m:t>𝑐</m:t>
                                </m:r>
                              </m:sub>
                            </m:sSub>
                          </m:den>
                        </m:f>
                      </m:e>
                    </m:d>
                  </m:oMath>
                </a14:m>
                <a:r>
                  <a:rPr lang="en-US" dirty="0">
                    <a:latin typeface="Arial" panose="020B0604020202020204" pitchFamily="34" charset="0"/>
                    <a:cs typeface="Arial" panose="020B0604020202020204" pitchFamily="34" charset="0"/>
                  </a:rPr>
                  <a:t> </a:t>
                </a:r>
              </a:p>
            </p:txBody>
          </p:sp>
        </mc:Choice>
        <mc:Fallback xmlns="">
          <p:sp>
            <p:nvSpPr>
              <p:cNvPr id="16" name="TextBox 15">
                <a:extLst>
                  <a:ext uri="{FF2B5EF4-FFF2-40B4-BE49-F238E27FC236}">
                    <a16:creationId xmlns:a16="http://schemas.microsoft.com/office/drawing/2014/main" id="{F9E718EA-5D5D-6F41-8B64-8CFAB9278315}"/>
                  </a:ext>
                </a:extLst>
              </p:cNvPr>
              <p:cNvSpPr txBox="1">
                <a:spLocks noRot="1" noChangeAspect="1" noMove="1" noResize="1" noEditPoints="1" noAdjustHandles="1" noChangeArrowheads="1" noChangeShapeType="1" noTextEdit="1"/>
              </p:cNvSpPr>
              <p:nvPr/>
            </p:nvSpPr>
            <p:spPr>
              <a:xfrm>
                <a:off x="627471" y="4856045"/>
                <a:ext cx="1678408" cy="503792"/>
              </a:xfrm>
              <a:prstGeom prst="rect">
                <a:avLst/>
              </a:prstGeom>
              <a:blipFill>
                <a:blip r:embed="rId6"/>
                <a:stretch>
                  <a:fillRect l="-3759" b="-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7FD096F9-F1D3-FE46-883F-24F8340F6703}"/>
                  </a:ext>
                </a:extLst>
              </p:cNvPr>
              <p:cNvSpPr/>
              <p:nvPr/>
            </p:nvSpPr>
            <p:spPr>
              <a:xfrm>
                <a:off x="454278" y="5565162"/>
                <a:ext cx="10699367" cy="923330"/>
              </a:xfrm>
              <a:prstGeom prst="rect">
                <a:avLst/>
              </a:prstGeom>
            </p:spPr>
            <p:txBody>
              <a:bodyPr wrap="square">
                <a:spAutoFit/>
              </a:bodyPr>
              <a:lstStyle/>
              <a:p>
                <a:r>
                  <a:rPr lang="en-US" dirty="0">
                    <a:latin typeface="Arial" panose="020B0604020202020204" pitchFamily="34" charset="0"/>
                    <a:cs typeface="Arial" panose="020B0604020202020204" pitchFamily="34" charset="0"/>
                  </a:rPr>
                  <a:t>The point of vanishing velocity is at z = k</a:t>
                </a:r>
                <a:r>
                  <a:rPr lang="en-US" baseline="-25000" dirty="0">
                    <a:latin typeface="Arial" panose="020B0604020202020204" pitchFamily="34" charset="0"/>
                    <a:cs typeface="Arial" panose="020B0604020202020204" pitchFamily="34" charset="0"/>
                  </a:rPr>
                  <a:t>c</a:t>
                </a:r>
                <a:r>
                  <a:rPr lang="en-US" dirty="0">
                    <a:latin typeface="Arial" panose="020B0604020202020204" pitchFamily="34" charset="0"/>
                    <a:cs typeface="Arial" panose="020B0604020202020204" pitchFamily="34" charset="0"/>
                  </a:rPr>
                  <a:t>/30. </a:t>
                </a:r>
              </a:p>
              <a:p>
                <a:r>
                  <a:rPr lang="en-US" dirty="0">
                    <a:latin typeface="Arial" panose="020B0604020202020204" pitchFamily="34" charset="0"/>
                    <a:cs typeface="Arial" panose="020B0604020202020204" pitchFamily="34" charset="0"/>
                  </a:rPr>
                  <a:t>In our analysis the eddy diffusivity was derived from the log law, thus, </a:t>
                </a:r>
                <a14:m>
                  <m:oMath xmlns:m="http://schemas.openxmlformats.org/officeDocument/2006/math">
                    <m:acc>
                      <m:accPr>
                        <m:chr m:val="̅"/>
                        <m:ctrlPr>
                          <a:rPr lang="en-US" i="1">
                            <a:latin typeface="Cambria Math" panose="02040503050406030204" pitchFamily="18" charset="0"/>
                            <a:cs typeface="Arial" panose="020B0604020202020204" pitchFamily="34" charset="0"/>
                          </a:rPr>
                        </m:ctrlPr>
                      </m:accPr>
                      <m:e>
                        <m:r>
                          <a:rPr lang="en-US" i="1">
                            <a:latin typeface="Cambria Math" panose="02040503050406030204" pitchFamily="18" charset="0"/>
                            <a:cs typeface="Arial" panose="020B0604020202020204" pitchFamily="34" charset="0"/>
                          </a:rPr>
                          <m:t>𝑐</m:t>
                        </m:r>
                      </m:e>
                    </m:acc>
                  </m:oMath>
                </a14:m>
                <a:r>
                  <a:rPr lang="en-US" dirty="0">
                    <a:latin typeface="Arial" panose="020B0604020202020204" pitchFamily="34" charset="0"/>
                    <a:cs typeface="Arial" panose="020B0604020202020204" pitchFamily="34" charset="0"/>
                  </a:rPr>
                  <a:t> cannot be computed all the way down to z = 0. The near bed boundary condition should be specified at z = b &gt;= k</a:t>
                </a:r>
                <a:r>
                  <a:rPr lang="en-US" baseline="-25000" dirty="0">
                    <a:latin typeface="Arial" panose="020B0604020202020204" pitchFamily="34" charset="0"/>
                    <a:cs typeface="Arial" panose="020B0604020202020204" pitchFamily="34" charset="0"/>
                  </a:rPr>
                  <a:t>c</a:t>
                </a:r>
                <a:r>
                  <a:rPr lang="en-US" dirty="0">
                    <a:latin typeface="Arial" panose="020B0604020202020204" pitchFamily="34" charset="0"/>
                    <a:cs typeface="Arial" panose="020B0604020202020204" pitchFamily="34" charset="0"/>
                  </a:rPr>
                  <a:t>/30  </a:t>
                </a:r>
                <a:endParaRPr lang="en-US" dirty="0"/>
              </a:p>
            </p:txBody>
          </p:sp>
        </mc:Choice>
        <mc:Fallback xmlns="">
          <p:sp>
            <p:nvSpPr>
              <p:cNvPr id="9" name="Rectangle 8">
                <a:extLst>
                  <a:ext uri="{FF2B5EF4-FFF2-40B4-BE49-F238E27FC236}">
                    <a16:creationId xmlns:a16="http://schemas.microsoft.com/office/drawing/2014/main" id="{7FD096F9-F1D3-FE46-883F-24F8340F6703}"/>
                  </a:ext>
                </a:extLst>
              </p:cNvPr>
              <p:cNvSpPr>
                <a:spLocks noRot="1" noChangeAspect="1" noMove="1" noResize="1" noEditPoints="1" noAdjustHandles="1" noChangeArrowheads="1" noChangeShapeType="1" noTextEdit="1"/>
              </p:cNvSpPr>
              <p:nvPr/>
            </p:nvSpPr>
            <p:spPr>
              <a:xfrm>
                <a:off x="454278" y="5565162"/>
                <a:ext cx="10699367" cy="923330"/>
              </a:xfrm>
              <a:prstGeom prst="rect">
                <a:avLst/>
              </a:prstGeom>
              <a:blipFill>
                <a:blip r:embed="rId7"/>
                <a:stretch>
                  <a:fillRect l="-593" t="-4110" r="-237" b="-8219"/>
                </a:stretch>
              </a:blipFill>
            </p:spPr>
            <p:txBody>
              <a:bodyPr/>
              <a:lstStyle/>
              <a:p>
                <a:r>
                  <a:rPr lang="en-US">
                    <a:noFill/>
                  </a:rPr>
                  <a:t> </a:t>
                </a:r>
              </a:p>
            </p:txBody>
          </p:sp>
        </mc:Fallback>
      </mc:AlternateContent>
    </p:spTree>
    <p:extLst>
      <p:ext uri="{BB962C8B-B14F-4D97-AF65-F5344CB8AC3E}">
        <p14:creationId xmlns:p14="http://schemas.microsoft.com/office/powerpoint/2010/main" val="23192435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chemeClr val="tx1"/>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lnSpc>
            <a:spcPct val="114000"/>
          </a:lnSpc>
          <a:defRPr dirty="0"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5034</TotalTime>
  <Words>6522</Words>
  <Application>Microsoft Office PowerPoint</Application>
  <PresentationFormat>Widescreen</PresentationFormat>
  <Paragraphs>713</Paragraphs>
  <Slides>58</Slides>
  <Notes>33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58</vt:i4>
      </vt:variant>
    </vt:vector>
  </HeadingPairs>
  <TitlesOfParts>
    <vt:vector size="65" baseType="lpstr">
      <vt:lpstr>Aptos</vt:lpstr>
      <vt:lpstr>Arial</vt:lpstr>
      <vt:lpstr>Calibri</vt:lpstr>
      <vt:lpstr>Calibri Light</vt:lpstr>
      <vt:lpstr>Cambria Math</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VIPARELLI, ENRICA</dc:creator>
  <cp:lastModifiedBy>Viparelli, Enrica</cp:lastModifiedBy>
  <cp:revision>851</cp:revision>
  <dcterms:created xsi:type="dcterms:W3CDTF">2021-02-08T21:22:29Z</dcterms:created>
  <dcterms:modified xsi:type="dcterms:W3CDTF">2026-08-05T01:14:53Z</dcterms:modified>
</cp:coreProperties>
</file>