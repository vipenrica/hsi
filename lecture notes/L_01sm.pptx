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67" r:id="rId2"/>
    <p:sldId id="381" r:id="rId3"/>
    <p:sldId id="274" r:id="rId4"/>
    <p:sldId id="276" r:id="rId5"/>
    <p:sldId id="278" r:id="rId6"/>
    <p:sldId id="279" r:id="rId7"/>
    <p:sldId id="396" r:id="rId8"/>
    <p:sldId id="282" r:id="rId9"/>
    <p:sldId id="264" r:id="rId10"/>
    <p:sldId id="265" r:id="rId11"/>
    <p:sldId id="266" r:id="rId12"/>
    <p:sldId id="397" r:id="rId13"/>
    <p:sldId id="268" r:id="rId14"/>
    <p:sldId id="269" r:id="rId15"/>
    <p:sldId id="270" r:id="rId16"/>
    <p:sldId id="271" r:id="rId17"/>
    <p:sldId id="272" r:id="rId18"/>
    <p:sldId id="398" r:id="rId19"/>
    <p:sldId id="399" r:id="rId20"/>
    <p:sldId id="275" r:id="rId21"/>
    <p:sldId id="277" r:id="rId22"/>
    <p:sldId id="401" r:id="rId23"/>
    <p:sldId id="283" r:id="rId24"/>
    <p:sldId id="400" r:id="rId25"/>
    <p:sldId id="296" r:id="rId26"/>
    <p:sldId id="297" r:id="rId27"/>
    <p:sldId id="298" r:id="rId28"/>
    <p:sldId id="299" r:id="rId29"/>
    <p:sldId id="341" r:id="rId30"/>
    <p:sldId id="342" r:id="rId31"/>
    <p:sldId id="343" r:id="rId32"/>
    <p:sldId id="344" r:id="rId33"/>
    <p:sldId id="300" r:id="rId34"/>
    <p:sldId id="301" r:id="rId35"/>
    <p:sldId id="302" r:id="rId36"/>
    <p:sldId id="303" r:id="rId37"/>
    <p:sldId id="311" r:id="rId38"/>
    <p:sldId id="305" r:id="rId39"/>
    <p:sldId id="306" r:id="rId40"/>
    <p:sldId id="307" r:id="rId41"/>
    <p:sldId id="345" r:id="rId42"/>
    <p:sldId id="346" r:id="rId43"/>
    <p:sldId id="309" r:id="rId44"/>
    <p:sldId id="310" r:id="rId45"/>
    <p:sldId id="313" r:id="rId46"/>
    <p:sldId id="314" r:id="rId47"/>
    <p:sldId id="315" r:id="rId48"/>
    <p:sldId id="316" r:id="rId49"/>
    <p:sldId id="317" r:id="rId50"/>
    <p:sldId id="318" r:id="rId51"/>
    <p:sldId id="382" r:id="rId52"/>
    <p:sldId id="319" r:id="rId53"/>
    <p:sldId id="320" r:id="rId54"/>
    <p:sldId id="321" r:id="rId55"/>
    <p:sldId id="322" r:id="rId56"/>
    <p:sldId id="323" r:id="rId57"/>
    <p:sldId id="324" r:id="rId58"/>
    <p:sldId id="347" r:id="rId59"/>
    <p:sldId id="284"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8C4F48-6B4D-4CF2-BF53-914A9C97827E}" v="1" dt="2026-07-23T06:31:56.484"/>
    <p1510:client id="{A63EAAE2-16BD-466E-996B-2218DC0ADCB2}" v="77" dt="2026-07-23T06:24:19.4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30"/>
    <p:restoredTop sz="92925"/>
  </p:normalViewPr>
  <p:slideViewPr>
    <p:cSldViewPr snapToGrid="0" snapToObjects="1">
      <p:cViewPr varScale="1">
        <p:scale>
          <a:sx n="53" d="100"/>
          <a:sy n="53" d="100"/>
        </p:scale>
        <p:origin x="645" y="4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parelli, Enrica" userId="e6d7b4aa-a798-4692-bd7e-df2e77cda6e3" providerId="ADAL" clId="{AED95555-86AE-4DAC-9C4C-6A607A963546}"/>
    <pc:docChg chg="undo custSel addSld modSld sldOrd">
      <pc:chgData name="Viparelli, Enrica" userId="e6d7b4aa-a798-4692-bd7e-df2e77cda6e3" providerId="ADAL" clId="{AED95555-86AE-4DAC-9C4C-6A607A963546}" dt="2026-07-23T06:32:16.721" v="472" actId="20577"/>
      <pc:docMkLst>
        <pc:docMk/>
      </pc:docMkLst>
      <pc:sldChg chg="add">
        <pc:chgData name="Viparelli, Enrica" userId="e6d7b4aa-a798-4692-bd7e-df2e77cda6e3" providerId="ADAL" clId="{AED95555-86AE-4DAC-9C4C-6A607A963546}" dt="2026-07-23T02:42:51.786" v="7"/>
        <pc:sldMkLst>
          <pc:docMk/>
          <pc:sldMk cId="271619340" sldId="263"/>
        </pc:sldMkLst>
      </pc:sldChg>
      <pc:sldChg chg="addSp delSp modSp add mod delAnim">
        <pc:chgData name="Viparelli, Enrica" userId="e6d7b4aa-a798-4692-bd7e-df2e77cda6e3" providerId="ADAL" clId="{AED95555-86AE-4DAC-9C4C-6A607A963546}" dt="2026-07-23T06:32:16.721" v="472" actId="20577"/>
        <pc:sldMkLst>
          <pc:docMk/>
          <pc:sldMk cId="1922666219" sldId="264"/>
        </pc:sldMkLst>
        <pc:spChg chg="add mod">
          <ac:chgData name="Viparelli, Enrica" userId="e6d7b4aa-a798-4692-bd7e-df2e77cda6e3" providerId="ADAL" clId="{AED95555-86AE-4DAC-9C4C-6A607A963546}" dt="2026-07-23T06:32:00.382" v="468" actId="20577"/>
          <ac:spMkLst>
            <pc:docMk/>
            <pc:sldMk cId="1922666219" sldId="264"/>
            <ac:spMk id="3" creationId="{2DA8CC67-B347-0D60-AA9E-510DEE57D252}"/>
          </ac:spMkLst>
        </pc:spChg>
        <pc:spChg chg="mod">
          <ac:chgData name="Viparelli, Enrica" userId="e6d7b4aa-a798-4692-bd7e-df2e77cda6e3" providerId="ADAL" clId="{AED95555-86AE-4DAC-9C4C-6A607A963546}" dt="2026-07-23T02:55:16.528" v="36" actId="2711"/>
          <ac:spMkLst>
            <pc:docMk/>
            <pc:sldMk cId="1922666219" sldId="264"/>
            <ac:spMk id="4" creationId="{9CDE2A7E-98A5-B079-B655-FCEAA4E989F0}"/>
          </ac:spMkLst>
        </pc:spChg>
        <pc:spChg chg="add mod">
          <ac:chgData name="Viparelli, Enrica" userId="e6d7b4aa-a798-4692-bd7e-df2e77cda6e3" providerId="ADAL" clId="{AED95555-86AE-4DAC-9C4C-6A607A963546}" dt="2026-07-23T06:32:16.721" v="472" actId="20577"/>
          <ac:spMkLst>
            <pc:docMk/>
            <pc:sldMk cId="1922666219" sldId="264"/>
            <ac:spMk id="9" creationId="{9BF0C6CE-1AB2-F4C8-DEF8-E3C5ED3885AB}"/>
          </ac:spMkLst>
        </pc:spChg>
        <pc:picChg chg="del">
          <ac:chgData name="Viparelli, Enrica" userId="e6d7b4aa-a798-4692-bd7e-df2e77cda6e3" providerId="ADAL" clId="{AED95555-86AE-4DAC-9C4C-6A607A963546}" dt="2026-07-23T06:31:49.944" v="458" actId="478"/>
          <ac:picMkLst>
            <pc:docMk/>
            <pc:sldMk cId="1922666219" sldId="264"/>
            <ac:picMk id="6" creationId="{9A77F003-A17E-31AB-567B-33DC506AFD11}"/>
          </ac:picMkLst>
        </pc:picChg>
        <pc:picChg chg="del">
          <ac:chgData name="Viparelli, Enrica" userId="e6d7b4aa-a798-4692-bd7e-df2e77cda6e3" providerId="ADAL" clId="{AED95555-86AE-4DAC-9C4C-6A607A963546}" dt="2026-07-23T06:31:51.020" v="459" actId="478"/>
          <ac:picMkLst>
            <pc:docMk/>
            <pc:sldMk cId="1922666219" sldId="264"/>
            <ac:picMk id="7" creationId="{2BAD3F1B-0F9E-FCB3-F910-4E7EA32FFF79}"/>
          </ac:picMkLst>
        </pc:picChg>
      </pc:sldChg>
      <pc:sldChg chg="delSp add">
        <pc:chgData name="Viparelli, Enrica" userId="e6d7b4aa-a798-4692-bd7e-df2e77cda6e3" providerId="ADAL" clId="{AED95555-86AE-4DAC-9C4C-6A607A963546}" dt="2026-07-23T02:44:50.883" v="10" actId="478"/>
        <pc:sldMkLst>
          <pc:docMk/>
          <pc:sldMk cId="2278146404" sldId="265"/>
        </pc:sldMkLst>
        <pc:spChg chg="del">
          <ac:chgData name="Viparelli, Enrica" userId="e6d7b4aa-a798-4692-bd7e-df2e77cda6e3" providerId="ADAL" clId="{AED95555-86AE-4DAC-9C4C-6A607A963546}" dt="2026-07-23T02:44:50.883" v="10" actId="478"/>
          <ac:spMkLst>
            <pc:docMk/>
            <pc:sldMk cId="2278146404" sldId="265"/>
            <ac:spMk id="2" creationId="{63D945B3-96EE-274F-64BF-400A12EF7240}"/>
          </ac:spMkLst>
        </pc:spChg>
      </pc:sldChg>
      <pc:sldChg chg="modSp add">
        <pc:chgData name="Viparelli, Enrica" userId="e6d7b4aa-a798-4692-bd7e-df2e77cda6e3" providerId="ADAL" clId="{AED95555-86AE-4DAC-9C4C-6A607A963546}" dt="2026-07-23T02:45:42.277" v="11" actId="207"/>
        <pc:sldMkLst>
          <pc:docMk/>
          <pc:sldMk cId="3806200368" sldId="266"/>
        </pc:sldMkLst>
        <pc:spChg chg="mod">
          <ac:chgData name="Viparelli, Enrica" userId="e6d7b4aa-a798-4692-bd7e-df2e77cda6e3" providerId="ADAL" clId="{AED95555-86AE-4DAC-9C4C-6A607A963546}" dt="2026-07-23T02:45:42.277" v="11" actId="207"/>
          <ac:spMkLst>
            <pc:docMk/>
            <pc:sldMk cId="3806200368" sldId="266"/>
            <ac:spMk id="4" creationId="{E96FDD96-0CB6-524E-4211-835B2AC51838}"/>
          </ac:spMkLst>
        </pc:spChg>
      </pc:sldChg>
      <pc:sldChg chg="addSp modSp">
        <pc:chgData name="Viparelli, Enrica" userId="e6d7b4aa-a798-4692-bd7e-df2e77cda6e3" providerId="ADAL" clId="{AED95555-86AE-4DAC-9C4C-6A607A963546}" dt="2026-07-23T02:28:59.578" v="6"/>
        <pc:sldMkLst>
          <pc:docMk/>
          <pc:sldMk cId="2870022283" sldId="267"/>
        </pc:sldMkLst>
        <pc:spChg chg="add mod">
          <ac:chgData name="Viparelli, Enrica" userId="e6d7b4aa-a798-4692-bd7e-df2e77cda6e3" providerId="ADAL" clId="{AED95555-86AE-4DAC-9C4C-6A607A963546}" dt="2026-07-23T02:20:36.852" v="0" actId="767"/>
          <ac:spMkLst>
            <pc:docMk/>
            <pc:sldMk cId="2870022283" sldId="267"/>
            <ac:spMk id="6" creationId="{DECB6062-E5D3-F55D-077D-3077CA9838AD}"/>
          </ac:spMkLst>
        </pc:spChg>
        <pc:spChg chg="add mod">
          <ac:chgData name="Viparelli, Enrica" userId="e6d7b4aa-a798-4692-bd7e-df2e77cda6e3" providerId="ADAL" clId="{AED95555-86AE-4DAC-9C4C-6A607A963546}" dt="2026-07-23T02:23:18.678" v="4"/>
          <ac:spMkLst>
            <pc:docMk/>
            <pc:sldMk cId="2870022283" sldId="267"/>
            <ac:spMk id="7" creationId="{C02C8112-8ACE-ECD5-3A0A-60434A6832EA}"/>
          </ac:spMkLst>
        </pc:spChg>
        <pc:spChg chg="mod">
          <ac:chgData name="Viparelli, Enrica" userId="e6d7b4aa-a798-4692-bd7e-df2e77cda6e3" providerId="ADAL" clId="{AED95555-86AE-4DAC-9C4C-6A607A963546}" dt="2026-07-23T02:28:35.070" v="5"/>
          <ac:spMkLst>
            <pc:docMk/>
            <pc:sldMk cId="2870022283" sldId="267"/>
            <ac:spMk id="20" creationId="{FCD20969-349F-E1D7-FB03-C618D228A180}"/>
          </ac:spMkLst>
        </pc:spChg>
        <pc:spChg chg="add mod">
          <ac:chgData name="Viparelli, Enrica" userId="e6d7b4aa-a798-4692-bd7e-df2e77cda6e3" providerId="ADAL" clId="{AED95555-86AE-4DAC-9C4C-6A607A963546}" dt="2026-07-23T02:28:59.578" v="6"/>
          <ac:spMkLst>
            <pc:docMk/>
            <pc:sldMk cId="2870022283" sldId="267"/>
            <ac:spMk id="21" creationId="{4B99B831-6A13-4BFD-7C6A-7921D88D7F3E}"/>
          </ac:spMkLst>
        </pc:spChg>
        <pc:spChg chg="add mod">
          <ac:chgData name="Viparelli, Enrica" userId="e6d7b4aa-a798-4692-bd7e-df2e77cda6e3" providerId="ADAL" clId="{AED95555-86AE-4DAC-9C4C-6A607A963546}" dt="2026-07-23T02:28:59.578" v="6"/>
          <ac:spMkLst>
            <pc:docMk/>
            <pc:sldMk cId="2870022283" sldId="267"/>
            <ac:spMk id="22" creationId="{E3095DEE-B712-C261-5485-953F71917C35}"/>
          </ac:spMkLst>
        </pc:spChg>
        <pc:spChg chg="add mod">
          <ac:chgData name="Viparelli, Enrica" userId="e6d7b4aa-a798-4692-bd7e-df2e77cda6e3" providerId="ADAL" clId="{AED95555-86AE-4DAC-9C4C-6A607A963546}" dt="2026-07-23T02:28:59.578" v="6"/>
          <ac:spMkLst>
            <pc:docMk/>
            <pc:sldMk cId="2870022283" sldId="267"/>
            <ac:spMk id="24" creationId="{13307E1C-3EA2-3117-B2C8-B5541ABE4781}"/>
          </ac:spMkLst>
        </pc:spChg>
        <pc:cxnChg chg="add mod">
          <ac:chgData name="Viparelli, Enrica" userId="e6d7b4aa-a798-4692-bd7e-df2e77cda6e3" providerId="ADAL" clId="{AED95555-86AE-4DAC-9C4C-6A607A963546}" dt="2026-07-23T02:28:59.578" v="6"/>
          <ac:cxnSpMkLst>
            <pc:docMk/>
            <pc:sldMk cId="2870022283" sldId="267"/>
            <ac:cxnSpMk id="23" creationId="{D23CFD97-7612-42AE-95EE-55D7744DE225}"/>
          </ac:cxnSpMkLst>
        </pc:cxnChg>
      </pc:sldChg>
      <pc:sldChg chg="modSp add mod">
        <pc:chgData name="Viparelli, Enrica" userId="e6d7b4aa-a798-4692-bd7e-df2e77cda6e3" providerId="ADAL" clId="{AED95555-86AE-4DAC-9C4C-6A607A963546}" dt="2026-07-23T04:32:50.594" v="68" actId="20577"/>
        <pc:sldMkLst>
          <pc:docMk/>
          <pc:sldMk cId="1027116465" sldId="268"/>
        </pc:sldMkLst>
        <pc:spChg chg="mod">
          <ac:chgData name="Viparelli, Enrica" userId="e6d7b4aa-a798-4692-bd7e-df2e77cda6e3" providerId="ADAL" clId="{AED95555-86AE-4DAC-9C4C-6A607A963546}" dt="2026-07-23T02:51:37.334" v="31" actId="2711"/>
          <ac:spMkLst>
            <pc:docMk/>
            <pc:sldMk cId="1027116465" sldId="268"/>
            <ac:spMk id="4" creationId="{235605E0-2749-1C0D-4327-C40067564A39}"/>
          </ac:spMkLst>
        </pc:spChg>
        <pc:spChg chg="mod">
          <ac:chgData name="Viparelli, Enrica" userId="e6d7b4aa-a798-4692-bd7e-df2e77cda6e3" providerId="ADAL" clId="{AED95555-86AE-4DAC-9C4C-6A607A963546}" dt="2026-07-23T04:32:50.594" v="68" actId="20577"/>
          <ac:spMkLst>
            <pc:docMk/>
            <pc:sldMk cId="1027116465" sldId="268"/>
            <ac:spMk id="14" creationId="{0966B23A-E646-FB2A-FE8A-4E876F1B4B0B}"/>
          </ac:spMkLst>
        </pc:spChg>
      </pc:sldChg>
      <pc:sldChg chg="modSp add mod">
        <pc:chgData name="Viparelli, Enrica" userId="e6d7b4aa-a798-4692-bd7e-df2e77cda6e3" providerId="ADAL" clId="{AED95555-86AE-4DAC-9C4C-6A607A963546}" dt="2026-07-23T06:20:47.937" v="70" actId="20577"/>
        <pc:sldMkLst>
          <pc:docMk/>
          <pc:sldMk cId="3666525693" sldId="269"/>
        </pc:sldMkLst>
        <pc:spChg chg="mod">
          <ac:chgData name="Viparelli, Enrica" userId="e6d7b4aa-a798-4692-bd7e-df2e77cda6e3" providerId="ADAL" clId="{AED95555-86AE-4DAC-9C4C-6A607A963546}" dt="2026-07-23T03:01:35.389" v="40" actId="2711"/>
          <ac:spMkLst>
            <pc:docMk/>
            <pc:sldMk cId="3666525693" sldId="269"/>
            <ac:spMk id="4" creationId="{7B78574C-CD96-DA9C-CAFB-435092CA439A}"/>
          </ac:spMkLst>
        </pc:spChg>
        <pc:spChg chg="mod">
          <ac:chgData name="Viparelli, Enrica" userId="e6d7b4aa-a798-4692-bd7e-df2e77cda6e3" providerId="ADAL" clId="{AED95555-86AE-4DAC-9C4C-6A607A963546}" dt="2026-07-23T06:20:47.937" v="70" actId="20577"/>
          <ac:spMkLst>
            <pc:docMk/>
            <pc:sldMk cId="3666525693" sldId="269"/>
            <ac:spMk id="11" creationId="{161C9939-C298-FB2D-2A11-9E9F4B0B3BCA}"/>
          </ac:spMkLst>
        </pc:spChg>
      </pc:sldChg>
      <pc:sldChg chg="modSp add mod">
        <pc:chgData name="Viparelli, Enrica" userId="e6d7b4aa-a798-4692-bd7e-df2e77cda6e3" providerId="ADAL" clId="{AED95555-86AE-4DAC-9C4C-6A607A963546}" dt="2026-07-23T06:21:03.209" v="73" actId="20577"/>
        <pc:sldMkLst>
          <pc:docMk/>
          <pc:sldMk cId="3428422397" sldId="270"/>
        </pc:sldMkLst>
        <pc:spChg chg="mod">
          <ac:chgData name="Viparelli, Enrica" userId="e6d7b4aa-a798-4692-bd7e-df2e77cda6e3" providerId="ADAL" clId="{AED95555-86AE-4DAC-9C4C-6A607A963546}" dt="2026-07-23T03:03:12.604" v="41" actId="2711"/>
          <ac:spMkLst>
            <pc:docMk/>
            <pc:sldMk cId="3428422397" sldId="270"/>
            <ac:spMk id="4" creationId="{9BEDF1C5-3DCE-AA3E-0442-25B9F3F55B5C}"/>
          </ac:spMkLst>
        </pc:spChg>
        <pc:spChg chg="mod">
          <ac:chgData name="Viparelli, Enrica" userId="e6d7b4aa-a798-4692-bd7e-df2e77cda6e3" providerId="ADAL" clId="{AED95555-86AE-4DAC-9C4C-6A607A963546}" dt="2026-07-23T06:21:03.209" v="73" actId="20577"/>
          <ac:spMkLst>
            <pc:docMk/>
            <pc:sldMk cId="3428422397" sldId="270"/>
            <ac:spMk id="14" creationId="{15A9CFC1-114F-73FB-BDAB-C653B8602782}"/>
          </ac:spMkLst>
        </pc:spChg>
      </pc:sldChg>
      <pc:sldChg chg="modSp add mod">
        <pc:chgData name="Viparelli, Enrica" userId="e6d7b4aa-a798-4692-bd7e-df2e77cda6e3" providerId="ADAL" clId="{AED95555-86AE-4DAC-9C4C-6A607A963546}" dt="2026-07-23T06:21:10.209" v="75" actId="20577"/>
        <pc:sldMkLst>
          <pc:docMk/>
          <pc:sldMk cId="3950450866" sldId="271"/>
        </pc:sldMkLst>
        <pc:spChg chg="mod">
          <ac:chgData name="Viparelli, Enrica" userId="e6d7b4aa-a798-4692-bd7e-df2e77cda6e3" providerId="ADAL" clId="{AED95555-86AE-4DAC-9C4C-6A607A963546}" dt="2026-07-23T02:50:56.684" v="30" actId="207"/>
          <ac:spMkLst>
            <pc:docMk/>
            <pc:sldMk cId="3950450866" sldId="271"/>
            <ac:spMk id="4" creationId="{EB1A3FA1-013C-9065-36C6-6ED07C46F876}"/>
          </ac:spMkLst>
        </pc:spChg>
        <pc:spChg chg="mod">
          <ac:chgData name="Viparelli, Enrica" userId="e6d7b4aa-a798-4692-bd7e-df2e77cda6e3" providerId="ADAL" clId="{AED95555-86AE-4DAC-9C4C-6A607A963546}" dt="2026-07-23T06:21:10.209" v="75" actId="20577"/>
          <ac:spMkLst>
            <pc:docMk/>
            <pc:sldMk cId="3950450866" sldId="271"/>
            <ac:spMk id="9" creationId="{4A2FC3F7-ECD0-09FF-22A3-327FFF6C4CCB}"/>
          </ac:spMkLst>
        </pc:spChg>
      </pc:sldChg>
      <pc:sldChg chg="modSp add mod">
        <pc:chgData name="Viparelli, Enrica" userId="e6d7b4aa-a798-4692-bd7e-df2e77cda6e3" providerId="ADAL" clId="{AED95555-86AE-4DAC-9C4C-6A607A963546}" dt="2026-07-23T06:21:17.786" v="76" actId="20577"/>
        <pc:sldMkLst>
          <pc:docMk/>
          <pc:sldMk cId="1926667651" sldId="272"/>
        </pc:sldMkLst>
        <pc:spChg chg="mod">
          <ac:chgData name="Viparelli, Enrica" userId="e6d7b4aa-a798-4692-bd7e-df2e77cda6e3" providerId="ADAL" clId="{AED95555-86AE-4DAC-9C4C-6A607A963546}" dt="2026-07-23T02:51:59.929" v="32" actId="2711"/>
          <ac:spMkLst>
            <pc:docMk/>
            <pc:sldMk cId="1926667651" sldId="272"/>
            <ac:spMk id="4" creationId="{1ECDCAA3-E645-87B4-BF9C-979C614763BF}"/>
          </ac:spMkLst>
        </pc:spChg>
        <pc:spChg chg="mod">
          <ac:chgData name="Viparelli, Enrica" userId="e6d7b4aa-a798-4692-bd7e-df2e77cda6e3" providerId="ADAL" clId="{AED95555-86AE-4DAC-9C4C-6A607A963546}" dt="2026-07-23T06:21:17.786" v="76" actId="20577"/>
          <ac:spMkLst>
            <pc:docMk/>
            <pc:sldMk cId="1926667651" sldId="272"/>
            <ac:spMk id="27" creationId="{52B08E2D-2A02-E65E-DD22-4979135E08A6}"/>
          </ac:spMkLst>
        </pc:spChg>
      </pc:sldChg>
      <pc:sldChg chg="modSp add">
        <pc:chgData name="Viparelli, Enrica" userId="e6d7b4aa-a798-4692-bd7e-df2e77cda6e3" providerId="ADAL" clId="{AED95555-86AE-4DAC-9C4C-6A607A963546}" dt="2026-07-23T03:08:04.881" v="47" actId="2711"/>
        <pc:sldMkLst>
          <pc:docMk/>
          <pc:sldMk cId="3249615157" sldId="275"/>
        </pc:sldMkLst>
        <pc:spChg chg="mod">
          <ac:chgData name="Viparelli, Enrica" userId="e6d7b4aa-a798-4692-bd7e-df2e77cda6e3" providerId="ADAL" clId="{AED95555-86AE-4DAC-9C4C-6A607A963546}" dt="2026-07-23T03:08:04.881" v="47" actId="2711"/>
          <ac:spMkLst>
            <pc:docMk/>
            <pc:sldMk cId="3249615157" sldId="275"/>
            <ac:spMk id="4" creationId="{35F5E2F3-6BFD-172C-E5A4-33461B474A3D}"/>
          </ac:spMkLst>
        </pc:spChg>
      </pc:sldChg>
      <pc:sldChg chg="modSp add">
        <pc:chgData name="Viparelli, Enrica" userId="e6d7b4aa-a798-4692-bd7e-df2e77cda6e3" providerId="ADAL" clId="{AED95555-86AE-4DAC-9C4C-6A607A963546}" dt="2026-07-23T03:08:44.580" v="48" actId="2711"/>
        <pc:sldMkLst>
          <pc:docMk/>
          <pc:sldMk cId="1399835598" sldId="277"/>
        </pc:sldMkLst>
        <pc:spChg chg="mod">
          <ac:chgData name="Viparelli, Enrica" userId="e6d7b4aa-a798-4692-bd7e-df2e77cda6e3" providerId="ADAL" clId="{AED95555-86AE-4DAC-9C4C-6A607A963546}" dt="2026-07-23T03:08:44.580" v="48" actId="2711"/>
          <ac:spMkLst>
            <pc:docMk/>
            <pc:sldMk cId="1399835598" sldId="277"/>
            <ac:spMk id="4" creationId="{92E01740-7B2C-757D-97B9-66C56683D05A}"/>
          </ac:spMkLst>
        </pc:spChg>
      </pc:sldChg>
      <pc:sldChg chg="modSp add mod">
        <pc:chgData name="Viparelli, Enrica" userId="e6d7b4aa-a798-4692-bd7e-df2e77cda6e3" providerId="ADAL" clId="{AED95555-86AE-4DAC-9C4C-6A607A963546}" dt="2026-07-23T06:22:05.854" v="113" actId="20577"/>
        <pc:sldMkLst>
          <pc:docMk/>
          <pc:sldMk cId="3251723000" sldId="283"/>
        </pc:sldMkLst>
        <pc:spChg chg="mod">
          <ac:chgData name="Viparelli, Enrica" userId="e6d7b4aa-a798-4692-bd7e-df2e77cda6e3" providerId="ADAL" clId="{AED95555-86AE-4DAC-9C4C-6A607A963546}" dt="2026-07-23T06:21:58.264" v="103" actId="20577"/>
          <ac:spMkLst>
            <pc:docMk/>
            <pc:sldMk cId="3251723000" sldId="283"/>
            <ac:spMk id="2" creationId="{CF6B304D-ACB6-B99E-FA29-24AEFB1E81F8}"/>
          </ac:spMkLst>
        </pc:spChg>
        <pc:spChg chg="mod">
          <ac:chgData name="Viparelli, Enrica" userId="e6d7b4aa-a798-4692-bd7e-df2e77cda6e3" providerId="ADAL" clId="{AED95555-86AE-4DAC-9C4C-6A607A963546}" dt="2026-07-23T06:22:05.854" v="113" actId="20577"/>
          <ac:spMkLst>
            <pc:docMk/>
            <pc:sldMk cId="3251723000" sldId="283"/>
            <ac:spMk id="12" creationId="{D3554EFC-9F35-9963-E862-13971F4EBDAF}"/>
          </ac:spMkLst>
        </pc:spChg>
      </pc:sldChg>
      <pc:sldChg chg="modSp">
        <pc:chgData name="Viparelli, Enrica" userId="e6d7b4aa-a798-4692-bd7e-df2e77cda6e3" providerId="ADAL" clId="{AED95555-86AE-4DAC-9C4C-6A607A963546}" dt="2026-07-23T03:23:27.057" v="67"/>
        <pc:sldMkLst>
          <pc:docMk/>
          <pc:sldMk cId="3257342972" sldId="284"/>
        </pc:sldMkLst>
        <pc:spChg chg="mod">
          <ac:chgData name="Viparelli, Enrica" userId="e6d7b4aa-a798-4692-bd7e-df2e77cda6e3" providerId="ADAL" clId="{AED95555-86AE-4DAC-9C4C-6A607A963546}" dt="2026-07-23T03:23:27.057" v="67"/>
          <ac:spMkLst>
            <pc:docMk/>
            <pc:sldMk cId="3257342972" sldId="284"/>
            <ac:spMk id="2" creationId="{D618C510-F30E-A141-844B-0DE9FD89EC10}"/>
          </ac:spMkLst>
        </pc:spChg>
      </pc:sldChg>
      <pc:sldChg chg="modSp mod">
        <pc:chgData name="Viparelli, Enrica" userId="e6d7b4aa-a798-4692-bd7e-df2e77cda6e3" providerId="ADAL" clId="{AED95555-86AE-4DAC-9C4C-6A607A963546}" dt="2026-07-23T06:25:29.421" v="432" actId="2711"/>
        <pc:sldMkLst>
          <pc:docMk/>
          <pc:sldMk cId="2578793045" sldId="300"/>
        </pc:sldMkLst>
        <pc:graphicFrameChg chg="modGraphic">
          <ac:chgData name="Viparelli, Enrica" userId="e6d7b4aa-a798-4692-bd7e-df2e77cda6e3" providerId="ADAL" clId="{AED95555-86AE-4DAC-9C4C-6A607A963546}" dt="2026-07-23T06:25:29.421" v="432" actId="2711"/>
          <ac:graphicFrameMkLst>
            <pc:docMk/>
            <pc:sldMk cId="2578793045" sldId="300"/>
            <ac:graphicFrameMk id="2" creationId="{42B44CAC-1273-6D4B-9711-B068CF2CB873}"/>
          </ac:graphicFrameMkLst>
        </pc:graphicFrameChg>
      </pc:sldChg>
      <pc:sldChg chg="modSp mod">
        <pc:chgData name="Viparelli, Enrica" userId="e6d7b4aa-a798-4692-bd7e-df2e77cda6e3" providerId="ADAL" clId="{AED95555-86AE-4DAC-9C4C-6A607A963546}" dt="2026-07-23T06:26:17.984" v="437" actId="2711"/>
        <pc:sldMkLst>
          <pc:docMk/>
          <pc:sldMk cId="1675623208" sldId="302"/>
        </pc:sldMkLst>
        <pc:graphicFrameChg chg="modGraphic">
          <ac:chgData name="Viparelli, Enrica" userId="e6d7b4aa-a798-4692-bd7e-df2e77cda6e3" providerId="ADAL" clId="{AED95555-86AE-4DAC-9C4C-6A607A963546}" dt="2026-07-23T06:26:17.984" v="437" actId="2711"/>
          <ac:graphicFrameMkLst>
            <pc:docMk/>
            <pc:sldMk cId="1675623208" sldId="302"/>
            <ac:graphicFrameMk id="2" creationId="{B221836F-ED87-5B45-B8D4-BDE2DA4485EF}"/>
          </ac:graphicFrameMkLst>
        </pc:graphicFrameChg>
      </pc:sldChg>
      <pc:sldChg chg="modSp mod">
        <pc:chgData name="Viparelli, Enrica" userId="e6d7b4aa-a798-4692-bd7e-df2e77cda6e3" providerId="ADAL" clId="{AED95555-86AE-4DAC-9C4C-6A607A963546}" dt="2026-07-23T06:26:02.124" v="435" actId="2711"/>
        <pc:sldMkLst>
          <pc:docMk/>
          <pc:sldMk cId="3700158243" sldId="303"/>
        </pc:sldMkLst>
        <pc:graphicFrameChg chg="modGraphic">
          <ac:chgData name="Viparelli, Enrica" userId="e6d7b4aa-a798-4692-bd7e-df2e77cda6e3" providerId="ADAL" clId="{AED95555-86AE-4DAC-9C4C-6A607A963546}" dt="2026-07-23T06:26:02.124" v="435" actId="2711"/>
          <ac:graphicFrameMkLst>
            <pc:docMk/>
            <pc:sldMk cId="3700158243" sldId="303"/>
            <ac:graphicFrameMk id="17" creationId="{8F74EBD8-0FBD-CC41-B3EC-F1590425B1B4}"/>
          </ac:graphicFrameMkLst>
        </pc:graphicFrameChg>
      </pc:sldChg>
      <pc:sldChg chg="modSp mod">
        <pc:chgData name="Viparelli, Enrica" userId="e6d7b4aa-a798-4692-bd7e-df2e77cda6e3" providerId="ADAL" clId="{AED95555-86AE-4DAC-9C4C-6A607A963546}" dt="2026-07-23T06:27:08.684" v="445" actId="14100"/>
        <pc:sldMkLst>
          <pc:docMk/>
          <pc:sldMk cId="1847477471" sldId="305"/>
        </pc:sldMkLst>
        <pc:spChg chg="mod">
          <ac:chgData name="Viparelli, Enrica" userId="e6d7b4aa-a798-4692-bd7e-df2e77cda6e3" providerId="ADAL" clId="{AED95555-86AE-4DAC-9C4C-6A607A963546}" dt="2026-07-23T06:27:08.684" v="445" actId="14100"/>
          <ac:spMkLst>
            <pc:docMk/>
            <pc:sldMk cId="1847477471" sldId="305"/>
            <ac:spMk id="14" creationId="{43AD70CA-2637-7943-B084-62896F72350C}"/>
          </ac:spMkLst>
        </pc:spChg>
        <pc:graphicFrameChg chg="modGraphic">
          <ac:chgData name="Viparelli, Enrica" userId="e6d7b4aa-a798-4692-bd7e-df2e77cda6e3" providerId="ADAL" clId="{AED95555-86AE-4DAC-9C4C-6A607A963546}" dt="2026-07-23T06:26:56.532" v="443" actId="2711"/>
          <ac:graphicFrameMkLst>
            <pc:docMk/>
            <pc:sldMk cId="1847477471" sldId="305"/>
            <ac:graphicFrameMk id="3" creationId="{D8925400-19A0-2743-96CB-CEB7573A485A}"/>
          </ac:graphicFrameMkLst>
        </pc:graphicFrameChg>
      </pc:sldChg>
      <pc:sldChg chg="modSp mod">
        <pc:chgData name="Viparelli, Enrica" userId="e6d7b4aa-a798-4692-bd7e-df2e77cda6e3" providerId="ADAL" clId="{AED95555-86AE-4DAC-9C4C-6A607A963546}" dt="2026-07-23T06:27:56.030" v="449" actId="2711"/>
        <pc:sldMkLst>
          <pc:docMk/>
          <pc:sldMk cId="2801838525" sldId="306"/>
        </pc:sldMkLst>
        <pc:spChg chg="mod">
          <ac:chgData name="Viparelli, Enrica" userId="e6d7b4aa-a798-4692-bd7e-df2e77cda6e3" providerId="ADAL" clId="{AED95555-86AE-4DAC-9C4C-6A607A963546}" dt="2026-07-23T06:27:48.360" v="448" actId="14100"/>
          <ac:spMkLst>
            <pc:docMk/>
            <pc:sldMk cId="2801838525" sldId="306"/>
            <ac:spMk id="14" creationId="{43AD70CA-2637-7943-B084-62896F72350C}"/>
          </ac:spMkLst>
        </pc:spChg>
        <pc:spChg chg="mod">
          <ac:chgData name="Viparelli, Enrica" userId="e6d7b4aa-a798-4692-bd7e-df2e77cda6e3" providerId="ADAL" clId="{AED95555-86AE-4DAC-9C4C-6A607A963546}" dt="2026-07-23T06:27:56.030" v="449" actId="2711"/>
          <ac:spMkLst>
            <pc:docMk/>
            <pc:sldMk cId="2801838525" sldId="306"/>
            <ac:spMk id="20" creationId="{8BEA9E8E-DFAD-C446-9DA5-143976793CE6}"/>
          </ac:spMkLst>
        </pc:spChg>
      </pc:sldChg>
      <pc:sldChg chg="modSp mod">
        <pc:chgData name="Viparelli, Enrica" userId="e6d7b4aa-a798-4692-bd7e-df2e77cda6e3" providerId="ADAL" clId="{AED95555-86AE-4DAC-9C4C-6A607A963546}" dt="2026-07-23T06:26:41.362" v="439" actId="2711"/>
        <pc:sldMkLst>
          <pc:docMk/>
          <pc:sldMk cId="2408978441" sldId="311"/>
        </pc:sldMkLst>
        <pc:graphicFrameChg chg="modGraphic">
          <ac:chgData name="Viparelli, Enrica" userId="e6d7b4aa-a798-4692-bd7e-df2e77cda6e3" providerId="ADAL" clId="{AED95555-86AE-4DAC-9C4C-6A607A963546}" dt="2026-07-23T06:26:41.362" v="439" actId="2711"/>
          <ac:graphicFrameMkLst>
            <pc:docMk/>
            <pc:sldMk cId="2408978441" sldId="311"/>
            <ac:graphicFrameMk id="7" creationId="{87D15FF1-95EB-E545-B19E-2F484E040C68}"/>
          </ac:graphicFrameMkLst>
        </pc:graphicFrameChg>
      </pc:sldChg>
      <pc:sldChg chg="modSp">
        <pc:chgData name="Viparelli, Enrica" userId="e6d7b4aa-a798-4692-bd7e-df2e77cda6e3" providerId="ADAL" clId="{AED95555-86AE-4DAC-9C4C-6A607A963546}" dt="2026-07-23T03:19:54.201" v="63" actId="20577"/>
        <pc:sldMkLst>
          <pc:docMk/>
          <pc:sldMk cId="229012451" sldId="319"/>
        </pc:sldMkLst>
        <pc:spChg chg="mod">
          <ac:chgData name="Viparelli, Enrica" userId="e6d7b4aa-a798-4692-bd7e-df2e77cda6e3" providerId="ADAL" clId="{AED95555-86AE-4DAC-9C4C-6A607A963546}" dt="2026-07-23T03:19:32.543" v="61" actId="20577"/>
          <ac:spMkLst>
            <pc:docMk/>
            <pc:sldMk cId="229012451" sldId="319"/>
            <ac:spMk id="2" creationId="{A1AAEFEB-2E2D-174C-8629-5EFF7BCF65D6}"/>
          </ac:spMkLst>
        </pc:spChg>
        <pc:spChg chg="mod">
          <ac:chgData name="Viparelli, Enrica" userId="e6d7b4aa-a798-4692-bd7e-df2e77cda6e3" providerId="ADAL" clId="{AED95555-86AE-4DAC-9C4C-6A607A963546}" dt="2026-07-23T03:19:54.201" v="63" actId="20577"/>
          <ac:spMkLst>
            <pc:docMk/>
            <pc:sldMk cId="229012451" sldId="319"/>
            <ac:spMk id="22" creationId="{3E1CC6A1-CFAE-B444-A196-A261B6AEF221}"/>
          </ac:spMkLst>
        </pc:spChg>
      </pc:sldChg>
      <pc:sldChg chg="modSp">
        <pc:chgData name="Viparelli, Enrica" userId="e6d7b4aa-a798-4692-bd7e-df2e77cda6e3" providerId="ADAL" clId="{AED95555-86AE-4DAC-9C4C-6A607A963546}" dt="2026-07-23T03:20:07.357" v="66" actId="20577"/>
        <pc:sldMkLst>
          <pc:docMk/>
          <pc:sldMk cId="1332986668" sldId="320"/>
        </pc:sldMkLst>
        <pc:spChg chg="mod">
          <ac:chgData name="Viparelli, Enrica" userId="e6d7b4aa-a798-4692-bd7e-df2e77cda6e3" providerId="ADAL" clId="{AED95555-86AE-4DAC-9C4C-6A607A963546}" dt="2026-07-23T03:20:07.357" v="66" actId="20577"/>
          <ac:spMkLst>
            <pc:docMk/>
            <pc:sldMk cId="1332986668" sldId="320"/>
            <ac:spMk id="23" creationId="{5D497D54-1D57-F7BC-4659-C646ECA0BC09}"/>
          </ac:spMkLst>
        </pc:spChg>
      </pc:sldChg>
      <pc:sldChg chg="modSp mod">
        <pc:chgData name="Viparelli, Enrica" userId="e6d7b4aa-a798-4692-bd7e-df2e77cda6e3" providerId="ADAL" clId="{AED95555-86AE-4DAC-9C4C-6A607A963546}" dt="2026-07-23T06:24:49.594" v="429" actId="2711"/>
        <pc:sldMkLst>
          <pc:docMk/>
          <pc:sldMk cId="2417462745" sldId="341"/>
        </pc:sldMkLst>
        <pc:spChg chg="mod">
          <ac:chgData name="Viparelli, Enrica" userId="e6d7b4aa-a798-4692-bd7e-df2e77cda6e3" providerId="ADAL" clId="{AED95555-86AE-4DAC-9C4C-6A607A963546}" dt="2026-07-23T06:24:49.594" v="429" actId="2711"/>
          <ac:spMkLst>
            <pc:docMk/>
            <pc:sldMk cId="2417462745" sldId="341"/>
            <ac:spMk id="9" creationId="{6CA48E9A-59CF-104F-A64F-66D27DB55BEC}"/>
          </ac:spMkLst>
        </pc:spChg>
      </pc:sldChg>
      <pc:sldChg chg="modSp mod">
        <pc:chgData name="Viparelli, Enrica" userId="e6d7b4aa-a798-4692-bd7e-df2e77cda6e3" providerId="ADAL" clId="{AED95555-86AE-4DAC-9C4C-6A607A963546}" dt="2026-07-23T06:25:13.245" v="430" actId="2711"/>
        <pc:sldMkLst>
          <pc:docMk/>
          <pc:sldMk cId="331045761" sldId="343"/>
        </pc:sldMkLst>
        <pc:graphicFrameChg chg="modGraphic">
          <ac:chgData name="Viparelli, Enrica" userId="e6d7b4aa-a798-4692-bd7e-df2e77cda6e3" providerId="ADAL" clId="{AED95555-86AE-4DAC-9C4C-6A607A963546}" dt="2026-07-23T06:25:13.245" v="430" actId="2711"/>
          <ac:graphicFrameMkLst>
            <pc:docMk/>
            <pc:sldMk cId="331045761" sldId="343"/>
            <ac:graphicFrameMk id="2" creationId="{039904E6-C4F9-C44F-8EA5-120767C8261F}"/>
          </ac:graphicFrameMkLst>
        </pc:graphicFrameChg>
      </pc:sldChg>
      <pc:sldChg chg="modSp mod">
        <pc:chgData name="Viparelli, Enrica" userId="e6d7b4aa-a798-4692-bd7e-df2e77cda6e3" providerId="ADAL" clId="{AED95555-86AE-4DAC-9C4C-6A607A963546}" dt="2026-07-23T06:25:20.777" v="431" actId="2711"/>
        <pc:sldMkLst>
          <pc:docMk/>
          <pc:sldMk cId="3751144532" sldId="344"/>
        </pc:sldMkLst>
        <pc:graphicFrameChg chg="modGraphic">
          <ac:chgData name="Viparelli, Enrica" userId="e6d7b4aa-a798-4692-bd7e-df2e77cda6e3" providerId="ADAL" clId="{AED95555-86AE-4DAC-9C4C-6A607A963546}" dt="2026-07-23T06:25:20.777" v="431" actId="2711"/>
          <ac:graphicFrameMkLst>
            <pc:docMk/>
            <pc:sldMk cId="3751144532" sldId="344"/>
            <ac:graphicFrameMk id="7" creationId="{07062558-C9A1-484A-804F-16A9C24AF70E}"/>
          </ac:graphicFrameMkLst>
        </pc:graphicFrameChg>
      </pc:sldChg>
      <pc:sldChg chg="modSp mod">
        <pc:chgData name="Viparelli, Enrica" userId="e6d7b4aa-a798-4692-bd7e-df2e77cda6e3" providerId="ADAL" clId="{AED95555-86AE-4DAC-9C4C-6A607A963546}" dt="2026-07-23T06:28:23.086" v="452" actId="14100"/>
        <pc:sldMkLst>
          <pc:docMk/>
          <pc:sldMk cId="103049753" sldId="345"/>
        </pc:sldMkLst>
        <pc:spChg chg="mod">
          <ac:chgData name="Viparelli, Enrica" userId="e6d7b4aa-a798-4692-bd7e-df2e77cda6e3" providerId="ADAL" clId="{AED95555-86AE-4DAC-9C4C-6A607A963546}" dt="2026-07-23T06:28:23.086" v="452" actId="14100"/>
          <ac:spMkLst>
            <pc:docMk/>
            <pc:sldMk cId="103049753" sldId="345"/>
            <ac:spMk id="30" creationId="{558C2E8E-1DE1-B24B-B909-2F066D3A0488}"/>
          </ac:spMkLst>
        </pc:spChg>
      </pc:sldChg>
      <pc:sldChg chg="addSp delSp modSp mod">
        <pc:chgData name="Viparelli, Enrica" userId="e6d7b4aa-a798-4692-bd7e-df2e77cda6e3" providerId="ADAL" clId="{AED95555-86AE-4DAC-9C4C-6A607A963546}" dt="2026-07-23T06:28:32.838" v="457" actId="22"/>
        <pc:sldMkLst>
          <pc:docMk/>
          <pc:sldMk cId="2776841912" sldId="346"/>
        </pc:sldMkLst>
        <pc:spChg chg="add del">
          <ac:chgData name="Viparelli, Enrica" userId="e6d7b4aa-a798-4692-bd7e-df2e77cda6e3" providerId="ADAL" clId="{AED95555-86AE-4DAC-9C4C-6A607A963546}" dt="2026-07-23T06:28:29.684" v="455" actId="22"/>
          <ac:spMkLst>
            <pc:docMk/>
            <pc:sldMk cId="2776841912" sldId="346"/>
            <ac:spMk id="8" creationId="{E321D086-EA3D-47BE-2FAA-A95EF5694964}"/>
          </ac:spMkLst>
        </pc:spChg>
        <pc:spChg chg="del mod">
          <ac:chgData name="Viparelli, Enrica" userId="e6d7b4aa-a798-4692-bd7e-df2e77cda6e3" providerId="ADAL" clId="{AED95555-86AE-4DAC-9C4C-6A607A963546}" dt="2026-07-23T06:28:31.814" v="456" actId="478"/>
          <ac:spMkLst>
            <pc:docMk/>
            <pc:sldMk cId="2776841912" sldId="346"/>
            <ac:spMk id="9" creationId="{C5C2CA49-C08E-5F17-FEA4-DE1B06677B31}"/>
          </ac:spMkLst>
        </pc:spChg>
        <pc:spChg chg="add">
          <ac:chgData name="Viparelli, Enrica" userId="e6d7b4aa-a798-4692-bd7e-df2e77cda6e3" providerId="ADAL" clId="{AED95555-86AE-4DAC-9C4C-6A607A963546}" dt="2026-07-23T06:28:32.838" v="457" actId="22"/>
          <ac:spMkLst>
            <pc:docMk/>
            <pc:sldMk cId="2776841912" sldId="346"/>
            <ac:spMk id="14" creationId="{6EC54D51-BAB4-7BB1-F749-F4A0D9E059CB}"/>
          </ac:spMkLst>
        </pc:spChg>
      </pc:sldChg>
      <pc:sldChg chg="modSp">
        <pc:chgData name="Viparelli, Enrica" userId="e6d7b4aa-a798-4692-bd7e-df2e77cda6e3" providerId="ADAL" clId="{AED95555-86AE-4DAC-9C4C-6A607A963546}" dt="2026-07-23T03:19:20.251" v="59" actId="20577"/>
        <pc:sldMkLst>
          <pc:docMk/>
          <pc:sldMk cId="98871712" sldId="382"/>
        </pc:sldMkLst>
        <pc:spChg chg="mod">
          <ac:chgData name="Viparelli, Enrica" userId="e6d7b4aa-a798-4692-bd7e-df2e77cda6e3" providerId="ADAL" clId="{AED95555-86AE-4DAC-9C4C-6A607A963546}" dt="2026-07-23T03:19:20.251" v="59" actId="20577"/>
          <ac:spMkLst>
            <pc:docMk/>
            <pc:sldMk cId="98871712" sldId="382"/>
            <ac:spMk id="2" creationId="{A1AAEFEB-2E2D-174C-8629-5EFF7BCF65D6}"/>
          </ac:spMkLst>
        </pc:spChg>
      </pc:sldChg>
      <pc:sldChg chg="ord">
        <pc:chgData name="Viparelli, Enrica" userId="e6d7b4aa-a798-4692-bd7e-df2e77cda6e3" providerId="ADAL" clId="{AED95555-86AE-4DAC-9C4C-6A607A963546}" dt="2026-07-23T02:43:11.531" v="8"/>
        <pc:sldMkLst>
          <pc:docMk/>
          <pc:sldMk cId="2794141134" sldId="396"/>
        </pc:sldMkLst>
      </pc:sldChg>
      <pc:sldChg chg="addSp modSp add">
        <pc:chgData name="Viparelli, Enrica" userId="e6d7b4aa-a798-4692-bd7e-df2e77cda6e3" providerId="ADAL" clId="{AED95555-86AE-4DAC-9C4C-6A607A963546}" dt="2026-07-23T03:01:04.529" v="39"/>
        <pc:sldMkLst>
          <pc:docMk/>
          <pc:sldMk cId="1693848557" sldId="397"/>
        </pc:sldMkLst>
        <pc:spChg chg="add mod">
          <ac:chgData name="Viparelli, Enrica" userId="e6d7b4aa-a798-4692-bd7e-df2e77cda6e3" providerId="ADAL" clId="{AED95555-86AE-4DAC-9C4C-6A607A963546}" dt="2026-07-23T03:01:04.529" v="39"/>
          <ac:spMkLst>
            <pc:docMk/>
            <pc:sldMk cId="1693848557" sldId="397"/>
            <ac:spMk id="3" creationId="{9BF68E59-6E2A-A4E8-7E3D-37E95DB49D70}"/>
          </ac:spMkLst>
        </pc:spChg>
        <pc:spChg chg="mod">
          <ac:chgData name="Viparelli, Enrica" userId="e6d7b4aa-a798-4692-bd7e-df2e77cda6e3" providerId="ADAL" clId="{AED95555-86AE-4DAC-9C4C-6A607A963546}" dt="2026-07-23T02:55:55.224" v="37" actId="2711"/>
          <ac:spMkLst>
            <pc:docMk/>
            <pc:sldMk cId="1693848557" sldId="397"/>
            <ac:spMk id="4" creationId="{31821276-E8ED-973A-AD8B-879CDE541C11}"/>
          </ac:spMkLst>
        </pc:spChg>
      </pc:sldChg>
      <pc:sldChg chg="modSp add">
        <pc:chgData name="Viparelli, Enrica" userId="e6d7b4aa-a798-4692-bd7e-df2e77cda6e3" providerId="ADAL" clId="{AED95555-86AE-4DAC-9C4C-6A607A963546}" dt="2026-07-23T03:06:19.458" v="45" actId="2711"/>
        <pc:sldMkLst>
          <pc:docMk/>
          <pc:sldMk cId="2347545776" sldId="398"/>
        </pc:sldMkLst>
        <pc:spChg chg="mod">
          <ac:chgData name="Viparelli, Enrica" userId="e6d7b4aa-a798-4692-bd7e-df2e77cda6e3" providerId="ADAL" clId="{AED95555-86AE-4DAC-9C4C-6A607A963546}" dt="2026-07-23T03:06:19.458" v="45" actId="2711"/>
          <ac:spMkLst>
            <pc:docMk/>
            <pc:sldMk cId="2347545776" sldId="398"/>
            <ac:spMk id="4" creationId="{A5C08264-8407-72D9-6AF1-00971278520F}"/>
          </ac:spMkLst>
        </pc:spChg>
      </pc:sldChg>
      <pc:sldChg chg="modSp add">
        <pc:chgData name="Viparelli, Enrica" userId="e6d7b4aa-a798-4692-bd7e-df2e77cda6e3" providerId="ADAL" clId="{AED95555-86AE-4DAC-9C4C-6A607A963546}" dt="2026-07-23T03:06:54.543" v="46" actId="2711"/>
        <pc:sldMkLst>
          <pc:docMk/>
          <pc:sldMk cId="4005773368" sldId="399"/>
        </pc:sldMkLst>
        <pc:spChg chg="mod">
          <ac:chgData name="Viparelli, Enrica" userId="e6d7b4aa-a798-4692-bd7e-df2e77cda6e3" providerId="ADAL" clId="{AED95555-86AE-4DAC-9C4C-6A607A963546}" dt="2026-07-23T03:06:54.543" v="46" actId="2711"/>
          <ac:spMkLst>
            <pc:docMk/>
            <pc:sldMk cId="4005773368" sldId="399"/>
            <ac:spMk id="4" creationId="{11CC88F5-2E1E-2EC7-C94A-44292485087C}"/>
          </ac:spMkLst>
        </pc:spChg>
      </pc:sldChg>
      <pc:sldChg chg="modSp add mod ord">
        <pc:chgData name="Viparelli, Enrica" userId="e6d7b4aa-a798-4692-bd7e-df2e77cda6e3" providerId="ADAL" clId="{AED95555-86AE-4DAC-9C4C-6A607A963546}" dt="2026-07-23T06:24:19.475" v="428" actId="1076"/>
        <pc:sldMkLst>
          <pc:docMk/>
          <pc:sldMk cId="936887409" sldId="400"/>
        </pc:sldMkLst>
        <pc:spChg chg="mod">
          <ac:chgData name="Viparelli, Enrica" userId="e6d7b4aa-a798-4692-bd7e-df2e77cda6e3" providerId="ADAL" clId="{AED95555-86AE-4DAC-9C4C-6A607A963546}" dt="2026-07-23T06:24:10.175" v="426" actId="20577"/>
          <ac:spMkLst>
            <pc:docMk/>
            <pc:sldMk cId="936887409" sldId="400"/>
            <ac:spMk id="2" creationId="{2E80E9B7-6280-7EF5-FB8D-60CBC936FAD2}"/>
          </ac:spMkLst>
        </pc:spChg>
        <pc:spChg chg="mod">
          <ac:chgData name="Viparelli, Enrica" userId="e6d7b4aa-a798-4692-bd7e-df2e77cda6e3" providerId="ADAL" clId="{AED95555-86AE-4DAC-9C4C-6A607A963546}" dt="2026-07-23T06:24:14.441" v="427" actId="1076"/>
          <ac:spMkLst>
            <pc:docMk/>
            <pc:sldMk cId="936887409" sldId="400"/>
            <ac:spMk id="4" creationId="{F417C306-C2D4-3389-71FC-875B06E1CA9B}"/>
          </ac:spMkLst>
        </pc:spChg>
        <pc:spChg chg="mod">
          <ac:chgData name="Viparelli, Enrica" userId="e6d7b4aa-a798-4692-bd7e-df2e77cda6e3" providerId="ADAL" clId="{AED95555-86AE-4DAC-9C4C-6A607A963546}" dt="2026-07-23T06:24:19.475" v="428" actId="1076"/>
          <ac:spMkLst>
            <pc:docMk/>
            <pc:sldMk cId="936887409" sldId="400"/>
            <ac:spMk id="9" creationId="{1FF220B3-4269-95A4-BBB2-AC81155B84D4}"/>
          </ac:spMkLst>
        </pc:spChg>
      </pc:sldChg>
      <pc:sldChg chg="modSp add mod">
        <pc:chgData name="Viparelli, Enrica" userId="e6d7b4aa-a798-4692-bd7e-df2e77cda6e3" providerId="ADAL" clId="{AED95555-86AE-4DAC-9C4C-6A607A963546}" dt="2026-07-23T06:21:50.065" v="91" actId="20577"/>
        <pc:sldMkLst>
          <pc:docMk/>
          <pc:sldMk cId="2701067314" sldId="401"/>
        </pc:sldMkLst>
        <pc:spChg chg="mod">
          <ac:chgData name="Viparelli, Enrica" userId="e6d7b4aa-a798-4692-bd7e-df2e77cda6e3" providerId="ADAL" clId="{AED95555-86AE-4DAC-9C4C-6A607A963546}" dt="2026-07-23T06:21:50.065" v="91" actId="20577"/>
          <ac:spMkLst>
            <pc:docMk/>
            <pc:sldMk cId="2701067314" sldId="401"/>
            <ac:spMk id="2" creationId="{E9F75514-A873-D0F9-73C9-3E4B513048F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64E3B-2BD9-864E-AEBF-C16A4A7C077A}" type="datetimeFigureOut">
              <a:rPr lang="en-US" smtClean="0"/>
              <a:t>7/23/2026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83F09F-D818-3049-9A05-0F1DC139FC7C}" type="slidenum">
              <a:rPr lang="en-US" smtClean="0"/>
              <a:t>‹#›</a:t>
            </a:fld>
            <a:endParaRPr lang="en-US"/>
          </a:p>
        </p:txBody>
      </p:sp>
    </p:spTree>
    <p:extLst>
      <p:ext uri="{BB962C8B-B14F-4D97-AF65-F5344CB8AC3E}">
        <p14:creationId xmlns:p14="http://schemas.microsoft.com/office/powerpoint/2010/main" val="3269747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36</a:t>
            </a:fld>
            <a:endParaRPr lang="en-US"/>
          </a:p>
        </p:txBody>
      </p:sp>
    </p:spTree>
    <p:extLst>
      <p:ext uri="{BB962C8B-B14F-4D97-AF65-F5344CB8AC3E}">
        <p14:creationId xmlns:p14="http://schemas.microsoft.com/office/powerpoint/2010/main" val="3663782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37</a:t>
            </a:fld>
            <a:endParaRPr lang="en-US"/>
          </a:p>
        </p:txBody>
      </p:sp>
    </p:spTree>
    <p:extLst>
      <p:ext uri="{BB962C8B-B14F-4D97-AF65-F5344CB8AC3E}">
        <p14:creationId xmlns:p14="http://schemas.microsoft.com/office/powerpoint/2010/main" val="2943829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44</a:t>
            </a:fld>
            <a:endParaRPr lang="en-US"/>
          </a:p>
        </p:txBody>
      </p:sp>
    </p:spTree>
    <p:extLst>
      <p:ext uri="{BB962C8B-B14F-4D97-AF65-F5344CB8AC3E}">
        <p14:creationId xmlns:p14="http://schemas.microsoft.com/office/powerpoint/2010/main" val="685421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8994-0DAE-BA4A-8C5F-86004274D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47246A-AE36-5847-8679-85EF93546A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EE9708-7D64-9D40-9BA1-ED83FEBE5D2F}"/>
              </a:ext>
            </a:extLst>
          </p:cNvPr>
          <p:cNvSpPr>
            <a:spLocks noGrp="1"/>
          </p:cNvSpPr>
          <p:nvPr>
            <p:ph type="dt" sz="half" idx="10"/>
          </p:nvPr>
        </p:nvSpPr>
        <p:spPr/>
        <p:txBody>
          <a:bodyPr/>
          <a:lstStyle/>
          <a:p>
            <a:fld id="{A0ECB954-ED34-4FA6-A9FE-8077D6ACA8D0}" type="datetime1">
              <a:rPr lang="en-US" smtClean="0"/>
              <a:t>7/23/2026</a:t>
            </a:fld>
            <a:endParaRPr lang="en-US"/>
          </a:p>
        </p:txBody>
      </p:sp>
      <p:sp>
        <p:nvSpPr>
          <p:cNvPr id="5" name="Footer Placeholder 4">
            <a:extLst>
              <a:ext uri="{FF2B5EF4-FFF2-40B4-BE49-F238E27FC236}">
                <a16:creationId xmlns:a16="http://schemas.microsoft.com/office/drawing/2014/main" id="{CDDFCB2B-A583-0249-8BD1-6592C1796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1B40A-AC48-1947-9F50-AB6A64155F3C}"/>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4074541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B3A4-B62D-9241-8974-F5261E837B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42ACE9-D07C-5249-A7E9-354344B800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501A1-3D3D-A74F-94B2-51EE1B5377B0}"/>
              </a:ext>
            </a:extLst>
          </p:cNvPr>
          <p:cNvSpPr>
            <a:spLocks noGrp="1"/>
          </p:cNvSpPr>
          <p:nvPr>
            <p:ph type="dt" sz="half" idx="10"/>
          </p:nvPr>
        </p:nvSpPr>
        <p:spPr/>
        <p:txBody>
          <a:bodyPr/>
          <a:lstStyle/>
          <a:p>
            <a:fld id="{E1E52652-3262-42D2-A334-1B0166F63CE6}" type="datetime1">
              <a:rPr lang="en-US" smtClean="0"/>
              <a:t>7/23/2026</a:t>
            </a:fld>
            <a:endParaRPr lang="en-US"/>
          </a:p>
        </p:txBody>
      </p:sp>
      <p:sp>
        <p:nvSpPr>
          <p:cNvPr id="5" name="Footer Placeholder 4">
            <a:extLst>
              <a:ext uri="{FF2B5EF4-FFF2-40B4-BE49-F238E27FC236}">
                <a16:creationId xmlns:a16="http://schemas.microsoft.com/office/drawing/2014/main" id="{D7933242-79FF-9A43-83D5-008BB1175A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767A8-E0B3-FA48-B9CD-3265054B2BB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79845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27466-BFD9-334B-ACCB-7AB1B4FBD4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1FD474-FFC4-F947-912C-8C3A62B07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3BEE4-0BA4-334D-888B-751ABF383DA2}"/>
              </a:ext>
            </a:extLst>
          </p:cNvPr>
          <p:cNvSpPr>
            <a:spLocks noGrp="1"/>
          </p:cNvSpPr>
          <p:nvPr>
            <p:ph type="dt" sz="half" idx="10"/>
          </p:nvPr>
        </p:nvSpPr>
        <p:spPr/>
        <p:txBody>
          <a:bodyPr/>
          <a:lstStyle/>
          <a:p>
            <a:fld id="{EFE556E4-0B0E-4724-8BF7-5B6783C9E1D5}" type="datetime1">
              <a:rPr lang="en-US" smtClean="0"/>
              <a:t>7/23/2026</a:t>
            </a:fld>
            <a:endParaRPr lang="en-US"/>
          </a:p>
        </p:txBody>
      </p:sp>
      <p:sp>
        <p:nvSpPr>
          <p:cNvPr id="5" name="Footer Placeholder 4">
            <a:extLst>
              <a:ext uri="{FF2B5EF4-FFF2-40B4-BE49-F238E27FC236}">
                <a16:creationId xmlns:a16="http://schemas.microsoft.com/office/drawing/2014/main" id="{C37732D5-CFCB-464B-B406-E6F58E8C8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D58E7-9E61-3644-822F-14C8AA657D41}"/>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2582330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4BC6-D29B-1F4F-938F-07E9F8E6C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5784D0-6CC0-AC43-BB44-2AEE77C32F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8E12C2-99E7-0F46-B4EB-C64AC10E21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A25515-4688-0F44-B939-B8AA309B47EF}"/>
              </a:ext>
            </a:extLst>
          </p:cNvPr>
          <p:cNvSpPr>
            <a:spLocks noGrp="1"/>
          </p:cNvSpPr>
          <p:nvPr>
            <p:ph type="dt" sz="half" idx="10"/>
          </p:nvPr>
        </p:nvSpPr>
        <p:spPr/>
        <p:txBody>
          <a:bodyPr/>
          <a:lstStyle/>
          <a:p>
            <a:fld id="{9C3C3797-FD04-4E39-B76C-4EBDD57FC0E8}" type="datetime1">
              <a:rPr lang="en-US" smtClean="0"/>
              <a:t>7/23/2026</a:t>
            </a:fld>
            <a:endParaRPr lang="en-US"/>
          </a:p>
        </p:txBody>
      </p:sp>
      <p:sp>
        <p:nvSpPr>
          <p:cNvPr id="6" name="Footer Placeholder 5">
            <a:extLst>
              <a:ext uri="{FF2B5EF4-FFF2-40B4-BE49-F238E27FC236}">
                <a16:creationId xmlns:a16="http://schemas.microsoft.com/office/drawing/2014/main" id="{0D2B21F8-84DD-7B4B-9D24-A91D89CE98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E6C87B-C3BC-5A41-846A-A31318112337}"/>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20200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F0F5-8358-9741-98DA-949BAC1AA4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E32334-11D4-1F4B-A8C2-2E3156A51F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99C116-4A36-C748-BD11-9226FA8499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937EE1-3285-3C4B-953D-B6AC9DA5A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6637E0-FA89-3D4A-9B4B-EBFDCBBC6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EC8A58-E296-DF4E-9A7C-61F091D5BCFB}"/>
              </a:ext>
            </a:extLst>
          </p:cNvPr>
          <p:cNvSpPr>
            <a:spLocks noGrp="1"/>
          </p:cNvSpPr>
          <p:nvPr>
            <p:ph type="dt" sz="half" idx="10"/>
          </p:nvPr>
        </p:nvSpPr>
        <p:spPr/>
        <p:txBody>
          <a:bodyPr/>
          <a:lstStyle/>
          <a:p>
            <a:fld id="{A8A46A8C-101B-4CDC-8919-895A8DDABB53}" type="datetime1">
              <a:rPr lang="en-US" smtClean="0"/>
              <a:t>7/23/2026</a:t>
            </a:fld>
            <a:endParaRPr lang="en-US"/>
          </a:p>
        </p:txBody>
      </p:sp>
      <p:sp>
        <p:nvSpPr>
          <p:cNvPr id="8" name="Footer Placeholder 7">
            <a:extLst>
              <a:ext uri="{FF2B5EF4-FFF2-40B4-BE49-F238E27FC236}">
                <a16:creationId xmlns:a16="http://schemas.microsoft.com/office/drawing/2014/main" id="{E8610E29-4C91-BF45-813E-7733F7ED38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3D1DBF-548B-C44B-A9CA-A4AA75DE6CB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18618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4A0C-1B4A-A148-83BE-FBC36C4E7E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A99E5A-BC58-684A-854A-986712C603E8}"/>
              </a:ext>
            </a:extLst>
          </p:cNvPr>
          <p:cNvSpPr>
            <a:spLocks noGrp="1"/>
          </p:cNvSpPr>
          <p:nvPr>
            <p:ph type="dt" sz="half" idx="10"/>
          </p:nvPr>
        </p:nvSpPr>
        <p:spPr/>
        <p:txBody>
          <a:bodyPr/>
          <a:lstStyle/>
          <a:p>
            <a:fld id="{2EB4E9F0-E379-44E8-9097-1B1A7360DA6A}" type="datetime1">
              <a:rPr lang="en-US" smtClean="0"/>
              <a:t>7/23/2026</a:t>
            </a:fld>
            <a:endParaRPr lang="en-US"/>
          </a:p>
        </p:txBody>
      </p:sp>
      <p:sp>
        <p:nvSpPr>
          <p:cNvPr id="4" name="Footer Placeholder 3">
            <a:extLst>
              <a:ext uri="{FF2B5EF4-FFF2-40B4-BE49-F238E27FC236}">
                <a16:creationId xmlns:a16="http://schemas.microsoft.com/office/drawing/2014/main" id="{78365D2C-58DF-8546-9A33-9471F56537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503D0-879B-B745-9E62-78E679ADCCC3}"/>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06929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E2FDA-EE2D-8E4E-99B0-9FE6349507C2}"/>
              </a:ext>
            </a:extLst>
          </p:cNvPr>
          <p:cNvSpPr>
            <a:spLocks noGrp="1"/>
          </p:cNvSpPr>
          <p:nvPr>
            <p:ph type="dt" sz="half" idx="10"/>
          </p:nvPr>
        </p:nvSpPr>
        <p:spPr/>
        <p:txBody>
          <a:bodyPr/>
          <a:lstStyle/>
          <a:p>
            <a:fld id="{5C013809-F27F-4B60-BD64-70790C197D21}" type="datetime1">
              <a:rPr lang="en-US" smtClean="0"/>
              <a:t>7/23/2026</a:t>
            </a:fld>
            <a:endParaRPr lang="en-US"/>
          </a:p>
        </p:txBody>
      </p:sp>
      <p:sp>
        <p:nvSpPr>
          <p:cNvPr id="3" name="Footer Placeholder 2">
            <a:extLst>
              <a:ext uri="{FF2B5EF4-FFF2-40B4-BE49-F238E27FC236}">
                <a16:creationId xmlns:a16="http://schemas.microsoft.com/office/drawing/2014/main" id="{47B317BC-A40C-4D45-9279-7698A6E5A5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7FDD1-E6FF-404D-96BA-26CA56C45F2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68102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B305-4ED0-8848-857A-E423B37ED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7600C4-68D3-C94C-9AF4-CA9B3E94F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F295DC-F288-604F-BD95-93F79EE389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19FFC-BF69-4146-8145-D535568DCA5A}"/>
              </a:ext>
            </a:extLst>
          </p:cNvPr>
          <p:cNvSpPr>
            <a:spLocks noGrp="1"/>
          </p:cNvSpPr>
          <p:nvPr>
            <p:ph type="dt" sz="half" idx="10"/>
          </p:nvPr>
        </p:nvSpPr>
        <p:spPr/>
        <p:txBody>
          <a:bodyPr/>
          <a:lstStyle/>
          <a:p>
            <a:fld id="{4AD3C005-9443-4BAC-92EF-14D672D90A19}" type="datetime1">
              <a:rPr lang="en-US" smtClean="0"/>
              <a:t>7/23/2026</a:t>
            </a:fld>
            <a:endParaRPr lang="en-US"/>
          </a:p>
        </p:txBody>
      </p:sp>
      <p:sp>
        <p:nvSpPr>
          <p:cNvPr id="6" name="Footer Placeholder 5">
            <a:extLst>
              <a:ext uri="{FF2B5EF4-FFF2-40B4-BE49-F238E27FC236}">
                <a16:creationId xmlns:a16="http://schemas.microsoft.com/office/drawing/2014/main" id="{AA608AC6-8B2A-FA4E-9882-5B496E5BE2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34A4A-F50E-544A-9F28-D3EB594478BD}"/>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34118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3E71-AC1E-C546-8205-BBC894B6B5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264831-E62D-F44C-B453-47BECFAC00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7F079C-96D8-5949-95F5-AA24C7FC9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002139-6EFA-9D40-B25C-BFE15F955ABE}"/>
              </a:ext>
            </a:extLst>
          </p:cNvPr>
          <p:cNvSpPr>
            <a:spLocks noGrp="1"/>
          </p:cNvSpPr>
          <p:nvPr>
            <p:ph type="dt" sz="half" idx="10"/>
          </p:nvPr>
        </p:nvSpPr>
        <p:spPr/>
        <p:txBody>
          <a:bodyPr/>
          <a:lstStyle/>
          <a:p>
            <a:fld id="{EDDD0EF0-A140-477E-8FA5-3CA614F62238}" type="datetime1">
              <a:rPr lang="en-US" smtClean="0"/>
              <a:t>7/23/2026</a:t>
            </a:fld>
            <a:endParaRPr lang="en-US"/>
          </a:p>
        </p:txBody>
      </p:sp>
      <p:sp>
        <p:nvSpPr>
          <p:cNvPr id="6" name="Footer Placeholder 5">
            <a:extLst>
              <a:ext uri="{FF2B5EF4-FFF2-40B4-BE49-F238E27FC236}">
                <a16:creationId xmlns:a16="http://schemas.microsoft.com/office/drawing/2014/main" id="{8B9DA5C2-E09C-884C-8DA8-222389B10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0D65F-F9D2-914F-8503-61B3B469FB65}"/>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20771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541B-E467-E148-88CE-8DAF5AC34E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17E00B-38A8-A443-8739-DCF9048A7E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29A2A1-58B2-0948-BE4A-3BCD5AAA9792}"/>
              </a:ext>
            </a:extLst>
          </p:cNvPr>
          <p:cNvSpPr>
            <a:spLocks noGrp="1"/>
          </p:cNvSpPr>
          <p:nvPr>
            <p:ph type="dt" sz="half" idx="10"/>
          </p:nvPr>
        </p:nvSpPr>
        <p:spPr/>
        <p:txBody>
          <a:bodyPr/>
          <a:lstStyle/>
          <a:p>
            <a:fld id="{E0E05AA2-931D-40AB-9CB9-1F1565CE32E3}" type="datetime1">
              <a:rPr lang="en-US" smtClean="0"/>
              <a:t>7/23/2026</a:t>
            </a:fld>
            <a:endParaRPr lang="en-US"/>
          </a:p>
        </p:txBody>
      </p:sp>
      <p:sp>
        <p:nvSpPr>
          <p:cNvPr id="5" name="Footer Placeholder 4">
            <a:extLst>
              <a:ext uri="{FF2B5EF4-FFF2-40B4-BE49-F238E27FC236}">
                <a16:creationId xmlns:a16="http://schemas.microsoft.com/office/drawing/2014/main" id="{664DAC2D-4814-8D4C-8DF1-29C266D11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63EDF-3CAD-AA43-A340-424306E5BE4F}"/>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731734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7AA97A-3649-AD44-919F-132E8CBC25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1188B4-4FD1-094D-B953-2B345E4F71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0AA260-2036-114D-8F21-44E761C2D0AF}"/>
              </a:ext>
            </a:extLst>
          </p:cNvPr>
          <p:cNvSpPr>
            <a:spLocks noGrp="1"/>
          </p:cNvSpPr>
          <p:nvPr>
            <p:ph type="dt" sz="half" idx="10"/>
          </p:nvPr>
        </p:nvSpPr>
        <p:spPr/>
        <p:txBody>
          <a:bodyPr/>
          <a:lstStyle/>
          <a:p>
            <a:fld id="{7FF7C0A9-310A-4DB8-9C59-451473F4F011}" type="datetime1">
              <a:rPr lang="en-US" smtClean="0"/>
              <a:t>7/23/2026</a:t>
            </a:fld>
            <a:endParaRPr lang="en-US"/>
          </a:p>
        </p:txBody>
      </p:sp>
      <p:sp>
        <p:nvSpPr>
          <p:cNvPr id="5" name="Footer Placeholder 4">
            <a:extLst>
              <a:ext uri="{FF2B5EF4-FFF2-40B4-BE49-F238E27FC236}">
                <a16:creationId xmlns:a16="http://schemas.microsoft.com/office/drawing/2014/main" id="{4771FDA6-C06A-9640-8812-E6BC491E97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E6085-E504-6947-9DE8-BBE0BA9131D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61687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EA77F-5A2B-ED45-AF55-19811C2AC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72D507-DDC9-E940-8AC6-87B8A768B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D1271-3A6D-4F47-9F42-BEBA65019C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35A775-1EF0-410B-858B-4440A59C57EF}" type="datetime1">
              <a:rPr lang="en-US" smtClean="0"/>
              <a:t>7/23/2026</a:t>
            </a:fld>
            <a:endParaRPr lang="en-US"/>
          </a:p>
        </p:txBody>
      </p:sp>
      <p:sp>
        <p:nvSpPr>
          <p:cNvPr id="5" name="Footer Placeholder 4">
            <a:extLst>
              <a:ext uri="{FF2B5EF4-FFF2-40B4-BE49-F238E27FC236}">
                <a16:creationId xmlns:a16="http://schemas.microsoft.com/office/drawing/2014/main" id="{7C9A1370-B33E-034B-8489-5ABBEE195F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5240A2-DA22-7343-AC6E-1C3776139F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86C454-E1BD-5A43-901A-CA4ACC7380B7}" type="slidenum">
              <a:rPr lang="en-US" smtClean="0"/>
              <a:t>‹#›</a:t>
            </a:fld>
            <a:endParaRPr lang="en-US"/>
          </a:p>
        </p:txBody>
      </p:sp>
    </p:spTree>
    <p:extLst>
      <p:ext uri="{BB962C8B-B14F-4D97-AF65-F5344CB8AC3E}">
        <p14:creationId xmlns:p14="http://schemas.microsoft.com/office/powerpoint/2010/main" val="3102922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mailto:viparell@cec.sc.edu" TargetMode="External"/><Relationship Id="rId2" Type="http://schemas.openxmlformats.org/officeDocument/2006/relationships/hyperlink" Target="http://hydrolab.illinois.edu/people/parkerg/morphodynamics_e-book.htm" TargetMode="External"/><Relationship Id="rId1" Type="http://schemas.openxmlformats.org/officeDocument/2006/relationships/slideLayout" Target="../slideLayouts/slideLayout7.xml"/><Relationship Id="rId5" Type="http://schemas.openxmlformats.org/officeDocument/2006/relationships/hyperlink" Target="mailto:eviparelli@unina.it" TargetMode="External"/><Relationship Id="rId4" Type="http://schemas.openxmlformats.org/officeDocument/2006/relationships/hyperlink" Target="mailto:eviparelli@gmail.co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7.xml"/><Relationship Id="rId4" Type="http://schemas.openxmlformats.org/officeDocument/2006/relationships/image" Target="../media/image300.png"/></Relationships>
</file>

<file path=ppt/slides/_rels/slide3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10.png"/><Relationship Id="rId1" Type="http://schemas.openxmlformats.org/officeDocument/2006/relationships/slideLayout" Target="../slideLayouts/slideLayout7.xml"/><Relationship Id="rId5" Type="http://schemas.openxmlformats.org/officeDocument/2006/relationships/image" Target="../media/image23.emf"/><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8" Type="http://schemas.openxmlformats.org/officeDocument/2006/relationships/image" Target="../media/image24.emf"/><Relationship Id="rId7" Type="http://schemas.openxmlformats.org/officeDocument/2006/relationships/image" Target="../media/image34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0.png"/></Relationships>
</file>

<file path=ppt/slides/_rels/slide3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27.emf"/><Relationship Id="rId1" Type="http://schemas.openxmlformats.org/officeDocument/2006/relationships/slideLayout" Target="../slideLayouts/slideLayout7.xml"/><Relationship Id="rId6" Type="http://schemas.openxmlformats.org/officeDocument/2006/relationships/image" Target="../media/image380.png"/><Relationship Id="rId5" Type="http://schemas.openxmlformats.org/officeDocument/2006/relationships/image" Target="../media/image370.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29.emf"/><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39.png"/><Relationship Id="rId7"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30.emf"/><Relationship Id="rId4" Type="http://schemas.openxmlformats.org/officeDocument/2006/relationships/image" Target="../media/image40.png"/><Relationship Id="rId9" Type="http://schemas.openxmlformats.org/officeDocument/2006/relationships/image" Target="../media/image451.png"/></Relationships>
</file>

<file path=ppt/slides/_rels/slide43.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450.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480.png"/><Relationship Id="rId4" Type="http://schemas.openxmlformats.org/officeDocument/2006/relationships/image" Target="../media/image470.png"/></Relationships>
</file>

<file path=ppt/slides/_rels/slide44.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7.xml"/><Relationship Id="rId6" Type="http://schemas.openxmlformats.org/officeDocument/2006/relationships/image" Target="../media/image32.emf"/><Relationship Id="rId5" Type="http://schemas.openxmlformats.org/officeDocument/2006/relationships/image" Target="../media/image54.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34.emf"/></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610.png"/><Relationship Id="rId4" Type="http://schemas.openxmlformats.org/officeDocument/2006/relationships/image" Target="../media/image600.png"/></Relationships>
</file>

<file path=ppt/slides/_rels/slide5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3.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610.png"/><Relationship Id="rId4" Type="http://schemas.openxmlformats.org/officeDocument/2006/relationships/image" Target="../media/image600.png"/></Relationships>
</file>

<file path=ppt/slides/_rels/slide54.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5.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10.png"/><Relationship Id="rId4" Type="http://schemas.openxmlformats.org/officeDocument/2006/relationships/image" Target="../media/image600.png"/></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311.png"/></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7.png"/><Relationship Id="rId1" Type="http://schemas.openxmlformats.org/officeDocument/2006/relationships/slideLayout" Target="../slideLayouts/slideLayout7.xml"/><Relationship Id="rId5" Type="http://schemas.openxmlformats.org/officeDocument/2006/relationships/image" Target="../media/image71.png"/><Relationship Id="rId4" Type="http://schemas.openxmlformats.org/officeDocument/2006/relationships/image" Target="../media/image690.png"/></Relationships>
</file>

<file path=ppt/slides/_rels/slide57.xml.rels><?xml version="1.0" encoding="UTF-8" standalone="yes"?>
<Relationships xmlns="http://schemas.openxmlformats.org/package/2006/relationships"><Relationship Id="rId3" Type="http://schemas.openxmlformats.org/officeDocument/2006/relationships/image" Target="../media/image700.png"/><Relationship Id="rId7" Type="http://schemas.openxmlformats.org/officeDocument/2006/relationships/image" Target="../media/image73.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690.png"/></Relationships>
</file>

<file path=ppt/slides/_rels/slide58.xml.rels><?xml version="1.0" encoding="UTF-8" standalone="yes"?>
<Relationships xmlns="http://schemas.openxmlformats.org/package/2006/relationships"><Relationship Id="rId3" Type="http://schemas.openxmlformats.org/officeDocument/2006/relationships/image" Target="../media/image520.png"/><Relationship Id="rId7" Type="http://schemas.openxmlformats.org/officeDocument/2006/relationships/image" Target="../media/image74.png"/><Relationship Id="rId2" Type="http://schemas.openxmlformats.org/officeDocument/2006/relationships/image" Target="../media/image490.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5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412176" y="136525"/>
            <a:ext cx="536764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Tentative schedule</a:t>
            </a:r>
          </a:p>
        </p:txBody>
      </p:sp>
      <p:sp>
        <p:nvSpPr>
          <p:cNvPr id="3" name="TextBox 2">
            <a:extLst>
              <a:ext uri="{FF2B5EF4-FFF2-40B4-BE49-F238E27FC236}">
                <a16:creationId xmlns:a16="http://schemas.microsoft.com/office/drawing/2014/main" id="{BFD68862-34C6-7195-9B87-FB7251515B44}"/>
              </a:ext>
            </a:extLst>
          </p:cNvPr>
          <p:cNvSpPr txBox="1"/>
          <p:nvPr/>
        </p:nvSpPr>
        <p:spPr>
          <a:xfrm>
            <a:off x="9023039" y="5966854"/>
            <a:ext cx="2615587" cy="707886"/>
          </a:xfrm>
          <a:prstGeom prst="rect">
            <a:avLst/>
          </a:prstGeom>
          <a:noFill/>
        </p:spPr>
        <p:txBody>
          <a:bodyPr wrap="square" rtlCol="0">
            <a:spAutoFit/>
          </a:bodyPr>
          <a:lstStyle/>
          <a:p>
            <a:r>
              <a:rPr lang="en-US" sz="2000" b="1" dirty="0">
                <a:ln w="6600">
                  <a:solidFill>
                    <a:schemeClr val="accent2">
                      <a:lumMod val="40000"/>
                      <a:lumOff val="60000"/>
                    </a:schemeClr>
                  </a:solidFill>
                  <a:prstDash val="solid"/>
                </a:ln>
                <a:solidFill>
                  <a:srgbClr val="007AF3"/>
                </a:solidFill>
                <a:effectLst>
                  <a:outerShdw dist="38100" dir="2700000" algn="tl" rotWithShape="0">
                    <a:schemeClr val="accent2"/>
                  </a:outerShdw>
                </a:effectLst>
              </a:rPr>
              <a:t>If you have questions, I am in room 1A-69</a:t>
            </a:r>
          </a:p>
        </p:txBody>
      </p:sp>
      <p:sp>
        <p:nvSpPr>
          <p:cNvPr id="7" name="TextBox 6">
            <a:extLst>
              <a:ext uri="{FF2B5EF4-FFF2-40B4-BE49-F238E27FC236}">
                <a16:creationId xmlns:a16="http://schemas.microsoft.com/office/drawing/2014/main" id="{C02C8112-8ACE-ECD5-3A0A-60434A6832EA}"/>
              </a:ext>
            </a:extLst>
          </p:cNvPr>
          <p:cNvSpPr txBox="1"/>
          <p:nvPr/>
        </p:nvSpPr>
        <p:spPr>
          <a:xfrm>
            <a:off x="358068" y="887769"/>
            <a:ext cx="2731362" cy="1104277"/>
          </a:xfrm>
          <a:prstGeom prst="rect">
            <a:avLst/>
          </a:prstGeom>
          <a:noFill/>
        </p:spPr>
        <p:txBody>
          <a:bodyPr wrap="square" rtlCol="0">
            <a:spAutoFit/>
          </a:bodyPr>
          <a:lstStyle/>
          <a:p>
            <a:pPr>
              <a:lnSpc>
                <a:spcPct val="120000"/>
              </a:lnSpc>
            </a:pPr>
            <a:r>
              <a:rPr lang="en-US" sz="2000" dirty="0">
                <a:solidFill>
                  <a:srgbClr val="FF0000"/>
                </a:solidFill>
              </a:rPr>
              <a:t>Today (July 23)	</a:t>
            </a:r>
          </a:p>
          <a:p>
            <a:pPr>
              <a:lnSpc>
                <a:spcPct val="120000"/>
              </a:lnSpc>
            </a:pPr>
            <a:r>
              <a:rPr lang="en-US" dirty="0">
                <a:solidFill>
                  <a:schemeClr val="accent1"/>
                </a:solidFill>
              </a:rPr>
              <a:t>Introduction and </a:t>
            </a:r>
          </a:p>
          <a:p>
            <a:pPr>
              <a:lnSpc>
                <a:spcPct val="120000"/>
              </a:lnSpc>
            </a:pPr>
            <a:r>
              <a:rPr lang="en-US" dirty="0">
                <a:solidFill>
                  <a:schemeClr val="accent1"/>
                </a:solidFill>
              </a:rPr>
              <a:t>Sediment characterization</a:t>
            </a:r>
          </a:p>
        </p:txBody>
      </p:sp>
      <p:sp>
        <p:nvSpPr>
          <p:cNvPr id="9" name="TextBox 8">
            <a:extLst>
              <a:ext uri="{FF2B5EF4-FFF2-40B4-BE49-F238E27FC236}">
                <a16:creationId xmlns:a16="http://schemas.microsoft.com/office/drawing/2014/main" id="{D8416957-57F4-5D05-F3F6-E66ADB56CA39}"/>
              </a:ext>
            </a:extLst>
          </p:cNvPr>
          <p:cNvSpPr txBox="1"/>
          <p:nvPr/>
        </p:nvSpPr>
        <p:spPr>
          <a:xfrm>
            <a:off x="3910615" y="883417"/>
            <a:ext cx="3777447" cy="1104277"/>
          </a:xfrm>
          <a:prstGeom prst="rect">
            <a:avLst/>
          </a:prstGeom>
          <a:noFill/>
        </p:spPr>
        <p:txBody>
          <a:bodyPr wrap="square" rtlCol="0">
            <a:spAutoFit/>
          </a:bodyPr>
          <a:lstStyle/>
          <a:p>
            <a:pPr>
              <a:lnSpc>
                <a:spcPct val="120000"/>
              </a:lnSpc>
            </a:pPr>
            <a:r>
              <a:rPr lang="en-US" sz="2000" dirty="0">
                <a:solidFill>
                  <a:srgbClr val="FF0000"/>
                </a:solidFill>
              </a:rPr>
              <a:t>Tomorrow (July 24)</a:t>
            </a:r>
          </a:p>
          <a:p>
            <a:pPr>
              <a:lnSpc>
                <a:spcPct val="120000"/>
              </a:lnSpc>
            </a:pPr>
            <a:r>
              <a:rPr lang="en-US" dirty="0">
                <a:solidFill>
                  <a:schemeClr val="accent1"/>
                </a:solidFill>
              </a:rPr>
              <a:t>Brief review of open channel flow </a:t>
            </a:r>
            <a:endParaRPr lang="en-US" dirty="0"/>
          </a:p>
          <a:p>
            <a:pPr>
              <a:lnSpc>
                <a:spcPct val="120000"/>
              </a:lnSpc>
            </a:pPr>
            <a:r>
              <a:rPr lang="en-US" dirty="0">
                <a:solidFill>
                  <a:schemeClr val="accent6">
                    <a:lumMod val="75000"/>
                  </a:schemeClr>
                </a:solidFill>
              </a:rPr>
              <a:t>Exner equation</a:t>
            </a:r>
          </a:p>
        </p:txBody>
      </p:sp>
      <p:sp>
        <p:nvSpPr>
          <p:cNvPr id="13" name="TextBox 12">
            <a:extLst>
              <a:ext uri="{FF2B5EF4-FFF2-40B4-BE49-F238E27FC236}">
                <a16:creationId xmlns:a16="http://schemas.microsoft.com/office/drawing/2014/main" id="{42D2FA19-CE56-2791-C1DD-28F1A047FABC}"/>
              </a:ext>
            </a:extLst>
          </p:cNvPr>
          <p:cNvSpPr txBox="1"/>
          <p:nvPr/>
        </p:nvSpPr>
        <p:spPr>
          <a:xfrm>
            <a:off x="358068" y="2172156"/>
            <a:ext cx="2731361" cy="771878"/>
          </a:xfrm>
          <a:prstGeom prst="rect">
            <a:avLst/>
          </a:prstGeom>
          <a:noFill/>
        </p:spPr>
        <p:txBody>
          <a:bodyPr wrap="square" rtlCol="0">
            <a:spAutoFit/>
          </a:bodyPr>
          <a:lstStyle/>
          <a:p>
            <a:pPr>
              <a:lnSpc>
                <a:spcPct val="120000"/>
              </a:lnSpc>
            </a:pPr>
            <a:r>
              <a:rPr lang="en-US" sz="2000" dirty="0">
                <a:solidFill>
                  <a:srgbClr val="FF0000"/>
                </a:solidFill>
              </a:rPr>
              <a:t>July 27 (Monday)</a:t>
            </a:r>
          </a:p>
          <a:p>
            <a:pPr>
              <a:lnSpc>
                <a:spcPct val="120000"/>
              </a:lnSpc>
            </a:pPr>
            <a:r>
              <a:rPr lang="en-US" dirty="0">
                <a:solidFill>
                  <a:schemeClr val="accent1"/>
                </a:solidFill>
              </a:rPr>
              <a:t>Initiation of motion</a:t>
            </a:r>
            <a:endParaRPr lang="en-US" dirty="0"/>
          </a:p>
        </p:txBody>
      </p:sp>
      <p:sp>
        <p:nvSpPr>
          <p:cNvPr id="15" name="TextBox 14">
            <a:extLst>
              <a:ext uri="{FF2B5EF4-FFF2-40B4-BE49-F238E27FC236}">
                <a16:creationId xmlns:a16="http://schemas.microsoft.com/office/drawing/2014/main" id="{E5CC71C5-368C-1EBC-2443-273A3667707B}"/>
              </a:ext>
            </a:extLst>
          </p:cNvPr>
          <p:cNvSpPr txBox="1"/>
          <p:nvPr/>
        </p:nvSpPr>
        <p:spPr>
          <a:xfrm>
            <a:off x="3910614" y="2140094"/>
            <a:ext cx="3777447" cy="771878"/>
          </a:xfrm>
          <a:prstGeom prst="rect">
            <a:avLst/>
          </a:prstGeom>
          <a:noFill/>
        </p:spPr>
        <p:txBody>
          <a:bodyPr wrap="square" rtlCol="0">
            <a:spAutoFit/>
          </a:bodyPr>
          <a:lstStyle/>
          <a:p>
            <a:pPr>
              <a:lnSpc>
                <a:spcPct val="120000"/>
              </a:lnSpc>
            </a:pPr>
            <a:r>
              <a:rPr lang="en-US" sz="2000" dirty="0">
                <a:solidFill>
                  <a:srgbClr val="FF0000"/>
                </a:solidFill>
              </a:rPr>
              <a:t>July 28 (Tuesday)</a:t>
            </a:r>
          </a:p>
          <a:p>
            <a:pPr>
              <a:lnSpc>
                <a:spcPct val="120000"/>
              </a:lnSpc>
            </a:pPr>
            <a:r>
              <a:rPr lang="en-US" dirty="0">
                <a:solidFill>
                  <a:schemeClr val="accent1"/>
                </a:solidFill>
              </a:rPr>
              <a:t>Fluvial bedforms (intro) </a:t>
            </a:r>
            <a:endParaRPr lang="en-US" dirty="0"/>
          </a:p>
        </p:txBody>
      </p:sp>
      <p:sp>
        <p:nvSpPr>
          <p:cNvPr id="20" name="TextBox 19">
            <a:extLst>
              <a:ext uri="{FF2B5EF4-FFF2-40B4-BE49-F238E27FC236}">
                <a16:creationId xmlns:a16="http://schemas.microsoft.com/office/drawing/2014/main" id="{FCD20969-349F-E1D7-FB03-C618D228A180}"/>
              </a:ext>
            </a:extLst>
          </p:cNvPr>
          <p:cNvSpPr txBox="1"/>
          <p:nvPr/>
        </p:nvSpPr>
        <p:spPr>
          <a:xfrm>
            <a:off x="7610192" y="2123914"/>
            <a:ext cx="3777447" cy="1104277"/>
          </a:xfrm>
          <a:prstGeom prst="rect">
            <a:avLst/>
          </a:prstGeom>
          <a:noFill/>
        </p:spPr>
        <p:txBody>
          <a:bodyPr wrap="square" rtlCol="0">
            <a:spAutoFit/>
          </a:bodyPr>
          <a:lstStyle/>
          <a:p>
            <a:pPr>
              <a:lnSpc>
                <a:spcPct val="120000"/>
              </a:lnSpc>
            </a:pPr>
            <a:r>
              <a:rPr lang="en-US" sz="2000" dirty="0">
                <a:solidFill>
                  <a:srgbClr val="FF0000"/>
                </a:solidFill>
              </a:rPr>
              <a:t>July 29 (Wednesday)</a:t>
            </a:r>
          </a:p>
          <a:p>
            <a:pPr>
              <a:lnSpc>
                <a:spcPct val="120000"/>
              </a:lnSpc>
            </a:pPr>
            <a:r>
              <a:rPr lang="en-US" dirty="0">
                <a:solidFill>
                  <a:schemeClr val="accent1"/>
                </a:solidFill>
              </a:rPr>
              <a:t>Flow resistance</a:t>
            </a:r>
          </a:p>
          <a:p>
            <a:pPr>
              <a:lnSpc>
                <a:spcPct val="120000"/>
              </a:lnSpc>
            </a:pPr>
            <a:r>
              <a:rPr lang="en-US" dirty="0">
                <a:solidFill>
                  <a:schemeClr val="accent6">
                    <a:lumMod val="75000"/>
                  </a:schemeClr>
                </a:solidFill>
              </a:rPr>
              <a:t>Foundations of stability analysis</a:t>
            </a:r>
          </a:p>
        </p:txBody>
      </p:sp>
      <p:sp>
        <p:nvSpPr>
          <p:cNvPr id="21" name="TextBox 20">
            <a:extLst>
              <a:ext uri="{FF2B5EF4-FFF2-40B4-BE49-F238E27FC236}">
                <a16:creationId xmlns:a16="http://schemas.microsoft.com/office/drawing/2014/main" id="{4B99B831-6A13-4BFD-7C6A-7921D88D7F3E}"/>
              </a:ext>
            </a:extLst>
          </p:cNvPr>
          <p:cNvSpPr txBox="1"/>
          <p:nvPr/>
        </p:nvSpPr>
        <p:spPr>
          <a:xfrm>
            <a:off x="358070" y="3404626"/>
            <a:ext cx="2074414" cy="771878"/>
          </a:xfrm>
          <a:prstGeom prst="rect">
            <a:avLst/>
          </a:prstGeom>
          <a:noFill/>
        </p:spPr>
        <p:txBody>
          <a:bodyPr wrap="square" rtlCol="0">
            <a:spAutoFit/>
          </a:bodyPr>
          <a:lstStyle/>
          <a:p>
            <a:pPr>
              <a:lnSpc>
                <a:spcPct val="120000"/>
              </a:lnSpc>
            </a:pPr>
            <a:r>
              <a:rPr lang="en-US" sz="2000" dirty="0">
                <a:solidFill>
                  <a:srgbClr val="FF0000"/>
                </a:solidFill>
              </a:rPr>
              <a:t>July 30 (Thursday)</a:t>
            </a:r>
          </a:p>
          <a:p>
            <a:pPr>
              <a:lnSpc>
                <a:spcPct val="120000"/>
              </a:lnSpc>
            </a:pPr>
            <a:r>
              <a:rPr lang="en-US" dirty="0">
                <a:solidFill>
                  <a:schemeClr val="accent1"/>
                </a:solidFill>
              </a:rPr>
              <a:t>Bedload transport </a:t>
            </a:r>
            <a:endParaRPr lang="en-US" dirty="0"/>
          </a:p>
        </p:txBody>
      </p:sp>
      <p:sp>
        <p:nvSpPr>
          <p:cNvPr id="22" name="TextBox 21">
            <a:extLst>
              <a:ext uri="{FF2B5EF4-FFF2-40B4-BE49-F238E27FC236}">
                <a16:creationId xmlns:a16="http://schemas.microsoft.com/office/drawing/2014/main" id="{E3095DEE-B712-C261-5485-953F71917C35}"/>
              </a:ext>
            </a:extLst>
          </p:cNvPr>
          <p:cNvSpPr txBox="1"/>
          <p:nvPr/>
        </p:nvSpPr>
        <p:spPr>
          <a:xfrm>
            <a:off x="3910615" y="3372564"/>
            <a:ext cx="3777447" cy="1104277"/>
          </a:xfrm>
          <a:prstGeom prst="rect">
            <a:avLst/>
          </a:prstGeom>
          <a:noFill/>
        </p:spPr>
        <p:txBody>
          <a:bodyPr wrap="square" rtlCol="0">
            <a:spAutoFit/>
          </a:bodyPr>
          <a:lstStyle/>
          <a:p>
            <a:pPr>
              <a:lnSpc>
                <a:spcPct val="120000"/>
              </a:lnSpc>
            </a:pPr>
            <a:r>
              <a:rPr lang="en-US" sz="2000" dirty="0">
                <a:solidFill>
                  <a:srgbClr val="FF0000"/>
                </a:solidFill>
              </a:rPr>
              <a:t>July 31 (Friday)</a:t>
            </a:r>
          </a:p>
          <a:p>
            <a:pPr>
              <a:lnSpc>
                <a:spcPct val="120000"/>
              </a:lnSpc>
            </a:pPr>
            <a:r>
              <a:rPr lang="en-US" dirty="0">
                <a:solidFill>
                  <a:schemeClr val="accent1"/>
                </a:solidFill>
              </a:rPr>
              <a:t>Bedload transport</a:t>
            </a:r>
          </a:p>
          <a:p>
            <a:pPr>
              <a:lnSpc>
                <a:spcPct val="120000"/>
              </a:lnSpc>
            </a:pPr>
            <a:r>
              <a:rPr lang="en-US" dirty="0">
                <a:solidFill>
                  <a:schemeClr val="accent6">
                    <a:lumMod val="75000"/>
                  </a:schemeClr>
                </a:solidFill>
              </a:rPr>
              <a:t>Stability analysis of fluvial bars</a:t>
            </a:r>
          </a:p>
        </p:txBody>
      </p:sp>
      <p:sp>
        <p:nvSpPr>
          <p:cNvPr id="24" name="TextBox 23">
            <a:extLst>
              <a:ext uri="{FF2B5EF4-FFF2-40B4-BE49-F238E27FC236}">
                <a16:creationId xmlns:a16="http://schemas.microsoft.com/office/drawing/2014/main" id="{13307E1C-3EA2-3117-B2C8-B5541ABE4781}"/>
              </a:ext>
            </a:extLst>
          </p:cNvPr>
          <p:cNvSpPr txBox="1"/>
          <p:nvPr/>
        </p:nvSpPr>
        <p:spPr>
          <a:xfrm>
            <a:off x="7610193" y="3356384"/>
            <a:ext cx="3777447" cy="1104277"/>
          </a:xfrm>
          <a:prstGeom prst="rect">
            <a:avLst/>
          </a:prstGeom>
          <a:noFill/>
        </p:spPr>
        <p:txBody>
          <a:bodyPr wrap="square" rtlCol="0">
            <a:spAutoFit/>
          </a:bodyPr>
          <a:lstStyle/>
          <a:p>
            <a:pPr>
              <a:lnSpc>
                <a:spcPct val="120000"/>
              </a:lnSpc>
            </a:pPr>
            <a:r>
              <a:rPr lang="en-US" sz="2000" dirty="0">
                <a:solidFill>
                  <a:srgbClr val="FF0000"/>
                </a:solidFill>
              </a:rPr>
              <a:t>August 3 (Monday)</a:t>
            </a:r>
          </a:p>
          <a:p>
            <a:pPr>
              <a:lnSpc>
                <a:spcPct val="120000"/>
              </a:lnSpc>
            </a:pPr>
            <a:r>
              <a:rPr lang="en-US" dirty="0">
                <a:solidFill>
                  <a:schemeClr val="accent1"/>
                </a:solidFill>
              </a:rPr>
              <a:t>Seminar</a:t>
            </a:r>
          </a:p>
          <a:p>
            <a:pPr>
              <a:lnSpc>
                <a:spcPct val="120000"/>
              </a:lnSpc>
            </a:pPr>
            <a:r>
              <a:rPr lang="en-US" dirty="0">
                <a:solidFill>
                  <a:schemeClr val="accent6">
                    <a:lumMod val="75000"/>
                  </a:schemeClr>
                </a:solidFill>
              </a:rPr>
              <a:t>Stability analysis of dunes</a:t>
            </a:r>
          </a:p>
        </p:txBody>
      </p:sp>
      <p:sp>
        <p:nvSpPr>
          <p:cNvPr id="26" name="TextBox 25">
            <a:extLst>
              <a:ext uri="{FF2B5EF4-FFF2-40B4-BE49-F238E27FC236}">
                <a16:creationId xmlns:a16="http://schemas.microsoft.com/office/drawing/2014/main" id="{8C25B9E4-6CA5-18EB-C63C-1F6E176BF8DD}"/>
              </a:ext>
            </a:extLst>
          </p:cNvPr>
          <p:cNvSpPr txBox="1"/>
          <p:nvPr/>
        </p:nvSpPr>
        <p:spPr>
          <a:xfrm>
            <a:off x="358069" y="4781694"/>
            <a:ext cx="2367375" cy="771878"/>
          </a:xfrm>
          <a:prstGeom prst="rect">
            <a:avLst/>
          </a:prstGeom>
          <a:noFill/>
        </p:spPr>
        <p:txBody>
          <a:bodyPr wrap="square" rtlCol="0">
            <a:spAutoFit/>
          </a:bodyPr>
          <a:lstStyle/>
          <a:p>
            <a:pPr>
              <a:lnSpc>
                <a:spcPct val="120000"/>
              </a:lnSpc>
            </a:pPr>
            <a:r>
              <a:rPr lang="en-US" sz="2000" dirty="0">
                <a:solidFill>
                  <a:srgbClr val="FF0000"/>
                </a:solidFill>
              </a:rPr>
              <a:t>August 4 (Tuesday)</a:t>
            </a:r>
          </a:p>
          <a:p>
            <a:pPr>
              <a:lnSpc>
                <a:spcPct val="120000"/>
              </a:lnSpc>
            </a:pPr>
            <a:r>
              <a:rPr lang="en-US" dirty="0">
                <a:solidFill>
                  <a:schemeClr val="accent1"/>
                </a:solidFill>
              </a:rPr>
              <a:t>Total load calculations</a:t>
            </a:r>
            <a:endParaRPr lang="en-US" dirty="0"/>
          </a:p>
        </p:txBody>
      </p:sp>
      <p:sp>
        <p:nvSpPr>
          <p:cNvPr id="28" name="TextBox 27">
            <a:extLst>
              <a:ext uri="{FF2B5EF4-FFF2-40B4-BE49-F238E27FC236}">
                <a16:creationId xmlns:a16="http://schemas.microsoft.com/office/drawing/2014/main" id="{0CC9EF54-7AA3-9162-7A7C-59918B84EB77}"/>
              </a:ext>
            </a:extLst>
          </p:cNvPr>
          <p:cNvSpPr txBox="1"/>
          <p:nvPr/>
        </p:nvSpPr>
        <p:spPr>
          <a:xfrm>
            <a:off x="3910615" y="4749632"/>
            <a:ext cx="3777447" cy="1104277"/>
          </a:xfrm>
          <a:prstGeom prst="rect">
            <a:avLst/>
          </a:prstGeom>
          <a:noFill/>
        </p:spPr>
        <p:txBody>
          <a:bodyPr wrap="square" rtlCol="0">
            <a:spAutoFit/>
          </a:bodyPr>
          <a:lstStyle/>
          <a:p>
            <a:pPr>
              <a:lnSpc>
                <a:spcPct val="120000"/>
              </a:lnSpc>
            </a:pPr>
            <a:r>
              <a:rPr lang="en-US" sz="2000" dirty="0">
                <a:solidFill>
                  <a:srgbClr val="FF0000"/>
                </a:solidFill>
              </a:rPr>
              <a:t>August 5 (Wednesday)</a:t>
            </a:r>
          </a:p>
          <a:p>
            <a:pPr>
              <a:lnSpc>
                <a:spcPct val="120000"/>
              </a:lnSpc>
            </a:pPr>
            <a:r>
              <a:rPr lang="en-US" dirty="0">
                <a:solidFill>
                  <a:schemeClr val="accent1"/>
                </a:solidFill>
              </a:rPr>
              <a:t>Suspended load calculations</a:t>
            </a:r>
          </a:p>
          <a:p>
            <a:pPr>
              <a:lnSpc>
                <a:spcPct val="120000"/>
              </a:lnSpc>
            </a:pPr>
            <a:r>
              <a:rPr lang="en-US" dirty="0">
                <a:solidFill>
                  <a:schemeClr val="accent6">
                    <a:lumMod val="75000"/>
                  </a:schemeClr>
                </a:solidFill>
              </a:rPr>
              <a:t>Weakly nonlinear stability analysis</a:t>
            </a:r>
          </a:p>
        </p:txBody>
      </p:sp>
      <p:sp>
        <p:nvSpPr>
          <p:cNvPr id="29" name="Slide Number Placeholder 28">
            <a:extLst>
              <a:ext uri="{FF2B5EF4-FFF2-40B4-BE49-F238E27FC236}">
                <a16:creationId xmlns:a16="http://schemas.microsoft.com/office/drawing/2014/main" id="{A451E4B8-1230-754D-55B0-DDC67E52166A}"/>
              </a:ext>
            </a:extLst>
          </p:cNvPr>
          <p:cNvSpPr>
            <a:spLocks noGrp="1"/>
          </p:cNvSpPr>
          <p:nvPr>
            <p:ph type="sldNum" sz="quarter" idx="12"/>
          </p:nvPr>
        </p:nvSpPr>
        <p:spPr/>
        <p:txBody>
          <a:bodyPr/>
          <a:lstStyle/>
          <a:p>
            <a:fld id="{2386C454-E1BD-5A43-901A-CA4ACC7380B7}" type="slidenum">
              <a:rPr lang="en-US" smtClean="0"/>
              <a:t>1</a:t>
            </a:fld>
            <a:endParaRPr lang="en-US"/>
          </a:p>
        </p:txBody>
      </p:sp>
    </p:spTree>
    <p:extLst>
      <p:ext uri="{BB962C8B-B14F-4D97-AF65-F5344CB8AC3E}">
        <p14:creationId xmlns:p14="http://schemas.microsoft.com/office/powerpoint/2010/main" val="2870022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412176" y="136525"/>
            <a:ext cx="536764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Various</a:t>
            </a:r>
          </a:p>
        </p:txBody>
      </p:sp>
      <p:sp>
        <p:nvSpPr>
          <p:cNvPr id="17" name="TextBox 16">
            <a:extLst>
              <a:ext uri="{FF2B5EF4-FFF2-40B4-BE49-F238E27FC236}">
                <a16:creationId xmlns:a16="http://schemas.microsoft.com/office/drawing/2014/main" id="{EA48D088-9342-014C-BE6F-7A5382ECB029}"/>
              </a:ext>
            </a:extLst>
          </p:cNvPr>
          <p:cNvSpPr txBox="1"/>
          <p:nvPr/>
        </p:nvSpPr>
        <p:spPr>
          <a:xfrm>
            <a:off x="403760" y="1009403"/>
            <a:ext cx="5909117"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Main reference</a:t>
            </a:r>
          </a:p>
        </p:txBody>
      </p:sp>
      <p:sp>
        <p:nvSpPr>
          <p:cNvPr id="6" name="TextBox 5">
            <a:extLst>
              <a:ext uri="{FF2B5EF4-FFF2-40B4-BE49-F238E27FC236}">
                <a16:creationId xmlns:a16="http://schemas.microsoft.com/office/drawing/2014/main" id="{BA55A957-1EA6-254C-AE3B-C8F9A76B41DC}"/>
              </a:ext>
            </a:extLst>
          </p:cNvPr>
          <p:cNvSpPr txBox="1"/>
          <p:nvPr/>
        </p:nvSpPr>
        <p:spPr>
          <a:xfrm>
            <a:off x="391350" y="1717424"/>
            <a:ext cx="11409299"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Gary Parker’s e-book 1D Sediment Transport Morphodynamics with applications to rivers and turbidity currents. Freely downloadable at </a:t>
            </a:r>
            <a:r>
              <a:rPr lang="en-US" dirty="0">
                <a:latin typeface="Arial" panose="020B0604020202020204" pitchFamily="34" charset="0"/>
                <a:cs typeface="Arial" panose="020B0604020202020204" pitchFamily="34" charset="0"/>
                <a:hlinkClick r:id="rId2"/>
              </a:rPr>
              <a:t>http://hydrolab.illinois.edu/people/parkerg/morphodynamics_e-book.htm</a:t>
            </a:r>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46BCE77-4730-4539-E6C7-3738AD9F32B9}"/>
              </a:ext>
            </a:extLst>
          </p:cNvPr>
          <p:cNvSpPr txBox="1"/>
          <p:nvPr/>
        </p:nvSpPr>
        <p:spPr>
          <a:xfrm>
            <a:off x="391350" y="2928892"/>
            <a:ext cx="7545287" cy="1077218"/>
          </a:xfrm>
          <a:prstGeom prst="rect">
            <a:avLst/>
          </a:prstGeom>
          <a:noFill/>
        </p:spPr>
        <p:txBody>
          <a:bodyPr wrap="square" rtlCol="0">
            <a:spAutoFit/>
          </a:bodyPr>
          <a:lstStyle/>
          <a:p>
            <a:r>
              <a:rPr lang="en-US" sz="3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rial" panose="020B0604020202020204" pitchFamily="34" charset="0"/>
                <a:cs typeface="Arial" panose="020B0604020202020204" pitchFamily="34" charset="0"/>
              </a:rPr>
              <a:t>Voluntary group work</a:t>
            </a:r>
          </a:p>
          <a:p>
            <a:endPar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a:p>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hlinkClick r:id="rId3"/>
              </a:rPr>
              <a:t>viparell@cec.sc.edu</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or </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hlinkClick r:id="rId4"/>
              </a:rPr>
              <a:t>eviparelli@gmail.com</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or </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hlinkClick r:id="rId5"/>
              </a:rPr>
              <a:t>eviparelli@unina.it</a:t>
            </a:r>
            <a:r>
              <a:rPr lang="en-US" sz="1600" dirty="0">
                <a:ln w="0"/>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a:t>
            </a:r>
          </a:p>
        </p:txBody>
      </p:sp>
      <p:sp>
        <p:nvSpPr>
          <p:cNvPr id="3" name="Slide Number Placeholder 2">
            <a:extLst>
              <a:ext uri="{FF2B5EF4-FFF2-40B4-BE49-F238E27FC236}">
                <a16:creationId xmlns:a16="http://schemas.microsoft.com/office/drawing/2014/main" id="{92105C3D-72F8-C237-2380-CAB818EB0113}"/>
              </a:ext>
            </a:extLst>
          </p:cNvPr>
          <p:cNvSpPr>
            <a:spLocks noGrp="1"/>
          </p:cNvSpPr>
          <p:nvPr>
            <p:ph type="sldNum" sz="quarter" idx="12"/>
          </p:nvPr>
        </p:nvSpPr>
        <p:spPr/>
        <p:txBody>
          <a:bodyPr/>
          <a:lstStyle/>
          <a:p>
            <a:fld id="{2386C454-E1BD-5A43-901A-CA4ACC7380B7}" type="slidenum">
              <a:rPr lang="en-US" smtClean="0"/>
              <a:t>2</a:t>
            </a:fld>
            <a:endParaRPr lang="en-US"/>
          </a:p>
        </p:txBody>
      </p:sp>
    </p:spTree>
    <p:extLst>
      <p:ext uri="{BB962C8B-B14F-4D97-AF65-F5344CB8AC3E}">
        <p14:creationId xmlns:p14="http://schemas.microsoft.com/office/powerpoint/2010/main" val="4047773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412176" y="136525"/>
            <a:ext cx="536764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a:t>
            </a:r>
          </a:p>
        </p:txBody>
      </p:sp>
      <p:pic>
        <p:nvPicPr>
          <p:cNvPr id="6" name="Picture 5" descr="A pile of rocks&#10;&#10;Description automatically generated with low confidence">
            <a:extLst>
              <a:ext uri="{FF2B5EF4-FFF2-40B4-BE49-F238E27FC236}">
                <a16:creationId xmlns:a16="http://schemas.microsoft.com/office/drawing/2014/main" id="{4E4B69F2-F81D-B645-B57F-9C0F6437B0BD}"/>
              </a:ext>
            </a:extLst>
          </p:cNvPr>
          <p:cNvPicPr>
            <a:picLocks noChangeAspect="1"/>
          </p:cNvPicPr>
          <p:nvPr/>
        </p:nvPicPr>
        <p:blipFill>
          <a:blip r:embed="rId2"/>
          <a:stretch>
            <a:fillRect/>
          </a:stretch>
        </p:blipFill>
        <p:spPr>
          <a:xfrm>
            <a:off x="660228" y="1219174"/>
            <a:ext cx="2375264" cy="1577730"/>
          </a:xfrm>
          <a:prstGeom prst="rect">
            <a:avLst/>
          </a:prstGeom>
        </p:spPr>
      </p:pic>
      <p:sp>
        <p:nvSpPr>
          <p:cNvPr id="2" name="TextBox 1">
            <a:extLst>
              <a:ext uri="{FF2B5EF4-FFF2-40B4-BE49-F238E27FC236}">
                <a16:creationId xmlns:a16="http://schemas.microsoft.com/office/drawing/2014/main" id="{B851FCC3-459E-F947-BCF1-C6BD25181082}"/>
              </a:ext>
            </a:extLst>
          </p:cNvPr>
          <p:cNvSpPr txBox="1"/>
          <p:nvPr/>
        </p:nvSpPr>
        <p:spPr>
          <a:xfrm>
            <a:off x="660228" y="287722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Boulders</a:t>
            </a:r>
          </a:p>
        </p:txBody>
      </p:sp>
      <p:pic>
        <p:nvPicPr>
          <p:cNvPr id="7" name="Picture 6" descr="A picture containing outdoor, rock, rocky, nature&#10;&#10;Description automatically generated">
            <a:extLst>
              <a:ext uri="{FF2B5EF4-FFF2-40B4-BE49-F238E27FC236}">
                <a16:creationId xmlns:a16="http://schemas.microsoft.com/office/drawing/2014/main" id="{04815808-A44B-2345-8B5A-EF9D8FFC4748}"/>
              </a:ext>
            </a:extLst>
          </p:cNvPr>
          <p:cNvPicPr>
            <a:picLocks noChangeAspect="1"/>
          </p:cNvPicPr>
          <p:nvPr/>
        </p:nvPicPr>
        <p:blipFill>
          <a:blip r:embed="rId3"/>
          <a:stretch>
            <a:fillRect/>
          </a:stretch>
        </p:blipFill>
        <p:spPr>
          <a:xfrm>
            <a:off x="3897527" y="1219174"/>
            <a:ext cx="2392602" cy="1577730"/>
          </a:xfrm>
          <a:prstGeom prst="rect">
            <a:avLst/>
          </a:prstGeom>
        </p:spPr>
      </p:pic>
      <p:sp>
        <p:nvSpPr>
          <p:cNvPr id="8" name="TextBox 7">
            <a:extLst>
              <a:ext uri="{FF2B5EF4-FFF2-40B4-BE49-F238E27FC236}">
                <a16:creationId xmlns:a16="http://schemas.microsoft.com/office/drawing/2014/main" id="{80475CEC-2BCE-BB43-A791-690508BCA8B9}"/>
              </a:ext>
            </a:extLst>
          </p:cNvPr>
          <p:cNvSpPr txBox="1"/>
          <p:nvPr/>
        </p:nvSpPr>
        <p:spPr>
          <a:xfrm>
            <a:off x="3897527" y="287722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Pebbles / cobbles</a:t>
            </a:r>
          </a:p>
        </p:txBody>
      </p:sp>
      <p:pic>
        <p:nvPicPr>
          <p:cNvPr id="10" name="Picture 9" descr="A picture containing rock, outdoor, stone, nature&#10;&#10;Description automatically generated">
            <a:extLst>
              <a:ext uri="{FF2B5EF4-FFF2-40B4-BE49-F238E27FC236}">
                <a16:creationId xmlns:a16="http://schemas.microsoft.com/office/drawing/2014/main" id="{CD7AD097-DFD4-0344-8DA6-72B44A437E91}"/>
              </a:ext>
            </a:extLst>
          </p:cNvPr>
          <p:cNvPicPr>
            <a:picLocks noChangeAspect="1"/>
          </p:cNvPicPr>
          <p:nvPr/>
        </p:nvPicPr>
        <p:blipFill>
          <a:blip r:embed="rId4"/>
          <a:stretch>
            <a:fillRect/>
          </a:stretch>
        </p:blipFill>
        <p:spPr>
          <a:xfrm>
            <a:off x="7152163" y="1219173"/>
            <a:ext cx="2041263" cy="1534903"/>
          </a:xfrm>
          <a:prstGeom prst="rect">
            <a:avLst/>
          </a:prstGeom>
        </p:spPr>
      </p:pic>
      <p:sp>
        <p:nvSpPr>
          <p:cNvPr id="11" name="TextBox 10">
            <a:extLst>
              <a:ext uri="{FF2B5EF4-FFF2-40B4-BE49-F238E27FC236}">
                <a16:creationId xmlns:a16="http://schemas.microsoft.com/office/drawing/2014/main" id="{D542756F-C392-3846-AE91-A72D53E08641}"/>
              </a:ext>
            </a:extLst>
          </p:cNvPr>
          <p:cNvSpPr txBox="1"/>
          <p:nvPr/>
        </p:nvSpPr>
        <p:spPr>
          <a:xfrm>
            <a:off x="7152163" y="287722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Gravel</a:t>
            </a:r>
          </a:p>
        </p:txBody>
      </p:sp>
      <p:pic>
        <p:nvPicPr>
          <p:cNvPr id="9" name="Picture 8">
            <a:extLst>
              <a:ext uri="{FF2B5EF4-FFF2-40B4-BE49-F238E27FC236}">
                <a16:creationId xmlns:a16="http://schemas.microsoft.com/office/drawing/2014/main" id="{B9C43A1E-ABDF-2A40-B1F8-A1BB4FEAFA16}"/>
              </a:ext>
            </a:extLst>
          </p:cNvPr>
          <p:cNvPicPr>
            <a:picLocks noChangeAspect="1"/>
          </p:cNvPicPr>
          <p:nvPr/>
        </p:nvPicPr>
        <p:blipFill>
          <a:blip r:embed="rId5"/>
          <a:stretch>
            <a:fillRect/>
          </a:stretch>
        </p:blipFill>
        <p:spPr>
          <a:xfrm>
            <a:off x="714802" y="3778250"/>
            <a:ext cx="2320689" cy="1464832"/>
          </a:xfrm>
          <a:prstGeom prst="rect">
            <a:avLst/>
          </a:prstGeom>
        </p:spPr>
      </p:pic>
      <p:sp>
        <p:nvSpPr>
          <p:cNvPr id="12" name="TextBox 11">
            <a:extLst>
              <a:ext uri="{FF2B5EF4-FFF2-40B4-BE49-F238E27FC236}">
                <a16:creationId xmlns:a16="http://schemas.microsoft.com/office/drawing/2014/main" id="{64BC68F2-3CEF-CB4A-92AB-B8D97F44496F}"/>
              </a:ext>
            </a:extLst>
          </p:cNvPr>
          <p:cNvSpPr txBox="1"/>
          <p:nvPr/>
        </p:nvSpPr>
        <p:spPr>
          <a:xfrm>
            <a:off x="714802"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Coarse sand</a:t>
            </a:r>
          </a:p>
        </p:txBody>
      </p:sp>
      <p:pic>
        <p:nvPicPr>
          <p:cNvPr id="14" name="Picture 13" descr="A close - up of some sand&#10;&#10;Description automatically generated with low confidence">
            <a:extLst>
              <a:ext uri="{FF2B5EF4-FFF2-40B4-BE49-F238E27FC236}">
                <a16:creationId xmlns:a16="http://schemas.microsoft.com/office/drawing/2014/main" id="{D96A40B9-EA16-8A41-913B-FDCB993A86C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22818"/>
          <a:stretch/>
        </p:blipFill>
        <p:spPr>
          <a:xfrm>
            <a:off x="3897527" y="3778250"/>
            <a:ext cx="2392602" cy="1799087"/>
          </a:xfrm>
          <a:prstGeom prst="rect">
            <a:avLst/>
          </a:prstGeom>
        </p:spPr>
      </p:pic>
      <p:sp>
        <p:nvSpPr>
          <p:cNvPr id="15" name="TextBox 14">
            <a:extLst>
              <a:ext uri="{FF2B5EF4-FFF2-40B4-BE49-F238E27FC236}">
                <a16:creationId xmlns:a16="http://schemas.microsoft.com/office/drawing/2014/main" id="{B498B136-B390-9E44-A174-46D07BD77E00}"/>
              </a:ext>
            </a:extLst>
          </p:cNvPr>
          <p:cNvSpPr txBox="1"/>
          <p:nvPr/>
        </p:nvSpPr>
        <p:spPr>
          <a:xfrm>
            <a:off x="3933567"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Fine sand</a:t>
            </a:r>
          </a:p>
        </p:txBody>
      </p:sp>
      <p:pic>
        <p:nvPicPr>
          <p:cNvPr id="13" name="Picture 12" descr="A picture containing cake, food, chocolate, eaten&#10;&#10;Description automatically generated">
            <a:extLst>
              <a:ext uri="{FF2B5EF4-FFF2-40B4-BE49-F238E27FC236}">
                <a16:creationId xmlns:a16="http://schemas.microsoft.com/office/drawing/2014/main" id="{3A1BE481-A2DE-5244-801A-E668E0E94AFB}"/>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152163" y="3576976"/>
            <a:ext cx="2097459" cy="1797577"/>
          </a:xfrm>
          <a:prstGeom prst="rect">
            <a:avLst/>
          </a:prstGeom>
        </p:spPr>
      </p:pic>
      <p:sp>
        <p:nvSpPr>
          <p:cNvPr id="16" name="TextBox 15">
            <a:extLst>
              <a:ext uri="{FF2B5EF4-FFF2-40B4-BE49-F238E27FC236}">
                <a16:creationId xmlns:a16="http://schemas.microsoft.com/office/drawing/2014/main" id="{8318A98F-F1FC-6D46-9CF1-BD5ACD50D0B8}"/>
              </a:ext>
            </a:extLst>
          </p:cNvPr>
          <p:cNvSpPr txBox="1"/>
          <p:nvPr/>
        </p:nvSpPr>
        <p:spPr>
          <a:xfrm>
            <a:off x="7152163" y="5392671"/>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Silt</a:t>
            </a:r>
          </a:p>
        </p:txBody>
      </p:sp>
      <p:pic>
        <p:nvPicPr>
          <p:cNvPr id="18" name="Picture 17" descr="A picture containing snow, flour, sugar&#10;&#10;Description automatically generated">
            <a:extLst>
              <a:ext uri="{FF2B5EF4-FFF2-40B4-BE49-F238E27FC236}">
                <a16:creationId xmlns:a16="http://schemas.microsoft.com/office/drawing/2014/main" id="{721EF98A-ABFD-3844-90F0-3131E6599147}"/>
              </a:ext>
            </a:extLst>
          </p:cNvPr>
          <p:cNvPicPr>
            <a:picLocks noChangeAspect="1"/>
          </p:cNvPicPr>
          <p:nvPr/>
        </p:nvPicPr>
        <p:blipFill>
          <a:blip r:embed="rId8"/>
          <a:stretch>
            <a:fillRect/>
          </a:stretch>
        </p:blipFill>
        <p:spPr>
          <a:xfrm>
            <a:off x="9660238" y="3037753"/>
            <a:ext cx="2336800" cy="2336800"/>
          </a:xfrm>
          <a:prstGeom prst="rect">
            <a:avLst/>
          </a:prstGeom>
        </p:spPr>
      </p:pic>
      <p:sp>
        <p:nvSpPr>
          <p:cNvPr id="19" name="TextBox 18">
            <a:extLst>
              <a:ext uri="{FF2B5EF4-FFF2-40B4-BE49-F238E27FC236}">
                <a16:creationId xmlns:a16="http://schemas.microsoft.com/office/drawing/2014/main" id="{DD74B3FC-E5BD-FE4A-BB38-B0CC416B074D}"/>
              </a:ext>
            </a:extLst>
          </p:cNvPr>
          <p:cNvSpPr txBox="1"/>
          <p:nvPr/>
        </p:nvSpPr>
        <p:spPr>
          <a:xfrm>
            <a:off x="9747422" y="5397722"/>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Clay</a:t>
            </a:r>
          </a:p>
        </p:txBody>
      </p:sp>
      <p:sp>
        <p:nvSpPr>
          <p:cNvPr id="3" name="Slide Number Placeholder 2">
            <a:extLst>
              <a:ext uri="{FF2B5EF4-FFF2-40B4-BE49-F238E27FC236}">
                <a16:creationId xmlns:a16="http://schemas.microsoft.com/office/drawing/2014/main" id="{6EB5F8FC-ADFA-72AF-08BA-54D82B807F01}"/>
              </a:ext>
            </a:extLst>
          </p:cNvPr>
          <p:cNvSpPr>
            <a:spLocks noGrp="1"/>
          </p:cNvSpPr>
          <p:nvPr>
            <p:ph type="sldNum" sz="quarter" idx="12"/>
          </p:nvPr>
        </p:nvSpPr>
        <p:spPr/>
        <p:txBody>
          <a:bodyPr/>
          <a:lstStyle/>
          <a:p>
            <a:fld id="{2386C454-E1BD-5A43-901A-CA4ACC7380B7}" type="slidenum">
              <a:rPr lang="en-US" smtClean="0"/>
              <a:t>3</a:t>
            </a:fld>
            <a:endParaRPr lang="en-US"/>
          </a:p>
        </p:txBody>
      </p:sp>
    </p:spTree>
    <p:extLst>
      <p:ext uri="{BB962C8B-B14F-4D97-AF65-F5344CB8AC3E}">
        <p14:creationId xmlns:p14="http://schemas.microsoft.com/office/powerpoint/2010/main" val="2267133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412176" y="136525"/>
            <a:ext cx="536764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size (diameter D)</a:t>
            </a:r>
          </a:p>
        </p:txBody>
      </p:sp>
      <p:pic>
        <p:nvPicPr>
          <p:cNvPr id="6" name="Picture 5" descr="A pile of rocks&#10;&#10;Description automatically generated with low confidence">
            <a:extLst>
              <a:ext uri="{FF2B5EF4-FFF2-40B4-BE49-F238E27FC236}">
                <a16:creationId xmlns:a16="http://schemas.microsoft.com/office/drawing/2014/main" id="{4E4B69F2-F81D-B645-B57F-9C0F6437B0BD}"/>
              </a:ext>
            </a:extLst>
          </p:cNvPr>
          <p:cNvPicPr>
            <a:picLocks noChangeAspect="1"/>
          </p:cNvPicPr>
          <p:nvPr/>
        </p:nvPicPr>
        <p:blipFill>
          <a:blip r:embed="rId2"/>
          <a:stretch>
            <a:fillRect/>
          </a:stretch>
        </p:blipFill>
        <p:spPr>
          <a:xfrm>
            <a:off x="660228" y="1219174"/>
            <a:ext cx="2375264" cy="1577730"/>
          </a:xfrm>
          <a:prstGeom prst="rect">
            <a:avLst/>
          </a:prstGeom>
        </p:spPr>
      </p:pic>
      <p:sp>
        <p:nvSpPr>
          <p:cNvPr id="2" name="TextBox 1">
            <a:extLst>
              <a:ext uri="{FF2B5EF4-FFF2-40B4-BE49-F238E27FC236}">
                <a16:creationId xmlns:a16="http://schemas.microsoft.com/office/drawing/2014/main" id="{B851FCC3-459E-F947-BCF1-C6BD25181082}"/>
              </a:ext>
            </a:extLst>
          </p:cNvPr>
          <p:cNvSpPr txBox="1"/>
          <p:nvPr/>
        </p:nvSpPr>
        <p:spPr>
          <a:xfrm>
            <a:off x="660228" y="2877223"/>
            <a:ext cx="26019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Boulders </a:t>
            </a:r>
          </a:p>
          <a:p>
            <a:r>
              <a:rPr lang="en-US" dirty="0">
                <a:latin typeface="Arial" panose="020B0604020202020204" pitchFamily="34" charset="0"/>
                <a:cs typeface="Arial" panose="020B0604020202020204" pitchFamily="34" charset="0"/>
              </a:rPr>
              <a:t>(D &gt; 256 mm)</a:t>
            </a:r>
          </a:p>
        </p:txBody>
      </p:sp>
      <p:pic>
        <p:nvPicPr>
          <p:cNvPr id="7" name="Picture 6" descr="A picture containing outdoor, rock, rocky, nature&#10;&#10;Description automatically generated">
            <a:extLst>
              <a:ext uri="{FF2B5EF4-FFF2-40B4-BE49-F238E27FC236}">
                <a16:creationId xmlns:a16="http://schemas.microsoft.com/office/drawing/2014/main" id="{04815808-A44B-2345-8B5A-EF9D8FFC4748}"/>
              </a:ext>
            </a:extLst>
          </p:cNvPr>
          <p:cNvPicPr>
            <a:picLocks noChangeAspect="1"/>
          </p:cNvPicPr>
          <p:nvPr/>
        </p:nvPicPr>
        <p:blipFill>
          <a:blip r:embed="rId3"/>
          <a:stretch>
            <a:fillRect/>
          </a:stretch>
        </p:blipFill>
        <p:spPr>
          <a:xfrm>
            <a:off x="3897527" y="1219174"/>
            <a:ext cx="2392602" cy="1577730"/>
          </a:xfrm>
          <a:prstGeom prst="rect">
            <a:avLst/>
          </a:prstGeom>
        </p:spPr>
      </p:pic>
      <p:sp>
        <p:nvSpPr>
          <p:cNvPr id="8" name="TextBox 7">
            <a:extLst>
              <a:ext uri="{FF2B5EF4-FFF2-40B4-BE49-F238E27FC236}">
                <a16:creationId xmlns:a16="http://schemas.microsoft.com/office/drawing/2014/main" id="{80475CEC-2BCE-BB43-A791-690508BCA8B9}"/>
              </a:ext>
            </a:extLst>
          </p:cNvPr>
          <p:cNvSpPr txBox="1"/>
          <p:nvPr/>
        </p:nvSpPr>
        <p:spPr>
          <a:xfrm>
            <a:off x="3897526" y="2877223"/>
            <a:ext cx="26019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Pebbles / cobbles</a:t>
            </a:r>
          </a:p>
          <a:p>
            <a:r>
              <a:rPr lang="en-US" dirty="0">
                <a:latin typeface="Arial" panose="020B0604020202020204" pitchFamily="34" charset="0"/>
                <a:cs typeface="Arial" panose="020B0604020202020204" pitchFamily="34" charset="0"/>
              </a:rPr>
              <a:t>(D = 64 mm – 256 mm)</a:t>
            </a:r>
          </a:p>
        </p:txBody>
      </p:sp>
      <p:pic>
        <p:nvPicPr>
          <p:cNvPr id="10" name="Picture 9" descr="A picture containing rock, outdoor, stone, nature&#10;&#10;Description automatically generated">
            <a:extLst>
              <a:ext uri="{FF2B5EF4-FFF2-40B4-BE49-F238E27FC236}">
                <a16:creationId xmlns:a16="http://schemas.microsoft.com/office/drawing/2014/main" id="{CD7AD097-DFD4-0344-8DA6-72B44A437E91}"/>
              </a:ext>
            </a:extLst>
          </p:cNvPr>
          <p:cNvPicPr>
            <a:picLocks noChangeAspect="1"/>
          </p:cNvPicPr>
          <p:nvPr/>
        </p:nvPicPr>
        <p:blipFill>
          <a:blip r:embed="rId4"/>
          <a:stretch>
            <a:fillRect/>
          </a:stretch>
        </p:blipFill>
        <p:spPr>
          <a:xfrm>
            <a:off x="7152163" y="1219173"/>
            <a:ext cx="2041263" cy="1534903"/>
          </a:xfrm>
          <a:prstGeom prst="rect">
            <a:avLst/>
          </a:prstGeom>
        </p:spPr>
      </p:pic>
      <p:sp>
        <p:nvSpPr>
          <p:cNvPr id="11" name="TextBox 10">
            <a:extLst>
              <a:ext uri="{FF2B5EF4-FFF2-40B4-BE49-F238E27FC236}">
                <a16:creationId xmlns:a16="http://schemas.microsoft.com/office/drawing/2014/main" id="{D542756F-C392-3846-AE91-A72D53E08641}"/>
              </a:ext>
            </a:extLst>
          </p:cNvPr>
          <p:cNvSpPr txBox="1"/>
          <p:nvPr/>
        </p:nvSpPr>
        <p:spPr>
          <a:xfrm>
            <a:off x="7152162" y="2877223"/>
            <a:ext cx="233679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Gravel</a:t>
            </a:r>
          </a:p>
          <a:p>
            <a:r>
              <a:rPr lang="en-US" dirty="0">
                <a:latin typeface="Arial" panose="020B0604020202020204" pitchFamily="34" charset="0"/>
                <a:cs typeface="Arial" panose="020B0604020202020204" pitchFamily="34" charset="0"/>
              </a:rPr>
              <a:t>(D = 2 mm – 64 mm)</a:t>
            </a:r>
          </a:p>
        </p:txBody>
      </p:sp>
      <p:pic>
        <p:nvPicPr>
          <p:cNvPr id="9" name="Picture 8">
            <a:extLst>
              <a:ext uri="{FF2B5EF4-FFF2-40B4-BE49-F238E27FC236}">
                <a16:creationId xmlns:a16="http://schemas.microsoft.com/office/drawing/2014/main" id="{B9C43A1E-ABDF-2A40-B1F8-A1BB4FEAFA16}"/>
              </a:ext>
            </a:extLst>
          </p:cNvPr>
          <p:cNvPicPr>
            <a:picLocks noChangeAspect="1"/>
          </p:cNvPicPr>
          <p:nvPr/>
        </p:nvPicPr>
        <p:blipFill>
          <a:blip r:embed="rId5"/>
          <a:stretch>
            <a:fillRect/>
          </a:stretch>
        </p:blipFill>
        <p:spPr>
          <a:xfrm>
            <a:off x="714802" y="3778250"/>
            <a:ext cx="2320689" cy="1464832"/>
          </a:xfrm>
          <a:prstGeom prst="rect">
            <a:avLst/>
          </a:prstGeom>
        </p:spPr>
      </p:pic>
      <p:sp>
        <p:nvSpPr>
          <p:cNvPr id="12" name="TextBox 11">
            <a:extLst>
              <a:ext uri="{FF2B5EF4-FFF2-40B4-BE49-F238E27FC236}">
                <a16:creationId xmlns:a16="http://schemas.microsoft.com/office/drawing/2014/main" id="{64BC68F2-3CEF-CB4A-92AB-B8D97F44496F}"/>
              </a:ext>
            </a:extLst>
          </p:cNvPr>
          <p:cNvSpPr txBox="1"/>
          <p:nvPr/>
        </p:nvSpPr>
        <p:spPr>
          <a:xfrm>
            <a:off x="714802"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Coarse sand</a:t>
            </a:r>
          </a:p>
        </p:txBody>
      </p:sp>
      <p:pic>
        <p:nvPicPr>
          <p:cNvPr id="14" name="Picture 13" descr="A close - up of some sand&#10;&#10;Description automatically generated with low confidence">
            <a:extLst>
              <a:ext uri="{FF2B5EF4-FFF2-40B4-BE49-F238E27FC236}">
                <a16:creationId xmlns:a16="http://schemas.microsoft.com/office/drawing/2014/main" id="{D96A40B9-EA16-8A41-913B-FDCB993A86C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22818"/>
          <a:stretch/>
        </p:blipFill>
        <p:spPr>
          <a:xfrm>
            <a:off x="3897527" y="3778250"/>
            <a:ext cx="2392602" cy="1799087"/>
          </a:xfrm>
          <a:prstGeom prst="rect">
            <a:avLst/>
          </a:prstGeom>
        </p:spPr>
      </p:pic>
      <p:sp>
        <p:nvSpPr>
          <p:cNvPr id="15" name="TextBox 14">
            <a:extLst>
              <a:ext uri="{FF2B5EF4-FFF2-40B4-BE49-F238E27FC236}">
                <a16:creationId xmlns:a16="http://schemas.microsoft.com/office/drawing/2014/main" id="{B498B136-B390-9E44-A174-46D07BD77E00}"/>
              </a:ext>
            </a:extLst>
          </p:cNvPr>
          <p:cNvSpPr txBox="1"/>
          <p:nvPr/>
        </p:nvSpPr>
        <p:spPr>
          <a:xfrm>
            <a:off x="3933567"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Fine sand</a:t>
            </a:r>
          </a:p>
        </p:txBody>
      </p:sp>
      <p:pic>
        <p:nvPicPr>
          <p:cNvPr id="13" name="Picture 12" descr="A picture containing cake, food, chocolate, eaten&#10;&#10;Description automatically generated">
            <a:extLst>
              <a:ext uri="{FF2B5EF4-FFF2-40B4-BE49-F238E27FC236}">
                <a16:creationId xmlns:a16="http://schemas.microsoft.com/office/drawing/2014/main" id="{3A1BE481-A2DE-5244-801A-E668E0E94AFB}"/>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152163" y="3576976"/>
            <a:ext cx="2097459" cy="1797577"/>
          </a:xfrm>
          <a:prstGeom prst="rect">
            <a:avLst/>
          </a:prstGeom>
        </p:spPr>
      </p:pic>
      <p:sp>
        <p:nvSpPr>
          <p:cNvPr id="16" name="TextBox 15">
            <a:extLst>
              <a:ext uri="{FF2B5EF4-FFF2-40B4-BE49-F238E27FC236}">
                <a16:creationId xmlns:a16="http://schemas.microsoft.com/office/drawing/2014/main" id="{8318A98F-F1FC-6D46-9CF1-BD5ACD50D0B8}"/>
              </a:ext>
            </a:extLst>
          </p:cNvPr>
          <p:cNvSpPr txBox="1"/>
          <p:nvPr/>
        </p:nvSpPr>
        <p:spPr>
          <a:xfrm>
            <a:off x="7152163" y="5392671"/>
            <a:ext cx="2162432"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Silt</a:t>
            </a:r>
          </a:p>
          <a:p>
            <a:r>
              <a:rPr lang="en-US" dirty="0">
                <a:latin typeface="Arial" panose="020B0604020202020204" pitchFamily="34" charset="0"/>
                <a:cs typeface="Arial" panose="020B0604020202020204" pitchFamily="34" charset="0"/>
              </a:rPr>
              <a:t>(D = 0.002 mm – 0.0625 mm)</a:t>
            </a:r>
          </a:p>
        </p:txBody>
      </p:sp>
      <p:pic>
        <p:nvPicPr>
          <p:cNvPr id="18" name="Picture 17" descr="A picture containing snow, flour, sugar&#10;&#10;Description automatically generated">
            <a:extLst>
              <a:ext uri="{FF2B5EF4-FFF2-40B4-BE49-F238E27FC236}">
                <a16:creationId xmlns:a16="http://schemas.microsoft.com/office/drawing/2014/main" id="{721EF98A-ABFD-3844-90F0-3131E6599147}"/>
              </a:ext>
            </a:extLst>
          </p:cNvPr>
          <p:cNvPicPr>
            <a:picLocks noChangeAspect="1"/>
          </p:cNvPicPr>
          <p:nvPr/>
        </p:nvPicPr>
        <p:blipFill>
          <a:blip r:embed="rId8"/>
          <a:stretch>
            <a:fillRect/>
          </a:stretch>
        </p:blipFill>
        <p:spPr>
          <a:xfrm>
            <a:off x="9660238" y="3037753"/>
            <a:ext cx="2336800" cy="2336800"/>
          </a:xfrm>
          <a:prstGeom prst="rect">
            <a:avLst/>
          </a:prstGeom>
        </p:spPr>
      </p:pic>
      <p:sp>
        <p:nvSpPr>
          <p:cNvPr id="19" name="TextBox 18">
            <a:extLst>
              <a:ext uri="{FF2B5EF4-FFF2-40B4-BE49-F238E27FC236}">
                <a16:creationId xmlns:a16="http://schemas.microsoft.com/office/drawing/2014/main" id="{DD74B3FC-E5BD-FE4A-BB38-B0CC416B074D}"/>
              </a:ext>
            </a:extLst>
          </p:cNvPr>
          <p:cNvSpPr txBox="1"/>
          <p:nvPr/>
        </p:nvSpPr>
        <p:spPr>
          <a:xfrm>
            <a:off x="9747422" y="5397722"/>
            <a:ext cx="233680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Clay </a:t>
            </a:r>
          </a:p>
          <a:p>
            <a:r>
              <a:rPr lang="en-US" dirty="0">
                <a:latin typeface="Arial" panose="020B0604020202020204" pitchFamily="34" charset="0"/>
                <a:cs typeface="Arial" panose="020B0604020202020204" pitchFamily="34" charset="0"/>
              </a:rPr>
              <a:t>(D &lt; 0.002 mm)</a:t>
            </a:r>
          </a:p>
        </p:txBody>
      </p:sp>
      <p:sp>
        <p:nvSpPr>
          <p:cNvPr id="17" name="Left Bracket 16">
            <a:extLst>
              <a:ext uri="{FF2B5EF4-FFF2-40B4-BE49-F238E27FC236}">
                <a16:creationId xmlns:a16="http://schemas.microsoft.com/office/drawing/2014/main" id="{44F11194-E688-F44F-AB3C-AD7AEF2CD2AC}"/>
              </a:ext>
            </a:extLst>
          </p:cNvPr>
          <p:cNvSpPr/>
          <p:nvPr/>
        </p:nvSpPr>
        <p:spPr>
          <a:xfrm rot="16200000">
            <a:off x="2948049" y="4240983"/>
            <a:ext cx="174885" cy="3230353"/>
          </a:xfrm>
          <a:prstGeom prst="leftBracket">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6FEBE54C-7C2A-8F4C-8C94-F137E3936CDA}"/>
              </a:ext>
            </a:extLst>
          </p:cNvPr>
          <p:cNvSpPr txBox="1"/>
          <p:nvPr/>
        </p:nvSpPr>
        <p:spPr>
          <a:xfrm>
            <a:off x="1420315" y="5987018"/>
            <a:ext cx="350220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Sand (D = 0.0625 mm - 2 mm)</a:t>
            </a:r>
          </a:p>
        </p:txBody>
      </p:sp>
      <p:sp>
        <p:nvSpPr>
          <p:cNvPr id="3" name="Slide Number Placeholder 2">
            <a:extLst>
              <a:ext uri="{FF2B5EF4-FFF2-40B4-BE49-F238E27FC236}">
                <a16:creationId xmlns:a16="http://schemas.microsoft.com/office/drawing/2014/main" id="{86860AAA-F82B-F982-BF54-8B943076392C}"/>
              </a:ext>
            </a:extLst>
          </p:cNvPr>
          <p:cNvSpPr>
            <a:spLocks noGrp="1"/>
          </p:cNvSpPr>
          <p:nvPr>
            <p:ph type="sldNum" sz="quarter" idx="12"/>
          </p:nvPr>
        </p:nvSpPr>
        <p:spPr/>
        <p:txBody>
          <a:bodyPr/>
          <a:lstStyle/>
          <a:p>
            <a:fld id="{2386C454-E1BD-5A43-901A-CA4ACC7380B7}" type="slidenum">
              <a:rPr lang="en-US" smtClean="0"/>
              <a:t>4</a:t>
            </a:fld>
            <a:endParaRPr lang="en-US"/>
          </a:p>
        </p:txBody>
      </p:sp>
    </p:spTree>
    <p:extLst>
      <p:ext uri="{BB962C8B-B14F-4D97-AF65-F5344CB8AC3E}">
        <p14:creationId xmlns:p14="http://schemas.microsoft.com/office/powerpoint/2010/main" val="4066255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412176" y="136525"/>
            <a:ext cx="536764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size (diameter D)</a:t>
            </a:r>
          </a:p>
        </p:txBody>
      </p:sp>
      <p:pic>
        <p:nvPicPr>
          <p:cNvPr id="6" name="Picture 5" descr="A pile of rocks&#10;&#10;Description automatically generated with low confidence">
            <a:extLst>
              <a:ext uri="{FF2B5EF4-FFF2-40B4-BE49-F238E27FC236}">
                <a16:creationId xmlns:a16="http://schemas.microsoft.com/office/drawing/2014/main" id="{4E4B69F2-F81D-B645-B57F-9C0F6437B0BD}"/>
              </a:ext>
            </a:extLst>
          </p:cNvPr>
          <p:cNvPicPr>
            <a:picLocks noChangeAspect="1"/>
          </p:cNvPicPr>
          <p:nvPr/>
        </p:nvPicPr>
        <p:blipFill>
          <a:blip r:embed="rId2"/>
          <a:stretch>
            <a:fillRect/>
          </a:stretch>
        </p:blipFill>
        <p:spPr>
          <a:xfrm>
            <a:off x="660228" y="1219174"/>
            <a:ext cx="2375264" cy="1577730"/>
          </a:xfrm>
          <a:prstGeom prst="rect">
            <a:avLst/>
          </a:prstGeom>
        </p:spPr>
      </p:pic>
      <p:sp>
        <p:nvSpPr>
          <p:cNvPr id="2" name="TextBox 1">
            <a:extLst>
              <a:ext uri="{FF2B5EF4-FFF2-40B4-BE49-F238E27FC236}">
                <a16:creationId xmlns:a16="http://schemas.microsoft.com/office/drawing/2014/main" id="{B851FCC3-459E-F947-BCF1-C6BD25181082}"/>
              </a:ext>
            </a:extLst>
          </p:cNvPr>
          <p:cNvSpPr txBox="1"/>
          <p:nvPr/>
        </p:nvSpPr>
        <p:spPr>
          <a:xfrm>
            <a:off x="660228" y="2877223"/>
            <a:ext cx="26019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Boulders </a:t>
            </a:r>
          </a:p>
          <a:p>
            <a:r>
              <a:rPr lang="en-US" dirty="0">
                <a:latin typeface="Arial" panose="020B0604020202020204" pitchFamily="34" charset="0"/>
                <a:cs typeface="Arial" panose="020B0604020202020204" pitchFamily="34" charset="0"/>
              </a:rPr>
              <a:t>(D &gt; 256 mm)</a:t>
            </a:r>
          </a:p>
        </p:txBody>
      </p:sp>
      <p:pic>
        <p:nvPicPr>
          <p:cNvPr id="7" name="Picture 6" descr="A picture containing outdoor, rock, rocky, nature&#10;&#10;Description automatically generated">
            <a:extLst>
              <a:ext uri="{FF2B5EF4-FFF2-40B4-BE49-F238E27FC236}">
                <a16:creationId xmlns:a16="http://schemas.microsoft.com/office/drawing/2014/main" id="{04815808-A44B-2345-8B5A-EF9D8FFC4748}"/>
              </a:ext>
            </a:extLst>
          </p:cNvPr>
          <p:cNvPicPr>
            <a:picLocks noChangeAspect="1"/>
          </p:cNvPicPr>
          <p:nvPr/>
        </p:nvPicPr>
        <p:blipFill>
          <a:blip r:embed="rId3"/>
          <a:stretch>
            <a:fillRect/>
          </a:stretch>
        </p:blipFill>
        <p:spPr>
          <a:xfrm>
            <a:off x="3897527" y="1219174"/>
            <a:ext cx="2392602" cy="1577730"/>
          </a:xfrm>
          <a:prstGeom prst="rect">
            <a:avLst/>
          </a:prstGeom>
        </p:spPr>
      </p:pic>
      <p:sp>
        <p:nvSpPr>
          <p:cNvPr id="8" name="TextBox 7">
            <a:extLst>
              <a:ext uri="{FF2B5EF4-FFF2-40B4-BE49-F238E27FC236}">
                <a16:creationId xmlns:a16="http://schemas.microsoft.com/office/drawing/2014/main" id="{80475CEC-2BCE-BB43-A791-690508BCA8B9}"/>
              </a:ext>
            </a:extLst>
          </p:cNvPr>
          <p:cNvSpPr txBox="1"/>
          <p:nvPr/>
        </p:nvSpPr>
        <p:spPr>
          <a:xfrm>
            <a:off x="3897526" y="2877223"/>
            <a:ext cx="26019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Pebbles / cobbles</a:t>
            </a:r>
          </a:p>
          <a:p>
            <a:r>
              <a:rPr lang="en-US" dirty="0">
                <a:latin typeface="Arial" panose="020B0604020202020204" pitchFamily="34" charset="0"/>
                <a:cs typeface="Arial" panose="020B0604020202020204" pitchFamily="34" charset="0"/>
              </a:rPr>
              <a:t>(D = 64 mm – 256 mm)</a:t>
            </a:r>
          </a:p>
        </p:txBody>
      </p:sp>
      <p:pic>
        <p:nvPicPr>
          <p:cNvPr id="10" name="Picture 9" descr="A picture containing rock, outdoor, stone, nature&#10;&#10;Description automatically generated">
            <a:extLst>
              <a:ext uri="{FF2B5EF4-FFF2-40B4-BE49-F238E27FC236}">
                <a16:creationId xmlns:a16="http://schemas.microsoft.com/office/drawing/2014/main" id="{CD7AD097-DFD4-0344-8DA6-72B44A437E91}"/>
              </a:ext>
            </a:extLst>
          </p:cNvPr>
          <p:cNvPicPr>
            <a:picLocks noChangeAspect="1"/>
          </p:cNvPicPr>
          <p:nvPr/>
        </p:nvPicPr>
        <p:blipFill>
          <a:blip r:embed="rId4"/>
          <a:stretch>
            <a:fillRect/>
          </a:stretch>
        </p:blipFill>
        <p:spPr>
          <a:xfrm>
            <a:off x="7152163" y="1219173"/>
            <a:ext cx="2041263" cy="1534903"/>
          </a:xfrm>
          <a:prstGeom prst="rect">
            <a:avLst/>
          </a:prstGeom>
        </p:spPr>
      </p:pic>
      <p:sp>
        <p:nvSpPr>
          <p:cNvPr id="11" name="TextBox 10">
            <a:extLst>
              <a:ext uri="{FF2B5EF4-FFF2-40B4-BE49-F238E27FC236}">
                <a16:creationId xmlns:a16="http://schemas.microsoft.com/office/drawing/2014/main" id="{D542756F-C392-3846-AE91-A72D53E08641}"/>
              </a:ext>
            </a:extLst>
          </p:cNvPr>
          <p:cNvSpPr txBox="1"/>
          <p:nvPr/>
        </p:nvSpPr>
        <p:spPr>
          <a:xfrm>
            <a:off x="7152162" y="2877223"/>
            <a:ext cx="233679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Gravel</a:t>
            </a:r>
          </a:p>
          <a:p>
            <a:r>
              <a:rPr lang="en-US" dirty="0">
                <a:latin typeface="Arial" panose="020B0604020202020204" pitchFamily="34" charset="0"/>
                <a:cs typeface="Arial" panose="020B0604020202020204" pitchFamily="34" charset="0"/>
              </a:rPr>
              <a:t>(D = 2 mm – 64 mm)</a:t>
            </a:r>
          </a:p>
        </p:txBody>
      </p:sp>
      <p:pic>
        <p:nvPicPr>
          <p:cNvPr id="9" name="Picture 8">
            <a:extLst>
              <a:ext uri="{FF2B5EF4-FFF2-40B4-BE49-F238E27FC236}">
                <a16:creationId xmlns:a16="http://schemas.microsoft.com/office/drawing/2014/main" id="{B9C43A1E-ABDF-2A40-B1F8-A1BB4FEAFA16}"/>
              </a:ext>
            </a:extLst>
          </p:cNvPr>
          <p:cNvPicPr>
            <a:picLocks noChangeAspect="1"/>
          </p:cNvPicPr>
          <p:nvPr/>
        </p:nvPicPr>
        <p:blipFill>
          <a:blip r:embed="rId5"/>
          <a:stretch>
            <a:fillRect/>
          </a:stretch>
        </p:blipFill>
        <p:spPr>
          <a:xfrm>
            <a:off x="714802" y="3778250"/>
            <a:ext cx="2320689" cy="1464832"/>
          </a:xfrm>
          <a:prstGeom prst="rect">
            <a:avLst/>
          </a:prstGeom>
        </p:spPr>
      </p:pic>
      <p:sp>
        <p:nvSpPr>
          <p:cNvPr id="12" name="TextBox 11">
            <a:extLst>
              <a:ext uri="{FF2B5EF4-FFF2-40B4-BE49-F238E27FC236}">
                <a16:creationId xmlns:a16="http://schemas.microsoft.com/office/drawing/2014/main" id="{64BC68F2-3CEF-CB4A-92AB-B8D97F44496F}"/>
              </a:ext>
            </a:extLst>
          </p:cNvPr>
          <p:cNvSpPr txBox="1"/>
          <p:nvPr/>
        </p:nvSpPr>
        <p:spPr>
          <a:xfrm>
            <a:off x="714802"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Coarse sand</a:t>
            </a:r>
          </a:p>
        </p:txBody>
      </p:sp>
      <p:pic>
        <p:nvPicPr>
          <p:cNvPr id="14" name="Picture 13" descr="A close - up of some sand&#10;&#10;Description automatically generated with low confidence">
            <a:extLst>
              <a:ext uri="{FF2B5EF4-FFF2-40B4-BE49-F238E27FC236}">
                <a16:creationId xmlns:a16="http://schemas.microsoft.com/office/drawing/2014/main" id="{D96A40B9-EA16-8A41-913B-FDCB993A86C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22818"/>
          <a:stretch/>
        </p:blipFill>
        <p:spPr>
          <a:xfrm>
            <a:off x="3897527" y="3778250"/>
            <a:ext cx="2392602" cy="1799087"/>
          </a:xfrm>
          <a:prstGeom prst="rect">
            <a:avLst/>
          </a:prstGeom>
        </p:spPr>
      </p:pic>
      <p:sp>
        <p:nvSpPr>
          <p:cNvPr id="15" name="TextBox 14">
            <a:extLst>
              <a:ext uri="{FF2B5EF4-FFF2-40B4-BE49-F238E27FC236}">
                <a16:creationId xmlns:a16="http://schemas.microsoft.com/office/drawing/2014/main" id="{B498B136-B390-9E44-A174-46D07BD77E00}"/>
              </a:ext>
            </a:extLst>
          </p:cNvPr>
          <p:cNvSpPr txBox="1"/>
          <p:nvPr/>
        </p:nvSpPr>
        <p:spPr>
          <a:xfrm>
            <a:off x="3933567"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Fine sand</a:t>
            </a:r>
          </a:p>
        </p:txBody>
      </p:sp>
      <p:pic>
        <p:nvPicPr>
          <p:cNvPr id="13" name="Picture 12" descr="A picture containing cake, food, chocolate, eaten&#10;&#10;Description automatically generated">
            <a:extLst>
              <a:ext uri="{FF2B5EF4-FFF2-40B4-BE49-F238E27FC236}">
                <a16:creationId xmlns:a16="http://schemas.microsoft.com/office/drawing/2014/main" id="{3A1BE481-A2DE-5244-801A-E668E0E94AFB}"/>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152163" y="3576976"/>
            <a:ext cx="2097459" cy="1797577"/>
          </a:xfrm>
          <a:prstGeom prst="rect">
            <a:avLst/>
          </a:prstGeom>
        </p:spPr>
      </p:pic>
      <p:sp>
        <p:nvSpPr>
          <p:cNvPr id="16" name="TextBox 15">
            <a:extLst>
              <a:ext uri="{FF2B5EF4-FFF2-40B4-BE49-F238E27FC236}">
                <a16:creationId xmlns:a16="http://schemas.microsoft.com/office/drawing/2014/main" id="{8318A98F-F1FC-6D46-9CF1-BD5ACD50D0B8}"/>
              </a:ext>
            </a:extLst>
          </p:cNvPr>
          <p:cNvSpPr txBox="1"/>
          <p:nvPr/>
        </p:nvSpPr>
        <p:spPr>
          <a:xfrm>
            <a:off x="7152163" y="5392671"/>
            <a:ext cx="2162432"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Silt</a:t>
            </a:r>
          </a:p>
          <a:p>
            <a:r>
              <a:rPr lang="en-US" dirty="0">
                <a:latin typeface="Arial" panose="020B0604020202020204" pitchFamily="34" charset="0"/>
                <a:cs typeface="Arial" panose="020B0604020202020204" pitchFamily="34" charset="0"/>
              </a:rPr>
              <a:t>(D = 0.002 mm – 0.0625 mm)</a:t>
            </a:r>
          </a:p>
        </p:txBody>
      </p:sp>
      <p:pic>
        <p:nvPicPr>
          <p:cNvPr id="18" name="Picture 17" descr="A picture containing snow, flour, sugar&#10;&#10;Description automatically generated">
            <a:extLst>
              <a:ext uri="{FF2B5EF4-FFF2-40B4-BE49-F238E27FC236}">
                <a16:creationId xmlns:a16="http://schemas.microsoft.com/office/drawing/2014/main" id="{721EF98A-ABFD-3844-90F0-3131E6599147}"/>
              </a:ext>
            </a:extLst>
          </p:cNvPr>
          <p:cNvPicPr>
            <a:picLocks noChangeAspect="1"/>
          </p:cNvPicPr>
          <p:nvPr/>
        </p:nvPicPr>
        <p:blipFill>
          <a:blip r:embed="rId8"/>
          <a:stretch>
            <a:fillRect/>
          </a:stretch>
        </p:blipFill>
        <p:spPr>
          <a:xfrm>
            <a:off x="9660238" y="3037753"/>
            <a:ext cx="2336800" cy="2336800"/>
          </a:xfrm>
          <a:prstGeom prst="rect">
            <a:avLst/>
          </a:prstGeom>
        </p:spPr>
      </p:pic>
      <p:sp>
        <p:nvSpPr>
          <p:cNvPr id="19" name="TextBox 18">
            <a:extLst>
              <a:ext uri="{FF2B5EF4-FFF2-40B4-BE49-F238E27FC236}">
                <a16:creationId xmlns:a16="http://schemas.microsoft.com/office/drawing/2014/main" id="{DD74B3FC-E5BD-FE4A-BB38-B0CC416B074D}"/>
              </a:ext>
            </a:extLst>
          </p:cNvPr>
          <p:cNvSpPr txBox="1"/>
          <p:nvPr/>
        </p:nvSpPr>
        <p:spPr>
          <a:xfrm>
            <a:off x="9747422" y="5397722"/>
            <a:ext cx="233680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Clay </a:t>
            </a:r>
          </a:p>
          <a:p>
            <a:r>
              <a:rPr lang="en-US" dirty="0">
                <a:latin typeface="Arial" panose="020B0604020202020204" pitchFamily="34" charset="0"/>
                <a:cs typeface="Arial" panose="020B0604020202020204" pitchFamily="34" charset="0"/>
              </a:rPr>
              <a:t>(D &lt; 0.002 mm)</a:t>
            </a:r>
          </a:p>
        </p:txBody>
      </p:sp>
      <p:sp>
        <p:nvSpPr>
          <p:cNvPr id="17" name="Left Bracket 16">
            <a:extLst>
              <a:ext uri="{FF2B5EF4-FFF2-40B4-BE49-F238E27FC236}">
                <a16:creationId xmlns:a16="http://schemas.microsoft.com/office/drawing/2014/main" id="{44F11194-E688-F44F-AB3C-AD7AEF2CD2AC}"/>
              </a:ext>
            </a:extLst>
          </p:cNvPr>
          <p:cNvSpPr/>
          <p:nvPr/>
        </p:nvSpPr>
        <p:spPr>
          <a:xfrm rot="16200000">
            <a:off x="2948049" y="4240983"/>
            <a:ext cx="174885" cy="3230353"/>
          </a:xfrm>
          <a:prstGeom prst="leftBracket">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6FEBE54C-7C2A-8F4C-8C94-F137E3936CDA}"/>
              </a:ext>
            </a:extLst>
          </p:cNvPr>
          <p:cNvSpPr txBox="1"/>
          <p:nvPr/>
        </p:nvSpPr>
        <p:spPr>
          <a:xfrm>
            <a:off x="1420315" y="5987018"/>
            <a:ext cx="350220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Sand (D = 0.0625 mm - 2 mm)</a:t>
            </a:r>
          </a:p>
        </p:txBody>
      </p:sp>
      <p:sp>
        <p:nvSpPr>
          <p:cNvPr id="3" name="TextBox 2">
            <a:extLst>
              <a:ext uri="{FF2B5EF4-FFF2-40B4-BE49-F238E27FC236}">
                <a16:creationId xmlns:a16="http://schemas.microsoft.com/office/drawing/2014/main" id="{87C2A165-F96C-CA45-847D-053B2080C339}"/>
              </a:ext>
            </a:extLst>
          </p:cNvPr>
          <p:cNvSpPr txBox="1"/>
          <p:nvPr/>
        </p:nvSpPr>
        <p:spPr>
          <a:xfrm>
            <a:off x="9488961" y="289139"/>
            <a:ext cx="2420893" cy="1077218"/>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sz="3200" b="1" dirty="0">
                <a:ln/>
                <a:solidFill>
                  <a:srgbClr val="C00000"/>
                </a:solidFill>
                <a:latin typeface="Arial" panose="020B0604020202020204" pitchFamily="34" charset="0"/>
                <a:cs typeface="Arial" panose="020B0604020202020204" pitchFamily="34" charset="0"/>
              </a:rPr>
              <a:t>6 orders of magnitude</a:t>
            </a:r>
          </a:p>
        </p:txBody>
      </p:sp>
      <p:sp>
        <p:nvSpPr>
          <p:cNvPr id="22" name="TextBox 21">
            <a:extLst>
              <a:ext uri="{FF2B5EF4-FFF2-40B4-BE49-F238E27FC236}">
                <a16:creationId xmlns:a16="http://schemas.microsoft.com/office/drawing/2014/main" id="{79086D08-2C55-FF47-AD58-8F3CC204CC66}"/>
              </a:ext>
            </a:extLst>
          </p:cNvPr>
          <p:cNvSpPr txBox="1"/>
          <p:nvPr/>
        </p:nvSpPr>
        <p:spPr>
          <a:xfrm>
            <a:off x="9372068" y="1425398"/>
            <a:ext cx="2601955" cy="1477328"/>
          </a:xfrm>
          <a:prstGeom prst="rect">
            <a:avLst/>
          </a:prstGeom>
          <a:noFill/>
        </p:spPr>
        <p:txBody>
          <a:bodyPr wrap="square" rtlCol="0">
            <a:spAutoFit/>
          </a:bodyPr>
          <a:lstStyle/>
          <a:p>
            <a:pPr marL="342900" indent="-342900">
              <a:buAutoNum type="arabicParenR"/>
            </a:pPr>
            <a:r>
              <a:rPr lang="en-US" dirty="0">
                <a:latin typeface="Arial" panose="020B0604020202020204" pitchFamily="34" charset="0"/>
                <a:cs typeface="Arial" panose="020B0604020202020204" pitchFamily="34" charset="0"/>
              </a:rPr>
              <a:t>properties and transport</a:t>
            </a:r>
          </a:p>
          <a:p>
            <a:pPr marL="342900" indent="-342900">
              <a:buAutoNum type="arabicParenR"/>
            </a:pPr>
            <a:endParaRPr lang="en-US" dirty="0">
              <a:latin typeface="Arial" panose="020B0604020202020204" pitchFamily="34" charset="0"/>
              <a:cs typeface="Arial" panose="020B0604020202020204" pitchFamily="34" charset="0"/>
            </a:endParaRPr>
          </a:p>
          <a:p>
            <a:pPr marL="342900" indent="-342900">
              <a:buAutoNum type="arabicParenR"/>
            </a:pPr>
            <a:r>
              <a:rPr lang="en-US" dirty="0">
                <a:latin typeface="Arial" panose="020B0604020202020204" pitchFamily="34" charset="0"/>
                <a:cs typeface="Arial" panose="020B0604020202020204" pitchFamily="34" charset="0"/>
              </a:rPr>
              <a:t>way to compare sediment sizes</a:t>
            </a:r>
          </a:p>
        </p:txBody>
      </p:sp>
      <p:sp>
        <p:nvSpPr>
          <p:cNvPr id="21" name="Slide Number Placeholder 20">
            <a:extLst>
              <a:ext uri="{FF2B5EF4-FFF2-40B4-BE49-F238E27FC236}">
                <a16:creationId xmlns:a16="http://schemas.microsoft.com/office/drawing/2014/main" id="{F68A1022-6E0B-A114-18D3-4D5E92B6224E}"/>
              </a:ext>
            </a:extLst>
          </p:cNvPr>
          <p:cNvSpPr>
            <a:spLocks noGrp="1"/>
          </p:cNvSpPr>
          <p:nvPr>
            <p:ph type="sldNum" sz="quarter" idx="12"/>
          </p:nvPr>
        </p:nvSpPr>
        <p:spPr/>
        <p:txBody>
          <a:bodyPr/>
          <a:lstStyle/>
          <a:p>
            <a:fld id="{2386C454-E1BD-5A43-901A-CA4ACC7380B7}" type="slidenum">
              <a:rPr lang="en-US" smtClean="0"/>
              <a:t>5</a:t>
            </a:fld>
            <a:endParaRPr lang="en-US"/>
          </a:p>
        </p:txBody>
      </p:sp>
    </p:spTree>
    <p:extLst>
      <p:ext uri="{BB962C8B-B14F-4D97-AF65-F5344CB8AC3E}">
        <p14:creationId xmlns:p14="http://schemas.microsoft.com/office/powerpoint/2010/main" val="181574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172BFC6B-9CE9-A94B-91EB-A1DE6FD30552}"/>
              </a:ext>
            </a:extLst>
          </p:cNvPr>
          <p:cNvSpPr txBox="1"/>
          <p:nvPr/>
        </p:nvSpPr>
        <p:spPr>
          <a:xfrm>
            <a:off x="9372068" y="1425398"/>
            <a:ext cx="2601955" cy="1477328"/>
          </a:xfrm>
          <a:prstGeom prst="rect">
            <a:avLst/>
          </a:prstGeom>
          <a:noFill/>
        </p:spPr>
        <p:txBody>
          <a:bodyPr wrap="square" rtlCol="0">
            <a:spAutoFit/>
          </a:bodyPr>
          <a:lstStyle/>
          <a:p>
            <a:pPr marL="342900" indent="-342900">
              <a:buAutoNum type="arabicParenR"/>
            </a:pPr>
            <a:r>
              <a:rPr lang="en-US" dirty="0">
                <a:latin typeface="Arial" panose="020B0604020202020204" pitchFamily="34" charset="0"/>
                <a:cs typeface="Arial" panose="020B0604020202020204" pitchFamily="34" charset="0"/>
              </a:rPr>
              <a:t>properties and transport</a:t>
            </a:r>
          </a:p>
          <a:p>
            <a:pPr marL="342900" indent="-342900">
              <a:buAutoNum type="arabicParenR"/>
            </a:pPr>
            <a:endParaRPr lang="en-US" dirty="0">
              <a:latin typeface="Arial" panose="020B0604020202020204" pitchFamily="34" charset="0"/>
              <a:cs typeface="Arial" panose="020B0604020202020204" pitchFamily="34" charset="0"/>
            </a:endParaRPr>
          </a:p>
          <a:p>
            <a:pPr marL="342900" indent="-342900">
              <a:buAutoNum type="arabicParenR"/>
            </a:pPr>
            <a:r>
              <a:rPr lang="en-US" dirty="0">
                <a:latin typeface="Arial" panose="020B0604020202020204" pitchFamily="34" charset="0"/>
                <a:cs typeface="Arial" panose="020B0604020202020204" pitchFamily="34" charset="0"/>
              </a:rPr>
              <a:t>way to compare sediment sizes</a:t>
            </a:r>
          </a:p>
        </p:txBody>
      </p:sp>
      <p:sp>
        <p:nvSpPr>
          <p:cNvPr id="5" name="TextBox 4">
            <a:extLst>
              <a:ext uri="{FF2B5EF4-FFF2-40B4-BE49-F238E27FC236}">
                <a16:creationId xmlns:a16="http://schemas.microsoft.com/office/drawing/2014/main" id="{FE26F3B4-9DA8-7245-8E6E-F1D070C26EBA}"/>
              </a:ext>
            </a:extLst>
          </p:cNvPr>
          <p:cNvSpPr txBox="1"/>
          <p:nvPr/>
        </p:nvSpPr>
        <p:spPr>
          <a:xfrm>
            <a:off x="3412176" y="136525"/>
            <a:ext cx="5367647"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size (diameter D)</a:t>
            </a:r>
          </a:p>
        </p:txBody>
      </p:sp>
      <p:pic>
        <p:nvPicPr>
          <p:cNvPr id="6" name="Picture 5" descr="A pile of rocks&#10;&#10;Description automatically generated with low confidence">
            <a:extLst>
              <a:ext uri="{FF2B5EF4-FFF2-40B4-BE49-F238E27FC236}">
                <a16:creationId xmlns:a16="http://schemas.microsoft.com/office/drawing/2014/main" id="{4E4B69F2-F81D-B645-B57F-9C0F6437B0BD}"/>
              </a:ext>
            </a:extLst>
          </p:cNvPr>
          <p:cNvPicPr>
            <a:picLocks noChangeAspect="1"/>
          </p:cNvPicPr>
          <p:nvPr/>
        </p:nvPicPr>
        <p:blipFill>
          <a:blip r:embed="rId2"/>
          <a:stretch>
            <a:fillRect/>
          </a:stretch>
        </p:blipFill>
        <p:spPr>
          <a:xfrm>
            <a:off x="660228" y="1219174"/>
            <a:ext cx="2375264" cy="1577730"/>
          </a:xfrm>
          <a:prstGeom prst="rect">
            <a:avLst/>
          </a:prstGeom>
        </p:spPr>
      </p:pic>
      <p:sp>
        <p:nvSpPr>
          <p:cNvPr id="2" name="TextBox 1">
            <a:extLst>
              <a:ext uri="{FF2B5EF4-FFF2-40B4-BE49-F238E27FC236}">
                <a16:creationId xmlns:a16="http://schemas.microsoft.com/office/drawing/2014/main" id="{B851FCC3-459E-F947-BCF1-C6BD25181082}"/>
              </a:ext>
            </a:extLst>
          </p:cNvPr>
          <p:cNvSpPr txBox="1"/>
          <p:nvPr/>
        </p:nvSpPr>
        <p:spPr>
          <a:xfrm>
            <a:off x="660228" y="2877223"/>
            <a:ext cx="26019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Boulders </a:t>
            </a:r>
          </a:p>
          <a:p>
            <a:r>
              <a:rPr lang="en-US" dirty="0">
                <a:latin typeface="Arial" panose="020B0604020202020204" pitchFamily="34" charset="0"/>
                <a:cs typeface="Arial" panose="020B0604020202020204" pitchFamily="34" charset="0"/>
              </a:rPr>
              <a:t>(D &gt; 256 mm)</a:t>
            </a:r>
          </a:p>
        </p:txBody>
      </p:sp>
      <p:pic>
        <p:nvPicPr>
          <p:cNvPr id="7" name="Picture 6" descr="A picture containing outdoor, rock, rocky, nature&#10;&#10;Description automatically generated">
            <a:extLst>
              <a:ext uri="{FF2B5EF4-FFF2-40B4-BE49-F238E27FC236}">
                <a16:creationId xmlns:a16="http://schemas.microsoft.com/office/drawing/2014/main" id="{04815808-A44B-2345-8B5A-EF9D8FFC4748}"/>
              </a:ext>
            </a:extLst>
          </p:cNvPr>
          <p:cNvPicPr>
            <a:picLocks noChangeAspect="1"/>
          </p:cNvPicPr>
          <p:nvPr/>
        </p:nvPicPr>
        <p:blipFill>
          <a:blip r:embed="rId3"/>
          <a:stretch>
            <a:fillRect/>
          </a:stretch>
        </p:blipFill>
        <p:spPr>
          <a:xfrm>
            <a:off x="3897527" y="1219174"/>
            <a:ext cx="2392602" cy="1577730"/>
          </a:xfrm>
          <a:prstGeom prst="rect">
            <a:avLst/>
          </a:prstGeom>
        </p:spPr>
      </p:pic>
      <p:sp>
        <p:nvSpPr>
          <p:cNvPr id="8" name="TextBox 7">
            <a:extLst>
              <a:ext uri="{FF2B5EF4-FFF2-40B4-BE49-F238E27FC236}">
                <a16:creationId xmlns:a16="http://schemas.microsoft.com/office/drawing/2014/main" id="{80475CEC-2BCE-BB43-A791-690508BCA8B9}"/>
              </a:ext>
            </a:extLst>
          </p:cNvPr>
          <p:cNvSpPr txBox="1"/>
          <p:nvPr/>
        </p:nvSpPr>
        <p:spPr>
          <a:xfrm>
            <a:off x="3897526" y="2877223"/>
            <a:ext cx="26019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Pebbles / cobbles</a:t>
            </a:r>
          </a:p>
          <a:p>
            <a:r>
              <a:rPr lang="en-US" dirty="0">
                <a:latin typeface="Arial" panose="020B0604020202020204" pitchFamily="34" charset="0"/>
                <a:cs typeface="Arial" panose="020B0604020202020204" pitchFamily="34" charset="0"/>
              </a:rPr>
              <a:t>(D = 64 mm – 256 mm)</a:t>
            </a:r>
          </a:p>
        </p:txBody>
      </p:sp>
      <p:pic>
        <p:nvPicPr>
          <p:cNvPr id="10" name="Picture 9" descr="A picture containing rock, outdoor, stone, nature&#10;&#10;Description automatically generated">
            <a:extLst>
              <a:ext uri="{FF2B5EF4-FFF2-40B4-BE49-F238E27FC236}">
                <a16:creationId xmlns:a16="http://schemas.microsoft.com/office/drawing/2014/main" id="{CD7AD097-DFD4-0344-8DA6-72B44A437E91}"/>
              </a:ext>
            </a:extLst>
          </p:cNvPr>
          <p:cNvPicPr>
            <a:picLocks noChangeAspect="1"/>
          </p:cNvPicPr>
          <p:nvPr/>
        </p:nvPicPr>
        <p:blipFill>
          <a:blip r:embed="rId4"/>
          <a:stretch>
            <a:fillRect/>
          </a:stretch>
        </p:blipFill>
        <p:spPr>
          <a:xfrm>
            <a:off x="7152163" y="1219173"/>
            <a:ext cx="2041263" cy="1534903"/>
          </a:xfrm>
          <a:prstGeom prst="rect">
            <a:avLst/>
          </a:prstGeom>
        </p:spPr>
      </p:pic>
      <p:sp>
        <p:nvSpPr>
          <p:cNvPr id="11" name="TextBox 10">
            <a:extLst>
              <a:ext uri="{FF2B5EF4-FFF2-40B4-BE49-F238E27FC236}">
                <a16:creationId xmlns:a16="http://schemas.microsoft.com/office/drawing/2014/main" id="{D542756F-C392-3846-AE91-A72D53E08641}"/>
              </a:ext>
            </a:extLst>
          </p:cNvPr>
          <p:cNvSpPr txBox="1"/>
          <p:nvPr/>
        </p:nvSpPr>
        <p:spPr>
          <a:xfrm>
            <a:off x="7152162" y="2877223"/>
            <a:ext cx="233679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Gravel</a:t>
            </a:r>
          </a:p>
          <a:p>
            <a:r>
              <a:rPr lang="en-US" dirty="0">
                <a:latin typeface="Arial" panose="020B0604020202020204" pitchFamily="34" charset="0"/>
                <a:cs typeface="Arial" panose="020B0604020202020204" pitchFamily="34" charset="0"/>
              </a:rPr>
              <a:t>(D = 2 mm – 64 mm)</a:t>
            </a:r>
          </a:p>
        </p:txBody>
      </p:sp>
      <p:pic>
        <p:nvPicPr>
          <p:cNvPr id="9" name="Picture 8">
            <a:extLst>
              <a:ext uri="{FF2B5EF4-FFF2-40B4-BE49-F238E27FC236}">
                <a16:creationId xmlns:a16="http://schemas.microsoft.com/office/drawing/2014/main" id="{B9C43A1E-ABDF-2A40-B1F8-A1BB4FEAFA16}"/>
              </a:ext>
            </a:extLst>
          </p:cNvPr>
          <p:cNvPicPr>
            <a:picLocks noChangeAspect="1"/>
          </p:cNvPicPr>
          <p:nvPr/>
        </p:nvPicPr>
        <p:blipFill>
          <a:blip r:embed="rId5"/>
          <a:stretch>
            <a:fillRect/>
          </a:stretch>
        </p:blipFill>
        <p:spPr>
          <a:xfrm>
            <a:off x="714802" y="3778250"/>
            <a:ext cx="2320689" cy="1464832"/>
          </a:xfrm>
          <a:prstGeom prst="rect">
            <a:avLst/>
          </a:prstGeom>
        </p:spPr>
      </p:pic>
      <p:sp>
        <p:nvSpPr>
          <p:cNvPr id="12" name="TextBox 11">
            <a:extLst>
              <a:ext uri="{FF2B5EF4-FFF2-40B4-BE49-F238E27FC236}">
                <a16:creationId xmlns:a16="http://schemas.microsoft.com/office/drawing/2014/main" id="{64BC68F2-3CEF-CB4A-92AB-B8D97F44496F}"/>
              </a:ext>
            </a:extLst>
          </p:cNvPr>
          <p:cNvSpPr txBox="1"/>
          <p:nvPr/>
        </p:nvSpPr>
        <p:spPr>
          <a:xfrm>
            <a:off x="714802"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Coarse sand</a:t>
            </a:r>
          </a:p>
        </p:txBody>
      </p:sp>
      <p:pic>
        <p:nvPicPr>
          <p:cNvPr id="14" name="Picture 13" descr="A close - up of some sand&#10;&#10;Description automatically generated with low confidence">
            <a:extLst>
              <a:ext uri="{FF2B5EF4-FFF2-40B4-BE49-F238E27FC236}">
                <a16:creationId xmlns:a16="http://schemas.microsoft.com/office/drawing/2014/main" id="{D96A40B9-EA16-8A41-913B-FDCB993A86C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22818"/>
          <a:stretch/>
        </p:blipFill>
        <p:spPr>
          <a:xfrm>
            <a:off x="3897527" y="3778250"/>
            <a:ext cx="2392602" cy="1799087"/>
          </a:xfrm>
          <a:prstGeom prst="rect">
            <a:avLst/>
          </a:prstGeom>
        </p:spPr>
      </p:pic>
      <p:sp>
        <p:nvSpPr>
          <p:cNvPr id="15" name="TextBox 14">
            <a:extLst>
              <a:ext uri="{FF2B5EF4-FFF2-40B4-BE49-F238E27FC236}">
                <a16:creationId xmlns:a16="http://schemas.microsoft.com/office/drawing/2014/main" id="{B498B136-B390-9E44-A174-46D07BD77E00}"/>
              </a:ext>
            </a:extLst>
          </p:cNvPr>
          <p:cNvSpPr txBox="1"/>
          <p:nvPr/>
        </p:nvSpPr>
        <p:spPr>
          <a:xfrm>
            <a:off x="3933567" y="5374553"/>
            <a:ext cx="216243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Fine sand</a:t>
            </a:r>
          </a:p>
        </p:txBody>
      </p:sp>
      <p:pic>
        <p:nvPicPr>
          <p:cNvPr id="13" name="Picture 12" descr="A picture containing cake, food, chocolate, eaten&#10;&#10;Description automatically generated">
            <a:extLst>
              <a:ext uri="{FF2B5EF4-FFF2-40B4-BE49-F238E27FC236}">
                <a16:creationId xmlns:a16="http://schemas.microsoft.com/office/drawing/2014/main" id="{3A1BE481-A2DE-5244-801A-E668E0E94AFB}"/>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7152163" y="3576976"/>
            <a:ext cx="2097459" cy="1797577"/>
          </a:xfrm>
          <a:prstGeom prst="rect">
            <a:avLst/>
          </a:prstGeom>
        </p:spPr>
      </p:pic>
      <p:sp>
        <p:nvSpPr>
          <p:cNvPr id="16" name="TextBox 15">
            <a:extLst>
              <a:ext uri="{FF2B5EF4-FFF2-40B4-BE49-F238E27FC236}">
                <a16:creationId xmlns:a16="http://schemas.microsoft.com/office/drawing/2014/main" id="{8318A98F-F1FC-6D46-9CF1-BD5ACD50D0B8}"/>
              </a:ext>
            </a:extLst>
          </p:cNvPr>
          <p:cNvSpPr txBox="1"/>
          <p:nvPr/>
        </p:nvSpPr>
        <p:spPr>
          <a:xfrm>
            <a:off x="7152163" y="5392671"/>
            <a:ext cx="2162432"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Silt</a:t>
            </a:r>
          </a:p>
          <a:p>
            <a:r>
              <a:rPr lang="en-US" dirty="0">
                <a:latin typeface="Arial" panose="020B0604020202020204" pitchFamily="34" charset="0"/>
                <a:cs typeface="Arial" panose="020B0604020202020204" pitchFamily="34" charset="0"/>
              </a:rPr>
              <a:t>(D = 0.002 mm – 0.0625 mm)</a:t>
            </a:r>
          </a:p>
        </p:txBody>
      </p:sp>
      <p:pic>
        <p:nvPicPr>
          <p:cNvPr id="18" name="Picture 17" descr="A picture containing snow, flour, sugar&#10;&#10;Description automatically generated">
            <a:extLst>
              <a:ext uri="{FF2B5EF4-FFF2-40B4-BE49-F238E27FC236}">
                <a16:creationId xmlns:a16="http://schemas.microsoft.com/office/drawing/2014/main" id="{721EF98A-ABFD-3844-90F0-3131E6599147}"/>
              </a:ext>
            </a:extLst>
          </p:cNvPr>
          <p:cNvPicPr>
            <a:picLocks noChangeAspect="1"/>
          </p:cNvPicPr>
          <p:nvPr/>
        </p:nvPicPr>
        <p:blipFill>
          <a:blip r:embed="rId8"/>
          <a:stretch>
            <a:fillRect/>
          </a:stretch>
        </p:blipFill>
        <p:spPr>
          <a:xfrm>
            <a:off x="9660238" y="3037753"/>
            <a:ext cx="2336800" cy="2336800"/>
          </a:xfrm>
          <a:prstGeom prst="rect">
            <a:avLst/>
          </a:prstGeom>
        </p:spPr>
      </p:pic>
      <p:sp>
        <p:nvSpPr>
          <p:cNvPr id="19" name="TextBox 18">
            <a:extLst>
              <a:ext uri="{FF2B5EF4-FFF2-40B4-BE49-F238E27FC236}">
                <a16:creationId xmlns:a16="http://schemas.microsoft.com/office/drawing/2014/main" id="{DD74B3FC-E5BD-FE4A-BB38-B0CC416B074D}"/>
              </a:ext>
            </a:extLst>
          </p:cNvPr>
          <p:cNvSpPr txBox="1"/>
          <p:nvPr/>
        </p:nvSpPr>
        <p:spPr>
          <a:xfrm>
            <a:off x="9747422" y="5397722"/>
            <a:ext cx="233680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Clay </a:t>
            </a:r>
          </a:p>
          <a:p>
            <a:r>
              <a:rPr lang="en-US" dirty="0">
                <a:latin typeface="Arial" panose="020B0604020202020204" pitchFamily="34" charset="0"/>
                <a:cs typeface="Arial" panose="020B0604020202020204" pitchFamily="34" charset="0"/>
              </a:rPr>
              <a:t>(D &lt; 0.002 mm)</a:t>
            </a:r>
          </a:p>
        </p:txBody>
      </p:sp>
      <p:sp>
        <p:nvSpPr>
          <p:cNvPr id="17" name="Left Bracket 16">
            <a:extLst>
              <a:ext uri="{FF2B5EF4-FFF2-40B4-BE49-F238E27FC236}">
                <a16:creationId xmlns:a16="http://schemas.microsoft.com/office/drawing/2014/main" id="{44F11194-E688-F44F-AB3C-AD7AEF2CD2AC}"/>
              </a:ext>
            </a:extLst>
          </p:cNvPr>
          <p:cNvSpPr/>
          <p:nvPr/>
        </p:nvSpPr>
        <p:spPr>
          <a:xfrm rot="16200000">
            <a:off x="2948049" y="4240983"/>
            <a:ext cx="174885" cy="3230353"/>
          </a:xfrm>
          <a:prstGeom prst="leftBracket">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6FEBE54C-7C2A-8F4C-8C94-F137E3936CDA}"/>
              </a:ext>
            </a:extLst>
          </p:cNvPr>
          <p:cNvSpPr txBox="1"/>
          <p:nvPr/>
        </p:nvSpPr>
        <p:spPr>
          <a:xfrm>
            <a:off x="1420315" y="5987018"/>
            <a:ext cx="3502202"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Sand (D = 0.0625 mm - 2 mm)</a:t>
            </a:r>
          </a:p>
        </p:txBody>
      </p:sp>
      <p:sp>
        <p:nvSpPr>
          <p:cNvPr id="3" name="TextBox 2">
            <a:extLst>
              <a:ext uri="{FF2B5EF4-FFF2-40B4-BE49-F238E27FC236}">
                <a16:creationId xmlns:a16="http://schemas.microsoft.com/office/drawing/2014/main" id="{87C2A165-F96C-CA45-847D-053B2080C339}"/>
              </a:ext>
            </a:extLst>
          </p:cNvPr>
          <p:cNvSpPr txBox="1"/>
          <p:nvPr/>
        </p:nvSpPr>
        <p:spPr>
          <a:xfrm>
            <a:off x="9488961" y="289139"/>
            <a:ext cx="2420893" cy="1077218"/>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lstStyle/>
          <a:p>
            <a:r>
              <a:rPr lang="en-US" sz="3200" b="1" dirty="0">
                <a:ln/>
                <a:solidFill>
                  <a:srgbClr val="C00000"/>
                </a:solidFill>
                <a:latin typeface="Arial" panose="020B0604020202020204" pitchFamily="34" charset="0"/>
                <a:cs typeface="Arial" panose="020B0604020202020204" pitchFamily="34" charset="0"/>
              </a:rPr>
              <a:t>6 orders of magnitude</a:t>
            </a:r>
          </a:p>
        </p:txBody>
      </p:sp>
      <p:sp>
        <p:nvSpPr>
          <p:cNvPr id="22" name="Oval 21">
            <a:extLst>
              <a:ext uri="{FF2B5EF4-FFF2-40B4-BE49-F238E27FC236}">
                <a16:creationId xmlns:a16="http://schemas.microsoft.com/office/drawing/2014/main" id="{D5A2F97D-5757-7F4A-8C6B-725FA99DB77F}"/>
              </a:ext>
            </a:extLst>
          </p:cNvPr>
          <p:cNvSpPr/>
          <p:nvPr/>
        </p:nvSpPr>
        <p:spPr>
          <a:xfrm>
            <a:off x="9249622" y="1366357"/>
            <a:ext cx="2563437" cy="75708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F96DE95-8F2B-9044-8201-D6D3199B5247}"/>
              </a:ext>
            </a:extLst>
          </p:cNvPr>
          <p:cNvSpPr txBox="1"/>
          <p:nvPr/>
        </p:nvSpPr>
        <p:spPr>
          <a:xfrm>
            <a:off x="10193638" y="5161370"/>
            <a:ext cx="1890584" cy="369332"/>
          </a:xfrm>
          <a:prstGeom prst="rect">
            <a:avLst/>
          </a:prstGeom>
          <a:noFill/>
        </p:spPr>
        <p:txBody>
          <a:bodyPr wrap="square" rtlCol="0">
            <a:spAutoFit/>
          </a:bodyPr>
          <a:lstStyle/>
          <a:p>
            <a:r>
              <a:rPr lang="en-US" b="1" dirty="0">
                <a:solidFill>
                  <a:srgbClr val="7030A0"/>
                </a:solidFill>
                <a:latin typeface="Arial" panose="020B0604020202020204" pitchFamily="34" charset="0"/>
                <a:cs typeface="Arial" panose="020B0604020202020204" pitchFamily="34" charset="0"/>
              </a:rPr>
              <a:t>COHESIVE</a:t>
            </a:r>
          </a:p>
        </p:txBody>
      </p:sp>
      <p:sp>
        <p:nvSpPr>
          <p:cNvPr id="24" name="TextBox 23">
            <a:extLst>
              <a:ext uri="{FF2B5EF4-FFF2-40B4-BE49-F238E27FC236}">
                <a16:creationId xmlns:a16="http://schemas.microsoft.com/office/drawing/2014/main" id="{AFB6DFE4-9D07-4843-8270-8CF9881C794D}"/>
              </a:ext>
            </a:extLst>
          </p:cNvPr>
          <p:cNvSpPr txBox="1"/>
          <p:nvPr/>
        </p:nvSpPr>
        <p:spPr>
          <a:xfrm>
            <a:off x="9488961" y="6044053"/>
            <a:ext cx="2508077" cy="646331"/>
          </a:xfrm>
          <a:prstGeom prst="rect">
            <a:avLst/>
          </a:prstGeom>
          <a:noFill/>
        </p:spPr>
        <p:txBody>
          <a:bodyPr wrap="square" rtlCol="0">
            <a:spAutoFit/>
          </a:bodyPr>
          <a:lstStyle/>
          <a:p>
            <a:r>
              <a:rPr lang="en-US" dirty="0">
                <a:solidFill>
                  <a:srgbClr val="7030A0"/>
                </a:solidFill>
              </a:rPr>
              <a:t>electrochemical forces between particles</a:t>
            </a:r>
          </a:p>
        </p:txBody>
      </p:sp>
      <p:sp>
        <p:nvSpPr>
          <p:cNvPr id="21" name="Slide Number Placeholder 20">
            <a:extLst>
              <a:ext uri="{FF2B5EF4-FFF2-40B4-BE49-F238E27FC236}">
                <a16:creationId xmlns:a16="http://schemas.microsoft.com/office/drawing/2014/main" id="{94EE7F8D-64FC-7813-5316-66A4E218A57B}"/>
              </a:ext>
            </a:extLst>
          </p:cNvPr>
          <p:cNvSpPr>
            <a:spLocks noGrp="1"/>
          </p:cNvSpPr>
          <p:nvPr>
            <p:ph type="sldNum" sz="quarter" idx="12"/>
          </p:nvPr>
        </p:nvSpPr>
        <p:spPr/>
        <p:txBody>
          <a:bodyPr/>
          <a:lstStyle/>
          <a:p>
            <a:fld id="{2386C454-E1BD-5A43-901A-CA4ACC7380B7}" type="slidenum">
              <a:rPr lang="en-US" smtClean="0"/>
              <a:t>6</a:t>
            </a:fld>
            <a:endParaRPr lang="en-US"/>
          </a:p>
        </p:txBody>
      </p:sp>
    </p:spTree>
    <p:extLst>
      <p:ext uri="{BB962C8B-B14F-4D97-AF65-F5344CB8AC3E}">
        <p14:creationId xmlns:p14="http://schemas.microsoft.com/office/powerpoint/2010/main" val="167970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7EAFA-EFD8-0F36-E773-B03239792CF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129A00-E3FE-9AAC-6C39-4F687D72902F}"/>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Bed material and wash material</a:t>
            </a:r>
          </a:p>
        </p:txBody>
      </p:sp>
      <p:sp>
        <p:nvSpPr>
          <p:cNvPr id="25" name="TextBox 24">
            <a:extLst>
              <a:ext uri="{FF2B5EF4-FFF2-40B4-BE49-F238E27FC236}">
                <a16:creationId xmlns:a16="http://schemas.microsoft.com/office/drawing/2014/main" id="{102B222E-92BC-31D5-49E3-A846BA3C3F35}"/>
              </a:ext>
            </a:extLst>
          </p:cNvPr>
          <p:cNvSpPr txBox="1"/>
          <p:nvPr/>
        </p:nvSpPr>
        <p:spPr>
          <a:xfrm>
            <a:off x="685800" y="1178169"/>
            <a:ext cx="10796954" cy="2064540"/>
          </a:xfrm>
          <a:prstGeom prst="rect">
            <a:avLst/>
          </a:prstGeom>
          <a:noFill/>
        </p:spPr>
        <p:txBody>
          <a:bodyPr wrap="square" rtlCol="0">
            <a:spAutoFit/>
          </a:bodyPr>
          <a:lstStyle/>
          <a:p>
            <a:pPr>
              <a:lnSpc>
                <a:spcPct val="120000"/>
              </a:lnSpc>
            </a:pPr>
            <a:r>
              <a:rPr lang="en-US" b="1" dirty="0">
                <a:latin typeface="Arial" panose="020B0604020202020204" pitchFamily="34" charset="0"/>
                <a:cs typeface="Arial" panose="020B0604020202020204" pitchFamily="34" charset="0"/>
              </a:rPr>
              <a:t>Bed material </a:t>
            </a:r>
            <a:r>
              <a:rPr lang="en-US" dirty="0">
                <a:latin typeface="Arial" panose="020B0604020202020204" pitchFamily="34" charset="0"/>
                <a:cs typeface="Arial" panose="020B0604020202020204" pitchFamily="34" charset="0"/>
              </a:rPr>
              <a:t>forms the bed and lower banks of the river. It chiefly determines channel morphology. In alluvial channels, it corresponds with the coarser part of the sediment load (Church, 2006). </a:t>
            </a:r>
          </a:p>
          <a:p>
            <a:pPr>
              <a:lnSpc>
                <a:spcPct val="120000"/>
              </a:lnSpc>
            </a:pPr>
            <a:endParaRPr lang="en-US" dirty="0">
              <a:latin typeface="Arial" panose="020B0604020202020204" pitchFamily="34" charset="0"/>
              <a:cs typeface="Arial" panose="020B0604020202020204" pitchFamily="34" charset="0"/>
            </a:endParaRPr>
          </a:p>
          <a:p>
            <a:pPr>
              <a:lnSpc>
                <a:spcPct val="120000"/>
              </a:lnSpc>
            </a:pPr>
            <a:r>
              <a:rPr lang="en-US" b="1" dirty="0">
                <a:latin typeface="Arial" panose="020B0604020202020204" pitchFamily="34" charset="0"/>
                <a:cs typeface="Arial" panose="020B0604020202020204" pitchFamily="34" charset="0"/>
              </a:rPr>
              <a:t>Wash material </a:t>
            </a:r>
            <a:r>
              <a:rPr lang="en-US" dirty="0">
                <a:latin typeface="Arial" panose="020B0604020202020204" pitchFamily="34" charset="0"/>
                <a:cs typeface="Arial" panose="020B0604020202020204" pitchFamily="34" charset="0"/>
              </a:rPr>
              <a:t>once entrained is transported for a long distance in suspension. This material is found only in minor quantities in the riverbed but may form a significant fraction of upper bank and floodplain deposits as the result of overbank deposition during floods (Church, 2006).  </a:t>
            </a:r>
          </a:p>
        </p:txBody>
      </p:sp>
      <p:sp>
        <p:nvSpPr>
          <p:cNvPr id="2" name="Slide Number Placeholder 1">
            <a:extLst>
              <a:ext uri="{FF2B5EF4-FFF2-40B4-BE49-F238E27FC236}">
                <a16:creationId xmlns:a16="http://schemas.microsoft.com/office/drawing/2014/main" id="{C2335B55-A147-459C-E701-6AEDC6495527}"/>
              </a:ext>
            </a:extLst>
          </p:cNvPr>
          <p:cNvSpPr>
            <a:spLocks noGrp="1"/>
          </p:cNvSpPr>
          <p:nvPr>
            <p:ph type="sldNum" sz="quarter" idx="12"/>
          </p:nvPr>
        </p:nvSpPr>
        <p:spPr/>
        <p:txBody>
          <a:bodyPr/>
          <a:lstStyle/>
          <a:p>
            <a:fld id="{2386C454-E1BD-5A43-901A-CA4ACC7380B7}" type="slidenum">
              <a:rPr lang="en-US" smtClean="0"/>
              <a:t>7</a:t>
            </a:fld>
            <a:endParaRPr lang="en-US"/>
          </a:p>
        </p:txBody>
      </p:sp>
    </p:spTree>
    <p:extLst>
      <p:ext uri="{BB962C8B-B14F-4D97-AF65-F5344CB8AC3E}">
        <p14:creationId xmlns:p14="http://schemas.microsoft.com/office/powerpoint/2010/main" val="279414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Grain sizes of bed and wash material</a:t>
            </a:r>
          </a:p>
        </p:txBody>
      </p:sp>
      <p:pic>
        <p:nvPicPr>
          <p:cNvPr id="3" name="Picture 2">
            <a:extLst>
              <a:ext uri="{FF2B5EF4-FFF2-40B4-BE49-F238E27FC236}">
                <a16:creationId xmlns:a16="http://schemas.microsoft.com/office/drawing/2014/main" id="{084EA346-291F-20C1-EB0B-C5B6DF5C4C7D}"/>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53145" y="1408014"/>
            <a:ext cx="10805963" cy="1302818"/>
          </a:xfrm>
          <a:prstGeom prst="rect">
            <a:avLst/>
          </a:prstGeom>
        </p:spPr>
      </p:pic>
      <p:sp>
        <p:nvSpPr>
          <p:cNvPr id="7" name="TextBox 6">
            <a:extLst>
              <a:ext uri="{FF2B5EF4-FFF2-40B4-BE49-F238E27FC236}">
                <a16:creationId xmlns:a16="http://schemas.microsoft.com/office/drawing/2014/main" id="{0E9F8379-BDA9-1357-E735-C9C2C4980CEE}"/>
              </a:ext>
            </a:extLst>
          </p:cNvPr>
          <p:cNvSpPr txBox="1">
            <a:spLocks noChangeAspect="1"/>
          </p:cNvSpPr>
          <p:nvPr/>
        </p:nvSpPr>
        <p:spPr>
          <a:xfrm rot="3141691">
            <a:off x="9607188" y="1401162"/>
            <a:ext cx="1617508" cy="830997"/>
          </a:xfrm>
          <a:prstGeom prst="rect">
            <a:avLst/>
          </a:prstGeom>
          <a:noFill/>
          <a:ln>
            <a:noFill/>
          </a:ln>
        </p:spPr>
        <p:txBody>
          <a:bodyPr wrap="square" rtlCol="0">
            <a:spAutoFit/>
          </a:bodyPr>
          <a:lstStyle/>
          <a:p>
            <a:r>
              <a:rPr lang="en-US" sz="4800" b="1" spc="50" dirty="0">
                <a:ln w="9525" cmpd="sng">
                  <a:solidFill>
                    <a:schemeClr val="tx1"/>
                  </a:solidFill>
                  <a:prstDash val="solid"/>
                </a:ln>
                <a:solidFill>
                  <a:schemeClr val="accent1">
                    <a:lumMod val="20000"/>
                    <a:lumOff val="80000"/>
                  </a:schemeClr>
                </a:solidFill>
                <a:effectLst>
                  <a:glow rad="38100">
                    <a:schemeClr val="accent1">
                      <a:alpha val="40000"/>
                    </a:schemeClr>
                  </a:glow>
                </a:effectLst>
                <a:latin typeface="Arial" panose="020B0604020202020204" pitchFamily="34" charset="0"/>
                <a:cs typeface="Arial" panose="020B0604020202020204" pitchFamily="34" charset="0"/>
              </a:rPr>
              <a:t>1940</a:t>
            </a:r>
          </a:p>
        </p:txBody>
      </p:sp>
      <p:sp>
        <p:nvSpPr>
          <p:cNvPr id="9" name="TextBox 8">
            <a:extLst>
              <a:ext uri="{FF2B5EF4-FFF2-40B4-BE49-F238E27FC236}">
                <a16:creationId xmlns:a16="http://schemas.microsoft.com/office/drawing/2014/main" id="{EB3D7B25-B2AE-D58C-641E-E83E137D2112}"/>
              </a:ext>
            </a:extLst>
          </p:cNvPr>
          <p:cNvSpPr txBox="1"/>
          <p:nvPr/>
        </p:nvSpPr>
        <p:spPr>
          <a:xfrm>
            <a:off x="1080653" y="3331254"/>
            <a:ext cx="9892147" cy="584775"/>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How is sediment transported? </a:t>
            </a:r>
          </a:p>
        </p:txBody>
      </p:sp>
      <p:sp>
        <p:nvSpPr>
          <p:cNvPr id="10" name="Slide Number Placeholder 9">
            <a:extLst>
              <a:ext uri="{FF2B5EF4-FFF2-40B4-BE49-F238E27FC236}">
                <a16:creationId xmlns:a16="http://schemas.microsoft.com/office/drawing/2014/main" id="{7D09F7B9-E57A-43A4-81F8-4BD73CBBD71F}"/>
              </a:ext>
            </a:extLst>
          </p:cNvPr>
          <p:cNvSpPr>
            <a:spLocks noGrp="1"/>
          </p:cNvSpPr>
          <p:nvPr>
            <p:ph type="sldNum" sz="quarter" idx="12"/>
          </p:nvPr>
        </p:nvSpPr>
        <p:spPr/>
        <p:txBody>
          <a:bodyPr/>
          <a:lstStyle/>
          <a:p>
            <a:fld id="{2386C454-E1BD-5A43-901A-CA4ACC7380B7}" type="slidenum">
              <a:rPr lang="en-US" smtClean="0"/>
              <a:t>8</a:t>
            </a:fld>
            <a:endParaRPr lang="en-US"/>
          </a:p>
        </p:txBody>
      </p:sp>
    </p:spTree>
    <p:extLst>
      <p:ext uri="{BB962C8B-B14F-4D97-AF65-F5344CB8AC3E}">
        <p14:creationId xmlns:p14="http://schemas.microsoft.com/office/powerpoint/2010/main" val="2737690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2DF75-197A-C113-B7C9-A1E44A12EF2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CDE2A7E-98A5-B079-B655-FCEAA4E989F0}"/>
              </a:ext>
            </a:extLst>
          </p:cNvPr>
          <p:cNvSpPr>
            <a:spLocks noChangeArrowheads="1"/>
          </p:cNvSpPr>
          <p:nvPr/>
        </p:nvSpPr>
        <p:spPr bwMode="auto">
          <a:xfrm>
            <a:off x="0" y="264372"/>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effectLst/>
                <a:latin typeface="Arial" panose="020B0604020202020204" pitchFamily="34" charset="0"/>
                <a:cs typeface="Arial" panose="020B0604020202020204" pitchFamily="34" charset="0"/>
              </a:rPr>
              <a:t>Bedload vs suspended load</a:t>
            </a:r>
          </a:p>
        </p:txBody>
      </p:sp>
      <p:sp>
        <p:nvSpPr>
          <p:cNvPr id="8" name="TextBox 7">
            <a:extLst>
              <a:ext uri="{FF2B5EF4-FFF2-40B4-BE49-F238E27FC236}">
                <a16:creationId xmlns:a16="http://schemas.microsoft.com/office/drawing/2014/main" id="{0CA2CA5A-DAA4-E658-E238-2D6297A48B5D}"/>
              </a:ext>
            </a:extLst>
          </p:cNvPr>
          <p:cNvSpPr txBox="1"/>
          <p:nvPr/>
        </p:nvSpPr>
        <p:spPr>
          <a:xfrm>
            <a:off x="196810" y="5330748"/>
            <a:ext cx="3557894" cy="369332"/>
          </a:xfrm>
          <a:prstGeom prst="rect">
            <a:avLst/>
          </a:prstGeom>
          <a:noFill/>
        </p:spPr>
        <p:txBody>
          <a:bodyPr wrap="square" rtlCol="0">
            <a:spAutoFit/>
          </a:bodyPr>
          <a:lstStyle/>
          <a:p>
            <a:r>
              <a:rPr lang="en-US" dirty="0">
                <a:solidFill>
                  <a:schemeClr val="bg1">
                    <a:lumMod val="65000"/>
                  </a:schemeClr>
                </a:solidFill>
              </a:rPr>
              <a:t>From Gary Parker’s e-book</a:t>
            </a:r>
          </a:p>
        </p:txBody>
      </p:sp>
      <p:sp>
        <p:nvSpPr>
          <p:cNvPr id="2" name="Slide Number Placeholder 1">
            <a:extLst>
              <a:ext uri="{FF2B5EF4-FFF2-40B4-BE49-F238E27FC236}">
                <a16:creationId xmlns:a16="http://schemas.microsoft.com/office/drawing/2014/main" id="{642D360F-7FAC-1852-0205-D4E2460D2DBD}"/>
              </a:ext>
            </a:extLst>
          </p:cNvPr>
          <p:cNvSpPr>
            <a:spLocks noGrp="1"/>
          </p:cNvSpPr>
          <p:nvPr>
            <p:ph type="sldNum" sz="quarter" idx="12"/>
          </p:nvPr>
        </p:nvSpPr>
        <p:spPr/>
        <p:txBody>
          <a:bodyPr/>
          <a:lstStyle/>
          <a:p>
            <a:fld id="{2386C454-E1BD-5A43-901A-CA4ACC7380B7}" type="slidenum">
              <a:rPr lang="en-US" smtClean="0"/>
              <a:t>9</a:t>
            </a:fld>
            <a:endParaRPr lang="en-US"/>
          </a:p>
        </p:txBody>
      </p:sp>
      <p:sp>
        <p:nvSpPr>
          <p:cNvPr id="3" name="TextBox 2">
            <a:extLst>
              <a:ext uri="{FF2B5EF4-FFF2-40B4-BE49-F238E27FC236}">
                <a16:creationId xmlns:a16="http://schemas.microsoft.com/office/drawing/2014/main" id="{2DA8CC67-B347-0D60-AA9E-510DEE57D252}"/>
              </a:ext>
            </a:extLst>
          </p:cNvPr>
          <p:cNvSpPr txBox="1"/>
          <p:nvPr/>
        </p:nvSpPr>
        <p:spPr>
          <a:xfrm>
            <a:off x="1602463" y="2037030"/>
            <a:ext cx="1647731" cy="369332"/>
          </a:xfrm>
          <a:prstGeom prst="rect">
            <a:avLst/>
          </a:prstGeom>
          <a:noFill/>
        </p:spPr>
        <p:txBody>
          <a:bodyPr wrap="square" rtlCol="0">
            <a:spAutoFit/>
          </a:bodyPr>
          <a:lstStyle/>
          <a:p>
            <a:r>
              <a:rPr lang="en-US" dirty="0"/>
              <a:t>Video 1</a:t>
            </a:r>
          </a:p>
        </p:txBody>
      </p:sp>
      <p:sp>
        <p:nvSpPr>
          <p:cNvPr id="9" name="TextBox 8">
            <a:extLst>
              <a:ext uri="{FF2B5EF4-FFF2-40B4-BE49-F238E27FC236}">
                <a16:creationId xmlns:a16="http://schemas.microsoft.com/office/drawing/2014/main" id="{9BF0C6CE-1AB2-F4C8-DEF8-E3C5ED3885AB}"/>
              </a:ext>
            </a:extLst>
          </p:cNvPr>
          <p:cNvSpPr txBox="1"/>
          <p:nvPr/>
        </p:nvSpPr>
        <p:spPr>
          <a:xfrm>
            <a:off x="8610600" y="2037030"/>
            <a:ext cx="1647731" cy="369332"/>
          </a:xfrm>
          <a:prstGeom prst="rect">
            <a:avLst/>
          </a:prstGeom>
          <a:noFill/>
        </p:spPr>
        <p:txBody>
          <a:bodyPr wrap="square" rtlCol="0">
            <a:spAutoFit/>
          </a:bodyPr>
          <a:lstStyle/>
          <a:p>
            <a:r>
              <a:rPr lang="en-US" dirty="0"/>
              <a:t>Video 2</a:t>
            </a:r>
          </a:p>
        </p:txBody>
      </p:sp>
    </p:spTree>
    <p:extLst>
      <p:ext uri="{BB962C8B-B14F-4D97-AF65-F5344CB8AC3E}">
        <p14:creationId xmlns:p14="http://schemas.microsoft.com/office/powerpoint/2010/main" val="1922666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EACE5-5263-C92A-6C0B-1B4BBFACDB1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84BCDC-0F5C-77A7-203D-424BD5BD0BD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953145" y="1408014"/>
            <a:ext cx="10805963" cy="1302818"/>
          </a:xfrm>
          <a:prstGeom prst="rect">
            <a:avLst/>
          </a:prstGeom>
        </p:spPr>
      </p:pic>
      <p:sp>
        <p:nvSpPr>
          <p:cNvPr id="8" name="TextBox 7">
            <a:extLst>
              <a:ext uri="{FF2B5EF4-FFF2-40B4-BE49-F238E27FC236}">
                <a16:creationId xmlns:a16="http://schemas.microsoft.com/office/drawing/2014/main" id="{421A87EC-EC08-395F-5B23-9E6E96CF503C}"/>
              </a:ext>
            </a:extLst>
          </p:cNvPr>
          <p:cNvSpPr txBox="1">
            <a:spLocks noChangeAspect="1"/>
          </p:cNvSpPr>
          <p:nvPr/>
        </p:nvSpPr>
        <p:spPr>
          <a:xfrm rot="3141691">
            <a:off x="9607188" y="1401162"/>
            <a:ext cx="1617508" cy="830997"/>
          </a:xfrm>
          <a:prstGeom prst="rect">
            <a:avLst/>
          </a:prstGeom>
          <a:noFill/>
          <a:ln>
            <a:noFill/>
          </a:ln>
        </p:spPr>
        <p:txBody>
          <a:bodyPr wrap="square" rtlCol="0">
            <a:spAutoFit/>
          </a:bodyPr>
          <a:lstStyle/>
          <a:p>
            <a:r>
              <a:rPr lang="en-US" sz="4800" b="1" spc="50" dirty="0">
                <a:ln w="9525" cmpd="sng">
                  <a:solidFill>
                    <a:schemeClr val="tx1"/>
                  </a:solidFill>
                  <a:prstDash val="solid"/>
                </a:ln>
                <a:solidFill>
                  <a:schemeClr val="accent1">
                    <a:lumMod val="20000"/>
                    <a:lumOff val="80000"/>
                  </a:schemeClr>
                </a:solidFill>
                <a:effectLst>
                  <a:glow rad="38100">
                    <a:schemeClr val="accent1">
                      <a:alpha val="40000"/>
                    </a:schemeClr>
                  </a:glow>
                </a:effectLst>
                <a:latin typeface="Arial" panose="020B0604020202020204" pitchFamily="34" charset="0"/>
                <a:cs typeface="Arial" panose="020B0604020202020204" pitchFamily="34" charset="0"/>
              </a:rPr>
              <a:t>1940</a:t>
            </a:r>
          </a:p>
        </p:txBody>
      </p:sp>
      <p:sp>
        <p:nvSpPr>
          <p:cNvPr id="9" name="TextBox 8">
            <a:extLst>
              <a:ext uri="{FF2B5EF4-FFF2-40B4-BE49-F238E27FC236}">
                <a16:creationId xmlns:a16="http://schemas.microsoft.com/office/drawing/2014/main" id="{6207791D-46BA-D454-9604-FAE193BCDAA9}"/>
              </a:ext>
            </a:extLst>
          </p:cNvPr>
          <p:cNvSpPr txBox="1"/>
          <p:nvPr/>
        </p:nvSpPr>
        <p:spPr>
          <a:xfrm>
            <a:off x="1080653" y="3331254"/>
            <a:ext cx="10273147" cy="584775"/>
          </a:xfrm>
          <a:prstGeom prst="rect">
            <a:avLst/>
          </a:prstGeom>
          <a:noFill/>
        </p:spPr>
        <p:txBody>
          <a:bodyPr wrap="square" rtlCol="0">
            <a:spAutoFit/>
          </a:bodyPr>
          <a:lstStyle/>
          <a:p>
            <a:r>
              <a:rPr lang="en-US" sz="3200" b="1" dirty="0">
                <a:latin typeface="Arial" panose="020B0604020202020204" pitchFamily="34" charset="0"/>
                <a:cs typeface="Arial" panose="020B0604020202020204" pitchFamily="34" charset="0"/>
              </a:rPr>
              <a:t>How is sediment transported? does it matter? </a:t>
            </a:r>
          </a:p>
        </p:txBody>
      </p:sp>
      <p:sp>
        <p:nvSpPr>
          <p:cNvPr id="7" name="TextBox 6">
            <a:extLst>
              <a:ext uri="{FF2B5EF4-FFF2-40B4-BE49-F238E27FC236}">
                <a16:creationId xmlns:a16="http://schemas.microsoft.com/office/drawing/2014/main" id="{2E06F295-5D5B-FB6F-C1E8-8E542155B6E4}"/>
              </a:ext>
            </a:extLst>
          </p:cNvPr>
          <p:cNvSpPr txBox="1"/>
          <p:nvPr/>
        </p:nvSpPr>
        <p:spPr>
          <a:xfrm>
            <a:off x="452846" y="6000206"/>
            <a:ext cx="10493828" cy="369332"/>
          </a:xfrm>
          <a:prstGeom prst="rect">
            <a:avLst/>
          </a:prstGeom>
          <a:noFill/>
        </p:spPr>
        <p:txBody>
          <a:bodyPr wrap="square" rtlCol="0">
            <a:spAutoFit/>
          </a:bodyPr>
          <a:lstStyle/>
          <a:p>
            <a:r>
              <a:rPr lang="en-US" dirty="0">
                <a:solidFill>
                  <a:schemeClr val="tx1">
                    <a:lumMod val="50000"/>
                    <a:lumOff val="50000"/>
                  </a:schemeClr>
                </a:solidFill>
              </a:rPr>
              <a:t>NOTE: I do not consider organic matter and </a:t>
            </a:r>
            <a:r>
              <a:rPr lang="en-US" dirty="0">
                <a:solidFill>
                  <a:schemeClr val="tx1">
                    <a:lumMod val="50000"/>
                    <a:lumOff val="50000"/>
                  </a:schemeClr>
                </a:solidFill>
                <a:latin typeface="Arial" panose="020B0604020202020204" pitchFamily="34" charset="0"/>
                <a:cs typeface="Arial" panose="020B0604020202020204" pitchFamily="34" charset="0"/>
              </a:rPr>
              <a:t>substances</a:t>
            </a:r>
            <a:r>
              <a:rPr lang="en-US" dirty="0">
                <a:solidFill>
                  <a:schemeClr val="tx1">
                    <a:lumMod val="50000"/>
                    <a:lumOff val="50000"/>
                  </a:schemeClr>
                </a:solidFill>
              </a:rPr>
              <a:t> that are not sediment but are part of the mud. </a:t>
            </a:r>
          </a:p>
        </p:txBody>
      </p:sp>
      <p:sp>
        <p:nvSpPr>
          <p:cNvPr id="6" name="TextBox 5">
            <a:extLst>
              <a:ext uri="{FF2B5EF4-FFF2-40B4-BE49-F238E27FC236}">
                <a16:creationId xmlns:a16="http://schemas.microsoft.com/office/drawing/2014/main" id="{0AD3E3FA-C6B0-EE77-F5E1-071D8C82866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Grain sizes of bed and wash material</a:t>
            </a:r>
          </a:p>
        </p:txBody>
      </p:sp>
      <p:sp>
        <p:nvSpPr>
          <p:cNvPr id="10" name="Slide Number Placeholder 9">
            <a:extLst>
              <a:ext uri="{FF2B5EF4-FFF2-40B4-BE49-F238E27FC236}">
                <a16:creationId xmlns:a16="http://schemas.microsoft.com/office/drawing/2014/main" id="{66DE6CC0-3E0C-06FE-11ED-7699B44B1E1D}"/>
              </a:ext>
            </a:extLst>
          </p:cNvPr>
          <p:cNvSpPr>
            <a:spLocks noGrp="1"/>
          </p:cNvSpPr>
          <p:nvPr>
            <p:ph type="sldNum" sz="quarter" idx="12"/>
          </p:nvPr>
        </p:nvSpPr>
        <p:spPr/>
        <p:txBody>
          <a:bodyPr/>
          <a:lstStyle/>
          <a:p>
            <a:fld id="{2386C454-E1BD-5A43-901A-CA4ACC7380B7}" type="slidenum">
              <a:rPr lang="en-US" smtClean="0"/>
              <a:t>10</a:t>
            </a:fld>
            <a:endParaRPr lang="en-US"/>
          </a:p>
        </p:txBody>
      </p:sp>
    </p:spTree>
    <p:extLst>
      <p:ext uri="{BB962C8B-B14F-4D97-AF65-F5344CB8AC3E}">
        <p14:creationId xmlns:p14="http://schemas.microsoft.com/office/powerpoint/2010/main" val="2278146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D7197-9790-EEC9-5E30-E4931184A29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840F47D-6C0A-17E1-71B7-F65162A134D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8238718" cy="6858000"/>
          </a:xfrm>
          <a:prstGeom prst="rect">
            <a:avLst/>
          </a:prstGeom>
        </p:spPr>
      </p:pic>
      <p:sp>
        <p:nvSpPr>
          <p:cNvPr id="4" name="Rectangle 2">
            <a:extLst>
              <a:ext uri="{FF2B5EF4-FFF2-40B4-BE49-F238E27FC236}">
                <a16:creationId xmlns:a16="http://schemas.microsoft.com/office/drawing/2014/main" id="{E96FDD96-0CB6-524E-4211-835B2AC51838}"/>
              </a:ext>
            </a:extLst>
          </p:cNvPr>
          <p:cNvSpPr>
            <a:spLocks noChangeArrowheads="1"/>
          </p:cNvSpPr>
          <p:nvPr/>
        </p:nvSpPr>
        <p:spPr bwMode="auto">
          <a:xfrm>
            <a:off x="0" y="264372"/>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t>The</a:t>
            </a:r>
            <a:r>
              <a:rPr lang="en-US" altLang="en-US" sz="2800" b="1" dirty="0">
                <a:latin typeface="Aptos" panose="020B0004020202020204" pitchFamily="34" charset="0"/>
              </a:rPr>
              <a:t> </a:t>
            </a:r>
            <a:r>
              <a:rPr lang="en-US" altLang="en-US" sz="2800" b="1" dirty="0">
                <a:latin typeface="Arial" panose="020B0604020202020204" pitchFamily="34" charset="0"/>
                <a:cs typeface="Arial" panose="020B0604020202020204" pitchFamily="34" charset="0"/>
              </a:rPr>
              <a:t>Enoree</a:t>
            </a:r>
            <a:r>
              <a:rPr lang="en-US" altLang="en-US" sz="2800" b="1" dirty="0">
                <a:latin typeface="Aptos" panose="020B0004020202020204" pitchFamily="34" charset="0"/>
              </a:rPr>
              <a:t> River, SC</a:t>
            </a:r>
            <a:endParaRPr kumimoji="0" lang="en-US" altLang="en-US" sz="2800" b="1" i="0" u="none" strike="noStrike" cap="none" normalizeH="0" baseline="0" dirty="0">
              <a:ln>
                <a:noFill/>
              </a:ln>
              <a:effectLst/>
              <a:latin typeface="Arial" panose="020B0604020202020204" pitchFamily="34" charset="0"/>
            </a:endParaRPr>
          </a:p>
        </p:txBody>
      </p:sp>
      <p:sp>
        <p:nvSpPr>
          <p:cNvPr id="7" name="Oval 6">
            <a:extLst>
              <a:ext uri="{FF2B5EF4-FFF2-40B4-BE49-F238E27FC236}">
                <a16:creationId xmlns:a16="http://schemas.microsoft.com/office/drawing/2014/main" id="{5DEB0A8C-A07C-7BFE-D0BE-4A582289DE8D}"/>
              </a:ext>
            </a:extLst>
          </p:cNvPr>
          <p:cNvSpPr/>
          <p:nvPr/>
        </p:nvSpPr>
        <p:spPr>
          <a:xfrm rot="2099175">
            <a:off x="1423435" y="765079"/>
            <a:ext cx="2154607" cy="975041"/>
          </a:xfrm>
          <a:prstGeom prst="ellipse">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map&#10;&#10;Description automatically generated">
            <a:extLst>
              <a:ext uri="{FF2B5EF4-FFF2-40B4-BE49-F238E27FC236}">
                <a16:creationId xmlns:a16="http://schemas.microsoft.com/office/drawing/2014/main" id="{7FCD21FA-F8BC-BA00-F00B-9741F59B64D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82920" y="1910685"/>
            <a:ext cx="3995101" cy="3971131"/>
          </a:xfrm>
          <a:prstGeom prst="rect">
            <a:avLst/>
          </a:prstGeom>
        </p:spPr>
      </p:pic>
      <p:sp>
        <p:nvSpPr>
          <p:cNvPr id="8" name="Slide Number Placeholder 7">
            <a:extLst>
              <a:ext uri="{FF2B5EF4-FFF2-40B4-BE49-F238E27FC236}">
                <a16:creationId xmlns:a16="http://schemas.microsoft.com/office/drawing/2014/main" id="{11D1BB19-AACE-1FC2-9387-AFB8DEA8E375}"/>
              </a:ext>
            </a:extLst>
          </p:cNvPr>
          <p:cNvSpPr>
            <a:spLocks noGrp="1"/>
          </p:cNvSpPr>
          <p:nvPr>
            <p:ph type="sldNum" sz="quarter" idx="12"/>
          </p:nvPr>
        </p:nvSpPr>
        <p:spPr/>
        <p:txBody>
          <a:bodyPr/>
          <a:lstStyle/>
          <a:p>
            <a:fld id="{2386C454-E1BD-5A43-901A-CA4ACC7380B7}" type="slidenum">
              <a:rPr lang="en-US" smtClean="0"/>
              <a:t>11</a:t>
            </a:fld>
            <a:endParaRPr lang="en-US"/>
          </a:p>
        </p:txBody>
      </p:sp>
    </p:spTree>
    <p:extLst>
      <p:ext uri="{BB962C8B-B14F-4D97-AF65-F5344CB8AC3E}">
        <p14:creationId xmlns:p14="http://schemas.microsoft.com/office/powerpoint/2010/main" val="3806200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D75F-904B-1C61-CDAD-9967AFA1D94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B91DDB7-8C66-FFFE-BDF0-DC784091312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8238718" cy="6858000"/>
          </a:xfrm>
          <a:prstGeom prst="rect">
            <a:avLst/>
          </a:prstGeom>
        </p:spPr>
      </p:pic>
      <p:sp>
        <p:nvSpPr>
          <p:cNvPr id="4" name="Rectangle 2">
            <a:extLst>
              <a:ext uri="{FF2B5EF4-FFF2-40B4-BE49-F238E27FC236}">
                <a16:creationId xmlns:a16="http://schemas.microsoft.com/office/drawing/2014/main" id="{31821276-E8ED-973A-AD8B-879CDE541C11}"/>
              </a:ext>
            </a:extLst>
          </p:cNvPr>
          <p:cNvSpPr>
            <a:spLocks noChangeArrowheads="1"/>
          </p:cNvSpPr>
          <p:nvPr/>
        </p:nvSpPr>
        <p:spPr bwMode="auto">
          <a:xfrm>
            <a:off x="0" y="264372"/>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rial" panose="020B0604020202020204" pitchFamily="34" charset="0"/>
                <a:cs typeface="Arial" panose="020B0604020202020204" pitchFamily="34" charset="0"/>
              </a:rPr>
              <a:t>The Enoree River, SC</a:t>
            </a:r>
            <a:endParaRPr kumimoji="0" lang="en-US" altLang="en-US" sz="2800" b="1" i="0" u="none" strike="noStrike" cap="none" normalizeH="0" baseline="0" dirty="0">
              <a:ln>
                <a:noFill/>
              </a:ln>
              <a:effectLst/>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id="{86858276-F0FC-836B-EB65-3CDA3E064D88}"/>
              </a:ext>
            </a:extLst>
          </p:cNvPr>
          <p:cNvSpPr/>
          <p:nvPr/>
        </p:nvSpPr>
        <p:spPr>
          <a:xfrm rot="2099175">
            <a:off x="1991458" y="898792"/>
            <a:ext cx="539690" cy="517759"/>
          </a:xfrm>
          <a:prstGeom prst="ellipse">
            <a:avLst/>
          </a:prstGeom>
          <a:no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C2F40179-7000-60C1-30C7-A68113B5C83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019674" y="890123"/>
            <a:ext cx="6077920" cy="4576040"/>
          </a:xfrm>
          <a:prstGeom prst="rect">
            <a:avLst/>
          </a:prstGeom>
        </p:spPr>
      </p:pic>
      <p:sp>
        <p:nvSpPr>
          <p:cNvPr id="2" name="TextBox 1">
            <a:extLst>
              <a:ext uri="{FF2B5EF4-FFF2-40B4-BE49-F238E27FC236}">
                <a16:creationId xmlns:a16="http://schemas.microsoft.com/office/drawing/2014/main" id="{A974CAAB-3CA5-1A90-A84A-895922CB0E5F}"/>
              </a:ext>
            </a:extLst>
          </p:cNvPr>
          <p:cNvSpPr txBox="1"/>
          <p:nvPr/>
        </p:nvSpPr>
        <p:spPr>
          <a:xfrm>
            <a:off x="8452406" y="909520"/>
            <a:ext cx="2901394" cy="646331"/>
          </a:xfrm>
          <a:prstGeom prst="rect">
            <a:avLst/>
          </a:prstGeom>
          <a:noFill/>
        </p:spPr>
        <p:txBody>
          <a:bodyPr wrap="square" rtlCol="0">
            <a:spAutoFit/>
          </a:bodyPr>
          <a:lstStyle/>
          <a:p>
            <a:r>
              <a:rPr lang="en-US" dirty="0"/>
              <a:t>Soil Conservation Service field laboratory</a:t>
            </a:r>
          </a:p>
        </p:txBody>
      </p:sp>
      <p:pic>
        <p:nvPicPr>
          <p:cNvPr id="10" name="Picture 9">
            <a:extLst>
              <a:ext uri="{FF2B5EF4-FFF2-40B4-BE49-F238E27FC236}">
                <a16:creationId xmlns:a16="http://schemas.microsoft.com/office/drawing/2014/main" id="{D9E97B07-8053-5B5D-FA57-9E671683591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3981281"/>
            <a:ext cx="3835625" cy="2876719"/>
          </a:xfrm>
          <a:prstGeom prst="rect">
            <a:avLst/>
          </a:prstGeom>
        </p:spPr>
      </p:pic>
      <p:sp>
        <p:nvSpPr>
          <p:cNvPr id="3" name="Slide Number Placeholder 4">
            <a:extLst>
              <a:ext uri="{FF2B5EF4-FFF2-40B4-BE49-F238E27FC236}">
                <a16:creationId xmlns:a16="http://schemas.microsoft.com/office/drawing/2014/main" id="{9BF68E59-6E2A-A4E8-7E3D-37E95DB49D70}"/>
              </a:ext>
            </a:extLst>
          </p:cNvPr>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F8C9EEC-1E9B-4689-8CDE-29F0763E98F0}" type="slidenum">
              <a:rPr lang="en-US" smtClean="0">
                <a:solidFill>
                  <a:schemeClr val="bg1">
                    <a:lumMod val="65000"/>
                  </a:schemeClr>
                </a:solidFill>
              </a:rPr>
              <a:pPr/>
              <a:t>12</a:t>
            </a:fld>
            <a:endParaRPr lang="en-US" dirty="0">
              <a:solidFill>
                <a:schemeClr val="bg1">
                  <a:lumMod val="65000"/>
                </a:schemeClr>
              </a:solidFill>
            </a:endParaRPr>
          </a:p>
        </p:txBody>
      </p:sp>
      <p:sp>
        <p:nvSpPr>
          <p:cNvPr id="8" name="Slide Number Placeholder 7">
            <a:extLst>
              <a:ext uri="{FF2B5EF4-FFF2-40B4-BE49-F238E27FC236}">
                <a16:creationId xmlns:a16="http://schemas.microsoft.com/office/drawing/2014/main" id="{CCA35E0D-C7FA-8017-FC71-D347EA892FE6}"/>
              </a:ext>
            </a:extLst>
          </p:cNvPr>
          <p:cNvSpPr>
            <a:spLocks noGrp="1"/>
          </p:cNvSpPr>
          <p:nvPr>
            <p:ph type="sldNum" sz="quarter" idx="12"/>
          </p:nvPr>
        </p:nvSpPr>
        <p:spPr/>
        <p:txBody>
          <a:bodyPr/>
          <a:lstStyle/>
          <a:p>
            <a:fld id="{2386C454-E1BD-5A43-901A-CA4ACC7380B7}" type="slidenum">
              <a:rPr lang="en-US" smtClean="0"/>
              <a:t>12</a:t>
            </a:fld>
            <a:endParaRPr lang="en-US"/>
          </a:p>
        </p:txBody>
      </p:sp>
    </p:spTree>
    <p:extLst>
      <p:ext uri="{BB962C8B-B14F-4D97-AF65-F5344CB8AC3E}">
        <p14:creationId xmlns:p14="http://schemas.microsoft.com/office/powerpoint/2010/main" val="1693848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87C6-6DE6-BE75-672D-295AC700B16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235605E0-2749-1C0D-4327-C40067564A39}"/>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t>The </a:t>
            </a:r>
            <a:r>
              <a:rPr lang="en-US" altLang="en-US" sz="2800" b="1" dirty="0">
                <a:latin typeface="Arial" panose="020B0604020202020204" pitchFamily="34" charset="0"/>
                <a:cs typeface="Arial" panose="020B0604020202020204" pitchFamily="34" charset="0"/>
              </a:rPr>
              <a:t>Enoree</a:t>
            </a:r>
            <a:r>
              <a:rPr lang="en-US" altLang="en-US" sz="2800" b="1" dirty="0"/>
              <a:t> </a:t>
            </a:r>
            <a:r>
              <a:rPr lang="en-US" altLang="en-US" sz="2800" b="1" dirty="0">
                <a:latin typeface="Arial" panose="020B0604020202020204" pitchFamily="34" charset="0"/>
                <a:cs typeface="Arial" panose="020B0604020202020204" pitchFamily="34" charset="0"/>
              </a:rPr>
              <a:t>River</a:t>
            </a:r>
            <a:r>
              <a:rPr lang="en-US" altLang="en-US" sz="2800" b="1" dirty="0"/>
              <a:t> study </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t>(Einstein et al., 1940)</a:t>
            </a:r>
            <a:endParaRPr kumimoji="0" lang="en-US" altLang="en-US" b="1" i="0" u="none" strike="noStrike" cap="none" normalizeH="0" baseline="0" dirty="0">
              <a:ln>
                <a:noFill/>
              </a:ln>
              <a:effectLst/>
            </a:endParaRPr>
          </a:p>
        </p:txBody>
      </p:sp>
      <p:sp>
        <p:nvSpPr>
          <p:cNvPr id="12" name="Oval 11">
            <a:extLst>
              <a:ext uri="{FF2B5EF4-FFF2-40B4-BE49-F238E27FC236}">
                <a16:creationId xmlns:a16="http://schemas.microsoft.com/office/drawing/2014/main" id="{55A86D70-3936-778E-304A-A54852ADB923}"/>
              </a:ext>
            </a:extLst>
          </p:cNvPr>
          <p:cNvSpPr/>
          <p:nvPr/>
        </p:nvSpPr>
        <p:spPr>
          <a:xfrm rot="20802635">
            <a:off x="1028926" y="4620844"/>
            <a:ext cx="2306231" cy="806693"/>
          </a:xfrm>
          <a:prstGeom prst="ellipse">
            <a:avLst/>
          </a:prstGeom>
          <a:solidFill>
            <a:schemeClr val="accent1">
              <a:lumMod val="20000"/>
              <a:lumOff val="8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3A4D6A69-CB73-4FE0-EE15-B48E7E285F46}"/>
              </a:ext>
            </a:extLst>
          </p:cNvPr>
          <p:cNvPicPr>
            <a:picLocks noChangeAspect="1"/>
          </p:cNvPicPr>
          <p:nvPr/>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05195" y="1134306"/>
            <a:ext cx="7351815" cy="5013830"/>
          </a:xfrm>
          <a:prstGeom prst="rect">
            <a:avLst/>
          </a:prstGeom>
        </p:spPr>
      </p:pic>
      <p:sp>
        <p:nvSpPr>
          <p:cNvPr id="13" name="TextBox 12">
            <a:extLst>
              <a:ext uri="{FF2B5EF4-FFF2-40B4-BE49-F238E27FC236}">
                <a16:creationId xmlns:a16="http://schemas.microsoft.com/office/drawing/2014/main" id="{69880A04-85F8-4F2C-31C9-FAB7477FC949}"/>
              </a:ext>
            </a:extLst>
          </p:cNvPr>
          <p:cNvSpPr txBox="1"/>
          <p:nvPr/>
        </p:nvSpPr>
        <p:spPr>
          <a:xfrm>
            <a:off x="3948913" y="4539632"/>
            <a:ext cx="2330506" cy="646331"/>
          </a:xfrm>
          <a:prstGeom prst="rect">
            <a:avLst/>
          </a:prstGeom>
          <a:solidFill>
            <a:schemeClr val="accent1">
              <a:lumMod val="20000"/>
              <a:lumOff val="80000"/>
            </a:schemeClr>
          </a:solidFill>
        </p:spPr>
        <p:txBody>
          <a:bodyPr wrap="square" rtlCol="0">
            <a:spAutoFit/>
          </a:bodyPr>
          <a:lstStyle/>
          <a:p>
            <a:r>
              <a:rPr lang="en-US" dirty="0">
                <a:latin typeface="Arial" panose="020B0604020202020204" pitchFamily="34" charset="0"/>
                <a:cs typeface="Arial" panose="020B0604020202020204" pitchFamily="34" charset="0"/>
              </a:rPr>
              <a:t>Samples containing fine bank material </a:t>
            </a:r>
          </a:p>
        </p:txBody>
      </p:sp>
      <p:sp>
        <p:nvSpPr>
          <p:cNvPr id="14" name="TextBox 13">
            <a:extLst>
              <a:ext uri="{FF2B5EF4-FFF2-40B4-BE49-F238E27FC236}">
                <a16:creationId xmlns:a16="http://schemas.microsoft.com/office/drawing/2014/main" id="{0966B23A-E646-FB2A-FE8A-4E876F1B4B0B}"/>
              </a:ext>
            </a:extLst>
          </p:cNvPr>
          <p:cNvSpPr txBox="1"/>
          <p:nvPr/>
        </p:nvSpPr>
        <p:spPr>
          <a:xfrm>
            <a:off x="7369274" y="268819"/>
            <a:ext cx="4747329" cy="2062103"/>
          </a:xfrm>
          <a:prstGeom prst="rect">
            <a:avLst/>
          </a:prstGeom>
          <a:noFill/>
        </p:spPr>
        <p:txBody>
          <a:bodyPr wrap="square" rtlCol="0">
            <a:spAutoFit/>
          </a:bodyPr>
          <a:lstStyle/>
          <a:p>
            <a:endParaRPr lang="en-US" sz="1600" dirty="0">
              <a:latin typeface="Arial" panose="020B0604020202020204" pitchFamily="34" charset="0"/>
              <a:cs typeface="Arial" panose="020B0604020202020204" pitchFamily="34" charset="0"/>
            </a:endParaRPr>
          </a:p>
          <a:p>
            <a:pPr marL="457200" indent="-457200">
              <a:buAutoNum type="arabicParenR"/>
            </a:pPr>
            <a:r>
              <a:rPr lang="en-US" sz="1600" dirty="0">
                <a:latin typeface="Arial" panose="020B0604020202020204" pitchFamily="34" charset="0"/>
                <a:cs typeface="Arial" panose="020B0604020202020204" pitchFamily="34" charset="0"/>
              </a:rPr>
              <a:t>Very little sediment finer than 0.315 mm (42 sieve mesh) and practically no sediment finer than 0.25 mm (60 sieve mesh) was found on the channel bed. Sediment collected in traps during a storm and sediment found on the bed had similar grain size distributions</a:t>
            </a:r>
          </a:p>
          <a:p>
            <a:pPr marL="457200" indent="-457200">
              <a:buAutoNum type="arabicParenR"/>
            </a:pPr>
            <a:endParaRPr lang="en-US" sz="16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BE05DD4-AE11-3874-0C09-9C9703F95CDB}"/>
              </a:ext>
            </a:extLst>
          </p:cNvPr>
          <p:cNvSpPr>
            <a:spLocks noGrp="1"/>
          </p:cNvSpPr>
          <p:nvPr>
            <p:ph type="sldNum" sz="quarter" idx="12"/>
          </p:nvPr>
        </p:nvSpPr>
        <p:spPr/>
        <p:txBody>
          <a:bodyPr/>
          <a:lstStyle/>
          <a:p>
            <a:fld id="{2386C454-E1BD-5A43-901A-CA4ACC7380B7}" type="slidenum">
              <a:rPr lang="en-US" smtClean="0"/>
              <a:t>13</a:t>
            </a:fld>
            <a:endParaRPr lang="en-US"/>
          </a:p>
        </p:txBody>
      </p:sp>
    </p:spTree>
    <p:extLst>
      <p:ext uri="{BB962C8B-B14F-4D97-AF65-F5344CB8AC3E}">
        <p14:creationId xmlns:p14="http://schemas.microsoft.com/office/powerpoint/2010/main" val="1027116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E5C0-681F-2BA8-F2C9-FA0C5D5FB26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C7B1441-3538-2B4D-6EC2-849AA9834B3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9728" y="1133856"/>
            <a:ext cx="7469536" cy="5010912"/>
          </a:xfrm>
          <a:prstGeom prst="rect">
            <a:avLst/>
          </a:prstGeom>
        </p:spPr>
      </p:pic>
      <p:sp>
        <p:nvSpPr>
          <p:cNvPr id="4" name="Rectangle 2">
            <a:extLst>
              <a:ext uri="{FF2B5EF4-FFF2-40B4-BE49-F238E27FC236}">
                <a16:creationId xmlns:a16="http://schemas.microsoft.com/office/drawing/2014/main" id="{7B78574C-CD96-DA9C-CAFB-435092CA439A}"/>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rial" panose="020B0604020202020204" pitchFamily="34" charset="0"/>
                <a:cs typeface="Arial" panose="020B0604020202020204" pitchFamily="34" charset="0"/>
              </a:rPr>
              <a:t>The Enoree River study </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cs typeface="Arial" panose="020B0604020202020204" pitchFamily="34" charset="0"/>
              </a:rPr>
              <a:t>(Einstein et al., 1940)</a:t>
            </a:r>
            <a:endParaRPr kumimoji="0" lang="en-US" altLang="en-US" b="1" i="0" u="none" strike="noStrike" cap="none" normalizeH="0" baseline="0" dirty="0">
              <a:ln>
                <a:noFill/>
              </a:ln>
              <a:effectLst/>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E380658B-EC39-7B06-0EF7-6F562931C5A7}"/>
              </a:ext>
            </a:extLst>
          </p:cNvPr>
          <p:cNvCxnSpPr/>
          <p:nvPr/>
        </p:nvCxnSpPr>
        <p:spPr>
          <a:xfrm flipV="1">
            <a:off x="1251679" y="3533123"/>
            <a:ext cx="1926236" cy="956431"/>
          </a:xfrm>
          <a:prstGeom prst="straightConnector1">
            <a:avLst/>
          </a:prstGeom>
          <a:ln w="28575">
            <a:tailEnd type="arrow" w="lg"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7410F49-3691-0716-DAD4-97BE7703CAB7}"/>
              </a:ext>
            </a:extLst>
          </p:cNvPr>
          <p:cNvSpPr txBox="1"/>
          <p:nvPr/>
        </p:nvSpPr>
        <p:spPr>
          <a:xfrm rot="19895700">
            <a:off x="2660755" y="2967425"/>
            <a:ext cx="1551482" cy="400110"/>
          </a:xfrm>
          <a:prstGeom prst="rect">
            <a:avLst/>
          </a:prstGeom>
          <a:noFill/>
        </p:spPr>
        <p:txBody>
          <a:bodyPr wrap="square" rtlCol="0">
            <a:spAutoFit/>
          </a:bodyPr>
          <a:lstStyle/>
          <a:p>
            <a:r>
              <a:rPr lang="en-US" sz="2000" dirty="0"/>
              <a:t>Grain size</a:t>
            </a:r>
          </a:p>
        </p:txBody>
      </p:sp>
      <p:sp>
        <p:nvSpPr>
          <p:cNvPr id="11" name="TextBox 10">
            <a:extLst>
              <a:ext uri="{FF2B5EF4-FFF2-40B4-BE49-F238E27FC236}">
                <a16:creationId xmlns:a16="http://schemas.microsoft.com/office/drawing/2014/main" id="{161C9939-C298-FB2D-2A11-9E9F4B0B3BCA}"/>
              </a:ext>
            </a:extLst>
          </p:cNvPr>
          <p:cNvSpPr txBox="1"/>
          <p:nvPr/>
        </p:nvSpPr>
        <p:spPr>
          <a:xfrm>
            <a:off x="7369274" y="268819"/>
            <a:ext cx="4747329" cy="3785652"/>
          </a:xfrm>
          <a:prstGeom prst="rect">
            <a:avLst/>
          </a:prstGeom>
          <a:noFill/>
        </p:spPr>
        <p:txBody>
          <a:bodyPr wrap="square" rtlCol="0">
            <a:spAutoFit/>
          </a:bodyPr>
          <a:lstStyle/>
          <a:p>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Very little sediment finer than 0.315 mm (42 sieve mesh) and practically no sediment finer than 0.25 mm (60 sieve mesh) was found on the channel bed. Sediment collected in traps during a storm and sediment found on the bed had similar grain size distributions</a:t>
            </a:r>
          </a:p>
          <a:p>
            <a:pPr marL="457200" indent="-457200">
              <a:buAutoNum type="arabicParenR"/>
            </a:pPr>
            <a:endParaRPr lang="en-US" sz="1600" dirty="0">
              <a:solidFill>
                <a:schemeClr val="accent1">
                  <a:lumMod val="75000"/>
                </a:schemeClr>
              </a:solidFill>
              <a:latin typeface="Arial" panose="020B0604020202020204" pitchFamily="34" charset="0"/>
              <a:cs typeface="Arial" panose="020B0604020202020204" pitchFamily="34" charset="0"/>
            </a:endParaRPr>
          </a:p>
          <a:p>
            <a:pPr marL="457200" indent="-457200">
              <a:buAutoNum type="arabicParenR"/>
            </a:pPr>
            <a:r>
              <a:rPr lang="en-US" sz="1600" dirty="0">
                <a:latin typeface="Arial" panose="020B0604020202020204" pitchFamily="34" charset="0"/>
                <a:cs typeface="Arial" panose="020B0604020202020204" pitchFamily="34" charset="0"/>
              </a:rPr>
              <a:t>Suspended load samples indicate nearly uniform distribution in the vertical for the finer sizes. </a:t>
            </a:r>
          </a:p>
          <a:p>
            <a:pPr marL="457200" indent="-457200">
              <a:buAutoNum type="arabicParenR"/>
            </a:pPr>
            <a:endParaRPr lang="en-US" sz="1600" dirty="0">
              <a:latin typeface="Arial" panose="020B0604020202020204" pitchFamily="34" charset="0"/>
              <a:cs typeface="Arial" panose="020B0604020202020204" pitchFamily="34" charset="0"/>
            </a:endParaRPr>
          </a:p>
          <a:p>
            <a:pPr marL="457200" indent="-457200">
              <a:buAutoNum type="arabicParenR"/>
            </a:pPr>
            <a:r>
              <a:rPr lang="en-US" sz="1600" dirty="0">
                <a:latin typeface="Arial" panose="020B0604020202020204" pitchFamily="34" charset="0"/>
                <a:cs typeface="Arial" panose="020B0604020202020204" pitchFamily="34" charset="0"/>
              </a:rPr>
              <a:t>Particles coarser than 0.315 mm are found in suspension with higher concentrations near the bed</a:t>
            </a:r>
          </a:p>
        </p:txBody>
      </p:sp>
      <p:sp>
        <p:nvSpPr>
          <p:cNvPr id="2" name="Slide Number Placeholder 1">
            <a:extLst>
              <a:ext uri="{FF2B5EF4-FFF2-40B4-BE49-F238E27FC236}">
                <a16:creationId xmlns:a16="http://schemas.microsoft.com/office/drawing/2014/main" id="{FD76917C-2779-7726-28B2-1C3B15748319}"/>
              </a:ext>
            </a:extLst>
          </p:cNvPr>
          <p:cNvSpPr>
            <a:spLocks noGrp="1"/>
          </p:cNvSpPr>
          <p:nvPr>
            <p:ph type="sldNum" sz="quarter" idx="12"/>
          </p:nvPr>
        </p:nvSpPr>
        <p:spPr/>
        <p:txBody>
          <a:bodyPr/>
          <a:lstStyle/>
          <a:p>
            <a:fld id="{2386C454-E1BD-5A43-901A-CA4ACC7380B7}" type="slidenum">
              <a:rPr lang="en-US" smtClean="0"/>
              <a:t>14</a:t>
            </a:fld>
            <a:endParaRPr lang="en-US"/>
          </a:p>
        </p:txBody>
      </p:sp>
    </p:spTree>
    <p:extLst>
      <p:ext uri="{BB962C8B-B14F-4D97-AF65-F5344CB8AC3E}">
        <p14:creationId xmlns:p14="http://schemas.microsoft.com/office/powerpoint/2010/main" val="3666525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3442E-5F1B-EF0F-9162-44C1530DA2F3}"/>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4F6195B7-1816-035B-13EC-CC72E1019E28}"/>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42688" y="3972386"/>
            <a:ext cx="7470648" cy="498764"/>
          </a:xfrm>
          <a:prstGeom prst="rect">
            <a:avLst/>
          </a:prstGeom>
        </p:spPr>
      </p:pic>
      <p:sp>
        <p:nvSpPr>
          <p:cNvPr id="4" name="Rectangle 2">
            <a:extLst>
              <a:ext uri="{FF2B5EF4-FFF2-40B4-BE49-F238E27FC236}">
                <a16:creationId xmlns:a16="http://schemas.microsoft.com/office/drawing/2014/main" id="{9BEDF1C5-3DCE-AA3E-0442-25B9F3F55B5C}"/>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rial" panose="020B0604020202020204" pitchFamily="34" charset="0"/>
                <a:cs typeface="Arial" panose="020B0604020202020204" pitchFamily="34" charset="0"/>
              </a:rPr>
              <a:t>The Enoree River study </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cs typeface="Arial" panose="020B0604020202020204" pitchFamily="34" charset="0"/>
              </a:rPr>
              <a:t>(Einstein et al., 1940)</a:t>
            </a:r>
            <a:endParaRPr kumimoji="0" lang="en-US" altLang="en-US" b="1" i="0" u="none" strike="noStrike" cap="none" normalizeH="0" baseline="0" dirty="0">
              <a:ln>
                <a:noFill/>
              </a:ln>
              <a:effectLst/>
              <a:latin typeface="Arial" panose="020B0604020202020204" pitchFamily="34" charset="0"/>
              <a:cs typeface="Arial" panose="020B0604020202020204" pitchFamily="34" charset="0"/>
            </a:endParaRPr>
          </a:p>
        </p:txBody>
      </p:sp>
      <p:sp>
        <p:nvSpPr>
          <p:cNvPr id="12" name="Oval 11">
            <a:extLst>
              <a:ext uri="{FF2B5EF4-FFF2-40B4-BE49-F238E27FC236}">
                <a16:creationId xmlns:a16="http://schemas.microsoft.com/office/drawing/2014/main" id="{679AE601-7599-20BC-A0F6-7A44A3EF6709}"/>
              </a:ext>
            </a:extLst>
          </p:cNvPr>
          <p:cNvSpPr/>
          <p:nvPr/>
        </p:nvSpPr>
        <p:spPr>
          <a:xfrm>
            <a:off x="1502229" y="1358537"/>
            <a:ext cx="1097280" cy="1221377"/>
          </a:xfrm>
          <a:prstGeom prst="ellipse">
            <a:avLst/>
          </a:prstGeom>
          <a:solidFill>
            <a:schemeClr val="accent1">
              <a:lumMod val="20000"/>
              <a:lumOff val="8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1DD52BC-3F14-16E5-6618-47EDE33CDBCC}"/>
              </a:ext>
            </a:extLst>
          </p:cNvPr>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a:xfrm>
            <a:off x="105194" y="1113469"/>
            <a:ext cx="7470648" cy="2731167"/>
          </a:xfrm>
          <a:prstGeom prst="rect">
            <a:avLst/>
          </a:prstGeom>
        </p:spPr>
      </p:pic>
      <p:sp>
        <p:nvSpPr>
          <p:cNvPr id="14" name="TextBox 13">
            <a:extLst>
              <a:ext uri="{FF2B5EF4-FFF2-40B4-BE49-F238E27FC236}">
                <a16:creationId xmlns:a16="http://schemas.microsoft.com/office/drawing/2014/main" id="{15A9CFC1-114F-73FB-BDAB-C653B8602782}"/>
              </a:ext>
            </a:extLst>
          </p:cNvPr>
          <p:cNvSpPr txBox="1"/>
          <p:nvPr/>
        </p:nvSpPr>
        <p:spPr>
          <a:xfrm>
            <a:off x="7369274" y="268819"/>
            <a:ext cx="4747329" cy="4770537"/>
          </a:xfrm>
          <a:prstGeom prst="rect">
            <a:avLst/>
          </a:prstGeom>
          <a:noFill/>
        </p:spPr>
        <p:txBody>
          <a:bodyPr wrap="square" rtlCol="0">
            <a:spAutoFit/>
          </a:bodyPr>
          <a:lstStyle/>
          <a:p>
            <a:endParaRPr lang="en-US" sz="1600" dirty="0">
              <a:solidFill>
                <a:schemeClr val="accent1">
                  <a:lumMod val="7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Very little sediment finer than 0.315 mm (42 sieve mesh) and practically no sediment finer than 0.25 </a:t>
            </a:r>
            <a:r>
              <a:rPr lang="en-US" sz="1600" dirty="0" err="1">
                <a:solidFill>
                  <a:schemeClr val="bg1">
                    <a:lumMod val="65000"/>
                  </a:schemeClr>
                </a:solidFill>
                <a:latin typeface="Arial" panose="020B0604020202020204" pitchFamily="34" charset="0"/>
                <a:cs typeface="Arial" panose="020B0604020202020204" pitchFamily="34" charset="0"/>
              </a:rPr>
              <a:t>mim</a:t>
            </a:r>
            <a:r>
              <a:rPr lang="en-US" sz="1600" dirty="0">
                <a:solidFill>
                  <a:schemeClr val="bg1">
                    <a:lumMod val="65000"/>
                  </a:schemeClr>
                </a:solidFill>
                <a:latin typeface="Arial" panose="020B0604020202020204" pitchFamily="34" charset="0"/>
                <a:cs typeface="Arial" panose="020B0604020202020204" pitchFamily="34" charset="0"/>
              </a:rPr>
              <a:t> (60 sieve mesh) was found on the channel bed. Sediment collected in traps during a storm and sediment found on the bed had similar grain size distributions</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Suspended load samples indicate nearly uniform distribution in the vertical for the finer sizes. </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Particles coarser than 0.315 mm are found in suspension with higher concentrations near the bed</a:t>
            </a:r>
          </a:p>
          <a:p>
            <a:pPr marL="457200" indent="-457200">
              <a:buAutoNum type="arabicParenR"/>
            </a:pPr>
            <a:endParaRPr lang="en-US" sz="1600" dirty="0">
              <a:solidFill>
                <a:schemeClr val="accent1">
                  <a:lumMod val="75000"/>
                </a:schemeClr>
              </a:solidFill>
              <a:latin typeface="Arial" panose="020B0604020202020204" pitchFamily="34" charset="0"/>
              <a:cs typeface="Arial" panose="020B0604020202020204" pitchFamily="34" charset="0"/>
            </a:endParaRPr>
          </a:p>
          <a:p>
            <a:pPr marL="457200" indent="-457200">
              <a:buAutoNum type="arabicParenR"/>
            </a:pPr>
            <a:r>
              <a:rPr lang="en-US" sz="1600" dirty="0">
                <a:latin typeface="Arial" panose="020B0604020202020204" pitchFamily="34" charset="0"/>
                <a:cs typeface="Arial" panose="020B0604020202020204" pitchFamily="34" charset="0"/>
              </a:rPr>
              <a:t>The peak of suspended load precedes that of water discharge</a:t>
            </a:r>
          </a:p>
          <a:p>
            <a:endParaRPr lang="en-US" sz="1600" dirty="0">
              <a:solidFill>
                <a:schemeClr val="accent1">
                  <a:lumMod val="75000"/>
                </a:schemeClr>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E07FA96B-9AF8-5524-130D-B2A5F8B5CA6C}"/>
              </a:ext>
            </a:extLst>
          </p:cNvPr>
          <p:cNvSpPr>
            <a:spLocks noGrp="1"/>
          </p:cNvSpPr>
          <p:nvPr>
            <p:ph type="sldNum" sz="quarter" idx="12"/>
          </p:nvPr>
        </p:nvSpPr>
        <p:spPr/>
        <p:txBody>
          <a:bodyPr/>
          <a:lstStyle/>
          <a:p>
            <a:fld id="{2386C454-E1BD-5A43-901A-CA4ACC7380B7}" type="slidenum">
              <a:rPr lang="en-US" smtClean="0"/>
              <a:t>15</a:t>
            </a:fld>
            <a:endParaRPr lang="en-US"/>
          </a:p>
        </p:txBody>
      </p:sp>
    </p:spTree>
    <p:extLst>
      <p:ext uri="{BB962C8B-B14F-4D97-AF65-F5344CB8AC3E}">
        <p14:creationId xmlns:p14="http://schemas.microsoft.com/office/powerpoint/2010/main" val="3428422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A919-0620-680E-7C8E-820E2C6F56A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C019557-44B7-4B96-13FE-045694397DB6}"/>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237145" y="4760038"/>
            <a:ext cx="7470648" cy="498764"/>
          </a:xfrm>
          <a:prstGeom prst="rect">
            <a:avLst/>
          </a:prstGeom>
        </p:spPr>
      </p:pic>
      <p:sp>
        <p:nvSpPr>
          <p:cNvPr id="4" name="Rectangle 2">
            <a:extLst>
              <a:ext uri="{FF2B5EF4-FFF2-40B4-BE49-F238E27FC236}">
                <a16:creationId xmlns:a16="http://schemas.microsoft.com/office/drawing/2014/main" id="{EB1A3FA1-013C-9065-36C6-6ED07C46F876}"/>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ptos" panose="020B0004020202020204" pitchFamily="34" charset="0"/>
              </a:rPr>
              <a:t>The </a:t>
            </a:r>
            <a:r>
              <a:rPr lang="en-US" altLang="en-US" sz="2800" b="1" dirty="0">
                <a:latin typeface="Arial" panose="020B0604020202020204" pitchFamily="34" charset="0"/>
                <a:cs typeface="Arial" panose="020B0604020202020204" pitchFamily="34" charset="0"/>
              </a:rPr>
              <a:t>Enoree</a:t>
            </a:r>
            <a:r>
              <a:rPr lang="en-US" altLang="en-US" sz="2800" b="1" dirty="0">
                <a:latin typeface="Aptos" panose="020B0004020202020204" pitchFamily="34" charset="0"/>
              </a:rPr>
              <a:t> River study </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latin typeface="Aptos" panose="020B0004020202020204" pitchFamily="34" charset="0"/>
              </a:rPr>
              <a:t>(</a:t>
            </a:r>
            <a:r>
              <a:rPr lang="en-US" altLang="en-US" b="1" dirty="0">
                <a:latin typeface="Arial" panose="020B0604020202020204" pitchFamily="34" charset="0"/>
                <a:cs typeface="Arial" panose="020B0604020202020204" pitchFamily="34" charset="0"/>
              </a:rPr>
              <a:t>Einstein</a:t>
            </a:r>
            <a:r>
              <a:rPr lang="en-US" altLang="en-US" b="1" dirty="0">
                <a:latin typeface="Aptos" panose="020B0004020202020204" pitchFamily="34" charset="0"/>
              </a:rPr>
              <a:t> et al., 1940)</a:t>
            </a:r>
            <a:endParaRPr kumimoji="0" lang="en-US" altLang="en-US" b="1" i="0" u="none" strike="noStrike" cap="none" normalizeH="0" baseline="0" dirty="0">
              <a:ln>
                <a:noFill/>
              </a:ln>
              <a:effectLst/>
              <a:latin typeface="Arial" panose="020B0604020202020204" pitchFamily="34" charset="0"/>
            </a:endParaRPr>
          </a:p>
        </p:txBody>
      </p:sp>
      <p:sp>
        <p:nvSpPr>
          <p:cNvPr id="9" name="TextBox 8">
            <a:extLst>
              <a:ext uri="{FF2B5EF4-FFF2-40B4-BE49-F238E27FC236}">
                <a16:creationId xmlns:a16="http://schemas.microsoft.com/office/drawing/2014/main" id="{4A2FC3F7-ECD0-09FF-22A3-327FFF6C4CCB}"/>
              </a:ext>
            </a:extLst>
          </p:cNvPr>
          <p:cNvSpPr txBox="1"/>
          <p:nvPr/>
        </p:nvSpPr>
        <p:spPr>
          <a:xfrm>
            <a:off x="7369274" y="268819"/>
            <a:ext cx="4747329" cy="5755422"/>
          </a:xfrm>
          <a:prstGeom prst="rect">
            <a:avLst/>
          </a:prstGeom>
          <a:noFill/>
        </p:spPr>
        <p:txBody>
          <a:bodyPr wrap="square" rtlCol="0">
            <a:spAutoFit/>
          </a:bodyPr>
          <a:lstStyle/>
          <a:p>
            <a:endParaRPr lang="en-US" sz="1600" dirty="0">
              <a:solidFill>
                <a:schemeClr val="accent1">
                  <a:lumMod val="7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Very little sediment finer than 0.315 mm (42 sieve mesh) and practically no sediment finer than 0.25 mm (60 sieve mesh) was found on the channel bed. Sediment collected in traps during a storm and sediment found on the bed had similar grain size distributions</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Suspended load samples indicate nearly uniform distribution in the vertical for the finer sizes. </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Particles coarser than 0.315 mm are found in suspension with higher concentrations near the bed</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The peak of suspended load precedes that of water discharge</a:t>
            </a:r>
          </a:p>
          <a:p>
            <a:pPr marL="457200" indent="-457200">
              <a:buAutoNum type="arabicParenR"/>
            </a:pPr>
            <a:endParaRPr lang="en-US" sz="1600" dirty="0">
              <a:solidFill>
                <a:schemeClr val="accent1">
                  <a:lumMod val="75000"/>
                </a:schemeClr>
              </a:solidFill>
              <a:latin typeface="Arial" panose="020B0604020202020204" pitchFamily="34" charset="0"/>
              <a:cs typeface="Arial" panose="020B0604020202020204" pitchFamily="34" charset="0"/>
            </a:endParaRPr>
          </a:p>
          <a:p>
            <a:pPr marL="457200" indent="-457200">
              <a:buAutoNum type="arabicParenR"/>
            </a:pPr>
            <a:r>
              <a:rPr lang="en-US" sz="1600" dirty="0">
                <a:latin typeface="Arial" panose="020B0604020202020204" pitchFamily="34" charset="0"/>
                <a:cs typeface="Arial" panose="020B0604020202020204" pitchFamily="34" charset="0"/>
              </a:rPr>
              <a:t>The suspended load consists for the 96% of sediment finer than 0.315 mm and follows a different curve than the material collected in the traps. </a:t>
            </a:r>
          </a:p>
        </p:txBody>
      </p:sp>
      <p:pic>
        <p:nvPicPr>
          <p:cNvPr id="3" name="Picture 2">
            <a:extLst>
              <a:ext uri="{FF2B5EF4-FFF2-40B4-BE49-F238E27FC236}">
                <a16:creationId xmlns:a16="http://schemas.microsoft.com/office/drawing/2014/main" id="{DFF8C559-E695-2061-19EB-A9BD1CCCED0E}"/>
              </a:ext>
            </a:extLst>
          </p:cNvPr>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a:xfrm>
            <a:off x="237145" y="1204774"/>
            <a:ext cx="7470648" cy="3323145"/>
          </a:xfrm>
          <a:prstGeom prst="rect">
            <a:avLst/>
          </a:prstGeom>
        </p:spPr>
      </p:pic>
      <p:cxnSp>
        <p:nvCxnSpPr>
          <p:cNvPr id="8" name="Straight Arrow Connector 7">
            <a:extLst>
              <a:ext uri="{FF2B5EF4-FFF2-40B4-BE49-F238E27FC236}">
                <a16:creationId xmlns:a16="http://schemas.microsoft.com/office/drawing/2014/main" id="{0B3F4432-3F02-91F2-CBEA-DF416C950F48}"/>
              </a:ext>
            </a:extLst>
          </p:cNvPr>
          <p:cNvCxnSpPr/>
          <p:nvPr/>
        </p:nvCxnSpPr>
        <p:spPr>
          <a:xfrm flipH="1">
            <a:off x="5178903" y="2390703"/>
            <a:ext cx="784927" cy="291314"/>
          </a:xfrm>
          <a:prstGeom prst="straightConnector1">
            <a:avLst/>
          </a:prstGeom>
          <a:ln w="38100">
            <a:tailEnd type="arrow" w="lg"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8104179-864B-3A58-064A-5E52EB6B6E26}"/>
              </a:ext>
            </a:extLst>
          </p:cNvPr>
          <p:cNvSpPr txBox="1"/>
          <p:nvPr/>
        </p:nvSpPr>
        <p:spPr>
          <a:xfrm>
            <a:off x="5963830" y="2004993"/>
            <a:ext cx="1408013" cy="707886"/>
          </a:xfrm>
          <a:prstGeom prst="rect">
            <a:avLst/>
          </a:prstGeom>
          <a:solidFill>
            <a:schemeClr val="accent1">
              <a:lumMod val="20000"/>
              <a:lumOff val="80000"/>
            </a:schemeClr>
          </a:solidFill>
        </p:spPr>
        <p:txBody>
          <a:bodyPr wrap="square" rtlCol="0">
            <a:spAutoFit/>
          </a:bodyPr>
          <a:lstStyle/>
          <a:p>
            <a:r>
              <a:rPr lang="en-US" sz="2000" dirty="0">
                <a:latin typeface="Arial" panose="020B0604020202020204" pitchFamily="34" charset="0"/>
                <a:cs typeface="Arial" panose="020B0604020202020204" pitchFamily="34" charset="0"/>
              </a:rPr>
              <a:t>Trap sediment</a:t>
            </a:r>
          </a:p>
        </p:txBody>
      </p:sp>
      <p:sp>
        <p:nvSpPr>
          <p:cNvPr id="13" name="TextBox 12">
            <a:extLst>
              <a:ext uri="{FF2B5EF4-FFF2-40B4-BE49-F238E27FC236}">
                <a16:creationId xmlns:a16="http://schemas.microsoft.com/office/drawing/2014/main" id="{4687C8BD-1D3D-9727-61B5-2934DC17A412}"/>
              </a:ext>
            </a:extLst>
          </p:cNvPr>
          <p:cNvSpPr txBox="1"/>
          <p:nvPr/>
        </p:nvSpPr>
        <p:spPr>
          <a:xfrm>
            <a:off x="1584819" y="804268"/>
            <a:ext cx="1789560" cy="707886"/>
          </a:xfrm>
          <a:prstGeom prst="rect">
            <a:avLst/>
          </a:prstGeom>
          <a:solidFill>
            <a:schemeClr val="accent1">
              <a:lumMod val="20000"/>
              <a:lumOff val="80000"/>
            </a:schemeClr>
          </a:solidFill>
        </p:spPr>
        <p:txBody>
          <a:bodyPr wrap="square" rtlCol="0">
            <a:spAutoFit/>
          </a:bodyPr>
          <a:lstStyle/>
          <a:p>
            <a:r>
              <a:rPr lang="en-US" sz="2000" dirty="0">
                <a:latin typeface="Arial" panose="020B0604020202020204" pitchFamily="34" charset="0"/>
                <a:cs typeface="Arial" panose="020B0604020202020204" pitchFamily="34" charset="0"/>
              </a:rPr>
              <a:t>Suspended sediment</a:t>
            </a:r>
          </a:p>
        </p:txBody>
      </p:sp>
      <p:cxnSp>
        <p:nvCxnSpPr>
          <p:cNvPr id="14" name="Straight Arrow Connector 13">
            <a:extLst>
              <a:ext uri="{FF2B5EF4-FFF2-40B4-BE49-F238E27FC236}">
                <a16:creationId xmlns:a16="http://schemas.microsoft.com/office/drawing/2014/main" id="{1C943985-C4F2-810D-AC20-C03F2B78C23B}"/>
              </a:ext>
            </a:extLst>
          </p:cNvPr>
          <p:cNvCxnSpPr>
            <a:cxnSpLocks/>
          </p:cNvCxnSpPr>
          <p:nvPr/>
        </p:nvCxnSpPr>
        <p:spPr>
          <a:xfrm>
            <a:off x="2395242" y="1512154"/>
            <a:ext cx="173787" cy="878549"/>
          </a:xfrm>
          <a:prstGeom prst="straightConnector1">
            <a:avLst/>
          </a:prstGeom>
          <a:ln w="38100">
            <a:tailEnd type="arrow" w="lg" len="med"/>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53D7811B-A3EF-8A04-D40F-B8E4C7423B6F}"/>
              </a:ext>
            </a:extLst>
          </p:cNvPr>
          <p:cNvSpPr>
            <a:spLocks noGrp="1"/>
          </p:cNvSpPr>
          <p:nvPr>
            <p:ph type="sldNum" sz="quarter" idx="12"/>
          </p:nvPr>
        </p:nvSpPr>
        <p:spPr/>
        <p:txBody>
          <a:bodyPr/>
          <a:lstStyle/>
          <a:p>
            <a:fld id="{2386C454-E1BD-5A43-901A-CA4ACC7380B7}" type="slidenum">
              <a:rPr lang="en-US" smtClean="0"/>
              <a:t>16</a:t>
            </a:fld>
            <a:endParaRPr lang="en-US"/>
          </a:p>
        </p:txBody>
      </p:sp>
    </p:spTree>
    <p:extLst>
      <p:ext uri="{BB962C8B-B14F-4D97-AF65-F5344CB8AC3E}">
        <p14:creationId xmlns:p14="http://schemas.microsoft.com/office/powerpoint/2010/main" val="3950450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8DB7-C36E-4650-CF51-4EBEAE6EA619}"/>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ECDCAA3-E645-87B4-BF9C-979C614763BF}"/>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t>The </a:t>
            </a:r>
            <a:r>
              <a:rPr lang="en-US" altLang="en-US" sz="2800" b="1" dirty="0">
                <a:latin typeface="Arial" panose="020B0604020202020204" pitchFamily="34" charset="0"/>
                <a:cs typeface="Arial" panose="020B0604020202020204" pitchFamily="34" charset="0"/>
              </a:rPr>
              <a:t>Enoree</a:t>
            </a:r>
            <a:r>
              <a:rPr lang="en-US" altLang="en-US" sz="2800" b="1" dirty="0"/>
              <a:t> River study </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t>(Einstein et al., 1940)</a:t>
            </a:r>
            <a:endParaRPr kumimoji="0" lang="en-US" altLang="en-US" b="1" i="0" u="none" strike="noStrike" cap="none" normalizeH="0" baseline="0" dirty="0">
              <a:ln>
                <a:noFill/>
              </a:ln>
              <a:effectLst/>
            </a:endParaRPr>
          </a:p>
        </p:txBody>
      </p:sp>
      <p:pic>
        <p:nvPicPr>
          <p:cNvPr id="6" name="Picture 5">
            <a:extLst>
              <a:ext uri="{FF2B5EF4-FFF2-40B4-BE49-F238E27FC236}">
                <a16:creationId xmlns:a16="http://schemas.microsoft.com/office/drawing/2014/main" id="{CE9A25BE-E395-CE46-7ACE-87C573D7CA92}"/>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83396" y="1221897"/>
            <a:ext cx="7470648" cy="2379059"/>
          </a:xfrm>
          <a:prstGeom prst="rect">
            <a:avLst/>
          </a:prstGeom>
        </p:spPr>
      </p:pic>
      <p:sp>
        <p:nvSpPr>
          <p:cNvPr id="15" name="TextBox 14">
            <a:extLst>
              <a:ext uri="{FF2B5EF4-FFF2-40B4-BE49-F238E27FC236}">
                <a16:creationId xmlns:a16="http://schemas.microsoft.com/office/drawing/2014/main" id="{3A01AC78-02D8-E70A-0DEE-933A7D9D951D}"/>
              </a:ext>
            </a:extLst>
          </p:cNvPr>
          <p:cNvSpPr txBox="1"/>
          <p:nvPr/>
        </p:nvSpPr>
        <p:spPr>
          <a:xfrm>
            <a:off x="271082" y="3822387"/>
            <a:ext cx="6590963" cy="2585323"/>
          </a:xfrm>
          <a:prstGeom prst="rect">
            <a:avLst/>
          </a:prstGeom>
          <a:noFill/>
        </p:spPr>
        <p:txBody>
          <a:bodyPr wrap="square">
            <a:spAutoFit/>
          </a:bodyPr>
          <a:lstStyle/>
          <a:p>
            <a:pPr marL="457200" indent="-457200">
              <a:buFont typeface="+mj-lt"/>
              <a:buAutoNum type="arabicParenR" startAt="6"/>
            </a:pPr>
            <a:r>
              <a:rPr lang="en-US" dirty="0"/>
              <a:t>The transport rate of particles coarser than 0.5 mm and with grain size between </a:t>
            </a:r>
            <a:r>
              <a:rPr lang="en-US" sz="1600" dirty="0">
                <a:latin typeface="Arial" panose="020B0604020202020204" pitchFamily="34" charset="0"/>
                <a:cs typeface="Arial" panose="020B0604020202020204" pitchFamily="34" charset="0"/>
              </a:rPr>
              <a:t>0.315</a:t>
            </a:r>
            <a:r>
              <a:rPr lang="en-US" dirty="0"/>
              <a:t> mm and 0.5 mm varies in a similar way. </a:t>
            </a:r>
          </a:p>
          <a:p>
            <a:pPr marL="457200" indent="-457200">
              <a:buFont typeface="+mj-lt"/>
              <a:buAutoNum type="arabicParenR" startAt="6"/>
            </a:pPr>
            <a:endParaRPr lang="en-US" dirty="0"/>
          </a:p>
          <a:p>
            <a:pPr marL="457200" indent="-457200">
              <a:buFont typeface="+mj-lt"/>
              <a:buAutoNum type="arabicParenR" startAt="6"/>
            </a:pPr>
            <a:r>
              <a:rPr lang="en-US" dirty="0"/>
              <a:t>The transport rate of sediment with size between 0.18 mm and 0.25 mm resembles that of the silt</a:t>
            </a:r>
          </a:p>
          <a:p>
            <a:pPr marL="457200" indent="-457200">
              <a:buFont typeface="+mj-lt"/>
              <a:buAutoNum type="arabicParenR" startAt="6"/>
            </a:pPr>
            <a:endParaRPr lang="en-US" dirty="0"/>
          </a:p>
          <a:p>
            <a:pPr marL="457200" indent="-457200">
              <a:buFont typeface="+mj-lt"/>
              <a:buAutoNum type="arabicParenR" startAt="6"/>
            </a:pPr>
            <a:r>
              <a:rPr lang="en-US" dirty="0"/>
              <a:t>Sediment with grain size between 0.25 mm and 0.315 mm is a transition between the two but closer to the finest material</a:t>
            </a:r>
          </a:p>
        </p:txBody>
      </p:sp>
      <p:sp>
        <p:nvSpPr>
          <p:cNvPr id="18" name="TextBox 17">
            <a:extLst>
              <a:ext uri="{FF2B5EF4-FFF2-40B4-BE49-F238E27FC236}">
                <a16:creationId xmlns:a16="http://schemas.microsoft.com/office/drawing/2014/main" id="{23D6F5AA-6626-C808-3378-635BDC5B1329}"/>
              </a:ext>
            </a:extLst>
          </p:cNvPr>
          <p:cNvSpPr txBox="1"/>
          <p:nvPr/>
        </p:nvSpPr>
        <p:spPr>
          <a:xfrm>
            <a:off x="5318371" y="1221897"/>
            <a:ext cx="1452223" cy="338554"/>
          </a:xfrm>
          <a:prstGeom prst="rect">
            <a:avLst/>
          </a:prstGeom>
          <a:solidFill>
            <a:schemeClr val="accent1">
              <a:lumMod val="20000"/>
              <a:lumOff val="80000"/>
            </a:schemeClr>
          </a:solidFill>
        </p:spPr>
        <p:txBody>
          <a:bodyPr wrap="square" rtlCol="0">
            <a:spAutoFit/>
          </a:bodyPr>
          <a:lstStyle/>
          <a:p>
            <a:r>
              <a:rPr lang="en-US" sz="1600" dirty="0">
                <a:latin typeface="Arial" panose="020B0604020202020204" pitchFamily="34" charset="0"/>
                <a:cs typeface="Arial" panose="020B0604020202020204" pitchFamily="34" charset="0"/>
              </a:rPr>
              <a:t>d &gt; 0.315 mm</a:t>
            </a:r>
          </a:p>
        </p:txBody>
      </p:sp>
      <p:cxnSp>
        <p:nvCxnSpPr>
          <p:cNvPr id="19" name="Straight Arrow Connector 18">
            <a:extLst>
              <a:ext uri="{FF2B5EF4-FFF2-40B4-BE49-F238E27FC236}">
                <a16:creationId xmlns:a16="http://schemas.microsoft.com/office/drawing/2014/main" id="{6276B78A-EDD5-4FD6-865D-CC22185FA746}"/>
              </a:ext>
            </a:extLst>
          </p:cNvPr>
          <p:cNvCxnSpPr/>
          <p:nvPr/>
        </p:nvCxnSpPr>
        <p:spPr>
          <a:xfrm flipH="1">
            <a:off x="4747330" y="1633882"/>
            <a:ext cx="784927" cy="291314"/>
          </a:xfrm>
          <a:prstGeom prst="straightConnector1">
            <a:avLst/>
          </a:prstGeom>
          <a:ln w="38100">
            <a:tailEnd type="arrow" w="lg" len="me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0DBBB50-D73D-D4BC-7DED-347735F19C1F}"/>
              </a:ext>
            </a:extLst>
          </p:cNvPr>
          <p:cNvSpPr txBox="1"/>
          <p:nvPr/>
        </p:nvSpPr>
        <p:spPr>
          <a:xfrm>
            <a:off x="777747" y="2411426"/>
            <a:ext cx="1434294" cy="338554"/>
          </a:xfrm>
          <a:prstGeom prst="rect">
            <a:avLst/>
          </a:prstGeom>
          <a:solidFill>
            <a:schemeClr val="accent1">
              <a:lumMod val="20000"/>
              <a:lumOff val="80000"/>
            </a:schemeClr>
          </a:solidFill>
        </p:spPr>
        <p:txBody>
          <a:bodyPr wrap="square" rtlCol="0">
            <a:spAutoFit/>
          </a:bodyPr>
          <a:lstStyle/>
          <a:p>
            <a:r>
              <a:rPr lang="en-US" sz="1600" dirty="0">
                <a:latin typeface="Arial" panose="020B0604020202020204" pitchFamily="34" charset="0"/>
                <a:cs typeface="Arial" panose="020B0604020202020204" pitchFamily="34" charset="0"/>
              </a:rPr>
              <a:t>d &lt; 0.25 mm</a:t>
            </a:r>
          </a:p>
        </p:txBody>
      </p:sp>
      <p:cxnSp>
        <p:nvCxnSpPr>
          <p:cNvPr id="21" name="Straight Arrow Connector 20">
            <a:extLst>
              <a:ext uri="{FF2B5EF4-FFF2-40B4-BE49-F238E27FC236}">
                <a16:creationId xmlns:a16="http://schemas.microsoft.com/office/drawing/2014/main" id="{1DF8903B-5B7F-8C35-035E-872CFE3A9FFB}"/>
              </a:ext>
            </a:extLst>
          </p:cNvPr>
          <p:cNvCxnSpPr>
            <a:cxnSpLocks/>
          </p:cNvCxnSpPr>
          <p:nvPr/>
        </p:nvCxnSpPr>
        <p:spPr>
          <a:xfrm>
            <a:off x="2212041" y="2611481"/>
            <a:ext cx="712694" cy="57760"/>
          </a:xfrm>
          <a:prstGeom prst="straightConnector1">
            <a:avLst/>
          </a:prstGeom>
          <a:ln w="38100">
            <a:tailEnd type="arrow" w="lg" len="med"/>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AFB07F47-1373-65C0-8C43-0A798641CA13}"/>
              </a:ext>
            </a:extLst>
          </p:cNvPr>
          <p:cNvSpPr txBox="1"/>
          <p:nvPr/>
        </p:nvSpPr>
        <p:spPr>
          <a:xfrm>
            <a:off x="1057636" y="772628"/>
            <a:ext cx="2664700" cy="338554"/>
          </a:xfrm>
          <a:prstGeom prst="rect">
            <a:avLst/>
          </a:prstGeom>
          <a:solidFill>
            <a:schemeClr val="accent1">
              <a:lumMod val="20000"/>
              <a:lumOff val="80000"/>
            </a:schemeClr>
          </a:solidFill>
        </p:spPr>
        <p:txBody>
          <a:bodyPr wrap="square" rtlCol="0">
            <a:spAutoFit/>
          </a:bodyPr>
          <a:lstStyle/>
          <a:p>
            <a:r>
              <a:rPr lang="en-US" sz="1600" dirty="0">
                <a:latin typeface="Arial" panose="020B0604020202020204" pitchFamily="34" charset="0"/>
                <a:cs typeface="Arial" panose="020B0604020202020204" pitchFamily="34" charset="0"/>
              </a:rPr>
              <a:t> 0.25 mm &lt; d &lt; 0.315 mm</a:t>
            </a:r>
          </a:p>
        </p:txBody>
      </p:sp>
      <p:cxnSp>
        <p:nvCxnSpPr>
          <p:cNvPr id="25" name="Straight Arrow Connector 24">
            <a:extLst>
              <a:ext uri="{FF2B5EF4-FFF2-40B4-BE49-F238E27FC236}">
                <a16:creationId xmlns:a16="http://schemas.microsoft.com/office/drawing/2014/main" id="{65DC931A-6236-3FE9-0420-1EF2CF84BDB0}"/>
              </a:ext>
            </a:extLst>
          </p:cNvPr>
          <p:cNvCxnSpPr>
            <a:cxnSpLocks/>
          </p:cNvCxnSpPr>
          <p:nvPr/>
        </p:nvCxnSpPr>
        <p:spPr>
          <a:xfrm>
            <a:off x="2568388" y="1083907"/>
            <a:ext cx="238327" cy="347475"/>
          </a:xfrm>
          <a:prstGeom prst="straightConnector1">
            <a:avLst/>
          </a:prstGeom>
          <a:ln w="38100">
            <a:tailEnd type="arrow" w="lg" len="med"/>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52B08E2D-2A02-E65E-DD22-4979135E08A6}"/>
              </a:ext>
            </a:extLst>
          </p:cNvPr>
          <p:cNvSpPr txBox="1"/>
          <p:nvPr/>
        </p:nvSpPr>
        <p:spPr>
          <a:xfrm>
            <a:off x="7369274" y="268819"/>
            <a:ext cx="4747329" cy="5755422"/>
          </a:xfrm>
          <a:prstGeom prst="rect">
            <a:avLst/>
          </a:prstGeom>
          <a:noFill/>
        </p:spPr>
        <p:txBody>
          <a:bodyPr wrap="square" rtlCol="0">
            <a:spAutoFit/>
          </a:bodyPr>
          <a:lstStyle/>
          <a:p>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Very little sediment finer than 0.315 mm (42 sieve mesh) and practically no sediment finer than 0.25 mm (60 sieve mesh) was found on the channel bed. Sediment collected in traps during a storm and sediment found on the bed had similar grain size distributions</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Suspended load samples indicate nearly uniform distribution in the vertical for the finer sizes. </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Particles coarser than 0.315 mm are found in suspension with higher concentrations near the bed</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The peak of suspended load precedes that of water discharge</a:t>
            </a:r>
          </a:p>
          <a:p>
            <a:pPr marL="457200" indent="-457200">
              <a:buAutoNum type="arabicParenR"/>
            </a:pPr>
            <a:endParaRPr lang="en-US" sz="1600" dirty="0">
              <a:solidFill>
                <a:schemeClr val="bg1">
                  <a:lumMod val="65000"/>
                </a:schemeClr>
              </a:solidFill>
              <a:latin typeface="Arial" panose="020B0604020202020204" pitchFamily="34" charset="0"/>
              <a:cs typeface="Arial" panose="020B0604020202020204" pitchFamily="34" charset="0"/>
            </a:endParaRPr>
          </a:p>
          <a:p>
            <a:pPr marL="457200" indent="-457200">
              <a:buAutoNum type="arabicParenR"/>
            </a:pPr>
            <a:r>
              <a:rPr lang="en-US" sz="1600" dirty="0">
                <a:solidFill>
                  <a:schemeClr val="bg1">
                    <a:lumMod val="65000"/>
                  </a:schemeClr>
                </a:solidFill>
                <a:latin typeface="Arial" panose="020B0604020202020204" pitchFamily="34" charset="0"/>
                <a:cs typeface="Arial" panose="020B0604020202020204" pitchFamily="34" charset="0"/>
              </a:rPr>
              <a:t>The suspended load consists for the 96% of sediment finer than 0.315 mm and follows a different curve than the material collected in the traps. </a:t>
            </a:r>
          </a:p>
        </p:txBody>
      </p:sp>
      <p:sp>
        <p:nvSpPr>
          <p:cNvPr id="2" name="Slide Number Placeholder 1">
            <a:extLst>
              <a:ext uri="{FF2B5EF4-FFF2-40B4-BE49-F238E27FC236}">
                <a16:creationId xmlns:a16="http://schemas.microsoft.com/office/drawing/2014/main" id="{A9A1234A-2CD5-FBFD-4435-427B5DBF7911}"/>
              </a:ext>
            </a:extLst>
          </p:cNvPr>
          <p:cNvSpPr>
            <a:spLocks noGrp="1"/>
          </p:cNvSpPr>
          <p:nvPr>
            <p:ph type="sldNum" sz="quarter" idx="12"/>
          </p:nvPr>
        </p:nvSpPr>
        <p:spPr/>
        <p:txBody>
          <a:bodyPr/>
          <a:lstStyle/>
          <a:p>
            <a:fld id="{2386C454-E1BD-5A43-901A-CA4ACC7380B7}" type="slidenum">
              <a:rPr lang="en-US" smtClean="0"/>
              <a:t>17</a:t>
            </a:fld>
            <a:endParaRPr lang="en-US"/>
          </a:p>
        </p:txBody>
      </p:sp>
    </p:spTree>
    <p:extLst>
      <p:ext uri="{BB962C8B-B14F-4D97-AF65-F5344CB8AC3E}">
        <p14:creationId xmlns:p14="http://schemas.microsoft.com/office/powerpoint/2010/main" val="1926667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D937-E51A-D2A6-FC48-0111A5A5BB5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A5C08264-8407-72D9-6AF1-00971278520F}"/>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rial" panose="020B0604020202020204" pitchFamily="34" charset="0"/>
                <a:cs typeface="Arial" panose="020B0604020202020204" pitchFamily="34" charset="0"/>
              </a:rPr>
              <a:t>Summarizing, for the Enoree River</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cs typeface="Arial" panose="020B0604020202020204" pitchFamily="34" charset="0"/>
              </a:rPr>
              <a:t>(Einstein et al., 1940)</a:t>
            </a:r>
            <a:endParaRPr kumimoji="0" lang="en-US" altLang="en-US" b="1" i="0" u="none" strike="noStrike" cap="none" normalizeH="0" baseline="0" dirty="0">
              <a:ln>
                <a:noFill/>
              </a:ln>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2711D38-A33B-6D35-1577-7ECBFC525F36}"/>
              </a:ext>
            </a:extLst>
          </p:cNvPr>
          <p:cNvSpPr txBox="1"/>
          <p:nvPr/>
        </p:nvSpPr>
        <p:spPr>
          <a:xfrm>
            <a:off x="592183" y="1436914"/>
            <a:ext cx="11086011" cy="1432956"/>
          </a:xfrm>
          <a:prstGeom prst="rect">
            <a:avLst/>
          </a:prstGeom>
          <a:noFill/>
        </p:spPr>
        <p:txBody>
          <a:bodyPr wrap="square" rtlCol="0">
            <a:spAutoFit/>
          </a:bodyPr>
          <a:lstStyle/>
          <a:p>
            <a:pPr marL="457200" indent="-457200">
              <a:lnSpc>
                <a:spcPct val="150000"/>
              </a:lnSpc>
              <a:buAutoNum type="arabicParenR"/>
            </a:pPr>
            <a:r>
              <a:rPr lang="en-US" sz="2000" dirty="0">
                <a:latin typeface="Arial" panose="020B0604020202020204" pitchFamily="34" charset="0"/>
                <a:cs typeface="Arial" panose="020B0604020202020204" pitchFamily="34" charset="0"/>
              </a:rPr>
              <a:t>Sediment coarser and finer than 0.315 mm are transported with different laws;</a:t>
            </a:r>
          </a:p>
          <a:p>
            <a:pPr marL="457200" indent="-457200">
              <a:lnSpc>
                <a:spcPct val="150000"/>
              </a:lnSpc>
              <a:buAutoNum type="arabicParenR"/>
            </a:pPr>
            <a:r>
              <a:rPr lang="en-US" sz="2000" dirty="0">
                <a:latin typeface="Arial" panose="020B0604020202020204" pitchFamily="34" charset="0"/>
                <a:cs typeface="Arial" panose="020B0604020202020204" pitchFamily="34" charset="0"/>
              </a:rPr>
              <a:t>Sediment coarser than 0.315 mm is found in abundant quantities on the bed and its transport rate seems to vary with the flow discharge</a:t>
            </a:r>
          </a:p>
        </p:txBody>
      </p:sp>
      <p:sp>
        <p:nvSpPr>
          <p:cNvPr id="2" name="Slide Number Placeholder 1">
            <a:extLst>
              <a:ext uri="{FF2B5EF4-FFF2-40B4-BE49-F238E27FC236}">
                <a16:creationId xmlns:a16="http://schemas.microsoft.com/office/drawing/2014/main" id="{5BBA4DBB-A339-D20D-B8C9-5F64E017D224}"/>
              </a:ext>
            </a:extLst>
          </p:cNvPr>
          <p:cNvSpPr>
            <a:spLocks noGrp="1"/>
          </p:cNvSpPr>
          <p:nvPr>
            <p:ph type="sldNum" sz="quarter" idx="12"/>
          </p:nvPr>
        </p:nvSpPr>
        <p:spPr/>
        <p:txBody>
          <a:bodyPr/>
          <a:lstStyle/>
          <a:p>
            <a:fld id="{2386C454-E1BD-5A43-901A-CA4ACC7380B7}" type="slidenum">
              <a:rPr lang="en-US" smtClean="0"/>
              <a:t>18</a:t>
            </a:fld>
            <a:endParaRPr lang="en-US"/>
          </a:p>
        </p:txBody>
      </p:sp>
    </p:spTree>
    <p:extLst>
      <p:ext uri="{BB962C8B-B14F-4D97-AF65-F5344CB8AC3E}">
        <p14:creationId xmlns:p14="http://schemas.microsoft.com/office/powerpoint/2010/main" val="2347545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51A14-40A3-BF45-F77B-6B4E76D538F5}"/>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11CC88F5-2E1E-2EC7-C94A-44292485087C}"/>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rial" panose="020B0604020202020204" pitchFamily="34" charset="0"/>
                <a:cs typeface="Arial" panose="020B0604020202020204" pitchFamily="34" charset="0"/>
              </a:rPr>
              <a:t>Summarizing, for the Enoree River</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cs typeface="Arial" panose="020B0604020202020204" pitchFamily="34" charset="0"/>
              </a:rPr>
              <a:t>(Einstein et al., 1940)</a:t>
            </a:r>
            <a:endParaRPr kumimoji="0" lang="en-US" altLang="en-US" b="1" i="0" u="none" strike="noStrike" cap="none" normalizeH="0" baseline="0" dirty="0">
              <a:ln>
                <a:noFill/>
              </a:ln>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DB22593-2156-1506-651B-A00D62182873}"/>
              </a:ext>
            </a:extLst>
          </p:cNvPr>
          <p:cNvSpPr txBox="1"/>
          <p:nvPr/>
        </p:nvSpPr>
        <p:spPr>
          <a:xfrm>
            <a:off x="592183" y="1436914"/>
            <a:ext cx="11086011" cy="2805320"/>
          </a:xfrm>
          <a:prstGeom prst="rect">
            <a:avLst/>
          </a:prstGeom>
          <a:noFill/>
        </p:spPr>
        <p:txBody>
          <a:bodyPr wrap="square" rtlCol="0">
            <a:spAutoFit/>
          </a:bodyPr>
          <a:lstStyle/>
          <a:p>
            <a:pPr marL="457200" indent="-457200">
              <a:lnSpc>
                <a:spcPct val="150000"/>
              </a:lnSpc>
              <a:buAutoNum type="arabicParenR"/>
            </a:pPr>
            <a:r>
              <a:rPr lang="en-US" sz="2000" dirty="0">
                <a:solidFill>
                  <a:schemeClr val="bg1">
                    <a:lumMod val="65000"/>
                  </a:schemeClr>
                </a:solidFill>
                <a:latin typeface="Arial" panose="020B0604020202020204" pitchFamily="34" charset="0"/>
                <a:cs typeface="Arial" panose="020B0604020202020204" pitchFamily="34" charset="0"/>
              </a:rPr>
              <a:t>Sediment coarser and finer than 0.315 mm are transported with different laws;</a:t>
            </a:r>
          </a:p>
          <a:p>
            <a:pPr marL="457200" indent="-457200">
              <a:lnSpc>
                <a:spcPct val="150000"/>
              </a:lnSpc>
              <a:buAutoNum type="arabicParenR"/>
            </a:pPr>
            <a:r>
              <a:rPr lang="en-US" sz="2000" dirty="0">
                <a:solidFill>
                  <a:schemeClr val="bg1">
                    <a:lumMod val="65000"/>
                  </a:schemeClr>
                </a:solidFill>
                <a:latin typeface="Arial" panose="020B0604020202020204" pitchFamily="34" charset="0"/>
                <a:cs typeface="Arial" panose="020B0604020202020204" pitchFamily="34" charset="0"/>
              </a:rPr>
              <a:t>Sediment coarser than 0.315 mm is found in abundant quantities on the bed and its transport rate seems to vary with the flow discharge</a:t>
            </a:r>
          </a:p>
          <a:p>
            <a:pPr marL="457200" indent="-457200">
              <a:lnSpc>
                <a:spcPct val="150000"/>
              </a:lnSpc>
              <a:buAutoNum type="arabicParenR"/>
            </a:pPr>
            <a:r>
              <a:rPr lang="en-US" sz="2000" dirty="0">
                <a:latin typeface="Arial" panose="020B0604020202020204" pitchFamily="34" charset="0"/>
                <a:cs typeface="Arial" panose="020B0604020202020204" pitchFamily="34" charset="0"/>
              </a:rPr>
              <a:t>Sediment finer than 0.315 mm is contributed from the basin upstream and is transported downstream with minimum interaction with the bed, i.e. it is washed through. No relation exists between the load and the bed stress or the discharge </a:t>
            </a:r>
          </a:p>
        </p:txBody>
      </p:sp>
      <p:sp>
        <p:nvSpPr>
          <p:cNvPr id="3" name="Slide Number Placeholder 2">
            <a:extLst>
              <a:ext uri="{FF2B5EF4-FFF2-40B4-BE49-F238E27FC236}">
                <a16:creationId xmlns:a16="http://schemas.microsoft.com/office/drawing/2014/main" id="{13986F30-C022-1B2D-5C6E-C3FE5A4C2759}"/>
              </a:ext>
            </a:extLst>
          </p:cNvPr>
          <p:cNvSpPr>
            <a:spLocks noGrp="1"/>
          </p:cNvSpPr>
          <p:nvPr>
            <p:ph type="sldNum" sz="quarter" idx="12"/>
          </p:nvPr>
        </p:nvSpPr>
        <p:spPr/>
        <p:txBody>
          <a:bodyPr/>
          <a:lstStyle/>
          <a:p>
            <a:fld id="{2386C454-E1BD-5A43-901A-CA4ACC7380B7}" type="slidenum">
              <a:rPr lang="en-US" smtClean="0"/>
              <a:t>19</a:t>
            </a:fld>
            <a:endParaRPr lang="en-US"/>
          </a:p>
        </p:txBody>
      </p:sp>
    </p:spTree>
    <p:extLst>
      <p:ext uri="{BB962C8B-B14F-4D97-AF65-F5344CB8AC3E}">
        <p14:creationId xmlns:p14="http://schemas.microsoft.com/office/powerpoint/2010/main" val="4005773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AB2CF-1870-8969-C62A-8F110FC00BB8}"/>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35F5E2F3-6BFD-172C-E5A4-33461B474A3D}"/>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rial" panose="020B0604020202020204" pitchFamily="34" charset="0"/>
                <a:cs typeface="Arial" panose="020B0604020202020204" pitchFamily="34" charset="0"/>
              </a:rPr>
              <a:t>Site-specific distinction between bed and wash material</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cs typeface="Arial" panose="020B0604020202020204" pitchFamily="34" charset="0"/>
              </a:rPr>
              <a:t>(Einstein et al., 1940)</a:t>
            </a:r>
            <a:endParaRPr kumimoji="0" lang="en-US" altLang="en-US" b="1" i="0" u="none" strike="noStrike" cap="none" normalizeH="0" baseline="0" dirty="0">
              <a:ln>
                <a:noFill/>
              </a:ln>
              <a:effectLst/>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DADF61F5-FFB4-1085-D385-039A3147C5A4}"/>
              </a:ext>
            </a:extLst>
          </p:cNvPr>
          <p:cNvSpPr/>
          <p:nvPr/>
        </p:nvSpPr>
        <p:spPr>
          <a:xfrm>
            <a:off x="862149" y="1576252"/>
            <a:ext cx="3770811" cy="249065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bg1">
                    <a:lumMod val="75000"/>
                  </a:schemeClr>
                </a:solidFill>
                <a:latin typeface="Arial" panose="020B0604020202020204" pitchFamily="34" charset="0"/>
                <a:cs typeface="Arial" panose="020B0604020202020204" pitchFamily="34" charset="0"/>
              </a:rPr>
              <a:t>“Bed material composition is determined from samples taken in the bottom of the channel in the reach under consideration immediately after a flood has receded to the normal low-water stage”</a:t>
            </a:r>
          </a:p>
        </p:txBody>
      </p:sp>
      <p:sp>
        <p:nvSpPr>
          <p:cNvPr id="2" name="Slide Number Placeholder 1">
            <a:extLst>
              <a:ext uri="{FF2B5EF4-FFF2-40B4-BE49-F238E27FC236}">
                <a16:creationId xmlns:a16="http://schemas.microsoft.com/office/drawing/2014/main" id="{EAA5D656-A409-39E6-C998-A985A68DB265}"/>
              </a:ext>
            </a:extLst>
          </p:cNvPr>
          <p:cNvSpPr>
            <a:spLocks noGrp="1"/>
          </p:cNvSpPr>
          <p:nvPr>
            <p:ph type="sldNum" sz="quarter" idx="12"/>
          </p:nvPr>
        </p:nvSpPr>
        <p:spPr/>
        <p:txBody>
          <a:bodyPr/>
          <a:lstStyle/>
          <a:p>
            <a:fld id="{2386C454-E1BD-5A43-901A-CA4ACC7380B7}" type="slidenum">
              <a:rPr lang="en-US" smtClean="0"/>
              <a:t>20</a:t>
            </a:fld>
            <a:endParaRPr lang="en-US"/>
          </a:p>
        </p:txBody>
      </p:sp>
    </p:spTree>
    <p:extLst>
      <p:ext uri="{BB962C8B-B14F-4D97-AF65-F5344CB8AC3E}">
        <p14:creationId xmlns:p14="http://schemas.microsoft.com/office/powerpoint/2010/main" val="3249615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E1059-4EC7-C1FF-9E81-E84F7053BAE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2E01740-7B2C-757D-97B9-66C56683D05A}"/>
              </a:ext>
            </a:extLst>
          </p:cNvPr>
          <p:cNvSpPr>
            <a:spLocks noChangeArrowheads="1"/>
          </p:cNvSpPr>
          <p:nvPr/>
        </p:nvSpPr>
        <p:spPr bwMode="auto">
          <a:xfrm>
            <a:off x="0" y="125873"/>
            <a:ext cx="121920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800" b="1" dirty="0">
                <a:latin typeface="Arial" panose="020B0604020202020204" pitchFamily="34" charset="0"/>
                <a:cs typeface="Arial" panose="020B0604020202020204" pitchFamily="34" charset="0"/>
              </a:rPr>
              <a:t>Site-specific distinction between bed and wash material</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cs typeface="Arial" panose="020B0604020202020204" pitchFamily="34" charset="0"/>
              </a:rPr>
              <a:t>(Einstein et al., 1940)</a:t>
            </a:r>
            <a:endParaRPr kumimoji="0" lang="en-US" altLang="en-US" b="1" i="0" u="none" strike="noStrike" cap="none" normalizeH="0" baseline="0" dirty="0">
              <a:ln>
                <a:noFill/>
              </a:ln>
              <a:effectLst/>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3FDABB66-8198-373A-750C-80997490B19A}"/>
              </a:ext>
            </a:extLst>
          </p:cNvPr>
          <p:cNvSpPr/>
          <p:nvPr/>
        </p:nvSpPr>
        <p:spPr>
          <a:xfrm>
            <a:off x="862149" y="1576252"/>
            <a:ext cx="3770811" cy="249065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i="1" dirty="0">
                <a:solidFill>
                  <a:schemeClr val="bg1">
                    <a:lumMod val="75000"/>
                  </a:schemeClr>
                </a:solidFill>
                <a:latin typeface="Arial" panose="020B0604020202020204" pitchFamily="34" charset="0"/>
                <a:cs typeface="Arial" panose="020B0604020202020204" pitchFamily="34" charset="0"/>
              </a:rPr>
              <a:t>“Bed material composition is determined from samples taken in the bottom of the channel in the reach under consideration immediately after a flood has receded to the normal low-water stage”</a:t>
            </a:r>
          </a:p>
        </p:txBody>
      </p:sp>
      <p:sp>
        <p:nvSpPr>
          <p:cNvPr id="6" name="Rectangle 5">
            <a:extLst>
              <a:ext uri="{FF2B5EF4-FFF2-40B4-BE49-F238E27FC236}">
                <a16:creationId xmlns:a16="http://schemas.microsoft.com/office/drawing/2014/main" id="{D40FD4F2-3E0F-02D7-5056-67823F29F52A}"/>
              </a:ext>
            </a:extLst>
          </p:cNvPr>
          <p:cNvSpPr/>
          <p:nvPr/>
        </p:nvSpPr>
        <p:spPr>
          <a:xfrm>
            <a:off x="7067006" y="1510938"/>
            <a:ext cx="3770811" cy="2111828"/>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Bed material is composed of all particles that are greater than a limiting size whether moving as bedload or in suspension</a:t>
            </a:r>
          </a:p>
        </p:txBody>
      </p:sp>
      <p:sp>
        <p:nvSpPr>
          <p:cNvPr id="7" name="Rectangle 6">
            <a:extLst>
              <a:ext uri="{FF2B5EF4-FFF2-40B4-BE49-F238E27FC236}">
                <a16:creationId xmlns:a16="http://schemas.microsoft.com/office/drawing/2014/main" id="{F7924027-38BD-8502-38B2-2C66B94A73CA}"/>
              </a:ext>
            </a:extLst>
          </p:cNvPr>
          <p:cNvSpPr/>
          <p:nvPr/>
        </p:nvSpPr>
        <p:spPr>
          <a:xfrm>
            <a:off x="7067005" y="3933644"/>
            <a:ext cx="3770811" cy="2111828"/>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Wash material composed of all particles finer than the limiting size which usually is washed into and through the reach under consideration</a:t>
            </a:r>
          </a:p>
        </p:txBody>
      </p:sp>
      <p:sp>
        <p:nvSpPr>
          <p:cNvPr id="2" name="Slide Number Placeholder 1">
            <a:extLst>
              <a:ext uri="{FF2B5EF4-FFF2-40B4-BE49-F238E27FC236}">
                <a16:creationId xmlns:a16="http://schemas.microsoft.com/office/drawing/2014/main" id="{DCCF4A88-827E-2EB8-CDEE-E2FDDC687E75}"/>
              </a:ext>
            </a:extLst>
          </p:cNvPr>
          <p:cNvSpPr>
            <a:spLocks noGrp="1"/>
          </p:cNvSpPr>
          <p:nvPr>
            <p:ph type="sldNum" sz="quarter" idx="12"/>
          </p:nvPr>
        </p:nvSpPr>
        <p:spPr/>
        <p:txBody>
          <a:bodyPr/>
          <a:lstStyle/>
          <a:p>
            <a:fld id="{2386C454-E1BD-5A43-901A-CA4ACC7380B7}" type="slidenum">
              <a:rPr lang="en-US" smtClean="0"/>
              <a:t>21</a:t>
            </a:fld>
            <a:endParaRPr lang="en-US"/>
          </a:p>
        </p:txBody>
      </p:sp>
    </p:spTree>
    <p:extLst>
      <p:ext uri="{BB962C8B-B14F-4D97-AF65-F5344CB8AC3E}">
        <p14:creationId xmlns:p14="http://schemas.microsoft.com/office/powerpoint/2010/main" val="1399835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8A918-1E30-B222-695F-51C28030DC04}"/>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E9F75514-A873-D0F9-73C9-3E4B513048FE}"/>
              </a:ext>
            </a:extLst>
          </p:cNvPr>
          <p:cNvSpPr>
            <a:spLocks noChangeArrowheads="1"/>
          </p:cNvSpPr>
          <p:nvPr/>
        </p:nvSpPr>
        <p:spPr bwMode="auto">
          <a:xfrm>
            <a:off x="0" y="264372"/>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How is bed material transported? does it matter? </a:t>
            </a:r>
          </a:p>
        </p:txBody>
      </p:sp>
      <p:sp>
        <p:nvSpPr>
          <p:cNvPr id="3" name="TextBox 2">
            <a:extLst>
              <a:ext uri="{FF2B5EF4-FFF2-40B4-BE49-F238E27FC236}">
                <a16:creationId xmlns:a16="http://schemas.microsoft.com/office/drawing/2014/main" id="{D478D1A4-FA7A-3046-472C-055D309293EB}"/>
              </a:ext>
            </a:extLst>
          </p:cNvPr>
          <p:cNvSpPr txBox="1"/>
          <p:nvPr/>
        </p:nvSpPr>
        <p:spPr>
          <a:xfrm>
            <a:off x="499621" y="1944285"/>
            <a:ext cx="3808429"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Calculation of bed material load </a:t>
            </a:r>
          </a:p>
        </p:txBody>
      </p:sp>
      <p:cxnSp>
        <p:nvCxnSpPr>
          <p:cNvPr id="7" name="Straight Connector 6">
            <a:extLst>
              <a:ext uri="{FF2B5EF4-FFF2-40B4-BE49-F238E27FC236}">
                <a16:creationId xmlns:a16="http://schemas.microsoft.com/office/drawing/2014/main" id="{D5C9AE49-7F51-B805-04E3-2B1E4FAFE2C4}"/>
              </a:ext>
            </a:extLst>
          </p:cNvPr>
          <p:cNvCxnSpPr/>
          <p:nvPr/>
        </p:nvCxnSpPr>
        <p:spPr>
          <a:xfrm>
            <a:off x="4308050" y="2144340"/>
            <a:ext cx="688157"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Left Bracket 7">
            <a:extLst>
              <a:ext uri="{FF2B5EF4-FFF2-40B4-BE49-F238E27FC236}">
                <a16:creationId xmlns:a16="http://schemas.microsoft.com/office/drawing/2014/main" id="{5535106A-D3AE-5CB0-B6EE-4640275BA7DB}"/>
              </a:ext>
            </a:extLst>
          </p:cNvPr>
          <p:cNvSpPr/>
          <p:nvPr/>
        </p:nvSpPr>
        <p:spPr>
          <a:xfrm>
            <a:off x="4977356" y="1649697"/>
            <a:ext cx="188533" cy="1084076"/>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0E7D2806-0560-897D-7505-6FF503D7303E}"/>
              </a:ext>
            </a:extLst>
          </p:cNvPr>
          <p:cNvSpPr txBox="1"/>
          <p:nvPr/>
        </p:nvSpPr>
        <p:spPr>
          <a:xfrm>
            <a:off x="5233447" y="1236399"/>
            <a:ext cx="6754305" cy="101566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Bulk relations estimate Einstein’s bed load, sum of the bed material transported in suspension and as bedload </a:t>
            </a:r>
            <a:r>
              <a:rPr lang="en-US" sz="2000" dirty="0">
                <a:solidFill>
                  <a:srgbClr val="FF0000"/>
                </a:solidFill>
                <a:latin typeface="Arial" panose="020B0604020202020204" pitchFamily="34" charset="0"/>
                <a:cs typeface="Arial" panose="020B0604020202020204" pitchFamily="34" charset="0"/>
              </a:rPr>
              <a:t>(it may not matter)</a:t>
            </a:r>
          </a:p>
        </p:txBody>
      </p:sp>
      <p:sp>
        <p:nvSpPr>
          <p:cNvPr id="10" name="TextBox 9">
            <a:extLst>
              <a:ext uri="{FF2B5EF4-FFF2-40B4-BE49-F238E27FC236}">
                <a16:creationId xmlns:a16="http://schemas.microsoft.com/office/drawing/2014/main" id="{A80E6110-4ABF-1322-2C88-785CA8439C2F}"/>
              </a:ext>
            </a:extLst>
          </p:cNvPr>
          <p:cNvSpPr txBox="1"/>
          <p:nvPr/>
        </p:nvSpPr>
        <p:spPr>
          <a:xfrm>
            <a:off x="5233447" y="2409253"/>
            <a:ext cx="6540630" cy="70788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Different models are used to compute bedload and suspended bed material load (</a:t>
            </a:r>
            <a:r>
              <a:rPr lang="en-US" sz="2000" dirty="0">
                <a:solidFill>
                  <a:srgbClr val="FF0000"/>
                </a:solidFill>
                <a:latin typeface="Arial" panose="020B0604020202020204" pitchFamily="34" charset="0"/>
                <a:cs typeface="Arial" panose="020B0604020202020204" pitchFamily="34" charset="0"/>
              </a:rPr>
              <a:t>it matters</a:t>
            </a:r>
            <a:r>
              <a:rPr lang="en-US" sz="2000" dirty="0">
                <a:latin typeface="Arial" panose="020B0604020202020204" pitchFamily="34" charset="0"/>
                <a:cs typeface="Arial" panose="020B0604020202020204" pitchFamily="34" charset="0"/>
              </a:rPr>
              <a:t>)</a:t>
            </a:r>
          </a:p>
        </p:txBody>
      </p:sp>
      <p:sp>
        <p:nvSpPr>
          <p:cNvPr id="6" name="Slide Number Placeholder 5">
            <a:extLst>
              <a:ext uri="{FF2B5EF4-FFF2-40B4-BE49-F238E27FC236}">
                <a16:creationId xmlns:a16="http://schemas.microsoft.com/office/drawing/2014/main" id="{4A328945-53D5-8A4C-3B17-B1F6E5472601}"/>
              </a:ext>
            </a:extLst>
          </p:cNvPr>
          <p:cNvSpPr>
            <a:spLocks noGrp="1"/>
          </p:cNvSpPr>
          <p:nvPr>
            <p:ph type="sldNum" sz="quarter" idx="12"/>
          </p:nvPr>
        </p:nvSpPr>
        <p:spPr/>
        <p:txBody>
          <a:bodyPr/>
          <a:lstStyle/>
          <a:p>
            <a:fld id="{2386C454-E1BD-5A43-901A-CA4ACC7380B7}" type="slidenum">
              <a:rPr lang="en-US" smtClean="0"/>
              <a:t>22</a:t>
            </a:fld>
            <a:endParaRPr lang="en-US"/>
          </a:p>
        </p:txBody>
      </p:sp>
    </p:spTree>
    <p:extLst>
      <p:ext uri="{BB962C8B-B14F-4D97-AF65-F5344CB8AC3E}">
        <p14:creationId xmlns:p14="http://schemas.microsoft.com/office/powerpoint/2010/main" val="2701067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9764E-77F6-C8E4-F8F8-FF9389D5CAF9}"/>
            </a:ext>
          </a:extLst>
        </p:cNvPr>
        <p:cNvGrpSpPr/>
        <p:nvPr/>
      </p:nvGrpSpPr>
      <p:grpSpPr>
        <a:xfrm>
          <a:off x="0" y="0"/>
          <a:ext cx="0" cy="0"/>
          <a:chOff x="0" y="0"/>
          <a:chExt cx="0" cy="0"/>
        </a:xfrm>
      </p:grpSpPr>
      <p:sp>
        <p:nvSpPr>
          <p:cNvPr id="2" name="Rectangle 2">
            <a:extLst>
              <a:ext uri="{FF2B5EF4-FFF2-40B4-BE49-F238E27FC236}">
                <a16:creationId xmlns:a16="http://schemas.microsoft.com/office/drawing/2014/main" id="{CF6B304D-ACB6-B99E-FA29-24AEFB1E81F8}"/>
              </a:ext>
            </a:extLst>
          </p:cNvPr>
          <p:cNvSpPr>
            <a:spLocks noChangeArrowheads="1"/>
          </p:cNvSpPr>
          <p:nvPr/>
        </p:nvSpPr>
        <p:spPr bwMode="auto">
          <a:xfrm>
            <a:off x="0" y="264372"/>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2800" b="1" dirty="0">
                <a:latin typeface="Arial" panose="020B0604020202020204" pitchFamily="34" charset="0"/>
                <a:cs typeface="Arial" panose="020B0604020202020204" pitchFamily="34" charset="0"/>
              </a:rPr>
              <a:t>How is bed material transported? does it matter? </a:t>
            </a:r>
          </a:p>
        </p:txBody>
      </p:sp>
      <p:sp>
        <p:nvSpPr>
          <p:cNvPr id="3" name="TextBox 2">
            <a:extLst>
              <a:ext uri="{FF2B5EF4-FFF2-40B4-BE49-F238E27FC236}">
                <a16:creationId xmlns:a16="http://schemas.microsoft.com/office/drawing/2014/main" id="{3399EA47-C1C1-E78A-8ADC-19B52010D165}"/>
              </a:ext>
            </a:extLst>
          </p:cNvPr>
          <p:cNvSpPr txBox="1"/>
          <p:nvPr/>
        </p:nvSpPr>
        <p:spPr>
          <a:xfrm>
            <a:off x="499621" y="1944285"/>
            <a:ext cx="3808429"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Calculation of bed material load </a:t>
            </a:r>
          </a:p>
        </p:txBody>
      </p:sp>
      <p:cxnSp>
        <p:nvCxnSpPr>
          <p:cNvPr id="7" name="Straight Connector 6">
            <a:extLst>
              <a:ext uri="{FF2B5EF4-FFF2-40B4-BE49-F238E27FC236}">
                <a16:creationId xmlns:a16="http://schemas.microsoft.com/office/drawing/2014/main" id="{EE05DC7A-D034-172A-EADE-5332F4F13AF9}"/>
              </a:ext>
            </a:extLst>
          </p:cNvPr>
          <p:cNvCxnSpPr/>
          <p:nvPr/>
        </p:nvCxnSpPr>
        <p:spPr>
          <a:xfrm>
            <a:off x="4308050" y="2144340"/>
            <a:ext cx="688157"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Left Bracket 7">
            <a:extLst>
              <a:ext uri="{FF2B5EF4-FFF2-40B4-BE49-F238E27FC236}">
                <a16:creationId xmlns:a16="http://schemas.microsoft.com/office/drawing/2014/main" id="{DF23FE76-061B-D59B-3352-EA98CE1ADE3B}"/>
              </a:ext>
            </a:extLst>
          </p:cNvPr>
          <p:cNvSpPr/>
          <p:nvPr/>
        </p:nvSpPr>
        <p:spPr>
          <a:xfrm>
            <a:off x="4977356" y="1649697"/>
            <a:ext cx="188533" cy="1084076"/>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E93539DB-84AB-9559-80B4-AD1422B5CEDA}"/>
              </a:ext>
            </a:extLst>
          </p:cNvPr>
          <p:cNvSpPr txBox="1"/>
          <p:nvPr/>
        </p:nvSpPr>
        <p:spPr>
          <a:xfrm>
            <a:off x="5233447" y="1236399"/>
            <a:ext cx="6754305" cy="101566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Bulk relations estimate Einstein’s bed load, sum of the bed material transported in suspension and as bedload </a:t>
            </a:r>
            <a:r>
              <a:rPr lang="en-US" sz="2000" dirty="0">
                <a:solidFill>
                  <a:srgbClr val="FF0000"/>
                </a:solidFill>
                <a:latin typeface="Arial" panose="020B0604020202020204" pitchFamily="34" charset="0"/>
                <a:cs typeface="Arial" panose="020B0604020202020204" pitchFamily="34" charset="0"/>
              </a:rPr>
              <a:t>(It may not matter)</a:t>
            </a:r>
          </a:p>
        </p:txBody>
      </p:sp>
      <p:sp>
        <p:nvSpPr>
          <p:cNvPr id="10" name="TextBox 9">
            <a:extLst>
              <a:ext uri="{FF2B5EF4-FFF2-40B4-BE49-F238E27FC236}">
                <a16:creationId xmlns:a16="http://schemas.microsoft.com/office/drawing/2014/main" id="{3856FE4A-A9E4-7C00-F733-2C6FAFF4E41D}"/>
              </a:ext>
            </a:extLst>
          </p:cNvPr>
          <p:cNvSpPr txBox="1"/>
          <p:nvPr/>
        </p:nvSpPr>
        <p:spPr>
          <a:xfrm>
            <a:off x="5233447" y="2409253"/>
            <a:ext cx="6540630" cy="70788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Different models are used to compute bedload and suspended bed material load </a:t>
            </a:r>
            <a:r>
              <a:rPr lang="en-US" sz="2000" dirty="0">
                <a:solidFill>
                  <a:srgbClr val="FF0000"/>
                </a:solidFill>
                <a:latin typeface="Arial" panose="020B0604020202020204" pitchFamily="34" charset="0"/>
                <a:cs typeface="Arial" panose="020B0604020202020204" pitchFamily="34" charset="0"/>
              </a:rPr>
              <a:t>(it matters)</a:t>
            </a:r>
          </a:p>
        </p:txBody>
      </p:sp>
      <p:sp>
        <p:nvSpPr>
          <p:cNvPr id="6" name="TextBox 5">
            <a:extLst>
              <a:ext uri="{FF2B5EF4-FFF2-40B4-BE49-F238E27FC236}">
                <a16:creationId xmlns:a16="http://schemas.microsoft.com/office/drawing/2014/main" id="{EE66D5B1-4551-5F36-DD92-DB0CB23F4161}"/>
              </a:ext>
            </a:extLst>
          </p:cNvPr>
          <p:cNvSpPr txBox="1"/>
          <p:nvPr/>
        </p:nvSpPr>
        <p:spPr>
          <a:xfrm>
            <a:off x="499621" y="4042072"/>
            <a:ext cx="3808429"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Calculation of wash load </a:t>
            </a:r>
          </a:p>
        </p:txBody>
      </p:sp>
      <p:cxnSp>
        <p:nvCxnSpPr>
          <p:cNvPr id="11" name="Straight Connector 10">
            <a:extLst>
              <a:ext uri="{FF2B5EF4-FFF2-40B4-BE49-F238E27FC236}">
                <a16:creationId xmlns:a16="http://schemas.microsoft.com/office/drawing/2014/main" id="{69FFA63A-2AD0-A9DF-467B-371BD9D8D9FD}"/>
              </a:ext>
            </a:extLst>
          </p:cNvPr>
          <p:cNvCxnSpPr>
            <a:cxnSpLocks/>
          </p:cNvCxnSpPr>
          <p:nvPr/>
        </p:nvCxnSpPr>
        <p:spPr>
          <a:xfrm>
            <a:off x="4215353" y="4267007"/>
            <a:ext cx="688157"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3554EFC-9F35-9963-E862-13971F4EBDAF}"/>
              </a:ext>
            </a:extLst>
          </p:cNvPr>
          <p:cNvSpPr txBox="1"/>
          <p:nvPr/>
        </p:nvSpPr>
        <p:spPr>
          <a:xfrm>
            <a:off x="5233447" y="4042072"/>
            <a:ext cx="6540630" cy="400110"/>
          </a:xfrm>
          <a:prstGeom prst="rect">
            <a:avLst/>
          </a:prstGeom>
          <a:noFill/>
        </p:spPr>
        <p:txBody>
          <a:bodyPr wrap="square" rtlCol="0">
            <a:spAutoFit/>
          </a:bodyPr>
          <a:lstStyle/>
          <a:p>
            <a:r>
              <a:rPr lang="en-US" sz="2000" dirty="0">
                <a:solidFill>
                  <a:srgbClr val="FF0000"/>
                </a:solidFill>
                <a:latin typeface="Arial" panose="020B0604020202020204" pitchFamily="34" charset="0"/>
                <a:cs typeface="Arial" panose="020B0604020202020204" pitchFamily="34" charset="0"/>
              </a:rPr>
              <a:t>Largely unresolved problem</a:t>
            </a:r>
          </a:p>
        </p:txBody>
      </p:sp>
      <p:sp>
        <p:nvSpPr>
          <p:cNvPr id="13" name="Slide Number Placeholder 12">
            <a:extLst>
              <a:ext uri="{FF2B5EF4-FFF2-40B4-BE49-F238E27FC236}">
                <a16:creationId xmlns:a16="http://schemas.microsoft.com/office/drawing/2014/main" id="{581D7F6C-5E5F-D25C-BA2E-B4264778767B}"/>
              </a:ext>
            </a:extLst>
          </p:cNvPr>
          <p:cNvSpPr>
            <a:spLocks noGrp="1"/>
          </p:cNvSpPr>
          <p:nvPr>
            <p:ph type="sldNum" sz="quarter" idx="12"/>
          </p:nvPr>
        </p:nvSpPr>
        <p:spPr/>
        <p:txBody>
          <a:bodyPr/>
          <a:lstStyle/>
          <a:p>
            <a:fld id="{2386C454-E1BD-5A43-901A-CA4ACC7380B7}" type="slidenum">
              <a:rPr lang="en-US" smtClean="0"/>
              <a:t>23</a:t>
            </a:fld>
            <a:endParaRPr lang="en-US"/>
          </a:p>
        </p:txBody>
      </p:sp>
    </p:spTree>
    <p:extLst>
      <p:ext uri="{BB962C8B-B14F-4D97-AF65-F5344CB8AC3E}">
        <p14:creationId xmlns:p14="http://schemas.microsoft.com/office/powerpoint/2010/main" val="3251723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4D8DF-82B4-92E5-E4CE-1189E9039A2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F417C306-C2D4-3389-71FC-875B06E1CA9B}"/>
              </a:ext>
            </a:extLst>
          </p:cNvPr>
          <p:cNvSpPr>
            <a:spLocks noChangeArrowheads="1"/>
          </p:cNvSpPr>
          <p:nvPr/>
        </p:nvSpPr>
        <p:spPr bwMode="auto">
          <a:xfrm>
            <a:off x="269430" y="1325350"/>
            <a:ext cx="1205266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4000" b="1" dirty="0">
                <a:solidFill>
                  <a:srgbClr val="FF0000"/>
                </a:solidFill>
                <a:latin typeface="Arial" panose="020B0604020202020204" pitchFamily="34" charset="0"/>
                <a:cs typeface="Arial" panose="020B0604020202020204" pitchFamily="34" charset="0"/>
              </a:rPr>
              <a:t>No, it is not</a:t>
            </a:r>
          </a:p>
        </p:txBody>
      </p:sp>
      <p:sp>
        <p:nvSpPr>
          <p:cNvPr id="2" name="Rectangle 2">
            <a:extLst>
              <a:ext uri="{FF2B5EF4-FFF2-40B4-BE49-F238E27FC236}">
                <a16:creationId xmlns:a16="http://schemas.microsoft.com/office/drawing/2014/main" id="{2E80E9B7-6280-7EF5-FB8D-60CBC936FAD2}"/>
              </a:ext>
            </a:extLst>
          </p:cNvPr>
          <p:cNvSpPr>
            <a:spLocks noChangeArrowheads="1"/>
          </p:cNvSpPr>
          <p:nvPr/>
        </p:nvSpPr>
        <p:spPr bwMode="auto">
          <a:xfrm>
            <a:off x="0" y="48929"/>
            <a:ext cx="1219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altLang="en-US" sz="2800" b="1" dirty="0">
                <a:latin typeface="Arial" panose="020B0604020202020204" pitchFamily="34" charset="0"/>
                <a:cs typeface="Arial" panose="020B0604020202020204" pitchFamily="34" charset="0"/>
              </a:rPr>
              <a:t>It is common practice to set the grain size separating bed material from wash material equal to 62.5 microns. Is it always true?</a:t>
            </a:r>
            <a:endParaRPr kumimoji="0" lang="en-US" altLang="en-US" sz="2800" b="1" i="0" u="none" strike="noStrike" cap="none" normalizeH="0" baseline="0" dirty="0">
              <a:ln>
                <a:noFill/>
              </a:ln>
              <a:effectLst/>
              <a:latin typeface="Arial" panose="020B0604020202020204" pitchFamily="34" charset="0"/>
              <a:cs typeface="Arial" panose="020B0604020202020204" pitchFamily="34" charset="0"/>
            </a:endParaRPr>
          </a:p>
        </p:txBody>
      </p:sp>
      <p:sp>
        <p:nvSpPr>
          <p:cNvPr id="9" name="Rectangle 2">
            <a:extLst>
              <a:ext uri="{FF2B5EF4-FFF2-40B4-BE49-F238E27FC236}">
                <a16:creationId xmlns:a16="http://schemas.microsoft.com/office/drawing/2014/main" id="{1FF220B3-4269-95A4-BBB2-AC81155B84D4}"/>
              </a:ext>
            </a:extLst>
          </p:cNvPr>
          <p:cNvSpPr>
            <a:spLocks noChangeArrowheads="1"/>
          </p:cNvSpPr>
          <p:nvPr/>
        </p:nvSpPr>
        <p:spPr bwMode="auto">
          <a:xfrm>
            <a:off x="971479" y="2459504"/>
            <a:ext cx="1011065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cs typeface="Arial" panose="020B0604020202020204" pitchFamily="34" charset="0"/>
              </a:rPr>
              <a:t>The limiting grain size between bed material and wash material is not necessarily equal to 62.5 microns, grain size separating sand from silt. </a:t>
            </a:r>
          </a:p>
          <a:p>
            <a:pPr marL="0" marR="0" lvl="0" indent="0" algn="ctr" defTabSz="914400" rtl="0" eaLnBrk="0" fontAlgn="base" latinLnBrk="0" hangingPunct="0">
              <a:lnSpc>
                <a:spcPct val="100000"/>
              </a:lnSpc>
              <a:spcBef>
                <a:spcPct val="0"/>
              </a:spcBef>
              <a:spcAft>
                <a:spcPct val="0"/>
              </a:spcAft>
              <a:buClrTx/>
              <a:buSzTx/>
              <a:buFontTx/>
              <a:buNone/>
              <a:tabLst/>
            </a:pPr>
            <a:endParaRPr lang="en-US" altLang="en-US" sz="2400" dirty="0">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cs typeface="Arial" panose="020B0604020202020204" pitchFamily="34" charset="0"/>
              </a:rPr>
              <a:t>This limiting grain size is probably site-dependent and can be determined with field measurements. </a:t>
            </a:r>
          </a:p>
        </p:txBody>
      </p:sp>
      <p:sp>
        <p:nvSpPr>
          <p:cNvPr id="3" name="Slide Number Placeholder 2">
            <a:extLst>
              <a:ext uri="{FF2B5EF4-FFF2-40B4-BE49-F238E27FC236}">
                <a16:creationId xmlns:a16="http://schemas.microsoft.com/office/drawing/2014/main" id="{B117CE92-9FFD-503E-047E-1424FEDD8950}"/>
              </a:ext>
            </a:extLst>
          </p:cNvPr>
          <p:cNvSpPr>
            <a:spLocks noGrp="1"/>
          </p:cNvSpPr>
          <p:nvPr>
            <p:ph type="sldNum" sz="quarter" idx="12"/>
          </p:nvPr>
        </p:nvSpPr>
        <p:spPr/>
        <p:txBody>
          <a:bodyPr/>
          <a:lstStyle/>
          <a:p>
            <a:fld id="{2386C454-E1BD-5A43-901A-CA4ACC7380B7}" type="slidenum">
              <a:rPr lang="en-US" smtClean="0"/>
              <a:t>24</a:t>
            </a:fld>
            <a:endParaRPr lang="en-US"/>
          </a:p>
        </p:txBody>
      </p:sp>
    </p:spTree>
    <p:extLst>
      <p:ext uri="{BB962C8B-B14F-4D97-AF65-F5344CB8AC3E}">
        <p14:creationId xmlns:p14="http://schemas.microsoft.com/office/powerpoint/2010/main" val="936887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Sedimentological </a:t>
            </a:r>
            <a:r>
              <a:rPr lang="en-US" sz="2800" b="1" dirty="0">
                <a:latin typeface="Symbol" pitchFamily="2" charset="2"/>
                <a:cs typeface="Arial" panose="020B0604020202020204" pitchFamily="34" charset="0"/>
              </a:rPr>
              <a:t>f</a:t>
            </a:r>
            <a:r>
              <a:rPr lang="en-US" sz="2800" b="1" dirty="0">
                <a:latin typeface="Arial" panose="020B0604020202020204" pitchFamily="34" charset="0"/>
                <a:cs typeface="Arial" panose="020B0604020202020204" pitchFamily="34" charset="0"/>
              </a:rPr>
              <a:t> scale and the </a:t>
            </a:r>
            <a:r>
              <a:rPr lang="en-US" sz="2800" b="1" dirty="0">
                <a:latin typeface="Symbol" pitchFamily="2" charset="2"/>
                <a:cs typeface="Arial" panose="020B0604020202020204" pitchFamily="34" charset="0"/>
              </a:rPr>
              <a:t>y</a:t>
            </a:r>
            <a:r>
              <a:rPr lang="en-US" sz="2800" b="1" dirty="0">
                <a:latin typeface="Arial" panose="020B0604020202020204" pitchFamily="34" charset="0"/>
                <a:cs typeface="Arial" panose="020B0604020202020204" pitchFamily="34" charset="0"/>
              </a:rPr>
              <a:t> scale</a:t>
            </a:r>
          </a:p>
        </p:txBody>
      </p:sp>
      <p:sp>
        <p:nvSpPr>
          <p:cNvPr id="3" name="TextBox 2">
            <a:extLst>
              <a:ext uri="{FF2B5EF4-FFF2-40B4-BE49-F238E27FC236}">
                <a16:creationId xmlns:a16="http://schemas.microsoft.com/office/drawing/2014/main" id="{A4E341F7-3BF5-064D-8961-C6876999FECB}"/>
              </a:ext>
            </a:extLst>
          </p:cNvPr>
          <p:cNvSpPr txBox="1"/>
          <p:nvPr/>
        </p:nvSpPr>
        <p:spPr>
          <a:xfrm>
            <a:off x="497840" y="944880"/>
            <a:ext cx="1126744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Sediment sizes vary over many order of magnitudes. It is thus convenient to use a logarithmic scale to express the variability in sediment size.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sedimentological phi (</a:t>
            </a:r>
            <a:r>
              <a:rPr lang="en-US" dirty="0">
                <a:latin typeface="Symbol" pitchFamily="2" charset="2"/>
                <a:cs typeface="Arial" panose="020B0604020202020204" pitchFamily="34" charset="0"/>
              </a:rPr>
              <a:t>f</a:t>
            </a:r>
            <a:r>
              <a:rPr lang="en-US" dirty="0">
                <a:latin typeface="Arial" panose="020B0604020202020204" pitchFamily="34" charset="0"/>
                <a:cs typeface="Arial" panose="020B0604020202020204" pitchFamily="34" charset="0"/>
              </a:rPr>
              <a:t>) scale is a base-2 logarithmic scale defined as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0476447-45FC-924C-9380-58F396C724A8}"/>
                  </a:ext>
                </a:extLst>
              </p:cNvPr>
              <p:cNvSpPr txBox="1"/>
              <p:nvPr/>
            </p:nvSpPr>
            <p:spPr>
              <a:xfrm>
                <a:off x="599440" y="2418239"/>
                <a:ext cx="1292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𝑙𝑜𝑔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𝐷</m:t>
                      </m:r>
                    </m:oMath>
                  </m:oMathPara>
                </a14:m>
                <a:endParaRPr lang="en-US" dirty="0"/>
              </a:p>
            </p:txBody>
          </p:sp>
        </mc:Choice>
        <mc:Fallback xmlns="">
          <p:sp>
            <p:nvSpPr>
              <p:cNvPr id="7" name="TextBox 6">
                <a:extLst>
                  <a:ext uri="{FF2B5EF4-FFF2-40B4-BE49-F238E27FC236}">
                    <a16:creationId xmlns:a16="http://schemas.microsoft.com/office/drawing/2014/main" id="{D0476447-45FC-924C-9380-58F396C724A8}"/>
                  </a:ext>
                </a:extLst>
              </p:cNvPr>
              <p:cNvSpPr txBox="1">
                <a:spLocks noRot="1" noChangeAspect="1" noMove="1" noResize="1" noEditPoints="1" noAdjustHandles="1" noChangeArrowheads="1" noChangeShapeType="1" noTextEdit="1"/>
              </p:cNvSpPr>
              <p:nvPr/>
            </p:nvSpPr>
            <p:spPr>
              <a:xfrm>
                <a:off x="599440" y="2418239"/>
                <a:ext cx="1292533" cy="276999"/>
              </a:xfrm>
              <a:prstGeom prst="rect">
                <a:avLst/>
              </a:prstGeom>
              <a:blipFill>
                <a:blip r:embed="rId2"/>
                <a:stretch>
                  <a:fillRect l="-5882" r="-3922" b="-34783"/>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7FBFC98-0446-7A43-8B27-206A5DAC9801}"/>
              </a:ext>
            </a:extLst>
          </p:cNvPr>
          <p:cNvSpPr txBox="1"/>
          <p:nvPr/>
        </p:nvSpPr>
        <p:spPr>
          <a:xfrm>
            <a:off x="497840" y="2962434"/>
            <a:ext cx="1126744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D is the sediment size in millimeters.</a:t>
            </a:r>
          </a:p>
        </p:txBody>
      </p:sp>
      <p:sp>
        <p:nvSpPr>
          <p:cNvPr id="2" name="Slide Number Placeholder 1">
            <a:extLst>
              <a:ext uri="{FF2B5EF4-FFF2-40B4-BE49-F238E27FC236}">
                <a16:creationId xmlns:a16="http://schemas.microsoft.com/office/drawing/2014/main" id="{4226EF8C-94A3-75F5-13F5-A575CFDCE874}"/>
              </a:ext>
            </a:extLst>
          </p:cNvPr>
          <p:cNvSpPr>
            <a:spLocks noGrp="1"/>
          </p:cNvSpPr>
          <p:nvPr>
            <p:ph type="sldNum" sz="quarter" idx="12"/>
          </p:nvPr>
        </p:nvSpPr>
        <p:spPr/>
        <p:txBody>
          <a:bodyPr/>
          <a:lstStyle/>
          <a:p>
            <a:fld id="{2386C454-E1BD-5A43-901A-CA4ACC7380B7}" type="slidenum">
              <a:rPr lang="en-US" smtClean="0"/>
              <a:t>25</a:t>
            </a:fld>
            <a:endParaRPr lang="en-US"/>
          </a:p>
        </p:txBody>
      </p:sp>
    </p:spTree>
    <p:extLst>
      <p:ext uri="{BB962C8B-B14F-4D97-AF65-F5344CB8AC3E}">
        <p14:creationId xmlns:p14="http://schemas.microsoft.com/office/powerpoint/2010/main" val="2622747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28FB345-C49D-4C4E-9B14-5EC3CF142B5D}"/>
              </a:ext>
            </a:extLst>
          </p:cNvPr>
          <p:cNvSpPr/>
          <p:nvPr/>
        </p:nvSpPr>
        <p:spPr>
          <a:xfrm>
            <a:off x="1016000" y="2371021"/>
            <a:ext cx="338016" cy="365601"/>
          </a:xfrm>
          <a:prstGeom prst="ellipse">
            <a:avLst/>
          </a:prstGeom>
          <a:solidFill>
            <a:srgbClr val="FFFF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Sedimentological </a:t>
            </a:r>
            <a:r>
              <a:rPr lang="en-US" sz="2800" b="1" dirty="0">
                <a:latin typeface="Symbol" pitchFamily="2" charset="2"/>
                <a:cs typeface="Arial" panose="020B0604020202020204" pitchFamily="34" charset="0"/>
              </a:rPr>
              <a:t>f</a:t>
            </a:r>
            <a:r>
              <a:rPr lang="en-US" sz="2800" b="1" dirty="0">
                <a:latin typeface="Arial" panose="020B0604020202020204" pitchFamily="34" charset="0"/>
                <a:cs typeface="Arial" panose="020B0604020202020204" pitchFamily="34" charset="0"/>
              </a:rPr>
              <a:t> scale and the </a:t>
            </a:r>
            <a:r>
              <a:rPr lang="en-US" sz="2800" b="1" dirty="0">
                <a:latin typeface="Symbol" pitchFamily="2" charset="2"/>
                <a:cs typeface="Arial" panose="020B0604020202020204" pitchFamily="34" charset="0"/>
              </a:rPr>
              <a:t>y</a:t>
            </a:r>
            <a:r>
              <a:rPr lang="en-US" sz="2800" b="1" dirty="0">
                <a:latin typeface="Arial" panose="020B0604020202020204" pitchFamily="34" charset="0"/>
                <a:cs typeface="Arial" panose="020B0604020202020204" pitchFamily="34" charset="0"/>
              </a:rPr>
              <a:t> scale</a:t>
            </a:r>
          </a:p>
        </p:txBody>
      </p:sp>
      <p:sp>
        <p:nvSpPr>
          <p:cNvPr id="3" name="TextBox 2">
            <a:extLst>
              <a:ext uri="{FF2B5EF4-FFF2-40B4-BE49-F238E27FC236}">
                <a16:creationId xmlns:a16="http://schemas.microsoft.com/office/drawing/2014/main" id="{A4E341F7-3BF5-064D-8961-C6876999FECB}"/>
              </a:ext>
            </a:extLst>
          </p:cNvPr>
          <p:cNvSpPr txBox="1"/>
          <p:nvPr/>
        </p:nvSpPr>
        <p:spPr>
          <a:xfrm>
            <a:off x="497840" y="944880"/>
            <a:ext cx="1126744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Sediment sizes vary over many order of magnitudes. It is thus convenient to use a logarithmic scale to express the variability in sediment size.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sedimentological phi (</a:t>
            </a:r>
            <a:r>
              <a:rPr lang="en-US" dirty="0">
                <a:latin typeface="Symbol" pitchFamily="2" charset="2"/>
                <a:cs typeface="Arial" panose="020B0604020202020204" pitchFamily="34" charset="0"/>
              </a:rPr>
              <a:t>f</a:t>
            </a:r>
            <a:r>
              <a:rPr lang="en-US" dirty="0">
                <a:latin typeface="Arial" panose="020B0604020202020204" pitchFamily="34" charset="0"/>
                <a:cs typeface="Arial" panose="020B0604020202020204" pitchFamily="34" charset="0"/>
              </a:rPr>
              <a:t>) scale is a base-2 logarithmic scale defined as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0476447-45FC-924C-9380-58F396C724A8}"/>
                  </a:ext>
                </a:extLst>
              </p:cNvPr>
              <p:cNvSpPr txBox="1"/>
              <p:nvPr/>
            </p:nvSpPr>
            <p:spPr>
              <a:xfrm>
                <a:off x="599440" y="2418239"/>
                <a:ext cx="1292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𝑙𝑜𝑔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𝐷</m:t>
                      </m:r>
                    </m:oMath>
                  </m:oMathPara>
                </a14:m>
                <a:endParaRPr lang="en-US" dirty="0"/>
              </a:p>
            </p:txBody>
          </p:sp>
        </mc:Choice>
        <mc:Fallback xmlns="">
          <p:sp>
            <p:nvSpPr>
              <p:cNvPr id="7" name="TextBox 6">
                <a:extLst>
                  <a:ext uri="{FF2B5EF4-FFF2-40B4-BE49-F238E27FC236}">
                    <a16:creationId xmlns:a16="http://schemas.microsoft.com/office/drawing/2014/main" id="{D0476447-45FC-924C-9380-58F396C724A8}"/>
                  </a:ext>
                </a:extLst>
              </p:cNvPr>
              <p:cNvSpPr txBox="1">
                <a:spLocks noRot="1" noChangeAspect="1" noMove="1" noResize="1" noEditPoints="1" noAdjustHandles="1" noChangeArrowheads="1" noChangeShapeType="1" noTextEdit="1"/>
              </p:cNvSpPr>
              <p:nvPr/>
            </p:nvSpPr>
            <p:spPr>
              <a:xfrm>
                <a:off x="599440" y="2418239"/>
                <a:ext cx="1292533" cy="276999"/>
              </a:xfrm>
              <a:prstGeom prst="rect">
                <a:avLst/>
              </a:prstGeom>
              <a:blipFill>
                <a:blip r:embed="rId2"/>
                <a:stretch>
                  <a:fillRect l="-5882" r="-3922" b="-34783"/>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7FBFC98-0446-7A43-8B27-206A5DAC9801}"/>
              </a:ext>
            </a:extLst>
          </p:cNvPr>
          <p:cNvSpPr txBox="1"/>
          <p:nvPr/>
        </p:nvSpPr>
        <p:spPr>
          <a:xfrm>
            <a:off x="497840" y="2962434"/>
            <a:ext cx="1126744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D is the sediment size in millimeters.</a:t>
            </a:r>
          </a:p>
        </p:txBody>
      </p:sp>
      <p:sp>
        <p:nvSpPr>
          <p:cNvPr id="6" name="Slide Number Placeholder 5">
            <a:extLst>
              <a:ext uri="{FF2B5EF4-FFF2-40B4-BE49-F238E27FC236}">
                <a16:creationId xmlns:a16="http://schemas.microsoft.com/office/drawing/2014/main" id="{27DE7A97-9908-7D13-C8FD-EAE01B2F541B}"/>
              </a:ext>
            </a:extLst>
          </p:cNvPr>
          <p:cNvSpPr>
            <a:spLocks noGrp="1"/>
          </p:cNvSpPr>
          <p:nvPr>
            <p:ph type="sldNum" sz="quarter" idx="12"/>
          </p:nvPr>
        </p:nvSpPr>
        <p:spPr/>
        <p:txBody>
          <a:bodyPr/>
          <a:lstStyle/>
          <a:p>
            <a:fld id="{2386C454-E1BD-5A43-901A-CA4ACC7380B7}" type="slidenum">
              <a:rPr lang="en-US" smtClean="0"/>
              <a:t>26</a:t>
            </a:fld>
            <a:endParaRPr lang="en-US"/>
          </a:p>
        </p:txBody>
      </p:sp>
    </p:spTree>
    <p:extLst>
      <p:ext uri="{BB962C8B-B14F-4D97-AF65-F5344CB8AC3E}">
        <p14:creationId xmlns:p14="http://schemas.microsoft.com/office/powerpoint/2010/main" val="1363236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28FB345-C49D-4C4E-9B14-5EC3CF142B5D}"/>
              </a:ext>
            </a:extLst>
          </p:cNvPr>
          <p:cNvSpPr/>
          <p:nvPr/>
        </p:nvSpPr>
        <p:spPr>
          <a:xfrm>
            <a:off x="1016000" y="2371021"/>
            <a:ext cx="338016" cy="365601"/>
          </a:xfrm>
          <a:prstGeom prst="ellipse">
            <a:avLst/>
          </a:prstGeom>
          <a:solidFill>
            <a:srgbClr val="FFFF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Sedimentological </a:t>
            </a:r>
            <a:r>
              <a:rPr lang="en-US" sz="2800" b="1" dirty="0">
                <a:latin typeface="Symbol" pitchFamily="2" charset="2"/>
                <a:cs typeface="Arial" panose="020B0604020202020204" pitchFamily="34" charset="0"/>
              </a:rPr>
              <a:t>f</a:t>
            </a:r>
            <a:r>
              <a:rPr lang="en-US" sz="2800" b="1" dirty="0">
                <a:latin typeface="Arial" panose="020B0604020202020204" pitchFamily="34" charset="0"/>
                <a:cs typeface="Arial" panose="020B0604020202020204" pitchFamily="34" charset="0"/>
              </a:rPr>
              <a:t> scale and the </a:t>
            </a:r>
            <a:r>
              <a:rPr lang="en-US" sz="2800" b="1" dirty="0">
                <a:latin typeface="Symbol" pitchFamily="2" charset="2"/>
                <a:cs typeface="Arial" panose="020B0604020202020204" pitchFamily="34" charset="0"/>
              </a:rPr>
              <a:t>y</a:t>
            </a:r>
            <a:r>
              <a:rPr lang="en-US" sz="2800" b="1" dirty="0">
                <a:latin typeface="Arial" panose="020B0604020202020204" pitchFamily="34" charset="0"/>
                <a:cs typeface="Arial" panose="020B0604020202020204" pitchFamily="34" charset="0"/>
              </a:rPr>
              <a:t> scale</a:t>
            </a:r>
          </a:p>
        </p:txBody>
      </p:sp>
      <p:sp>
        <p:nvSpPr>
          <p:cNvPr id="3" name="TextBox 2">
            <a:extLst>
              <a:ext uri="{FF2B5EF4-FFF2-40B4-BE49-F238E27FC236}">
                <a16:creationId xmlns:a16="http://schemas.microsoft.com/office/drawing/2014/main" id="{A4E341F7-3BF5-064D-8961-C6876999FECB}"/>
              </a:ext>
            </a:extLst>
          </p:cNvPr>
          <p:cNvSpPr txBox="1"/>
          <p:nvPr/>
        </p:nvSpPr>
        <p:spPr>
          <a:xfrm>
            <a:off x="497840" y="944880"/>
            <a:ext cx="1126744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Sediment sizes vary over many order of magnitudes. It is thus convenient to use a logarithmic scale to express the variability in sediment size.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sedimentological phi (</a:t>
            </a:r>
            <a:r>
              <a:rPr lang="en-US" dirty="0">
                <a:latin typeface="Symbol" pitchFamily="2" charset="2"/>
                <a:cs typeface="Arial" panose="020B0604020202020204" pitchFamily="34" charset="0"/>
              </a:rPr>
              <a:t>f</a:t>
            </a:r>
            <a:r>
              <a:rPr lang="en-US" dirty="0">
                <a:latin typeface="Arial" panose="020B0604020202020204" pitchFamily="34" charset="0"/>
                <a:cs typeface="Arial" panose="020B0604020202020204" pitchFamily="34" charset="0"/>
              </a:rPr>
              <a:t>) scale is a base-2 logarithmic scale defined as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0476447-45FC-924C-9380-58F396C724A8}"/>
                  </a:ext>
                </a:extLst>
              </p:cNvPr>
              <p:cNvSpPr txBox="1"/>
              <p:nvPr/>
            </p:nvSpPr>
            <p:spPr>
              <a:xfrm>
                <a:off x="599440" y="2418239"/>
                <a:ext cx="1292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𝑙𝑜𝑔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𝐷</m:t>
                      </m:r>
                    </m:oMath>
                  </m:oMathPara>
                </a14:m>
                <a:endParaRPr lang="en-US" dirty="0"/>
              </a:p>
            </p:txBody>
          </p:sp>
        </mc:Choice>
        <mc:Fallback xmlns="">
          <p:sp>
            <p:nvSpPr>
              <p:cNvPr id="7" name="TextBox 6">
                <a:extLst>
                  <a:ext uri="{FF2B5EF4-FFF2-40B4-BE49-F238E27FC236}">
                    <a16:creationId xmlns:a16="http://schemas.microsoft.com/office/drawing/2014/main" id="{D0476447-45FC-924C-9380-58F396C724A8}"/>
                  </a:ext>
                </a:extLst>
              </p:cNvPr>
              <p:cNvSpPr txBox="1">
                <a:spLocks noRot="1" noChangeAspect="1" noMove="1" noResize="1" noEditPoints="1" noAdjustHandles="1" noChangeArrowheads="1" noChangeShapeType="1" noTextEdit="1"/>
              </p:cNvSpPr>
              <p:nvPr/>
            </p:nvSpPr>
            <p:spPr>
              <a:xfrm>
                <a:off x="599440" y="2418239"/>
                <a:ext cx="1292533" cy="276999"/>
              </a:xfrm>
              <a:prstGeom prst="rect">
                <a:avLst/>
              </a:prstGeom>
              <a:blipFill>
                <a:blip r:embed="rId2"/>
                <a:stretch>
                  <a:fillRect l="-5882" r="-3922" b="-34783"/>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7FBFC98-0446-7A43-8B27-206A5DAC9801}"/>
              </a:ext>
            </a:extLst>
          </p:cNvPr>
          <p:cNvSpPr txBox="1"/>
          <p:nvPr/>
        </p:nvSpPr>
        <p:spPr>
          <a:xfrm>
            <a:off x="497840" y="2962434"/>
            <a:ext cx="1126744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D is the sediment size in millimeters.</a:t>
            </a:r>
          </a:p>
        </p:txBody>
      </p:sp>
      <p:sp>
        <p:nvSpPr>
          <p:cNvPr id="10" name="TextBox 9">
            <a:extLst>
              <a:ext uri="{FF2B5EF4-FFF2-40B4-BE49-F238E27FC236}">
                <a16:creationId xmlns:a16="http://schemas.microsoft.com/office/drawing/2014/main" id="{F67E0DD5-7225-6048-B4A4-F58280A19E73}"/>
              </a:ext>
            </a:extLst>
          </p:cNvPr>
          <p:cNvSpPr txBox="1"/>
          <p:nvPr/>
        </p:nvSpPr>
        <p:spPr>
          <a:xfrm>
            <a:off x="9192260" y="2559719"/>
            <a:ext cx="2400300" cy="3139321"/>
          </a:xfrm>
          <a:prstGeom prst="rect">
            <a:avLst/>
          </a:prstGeom>
          <a:noFill/>
        </p:spPr>
        <p:txBody>
          <a:bodyPr wrap="square" rtlCol="0">
            <a:spAutoFit/>
          </a:bodyPr>
          <a:lstStyle/>
          <a:p>
            <a:pPr marL="342900" indent="-342900">
              <a:buAutoNum type="arabicParenR"/>
            </a:pPr>
            <a:r>
              <a:rPr lang="en-US" dirty="0">
                <a:latin typeface="Arial" panose="020B0604020202020204" pitchFamily="34" charset="0"/>
                <a:cs typeface="Arial" panose="020B0604020202020204" pitchFamily="34" charset="0"/>
              </a:rPr>
              <a:t>we have numbers that do not vary too much;</a:t>
            </a:r>
          </a:p>
          <a:p>
            <a:pPr marL="342900" indent="-342900">
              <a:buAutoNum type="arabicParenR"/>
            </a:pPr>
            <a:endParaRPr lang="en-US" dirty="0">
              <a:latin typeface="Arial" panose="020B0604020202020204" pitchFamily="34" charset="0"/>
              <a:cs typeface="Arial" panose="020B0604020202020204" pitchFamily="34" charset="0"/>
            </a:endParaRPr>
          </a:p>
          <a:p>
            <a:pPr marL="342900" indent="-342900">
              <a:buAutoNum type="arabicParenR"/>
            </a:pPr>
            <a:r>
              <a:rPr lang="en-US" dirty="0">
                <a:latin typeface="Arial" panose="020B0604020202020204" pitchFamily="34" charset="0"/>
                <a:cs typeface="Arial" panose="020B0604020202020204" pitchFamily="34" charset="0"/>
              </a:rPr>
              <a:t>coarse sediment is associated with small numbers</a:t>
            </a:r>
          </a:p>
          <a:p>
            <a:pPr marL="342900" indent="-342900">
              <a:buAutoNum type="arabicParenR"/>
            </a:pPr>
            <a:endParaRPr lang="en-US" dirty="0">
              <a:latin typeface="Arial" panose="020B0604020202020204" pitchFamily="34" charset="0"/>
              <a:cs typeface="Arial" panose="020B0604020202020204" pitchFamily="34" charset="0"/>
            </a:endParaRPr>
          </a:p>
          <a:p>
            <a:pPr marL="342900" indent="-342900">
              <a:buAutoNum type="arabicParenR"/>
            </a:pPr>
            <a:r>
              <a:rPr lang="en-US" dirty="0">
                <a:latin typeface="Arial" panose="020B0604020202020204" pitchFamily="34" charset="0"/>
                <a:cs typeface="Arial" panose="020B0604020202020204" pitchFamily="34" charset="0"/>
              </a:rPr>
              <a:t>This is used by people working with fine material</a:t>
            </a:r>
          </a:p>
        </p:txBody>
      </p:sp>
      <p:graphicFrame>
        <p:nvGraphicFramePr>
          <p:cNvPr id="11" name="Table 8">
            <a:extLst>
              <a:ext uri="{FF2B5EF4-FFF2-40B4-BE49-F238E27FC236}">
                <a16:creationId xmlns:a16="http://schemas.microsoft.com/office/drawing/2014/main" id="{3D57F90E-8EBA-164E-ADEF-700BF595E601}"/>
              </a:ext>
            </a:extLst>
          </p:cNvPr>
          <p:cNvGraphicFramePr>
            <a:graphicFrameLocks noGrp="1"/>
          </p:cNvGraphicFramePr>
          <p:nvPr>
            <p:extLst>
              <p:ext uri="{D42A27DB-BD31-4B8C-83A1-F6EECF244321}">
                <p14:modId xmlns:p14="http://schemas.microsoft.com/office/powerpoint/2010/main" val="2747804322"/>
              </p:ext>
            </p:extLst>
          </p:nvPr>
        </p:nvGraphicFramePr>
        <p:xfrm>
          <a:off x="812801" y="3641864"/>
          <a:ext cx="6185851" cy="2595880"/>
        </p:xfrm>
        <a:graphic>
          <a:graphicData uri="http://schemas.openxmlformats.org/drawingml/2006/table">
            <a:tbl>
              <a:tblPr firstRow="1" bandRow="1">
                <a:tableStyleId>{17292A2E-F333-43FB-9621-5CBBE7FDCDCB}</a:tableStyleId>
              </a:tblPr>
              <a:tblGrid>
                <a:gridCol w="2438400">
                  <a:extLst>
                    <a:ext uri="{9D8B030D-6E8A-4147-A177-3AD203B41FA5}">
                      <a16:colId xmlns:a16="http://schemas.microsoft.com/office/drawing/2014/main" val="2194184554"/>
                    </a:ext>
                  </a:extLst>
                </a:gridCol>
                <a:gridCol w="2135503">
                  <a:extLst>
                    <a:ext uri="{9D8B030D-6E8A-4147-A177-3AD203B41FA5}">
                      <a16:colId xmlns:a16="http://schemas.microsoft.com/office/drawing/2014/main" val="1748638371"/>
                    </a:ext>
                  </a:extLst>
                </a:gridCol>
                <a:gridCol w="1611948">
                  <a:extLst>
                    <a:ext uri="{9D8B030D-6E8A-4147-A177-3AD203B41FA5}">
                      <a16:colId xmlns:a16="http://schemas.microsoft.com/office/drawing/2014/main" val="2878156591"/>
                    </a:ext>
                  </a:extLst>
                </a:gridCol>
              </a:tblGrid>
              <a:tr h="370840">
                <a:tc>
                  <a:txBody>
                    <a:bodyPr/>
                    <a:lstStyle/>
                    <a:p>
                      <a:r>
                        <a:rPr lang="en-US" dirty="0">
                          <a:latin typeface="Arial" panose="020B0604020202020204" pitchFamily="34" charset="0"/>
                          <a:cs typeface="Arial" panose="020B0604020202020204" pitchFamily="34" charset="0"/>
                        </a:rPr>
                        <a:t>Sediment type</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D (mm)</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D (</a:t>
                      </a:r>
                      <a:r>
                        <a:rPr lang="en-US" dirty="0">
                          <a:latin typeface="Symbol" pitchFamily="2" charset="2"/>
                          <a:cs typeface="Arial" panose="020B0604020202020204" pitchFamily="34" charset="0"/>
                        </a:rPr>
                        <a:t>f</a:t>
                      </a:r>
                      <a:r>
                        <a:rPr lang="en-US" dirty="0">
                          <a:latin typeface="Arial" panose="020B0604020202020204" pitchFamily="34" charset="0"/>
                          <a:cs typeface="Arial" panose="020B0604020202020204" pitchFamily="34" charset="0"/>
                        </a:rPr>
                        <a:t>)</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extLst>
                  <a:ext uri="{0D108BD9-81ED-4DB2-BD59-A6C34878D82A}">
                    <a16:rowId xmlns:a16="http://schemas.microsoft.com/office/drawing/2014/main" val="2701032926"/>
                  </a:ext>
                </a:extLst>
              </a:tr>
              <a:tr h="370840">
                <a:tc>
                  <a:txBody>
                    <a:bodyPr/>
                    <a:lstStyle/>
                    <a:p>
                      <a:r>
                        <a:rPr lang="en-US" dirty="0">
                          <a:latin typeface="Arial" panose="020B0604020202020204" pitchFamily="34" charset="0"/>
                          <a:cs typeface="Arial" panose="020B0604020202020204" pitchFamily="34" charset="0"/>
                        </a:rPr>
                        <a:t>Boulders</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&gt; 256 </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&lt; -8</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extLst>
                  <a:ext uri="{0D108BD9-81ED-4DB2-BD59-A6C34878D82A}">
                    <a16:rowId xmlns:a16="http://schemas.microsoft.com/office/drawing/2014/main" val="4043115637"/>
                  </a:ext>
                </a:extLst>
              </a:tr>
              <a:tr h="370840">
                <a:tc>
                  <a:txBody>
                    <a:bodyPr/>
                    <a:lstStyle/>
                    <a:p>
                      <a:r>
                        <a:rPr lang="en-US" dirty="0">
                          <a:latin typeface="Arial" panose="020B0604020202020204" pitchFamily="34" charset="0"/>
                          <a:cs typeface="Arial" panose="020B0604020202020204" pitchFamily="34" charset="0"/>
                        </a:rPr>
                        <a:t>Cobbles and pebbles</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64 ~ 256</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-8 ~ -6</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extLst>
                  <a:ext uri="{0D108BD9-81ED-4DB2-BD59-A6C34878D82A}">
                    <a16:rowId xmlns:a16="http://schemas.microsoft.com/office/drawing/2014/main" val="2709013055"/>
                  </a:ext>
                </a:extLst>
              </a:tr>
              <a:tr h="370840">
                <a:tc>
                  <a:txBody>
                    <a:bodyPr/>
                    <a:lstStyle/>
                    <a:p>
                      <a:r>
                        <a:rPr lang="en-US" dirty="0">
                          <a:latin typeface="Arial" panose="020B0604020202020204" pitchFamily="34" charset="0"/>
                          <a:cs typeface="Arial" panose="020B0604020202020204" pitchFamily="34" charset="0"/>
                        </a:rPr>
                        <a:t>Gravel</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2 ~ 64</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-6~ -1</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extLst>
                  <a:ext uri="{0D108BD9-81ED-4DB2-BD59-A6C34878D82A}">
                    <a16:rowId xmlns:a16="http://schemas.microsoft.com/office/drawing/2014/main" val="2997436971"/>
                  </a:ext>
                </a:extLst>
              </a:tr>
              <a:tr h="370840">
                <a:tc>
                  <a:txBody>
                    <a:bodyPr/>
                    <a:lstStyle/>
                    <a:p>
                      <a:r>
                        <a:rPr lang="en-US" dirty="0">
                          <a:latin typeface="Arial" panose="020B0604020202020204" pitchFamily="34" charset="0"/>
                          <a:cs typeface="Arial" panose="020B0604020202020204" pitchFamily="34" charset="0"/>
                        </a:rPr>
                        <a:t>Sand</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0.0625 ~ 2</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-1 ~ 4</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extLst>
                  <a:ext uri="{0D108BD9-81ED-4DB2-BD59-A6C34878D82A}">
                    <a16:rowId xmlns:a16="http://schemas.microsoft.com/office/drawing/2014/main" val="4068061639"/>
                  </a:ext>
                </a:extLst>
              </a:tr>
              <a:tr h="370840">
                <a:tc>
                  <a:txBody>
                    <a:bodyPr/>
                    <a:lstStyle/>
                    <a:p>
                      <a:r>
                        <a:rPr lang="en-US" dirty="0">
                          <a:latin typeface="Arial" panose="020B0604020202020204" pitchFamily="34" charset="0"/>
                          <a:cs typeface="Arial" panose="020B0604020202020204" pitchFamily="34" charset="0"/>
                        </a:rPr>
                        <a:t>Silt</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0.002 ~ 0.0625</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4 ~ 8.9</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extLst>
                  <a:ext uri="{0D108BD9-81ED-4DB2-BD59-A6C34878D82A}">
                    <a16:rowId xmlns:a16="http://schemas.microsoft.com/office/drawing/2014/main" val="3119241577"/>
                  </a:ext>
                </a:extLst>
              </a:tr>
              <a:tr h="370840">
                <a:tc>
                  <a:txBody>
                    <a:bodyPr/>
                    <a:lstStyle/>
                    <a:p>
                      <a:r>
                        <a:rPr lang="en-US" dirty="0">
                          <a:latin typeface="Arial" panose="020B0604020202020204" pitchFamily="34" charset="0"/>
                          <a:cs typeface="Arial" panose="020B0604020202020204" pitchFamily="34" charset="0"/>
                        </a:rPr>
                        <a:t>Clay</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&lt; 0.002</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&gt; 8.9</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extLst>
                  <a:ext uri="{0D108BD9-81ED-4DB2-BD59-A6C34878D82A}">
                    <a16:rowId xmlns:a16="http://schemas.microsoft.com/office/drawing/2014/main" val="1922958075"/>
                  </a:ext>
                </a:extLst>
              </a:tr>
            </a:tbl>
          </a:graphicData>
        </a:graphic>
      </p:graphicFrame>
      <p:sp>
        <p:nvSpPr>
          <p:cNvPr id="6" name="Slide Number Placeholder 5">
            <a:extLst>
              <a:ext uri="{FF2B5EF4-FFF2-40B4-BE49-F238E27FC236}">
                <a16:creationId xmlns:a16="http://schemas.microsoft.com/office/drawing/2014/main" id="{63E83524-077B-8126-65C7-5DCBC62CC74F}"/>
              </a:ext>
            </a:extLst>
          </p:cNvPr>
          <p:cNvSpPr>
            <a:spLocks noGrp="1"/>
          </p:cNvSpPr>
          <p:nvPr>
            <p:ph type="sldNum" sz="quarter" idx="12"/>
          </p:nvPr>
        </p:nvSpPr>
        <p:spPr/>
        <p:txBody>
          <a:bodyPr/>
          <a:lstStyle/>
          <a:p>
            <a:fld id="{2386C454-E1BD-5A43-901A-CA4ACC7380B7}" type="slidenum">
              <a:rPr lang="en-US" smtClean="0"/>
              <a:t>27</a:t>
            </a:fld>
            <a:endParaRPr lang="en-US"/>
          </a:p>
        </p:txBody>
      </p:sp>
    </p:spTree>
    <p:extLst>
      <p:ext uri="{BB962C8B-B14F-4D97-AF65-F5344CB8AC3E}">
        <p14:creationId xmlns:p14="http://schemas.microsoft.com/office/powerpoint/2010/main" val="1622552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Sedimentological </a:t>
            </a:r>
            <a:r>
              <a:rPr lang="en-US" sz="2800" b="1" dirty="0">
                <a:latin typeface="Symbol" pitchFamily="2" charset="2"/>
                <a:cs typeface="Arial" panose="020B0604020202020204" pitchFamily="34" charset="0"/>
              </a:rPr>
              <a:t>f</a:t>
            </a:r>
            <a:r>
              <a:rPr lang="en-US" sz="2800" b="1" dirty="0">
                <a:latin typeface="Arial" panose="020B0604020202020204" pitchFamily="34" charset="0"/>
                <a:cs typeface="Arial" panose="020B0604020202020204" pitchFamily="34" charset="0"/>
              </a:rPr>
              <a:t> scale and the </a:t>
            </a:r>
            <a:r>
              <a:rPr lang="en-US" sz="2800" b="1" dirty="0">
                <a:latin typeface="Symbol" pitchFamily="2" charset="2"/>
                <a:cs typeface="Arial" panose="020B0604020202020204" pitchFamily="34" charset="0"/>
              </a:rPr>
              <a:t>y</a:t>
            </a:r>
            <a:r>
              <a:rPr lang="en-US" sz="2800" b="1" dirty="0">
                <a:latin typeface="Arial" panose="020B0604020202020204" pitchFamily="34" charset="0"/>
                <a:cs typeface="Arial" panose="020B0604020202020204" pitchFamily="34" charset="0"/>
              </a:rPr>
              <a:t> scale</a:t>
            </a:r>
          </a:p>
        </p:txBody>
      </p:sp>
      <p:sp>
        <p:nvSpPr>
          <p:cNvPr id="3" name="TextBox 2">
            <a:extLst>
              <a:ext uri="{FF2B5EF4-FFF2-40B4-BE49-F238E27FC236}">
                <a16:creationId xmlns:a16="http://schemas.microsoft.com/office/drawing/2014/main" id="{A4E341F7-3BF5-064D-8961-C6876999FECB}"/>
              </a:ext>
            </a:extLst>
          </p:cNvPr>
          <p:cNvSpPr txBox="1"/>
          <p:nvPr/>
        </p:nvSpPr>
        <p:spPr>
          <a:xfrm>
            <a:off x="497840" y="944880"/>
            <a:ext cx="1126744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Sediment sizes vary over many order of magnitudes. It is thus convenient to use a logarithmic scale to express the variability in sediment size.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sedimentological phi (</a:t>
            </a:r>
            <a:r>
              <a:rPr lang="en-US" dirty="0">
                <a:latin typeface="Symbol" pitchFamily="2" charset="2"/>
                <a:cs typeface="Arial" panose="020B0604020202020204" pitchFamily="34" charset="0"/>
              </a:rPr>
              <a:t>f</a:t>
            </a:r>
            <a:r>
              <a:rPr lang="en-US" dirty="0">
                <a:latin typeface="Arial" panose="020B0604020202020204" pitchFamily="34" charset="0"/>
                <a:cs typeface="Arial" panose="020B0604020202020204" pitchFamily="34" charset="0"/>
              </a:rPr>
              <a:t>) scale is a base-2 logarithmic scale defined as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0476447-45FC-924C-9380-58F396C724A8}"/>
                  </a:ext>
                </a:extLst>
              </p:cNvPr>
              <p:cNvSpPr txBox="1"/>
              <p:nvPr/>
            </p:nvSpPr>
            <p:spPr>
              <a:xfrm>
                <a:off x="599440" y="2418239"/>
                <a:ext cx="12925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𝑙𝑜𝑔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𝐷</m:t>
                      </m:r>
                    </m:oMath>
                  </m:oMathPara>
                </a14:m>
                <a:endParaRPr lang="en-US" dirty="0"/>
              </a:p>
            </p:txBody>
          </p:sp>
        </mc:Choice>
        <mc:Fallback xmlns="">
          <p:sp>
            <p:nvSpPr>
              <p:cNvPr id="7" name="TextBox 6">
                <a:extLst>
                  <a:ext uri="{FF2B5EF4-FFF2-40B4-BE49-F238E27FC236}">
                    <a16:creationId xmlns:a16="http://schemas.microsoft.com/office/drawing/2014/main" id="{D0476447-45FC-924C-9380-58F396C724A8}"/>
                  </a:ext>
                </a:extLst>
              </p:cNvPr>
              <p:cNvSpPr txBox="1">
                <a:spLocks noRot="1" noChangeAspect="1" noMove="1" noResize="1" noEditPoints="1" noAdjustHandles="1" noChangeArrowheads="1" noChangeShapeType="1" noTextEdit="1"/>
              </p:cNvSpPr>
              <p:nvPr/>
            </p:nvSpPr>
            <p:spPr>
              <a:xfrm>
                <a:off x="599440" y="2418239"/>
                <a:ext cx="1292533" cy="276999"/>
              </a:xfrm>
              <a:prstGeom prst="rect">
                <a:avLst/>
              </a:prstGeom>
              <a:blipFill>
                <a:blip r:embed="rId2"/>
                <a:stretch>
                  <a:fillRect l="-5882" r="-3922" b="-34783"/>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7FBFC98-0446-7A43-8B27-206A5DAC9801}"/>
              </a:ext>
            </a:extLst>
          </p:cNvPr>
          <p:cNvSpPr txBox="1"/>
          <p:nvPr/>
        </p:nvSpPr>
        <p:spPr>
          <a:xfrm>
            <a:off x="497840" y="2962434"/>
            <a:ext cx="1126744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D is the sediment size in millimeters.</a:t>
            </a:r>
          </a:p>
        </p:txBody>
      </p:sp>
      <p:sp>
        <p:nvSpPr>
          <p:cNvPr id="9" name="Right Arrow 8">
            <a:extLst>
              <a:ext uri="{FF2B5EF4-FFF2-40B4-BE49-F238E27FC236}">
                <a16:creationId xmlns:a16="http://schemas.microsoft.com/office/drawing/2014/main" id="{90EA306A-7E42-B448-AA33-6B28BBFD5A89}"/>
              </a:ext>
            </a:extLst>
          </p:cNvPr>
          <p:cNvSpPr/>
          <p:nvPr/>
        </p:nvSpPr>
        <p:spPr>
          <a:xfrm>
            <a:off x="2336800" y="2418239"/>
            <a:ext cx="1219200" cy="318383"/>
          </a:xfrm>
          <a:prstGeom prst="rightArrow">
            <a:avLst/>
          </a:prstGeom>
          <a:solidFill>
            <a:srgbClr val="FFFF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A63F39F-830A-7544-8F5D-DA35926F54FC}"/>
                  </a:ext>
                </a:extLst>
              </p:cNvPr>
              <p:cNvSpPr txBox="1"/>
              <p:nvPr/>
            </p:nvSpPr>
            <p:spPr>
              <a:xfrm>
                <a:off x="3787140" y="2409424"/>
                <a:ext cx="11226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𝜓</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𝑙𝑜𝑔</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𝐷</m:t>
                      </m:r>
                    </m:oMath>
                  </m:oMathPara>
                </a14:m>
                <a:endParaRPr lang="en-US" dirty="0"/>
              </a:p>
            </p:txBody>
          </p:sp>
        </mc:Choice>
        <mc:Fallback xmlns="">
          <p:sp>
            <p:nvSpPr>
              <p:cNvPr id="11" name="TextBox 10">
                <a:extLst>
                  <a:ext uri="{FF2B5EF4-FFF2-40B4-BE49-F238E27FC236}">
                    <a16:creationId xmlns:a16="http://schemas.microsoft.com/office/drawing/2014/main" id="{9A63F39F-830A-7544-8F5D-DA35926F54FC}"/>
                  </a:ext>
                </a:extLst>
              </p:cNvPr>
              <p:cNvSpPr txBox="1">
                <a:spLocks noRot="1" noChangeAspect="1" noMove="1" noResize="1" noEditPoints="1" noAdjustHandles="1" noChangeArrowheads="1" noChangeShapeType="1" noTextEdit="1"/>
              </p:cNvSpPr>
              <p:nvPr/>
            </p:nvSpPr>
            <p:spPr>
              <a:xfrm>
                <a:off x="3787140" y="2409424"/>
                <a:ext cx="1122679" cy="276999"/>
              </a:xfrm>
              <a:prstGeom prst="rect">
                <a:avLst/>
              </a:prstGeom>
              <a:blipFill>
                <a:blip r:embed="rId3"/>
                <a:stretch>
                  <a:fillRect l="-6742" r="-3371" b="-34783"/>
                </a:stretch>
              </a:blipFill>
            </p:spPr>
            <p:txBody>
              <a:bodyPr/>
              <a:lstStyle/>
              <a:p>
                <a:r>
                  <a:rPr lang="en-US">
                    <a:noFill/>
                  </a:rPr>
                  <a:t> </a:t>
                </a:r>
              </a:p>
            </p:txBody>
          </p:sp>
        </mc:Fallback>
      </mc:AlternateContent>
      <p:graphicFrame>
        <p:nvGraphicFramePr>
          <p:cNvPr id="12" name="Table 8">
            <a:extLst>
              <a:ext uri="{FF2B5EF4-FFF2-40B4-BE49-F238E27FC236}">
                <a16:creationId xmlns:a16="http://schemas.microsoft.com/office/drawing/2014/main" id="{CFF36F71-95A8-9843-86F0-095DFF5F96F3}"/>
              </a:ext>
            </a:extLst>
          </p:cNvPr>
          <p:cNvGraphicFramePr>
            <a:graphicFrameLocks noGrp="1"/>
          </p:cNvGraphicFramePr>
          <p:nvPr>
            <p:extLst>
              <p:ext uri="{D42A27DB-BD31-4B8C-83A1-F6EECF244321}">
                <p14:modId xmlns:p14="http://schemas.microsoft.com/office/powerpoint/2010/main" val="2581493058"/>
              </p:ext>
            </p:extLst>
          </p:nvPr>
        </p:nvGraphicFramePr>
        <p:xfrm>
          <a:off x="812801" y="3641864"/>
          <a:ext cx="7797799" cy="2595880"/>
        </p:xfrm>
        <a:graphic>
          <a:graphicData uri="http://schemas.openxmlformats.org/drawingml/2006/table">
            <a:tbl>
              <a:tblPr firstRow="1" bandRow="1">
                <a:tableStyleId>{17292A2E-F333-43FB-9621-5CBBE7FDCDCB}</a:tableStyleId>
              </a:tblPr>
              <a:tblGrid>
                <a:gridCol w="2438400">
                  <a:extLst>
                    <a:ext uri="{9D8B030D-6E8A-4147-A177-3AD203B41FA5}">
                      <a16:colId xmlns:a16="http://schemas.microsoft.com/office/drawing/2014/main" val="2194184554"/>
                    </a:ext>
                  </a:extLst>
                </a:gridCol>
                <a:gridCol w="2135503">
                  <a:extLst>
                    <a:ext uri="{9D8B030D-6E8A-4147-A177-3AD203B41FA5}">
                      <a16:colId xmlns:a16="http://schemas.microsoft.com/office/drawing/2014/main" val="1748638371"/>
                    </a:ext>
                  </a:extLst>
                </a:gridCol>
                <a:gridCol w="1611948">
                  <a:extLst>
                    <a:ext uri="{9D8B030D-6E8A-4147-A177-3AD203B41FA5}">
                      <a16:colId xmlns:a16="http://schemas.microsoft.com/office/drawing/2014/main" val="2878156591"/>
                    </a:ext>
                  </a:extLst>
                </a:gridCol>
                <a:gridCol w="1611948">
                  <a:extLst>
                    <a:ext uri="{9D8B030D-6E8A-4147-A177-3AD203B41FA5}">
                      <a16:colId xmlns:a16="http://schemas.microsoft.com/office/drawing/2014/main" val="38865878"/>
                    </a:ext>
                  </a:extLst>
                </a:gridCol>
              </a:tblGrid>
              <a:tr h="370840">
                <a:tc>
                  <a:txBody>
                    <a:bodyPr/>
                    <a:lstStyle/>
                    <a:p>
                      <a:r>
                        <a:rPr lang="en-US" dirty="0">
                          <a:latin typeface="Arial" panose="020B0604020202020204" pitchFamily="34" charset="0"/>
                          <a:cs typeface="Arial" panose="020B0604020202020204" pitchFamily="34" charset="0"/>
                        </a:rPr>
                        <a:t>Sediment type</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D (mm)</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D (</a:t>
                      </a:r>
                      <a:r>
                        <a:rPr lang="en-US" dirty="0">
                          <a:latin typeface="Symbol" pitchFamily="2" charset="2"/>
                          <a:cs typeface="Arial" panose="020B0604020202020204" pitchFamily="34" charset="0"/>
                        </a:rPr>
                        <a:t>f</a:t>
                      </a:r>
                      <a:r>
                        <a:rPr lang="en-US" dirty="0">
                          <a:latin typeface="Arial" panose="020B0604020202020204" pitchFamily="34" charset="0"/>
                          <a:cs typeface="Arial" panose="020B0604020202020204" pitchFamily="34" charset="0"/>
                        </a:rPr>
                        <a:t>)</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D (</a:t>
                      </a:r>
                      <a:r>
                        <a:rPr lang="en-US" dirty="0">
                          <a:latin typeface="Symbol" pitchFamily="2" charset="2"/>
                          <a:cs typeface="Arial" panose="020B0604020202020204" pitchFamily="34" charset="0"/>
                        </a:rPr>
                        <a:t>y</a:t>
                      </a:r>
                      <a:r>
                        <a:rPr lang="en-US" dirty="0">
                          <a:latin typeface="Arial" panose="020B0604020202020204" pitchFamily="34" charset="0"/>
                          <a:cs typeface="Arial" panose="020B0604020202020204" pitchFamily="34" charset="0"/>
                        </a:rPr>
                        <a:t>)</a:t>
                      </a:r>
                    </a:p>
                  </a:txBody>
                  <a:tcPr>
                    <a:lnL w="28575"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2701032926"/>
                  </a:ext>
                </a:extLst>
              </a:tr>
              <a:tr h="370840">
                <a:tc>
                  <a:txBody>
                    <a:bodyPr/>
                    <a:lstStyle/>
                    <a:p>
                      <a:r>
                        <a:rPr lang="en-US" dirty="0">
                          <a:latin typeface="Arial" panose="020B0604020202020204" pitchFamily="34" charset="0"/>
                          <a:cs typeface="Arial" panose="020B0604020202020204" pitchFamily="34" charset="0"/>
                        </a:rPr>
                        <a:t>Boulders</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&gt; 256 </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&lt; -8</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&gt; 8 </a:t>
                      </a:r>
                    </a:p>
                  </a:txBody>
                  <a:tcPr>
                    <a:lnL w="28575"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4043115637"/>
                  </a:ext>
                </a:extLst>
              </a:tr>
              <a:tr h="370840">
                <a:tc>
                  <a:txBody>
                    <a:bodyPr/>
                    <a:lstStyle/>
                    <a:p>
                      <a:r>
                        <a:rPr lang="en-US" dirty="0">
                          <a:latin typeface="Arial" panose="020B0604020202020204" pitchFamily="34" charset="0"/>
                          <a:cs typeface="Arial" panose="020B0604020202020204" pitchFamily="34" charset="0"/>
                        </a:rPr>
                        <a:t>Cobbles and pebbles</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64 ~ 256</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-8 ~ -6</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6 ~ 8</a:t>
                      </a:r>
                    </a:p>
                  </a:txBody>
                  <a:tcPr>
                    <a:lnL w="28575"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2709013055"/>
                  </a:ext>
                </a:extLst>
              </a:tr>
              <a:tr h="370840">
                <a:tc>
                  <a:txBody>
                    <a:bodyPr/>
                    <a:lstStyle/>
                    <a:p>
                      <a:r>
                        <a:rPr lang="en-US" dirty="0">
                          <a:latin typeface="Arial" panose="020B0604020202020204" pitchFamily="34" charset="0"/>
                          <a:cs typeface="Arial" panose="020B0604020202020204" pitchFamily="34" charset="0"/>
                        </a:rPr>
                        <a:t>Gravel</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2 ~ 64</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-6 ~ -1</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1 ~ 6</a:t>
                      </a:r>
                    </a:p>
                  </a:txBody>
                  <a:tcPr>
                    <a:lnL w="28575"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2997436971"/>
                  </a:ext>
                </a:extLst>
              </a:tr>
              <a:tr h="370840">
                <a:tc>
                  <a:txBody>
                    <a:bodyPr/>
                    <a:lstStyle/>
                    <a:p>
                      <a:r>
                        <a:rPr lang="en-US" dirty="0">
                          <a:latin typeface="Arial" panose="020B0604020202020204" pitchFamily="34" charset="0"/>
                          <a:cs typeface="Arial" panose="020B0604020202020204" pitchFamily="34" charset="0"/>
                        </a:rPr>
                        <a:t>Sand</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0.0625 ~ 2</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-1 ~ 4</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1 ~ -4</a:t>
                      </a:r>
                    </a:p>
                  </a:txBody>
                  <a:tcPr>
                    <a:lnL w="28575"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4068061639"/>
                  </a:ext>
                </a:extLst>
              </a:tr>
              <a:tr h="370840">
                <a:tc>
                  <a:txBody>
                    <a:bodyPr/>
                    <a:lstStyle/>
                    <a:p>
                      <a:r>
                        <a:rPr lang="en-US" dirty="0">
                          <a:latin typeface="Arial" panose="020B0604020202020204" pitchFamily="34" charset="0"/>
                          <a:cs typeface="Arial" panose="020B0604020202020204" pitchFamily="34" charset="0"/>
                        </a:rPr>
                        <a:t>Silt</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0.002 ~ 0.0625</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4 ~ 9</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-4 ~ -9</a:t>
                      </a:r>
                    </a:p>
                  </a:txBody>
                  <a:tcPr>
                    <a:lnL w="28575"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3119241577"/>
                  </a:ext>
                </a:extLst>
              </a:tr>
              <a:tr h="370840">
                <a:tc>
                  <a:txBody>
                    <a:bodyPr/>
                    <a:lstStyle/>
                    <a:p>
                      <a:r>
                        <a:rPr lang="en-US" dirty="0">
                          <a:latin typeface="Arial" panose="020B0604020202020204" pitchFamily="34" charset="0"/>
                          <a:cs typeface="Arial" panose="020B0604020202020204" pitchFamily="34" charset="0"/>
                        </a:rPr>
                        <a:t>Clay</a:t>
                      </a:r>
                    </a:p>
                  </a:txBody>
                  <a:tcPr>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&lt; 0.002</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&gt; 9</a:t>
                      </a:r>
                    </a:p>
                  </a:txBody>
                  <a:tcPr>
                    <a:lnL w="28575" cap="flat" cmpd="sng" algn="ctr">
                      <a:solidFill>
                        <a:schemeClr val="accent4"/>
                      </a:solidFill>
                      <a:prstDash val="solid"/>
                      <a:round/>
                      <a:headEnd type="none" w="med" len="med"/>
                      <a:tailEnd type="none" w="med" len="med"/>
                    </a:lnL>
                    <a:lnR w="28575" cap="flat" cmpd="sng" algn="ctr">
                      <a:solidFill>
                        <a:schemeClr val="accent4"/>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&lt; -9 </a:t>
                      </a:r>
                    </a:p>
                  </a:txBody>
                  <a:tcPr>
                    <a:lnL w="28575"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1922958075"/>
                  </a:ext>
                </a:extLst>
              </a:tr>
            </a:tbl>
          </a:graphicData>
        </a:graphic>
      </p:graphicFrame>
      <p:sp>
        <p:nvSpPr>
          <p:cNvPr id="13" name="TextBox 12">
            <a:extLst>
              <a:ext uri="{FF2B5EF4-FFF2-40B4-BE49-F238E27FC236}">
                <a16:creationId xmlns:a16="http://schemas.microsoft.com/office/drawing/2014/main" id="{D89616E3-B1B1-7A48-9E22-9A22A50C7245}"/>
              </a:ext>
            </a:extLst>
          </p:cNvPr>
          <p:cNvSpPr txBox="1"/>
          <p:nvPr/>
        </p:nvSpPr>
        <p:spPr>
          <a:xfrm>
            <a:off x="9182100" y="2962434"/>
            <a:ext cx="1737946" cy="28623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Numbers for sand and gravel that we can easily use.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coarsest the grain size, the largest the diameter on the </a:t>
            </a:r>
            <a:r>
              <a:rPr lang="en-US" dirty="0">
                <a:latin typeface="Symbol" pitchFamily="2" charset="2"/>
                <a:cs typeface="Arial" panose="020B0604020202020204" pitchFamily="34" charset="0"/>
              </a:rPr>
              <a:t>y</a:t>
            </a:r>
            <a:r>
              <a:rPr lang="en-US" dirty="0">
                <a:latin typeface="Arial" panose="020B0604020202020204" pitchFamily="34" charset="0"/>
                <a:cs typeface="Arial" panose="020B0604020202020204" pitchFamily="34" charset="0"/>
              </a:rPr>
              <a:t> scale </a:t>
            </a:r>
          </a:p>
        </p:txBody>
      </p:sp>
      <p:sp>
        <p:nvSpPr>
          <p:cNvPr id="2" name="Slide Number Placeholder 1">
            <a:extLst>
              <a:ext uri="{FF2B5EF4-FFF2-40B4-BE49-F238E27FC236}">
                <a16:creationId xmlns:a16="http://schemas.microsoft.com/office/drawing/2014/main" id="{816DD52A-12E4-B024-DAF1-2E8EA56870D6}"/>
              </a:ext>
            </a:extLst>
          </p:cNvPr>
          <p:cNvSpPr>
            <a:spLocks noGrp="1"/>
          </p:cNvSpPr>
          <p:nvPr>
            <p:ph type="sldNum" sz="quarter" idx="12"/>
          </p:nvPr>
        </p:nvSpPr>
        <p:spPr/>
        <p:txBody>
          <a:bodyPr/>
          <a:lstStyle/>
          <a:p>
            <a:fld id="{2386C454-E1BD-5A43-901A-CA4ACC7380B7}" type="slidenum">
              <a:rPr lang="en-US" smtClean="0"/>
              <a:t>28</a:t>
            </a:fld>
            <a:endParaRPr lang="en-US"/>
          </a:p>
        </p:txBody>
      </p:sp>
    </p:spTree>
    <p:extLst>
      <p:ext uri="{BB962C8B-B14F-4D97-AF65-F5344CB8AC3E}">
        <p14:creationId xmlns:p14="http://schemas.microsoft.com/office/powerpoint/2010/main" val="3186147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Sieve analysis</a:t>
            </a:r>
          </a:p>
        </p:txBody>
      </p:sp>
      <p:pic>
        <p:nvPicPr>
          <p:cNvPr id="6" name="Picture 5">
            <a:extLst>
              <a:ext uri="{FF2B5EF4-FFF2-40B4-BE49-F238E27FC236}">
                <a16:creationId xmlns:a16="http://schemas.microsoft.com/office/drawing/2014/main" id="{14C1BC55-5AF0-AE46-81F2-BB8D0FD45E7D}"/>
              </a:ext>
            </a:extLst>
          </p:cNvPr>
          <p:cNvPicPr>
            <a:picLocks noChangeAspect="1"/>
          </p:cNvPicPr>
          <p:nvPr/>
        </p:nvPicPr>
        <p:blipFill>
          <a:blip r:embed="rId2"/>
          <a:stretch>
            <a:fillRect/>
          </a:stretch>
        </p:blipFill>
        <p:spPr>
          <a:xfrm>
            <a:off x="171724" y="1258705"/>
            <a:ext cx="4888578" cy="2074804"/>
          </a:xfrm>
          <a:prstGeom prst="rect">
            <a:avLst/>
          </a:prstGeom>
        </p:spPr>
      </p:pic>
      <p:sp>
        <p:nvSpPr>
          <p:cNvPr id="10" name="TextBox 9">
            <a:extLst>
              <a:ext uri="{FF2B5EF4-FFF2-40B4-BE49-F238E27FC236}">
                <a16:creationId xmlns:a16="http://schemas.microsoft.com/office/drawing/2014/main" id="{9C202467-2CC4-1F4E-B6FB-C5136D81B715}"/>
              </a:ext>
            </a:extLst>
          </p:cNvPr>
          <p:cNvSpPr txBox="1"/>
          <p:nvPr/>
        </p:nvSpPr>
        <p:spPr>
          <a:xfrm>
            <a:off x="1064871" y="3518704"/>
            <a:ext cx="1064871" cy="369332"/>
          </a:xfrm>
          <a:prstGeom prst="rect">
            <a:avLst/>
          </a:prstGeom>
          <a:noFill/>
        </p:spPr>
        <p:txBody>
          <a:bodyPr wrap="square" rtlCol="0">
            <a:spAutoFit/>
          </a:bodyPr>
          <a:lstStyle/>
          <a:p>
            <a:r>
              <a:rPr lang="en-US" dirty="0"/>
              <a:t>Sieves</a:t>
            </a:r>
          </a:p>
        </p:txBody>
      </p:sp>
      <p:pic>
        <p:nvPicPr>
          <p:cNvPr id="3" name="Picture 2" descr="A picture containing text, kitchen appliance&#10;&#10;Description automatically generated">
            <a:extLst>
              <a:ext uri="{FF2B5EF4-FFF2-40B4-BE49-F238E27FC236}">
                <a16:creationId xmlns:a16="http://schemas.microsoft.com/office/drawing/2014/main" id="{C5C6206F-C230-C64A-A6CD-ED9189CE7C0F}"/>
              </a:ext>
            </a:extLst>
          </p:cNvPr>
          <p:cNvPicPr>
            <a:picLocks noChangeAspect="1"/>
          </p:cNvPicPr>
          <p:nvPr/>
        </p:nvPicPr>
        <p:blipFill>
          <a:blip r:embed="rId3"/>
          <a:stretch>
            <a:fillRect/>
          </a:stretch>
        </p:blipFill>
        <p:spPr>
          <a:xfrm>
            <a:off x="5168301" y="1029832"/>
            <a:ext cx="1538227" cy="4101939"/>
          </a:xfrm>
          <a:prstGeom prst="rect">
            <a:avLst/>
          </a:prstGeom>
        </p:spPr>
      </p:pic>
      <p:sp>
        <p:nvSpPr>
          <p:cNvPr id="8" name="TextBox 7">
            <a:extLst>
              <a:ext uri="{FF2B5EF4-FFF2-40B4-BE49-F238E27FC236}">
                <a16:creationId xmlns:a16="http://schemas.microsoft.com/office/drawing/2014/main" id="{9B693347-ACCB-664F-912B-8E3EB6416281}"/>
              </a:ext>
            </a:extLst>
          </p:cNvPr>
          <p:cNvSpPr txBox="1"/>
          <p:nvPr/>
        </p:nvSpPr>
        <p:spPr>
          <a:xfrm>
            <a:off x="5404978" y="5132526"/>
            <a:ext cx="1064871" cy="369332"/>
          </a:xfrm>
          <a:prstGeom prst="rect">
            <a:avLst/>
          </a:prstGeom>
          <a:noFill/>
        </p:spPr>
        <p:txBody>
          <a:bodyPr wrap="square" rtlCol="0">
            <a:spAutoFit/>
          </a:bodyPr>
          <a:lstStyle/>
          <a:p>
            <a:r>
              <a:rPr lang="en-US" dirty="0"/>
              <a:t>Shaker</a:t>
            </a:r>
          </a:p>
        </p:txBody>
      </p:sp>
      <p:sp>
        <p:nvSpPr>
          <p:cNvPr id="9" name="TextBox 8">
            <a:extLst>
              <a:ext uri="{FF2B5EF4-FFF2-40B4-BE49-F238E27FC236}">
                <a16:creationId xmlns:a16="http://schemas.microsoft.com/office/drawing/2014/main" id="{6CA48E9A-59CF-104F-A64F-66D27DB55BEC}"/>
              </a:ext>
            </a:extLst>
          </p:cNvPr>
          <p:cNvSpPr txBox="1"/>
          <p:nvPr/>
        </p:nvSpPr>
        <p:spPr>
          <a:xfrm>
            <a:off x="7396223" y="706666"/>
            <a:ext cx="4710896"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assume that our sample weights 500 gr and the sieve opening (</a:t>
            </a:r>
            <a:r>
              <a:rPr lang="en-US" dirty="0" err="1">
                <a:latin typeface="Arial" panose="020B0604020202020204" pitchFamily="34" charset="0"/>
                <a:cs typeface="Arial" panose="020B0604020202020204" pitchFamily="34" charset="0"/>
              </a:rPr>
              <a:t>D</a:t>
            </a:r>
            <a:r>
              <a:rPr lang="en-US" baseline="-25000" dirty="0" err="1">
                <a:latin typeface="Arial" panose="020B0604020202020204" pitchFamily="34" charset="0"/>
                <a:cs typeface="Arial" panose="020B0604020202020204" pitchFamily="34" charset="0"/>
              </a:rPr>
              <a:t>b,i</a:t>
            </a:r>
            <a:r>
              <a:rPr lang="en-US" dirty="0">
                <a:latin typeface="Arial" panose="020B0604020202020204" pitchFamily="34" charset="0"/>
                <a:cs typeface="Arial" panose="020B0604020202020204" pitchFamily="34" charset="0"/>
              </a:rPr>
              <a:t>) are reported below</a:t>
            </a:r>
          </a:p>
        </p:txBody>
      </p:sp>
      <p:graphicFrame>
        <p:nvGraphicFramePr>
          <p:cNvPr id="2" name="Table 1">
            <a:extLst>
              <a:ext uri="{FF2B5EF4-FFF2-40B4-BE49-F238E27FC236}">
                <a16:creationId xmlns:a16="http://schemas.microsoft.com/office/drawing/2014/main" id="{5677EDAE-FD89-7643-A143-4D77447ED67D}"/>
              </a:ext>
            </a:extLst>
          </p:cNvPr>
          <p:cNvGraphicFramePr>
            <a:graphicFrameLocks noGrp="1"/>
          </p:cNvGraphicFramePr>
          <p:nvPr>
            <p:extLst>
              <p:ext uri="{D42A27DB-BD31-4B8C-83A1-F6EECF244321}">
                <p14:modId xmlns:p14="http://schemas.microsoft.com/office/powerpoint/2010/main" val="3333335240"/>
              </p:ext>
            </p:extLst>
          </p:nvPr>
        </p:nvGraphicFramePr>
        <p:xfrm>
          <a:off x="7481265" y="1587259"/>
          <a:ext cx="1651000" cy="34925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3319210452"/>
                    </a:ext>
                  </a:extLst>
                </a:gridCol>
                <a:gridCol w="825500">
                  <a:extLst>
                    <a:ext uri="{9D8B030D-6E8A-4147-A177-3AD203B41FA5}">
                      <a16:colId xmlns:a16="http://schemas.microsoft.com/office/drawing/2014/main" val="4082363623"/>
                    </a:ext>
                  </a:extLst>
                </a:gridCol>
              </a:tblGrid>
              <a:tr h="279400">
                <a:tc>
                  <a:txBody>
                    <a:bodyPr/>
                    <a:lstStyle/>
                    <a:p>
                      <a:pPr algn="ctr" rtl="0" fontAlgn="ctr"/>
                      <a:r>
                        <a:rPr lang="en-US" sz="1400" u="none" strike="noStrike">
                          <a:effectLst/>
                        </a:rPr>
                        <a:t>i</a:t>
                      </a:r>
                      <a:endParaRPr lang="en-US" sz="1400" b="0" i="0" u="none" strike="noStrike">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3726334058"/>
                  </a:ext>
                </a:extLst>
              </a:tr>
              <a:tr h="304800">
                <a:tc>
                  <a:txBody>
                    <a:bodyPr/>
                    <a:lstStyle/>
                    <a:p>
                      <a:pPr algn="ctr" fontAlgn="b"/>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948909903"/>
                  </a:ext>
                </a:extLst>
              </a:tr>
              <a:tr h="241300">
                <a:tc>
                  <a:txBody>
                    <a:bodyPr/>
                    <a:lstStyle/>
                    <a:p>
                      <a:pPr algn="r" rtl="0" fontAlgn="b"/>
                      <a:r>
                        <a:rPr lang="en-US" sz="1400" u="none" strike="noStrike">
                          <a:effectLst/>
                        </a:rPr>
                        <a:t>11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0.84</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733582490"/>
                  </a:ext>
                </a:extLst>
              </a:tr>
              <a:tr h="241300">
                <a:tc>
                  <a:txBody>
                    <a:bodyPr/>
                    <a:lstStyle/>
                    <a:p>
                      <a:pPr algn="r" rtl="0" fontAlgn="b"/>
                      <a:r>
                        <a:rPr lang="en-US" sz="1400" u="none" strike="noStrike">
                          <a:effectLst/>
                        </a:rPr>
                        <a:t>10</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34323575"/>
                  </a:ext>
                </a:extLst>
              </a:tr>
              <a:tr h="241300">
                <a:tc>
                  <a:txBody>
                    <a:bodyPr/>
                    <a:lstStyle/>
                    <a:p>
                      <a:pPr algn="r" rtl="0" fontAlgn="b"/>
                      <a:r>
                        <a:rPr lang="en-US" sz="1400" u="none" strike="noStrike">
                          <a:effectLst/>
                        </a:rPr>
                        <a:t>9</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839381097"/>
                  </a:ext>
                </a:extLst>
              </a:tr>
              <a:tr h="241300">
                <a:tc>
                  <a:txBody>
                    <a:bodyPr/>
                    <a:lstStyle/>
                    <a:p>
                      <a:pPr algn="r" rtl="0" fontAlgn="b"/>
                      <a:r>
                        <a:rPr lang="en-US" sz="1400" u="none" strike="noStrike">
                          <a:effectLst/>
                        </a:rPr>
                        <a:t>8</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0.36</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334255482"/>
                  </a:ext>
                </a:extLst>
              </a:tr>
              <a:tr h="241300">
                <a:tc>
                  <a:txBody>
                    <a:bodyPr/>
                    <a:lstStyle/>
                    <a:p>
                      <a:pPr algn="r" rtl="0" fontAlgn="b"/>
                      <a:r>
                        <a:rPr lang="en-US" sz="1400" u="none" strike="noStrike">
                          <a:effectLst/>
                        </a:rPr>
                        <a:t>7</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0.3</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974284657"/>
                  </a:ext>
                </a:extLst>
              </a:tr>
              <a:tr h="241300">
                <a:tc>
                  <a:txBody>
                    <a:bodyPr/>
                    <a:lstStyle/>
                    <a:p>
                      <a:pPr algn="r" rtl="0" fontAlgn="b"/>
                      <a:r>
                        <a:rPr lang="en-US" sz="1400" u="none" strike="noStrike">
                          <a:effectLst/>
                        </a:rPr>
                        <a:t>6</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92352660"/>
                  </a:ext>
                </a:extLst>
              </a:tr>
              <a:tr h="241300">
                <a:tc>
                  <a:txBody>
                    <a:bodyPr/>
                    <a:lstStyle/>
                    <a:p>
                      <a:pPr algn="r" rtl="0" fontAlgn="b"/>
                      <a:r>
                        <a:rPr lang="en-US" sz="1400" u="none" strike="noStrike">
                          <a:effectLst/>
                        </a:rPr>
                        <a:t>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50428188"/>
                  </a:ext>
                </a:extLst>
              </a:tr>
              <a:tr h="241300">
                <a:tc>
                  <a:txBody>
                    <a:bodyPr/>
                    <a:lstStyle/>
                    <a:p>
                      <a:pPr algn="r" rtl="0" fontAlgn="b"/>
                      <a:r>
                        <a:rPr lang="en-US" sz="1400" u="none" strike="noStrike">
                          <a:effectLst/>
                        </a:rPr>
                        <a:t>4</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0.18</a:t>
                      </a:r>
                      <a:endParaRPr lang="en-US"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201987068"/>
                  </a:ext>
                </a:extLst>
              </a:tr>
              <a:tr h="241300">
                <a:tc>
                  <a:txBody>
                    <a:bodyPr/>
                    <a:lstStyle/>
                    <a:p>
                      <a:pPr algn="r" rtl="0" fontAlgn="b"/>
                      <a:r>
                        <a:rPr lang="en-US" sz="1400" u="none" strike="noStrike">
                          <a:effectLst/>
                        </a:rPr>
                        <a:t>3</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588965748"/>
                  </a:ext>
                </a:extLst>
              </a:tr>
              <a:tr h="241300">
                <a:tc>
                  <a:txBody>
                    <a:bodyPr/>
                    <a:lstStyle/>
                    <a:p>
                      <a:pPr algn="r" rtl="0" fontAlgn="b"/>
                      <a:r>
                        <a:rPr lang="en-US" sz="1400" u="none" strike="noStrike">
                          <a:effectLst/>
                        </a:rPr>
                        <a:t>2</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54695321"/>
                  </a:ext>
                </a:extLst>
              </a:tr>
              <a:tr h="241300">
                <a:tc>
                  <a:txBody>
                    <a:bodyPr/>
                    <a:lstStyle/>
                    <a:p>
                      <a:pPr algn="r" rtl="0" fontAlgn="b"/>
                      <a:r>
                        <a:rPr lang="en-US" sz="1400" u="none" strike="noStrike">
                          <a:effectLst/>
                        </a:rPr>
                        <a:t>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0.11</a:t>
                      </a:r>
                      <a:endParaRPr lang="en-US"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084241704"/>
                  </a:ext>
                </a:extLst>
              </a:tr>
              <a:tr h="254000">
                <a:tc>
                  <a:txBody>
                    <a:bodyPr/>
                    <a:lstStyle/>
                    <a:p>
                      <a:pPr algn="r" rtl="0" fontAlgn="b"/>
                      <a:r>
                        <a:rPr lang="en-US" sz="1400" u="none" strike="noStrike">
                          <a:effectLst/>
                        </a:rPr>
                        <a:t>0</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PAN</a:t>
                      </a:r>
                      <a:endParaRPr lang="en-US"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204947765"/>
                  </a:ext>
                </a:extLst>
              </a:tr>
            </a:tbl>
          </a:graphicData>
        </a:graphic>
      </p:graphicFrame>
      <p:sp>
        <p:nvSpPr>
          <p:cNvPr id="7" name="Slide Number Placeholder 6">
            <a:extLst>
              <a:ext uri="{FF2B5EF4-FFF2-40B4-BE49-F238E27FC236}">
                <a16:creationId xmlns:a16="http://schemas.microsoft.com/office/drawing/2014/main" id="{4DB20674-C5B0-2D96-F109-BD627FD88CF5}"/>
              </a:ext>
            </a:extLst>
          </p:cNvPr>
          <p:cNvSpPr>
            <a:spLocks noGrp="1"/>
          </p:cNvSpPr>
          <p:nvPr>
            <p:ph type="sldNum" sz="quarter" idx="12"/>
          </p:nvPr>
        </p:nvSpPr>
        <p:spPr/>
        <p:txBody>
          <a:bodyPr/>
          <a:lstStyle/>
          <a:p>
            <a:fld id="{2386C454-E1BD-5A43-901A-CA4ACC7380B7}" type="slidenum">
              <a:rPr lang="en-US" smtClean="0"/>
              <a:t>29</a:t>
            </a:fld>
            <a:endParaRPr lang="en-US"/>
          </a:p>
        </p:txBody>
      </p:sp>
    </p:spTree>
    <p:extLst>
      <p:ext uri="{BB962C8B-B14F-4D97-AF65-F5344CB8AC3E}">
        <p14:creationId xmlns:p14="http://schemas.microsoft.com/office/powerpoint/2010/main" val="2417462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BC835C32-BEE8-074E-8689-99AB7C13F1D7}"/>
              </a:ext>
            </a:extLst>
          </p:cNvPr>
          <p:cNvGraphicFramePr>
            <a:graphicFrameLocks noGrp="1"/>
          </p:cNvGraphicFramePr>
          <p:nvPr>
            <p:extLst>
              <p:ext uri="{D42A27DB-BD31-4B8C-83A1-F6EECF244321}">
                <p14:modId xmlns:p14="http://schemas.microsoft.com/office/powerpoint/2010/main" val="3142808923"/>
              </p:ext>
            </p:extLst>
          </p:nvPr>
        </p:nvGraphicFramePr>
        <p:xfrm>
          <a:off x="7482550" y="1598834"/>
          <a:ext cx="2476500" cy="34925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476959172"/>
                    </a:ext>
                  </a:extLst>
                </a:gridCol>
                <a:gridCol w="825500">
                  <a:extLst>
                    <a:ext uri="{9D8B030D-6E8A-4147-A177-3AD203B41FA5}">
                      <a16:colId xmlns:a16="http://schemas.microsoft.com/office/drawing/2014/main" val="4028027892"/>
                    </a:ext>
                  </a:extLst>
                </a:gridCol>
                <a:gridCol w="825500">
                  <a:extLst>
                    <a:ext uri="{9D8B030D-6E8A-4147-A177-3AD203B41FA5}">
                      <a16:colId xmlns:a16="http://schemas.microsoft.com/office/drawing/2014/main" val="268901911"/>
                    </a:ext>
                  </a:extLst>
                </a:gridCol>
              </a:tblGrid>
              <a:tr h="279400">
                <a:tc>
                  <a:txBody>
                    <a:bodyPr/>
                    <a:lstStyle/>
                    <a:p>
                      <a:pPr algn="ctr" rtl="0" fontAlgn="ctr"/>
                      <a:r>
                        <a:rPr lang="en-US" sz="1400" u="none" strike="noStrike">
                          <a:effectLst/>
                        </a:rPr>
                        <a:t>i</a:t>
                      </a:r>
                      <a:endParaRPr lang="en-US" sz="1400" b="0" i="0" u="none" strike="noStrike">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400" u="none" strike="noStrike">
                          <a:effectLst/>
                        </a:rPr>
                        <a:t>W</a:t>
                      </a:r>
                      <a:r>
                        <a:rPr lang="en-US" sz="1400" u="none" strike="noStrike" baseline="-25000">
                          <a:effectLst/>
                        </a:rPr>
                        <a:t>retained</a:t>
                      </a:r>
                      <a:endParaRPr lang="en-US" sz="14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1885556023"/>
                  </a:ext>
                </a:extLst>
              </a:tr>
              <a:tr h="304800">
                <a:tc>
                  <a:txBody>
                    <a:bodyPr/>
                    <a:lstStyle/>
                    <a:p>
                      <a:pPr algn="ctr" fontAlgn="b"/>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ctr" rtl="0" fontAlgn="b"/>
                      <a:r>
                        <a:rPr lang="en-US" sz="1400" u="none" strike="noStrike">
                          <a:effectLst/>
                        </a:rPr>
                        <a:t>gr</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908053655"/>
                  </a:ext>
                </a:extLst>
              </a:tr>
              <a:tr h="241300">
                <a:tc>
                  <a:txBody>
                    <a:bodyPr/>
                    <a:lstStyle/>
                    <a:p>
                      <a:pPr algn="r" rtl="0" fontAlgn="b"/>
                      <a:r>
                        <a:rPr lang="en-US" sz="1400" u="none" strike="noStrike">
                          <a:effectLst/>
                        </a:rPr>
                        <a:t>11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0.84</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69.5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15974204"/>
                  </a:ext>
                </a:extLst>
              </a:tr>
              <a:tr h="241300">
                <a:tc>
                  <a:txBody>
                    <a:bodyPr/>
                    <a:lstStyle/>
                    <a:p>
                      <a:pPr algn="r" rtl="0" fontAlgn="b"/>
                      <a:r>
                        <a:rPr lang="en-US" sz="1400" u="none" strike="noStrike">
                          <a:effectLst/>
                        </a:rPr>
                        <a:t>10</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26.5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027650947"/>
                  </a:ext>
                </a:extLst>
              </a:tr>
              <a:tr h="241300">
                <a:tc>
                  <a:txBody>
                    <a:bodyPr/>
                    <a:lstStyle/>
                    <a:p>
                      <a:pPr algn="r" rtl="0" fontAlgn="b"/>
                      <a:r>
                        <a:rPr lang="en-US" sz="1400" u="none" strike="noStrike">
                          <a:effectLst/>
                        </a:rPr>
                        <a:t>9</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146.5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106456565"/>
                  </a:ext>
                </a:extLst>
              </a:tr>
              <a:tr h="241300">
                <a:tc>
                  <a:txBody>
                    <a:bodyPr/>
                    <a:lstStyle/>
                    <a:p>
                      <a:pPr algn="r" rtl="0" fontAlgn="b"/>
                      <a:r>
                        <a:rPr lang="en-US" sz="1400" u="none" strike="noStrike" dirty="0">
                          <a:effectLst/>
                        </a:rPr>
                        <a:t>8</a:t>
                      </a:r>
                      <a:endParaRPr lang="en-US" sz="1400" b="0" i="0" u="none" strike="noStrike" dirty="0">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0.36</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69.5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148634975"/>
                  </a:ext>
                </a:extLst>
              </a:tr>
              <a:tr h="241300">
                <a:tc>
                  <a:txBody>
                    <a:bodyPr/>
                    <a:lstStyle/>
                    <a:p>
                      <a:pPr algn="r" rtl="0" fontAlgn="b"/>
                      <a:r>
                        <a:rPr lang="en-US" sz="1400" u="none" strike="noStrike">
                          <a:effectLst/>
                        </a:rPr>
                        <a:t>7</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0.3</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26</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962024063"/>
                  </a:ext>
                </a:extLst>
              </a:tr>
              <a:tr h="241300">
                <a:tc>
                  <a:txBody>
                    <a:bodyPr/>
                    <a:lstStyle/>
                    <a:p>
                      <a:pPr algn="r" rtl="0" fontAlgn="b"/>
                      <a:r>
                        <a:rPr lang="en-US" sz="1400" u="none" strike="noStrike">
                          <a:effectLst/>
                        </a:rPr>
                        <a:t>6</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35</a:t>
                      </a:r>
                      <a:endParaRPr lang="en-US"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110004787"/>
                  </a:ext>
                </a:extLst>
              </a:tr>
              <a:tr h="241300">
                <a:tc>
                  <a:txBody>
                    <a:bodyPr/>
                    <a:lstStyle/>
                    <a:p>
                      <a:pPr algn="r" rtl="0" fontAlgn="b"/>
                      <a:r>
                        <a:rPr lang="en-US" sz="1400" u="none" strike="noStrike">
                          <a:effectLst/>
                        </a:rPr>
                        <a:t>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36.5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801079417"/>
                  </a:ext>
                </a:extLst>
              </a:tr>
              <a:tr h="241300">
                <a:tc>
                  <a:txBody>
                    <a:bodyPr/>
                    <a:lstStyle/>
                    <a:p>
                      <a:pPr algn="r" rtl="0" fontAlgn="b"/>
                      <a:r>
                        <a:rPr lang="en-US" sz="1400" u="none" strike="noStrike">
                          <a:effectLst/>
                        </a:rPr>
                        <a:t>4</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24.5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36880711"/>
                  </a:ext>
                </a:extLst>
              </a:tr>
              <a:tr h="241300">
                <a:tc>
                  <a:txBody>
                    <a:bodyPr/>
                    <a:lstStyle/>
                    <a:p>
                      <a:pPr algn="r" rtl="0" fontAlgn="b"/>
                      <a:r>
                        <a:rPr lang="en-US" sz="1400" u="none" strike="noStrike">
                          <a:effectLst/>
                        </a:rPr>
                        <a:t>3</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29.5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489136676"/>
                  </a:ext>
                </a:extLst>
              </a:tr>
              <a:tr h="241300">
                <a:tc>
                  <a:txBody>
                    <a:bodyPr/>
                    <a:lstStyle/>
                    <a:p>
                      <a:pPr algn="r" rtl="0" fontAlgn="b"/>
                      <a:r>
                        <a:rPr lang="en-US" sz="1400" u="none" strike="noStrike">
                          <a:effectLst/>
                        </a:rPr>
                        <a:t>2</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13.5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407354288"/>
                  </a:ext>
                </a:extLst>
              </a:tr>
              <a:tr h="241300">
                <a:tc>
                  <a:txBody>
                    <a:bodyPr/>
                    <a:lstStyle/>
                    <a:p>
                      <a:pPr algn="r" rtl="0" fontAlgn="b"/>
                      <a:r>
                        <a:rPr lang="en-US" sz="1400" u="none" strike="noStrike">
                          <a:effectLst/>
                        </a:rPr>
                        <a:t>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11</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73970196"/>
                  </a:ext>
                </a:extLst>
              </a:tr>
              <a:tr h="254000">
                <a:tc>
                  <a:txBody>
                    <a:bodyPr/>
                    <a:lstStyle/>
                    <a:p>
                      <a:pPr algn="r" rtl="0" fontAlgn="b"/>
                      <a:r>
                        <a:rPr lang="en-US" sz="1400" u="none" strike="noStrike">
                          <a:effectLst/>
                        </a:rPr>
                        <a:t>0</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PAN</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12</a:t>
                      </a:r>
                      <a:endParaRPr lang="en-US"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09693783"/>
                  </a:ext>
                </a:extLst>
              </a:tr>
            </a:tbl>
          </a:graphicData>
        </a:graphic>
      </p:graphicFrame>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Sieve analysis</a:t>
            </a:r>
          </a:p>
        </p:txBody>
      </p:sp>
      <p:pic>
        <p:nvPicPr>
          <p:cNvPr id="6" name="Picture 5">
            <a:extLst>
              <a:ext uri="{FF2B5EF4-FFF2-40B4-BE49-F238E27FC236}">
                <a16:creationId xmlns:a16="http://schemas.microsoft.com/office/drawing/2014/main" id="{14C1BC55-5AF0-AE46-81F2-BB8D0FD45E7D}"/>
              </a:ext>
            </a:extLst>
          </p:cNvPr>
          <p:cNvPicPr>
            <a:picLocks noChangeAspect="1"/>
          </p:cNvPicPr>
          <p:nvPr/>
        </p:nvPicPr>
        <p:blipFill>
          <a:blip r:embed="rId2"/>
          <a:stretch>
            <a:fillRect/>
          </a:stretch>
        </p:blipFill>
        <p:spPr>
          <a:xfrm>
            <a:off x="171724" y="1258705"/>
            <a:ext cx="4888578" cy="2074804"/>
          </a:xfrm>
          <a:prstGeom prst="rect">
            <a:avLst/>
          </a:prstGeom>
        </p:spPr>
      </p:pic>
      <p:sp>
        <p:nvSpPr>
          <p:cNvPr id="10" name="TextBox 9">
            <a:extLst>
              <a:ext uri="{FF2B5EF4-FFF2-40B4-BE49-F238E27FC236}">
                <a16:creationId xmlns:a16="http://schemas.microsoft.com/office/drawing/2014/main" id="{9C202467-2CC4-1F4E-B6FB-C5136D81B715}"/>
              </a:ext>
            </a:extLst>
          </p:cNvPr>
          <p:cNvSpPr txBox="1"/>
          <p:nvPr/>
        </p:nvSpPr>
        <p:spPr>
          <a:xfrm>
            <a:off x="1064871" y="3518704"/>
            <a:ext cx="1064871" cy="369332"/>
          </a:xfrm>
          <a:prstGeom prst="rect">
            <a:avLst/>
          </a:prstGeom>
          <a:noFill/>
        </p:spPr>
        <p:txBody>
          <a:bodyPr wrap="square" rtlCol="0">
            <a:spAutoFit/>
          </a:bodyPr>
          <a:lstStyle/>
          <a:p>
            <a:r>
              <a:rPr lang="en-US" dirty="0"/>
              <a:t>Sieves</a:t>
            </a:r>
          </a:p>
        </p:txBody>
      </p:sp>
      <p:pic>
        <p:nvPicPr>
          <p:cNvPr id="3" name="Picture 2" descr="A picture containing text, kitchen appliance&#10;&#10;Description automatically generated">
            <a:extLst>
              <a:ext uri="{FF2B5EF4-FFF2-40B4-BE49-F238E27FC236}">
                <a16:creationId xmlns:a16="http://schemas.microsoft.com/office/drawing/2014/main" id="{C5C6206F-C230-C64A-A6CD-ED9189CE7C0F}"/>
              </a:ext>
            </a:extLst>
          </p:cNvPr>
          <p:cNvPicPr>
            <a:picLocks noChangeAspect="1"/>
          </p:cNvPicPr>
          <p:nvPr/>
        </p:nvPicPr>
        <p:blipFill>
          <a:blip r:embed="rId3"/>
          <a:stretch>
            <a:fillRect/>
          </a:stretch>
        </p:blipFill>
        <p:spPr>
          <a:xfrm>
            <a:off x="5168301" y="1029832"/>
            <a:ext cx="1538227" cy="4101939"/>
          </a:xfrm>
          <a:prstGeom prst="rect">
            <a:avLst/>
          </a:prstGeom>
        </p:spPr>
      </p:pic>
      <p:sp>
        <p:nvSpPr>
          <p:cNvPr id="8" name="TextBox 7">
            <a:extLst>
              <a:ext uri="{FF2B5EF4-FFF2-40B4-BE49-F238E27FC236}">
                <a16:creationId xmlns:a16="http://schemas.microsoft.com/office/drawing/2014/main" id="{9B693347-ACCB-664F-912B-8E3EB6416281}"/>
              </a:ext>
            </a:extLst>
          </p:cNvPr>
          <p:cNvSpPr txBox="1"/>
          <p:nvPr/>
        </p:nvSpPr>
        <p:spPr>
          <a:xfrm>
            <a:off x="5404978" y="5132526"/>
            <a:ext cx="1064871" cy="369332"/>
          </a:xfrm>
          <a:prstGeom prst="rect">
            <a:avLst/>
          </a:prstGeom>
          <a:noFill/>
        </p:spPr>
        <p:txBody>
          <a:bodyPr wrap="square" rtlCol="0">
            <a:spAutoFit/>
          </a:bodyPr>
          <a:lstStyle/>
          <a:p>
            <a:r>
              <a:rPr lang="en-US" dirty="0"/>
              <a:t>Shaker</a:t>
            </a:r>
          </a:p>
        </p:txBody>
      </p:sp>
      <p:sp>
        <p:nvSpPr>
          <p:cNvPr id="9" name="TextBox 8">
            <a:extLst>
              <a:ext uri="{FF2B5EF4-FFF2-40B4-BE49-F238E27FC236}">
                <a16:creationId xmlns:a16="http://schemas.microsoft.com/office/drawing/2014/main" id="{6CA48E9A-59CF-104F-A64F-66D27DB55BEC}"/>
              </a:ext>
            </a:extLst>
          </p:cNvPr>
          <p:cNvSpPr txBox="1"/>
          <p:nvPr/>
        </p:nvSpPr>
        <p:spPr>
          <a:xfrm>
            <a:off x="7396223" y="706666"/>
            <a:ext cx="471089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measure the weight of the sediment trapped on each sieve</a:t>
            </a:r>
          </a:p>
        </p:txBody>
      </p:sp>
      <p:sp>
        <p:nvSpPr>
          <p:cNvPr id="2" name="Slide Number Placeholder 1">
            <a:extLst>
              <a:ext uri="{FF2B5EF4-FFF2-40B4-BE49-F238E27FC236}">
                <a16:creationId xmlns:a16="http://schemas.microsoft.com/office/drawing/2014/main" id="{4A7DFA11-BC3F-67EB-FF7C-06ACE9A5DDD8}"/>
              </a:ext>
            </a:extLst>
          </p:cNvPr>
          <p:cNvSpPr>
            <a:spLocks noGrp="1"/>
          </p:cNvSpPr>
          <p:nvPr>
            <p:ph type="sldNum" sz="quarter" idx="12"/>
          </p:nvPr>
        </p:nvSpPr>
        <p:spPr/>
        <p:txBody>
          <a:bodyPr/>
          <a:lstStyle/>
          <a:p>
            <a:fld id="{2386C454-E1BD-5A43-901A-CA4ACC7380B7}" type="slidenum">
              <a:rPr lang="en-US" smtClean="0"/>
              <a:t>30</a:t>
            </a:fld>
            <a:endParaRPr lang="en-US"/>
          </a:p>
        </p:txBody>
      </p:sp>
    </p:spTree>
    <p:extLst>
      <p:ext uri="{BB962C8B-B14F-4D97-AF65-F5344CB8AC3E}">
        <p14:creationId xmlns:p14="http://schemas.microsoft.com/office/powerpoint/2010/main" val="3097881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Sieve analysis</a:t>
            </a:r>
          </a:p>
        </p:txBody>
      </p:sp>
      <p:pic>
        <p:nvPicPr>
          <p:cNvPr id="6" name="Picture 5">
            <a:extLst>
              <a:ext uri="{FF2B5EF4-FFF2-40B4-BE49-F238E27FC236}">
                <a16:creationId xmlns:a16="http://schemas.microsoft.com/office/drawing/2014/main" id="{14C1BC55-5AF0-AE46-81F2-BB8D0FD45E7D}"/>
              </a:ext>
            </a:extLst>
          </p:cNvPr>
          <p:cNvPicPr>
            <a:picLocks noChangeAspect="1"/>
          </p:cNvPicPr>
          <p:nvPr/>
        </p:nvPicPr>
        <p:blipFill>
          <a:blip r:embed="rId2"/>
          <a:stretch>
            <a:fillRect/>
          </a:stretch>
        </p:blipFill>
        <p:spPr>
          <a:xfrm>
            <a:off x="171724" y="1258705"/>
            <a:ext cx="4888578" cy="2074804"/>
          </a:xfrm>
          <a:prstGeom prst="rect">
            <a:avLst/>
          </a:prstGeom>
        </p:spPr>
      </p:pic>
      <p:sp>
        <p:nvSpPr>
          <p:cNvPr id="10" name="TextBox 9">
            <a:extLst>
              <a:ext uri="{FF2B5EF4-FFF2-40B4-BE49-F238E27FC236}">
                <a16:creationId xmlns:a16="http://schemas.microsoft.com/office/drawing/2014/main" id="{9C202467-2CC4-1F4E-B6FB-C5136D81B715}"/>
              </a:ext>
            </a:extLst>
          </p:cNvPr>
          <p:cNvSpPr txBox="1"/>
          <p:nvPr/>
        </p:nvSpPr>
        <p:spPr>
          <a:xfrm>
            <a:off x="1064871" y="3518704"/>
            <a:ext cx="1064871" cy="369332"/>
          </a:xfrm>
          <a:prstGeom prst="rect">
            <a:avLst/>
          </a:prstGeom>
          <a:noFill/>
        </p:spPr>
        <p:txBody>
          <a:bodyPr wrap="square" rtlCol="0">
            <a:spAutoFit/>
          </a:bodyPr>
          <a:lstStyle/>
          <a:p>
            <a:r>
              <a:rPr lang="en-US" dirty="0"/>
              <a:t>Sieves</a:t>
            </a:r>
          </a:p>
        </p:txBody>
      </p:sp>
      <p:pic>
        <p:nvPicPr>
          <p:cNvPr id="3" name="Picture 2" descr="A picture containing text, kitchen appliance&#10;&#10;Description automatically generated">
            <a:extLst>
              <a:ext uri="{FF2B5EF4-FFF2-40B4-BE49-F238E27FC236}">
                <a16:creationId xmlns:a16="http://schemas.microsoft.com/office/drawing/2014/main" id="{C5C6206F-C230-C64A-A6CD-ED9189CE7C0F}"/>
              </a:ext>
            </a:extLst>
          </p:cNvPr>
          <p:cNvPicPr>
            <a:picLocks noChangeAspect="1"/>
          </p:cNvPicPr>
          <p:nvPr/>
        </p:nvPicPr>
        <p:blipFill>
          <a:blip r:embed="rId3"/>
          <a:stretch>
            <a:fillRect/>
          </a:stretch>
        </p:blipFill>
        <p:spPr>
          <a:xfrm>
            <a:off x="5168301" y="1029832"/>
            <a:ext cx="1538227" cy="4101939"/>
          </a:xfrm>
          <a:prstGeom prst="rect">
            <a:avLst/>
          </a:prstGeom>
        </p:spPr>
      </p:pic>
      <p:sp>
        <p:nvSpPr>
          <p:cNvPr id="8" name="TextBox 7">
            <a:extLst>
              <a:ext uri="{FF2B5EF4-FFF2-40B4-BE49-F238E27FC236}">
                <a16:creationId xmlns:a16="http://schemas.microsoft.com/office/drawing/2014/main" id="{9B693347-ACCB-664F-912B-8E3EB6416281}"/>
              </a:ext>
            </a:extLst>
          </p:cNvPr>
          <p:cNvSpPr txBox="1"/>
          <p:nvPr/>
        </p:nvSpPr>
        <p:spPr>
          <a:xfrm>
            <a:off x="5404978" y="5132526"/>
            <a:ext cx="1064871" cy="369332"/>
          </a:xfrm>
          <a:prstGeom prst="rect">
            <a:avLst/>
          </a:prstGeom>
          <a:noFill/>
        </p:spPr>
        <p:txBody>
          <a:bodyPr wrap="square" rtlCol="0">
            <a:spAutoFit/>
          </a:bodyPr>
          <a:lstStyle/>
          <a:p>
            <a:r>
              <a:rPr lang="en-US" dirty="0"/>
              <a:t>Shaker</a:t>
            </a:r>
          </a:p>
        </p:txBody>
      </p:sp>
      <p:sp>
        <p:nvSpPr>
          <p:cNvPr id="9" name="TextBox 8">
            <a:extLst>
              <a:ext uri="{FF2B5EF4-FFF2-40B4-BE49-F238E27FC236}">
                <a16:creationId xmlns:a16="http://schemas.microsoft.com/office/drawing/2014/main" id="{6CA48E9A-59CF-104F-A64F-66D27DB55BEC}"/>
              </a:ext>
            </a:extLst>
          </p:cNvPr>
          <p:cNvSpPr txBox="1"/>
          <p:nvPr/>
        </p:nvSpPr>
        <p:spPr>
          <a:xfrm>
            <a:off x="7396222" y="706666"/>
            <a:ext cx="479577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compute the weight of the sediment passing through each sieve (finer than the sieve opening)</a:t>
            </a:r>
          </a:p>
        </p:txBody>
      </p:sp>
      <p:graphicFrame>
        <p:nvGraphicFramePr>
          <p:cNvPr id="2" name="Table 1">
            <a:extLst>
              <a:ext uri="{FF2B5EF4-FFF2-40B4-BE49-F238E27FC236}">
                <a16:creationId xmlns:a16="http://schemas.microsoft.com/office/drawing/2014/main" id="{039904E6-C4F9-C44F-8EA5-120767C8261F}"/>
              </a:ext>
            </a:extLst>
          </p:cNvPr>
          <p:cNvGraphicFramePr>
            <a:graphicFrameLocks noGrp="1"/>
          </p:cNvGraphicFramePr>
          <p:nvPr>
            <p:extLst>
              <p:ext uri="{D42A27DB-BD31-4B8C-83A1-F6EECF244321}">
                <p14:modId xmlns:p14="http://schemas.microsoft.com/office/powerpoint/2010/main" val="1435747014"/>
              </p:ext>
            </p:extLst>
          </p:nvPr>
        </p:nvGraphicFramePr>
        <p:xfrm>
          <a:off x="7489141" y="1610409"/>
          <a:ext cx="3302000" cy="34925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384949443"/>
                    </a:ext>
                  </a:extLst>
                </a:gridCol>
                <a:gridCol w="825500">
                  <a:extLst>
                    <a:ext uri="{9D8B030D-6E8A-4147-A177-3AD203B41FA5}">
                      <a16:colId xmlns:a16="http://schemas.microsoft.com/office/drawing/2014/main" val="2708245855"/>
                    </a:ext>
                  </a:extLst>
                </a:gridCol>
                <a:gridCol w="825500">
                  <a:extLst>
                    <a:ext uri="{9D8B030D-6E8A-4147-A177-3AD203B41FA5}">
                      <a16:colId xmlns:a16="http://schemas.microsoft.com/office/drawing/2014/main" val="983480036"/>
                    </a:ext>
                  </a:extLst>
                </a:gridCol>
                <a:gridCol w="825500">
                  <a:extLst>
                    <a:ext uri="{9D8B030D-6E8A-4147-A177-3AD203B41FA5}">
                      <a16:colId xmlns:a16="http://schemas.microsoft.com/office/drawing/2014/main" val="2674195940"/>
                    </a:ext>
                  </a:extLst>
                </a:gridCol>
              </a:tblGrid>
              <a:tr h="279400">
                <a:tc>
                  <a:txBody>
                    <a:bodyPr/>
                    <a:lstStyle/>
                    <a:p>
                      <a:pPr algn="ctr" rtl="0" fontAlgn="ctr"/>
                      <a:r>
                        <a:rPr lang="en-US" sz="1400" u="none" strike="noStrike">
                          <a:effectLst/>
                          <a:latin typeface="Arial" panose="020B0604020202020204" pitchFamily="34" charset="0"/>
                          <a:cs typeface="Arial" panose="020B0604020202020204" pitchFamily="34" charset="0"/>
                        </a:rPr>
                        <a:t>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D</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W</a:t>
                      </a:r>
                      <a:r>
                        <a:rPr lang="en-US" sz="1400" u="none" strike="noStrike" baseline="-25000">
                          <a:effectLst/>
                          <a:latin typeface="Arial" panose="020B0604020202020204" pitchFamily="34" charset="0"/>
                          <a:cs typeface="Arial" panose="020B0604020202020204" pitchFamily="34" charset="0"/>
                        </a:rPr>
                        <a:t>retained</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W</a:t>
                      </a:r>
                      <a:r>
                        <a:rPr lang="en-US" sz="1400" u="none" strike="noStrike" baseline="-25000">
                          <a:effectLst/>
                          <a:latin typeface="Arial" panose="020B0604020202020204" pitchFamily="34" charset="0"/>
                          <a:cs typeface="Arial" panose="020B0604020202020204" pitchFamily="34" charset="0"/>
                        </a:rPr>
                        <a:t>passing</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976209717"/>
                  </a:ext>
                </a:extLst>
              </a:tr>
              <a:tr h="304800">
                <a:tc>
                  <a:txBody>
                    <a:bodyPr/>
                    <a:lstStyle/>
                    <a:p>
                      <a:pPr algn="ctr" fontAlgn="b"/>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mm</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gr</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ctr"/>
                      <a:r>
                        <a:rPr lang="en-US" sz="1400" u="none" strike="noStrike">
                          <a:effectLst/>
                          <a:latin typeface="Arial" panose="020B0604020202020204" pitchFamily="34" charset="0"/>
                          <a:cs typeface="Arial" panose="020B0604020202020204" pitchFamily="34" charset="0"/>
                        </a:rPr>
                        <a:t>gr</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38641208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69.5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430.5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9089807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0.71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404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33606298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146.5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257.5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581191372"/>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69.5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188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424219013"/>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162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950923612"/>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127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291914316"/>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90.5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145883415"/>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24.5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66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21179985"/>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29.5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36.5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505852643"/>
                  </a:ext>
                </a:extLst>
              </a:tr>
              <a:tr h="241300">
                <a:tc>
                  <a:txBody>
                    <a:bodyPr/>
                    <a:lstStyle/>
                    <a:p>
                      <a:pPr algn="r" rtl="0" fontAlgn="b"/>
                      <a:r>
                        <a:rPr lang="en-US" sz="1400" u="none" strike="noStrike" dirty="0">
                          <a:effectLst/>
                          <a:latin typeface="Arial" panose="020B0604020202020204" pitchFamily="34" charset="0"/>
                          <a:cs typeface="Arial" panose="020B0604020202020204" pitchFamily="34" charset="0"/>
                        </a:rPr>
                        <a:t>2</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13.5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dirty="0">
                          <a:effectLst/>
                          <a:latin typeface="Arial" panose="020B0604020202020204" pitchFamily="34" charset="0"/>
                          <a:cs typeface="Arial" panose="020B0604020202020204" pitchFamily="34" charset="0"/>
                        </a:rPr>
                        <a:t>23</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95505890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857717921"/>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PAN</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dirty="0">
                          <a:effectLst/>
                          <a:latin typeface="Arial" panose="020B0604020202020204" pitchFamily="34" charset="0"/>
                          <a:cs typeface="Arial" panose="020B0604020202020204" pitchFamily="34" charset="0"/>
                        </a:rPr>
                        <a:t>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436304663"/>
                  </a:ext>
                </a:extLst>
              </a:tr>
            </a:tbl>
          </a:graphicData>
        </a:graphic>
      </p:graphicFrame>
      <p:sp>
        <p:nvSpPr>
          <p:cNvPr id="7" name="Slide Number Placeholder 6">
            <a:extLst>
              <a:ext uri="{FF2B5EF4-FFF2-40B4-BE49-F238E27FC236}">
                <a16:creationId xmlns:a16="http://schemas.microsoft.com/office/drawing/2014/main" id="{9B0E49FB-E45D-5BED-96E8-8B555B648B2D}"/>
              </a:ext>
            </a:extLst>
          </p:cNvPr>
          <p:cNvSpPr>
            <a:spLocks noGrp="1"/>
          </p:cNvSpPr>
          <p:nvPr>
            <p:ph type="sldNum" sz="quarter" idx="12"/>
          </p:nvPr>
        </p:nvSpPr>
        <p:spPr/>
        <p:txBody>
          <a:bodyPr/>
          <a:lstStyle/>
          <a:p>
            <a:fld id="{2386C454-E1BD-5A43-901A-CA4ACC7380B7}" type="slidenum">
              <a:rPr lang="en-US" smtClean="0"/>
              <a:t>31</a:t>
            </a:fld>
            <a:endParaRPr lang="en-US"/>
          </a:p>
        </p:txBody>
      </p:sp>
    </p:spTree>
    <p:extLst>
      <p:ext uri="{BB962C8B-B14F-4D97-AF65-F5344CB8AC3E}">
        <p14:creationId xmlns:p14="http://schemas.microsoft.com/office/powerpoint/2010/main" val="331045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Sieve analysis</a:t>
            </a:r>
          </a:p>
        </p:txBody>
      </p:sp>
      <p:pic>
        <p:nvPicPr>
          <p:cNvPr id="6" name="Picture 5">
            <a:extLst>
              <a:ext uri="{FF2B5EF4-FFF2-40B4-BE49-F238E27FC236}">
                <a16:creationId xmlns:a16="http://schemas.microsoft.com/office/drawing/2014/main" id="{14C1BC55-5AF0-AE46-81F2-BB8D0FD45E7D}"/>
              </a:ext>
            </a:extLst>
          </p:cNvPr>
          <p:cNvPicPr>
            <a:picLocks noChangeAspect="1"/>
          </p:cNvPicPr>
          <p:nvPr/>
        </p:nvPicPr>
        <p:blipFill>
          <a:blip r:embed="rId2"/>
          <a:stretch>
            <a:fillRect/>
          </a:stretch>
        </p:blipFill>
        <p:spPr>
          <a:xfrm>
            <a:off x="171724" y="1258705"/>
            <a:ext cx="4888578" cy="2074804"/>
          </a:xfrm>
          <a:prstGeom prst="rect">
            <a:avLst/>
          </a:prstGeom>
        </p:spPr>
      </p:pic>
      <p:sp>
        <p:nvSpPr>
          <p:cNvPr id="10" name="TextBox 9">
            <a:extLst>
              <a:ext uri="{FF2B5EF4-FFF2-40B4-BE49-F238E27FC236}">
                <a16:creationId xmlns:a16="http://schemas.microsoft.com/office/drawing/2014/main" id="{9C202467-2CC4-1F4E-B6FB-C5136D81B715}"/>
              </a:ext>
            </a:extLst>
          </p:cNvPr>
          <p:cNvSpPr txBox="1"/>
          <p:nvPr/>
        </p:nvSpPr>
        <p:spPr>
          <a:xfrm>
            <a:off x="1064871" y="3518704"/>
            <a:ext cx="1064871" cy="369332"/>
          </a:xfrm>
          <a:prstGeom prst="rect">
            <a:avLst/>
          </a:prstGeom>
          <a:noFill/>
        </p:spPr>
        <p:txBody>
          <a:bodyPr wrap="square" rtlCol="0">
            <a:spAutoFit/>
          </a:bodyPr>
          <a:lstStyle/>
          <a:p>
            <a:r>
              <a:rPr lang="en-US" dirty="0"/>
              <a:t>Sieves</a:t>
            </a:r>
          </a:p>
        </p:txBody>
      </p:sp>
      <p:pic>
        <p:nvPicPr>
          <p:cNvPr id="3" name="Picture 2" descr="A picture containing text, kitchen appliance&#10;&#10;Description automatically generated">
            <a:extLst>
              <a:ext uri="{FF2B5EF4-FFF2-40B4-BE49-F238E27FC236}">
                <a16:creationId xmlns:a16="http://schemas.microsoft.com/office/drawing/2014/main" id="{C5C6206F-C230-C64A-A6CD-ED9189CE7C0F}"/>
              </a:ext>
            </a:extLst>
          </p:cNvPr>
          <p:cNvPicPr>
            <a:picLocks noChangeAspect="1"/>
          </p:cNvPicPr>
          <p:nvPr/>
        </p:nvPicPr>
        <p:blipFill>
          <a:blip r:embed="rId3"/>
          <a:stretch>
            <a:fillRect/>
          </a:stretch>
        </p:blipFill>
        <p:spPr>
          <a:xfrm>
            <a:off x="5168301" y="1029832"/>
            <a:ext cx="1538227" cy="4101939"/>
          </a:xfrm>
          <a:prstGeom prst="rect">
            <a:avLst/>
          </a:prstGeom>
        </p:spPr>
      </p:pic>
      <p:sp>
        <p:nvSpPr>
          <p:cNvPr id="8" name="TextBox 7">
            <a:extLst>
              <a:ext uri="{FF2B5EF4-FFF2-40B4-BE49-F238E27FC236}">
                <a16:creationId xmlns:a16="http://schemas.microsoft.com/office/drawing/2014/main" id="{9B693347-ACCB-664F-912B-8E3EB6416281}"/>
              </a:ext>
            </a:extLst>
          </p:cNvPr>
          <p:cNvSpPr txBox="1"/>
          <p:nvPr/>
        </p:nvSpPr>
        <p:spPr>
          <a:xfrm>
            <a:off x="5404978" y="5132526"/>
            <a:ext cx="1064871" cy="369332"/>
          </a:xfrm>
          <a:prstGeom prst="rect">
            <a:avLst/>
          </a:prstGeom>
          <a:noFill/>
        </p:spPr>
        <p:txBody>
          <a:bodyPr wrap="square" rtlCol="0">
            <a:spAutoFit/>
          </a:bodyPr>
          <a:lstStyle/>
          <a:p>
            <a:r>
              <a:rPr lang="en-US" dirty="0"/>
              <a:t>Shaker</a:t>
            </a:r>
          </a:p>
        </p:txBody>
      </p:sp>
      <p:sp>
        <p:nvSpPr>
          <p:cNvPr id="9" name="TextBox 8">
            <a:extLst>
              <a:ext uri="{FF2B5EF4-FFF2-40B4-BE49-F238E27FC236}">
                <a16:creationId xmlns:a16="http://schemas.microsoft.com/office/drawing/2014/main" id="{6CA48E9A-59CF-104F-A64F-66D27DB55BEC}"/>
              </a:ext>
            </a:extLst>
          </p:cNvPr>
          <p:cNvSpPr txBox="1"/>
          <p:nvPr/>
        </p:nvSpPr>
        <p:spPr>
          <a:xfrm>
            <a:off x="7396222" y="706666"/>
            <a:ext cx="4795777"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compute the fraction of sediment finer than the sieve opening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b,i</a:t>
            </a:r>
            <a:endParaRPr lang="en-US" baseline="-25000"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07062558-C9A1-484A-804F-16A9C24AF70E}"/>
              </a:ext>
            </a:extLst>
          </p:cNvPr>
          <p:cNvGraphicFramePr>
            <a:graphicFrameLocks noGrp="1"/>
          </p:cNvGraphicFramePr>
          <p:nvPr>
            <p:extLst>
              <p:ext uri="{D42A27DB-BD31-4B8C-83A1-F6EECF244321}">
                <p14:modId xmlns:p14="http://schemas.microsoft.com/office/powerpoint/2010/main" val="2242387337"/>
              </p:ext>
            </p:extLst>
          </p:nvPr>
        </p:nvGraphicFramePr>
        <p:xfrm>
          <a:off x="7481265" y="1598834"/>
          <a:ext cx="4127500" cy="34925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4262968052"/>
                    </a:ext>
                  </a:extLst>
                </a:gridCol>
                <a:gridCol w="825500">
                  <a:extLst>
                    <a:ext uri="{9D8B030D-6E8A-4147-A177-3AD203B41FA5}">
                      <a16:colId xmlns:a16="http://schemas.microsoft.com/office/drawing/2014/main" val="1209964947"/>
                    </a:ext>
                  </a:extLst>
                </a:gridCol>
                <a:gridCol w="825500">
                  <a:extLst>
                    <a:ext uri="{9D8B030D-6E8A-4147-A177-3AD203B41FA5}">
                      <a16:colId xmlns:a16="http://schemas.microsoft.com/office/drawing/2014/main" val="1106240020"/>
                    </a:ext>
                  </a:extLst>
                </a:gridCol>
                <a:gridCol w="825500">
                  <a:extLst>
                    <a:ext uri="{9D8B030D-6E8A-4147-A177-3AD203B41FA5}">
                      <a16:colId xmlns:a16="http://schemas.microsoft.com/office/drawing/2014/main" val="216715783"/>
                    </a:ext>
                  </a:extLst>
                </a:gridCol>
                <a:gridCol w="825500">
                  <a:extLst>
                    <a:ext uri="{9D8B030D-6E8A-4147-A177-3AD203B41FA5}">
                      <a16:colId xmlns:a16="http://schemas.microsoft.com/office/drawing/2014/main" val="3323437215"/>
                    </a:ext>
                  </a:extLst>
                </a:gridCol>
              </a:tblGrid>
              <a:tr h="279400">
                <a:tc>
                  <a:txBody>
                    <a:bodyPr/>
                    <a:lstStyle/>
                    <a:p>
                      <a:pPr algn="ctr" rtl="0" fontAlgn="ctr"/>
                      <a:r>
                        <a:rPr lang="en-US" sz="1400" u="none" strike="noStrike">
                          <a:effectLst/>
                          <a:latin typeface="Arial" panose="020B0604020202020204" pitchFamily="34" charset="0"/>
                          <a:cs typeface="Arial" panose="020B0604020202020204" pitchFamily="34" charset="0"/>
                        </a:rPr>
                        <a:t>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D</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W</a:t>
                      </a:r>
                      <a:r>
                        <a:rPr lang="en-US" sz="1400" u="none" strike="noStrike" baseline="-25000">
                          <a:effectLst/>
                          <a:latin typeface="Arial" panose="020B0604020202020204" pitchFamily="34" charset="0"/>
                          <a:cs typeface="Arial" panose="020B0604020202020204" pitchFamily="34" charset="0"/>
                        </a:rPr>
                        <a:t>retained</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dirty="0" err="1">
                          <a:effectLst/>
                          <a:latin typeface="Arial" panose="020B0604020202020204" pitchFamily="34" charset="0"/>
                          <a:cs typeface="Arial" panose="020B0604020202020204" pitchFamily="34" charset="0"/>
                        </a:rPr>
                        <a:t>W</a:t>
                      </a:r>
                      <a:r>
                        <a:rPr lang="en-US" sz="1400" u="none" strike="noStrike" baseline="-25000" dirty="0" err="1">
                          <a:effectLst/>
                          <a:latin typeface="Arial" panose="020B0604020202020204" pitchFamily="34" charset="0"/>
                          <a:cs typeface="Arial" panose="020B0604020202020204" pitchFamily="34" charset="0"/>
                        </a:rPr>
                        <a:t>passing</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F</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649697355"/>
                  </a:ext>
                </a:extLst>
              </a:tr>
              <a:tr h="304800">
                <a:tc>
                  <a:txBody>
                    <a:bodyPr/>
                    <a:lstStyle/>
                    <a:p>
                      <a:pPr algn="ctr" fontAlgn="b"/>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mm</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gr</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ctr"/>
                      <a:r>
                        <a:rPr lang="en-US" sz="1400" u="none" strike="noStrike">
                          <a:effectLst/>
                          <a:latin typeface="Arial" panose="020B0604020202020204" pitchFamily="34" charset="0"/>
                          <a:cs typeface="Arial" panose="020B0604020202020204" pitchFamily="34" charset="0"/>
                        </a:rPr>
                        <a:t>gr</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94318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69.5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430.5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0.861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189698703"/>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0.71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404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0.808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471118695"/>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146.5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257.5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0.515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233827002"/>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69.5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188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0.376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93611455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162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0.324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128618324"/>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127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0.254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545826894"/>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90.5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0.181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796204960"/>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0.18</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24.5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66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0.132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87849102"/>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29.5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36.5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0.073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88342102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13.5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23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0.046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204373802"/>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a:effectLst/>
                          <a:latin typeface="Arial" panose="020B0604020202020204" pitchFamily="34" charset="0"/>
                          <a:cs typeface="Arial" panose="020B0604020202020204" pitchFamily="34" charset="0"/>
                        </a:rPr>
                        <a:t>0.024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482259736"/>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PAN</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ctr"/>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r" rtl="0" fontAlgn="ctr"/>
                      <a:r>
                        <a:rPr lang="en-US" sz="1400" u="none" strike="noStrike" dirty="0">
                          <a:effectLst/>
                          <a:latin typeface="Arial" panose="020B0604020202020204" pitchFamily="34" charset="0"/>
                          <a:cs typeface="Arial" panose="020B0604020202020204" pitchFamily="34" charset="0"/>
                        </a:rPr>
                        <a:t>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510923320"/>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1479B93-82B3-824B-89BF-05849006A5F6}"/>
                  </a:ext>
                </a:extLst>
              </p:cNvPr>
              <p:cNvSpPr txBox="1"/>
              <p:nvPr/>
            </p:nvSpPr>
            <p:spPr>
              <a:xfrm>
                <a:off x="7481265" y="5337171"/>
                <a:ext cx="1576137" cy="6040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𝑝𝑎𝑠𝑠𝑖𝑛𝑔</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𝑠𝑎𝑚𝑝𝑙𝑒</m:t>
                              </m:r>
                            </m:sub>
                          </m:sSub>
                        </m:den>
                      </m:f>
                    </m:oMath>
                  </m:oMathPara>
                </a14:m>
                <a:endParaRPr lang="en-US" dirty="0"/>
              </a:p>
            </p:txBody>
          </p:sp>
        </mc:Choice>
        <mc:Fallback xmlns="">
          <p:sp>
            <p:nvSpPr>
              <p:cNvPr id="12" name="TextBox 11">
                <a:extLst>
                  <a:ext uri="{FF2B5EF4-FFF2-40B4-BE49-F238E27FC236}">
                    <a16:creationId xmlns:a16="http://schemas.microsoft.com/office/drawing/2014/main" id="{D1479B93-82B3-824B-89BF-05849006A5F6}"/>
                  </a:ext>
                </a:extLst>
              </p:cNvPr>
              <p:cNvSpPr txBox="1">
                <a:spLocks noRot="1" noChangeAspect="1" noMove="1" noResize="1" noEditPoints="1" noAdjustHandles="1" noChangeArrowheads="1" noChangeShapeType="1" noTextEdit="1"/>
              </p:cNvSpPr>
              <p:nvPr/>
            </p:nvSpPr>
            <p:spPr>
              <a:xfrm>
                <a:off x="7481265" y="5337171"/>
                <a:ext cx="1576137" cy="604012"/>
              </a:xfrm>
              <a:prstGeom prst="rect">
                <a:avLst/>
              </a:prstGeom>
              <a:blipFill>
                <a:blip r:embed="rId4"/>
                <a:stretch>
                  <a:fillRect l="-794" t="-2041" b="-10204"/>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687D549-CFB8-C594-A379-D51C469EDDE4}"/>
              </a:ext>
            </a:extLst>
          </p:cNvPr>
          <p:cNvSpPr>
            <a:spLocks noGrp="1"/>
          </p:cNvSpPr>
          <p:nvPr>
            <p:ph type="sldNum" sz="quarter" idx="12"/>
          </p:nvPr>
        </p:nvSpPr>
        <p:spPr/>
        <p:txBody>
          <a:bodyPr/>
          <a:lstStyle/>
          <a:p>
            <a:fld id="{2386C454-E1BD-5A43-901A-CA4ACC7380B7}" type="slidenum">
              <a:rPr lang="en-US" smtClean="0"/>
              <a:t>32</a:t>
            </a:fld>
            <a:endParaRPr lang="en-US"/>
          </a:p>
        </p:txBody>
      </p:sp>
    </p:spTree>
    <p:extLst>
      <p:ext uri="{BB962C8B-B14F-4D97-AF65-F5344CB8AC3E}">
        <p14:creationId xmlns:p14="http://schemas.microsoft.com/office/powerpoint/2010/main" val="3751144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Grain size distribution</a:t>
            </a:r>
          </a:p>
        </p:txBody>
      </p:sp>
      <p:sp>
        <p:nvSpPr>
          <p:cNvPr id="10" name="TextBox 9">
            <a:extLst>
              <a:ext uri="{FF2B5EF4-FFF2-40B4-BE49-F238E27FC236}">
                <a16:creationId xmlns:a16="http://schemas.microsoft.com/office/drawing/2014/main" id="{C1FD5432-6AA0-4647-A467-8F7132D5E86B}"/>
              </a:ext>
            </a:extLst>
          </p:cNvPr>
          <p:cNvSpPr txBox="1"/>
          <p:nvPr/>
        </p:nvSpPr>
        <p:spPr>
          <a:xfrm>
            <a:off x="8448040" y="1356360"/>
            <a:ext cx="2743200" cy="2031325"/>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grain size distribution is described in terms of N+1 sizes </a:t>
            </a:r>
            <a:r>
              <a:rPr lang="en-US" dirty="0" err="1">
                <a:latin typeface="Arial" panose="020B0604020202020204" pitchFamily="34" charset="0"/>
                <a:cs typeface="Arial" panose="020B0604020202020204" pitchFamily="34" charset="0"/>
              </a:rPr>
              <a:t>D</a:t>
            </a:r>
            <a:r>
              <a:rPr lang="en-US" baseline="-25000" dirty="0" err="1">
                <a:latin typeface="Arial" panose="020B0604020202020204" pitchFamily="34" charset="0"/>
                <a:cs typeface="Arial" panose="020B0604020202020204" pitchFamily="34" charset="0"/>
              </a:rPr>
              <a:t>bi</a:t>
            </a:r>
            <a:r>
              <a:rPr lang="en-US" dirty="0">
                <a:latin typeface="Arial" panose="020B0604020202020204" pitchFamily="34" charset="0"/>
                <a:cs typeface="Arial" panose="020B0604020202020204" pitchFamily="34" charset="0"/>
              </a:rPr>
              <a:t> (bound diameters) such that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bi</a:t>
            </a:r>
            <a:r>
              <a:rPr lang="en-US" dirty="0">
                <a:latin typeface="Arial" panose="020B0604020202020204" pitchFamily="34" charset="0"/>
                <a:cs typeface="Arial" panose="020B0604020202020204" pitchFamily="34" charset="0"/>
              </a:rPr>
              <a:t> denotes the fraction of sediment that is finer than </a:t>
            </a:r>
            <a:r>
              <a:rPr lang="en-US" dirty="0" err="1">
                <a:latin typeface="Arial" panose="020B0604020202020204" pitchFamily="34" charset="0"/>
                <a:cs typeface="Arial" panose="020B0604020202020204" pitchFamily="34" charset="0"/>
              </a:rPr>
              <a:t>D</a:t>
            </a:r>
            <a:r>
              <a:rPr lang="en-US" baseline="-25000" dirty="0" err="1">
                <a:latin typeface="Arial" panose="020B0604020202020204" pitchFamily="34" charset="0"/>
                <a:cs typeface="Arial" panose="020B0604020202020204" pitchFamily="34" charset="0"/>
              </a:rPr>
              <a:t>bi</a:t>
            </a:r>
            <a:r>
              <a:rPr lang="en-US" dirty="0">
                <a:latin typeface="Arial" panose="020B0604020202020204" pitchFamily="34" charset="0"/>
                <a:cs typeface="Arial" panose="020B0604020202020204" pitchFamily="34" charset="0"/>
              </a:rPr>
              <a:t>.</a:t>
            </a:r>
          </a:p>
        </p:txBody>
      </p:sp>
      <p:cxnSp>
        <p:nvCxnSpPr>
          <p:cNvPr id="17" name="Straight Connector 16">
            <a:extLst>
              <a:ext uri="{FF2B5EF4-FFF2-40B4-BE49-F238E27FC236}">
                <a16:creationId xmlns:a16="http://schemas.microsoft.com/office/drawing/2014/main" id="{70701552-108C-EF43-92AC-4D956B1B3014}"/>
              </a:ext>
            </a:extLst>
          </p:cNvPr>
          <p:cNvCxnSpPr/>
          <p:nvPr/>
        </p:nvCxnSpPr>
        <p:spPr>
          <a:xfrm>
            <a:off x="3210560" y="4490720"/>
            <a:ext cx="0" cy="10769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59ABDD7-AAE1-5B4E-879E-89F6D8E42FDF}"/>
              </a:ext>
            </a:extLst>
          </p:cNvPr>
          <p:cNvCxnSpPr/>
          <p:nvPr/>
        </p:nvCxnSpPr>
        <p:spPr>
          <a:xfrm flipH="1">
            <a:off x="1354016" y="4490720"/>
            <a:ext cx="18565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
            <a:extLst>
              <a:ext uri="{FF2B5EF4-FFF2-40B4-BE49-F238E27FC236}">
                <a16:creationId xmlns:a16="http://schemas.microsoft.com/office/drawing/2014/main" id="{0AEECE38-DE58-0648-954F-01E8B9472164}"/>
              </a:ext>
            </a:extLst>
          </p:cNvPr>
          <p:cNvSpPr txBox="1"/>
          <p:nvPr/>
        </p:nvSpPr>
        <p:spPr>
          <a:xfrm>
            <a:off x="1412972" y="4135120"/>
            <a:ext cx="1738632" cy="355600"/>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100 x F</a:t>
            </a:r>
            <a:r>
              <a:rPr lang="en-US" sz="1600" baseline="-25000" dirty="0">
                <a:latin typeface="Arial" panose="020B0604020202020204" pitchFamily="34" charset="0"/>
                <a:cs typeface="Arial" panose="020B0604020202020204" pitchFamily="34" charset="0"/>
              </a:rPr>
              <a:t>b,6</a:t>
            </a:r>
            <a:r>
              <a:rPr lang="en-US" sz="1600" dirty="0">
                <a:latin typeface="Arial" panose="020B0604020202020204" pitchFamily="34" charset="0"/>
                <a:cs typeface="Arial" panose="020B0604020202020204" pitchFamily="34" charset="0"/>
              </a:rPr>
              <a:t> = 25.4</a:t>
            </a:r>
          </a:p>
        </p:txBody>
      </p:sp>
      <p:sp>
        <p:nvSpPr>
          <p:cNvPr id="21" name="TextBox 1">
            <a:extLst>
              <a:ext uri="{FF2B5EF4-FFF2-40B4-BE49-F238E27FC236}">
                <a16:creationId xmlns:a16="http://schemas.microsoft.com/office/drawing/2014/main" id="{D4AFDE7D-0636-BE4A-9F53-3182129166D0}"/>
              </a:ext>
            </a:extLst>
          </p:cNvPr>
          <p:cNvSpPr txBox="1"/>
          <p:nvPr/>
        </p:nvSpPr>
        <p:spPr>
          <a:xfrm>
            <a:off x="2605403" y="6078219"/>
            <a:ext cx="2179953" cy="355600"/>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logarithmic scale!</a:t>
            </a:r>
          </a:p>
        </p:txBody>
      </p:sp>
      <p:graphicFrame>
        <p:nvGraphicFramePr>
          <p:cNvPr id="2" name="Table 1">
            <a:extLst>
              <a:ext uri="{FF2B5EF4-FFF2-40B4-BE49-F238E27FC236}">
                <a16:creationId xmlns:a16="http://schemas.microsoft.com/office/drawing/2014/main" id="{42B44CAC-1273-6D4B-9711-B068CF2CB873}"/>
              </a:ext>
            </a:extLst>
          </p:cNvPr>
          <p:cNvGraphicFramePr>
            <a:graphicFrameLocks noGrp="1"/>
          </p:cNvGraphicFramePr>
          <p:nvPr>
            <p:extLst>
              <p:ext uri="{D42A27DB-BD31-4B8C-83A1-F6EECF244321}">
                <p14:modId xmlns:p14="http://schemas.microsoft.com/office/powerpoint/2010/main" val="2161461078"/>
              </p:ext>
            </p:extLst>
          </p:nvPr>
        </p:nvGraphicFramePr>
        <p:xfrm>
          <a:off x="5552440" y="2311622"/>
          <a:ext cx="2743200" cy="3342418"/>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457617221"/>
                    </a:ext>
                  </a:extLst>
                </a:gridCol>
                <a:gridCol w="914400">
                  <a:extLst>
                    <a:ext uri="{9D8B030D-6E8A-4147-A177-3AD203B41FA5}">
                      <a16:colId xmlns:a16="http://schemas.microsoft.com/office/drawing/2014/main" val="3516320823"/>
                    </a:ext>
                  </a:extLst>
                </a:gridCol>
                <a:gridCol w="914400">
                  <a:extLst>
                    <a:ext uri="{9D8B030D-6E8A-4147-A177-3AD203B41FA5}">
                      <a16:colId xmlns:a16="http://schemas.microsoft.com/office/drawing/2014/main" val="2456462394"/>
                    </a:ext>
                  </a:extLst>
                </a:gridCol>
              </a:tblGrid>
              <a:tr h="288365">
                <a:tc>
                  <a:txBody>
                    <a:bodyPr/>
                    <a:lstStyle/>
                    <a:p>
                      <a:pPr algn="ctr" rtl="0" fontAlgn="ctr"/>
                      <a:r>
                        <a:rPr lang="en-US" sz="1400" u="none" strike="noStrike">
                          <a:effectLst/>
                          <a:latin typeface="Arial" panose="020B0604020202020204" pitchFamily="34" charset="0"/>
                          <a:cs typeface="Arial" panose="020B0604020202020204" pitchFamily="34" charset="0"/>
                        </a:rPr>
                        <a:t>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D</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F</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415567770"/>
                  </a:ext>
                </a:extLst>
              </a:tr>
              <a:tr h="314580">
                <a:tc>
                  <a:txBody>
                    <a:bodyPr/>
                    <a:lstStyle/>
                    <a:p>
                      <a:pPr algn="ctr" fontAlgn="b"/>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mm</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005728285"/>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0.861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63534090"/>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0.71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0.808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22443185"/>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340321911"/>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0.376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916447650"/>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0.3</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762314674"/>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48196238"/>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1139027"/>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699693"/>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0.073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10630792"/>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0.046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30619847"/>
                  </a:ext>
                </a:extLst>
              </a:tr>
              <a:tr h="249043">
                <a:tc>
                  <a:txBody>
                    <a:bodyPr/>
                    <a:lstStyle/>
                    <a:p>
                      <a:pPr algn="r" rtl="0" fontAlgn="b"/>
                      <a:r>
                        <a:rPr lang="en-US" sz="1400" u="none" strike="noStrike">
                          <a:effectLst/>
                          <a:latin typeface="Arial" panose="020B0604020202020204" pitchFamily="34" charset="0"/>
                          <a:cs typeface="Arial" panose="020B0604020202020204" pitchFamily="34" charset="0"/>
                        </a:rPr>
                        <a:t>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0.024</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83509412"/>
                  </a:ext>
                </a:extLst>
              </a:tr>
            </a:tbl>
          </a:graphicData>
        </a:graphic>
      </p:graphicFrame>
      <p:pic>
        <p:nvPicPr>
          <p:cNvPr id="6" name="Picture 5">
            <a:extLst>
              <a:ext uri="{FF2B5EF4-FFF2-40B4-BE49-F238E27FC236}">
                <a16:creationId xmlns:a16="http://schemas.microsoft.com/office/drawing/2014/main" id="{7E2E2083-4461-4EE8-37B3-A2FA383A0363}"/>
              </a:ext>
            </a:extLst>
          </p:cNvPr>
          <p:cNvPicPr>
            <a:picLocks noChangeAspect="1"/>
          </p:cNvPicPr>
          <p:nvPr/>
        </p:nvPicPr>
        <p:blipFill>
          <a:blip r:embed="rId2"/>
          <a:stretch>
            <a:fillRect/>
          </a:stretch>
        </p:blipFill>
        <p:spPr>
          <a:xfrm>
            <a:off x="526975" y="1239519"/>
            <a:ext cx="5092700" cy="5016500"/>
          </a:xfrm>
          <a:prstGeom prst="rect">
            <a:avLst/>
          </a:prstGeom>
        </p:spPr>
      </p:pic>
      <p:sp>
        <p:nvSpPr>
          <p:cNvPr id="3" name="Slide Number Placeholder 2">
            <a:extLst>
              <a:ext uri="{FF2B5EF4-FFF2-40B4-BE49-F238E27FC236}">
                <a16:creationId xmlns:a16="http://schemas.microsoft.com/office/drawing/2014/main" id="{AFE321BB-772B-764B-29BC-BD0B54A79F10}"/>
              </a:ext>
            </a:extLst>
          </p:cNvPr>
          <p:cNvSpPr>
            <a:spLocks noGrp="1"/>
          </p:cNvSpPr>
          <p:nvPr>
            <p:ph type="sldNum" sz="quarter" idx="12"/>
          </p:nvPr>
        </p:nvSpPr>
        <p:spPr/>
        <p:txBody>
          <a:bodyPr/>
          <a:lstStyle/>
          <a:p>
            <a:fld id="{2386C454-E1BD-5A43-901A-CA4ACC7380B7}" type="slidenum">
              <a:rPr lang="en-US" smtClean="0"/>
              <a:t>33</a:t>
            </a:fld>
            <a:endParaRPr lang="en-US"/>
          </a:p>
        </p:txBody>
      </p:sp>
    </p:spTree>
    <p:extLst>
      <p:ext uri="{BB962C8B-B14F-4D97-AF65-F5344CB8AC3E}">
        <p14:creationId xmlns:p14="http://schemas.microsoft.com/office/powerpoint/2010/main" val="25787930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12CE2BC7-DF6F-F946-9CD7-F98FB7B8916C}"/>
              </a:ext>
            </a:extLst>
          </p:cNvPr>
          <p:cNvGraphicFramePr>
            <a:graphicFrameLocks noGrp="1"/>
          </p:cNvGraphicFramePr>
          <p:nvPr>
            <p:extLst>
              <p:ext uri="{D42A27DB-BD31-4B8C-83A1-F6EECF244321}">
                <p14:modId xmlns:p14="http://schemas.microsoft.com/office/powerpoint/2010/main" val="3797192886"/>
              </p:ext>
            </p:extLst>
          </p:nvPr>
        </p:nvGraphicFramePr>
        <p:xfrm>
          <a:off x="5552440" y="2311622"/>
          <a:ext cx="2743200" cy="3342418"/>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457617221"/>
                    </a:ext>
                  </a:extLst>
                </a:gridCol>
                <a:gridCol w="914400">
                  <a:extLst>
                    <a:ext uri="{9D8B030D-6E8A-4147-A177-3AD203B41FA5}">
                      <a16:colId xmlns:a16="http://schemas.microsoft.com/office/drawing/2014/main" val="3516320823"/>
                    </a:ext>
                  </a:extLst>
                </a:gridCol>
                <a:gridCol w="914400">
                  <a:extLst>
                    <a:ext uri="{9D8B030D-6E8A-4147-A177-3AD203B41FA5}">
                      <a16:colId xmlns:a16="http://schemas.microsoft.com/office/drawing/2014/main" val="2456462394"/>
                    </a:ext>
                  </a:extLst>
                </a:gridCol>
              </a:tblGrid>
              <a:tr h="288365">
                <a:tc>
                  <a:txBody>
                    <a:bodyPr/>
                    <a:lstStyle/>
                    <a:p>
                      <a:pPr algn="ctr" rtl="0" fontAlgn="ctr"/>
                      <a:r>
                        <a:rPr lang="en-US" sz="1400" u="none" strike="noStrike">
                          <a:effectLst/>
                        </a:rPr>
                        <a:t>i</a:t>
                      </a:r>
                      <a:endParaRPr lang="en-US" sz="1400" b="0" i="0" u="none" strike="noStrike">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Arial" panose="020B0604020202020204" pitchFamily="34" charset="0"/>
                      </a:endParaRPr>
                    </a:p>
                  </a:txBody>
                  <a:tcPr marL="9525" marR="9525" marT="9525" marB="0" anchor="ctr"/>
                </a:tc>
                <a:tc>
                  <a:txBody>
                    <a:bodyPr/>
                    <a:lstStyle/>
                    <a:p>
                      <a:pPr algn="ctr" rtl="0" fontAlgn="ctr"/>
                      <a:r>
                        <a:rPr lang="en-US" sz="1400" u="none" strike="noStrike">
                          <a:effectLst/>
                        </a:rPr>
                        <a:t>F</a:t>
                      </a:r>
                      <a:r>
                        <a:rPr lang="en-US" sz="1400" u="none" strike="noStrike" baseline="-25000">
                          <a:effectLst/>
                        </a:rPr>
                        <a:t>b,i</a:t>
                      </a:r>
                      <a:endParaRPr lang="en-US" sz="1400" b="0" i="0" u="none" strike="noStrike">
                        <a:solidFill>
                          <a:srgbClr val="000000"/>
                        </a:solidFill>
                        <a:effectLst/>
                        <a:latin typeface="Arial" panose="020B0604020202020204" pitchFamily="34" charset="0"/>
                      </a:endParaRPr>
                    </a:p>
                  </a:txBody>
                  <a:tcPr marL="9525" marR="9525" marT="9525" marB="0" anchor="ctr"/>
                </a:tc>
                <a:extLst>
                  <a:ext uri="{0D108BD9-81ED-4DB2-BD59-A6C34878D82A}">
                    <a16:rowId xmlns:a16="http://schemas.microsoft.com/office/drawing/2014/main" val="3415567770"/>
                  </a:ext>
                </a:extLst>
              </a:tr>
              <a:tr h="314580">
                <a:tc>
                  <a:txBody>
                    <a:bodyPr/>
                    <a:lstStyle/>
                    <a:p>
                      <a:pPr algn="ctr" fontAlgn="b"/>
                      <a:r>
                        <a:rPr lang="en-US" sz="1800" u="none" strike="noStrike">
                          <a:effectLst/>
                        </a:rPr>
                        <a:t> </a:t>
                      </a:r>
                      <a:endParaRPr lang="en-US" sz="1800" b="0" i="0" u="none" strike="noStrike">
                        <a:solidFill>
                          <a:srgbClr val="000000"/>
                        </a:solidFill>
                        <a:effectLst/>
                        <a:latin typeface="Arial" panose="020B060402020202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005728285"/>
                  </a:ext>
                </a:extLst>
              </a:tr>
              <a:tr h="249043">
                <a:tc>
                  <a:txBody>
                    <a:bodyPr/>
                    <a:lstStyle/>
                    <a:p>
                      <a:pPr algn="r" rtl="0" fontAlgn="b"/>
                      <a:r>
                        <a:rPr lang="en-US" sz="1400" u="none" strike="noStrike">
                          <a:effectLst/>
                        </a:rPr>
                        <a:t>11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0.84</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0.861</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63534090"/>
                  </a:ext>
                </a:extLst>
              </a:tr>
              <a:tr h="249043">
                <a:tc>
                  <a:txBody>
                    <a:bodyPr/>
                    <a:lstStyle/>
                    <a:p>
                      <a:pPr algn="r" rtl="0" fontAlgn="b"/>
                      <a:r>
                        <a:rPr lang="en-US" sz="1400" u="none" strike="noStrike">
                          <a:effectLst/>
                        </a:rPr>
                        <a:t>10</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0.808</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522443185"/>
                  </a:ext>
                </a:extLst>
              </a:tr>
              <a:tr h="249043">
                <a:tc>
                  <a:txBody>
                    <a:bodyPr/>
                    <a:lstStyle/>
                    <a:p>
                      <a:pPr algn="r" rtl="0" fontAlgn="b"/>
                      <a:r>
                        <a:rPr lang="en-US" sz="1400" u="none" strike="noStrike">
                          <a:effectLst/>
                        </a:rPr>
                        <a:t>9</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0.515</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340321911"/>
                  </a:ext>
                </a:extLst>
              </a:tr>
              <a:tr h="249043">
                <a:tc>
                  <a:txBody>
                    <a:bodyPr/>
                    <a:lstStyle/>
                    <a:p>
                      <a:pPr algn="r" rtl="0" fontAlgn="b"/>
                      <a:r>
                        <a:rPr lang="en-US" sz="1400" u="none" strike="noStrike">
                          <a:effectLst/>
                        </a:rPr>
                        <a:t>8</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0.36</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0.376</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916447650"/>
                  </a:ext>
                </a:extLst>
              </a:tr>
              <a:tr h="249043">
                <a:tc>
                  <a:txBody>
                    <a:bodyPr/>
                    <a:lstStyle/>
                    <a:p>
                      <a:pPr algn="r" rtl="0" fontAlgn="b"/>
                      <a:r>
                        <a:rPr lang="en-US" sz="1400" u="none" strike="noStrike">
                          <a:effectLst/>
                        </a:rPr>
                        <a:t>7</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0.3</a:t>
                      </a:r>
                      <a:endParaRPr lang="en-US" sz="1400" b="0" i="0" u="none" strike="noStrike" dirty="0">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0.324</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762314674"/>
                  </a:ext>
                </a:extLst>
              </a:tr>
              <a:tr h="249043">
                <a:tc>
                  <a:txBody>
                    <a:bodyPr/>
                    <a:lstStyle/>
                    <a:p>
                      <a:pPr algn="r" rtl="0" fontAlgn="b"/>
                      <a:r>
                        <a:rPr lang="en-US" sz="1400" u="none" strike="noStrike">
                          <a:effectLst/>
                        </a:rPr>
                        <a:t>6</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0.25</a:t>
                      </a:r>
                      <a:endParaRPr lang="en-US" sz="1400" b="0" i="0" u="none" strike="noStrike" dirty="0">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0.254</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48196238"/>
                  </a:ext>
                </a:extLst>
              </a:tr>
              <a:tr h="249043">
                <a:tc>
                  <a:txBody>
                    <a:bodyPr/>
                    <a:lstStyle/>
                    <a:p>
                      <a:pPr algn="r" rtl="0" fontAlgn="b"/>
                      <a:r>
                        <a:rPr lang="en-US" sz="1400" u="none" strike="noStrike">
                          <a:effectLst/>
                        </a:rPr>
                        <a:t>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0.181</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121139027"/>
                  </a:ext>
                </a:extLst>
              </a:tr>
              <a:tr h="249043">
                <a:tc>
                  <a:txBody>
                    <a:bodyPr/>
                    <a:lstStyle/>
                    <a:p>
                      <a:pPr algn="r" rtl="0" fontAlgn="b"/>
                      <a:r>
                        <a:rPr lang="en-US" sz="1400" u="none" strike="noStrike">
                          <a:effectLst/>
                        </a:rPr>
                        <a:t>4</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0.18</a:t>
                      </a:r>
                      <a:endParaRPr lang="en-US" sz="1400" b="0" i="0" u="none" strike="noStrike" dirty="0">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0.132</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4699693"/>
                  </a:ext>
                </a:extLst>
              </a:tr>
              <a:tr h="249043">
                <a:tc>
                  <a:txBody>
                    <a:bodyPr/>
                    <a:lstStyle/>
                    <a:p>
                      <a:pPr algn="r" rtl="0" fontAlgn="b"/>
                      <a:r>
                        <a:rPr lang="en-US" sz="1400" u="none" strike="noStrike">
                          <a:effectLst/>
                        </a:rPr>
                        <a:t>3</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0.073</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10630792"/>
                  </a:ext>
                </a:extLst>
              </a:tr>
              <a:tr h="249043">
                <a:tc>
                  <a:txBody>
                    <a:bodyPr/>
                    <a:lstStyle/>
                    <a:p>
                      <a:pPr algn="r" rtl="0" fontAlgn="b"/>
                      <a:r>
                        <a:rPr lang="en-US" sz="1400" u="none" strike="noStrike">
                          <a:effectLst/>
                        </a:rPr>
                        <a:t>2</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0.046</a:t>
                      </a:r>
                      <a:endParaRPr lang="en-US" sz="14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30619847"/>
                  </a:ext>
                </a:extLst>
              </a:tr>
              <a:tr h="249043">
                <a:tc>
                  <a:txBody>
                    <a:bodyPr/>
                    <a:lstStyle/>
                    <a:p>
                      <a:pPr algn="r" rtl="0" fontAlgn="b"/>
                      <a:r>
                        <a:rPr lang="en-US" sz="1400" u="none" strike="noStrike">
                          <a:effectLst/>
                        </a:rPr>
                        <a:t>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a:effectLst/>
                        </a:rPr>
                        <a:t>0.11</a:t>
                      </a:r>
                      <a:endParaRPr lang="en-US" sz="1400" b="0" i="0" u="none" strike="noStrike">
                        <a:solidFill>
                          <a:srgbClr val="000000"/>
                        </a:solidFill>
                        <a:effectLst/>
                        <a:latin typeface="Arial" panose="020B0604020202020204" pitchFamily="34" charset="0"/>
                      </a:endParaRPr>
                    </a:p>
                  </a:txBody>
                  <a:tcPr marL="9525" marR="9525" marT="9525" marB="0" anchor="b"/>
                </a:tc>
                <a:tc>
                  <a:txBody>
                    <a:bodyPr/>
                    <a:lstStyle/>
                    <a:p>
                      <a:pPr algn="r" rtl="0" fontAlgn="b"/>
                      <a:r>
                        <a:rPr lang="en-US" sz="1400" u="none" strike="noStrike" dirty="0">
                          <a:effectLst/>
                        </a:rPr>
                        <a:t>0.024</a:t>
                      </a:r>
                      <a:endParaRPr lang="en-US" sz="14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983509412"/>
                  </a:ext>
                </a:extLst>
              </a:tr>
            </a:tbl>
          </a:graphicData>
        </a:graphic>
      </p:graphicFrame>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Grain size distribution</a:t>
            </a:r>
          </a:p>
        </p:txBody>
      </p:sp>
      <p:sp>
        <p:nvSpPr>
          <p:cNvPr id="21" name="TextBox 1">
            <a:extLst>
              <a:ext uri="{FF2B5EF4-FFF2-40B4-BE49-F238E27FC236}">
                <a16:creationId xmlns:a16="http://schemas.microsoft.com/office/drawing/2014/main" id="{D4AFDE7D-0636-BE4A-9F53-3182129166D0}"/>
              </a:ext>
            </a:extLst>
          </p:cNvPr>
          <p:cNvSpPr txBox="1"/>
          <p:nvPr/>
        </p:nvSpPr>
        <p:spPr>
          <a:xfrm>
            <a:off x="2605403" y="6078219"/>
            <a:ext cx="2179953" cy="355600"/>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logarithmic scale!</a:t>
            </a:r>
          </a:p>
        </p:txBody>
      </p:sp>
      <p:sp>
        <p:nvSpPr>
          <p:cNvPr id="2" name="Oval 1">
            <a:extLst>
              <a:ext uri="{FF2B5EF4-FFF2-40B4-BE49-F238E27FC236}">
                <a16:creationId xmlns:a16="http://schemas.microsoft.com/office/drawing/2014/main" id="{EAA5D142-7069-D041-9F7C-E2A5E02E480D}"/>
              </a:ext>
            </a:extLst>
          </p:cNvPr>
          <p:cNvSpPr/>
          <p:nvPr/>
        </p:nvSpPr>
        <p:spPr>
          <a:xfrm>
            <a:off x="5776596" y="2894734"/>
            <a:ext cx="2686048" cy="314960"/>
          </a:xfrm>
          <a:prstGeom prst="ellipse">
            <a:avLst/>
          </a:prstGeom>
          <a:solidFill>
            <a:srgbClr val="FFFF00">
              <a:alpha val="22000"/>
            </a:srgb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DF8AD90-7DCD-8540-8F11-3CCB50F30997}"/>
              </a:ext>
            </a:extLst>
          </p:cNvPr>
          <p:cNvSpPr/>
          <p:nvPr/>
        </p:nvSpPr>
        <p:spPr>
          <a:xfrm>
            <a:off x="5787747" y="5387845"/>
            <a:ext cx="2686048" cy="314960"/>
          </a:xfrm>
          <a:prstGeom prst="ellipse">
            <a:avLst/>
          </a:prstGeom>
          <a:solidFill>
            <a:srgbClr val="FFFF00">
              <a:alpha val="22000"/>
            </a:srgb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5B9AFB8-6470-924B-BF90-8E9560D744C7}"/>
              </a:ext>
            </a:extLst>
          </p:cNvPr>
          <p:cNvSpPr txBox="1"/>
          <p:nvPr/>
        </p:nvSpPr>
        <p:spPr>
          <a:xfrm>
            <a:off x="8610600" y="990600"/>
            <a:ext cx="3037840" cy="397031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finest size does not correspond to 0 (i.e. 2.4% of the sediment sample is finer than 0.11 mm).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coarsest size does not correspond to 0.84 mm (i.e. 14% of the sample is coarser than 0.84 mm).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It is often useful to do a linear interpolation on the psi scale to determine the missing values. </a:t>
            </a:r>
          </a:p>
        </p:txBody>
      </p:sp>
      <p:pic>
        <p:nvPicPr>
          <p:cNvPr id="6" name="Picture 5">
            <a:extLst>
              <a:ext uri="{FF2B5EF4-FFF2-40B4-BE49-F238E27FC236}">
                <a16:creationId xmlns:a16="http://schemas.microsoft.com/office/drawing/2014/main" id="{BE456DFB-0353-E14D-E094-E69C13A87013}"/>
              </a:ext>
            </a:extLst>
          </p:cNvPr>
          <p:cNvPicPr>
            <a:picLocks noChangeAspect="1"/>
          </p:cNvPicPr>
          <p:nvPr/>
        </p:nvPicPr>
        <p:blipFill>
          <a:blip r:embed="rId2"/>
          <a:stretch>
            <a:fillRect/>
          </a:stretch>
        </p:blipFill>
        <p:spPr>
          <a:xfrm>
            <a:off x="530352" y="1243584"/>
            <a:ext cx="5092700" cy="5016500"/>
          </a:xfrm>
          <a:prstGeom prst="rect">
            <a:avLst/>
          </a:prstGeom>
        </p:spPr>
      </p:pic>
      <p:sp>
        <p:nvSpPr>
          <p:cNvPr id="7" name="Slide Number Placeholder 6">
            <a:extLst>
              <a:ext uri="{FF2B5EF4-FFF2-40B4-BE49-F238E27FC236}">
                <a16:creationId xmlns:a16="http://schemas.microsoft.com/office/drawing/2014/main" id="{D0830E99-7348-8A68-BE62-2B8F21C0F4FC}"/>
              </a:ext>
            </a:extLst>
          </p:cNvPr>
          <p:cNvSpPr>
            <a:spLocks noGrp="1"/>
          </p:cNvSpPr>
          <p:nvPr>
            <p:ph type="sldNum" sz="quarter" idx="12"/>
          </p:nvPr>
        </p:nvSpPr>
        <p:spPr/>
        <p:txBody>
          <a:bodyPr/>
          <a:lstStyle/>
          <a:p>
            <a:fld id="{2386C454-E1BD-5A43-901A-CA4ACC7380B7}" type="slidenum">
              <a:rPr lang="en-US" smtClean="0"/>
              <a:t>34</a:t>
            </a:fld>
            <a:endParaRPr lang="en-US"/>
          </a:p>
        </p:txBody>
      </p:sp>
    </p:spTree>
    <p:extLst>
      <p:ext uri="{BB962C8B-B14F-4D97-AF65-F5344CB8AC3E}">
        <p14:creationId xmlns:p14="http://schemas.microsoft.com/office/powerpoint/2010/main" val="15193776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221836F-ED87-5B45-B8D4-BDE2DA4485EF}"/>
              </a:ext>
            </a:extLst>
          </p:cNvPr>
          <p:cNvGraphicFramePr>
            <a:graphicFrameLocks noGrp="1"/>
          </p:cNvGraphicFramePr>
          <p:nvPr>
            <p:extLst>
              <p:ext uri="{D42A27DB-BD31-4B8C-83A1-F6EECF244321}">
                <p14:modId xmlns:p14="http://schemas.microsoft.com/office/powerpoint/2010/main" val="1622034213"/>
              </p:ext>
            </p:extLst>
          </p:nvPr>
        </p:nvGraphicFramePr>
        <p:xfrm>
          <a:off x="5473392" y="1566791"/>
          <a:ext cx="3302000" cy="37465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3862428138"/>
                    </a:ext>
                  </a:extLst>
                </a:gridCol>
                <a:gridCol w="825500">
                  <a:extLst>
                    <a:ext uri="{9D8B030D-6E8A-4147-A177-3AD203B41FA5}">
                      <a16:colId xmlns:a16="http://schemas.microsoft.com/office/drawing/2014/main" val="2889358345"/>
                    </a:ext>
                  </a:extLst>
                </a:gridCol>
                <a:gridCol w="825500">
                  <a:extLst>
                    <a:ext uri="{9D8B030D-6E8A-4147-A177-3AD203B41FA5}">
                      <a16:colId xmlns:a16="http://schemas.microsoft.com/office/drawing/2014/main" val="3807541384"/>
                    </a:ext>
                  </a:extLst>
                </a:gridCol>
                <a:gridCol w="825500">
                  <a:extLst>
                    <a:ext uri="{9D8B030D-6E8A-4147-A177-3AD203B41FA5}">
                      <a16:colId xmlns:a16="http://schemas.microsoft.com/office/drawing/2014/main" val="1137848056"/>
                    </a:ext>
                  </a:extLst>
                </a:gridCol>
              </a:tblGrid>
              <a:tr h="279400">
                <a:tc>
                  <a:txBody>
                    <a:bodyPr/>
                    <a:lstStyle/>
                    <a:p>
                      <a:pPr algn="ctr" rtl="0" fontAlgn="ctr"/>
                      <a:r>
                        <a:rPr lang="en-US" sz="1400" u="none" strike="noStrike">
                          <a:effectLst/>
                          <a:latin typeface="Arial" panose="020B0604020202020204" pitchFamily="34" charset="0"/>
                          <a:cs typeface="Arial" panose="020B0604020202020204" pitchFamily="34" charset="0"/>
                        </a:rPr>
                        <a:t>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D</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dirty="0" err="1">
                          <a:effectLst/>
                          <a:latin typeface="Symbol" panose="05050102010706020507" pitchFamily="18" charset="2"/>
                          <a:cs typeface="Arial" panose="020B0604020202020204" pitchFamily="34" charset="0"/>
                        </a:rPr>
                        <a:t>Y</a:t>
                      </a:r>
                      <a:r>
                        <a:rPr lang="en-US" sz="1400" u="none" strike="noStrike" baseline="-25000" dirty="0" err="1">
                          <a:effectLst/>
                          <a:latin typeface="Arial" panose="020B0604020202020204" pitchFamily="34" charset="0"/>
                          <a:cs typeface="Arial" panose="020B0604020202020204" pitchFamily="34" charset="0"/>
                        </a:rPr>
                        <a:t>b,i</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F</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375190808"/>
                  </a:ext>
                </a:extLst>
              </a:tr>
              <a:tr h="304800">
                <a:tc>
                  <a:txBody>
                    <a:bodyPr/>
                    <a:lstStyle/>
                    <a:p>
                      <a:pPr algn="ctr" fontAlgn="b"/>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mm</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09662693"/>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dirty="0">
                          <a:effectLst/>
                          <a:latin typeface="Arial" panose="020B0604020202020204" pitchFamily="34" charset="0"/>
                          <a:cs typeface="Arial" panose="020B0604020202020204" pitchFamily="34" charset="0"/>
                        </a:rPr>
                        <a:t>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ctr" rtl="0" fontAlgn="b"/>
                      <a:r>
                        <a:rPr lang="en-US" sz="1400" u="none" strike="noStrike" dirty="0">
                          <a:effectLst/>
                          <a:latin typeface="Arial" panose="020B0604020202020204" pitchFamily="34" charset="0"/>
                          <a:cs typeface="Arial" panose="020B0604020202020204" pitchFamily="34" charset="0"/>
                        </a:rPr>
                        <a: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FFFF00"/>
                    </a:solidFill>
                  </a:tcPr>
                </a:tc>
                <a:extLst>
                  <a:ext uri="{0D108BD9-81ED-4DB2-BD59-A6C34878D82A}">
                    <a16:rowId xmlns:a16="http://schemas.microsoft.com/office/drawing/2014/main" val="177201858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0.861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557081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0.71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-0.49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0.808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3141678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64038082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0.376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332042992"/>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25142296"/>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0.25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016148541"/>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119901855"/>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8334770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0.073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2874452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-2.94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0.046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34103423"/>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08442829"/>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FFFF00"/>
                    </a:solidFill>
                  </a:tcPr>
                </a:tc>
                <a:extLst>
                  <a:ext uri="{0D108BD9-81ED-4DB2-BD59-A6C34878D82A}">
                    <a16:rowId xmlns:a16="http://schemas.microsoft.com/office/drawing/2014/main" val="3041166932"/>
                  </a:ext>
                </a:extLst>
              </a:tr>
            </a:tbl>
          </a:graphicData>
        </a:graphic>
      </p:graphicFrame>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Linear interpolation on the psi scale</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C11AB78-FD17-7644-B4F8-CB97F7674BF9}"/>
                  </a:ext>
                </a:extLst>
              </p:cNvPr>
              <p:cNvSpPr txBox="1"/>
              <p:nvPr/>
            </p:nvSpPr>
            <p:spPr>
              <a:xfrm>
                <a:off x="8293100" y="908590"/>
                <a:ext cx="3718647" cy="464101"/>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,11</m:t>
                            </m:r>
                          </m:sub>
                        </m:sSub>
                      </m:num>
                      <m:den>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,12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,11</m:t>
                            </m:r>
                          </m:sub>
                        </m:sSub>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b="0" i="1" smtClean="0">
                                <a:latin typeface="Cambria Math" panose="02040503050406030204" pitchFamily="18" charset="0"/>
                              </a:rPr>
                              <m:t>1</m:t>
                            </m:r>
                            <m:r>
                              <a:rPr lang="en-US" i="1">
                                <a:latin typeface="Cambria Math" panose="02040503050406030204" pitchFamily="18" charset="0"/>
                              </a:rPr>
                              <m:t>2</m:t>
                            </m:r>
                          </m:sub>
                        </m:sSub>
                      </m:e>
                    </m:d>
                  </m:oMath>
                </a14:m>
                <a:r>
                  <a:rPr lang="en-US" dirty="0"/>
                  <a:t> </a:t>
                </a:r>
              </a:p>
            </p:txBody>
          </p:sp>
        </mc:Choice>
        <mc:Fallback xmlns="">
          <p:sp>
            <p:nvSpPr>
              <p:cNvPr id="7" name="TextBox 6">
                <a:extLst>
                  <a:ext uri="{FF2B5EF4-FFF2-40B4-BE49-F238E27FC236}">
                    <a16:creationId xmlns:a16="http://schemas.microsoft.com/office/drawing/2014/main" id="{BC11AB78-FD17-7644-B4F8-CB97F7674BF9}"/>
                  </a:ext>
                </a:extLst>
              </p:cNvPr>
              <p:cNvSpPr txBox="1">
                <a:spLocks noRot="1" noChangeAspect="1" noMove="1" noResize="1" noEditPoints="1" noAdjustHandles="1" noChangeArrowheads="1" noChangeShapeType="1" noTextEdit="1"/>
              </p:cNvSpPr>
              <p:nvPr/>
            </p:nvSpPr>
            <p:spPr>
              <a:xfrm>
                <a:off x="8293100" y="908590"/>
                <a:ext cx="3718647" cy="464101"/>
              </a:xfrm>
              <a:prstGeom prst="rect">
                <a:avLst/>
              </a:prstGeom>
              <a:blipFill>
                <a:blip r:embed="rId3"/>
                <a:stretch>
                  <a:fillRect l="-2721"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9671D0D-1EE8-2E4F-A42D-4835634A5CF5}"/>
                  </a:ext>
                </a:extLst>
              </p:cNvPr>
              <p:cNvSpPr txBox="1"/>
              <p:nvPr/>
            </p:nvSpPr>
            <p:spPr>
              <a:xfrm>
                <a:off x="9278770" y="2011852"/>
                <a:ext cx="1406860" cy="306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,13</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,13</m:t>
                              </m:r>
                            </m:sub>
                          </m:sSub>
                        </m:sup>
                      </m:sSup>
                    </m:oMath>
                  </m:oMathPara>
                </a14:m>
                <a:endParaRPr lang="en-US" dirty="0"/>
              </a:p>
            </p:txBody>
          </p:sp>
        </mc:Choice>
        <mc:Fallback xmlns="">
          <p:sp>
            <p:nvSpPr>
              <p:cNvPr id="16" name="TextBox 15">
                <a:extLst>
                  <a:ext uri="{FF2B5EF4-FFF2-40B4-BE49-F238E27FC236}">
                    <a16:creationId xmlns:a16="http://schemas.microsoft.com/office/drawing/2014/main" id="{39671D0D-1EE8-2E4F-A42D-4835634A5CF5}"/>
                  </a:ext>
                </a:extLst>
              </p:cNvPr>
              <p:cNvSpPr txBox="1">
                <a:spLocks noRot="1" noChangeAspect="1" noMove="1" noResize="1" noEditPoints="1" noAdjustHandles="1" noChangeArrowheads="1" noChangeShapeType="1" noTextEdit="1"/>
              </p:cNvSpPr>
              <p:nvPr/>
            </p:nvSpPr>
            <p:spPr>
              <a:xfrm>
                <a:off x="9278770" y="2011852"/>
                <a:ext cx="1406860" cy="306174"/>
              </a:xfrm>
              <a:prstGeom prst="rect">
                <a:avLst/>
              </a:prstGeom>
              <a:blipFill>
                <a:blip r:embed="rId4"/>
                <a:stretch>
                  <a:fillRect l="-3571" t="-8000" b="-800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434239E-875D-823F-931B-335D0A8A7545}"/>
              </a:ext>
            </a:extLst>
          </p:cNvPr>
          <p:cNvPicPr>
            <a:picLocks noChangeAspect="1"/>
          </p:cNvPicPr>
          <p:nvPr/>
        </p:nvPicPr>
        <p:blipFill>
          <a:blip r:embed="rId5"/>
          <a:stretch>
            <a:fillRect/>
          </a:stretch>
        </p:blipFill>
        <p:spPr>
          <a:xfrm>
            <a:off x="530352" y="1243584"/>
            <a:ext cx="5092700" cy="5016500"/>
          </a:xfrm>
          <a:prstGeom prst="rect">
            <a:avLst/>
          </a:prstGeom>
        </p:spPr>
      </p:pic>
      <p:sp>
        <p:nvSpPr>
          <p:cNvPr id="3" name="Slide Number Placeholder 2">
            <a:extLst>
              <a:ext uri="{FF2B5EF4-FFF2-40B4-BE49-F238E27FC236}">
                <a16:creationId xmlns:a16="http://schemas.microsoft.com/office/drawing/2014/main" id="{052AA80B-1520-7AE7-C2FA-294C94CBD7C7}"/>
              </a:ext>
            </a:extLst>
          </p:cNvPr>
          <p:cNvSpPr>
            <a:spLocks noGrp="1"/>
          </p:cNvSpPr>
          <p:nvPr>
            <p:ph type="sldNum" sz="quarter" idx="12"/>
          </p:nvPr>
        </p:nvSpPr>
        <p:spPr/>
        <p:txBody>
          <a:bodyPr/>
          <a:lstStyle/>
          <a:p>
            <a:fld id="{2386C454-E1BD-5A43-901A-CA4ACC7380B7}" type="slidenum">
              <a:rPr lang="en-US" smtClean="0"/>
              <a:t>35</a:t>
            </a:fld>
            <a:endParaRPr lang="en-US"/>
          </a:p>
        </p:txBody>
      </p:sp>
    </p:spTree>
    <p:extLst>
      <p:ext uri="{BB962C8B-B14F-4D97-AF65-F5344CB8AC3E}">
        <p14:creationId xmlns:p14="http://schemas.microsoft.com/office/powerpoint/2010/main" val="1675623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Linear interpolation on the psi scale</a:t>
            </a:r>
          </a:p>
        </p:txBody>
      </p:sp>
      <p:graphicFrame>
        <p:nvGraphicFramePr>
          <p:cNvPr id="17" name="Table 16">
            <a:extLst>
              <a:ext uri="{FF2B5EF4-FFF2-40B4-BE49-F238E27FC236}">
                <a16:creationId xmlns:a16="http://schemas.microsoft.com/office/drawing/2014/main" id="{8F74EBD8-0FBD-CC41-B3EC-F1590425B1B4}"/>
              </a:ext>
            </a:extLst>
          </p:cNvPr>
          <p:cNvGraphicFramePr>
            <a:graphicFrameLocks noGrp="1"/>
          </p:cNvGraphicFramePr>
          <p:nvPr>
            <p:extLst>
              <p:ext uri="{D42A27DB-BD31-4B8C-83A1-F6EECF244321}">
                <p14:modId xmlns:p14="http://schemas.microsoft.com/office/powerpoint/2010/main" val="27489467"/>
              </p:ext>
            </p:extLst>
          </p:nvPr>
        </p:nvGraphicFramePr>
        <p:xfrm>
          <a:off x="5473392" y="1566791"/>
          <a:ext cx="3302000" cy="3792609"/>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3862428138"/>
                    </a:ext>
                  </a:extLst>
                </a:gridCol>
                <a:gridCol w="825500">
                  <a:extLst>
                    <a:ext uri="{9D8B030D-6E8A-4147-A177-3AD203B41FA5}">
                      <a16:colId xmlns:a16="http://schemas.microsoft.com/office/drawing/2014/main" val="2889358345"/>
                    </a:ext>
                  </a:extLst>
                </a:gridCol>
                <a:gridCol w="825500">
                  <a:extLst>
                    <a:ext uri="{9D8B030D-6E8A-4147-A177-3AD203B41FA5}">
                      <a16:colId xmlns:a16="http://schemas.microsoft.com/office/drawing/2014/main" val="3807541384"/>
                    </a:ext>
                  </a:extLst>
                </a:gridCol>
                <a:gridCol w="825500">
                  <a:extLst>
                    <a:ext uri="{9D8B030D-6E8A-4147-A177-3AD203B41FA5}">
                      <a16:colId xmlns:a16="http://schemas.microsoft.com/office/drawing/2014/main" val="1137848056"/>
                    </a:ext>
                  </a:extLst>
                </a:gridCol>
              </a:tblGrid>
              <a:tr h="279400">
                <a:tc>
                  <a:txBody>
                    <a:bodyPr/>
                    <a:lstStyle/>
                    <a:p>
                      <a:pPr algn="ctr" rtl="0" fontAlgn="ctr"/>
                      <a:r>
                        <a:rPr lang="en-US" sz="1400" u="none" strike="noStrike">
                          <a:effectLst/>
                          <a:latin typeface="Arial" panose="020B0604020202020204" pitchFamily="34" charset="0"/>
                          <a:cs typeface="Arial" panose="020B0604020202020204" pitchFamily="34" charset="0"/>
                        </a:rPr>
                        <a:t>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D</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dirty="0" err="1">
                          <a:effectLst/>
                          <a:latin typeface="Symbol" panose="05050102010706020507" pitchFamily="18" charset="2"/>
                          <a:cs typeface="Arial" panose="020B0604020202020204" pitchFamily="34" charset="0"/>
                        </a:rPr>
                        <a:t>Y</a:t>
                      </a:r>
                      <a:r>
                        <a:rPr lang="en-US" sz="1400" u="none" strike="noStrike" baseline="-25000" dirty="0" err="1">
                          <a:effectLst/>
                          <a:latin typeface="Arial" panose="020B0604020202020204" pitchFamily="34" charset="0"/>
                          <a:cs typeface="Arial" panose="020B0604020202020204" pitchFamily="34" charset="0"/>
                        </a:rPr>
                        <a:t>b,i</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F</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375190808"/>
                  </a:ext>
                </a:extLst>
              </a:tr>
              <a:tr h="304800">
                <a:tc>
                  <a:txBody>
                    <a:bodyPr/>
                    <a:lstStyle/>
                    <a:p>
                      <a:pPr algn="ctr" fontAlgn="b"/>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mm</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09662693"/>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b="1" u="none" strike="noStrike" dirty="0">
                          <a:solidFill>
                            <a:srgbClr val="FF0000"/>
                          </a:solidFill>
                          <a:effectLst/>
                          <a:latin typeface="Arial" panose="020B0604020202020204" pitchFamily="34" charset="0"/>
                          <a:cs typeface="Arial" panose="020B0604020202020204" pitchFamily="34" charset="0"/>
                        </a:rPr>
                        <a:t> 1.3</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b="1" i="0" u="none" strike="noStrike" dirty="0">
                          <a:solidFill>
                            <a:srgbClr val="FF0000"/>
                          </a:solidFill>
                          <a:effectLst/>
                          <a:latin typeface="Arial" panose="020B0604020202020204" pitchFamily="34" charset="0"/>
                          <a:cs typeface="Arial" panose="020B0604020202020204" pitchFamily="34" charset="0"/>
                        </a:rPr>
                        <a:t>0.38</a:t>
                      </a: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FFFF00"/>
                    </a:solidFill>
                  </a:tcPr>
                </a:tc>
                <a:extLst>
                  <a:ext uri="{0D108BD9-81ED-4DB2-BD59-A6C34878D82A}">
                    <a16:rowId xmlns:a16="http://schemas.microsoft.com/office/drawing/2014/main" val="177201858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-0.25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0.861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557081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0.71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-0.49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0.808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3141678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64038082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0.376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332042992"/>
                  </a:ext>
                </a:extLst>
              </a:tr>
              <a:tr h="287409">
                <a:tc>
                  <a:txBody>
                    <a:bodyPr/>
                    <a:lstStyle/>
                    <a:p>
                      <a:pPr algn="r" rtl="0" fontAlgn="b"/>
                      <a:r>
                        <a:rPr lang="en-US" sz="1400" u="none" strike="noStrike">
                          <a:effectLst/>
                          <a:latin typeface="Arial" panose="020B0604020202020204" pitchFamily="34" charset="0"/>
                          <a:cs typeface="Arial" panose="020B0604020202020204" pitchFamily="34" charset="0"/>
                        </a:rPr>
                        <a:t>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25142296"/>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016148541"/>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119901855"/>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8334770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0.073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2874452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-2.94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0.046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34103423"/>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08442829"/>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 </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FFFF00"/>
                    </a:solidFill>
                  </a:tcPr>
                </a:tc>
                <a:extLst>
                  <a:ext uri="{0D108BD9-81ED-4DB2-BD59-A6C34878D82A}">
                    <a16:rowId xmlns:a16="http://schemas.microsoft.com/office/drawing/2014/main" val="3041166932"/>
                  </a:ext>
                </a:extLst>
              </a:tr>
            </a:tbl>
          </a:graphicData>
        </a:graphic>
      </p:graphicFrame>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FDBA131-FC6A-7C43-A626-343E0AF39B3B}"/>
                  </a:ext>
                </a:extLst>
              </p:cNvPr>
              <p:cNvSpPr txBox="1"/>
              <p:nvPr/>
            </p:nvSpPr>
            <p:spPr>
              <a:xfrm>
                <a:off x="8293100" y="908590"/>
                <a:ext cx="3718647" cy="464101"/>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,11</m:t>
                            </m:r>
                          </m:sub>
                        </m:sSub>
                      </m:num>
                      <m:den>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,12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,11</m:t>
                            </m:r>
                          </m:sub>
                        </m:sSub>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b="0" i="1" smtClean="0">
                                <a:latin typeface="Cambria Math" panose="02040503050406030204" pitchFamily="18" charset="0"/>
                              </a:rPr>
                              <m:t>1</m:t>
                            </m:r>
                            <m:r>
                              <a:rPr lang="en-US" i="1">
                                <a:latin typeface="Cambria Math" panose="02040503050406030204" pitchFamily="18" charset="0"/>
                              </a:rPr>
                              <m:t>2</m:t>
                            </m:r>
                          </m:sub>
                        </m:sSub>
                      </m:e>
                    </m:d>
                  </m:oMath>
                </a14:m>
                <a:r>
                  <a:rPr lang="en-US" dirty="0"/>
                  <a:t> </a:t>
                </a:r>
              </a:p>
            </p:txBody>
          </p:sp>
        </mc:Choice>
        <mc:Fallback xmlns="">
          <p:sp>
            <p:nvSpPr>
              <p:cNvPr id="19" name="TextBox 18">
                <a:extLst>
                  <a:ext uri="{FF2B5EF4-FFF2-40B4-BE49-F238E27FC236}">
                    <a16:creationId xmlns:a16="http://schemas.microsoft.com/office/drawing/2014/main" id="{3FDBA131-FC6A-7C43-A626-343E0AF39B3B}"/>
                  </a:ext>
                </a:extLst>
              </p:cNvPr>
              <p:cNvSpPr txBox="1">
                <a:spLocks noRot="1" noChangeAspect="1" noMove="1" noResize="1" noEditPoints="1" noAdjustHandles="1" noChangeArrowheads="1" noChangeShapeType="1" noTextEdit="1"/>
              </p:cNvSpPr>
              <p:nvPr/>
            </p:nvSpPr>
            <p:spPr>
              <a:xfrm>
                <a:off x="8293100" y="908590"/>
                <a:ext cx="3718647" cy="464101"/>
              </a:xfrm>
              <a:prstGeom prst="rect">
                <a:avLst/>
              </a:prstGeom>
              <a:blipFill>
                <a:blip r:embed="rId4"/>
                <a:stretch>
                  <a:fillRect l="-2721"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8309FAC-E0EA-7840-AC8A-B474CD5428EF}"/>
                  </a:ext>
                </a:extLst>
              </p:cNvPr>
              <p:cNvSpPr txBox="1"/>
              <p:nvPr/>
            </p:nvSpPr>
            <p:spPr>
              <a:xfrm>
                <a:off x="9278770" y="2011852"/>
                <a:ext cx="1406860" cy="306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,13</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,13</m:t>
                              </m:r>
                            </m:sub>
                          </m:sSub>
                        </m:sup>
                      </m:sSup>
                    </m:oMath>
                  </m:oMathPara>
                </a14:m>
                <a:endParaRPr lang="en-US" dirty="0"/>
              </a:p>
            </p:txBody>
          </p:sp>
        </mc:Choice>
        <mc:Fallback xmlns="">
          <p:sp>
            <p:nvSpPr>
              <p:cNvPr id="20" name="TextBox 19">
                <a:extLst>
                  <a:ext uri="{FF2B5EF4-FFF2-40B4-BE49-F238E27FC236}">
                    <a16:creationId xmlns:a16="http://schemas.microsoft.com/office/drawing/2014/main" id="{A8309FAC-E0EA-7840-AC8A-B474CD5428EF}"/>
                  </a:ext>
                </a:extLst>
              </p:cNvPr>
              <p:cNvSpPr txBox="1">
                <a:spLocks noRot="1" noChangeAspect="1" noMove="1" noResize="1" noEditPoints="1" noAdjustHandles="1" noChangeArrowheads="1" noChangeShapeType="1" noTextEdit="1"/>
              </p:cNvSpPr>
              <p:nvPr/>
            </p:nvSpPr>
            <p:spPr>
              <a:xfrm>
                <a:off x="9278770" y="2011852"/>
                <a:ext cx="1406860" cy="306174"/>
              </a:xfrm>
              <a:prstGeom prst="rect">
                <a:avLst/>
              </a:prstGeom>
              <a:blipFill>
                <a:blip r:embed="rId5"/>
                <a:stretch>
                  <a:fillRect l="-3571" t="-8000"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EA4E4D2-FAE1-EE49-B36E-E1D24BBF1476}"/>
                  </a:ext>
                </a:extLst>
              </p:cNvPr>
              <p:cNvSpPr txBox="1"/>
              <p:nvPr/>
            </p:nvSpPr>
            <p:spPr>
              <a:xfrm>
                <a:off x="8473353" y="5370719"/>
                <a:ext cx="3266279" cy="464101"/>
              </a:xfrm>
              <a:prstGeom prst="rect">
                <a:avLst/>
              </a:prstGeom>
              <a:noFill/>
            </p:spPr>
            <p:txBody>
              <a:bodyPr wrap="none" lIns="0" tIns="0" rIns="0" bIns="0" rtlCol="0">
                <a:spAutoFit/>
              </a:bodyPr>
              <a:lstStyle/>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,2</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,3</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,2</m:t>
                            </m:r>
                          </m:sub>
                        </m:sSub>
                      </m:den>
                    </m:f>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b="0" i="1" smtClean="0">
                                <a:latin typeface="Cambria Math" panose="02040503050406030204" pitchFamily="18" charset="0"/>
                              </a:rPr>
                              <m:t>,</m:t>
                            </m:r>
                            <m:r>
                              <a:rPr lang="en-US" i="1">
                                <a:latin typeface="Cambria Math" panose="02040503050406030204" pitchFamily="18" charset="0"/>
                              </a:rPr>
                              <m:t>2</m:t>
                            </m:r>
                          </m:sub>
                        </m:sSub>
                        <m:r>
                          <a:rPr lang="en-US" b="0" i="1" smtClean="0">
                            <a:latin typeface="Cambria Math" panose="02040503050406030204" pitchFamily="18" charset="0"/>
                          </a:rPr>
                          <m:t>−0</m:t>
                        </m:r>
                      </m:e>
                    </m:d>
                  </m:oMath>
                </a14:m>
                <a:r>
                  <a:rPr lang="en-US" dirty="0"/>
                  <a:t> </a:t>
                </a:r>
              </a:p>
            </p:txBody>
          </p:sp>
        </mc:Choice>
        <mc:Fallback xmlns="">
          <p:sp>
            <p:nvSpPr>
              <p:cNvPr id="21" name="TextBox 20">
                <a:extLst>
                  <a:ext uri="{FF2B5EF4-FFF2-40B4-BE49-F238E27FC236}">
                    <a16:creationId xmlns:a16="http://schemas.microsoft.com/office/drawing/2014/main" id="{0EA4E4D2-FAE1-EE49-B36E-E1D24BBF1476}"/>
                  </a:ext>
                </a:extLst>
              </p:cNvPr>
              <p:cNvSpPr txBox="1">
                <a:spLocks noRot="1" noChangeAspect="1" noMove="1" noResize="1" noEditPoints="1" noAdjustHandles="1" noChangeArrowheads="1" noChangeShapeType="1" noTextEdit="1"/>
              </p:cNvSpPr>
              <p:nvPr/>
            </p:nvSpPr>
            <p:spPr>
              <a:xfrm>
                <a:off x="8473353" y="5370719"/>
                <a:ext cx="3266279" cy="464101"/>
              </a:xfrm>
              <a:prstGeom prst="rect">
                <a:avLst/>
              </a:prstGeom>
              <a:blipFill>
                <a:blip r:embed="rId6"/>
                <a:stretch>
                  <a:fillRect l="-3101"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CB47452-2C22-954C-94EB-1F8C09BC9FCB}"/>
                  </a:ext>
                </a:extLst>
              </p:cNvPr>
              <p:cNvSpPr txBox="1"/>
              <p:nvPr/>
            </p:nvSpPr>
            <p:spPr>
              <a:xfrm>
                <a:off x="8473353" y="6009880"/>
                <a:ext cx="1227324" cy="3061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m:t>
                              </m:r>
                            </m:sub>
                          </m:sSub>
                        </m:sup>
                      </m:sSup>
                    </m:oMath>
                  </m:oMathPara>
                </a14:m>
                <a:endParaRPr lang="en-US" dirty="0"/>
              </a:p>
            </p:txBody>
          </p:sp>
        </mc:Choice>
        <mc:Fallback xmlns="">
          <p:sp>
            <p:nvSpPr>
              <p:cNvPr id="23" name="TextBox 22">
                <a:extLst>
                  <a:ext uri="{FF2B5EF4-FFF2-40B4-BE49-F238E27FC236}">
                    <a16:creationId xmlns:a16="http://schemas.microsoft.com/office/drawing/2014/main" id="{7CB47452-2C22-954C-94EB-1F8C09BC9FCB}"/>
                  </a:ext>
                </a:extLst>
              </p:cNvPr>
              <p:cNvSpPr txBox="1">
                <a:spLocks noRot="1" noChangeAspect="1" noMove="1" noResize="1" noEditPoints="1" noAdjustHandles="1" noChangeArrowheads="1" noChangeShapeType="1" noTextEdit="1"/>
              </p:cNvSpPr>
              <p:nvPr/>
            </p:nvSpPr>
            <p:spPr>
              <a:xfrm>
                <a:off x="8473353" y="6009880"/>
                <a:ext cx="1227324" cy="306174"/>
              </a:xfrm>
              <a:prstGeom prst="rect">
                <a:avLst/>
              </a:prstGeom>
              <a:blipFill>
                <a:blip r:embed="rId7"/>
                <a:stretch>
                  <a:fillRect l="-4124" t="-8000" b="-8000"/>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CA0C20EF-3A9C-987A-14DB-FAE694AC8C11}"/>
              </a:ext>
            </a:extLst>
          </p:cNvPr>
          <p:cNvPicPr>
            <a:picLocks noChangeAspect="1"/>
          </p:cNvPicPr>
          <p:nvPr/>
        </p:nvPicPr>
        <p:blipFill>
          <a:blip r:embed="rId8"/>
          <a:stretch>
            <a:fillRect/>
          </a:stretch>
        </p:blipFill>
        <p:spPr>
          <a:xfrm>
            <a:off x="530352" y="1243584"/>
            <a:ext cx="5092700" cy="5016500"/>
          </a:xfrm>
          <a:prstGeom prst="rect">
            <a:avLst/>
          </a:prstGeom>
        </p:spPr>
      </p:pic>
      <p:sp>
        <p:nvSpPr>
          <p:cNvPr id="3" name="Slide Number Placeholder 2">
            <a:extLst>
              <a:ext uri="{FF2B5EF4-FFF2-40B4-BE49-F238E27FC236}">
                <a16:creationId xmlns:a16="http://schemas.microsoft.com/office/drawing/2014/main" id="{5286FB4F-19D0-1B80-1235-668576EC00D2}"/>
              </a:ext>
            </a:extLst>
          </p:cNvPr>
          <p:cNvSpPr>
            <a:spLocks noGrp="1"/>
          </p:cNvSpPr>
          <p:nvPr>
            <p:ph type="sldNum" sz="quarter" idx="12"/>
          </p:nvPr>
        </p:nvSpPr>
        <p:spPr/>
        <p:txBody>
          <a:bodyPr/>
          <a:lstStyle/>
          <a:p>
            <a:fld id="{2386C454-E1BD-5A43-901A-CA4ACC7380B7}" type="slidenum">
              <a:rPr lang="en-US" smtClean="0"/>
              <a:t>36</a:t>
            </a:fld>
            <a:endParaRPr lang="en-US"/>
          </a:p>
        </p:txBody>
      </p:sp>
    </p:spTree>
    <p:extLst>
      <p:ext uri="{BB962C8B-B14F-4D97-AF65-F5344CB8AC3E}">
        <p14:creationId xmlns:p14="http://schemas.microsoft.com/office/powerpoint/2010/main" val="3700158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Linear interpolation on the psi scale</a:t>
            </a:r>
          </a:p>
        </p:txBody>
      </p:sp>
      <p:graphicFrame>
        <p:nvGraphicFramePr>
          <p:cNvPr id="7" name="Table 6">
            <a:extLst>
              <a:ext uri="{FF2B5EF4-FFF2-40B4-BE49-F238E27FC236}">
                <a16:creationId xmlns:a16="http://schemas.microsoft.com/office/drawing/2014/main" id="{87D15FF1-95EB-E545-B19E-2F484E040C68}"/>
              </a:ext>
            </a:extLst>
          </p:cNvPr>
          <p:cNvGraphicFramePr>
            <a:graphicFrameLocks noGrp="1"/>
          </p:cNvGraphicFramePr>
          <p:nvPr>
            <p:extLst>
              <p:ext uri="{D42A27DB-BD31-4B8C-83A1-F6EECF244321}">
                <p14:modId xmlns:p14="http://schemas.microsoft.com/office/powerpoint/2010/main" val="2652496613"/>
              </p:ext>
            </p:extLst>
          </p:nvPr>
        </p:nvGraphicFramePr>
        <p:xfrm>
          <a:off x="5473392" y="1566791"/>
          <a:ext cx="3302000" cy="3746500"/>
        </p:xfrm>
        <a:graphic>
          <a:graphicData uri="http://schemas.openxmlformats.org/drawingml/2006/table">
            <a:tbl>
              <a:tblPr>
                <a:tableStyleId>{5C22544A-7EE6-4342-B048-85BDC9FD1C3A}</a:tableStyleId>
              </a:tblPr>
              <a:tblGrid>
                <a:gridCol w="825500">
                  <a:extLst>
                    <a:ext uri="{9D8B030D-6E8A-4147-A177-3AD203B41FA5}">
                      <a16:colId xmlns:a16="http://schemas.microsoft.com/office/drawing/2014/main" val="3862428138"/>
                    </a:ext>
                  </a:extLst>
                </a:gridCol>
                <a:gridCol w="825500">
                  <a:extLst>
                    <a:ext uri="{9D8B030D-6E8A-4147-A177-3AD203B41FA5}">
                      <a16:colId xmlns:a16="http://schemas.microsoft.com/office/drawing/2014/main" val="2889358345"/>
                    </a:ext>
                  </a:extLst>
                </a:gridCol>
                <a:gridCol w="825500">
                  <a:extLst>
                    <a:ext uri="{9D8B030D-6E8A-4147-A177-3AD203B41FA5}">
                      <a16:colId xmlns:a16="http://schemas.microsoft.com/office/drawing/2014/main" val="3807541384"/>
                    </a:ext>
                  </a:extLst>
                </a:gridCol>
                <a:gridCol w="825500">
                  <a:extLst>
                    <a:ext uri="{9D8B030D-6E8A-4147-A177-3AD203B41FA5}">
                      <a16:colId xmlns:a16="http://schemas.microsoft.com/office/drawing/2014/main" val="1137848056"/>
                    </a:ext>
                  </a:extLst>
                </a:gridCol>
              </a:tblGrid>
              <a:tr h="279400">
                <a:tc>
                  <a:txBody>
                    <a:bodyPr/>
                    <a:lstStyle/>
                    <a:p>
                      <a:pPr algn="ctr" rtl="0" fontAlgn="ctr"/>
                      <a:r>
                        <a:rPr lang="en-US" sz="1400" u="none" strike="noStrike">
                          <a:effectLst/>
                          <a:latin typeface="Arial" panose="020B0604020202020204" pitchFamily="34" charset="0"/>
                          <a:cs typeface="Arial" panose="020B0604020202020204" pitchFamily="34" charset="0"/>
                        </a:rPr>
                        <a:t>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D</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dirty="0" err="1">
                          <a:effectLst/>
                          <a:latin typeface="Symbol" panose="05050102010706020507" pitchFamily="18" charset="2"/>
                          <a:cs typeface="Arial" panose="020B0604020202020204" pitchFamily="34" charset="0"/>
                        </a:rPr>
                        <a:t>Y</a:t>
                      </a:r>
                      <a:r>
                        <a:rPr lang="en-US" sz="1400" u="none" strike="noStrike" baseline="-25000" dirty="0" err="1">
                          <a:effectLst/>
                          <a:latin typeface="Arial" panose="020B0604020202020204" pitchFamily="34" charset="0"/>
                          <a:cs typeface="Arial" panose="020B0604020202020204" pitchFamily="34" charset="0"/>
                        </a:rPr>
                        <a:t>b,i</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F</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2375190808"/>
                  </a:ext>
                </a:extLst>
              </a:tr>
              <a:tr h="304800">
                <a:tc>
                  <a:txBody>
                    <a:bodyPr/>
                    <a:lstStyle/>
                    <a:p>
                      <a:pPr algn="ctr" fontAlgn="b"/>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mm</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09662693"/>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b="1" u="none" strike="noStrike" dirty="0">
                          <a:solidFill>
                            <a:srgbClr val="FF0000"/>
                          </a:solidFill>
                          <a:effectLst/>
                          <a:latin typeface="Arial" panose="020B0604020202020204" pitchFamily="34" charset="0"/>
                          <a:cs typeface="Arial" panose="020B0604020202020204" pitchFamily="34" charset="0"/>
                        </a:rPr>
                        <a:t> 1.3</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b="1" i="0" u="none" strike="noStrike" dirty="0">
                          <a:solidFill>
                            <a:srgbClr val="FF0000"/>
                          </a:solidFill>
                          <a:effectLst/>
                          <a:latin typeface="Arial" panose="020B0604020202020204" pitchFamily="34" charset="0"/>
                          <a:cs typeface="Arial" panose="020B0604020202020204" pitchFamily="34" charset="0"/>
                        </a:rPr>
                        <a:t>0.38</a:t>
                      </a: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FFFF00"/>
                    </a:solidFill>
                  </a:tcPr>
                </a:tc>
                <a:extLst>
                  <a:ext uri="{0D108BD9-81ED-4DB2-BD59-A6C34878D82A}">
                    <a16:rowId xmlns:a16="http://schemas.microsoft.com/office/drawing/2014/main" val="177201858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-0.25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0.861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557081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0.71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-0.49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0.808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3141678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64038082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0.36</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0.376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332042992"/>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25142296"/>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016148541"/>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119901855"/>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83347708"/>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0.073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28744529"/>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-2.94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0.046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34103423"/>
                  </a:ext>
                </a:extLst>
              </a:tr>
              <a:tr h="241300">
                <a:tc>
                  <a:txBody>
                    <a:bodyPr/>
                    <a:lstStyle/>
                    <a:p>
                      <a:pPr algn="r" rtl="0" fontAlgn="b"/>
                      <a:r>
                        <a:rPr lang="en-US" sz="1400" u="none" strike="noStrike">
                          <a:effectLst/>
                          <a:latin typeface="Arial" panose="020B0604020202020204" pitchFamily="34" charset="0"/>
                          <a:cs typeface="Arial" panose="020B0604020202020204" pitchFamily="34" charset="0"/>
                        </a:rPr>
                        <a:t>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0.024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08442829"/>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b="1" u="none" strike="noStrike" dirty="0">
                          <a:solidFill>
                            <a:srgbClr val="FF0000"/>
                          </a:solidFill>
                          <a:effectLst/>
                          <a:latin typeface="Arial" panose="020B0604020202020204" pitchFamily="34" charset="0"/>
                          <a:cs typeface="Arial" panose="020B0604020202020204" pitchFamily="34" charset="0"/>
                        </a:rPr>
                        <a:t> 0.09</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b="1" u="none" strike="noStrike" dirty="0">
                          <a:solidFill>
                            <a:srgbClr val="FF0000"/>
                          </a:solidFill>
                          <a:effectLst/>
                          <a:latin typeface="Arial" panose="020B0604020202020204" pitchFamily="34" charset="0"/>
                          <a:cs typeface="Arial" panose="020B0604020202020204" pitchFamily="34" charset="0"/>
                        </a:rPr>
                        <a:t>-3.45</a:t>
                      </a:r>
                      <a:endParaRPr lang="en-US" sz="1400" b="1" i="0" u="none" strike="noStrike" dirty="0">
                        <a:solidFill>
                          <a:srgbClr val="FF0000"/>
                        </a:solidFill>
                        <a:effectLst/>
                        <a:latin typeface="Arial" panose="020B0604020202020204" pitchFamily="34" charset="0"/>
                        <a:cs typeface="Arial" panose="020B0604020202020204" pitchFamily="34" charset="0"/>
                      </a:endParaRPr>
                    </a:p>
                  </a:txBody>
                  <a:tcPr marL="9525" marR="9525" marT="9525" marB="0" anchor="b">
                    <a:solidFill>
                      <a:srgbClr val="92D050"/>
                    </a:solidFill>
                  </a:tcPr>
                </a:tc>
                <a:tc>
                  <a:txBody>
                    <a:bodyPr/>
                    <a:lstStyle/>
                    <a:p>
                      <a:pPr algn="r" rtl="0" fontAlgn="b"/>
                      <a:r>
                        <a:rPr lang="en-US" sz="1400" u="none" strike="noStrike" dirty="0">
                          <a:effectLst/>
                          <a:latin typeface="Arial" panose="020B0604020202020204" pitchFamily="34" charset="0"/>
                          <a:cs typeface="Arial" panose="020B0604020202020204" pitchFamily="34" charset="0"/>
                        </a:rPr>
                        <a:t>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solidFill>
                      <a:srgbClr val="FFFF00"/>
                    </a:solidFill>
                  </a:tcPr>
                </a:tc>
                <a:extLst>
                  <a:ext uri="{0D108BD9-81ED-4DB2-BD59-A6C34878D82A}">
                    <a16:rowId xmlns:a16="http://schemas.microsoft.com/office/drawing/2014/main" val="3041166932"/>
                  </a:ext>
                </a:extLst>
              </a:tr>
            </a:tbl>
          </a:graphicData>
        </a:graphic>
      </p:graphicFrame>
      <p:pic>
        <p:nvPicPr>
          <p:cNvPr id="2" name="Picture 1">
            <a:extLst>
              <a:ext uri="{FF2B5EF4-FFF2-40B4-BE49-F238E27FC236}">
                <a16:creationId xmlns:a16="http://schemas.microsoft.com/office/drawing/2014/main" id="{A245665B-F4D7-7FFA-783D-DFFDFA5367A8}"/>
              </a:ext>
            </a:extLst>
          </p:cNvPr>
          <p:cNvPicPr>
            <a:picLocks noChangeAspect="1"/>
          </p:cNvPicPr>
          <p:nvPr/>
        </p:nvPicPr>
        <p:blipFill>
          <a:blip r:embed="rId3"/>
          <a:stretch>
            <a:fillRect/>
          </a:stretch>
        </p:blipFill>
        <p:spPr>
          <a:xfrm>
            <a:off x="530352" y="1243584"/>
            <a:ext cx="5092700" cy="5016500"/>
          </a:xfrm>
          <a:prstGeom prst="rect">
            <a:avLst/>
          </a:prstGeom>
        </p:spPr>
      </p:pic>
      <p:sp>
        <p:nvSpPr>
          <p:cNvPr id="3" name="Slide Number Placeholder 2">
            <a:extLst>
              <a:ext uri="{FF2B5EF4-FFF2-40B4-BE49-F238E27FC236}">
                <a16:creationId xmlns:a16="http://schemas.microsoft.com/office/drawing/2014/main" id="{B18BD92C-6B4D-E562-F0F6-B7B17ACE8F7B}"/>
              </a:ext>
            </a:extLst>
          </p:cNvPr>
          <p:cNvSpPr>
            <a:spLocks noGrp="1"/>
          </p:cNvSpPr>
          <p:nvPr>
            <p:ph type="sldNum" sz="quarter" idx="12"/>
          </p:nvPr>
        </p:nvSpPr>
        <p:spPr/>
        <p:txBody>
          <a:bodyPr/>
          <a:lstStyle/>
          <a:p>
            <a:fld id="{2386C454-E1BD-5A43-901A-CA4ACC7380B7}" type="slidenum">
              <a:rPr lang="en-US" smtClean="0"/>
              <a:t>37</a:t>
            </a:fld>
            <a:endParaRPr lang="en-US"/>
          </a:p>
        </p:txBody>
      </p:sp>
    </p:spTree>
    <p:extLst>
      <p:ext uri="{BB962C8B-B14F-4D97-AF65-F5344CB8AC3E}">
        <p14:creationId xmlns:p14="http://schemas.microsoft.com/office/powerpoint/2010/main" val="24089784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Characteristic sizes, D</a:t>
            </a:r>
            <a:r>
              <a:rPr lang="en-US" sz="2800" b="1" baseline="-25000" dirty="0">
                <a:latin typeface="Arial" panose="020B0604020202020204" pitchFamily="34" charset="0"/>
                <a:cs typeface="Arial" panose="020B0604020202020204" pitchFamily="34" charset="0"/>
              </a:rPr>
              <a:t>50</a:t>
            </a:r>
            <a:r>
              <a:rPr lang="en-US" sz="2800" b="1" dirty="0">
                <a:latin typeface="Arial" panose="020B0604020202020204" pitchFamily="34" charset="0"/>
                <a:cs typeface="Arial" panose="020B0604020202020204" pitchFamily="34" charset="0"/>
              </a:rPr>
              <a:t>, D</a:t>
            </a:r>
            <a:r>
              <a:rPr lang="en-US" sz="2800" b="1" baseline="-25000" dirty="0">
                <a:latin typeface="Arial" panose="020B0604020202020204" pitchFamily="34" charset="0"/>
                <a:cs typeface="Arial" panose="020B0604020202020204" pitchFamily="34" charset="0"/>
              </a:rPr>
              <a:t>90</a:t>
            </a:r>
            <a:r>
              <a:rPr lang="en-US" sz="2800" b="1" dirty="0">
                <a:latin typeface="Arial" panose="020B0604020202020204" pitchFamily="34" charset="0"/>
                <a:cs typeface="Arial" panose="020B0604020202020204" pitchFamily="34" charset="0"/>
              </a:rPr>
              <a:t>, D</a:t>
            </a:r>
            <a:r>
              <a:rPr lang="en-US" sz="2800" b="1" baseline="-25000" dirty="0">
                <a:latin typeface="Arial" panose="020B0604020202020204" pitchFamily="34" charset="0"/>
                <a:cs typeface="Arial" panose="020B0604020202020204" pitchFamily="34" charset="0"/>
              </a:rPr>
              <a:t>x</a:t>
            </a:r>
          </a:p>
        </p:txBody>
      </p:sp>
      <p:sp>
        <p:nvSpPr>
          <p:cNvPr id="2" name="TextBox 1">
            <a:extLst>
              <a:ext uri="{FF2B5EF4-FFF2-40B4-BE49-F238E27FC236}">
                <a16:creationId xmlns:a16="http://schemas.microsoft.com/office/drawing/2014/main" id="{1B9C9799-7482-F749-AA80-C767E13C0735}"/>
              </a:ext>
            </a:extLst>
          </p:cNvPr>
          <p:cNvSpPr txBox="1"/>
          <p:nvPr/>
        </p:nvSpPr>
        <p:spPr>
          <a:xfrm>
            <a:off x="1478844" y="835378"/>
            <a:ext cx="10566400" cy="3670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 diameter such that X% of the sediment is finer</a:t>
            </a:r>
          </a:p>
        </p:txBody>
      </p:sp>
      <p:cxnSp>
        <p:nvCxnSpPr>
          <p:cNvPr id="7" name="Straight Connector 6">
            <a:extLst>
              <a:ext uri="{FF2B5EF4-FFF2-40B4-BE49-F238E27FC236}">
                <a16:creationId xmlns:a16="http://schemas.microsoft.com/office/drawing/2014/main" id="{74F63053-C91E-F94F-81B8-57842F779670}"/>
              </a:ext>
            </a:extLst>
          </p:cNvPr>
          <p:cNvCxnSpPr/>
          <p:nvPr/>
        </p:nvCxnSpPr>
        <p:spPr>
          <a:xfrm>
            <a:off x="1354016" y="1761067"/>
            <a:ext cx="26422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BCEAF46-237A-DB46-BE37-ABC8283AC287}"/>
              </a:ext>
            </a:extLst>
          </p:cNvPr>
          <p:cNvCxnSpPr/>
          <p:nvPr/>
        </p:nvCxnSpPr>
        <p:spPr>
          <a:xfrm>
            <a:off x="3973689" y="1772356"/>
            <a:ext cx="0" cy="37778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C2EDFFB-2CD2-9542-BFD1-A3A6B6C72C45}"/>
              </a:ext>
            </a:extLst>
          </p:cNvPr>
          <p:cNvCxnSpPr/>
          <p:nvPr/>
        </p:nvCxnSpPr>
        <p:spPr>
          <a:xfrm>
            <a:off x="1354016" y="3440289"/>
            <a:ext cx="22245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E84FE4-870D-7240-B19A-6A8018587CC9}"/>
              </a:ext>
            </a:extLst>
          </p:cNvPr>
          <p:cNvCxnSpPr/>
          <p:nvPr/>
        </p:nvCxnSpPr>
        <p:spPr>
          <a:xfrm>
            <a:off x="3578578" y="3429000"/>
            <a:ext cx="0" cy="21212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
            <a:extLst>
              <a:ext uri="{FF2B5EF4-FFF2-40B4-BE49-F238E27FC236}">
                <a16:creationId xmlns:a16="http://schemas.microsoft.com/office/drawing/2014/main" id="{247926E8-7976-FE4B-BC90-1EFCE9F699C7}"/>
              </a:ext>
            </a:extLst>
          </p:cNvPr>
          <p:cNvSpPr txBox="1"/>
          <p:nvPr/>
        </p:nvSpPr>
        <p:spPr>
          <a:xfrm>
            <a:off x="3499559" y="5163951"/>
            <a:ext cx="553150" cy="355600"/>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800" dirty="0">
                <a:latin typeface="Arial" panose="020B0604020202020204" pitchFamily="34" charset="0"/>
                <a:cs typeface="Arial" panose="020B0604020202020204" pitchFamily="34" charset="0"/>
              </a:rPr>
              <a:t>D</a:t>
            </a:r>
            <a:r>
              <a:rPr lang="en-US" sz="1800" baseline="-25000" dirty="0">
                <a:latin typeface="Arial" panose="020B0604020202020204" pitchFamily="34" charset="0"/>
                <a:cs typeface="Arial" panose="020B0604020202020204" pitchFamily="34" charset="0"/>
              </a:rPr>
              <a:t>50</a:t>
            </a:r>
          </a:p>
        </p:txBody>
      </p:sp>
      <p:sp>
        <p:nvSpPr>
          <p:cNvPr id="14" name="TextBox 13">
            <a:extLst>
              <a:ext uri="{FF2B5EF4-FFF2-40B4-BE49-F238E27FC236}">
                <a16:creationId xmlns:a16="http://schemas.microsoft.com/office/drawing/2014/main" id="{43AD70CA-2637-7943-B084-62896F72350C}"/>
              </a:ext>
            </a:extLst>
          </p:cNvPr>
          <p:cNvSpPr txBox="1"/>
          <p:nvPr/>
        </p:nvSpPr>
        <p:spPr>
          <a:xfrm>
            <a:off x="8263467" y="1202400"/>
            <a:ext cx="3928533"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50</a:t>
            </a:r>
            <a:r>
              <a:rPr lang="en-US" dirty="0">
                <a:latin typeface="Arial" panose="020B0604020202020204" pitchFamily="34" charset="0"/>
                <a:cs typeface="Arial" panose="020B0604020202020204" pitchFamily="34" charset="0"/>
              </a:rPr>
              <a:t> = median size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90</a:t>
            </a:r>
            <a:r>
              <a:rPr lang="en-US" dirty="0">
                <a:latin typeface="Arial" panose="020B0604020202020204" pitchFamily="34" charset="0"/>
                <a:cs typeface="Arial" panose="020B0604020202020204" pitchFamily="34" charset="0"/>
              </a:rPr>
              <a:t> = scale for the roughness height</a:t>
            </a:r>
          </a:p>
        </p:txBody>
      </p:sp>
      <p:graphicFrame>
        <p:nvGraphicFramePr>
          <p:cNvPr id="3" name="Table 2">
            <a:extLst>
              <a:ext uri="{FF2B5EF4-FFF2-40B4-BE49-F238E27FC236}">
                <a16:creationId xmlns:a16="http://schemas.microsoft.com/office/drawing/2014/main" id="{D8925400-19A0-2743-96CB-CEB7573A485A}"/>
              </a:ext>
            </a:extLst>
          </p:cNvPr>
          <p:cNvGraphicFramePr>
            <a:graphicFrameLocks noGrp="1"/>
          </p:cNvGraphicFramePr>
          <p:nvPr>
            <p:extLst>
              <p:ext uri="{D42A27DB-BD31-4B8C-83A1-F6EECF244321}">
                <p14:modId xmlns:p14="http://schemas.microsoft.com/office/powerpoint/2010/main" val="1770028199"/>
              </p:ext>
            </p:extLst>
          </p:nvPr>
        </p:nvGraphicFramePr>
        <p:xfrm>
          <a:off x="5442662" y="1633351"/>
          <a:ext cx="2527300" cy="3886200"/>
        </p:xfrm>
        <a:graphic>
          <a:graphicData uri="http://schemas.openxmlformats.org/drawingml/2006/table">
            <a:tbl>
              <a:tblPr>
                <a:tableStyleId>{5C22544A-7EE6-4342-B048-85BDC9FD1C3A}</a:tableStyleId>
              </a:tblPr>
              <a:tblGrid>
                <a:gridCol w="546100">
                  <a:extLst>
                    <a:ext uri="{9D8B030D-6E8A-4147-A177-3AD203B41FA5}">
                      <a16:colId xmlns:a16="http://schemas.microsoft.com/office/drawing/2014/main" val="1976072368"/>
                    </a:ext>
                  </a:extLst>
                </a:gridCol>
                <a:gridCol w="762000">
                  <a:extLst>
                    <a:ext uri="{9D8B030D-6E8A-4147-A177-3AD203B41FA5}">
                      <a16:colId xmlns:a16="http://schemas.microsoft.com/office/drawing/2014/main" val="3483454817"/>
                    </a:ext>
                  </a:extLst>
                </a:gridCol>
                <a:gridCol w="647700">
                  <a:extLst>
                    <a:ext uri="{9D8B030D-6E8A-4147-A177-3AD203B41FA5}">
                      <a16:colId xmlns:a16="http://schemas.microsoft.com/office/drawing/2014/main" val="2588475461"/>
                    </a:ext>
                  </a:extLst>
                </a:gridCol>
                <a:gridCol w="571500">
                  <a:extLst>
                    <a:ext uri="{9D8B030D-6E8A-4147-A177-3AD203B41FA5}">
                      <a16:colId xmlns:a16="http://schemas.microsoft.com/office/drawing/2014/main" val="1639922774"/>
                    </a:ext>
                  </a:extLst>
                </a:gridCol>
              </a:tblGrid>
              <a:tr h="266700">
                <a:tc>
                  <a:txBody>
                    <a:bodyPr/>
                    <a:lstStyle/>
                    <a:p>
                      <a:pPr algn="ctr" rtl="0" fontAlgn="ctr"/>
                      <a:r>
                        <a:rPr lang="en-US" sz="1400" u="none" strike="noStrike">
                          <a:effectLst/>
                          <a:latin typeface="Arial" panose="020B0604020202020204" pitchFamily="34" charset="0"/>
                          <a:cs typeface="Arial" panose="020B0604020202020204" pitchFamily="34" charset="0"/>
                        </a:rPr>
                        <a:t>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D</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dirty="0" err="1">
                          <a:effectLst/>
                          <a:latin typeface="Symbol" panose="05050102010706020507" pitchFamily="18" charset="2"/>
                          <a:cs typeface="Arial" panose="020B0604020202020204" pitchFamily="34" charset="0"/>
                        </a:rPr>
                        <a:t>Y</a:t>
                      </a:r>
                      <a:r>
                        <a:rPr lang="en-US" sz="1400" u="none" strike="noStrike" baseline="-25000" dirty="0" err="1">
                          <a:effectLst/>
                          <a:latin typeface="Arial" panose="020B0604020202020204" pitchFamily="34" charset="0"/>
                          <a:cs typeface="Arial" panose="020B0604020202020204" pitchFamily="34" charset="0"/>
                        </a:rPr>
                        <a:t>b,i</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rtl="0" fontAlgn="ctr"/>
                      <a:r>
                        <a:rPr lang="en-US" sz="1400" u="none" strike="noStrike">
                          <a:effectLst/>
                          <a:latin typeface="Arial" panose="020B0604020202020204" pitchFamily="34" charset="0"/>
                          <a:cs typeface="Arial" panose="020B0604020202020204" pitchFamily="34" charset="0"/>
                        </a:rPr>
                        <a:t>F</a:t>
                      </a:r>
                      <a:r>
                        <a:rPr lang="en-US" sz="1400" u="none" strike="noStrike" baseline="-25000">
                          <a:effectLst/>
                          <a:latin typeface="Arial" panose="020B0604020202020204" pitchFamily="34" charset="0"/>
                          <a:cs typeface="Arial" panose="020B0604020202020204" pitchFamily="34" charset="0"/>
                        </a:rPr>
                        <a:t>b,i</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3386243147"/>
                  </a:ext>
                </a:extLst>
              </a:tr>
              <a:tr h="317500">
                <a:tc>
                  <a:txBody>
                    <a:bodyPr/>
                    <a:lstStyle/>
                    <a:p>
                      <a:pPr algn="ctr" fontAlgn="b"/>
                      <a:r>
                        <a:rPr lang="en-US" sz="1800" u="none" strike="noStrike">
                          <a:effectLst/>
                          <a:latin typeface="Arial" panose="020B0604020202020204" pitchFamily="34" charset="0"/>
                          <a:cs typeface="Arial" panose="020B0604020202020204" pitchFamily="34" charset="0"/>
                        </a:rPr>
                        <a:t> </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mm</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ctr" rtl="0" fontAlgn="b"/>
                      <a:r>
                        <a:rPr lang="en-US" sz="1400" u="none" strike="noStrike">
                          <a:effectLst/>
                          <a:latin typeface="Arial" panose="020B0604020202020204" pitchFamily="34" charset="0"/>
                          <a:cs typeface="Arial" panose="020B0604020202020204" pitchFamily="34" charset="0"/>
                        </a:rPr>
                        <a:t> </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814700415"/>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1.31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602110173"/>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154812148"/>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0.71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-0.49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0.81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846213032"/>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0.52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957999801"/>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23145901"/>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-1.74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0.32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100524922"/>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-2.00</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06943306"/>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6</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0.21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-2.25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40044856"/>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-2.47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169330689"/>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-2.74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0.07</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50505114"/>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0.13</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-2.94</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422872427"/>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0.11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-3.18</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0.02</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74686635"/>
                  </a:ext>
                </a:extLst>
              </a:tr>
              <a:tr h="254000">
                <a:tc>
                  <a:txBody>
                    <a:bodyPr/>
                    <a:lstStyle/>
                    <a:p>
                      <a:pPr algn="r" rtl="0" fontAlgn="b"/>
                      <a:r>
                        <a:rPr lang="en-US" sz="1400" u="none" strike="noStrike">
                          <a:effectLst/>
                          <a:latin typeface="Arial" panose="020B0604020202020204" pitchFamily="34" charset="0"/>
                          <a:cs typeface="Arial" panose="020B0604020202020204" pitchFamily="34" charset="0"/>
                        </a:rPr>
                        <a:t>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0.09</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a:effectLst/>
                          <a:latin typeface="Arial" panose="020B0604020202020204" pitchFamily="34" charset="0"/>
                          <a:cs typeface="Arial" panose="020B0604020202020204" pitchFamily="34" charset="0"/>
                        </a:rPr>
                        <a:t>-3.45</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rtl="0" fontAlgn="b"/>
                      <a:r>
                        <a:rPr lang="en-US" sz="1400" u="none" strike="noStrike" dirty="0">
                          <a:effectLst/>
                          <a:latin typeface="Arial" panose="020B0604020202020204" pitchFamily="34" charset="0"/>
                          <a:cs typeface="Arial" panose="020B0604020202020204" pitchFamily="34" charset="0"/>
                        </a:rPr>
                        <a:t>0.00</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644539709"/>
                  </a:ext>
                </a:extLst>
              </a:tr>
            </a:tbl>
          </a:graphicData>
        </a:graphic>
      </p:graphicFrame>
      <p:pic>
        <p:nvPicPr>
          <p:cNvPr id="8" name="Picture 7">
            <a:extLst>
              <a:ext uri="{FF2B5EF4-FFF2-40B4-BE49-F238E27FC236}">
                <a16:creationId xmlns:a16="http://schemas.microsoft.com/office/drawing/2014/main" id="{4F1236B8-04CE-5B7F-DF43-D9939C5F5B9A}"/>
              </a:ext>
            </a:extLst>
          </p:cNvPr>
          <p:cNvPicPr>
            <a:picLocks noChangeAspect="1"/>
          </p:cNvPicPr>
          <p:nvPr/>
        </p:nvPicPr>
        <p:blipFill>
          <a:blip r:embed="rId2"/>
          <a:stretch>
            <a:fillRect/>
          </a:stretch>
        </p:blipFill>
        <p:spPr>
          <a:xfrm>
            <a:off x="539496" y="1197864"/>
            <a:ext cx="5219700" cy="5029200"/>
          </a:xfrm>
          <a:prstGeom prst="rect">
            <a:avLst/>
          </a:prstGeom>
        </p:spPr>
      </p:pic>
      <p:sp>
        <p:nvSpPr>
          <p:cNvPr id="6" name="Slide Number Placeholder 5">
            <a:extLst>
              <a:ext uri="{FF2B5EF4-FFF2-40B4-BE49-F238E27FC236}">
                <a16:creationId xmlns:a16="http://schemas.microsoft.com/office/drawing/2014/main" id="{B7A2A517-E3B7-14F2-7F02-8B73B8F79307}"/>
              </a:ext>
            </a:extLst>
          </p:cNvPr>
          <p:cNvSpPr>
            <a:spLocks noGrp="1"/>
          </p:cNvSpPr>
          <p:nvPr>
            <p:ph type="sldNum" sz="quarter" idx="12"/>
          </p:nvPr>
        </p:nvSpPr>
        <p:spPr/>
        <p:txBody>
          <a:bodyPr/>
          <a:lstStyle/>
          <a:p>
            <a:fld id="{2386C454-E1BD-5A43-901A-CA4ACC7380B7}" type="slidenum">
              <a:rPr lang="en-US" smtClean="0"/>
              <a:t>38</a:t>
            </a:fld>
            <a:endParaRPr lang="en-US"/>
          </a:p>
        </p:txBody>
      </p:sp>
    </p:spTree>
    <p:extLst>
      <p:ext uri="{BB962C8B-B14F-4D97-AF65-F5344CB8AC3E}">
        <p14:creationId xmlns:p14="http://schemas.microsoft.com/office/powerpoint/2010/main" val="18474774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Characteristic sizes, D</a:t>
            </a:r>
            <a:r>
              <a:rPr lang="en-US" sz="2800" b="1" baseline="-25000" dirty="0">
                <a:latin typeface="Arial" panose="020B0604020202020204" pitchFamily="34" charset="0"/>
                <a:cs typeface="Arial" panose="020B0604020202020204" pitchFamily="34" charset="0"/>
              </a:rPr>
              <a:t>50</a:t>
            </a:r>
            <a:r>
              <a:rPr lang="en-US" sz="2800" b="1" dirty="0">
                <a:latin typeface="Arial" panose="020B0604020202020204" pitchFamily="34" charset="0"/>
                <a:cs typeface="Arial" panose="020B0604020202020204" pitchFamily="34" charset="0"/>
              </a:rPr>
              <a:t>, D</a:t>
            </a:r>
            <a:r>
              <a:rPr lang="en-US" sz="2800" b="1" baseline="-25000" dirty="0">
                <a:latin typeface="Arial" panose="020B0604020202020204" pitchFamily="34" charset="0"/>
                <a:cs typeface="Arial" panose="020B0604020202020204" pitchFamily="34" charset="0"/>
              </a:rPr>
              <a:t>90</a:t>
            </a:r>
            <a:r>
              <a:rPr lang="en-US" sz="2800" b="1" dirty="0">
                <a:latin typeface="Arial" panose="020B0604020202020204" pitchFamily="34" charset="0"/>
                <a:cs typeface="Arial" panose="020B0604020202020204" pitchFamily="34" charset="0"/>
              </a:rPr>
              <a:t>, D</a:t>
            </a:r>
            <a:r>
              <a:rPr lang="en-US" sz="2800" b="1" baseline="-25000" dirty="0">
                <a:latin typeface="Arial" panose="020B0604020202020204" pitchFamily="34" charset="0"/>
                <a:cs typeface="Arial" panose="020B0604020202020204" pitchFamily="34" charset="0"/>
              </a:rPr>
              <a:t>x</a:t>
            </a:r>
          </a:p>
        </p:txBody>
      </p:sp>
      <p:sp>
        <p:nvSpPr>
          <p:cNvPr id="2" name="TextBox 1">
            <a:extLst>
              <a:ext uri="{FF2B5EF4-FFF2-40B4-BE49-F238E27FC236}">
                <a16:creationId xmlns:a16="http://schemas.microsoft.com/office/drawing/2014/main" id="{1B9C9799-7482-F749-AA80-C767E13C0735}"/>
              </a:ext>
            </a:extLst>
          </p:cNvPr>
          <p:cNvSpPr txBox="1"/>
          <p:nvPr/>
        </p:nvSpPr>
        <p:spPr>
          <a:xfrm>
            <a:off x="1478844" y="835378"/>
            <a:ext cx="10566400" cy="3670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X</a:t>
            </a:r>
            <a:r>
              <a:rPr lang="en-US" dirty="0">
                <a:latin typeface="Arial" panose="020B0604020202020204" pitchFamily="34" charset="0"/>
                <a:cs typeface="Arial" panose="020B0604020202020204" pitchFamily="34" charset="0"/>
              </a:rPr>
              <a:t> = diameter such that X% of the sediment is finer</a:t>
            </a:r>
          </a:p>
        </p:txBody>
      </p:sp>
      <p:cxnSp>
        <p:nvCxnSpPr>
          <p:cNvPr id="7" name="Straight Connector 6">
            <a:extLst>
              <a:ext uri="{FF2B5EF4-FFF2-40B4-BE49-F238E27FC236}">
                <a16:creationId xmlns:a16="http://schemas.microsoft.com/office/drawing/2014/main" id="{74F63053-C91E-F94F-81B8-57842F779670}"/>
              </a:ext>
            </a:extLst>
          </p:cNvPr>
          <p:cNvCxnSpPr/>
          <p:nvPr/>
        </p:nvCxnSpPr>
        <p:spPr>
          <a:xfrm>
            <a:off x="1354016" y="1761067"/>
            <a:ext cx="26422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BCEAF46-237A-DB46-BE37-ABC8283AC287}"/>
              </a:ext>
            </a:extLst>
          </p:cNvPr>
          <p:cNvCxnSpPr/>
          <p:nvPr/>
        </p:nvCxnSpPr>
        <p:spPr>
          <a:xfrm>
            <a:off x="3973689" y="1772356"/>
            <a:ext cx="0" cy="37778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C2EDFFB-2CD2-9542-BFD1-A3A6B6C72C45}"/>
              </a:ext>
            </a:extLst>
          </p:cNvPr>
          <p:cNvCxnSpPr/>
          <p:nvPr/>
        </p:nvCxnSpPr>
        <p:spPr>
          <a:xfrm>
            <a:off x="1354016" y="3440289"/>
            <a:ext cx="22245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E84FE4-870D-7240-B19A-6A8018587CC9}"/>
              </a:ext>
            </a:extLst>
          </p:cNvPr>
          <p:cNvCxnSpPr/>
          <p:nvPr/>
        </p:nvCxnSpPr>
        <p:spPr>
          <a:xfrm>
            <a:off x="3578578" y="3429000"/>
            <a:ext cx="0" cy="21212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
            <a:extLst>
              <a:ext uri="{FF2B5EF4-FFF2-40B4-BE49-F238E27FC236}">
                <a16:creationId xmlns:a16="http://schemas.microsoft.com/office/drawing/2014/main" id="{247926E8-7976-FE4B-BC90-1EFCE9F699C7}"/>
              </a:ext>
            </a:extLst>
          </p:cNvPr>
          <p:cNvSpPr txBox="1"/>
          <p:nvPr/>
        </p:nvSpPr>
        <p:spPr>
          <a:xfrm>
            <a:off x="3499559" y="5163951"/>
            <a:ext cx="553150" cy="355600"/>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800" dirty="0">
                <a:latin typeface="Arial" panose="020B0604020202020204" pitchFamily="34" charset="0"/>
                <a:cs typeface="Arial" panose="020B0604020202020204" pitchFamily="34" charset="0"/>
              </a:rPr>
              <a:t>D</a:t>
            </a:r>
            <a:r>
              <a:rPr lang="en-US" sz="1800" baseline="-25000" dirty="0">
                <a:latin typeface="Arial" panose="020B0604020202020204" pitchFamily="34" charset="0"/>
                <a:cs typeface="Arial" panose="020B0604020202020204" pitchFamily="34" charset="0"/>
              </a:rPr>
              <a:t>50</a:t>
            </a:r>
          </a:p>
        </p:txBody>
      </p:sp>
      <p:sp>
        <p:nvSpPr>
          <p:cNvPr id="14" name="TextBox 13">
            <a:extLst>
              <a:ext uri="{FF2B5EF4-FFF2-40B4-BE49-F238E27FC236}">
                <a16:creationId xmlns:a16="http://schemas.microsoft.com/office/drawing/2014/main" id="{43AD70CA-2637-7943-B084-62896F72350C}"/>
              </a:ext>
            </a:extLst>
          </p:cNvPr>
          <p:cNvSpPr txBox="1"/>
          <p:nvPr/>
        </p:nvSpPr>
        <p:spPr>
          <a:xfrm>
            <a:off x="8263467" y="1202400"/>
            <a:ext cx="3928533"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50</a:t>
            </a:r>
            <a:r>
              <a:rPr lang="en-US" dirty="0">
                <a:latin typeface="Arial" panose="020B0604020202020204" pitchFamily="34" charset="0"/>
                <a:cs typeface="Arial" panose="020B0604020202020204" pitchFamily="34" charset="0"/>
              </a:rPr>
              <a:t> = median size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90</a:t>
            </a:r>
            <a:r>
              <a:rPr lang="en-US" dirty="0">
                <a:latin typeface="Arial" panose="020B0604020202020204" pitchFamily="34" charset="0"/>
                <a:cs typeface="Arial" panose="020B0604020202020204" pitchFamily="34" charset="0"/>
              </a:rPr>
              <a:t> = scale for the roughness height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257CFD7-6083-1844-80A3-57C8AF63CECE}"/>
                  </a:ext>
                </a:extLst>
              </p:cNvPr>
              <p:cNvSpPr txBox="1"/>
              <p:nvPr/>
            </p:nvSpPr>
            <p:spPr>
              <a:xfrm>
                <a:off x="8072489" y="3212551"/>
                <a:ext cx="3972754" cy="5940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50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,9</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,9</m:t>
                              </m:r>
                            </m:sub>
                          </m:sSub>
                        </m:num>
                        <m:den>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,10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,9</m:t>
                              </m:r>
                            </m:sub>
                          </m:sSub>
                        </m:den>
                      </m:f>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50</m:t>
                              </m:r>
                            </m:num>
                            <m:den>
                              <m:r>
                                <a:rPr lang="en-US" b="0" i="1" smtClean="0">
                                  <a:latin typeface="Cambria Math" panose="02040503050406030204" pitchFamily="18" charset="0"/>
                                </a:rPr>
                                <m:t>100</m:t>
                              </m:r>
                            </m:den>
                          </m:f>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smtClean="0">
                                  <a:latin typeface="Cambria Math" panose="02040503050406030204" pitchFamily="18" charset="0"/>
                                </a:rPr>
                                <m:t>𝑏</m:t>
                              </m:r>
                              <m:r>
                                <a:rPr lang="en-US" i="1">
                                  <a:latin typeface="Cambria Math" panose="02040503050406030204" pitchFamily="18" charset="0"/>
                                </a:rPr>
                                <m:t>,9</m:t>
                              </m:r>
                            </m:sub>
                          </m:sSub>
                        </m:e>
                      </m:d>
                    </m:oMath>
                  </m:oMathPara>
                </a14:m>
                <a:endParaRPr lang="en-US" dirty="0"/>
              </a:p>
            </p:txBody>
          </p:sp>
        </mc:Choice>
        <mc:Fallback xmlns="">
          <p:sp>
            <p:nvSpPr>
              <p:cNvPr id="15" name="TextBox 14">
                <a:extLst>
                  <a:ext uri="{FF2B5EF4-FFF2-40B4-BE49-F238E27FC236}">
                    <a16:creationId xmlns:a16="http://schemas.microsoft.com/office/drawing/2014/main" id="{A257CFD7-6083-1844-80A3-57C8AF63CECE}"/>
                  </a:ext>
                </a:extLst>
              </p:cNvPr>
              <p:cNvSpPr txBox="1">
                <a:spLocks noRot="1" noChangeAspect="1" noMove="1" noResize="1" noEditPoints="1" noAdjustHandles="1" noChangeArrowheads="1" noChangeShapeType="1" noTextEdit="1"/>
              </p:cNvSpPr>
              <p:nvPr/>
            </p:nvSpPr>
            <p:spPr>
              <a:xfrm>
                <a:off x="8072489" y="3212551"/>
                <a:ext cx="3972754" cy="594009"/>
              </a:xfrm>
              <a:prstGeom prst="rect">
                <a:avLst/>
              </a:prstGeom>
              <a:blipFill>
                <a:blip r:embed="rId3"/>
                <a:stretch>
                  <a:fillRect l="-318" t="-2083" b="-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E040E72-3A8F-7C48-8828-A1E6780C5839}"/>
                  </a:ext>
                </a:extLst>
              </p:cNvPr>
              <p:cNvSpPr txBox="1"/>
              <p:nvPr/>
            </p:nvSpPr>
            <p:spPr>
              <a:xfrm>
                <a:off x="8143650" y="3983809"/>
                <a:ext cx="1147494" cy="2876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50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ea typeface="Cambria Math" panose="02040503050406030204" pitchFamily="18" charset="0"/>
                                </a:rPr>
                                <m:t>50</m:t>
                              </m:r>
                            </m:sub>
                          </m:sSub>
                        </m:sup>
                      </m:sSup>
                    </m:oMath>
                  </m:oMathPara>
                </a14:m>
                <a:endParaRPr lang="en-US" dirty="0"/>
              </a:p>
            </p:txBody>
          </p:sp>
        </mc:Choice>
        <mc:Fallback xmlns="">
          <p:sp>
            <p:nvSpPr>
              <p:cNvPr id="17" name="TextBox 16">
                <a:extLst>
                  <a:ext uri="{FF2B5EF4-FFF2-40B4-BE49-F238E27FC236}">
                    <a16:creationId xmlns:a16="http://schemas.microsoft.com/office/drawing/2014/main" id="{7E040E72-3A8F-7C48-8828-A1E6780C5839}"/>
                  </a:ext>
                </a:extLst>
              </p:cNvPr>
              <p:cNvSpPr txBox="1">
                <a:spLocks noRot="1" noChangeAspect="1" noMove="1" noResize="1" noEditPoints="1" noAdjustHandles="1" noChangeArrowheads="1" noChangeShapeType="1" noTextEdit="1"/>
              </p:cNvSpPr>
              <p:nvPr/>
            </p:nvSpPr>
            <p:spPr>
              <a:xfrm>
                <a:off x="8143650" y="3983809"/>
                <a:ext cx="1147494" cy="287643"/>
              </a:xfrm>
              <a:prstGeom prst="rect">
                <a:avLst/>
              </a:prstGeom>
              <a:blipFill>
                <a:blip r:embed="rId4"/>
                <a:stretch>
                  <a:fillRect l="-4396" t="-4167"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CC6EA79-A5C3-684D-B0A5-2B7132FCCA71}"/>
                  </a:ext>
                </a:extLst>
              </p:cNvPr>
              <p:cNvSpPr txBox="1"/>
              <p:nvPr/>
            </p:nvSpPr>
            <p:spPr>
              <a:xfrm>
                <a:off x="8012073" y="2195747"/>
                <a:ext cx="4179927" cy="5940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ea typeface="Cambria Math" panose="02040503050406030204" pitchFamily="18" charset="0"/>
                            </a:rPr>
                            <m:t>9</m:t>
                          </m:r>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rPr>
                                <m:t>𝑏</m:t>
                              </m:r>
                              <m:r>
                                <a:rPr lang="en-US" i="1">
                                  <a:latin typeface="Cambria Math" panose="02040503050406030204" pitchFamily="18" charset="0"/>
                                </a:rPr>
                                <m:t>,12</m:t>
                              </m:r>
                            </m:sub>
                          </m:sSub>
                        </m:num>
                        <m:den>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,13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a:latin typeface="Cambria Math" panose="02040503050406030204" pitchFamily="18" charset="0"/>
                                </a:rPr>
                                <m:t>𝑏</m:t>
                              </m:r>
                              <m:r>
                                <a:rPr lang="en-US" i="1">
                                  <a:latin typeface="Cambria Math" panose="02040503050406030204" pitchFamily="18" charset="0"/>
                                </a:rPr>
                                <m:t>,12</m:t>
                              </m:r>
                            </m:sub>
                          </m:sSub>
                        </m:den>
                      </m:f>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90</m:t>
                              </m:r>
                            </m:num>
                            <m:den>
                              <m:r>
                                <a:rPr lang="en-US" b="0" i="1" smtClean="0">
                                  <a:latin typeface="Cambria Math" panose="02040503050406030204" pitchFamily="18" charset="0"/>
                                </a:rPr>
                                <m:t>100</m:t>
                              </m:r>
                            </m:den>
                          </m:f>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𝐹</m:t>
                              </m:r>
                            </m:e>
                            <m:sub>
                              <m:r>
                                <a:rPr lang="en-US" i="1" smtClean="0">
                                  <a:latin typeface="Cambria Math" panose="02040503050406030204" pitchFamily="18" charset="0"/>
                                </a:rPr>
                                <m:t>𝑏</m:t>
                              </m:r>
                              <m:r>
                                <a:rPr lang="en-US" i="1">
                                  <a:latin typeface="Cambria Math" panose="02040503050406030204" pitchFamily="18" charset="0"/>
                                </a:rPr>
                                <m:t>,</m:t>
                              </m:r>
                              <m:r>
                                <a:rPr lang="en-US" b="0" i="1" smtClean="0">
                                  <a:latin typeface="Cambria Math" panose="02040503050406030204" pitchFamily="18" charset="0"/>
                                </a:rPr>
                                <m:t>12</m:t>
                              </m:r>
                            </m:sub>
                          </m:sSub>
                        </m:e>
                      </m:d>
                    </m:oMath>
                  </m:oMathPara>
                </a14:m>
                <a:endParaRPr lang="en-US" dirty="0"/>
              </a:p>
            </p:txBody>
          </p:sp>
        </mc:Choice>
        <mc:Fallback xmlns="">
          <p:sp>
            <p:nvSpPr>
              <p:cNvPr id="18" name="TextBox 17">
                <a:extLst>
                  <a:ext uri="{FF2B5EF4-FFF2-40B4-BE49-F238E27FC236}">
                    <a16:creationId xmlns:a16="http://schemas.microsoft.com/office/drawing/2014/main" id="{ECC6EA79-A5C3-684D-B0A5-2B7132FCCA71}"/>
                  </a:ext>
                </a:extLst>
              </p:cNvPr>
              <p:cNvSpPr txBox="1">
                <a:spLocks noRot="1" noChangeAspect="1" noMove="1" noResize="1" noEditPoints="1" noAdjustHandles="1" noChangeArrowheads="1" noChangeShapeType="1" noTextEdit="1"/>
              </p:cNvSpPr>
              <p:nvPr/>
            </p:nvSpPr>
            <p:spPr>
              <a:xfrm>
                <a:off x="8012073" y="2195747"/>
                <a:ext cx="4179927" cy="594009"/>
              </a:xfrm>
              <a:prstGeom prst="rect">
                <a:avLst/>
              </a:prstGeom>
              <a:blipFill>
                <a:blip r:embed="rId5"/>
                <a:stretch>
                  <a:fillRect l="-1208" t="-4167" b="-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5D0E5EC-0B17-F14F-943F-9258D6C6CBEB}"/>
                  </a:ext>
                </a:extLst>
              </p:cNvPr>
              <p:cNvSpPr txBox="1"/>
              <p:nvPr/>
            </p:nvSpPr>
            <p:spPr>
              <a:xfrm>
                <a:off x="8186821" y="2841125"/>
                <a:ext cx="1142685" cy="2876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90</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ea typeface="Cambria Math" panose="02040503050406030204" pitchFamily="18" charset="0"/>
                                </a:rPr>
                                <m:t>90</m:t>
                              </m:r>
                            </m:sub>
                          </m:sSub>
                        </m:sup>
                      </m:sSup>
                    </m:oMath>
                  </m:oMathPara>
                </a14:m>
                <a:endParaRPr lang="en-US" dirty="0"/>
              </a:p>
            </p:txBody>
          </p:sp>
        </mc:Choice>
        <mc:Fallback xmlns="">
          <p:sp>
            <p:nvSpPr>
              <p:cNvPr id="19" name="TextBox 18">
                <a:extLst>
                  <a:ext uri="{FF2B5EF4-FFF2-40B4-BE49-F238E27FC236}">
                    <a16:creationId xmlns:a16="http://schemas.microsoft.com/office/drawing/2014/main" id="{C5D0E5EC-0B17-F14F-943F-9258D6C6CBEB}"/>
                  </a:ext>
                </a:extLst>
              </p:cNvPr>
              <p:cNvSpPr txBox="1">
                <a:spLocks noRot="1" noChangeAspect="1" noMove="1" noResize="1" noEditPoints="1" noAdjustHandles="1" noChangeArrowheads="1" noChangeShapeType="1" noTextEdit="1"/>
              </p:cNvSpPr>
              <p:nvPr/>
            </p:nvSpPr>
            <p:spPr>
              <a:xfrm>
                <a:off x="8186821" y="2841125"/>
                <a:ext cx="1142685" cy="287643"/>
              </a:xfrm>
              <a:prstGeom prst="rect">
                <a:avLst/>
              </a:prstGeom>
              <a:blipFill>
                <a:blip r:embed="rId6"/>
                <a:stretch>
                  <a:fillRect l="-4396" t="-8333" b="-12500"/>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8BEA9E8E-DFAD-C446-9DA5-143976793CE6}"/>
              </a:ext>
            </a:extLst>
          </p:cNvPr>
          <p:cNvSpPr txBox="1"/>
          <p:nvPr/>
        </p:nvSpPr>
        <p:spPr>
          <a:xfrm>
            <a:off x="6096000" y="5746044"/>
            <a:ext cx="417688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For our sediment</a:t>
            </a:r>
          </a:p>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50</a:t>
            </a:r>
            <a:r>
              <a:rPr lang="en-US" dirty="0">
                <a:latin typeface="Arial" panose="020B0604020202020204" pitchFamily="34" charset="0"/>
                <a:cs typeface="Arial" panose="020B0604020202020204" pitchFamily="34" charset="0"/>
              </a:rPr>
              <a:t> = 0.48 mm and D</a:t>
            </a:r>
            <a:r>
              <a:rPr lang="en-US" baseline="-25000" dirty="0">
                <a:latin typeface="Arial" panose="020B0604020202020204" pitchFamily="34" charset="0"/>
                <a:cs typeface="Arial" panose="020B0604020202020204" pitchFamily="34" charset="0"/>
              </a:rPr>
              <a:t>90</a:t>
            </a:r>
            <a:r>
              <a:rPr lang="en-US" dirty="0">
                <a:latin typeface="Arial" panose="020B0604020202020204" pitchFamily="34" charset="0"/>
                <a:cs typeface="Arial" panose="020B0604020202020204" pitchFamily="34" charset="0"/>
              </a:rPr>
              <a:t> = 0.95 mm </a:t>
            </a:r>
          </a:p>
        </p:txBody>
      </p:sp>
      <p:graphicFrame>
        <p:nvGraphicFramePr>
          <p:cNvPr id="3" name="Table 2">
            <a:extLst>
              <a:ext uri="{FF2B5EF4-FFF2-40B4-BE49-F238E27FC236}">
                <a16:creationId xmlns:a16="http://schemas.microsoft.com/office/drawing/2014/main" id="{EFDB80C2-11B5-9343-BF77-56DC20A4E2DF}"/>
              </a:ext>
            </a:extLst>
          </p:cNvPr>
          <p:cNvGraphicFramePr>
            <a:graphicFrameLocks noGrp="1"/>
          </p:cNvGraphicFramePr>
          <p:nvPr>
            <p:extLst>
              <p:ext uri="{D42A27DB-BD31-4B8C-83A1-F6EECF244321}">
                <p14:modId xmlns:p14="http://schemas.microsoft.com/office/powerpoint/2010/main" val="4233359857"/>
              </p:ext>
            </p:extLst>
          </p:nvPr>
        </p:nvGraphicFramePr>
        <p:xfrm>
          <a:off x="5441603" y="1531122"/>
          <a:ext cx="2527300" cy="3886200"/>
        </p:xfrm>
        <a:graphic>
          <a:graphicData uri="http://schemas.openxmlformats.org/drawingml/2006/table">
            <a:tbl>
              <a:tblPr>
                <a:tableStyleId>{5C22544A-7EE6-4342-B048-85BDC9FD1C3A}</a:tableStyleId>
              </a:tblPr>
              <a:tblGrid>
                <a:gridCol w="546100">
                  <a:extLst>
                    <a:ext uri="{9D8B030D-6E8A-4147-A177-3AD203B41FA5}">
                      <a16:colId xmlns:a16="http://schemas.microsoft.com/office/drawing/2014/main" val="3470555507"/>
                    </a:ext>
                  </a:extLst>
                </a:gridCol>
                <a:gridCol w="762000">
                  <a:extLst>
                    <a:ext uri="{9D8B030D-6E8A-4147-A177-3AD203B41FA5}">
                      <a16:colId xmlns:a16="http://schemas.microsoft.com/office/drawing/2014/main" val="890392829"/>
                    </a:ext>
                  </a:extLst>
                </a:gridCol>
                <a:gridCol w="647700">
                  <a:extLst>
                    <a:ext uri="{9D8B030D-6E8A-4147-A177-3AD203B41FA5}">
                      <a16:colId xmlns:a16="http://schemas.microsoft.com/office/drawing/2014/main" val="1950246868"/>
                    </a:ext>
                  </a:extLst>
                </a:gridCol>
                <a:gridCol w="571500">
                  <a:extLst>
                    <a:ext uri="{9D8B030D-6E8A-4147-A177-3AD203B41FA5}">
                      <a16:colId xmlns:a16="http://schemas.microsoft.com/office/drawing/2014/main" val="1359584027"/>
                    </a:ext>
                  </a:extLst>
                </a:gridCol>
              </a:tblGrid>
              <a:tr h="266700">
                <a:tc>
                  <a:txBody>
                    <a:bodyPr/>
                    <a:lstStyle/>
                    <a:p>
                      <a:pPr algn="ctr" rtl="0" fontAlgn="ctr"/>
                      <a:r>
                        <a:rPr lang="en-US" sz="1400" u="none" strike="noStrike">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dirty="0" err="1">
                          <a:effectLst/>
                          <a:latin typeface="Symbol" pitchFamily="2" charset="2"/>
                        </a:rPr>
                        <a:t>Y</a:t>
                      </a:r>
                      <a:r>
                        <a:rPr lang="en-US" sz="1400" u="none" strike="noStrike" baseline="-25000" dirty="0" err="1">
                          <a:effectLst/>
                        </a:rPr>
                        <a:t>b,i</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F</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72050973"/>
                  </a:ext>
                </a:extLst>
              </a:tr>
              <a:tr h="317500">
                <a:tc>
                  <a:txBody>
                    <a:bodyPr/>
                    <a:lstStyle/>
                    <a:p>
                      <a:pPr algn="ctr" fontAlgn="b"/>
                      <a:r>
                        <a:rPr lang="en-US" sz="1800" u="none" strike="noStrike" dirty="0">
                          <a:effectLst/>
                        </a:rPr>
                        <a:t> </a:t>
                      </a:r>
                      <a:endParaRPr lang="en-US"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8637229"/>
                  </a:ext>
                </a:extLst>
              </a:tr>
              <a:tr h="254000">
                <a:tc>
                  <a:txBody>
                    <a:bodyPr/>
                    <a:lstStyle/>
                    <a:p>
                      <a:pPr algn="r" rtl="0" fontAlgn="b"/>
                      <a:r>
                        <a:rPr lang="en-US" sz="1400" u="none" strike="noStrike">
                          <a:effectLst/>
                        </a:rPr>
                        <a:t>13</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C000"/>
                    </a:solidFill>
                  </a:tcPr>
                </a:tc>
                <a:tc>
                  <a:txBody>
                    <a:bodyPr/>
                    <a:lstStyle/>
                    <a:p>
                      <a:pPr algn="r" rtl="0" fontAlgn="b"/>
                      <a:r>
                        <a:rPr lang="en-US" sz="1400" u="none" strike="noStrike">
                          <a:effectLst/>
                        </a:rPr>
                        <a:t>1.31</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C000"/>
                    </a:solidFill>
                  </a:tcPr>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C000"/>
                    </a:solidFill>
                  </a:tcPr>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C000"/>
                    </a:solidFill>
                  </a:tcPr>
                </a:tc>
                <a:extLst>
                  <a:ext uri="{0D108BD9-81ED-4DB2-BD59-A6C34878D82A}">
                    <a16:rowId xmlns:a16="http://schemas.microsoft.com/office/drawing/2014/main" val="2511729745"/>
                  </a:ext>
                </a:extLst>
              </a:tr>
              <a:tr h="254000">
                <a:tc>
                  <a:txBody>
                    <a:bodyPr/>
                    <a:lstStyle/>
                    <a:p>
                      <a:pPr algn="r" rtl="0" fontAlgn="b"/>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C000"/>
                    </a:solidFill>
                  </a:tcPr>
                </a:tc>
                <a:tc>
                  <a:txBody>
                    <a:bodyPr/>
                    <a:lstStyle/>
                    <a:p>
                      <a:pPr algn="r" rtl="0" fontAlgn="b"/>
                      <a:r>
                        <a:rPr lang="en-US" sz="1400" u="none" strike="noStrike">
                          <a:effectLst/>
                        </a:rPr>
                        <a:t>0.84</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C000"/>
                    </a:solidFill>
                  </a:tcPr>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C000"/>
                    </a:solidFill>
                  </a:tcPr>
                </a:tc>
                <a:tc>
                  <a:txBody>
                    <a:bodyPr/>
                    <a:lstStyle/>
                    <a:p>
                      <a:pPr algn="r" rtl="0" fontAlgn="b"/>
                      <a:r>
                        <a:rPr lang="en-US" sz="1400" u="none" strike="noStrike" dirty="0">
                          <a:effectLst/>
                        </a:rPr>
                        <a:t>0.86</a:t>
                      </a:r>
                      <a:endParaRPr lang="en-US" sz="1400" b="0" i="0" u="none" strike="noStrike" dirty="0">
                        <a:solidFill>
                          <a:srgbClr val="000000"/>
                        </a:solidFill>
                        <a:effectLst/>
                        <a:latin typeface="Calibri" panose="020F0502020204030204" pitchFamily="34" charset="0"/>
                      </a:endParaRPr>
                    </a:p>
                  </a:txBody>
                  <a:tcPr marL="9525" marR="9525" marT="9525" marB="0" anchor="b">
                    <a:solidFill>
                      <a:srgbClr val="FFC000"/>
                    </a:solidFill>
                  </a:tcPr>
                </a:tc>
                <a:extLst>
                  <a:ext uri="{0D108BD9-81ED-4DB2-BD59-A6C34878D82A}">
                    <a16:rowId xmlns:a16="http://schemas.microsoft.com/office/drawing/2014/main" val="387558704"/>
                  </a:ext>
                </a:extLst>
              </a:tr>
              <a:tr h="254000">
                <a:tc>
                  <a:txBody>
                    <a:bodyPr/>
                    <a:lstStyle/>
                    <a:p>
                      <a:pPr algn="r" rtl="0"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-0.49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0.81</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79261330"/>
                  </a:ext>
                </a:extLst>
              </a:tr>
              <a:tr h="254000">
                <a:tc>
                  <a:txBody>
                    <a:bodyPr/>
                    <a:lstStyle/>
                    <a:p>
                      <a:pPr algn="r" rtl="0" fontAlgn="b"/>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r" rtl="0" fontAlgn="b"/>
                      <a:r>
                        <a:rPr lang="en-US" sz="1400" u="none" strike="noStrike">
                          <a:effectLst/>
                        </a:rPr>
                        <a:t>0.50</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r" rtl="0" fontAlgn="b"/>
                      <a:r>
                        <a:rPr lang="en-US" sz="1400" u="none" strike="noStrike">
                          <a:effectLst/>
                        </a:rPr>
                        <a:t>0.52</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381223261"/>
                  </a:ext>
                </a:extLst>
              </a:tr>
              <a:tr h="254000">
                <a:tc>
                  <a:txBody>
                    <a:bodyPr/>
                    <a:lstStyle/>
                    <a:p>
                      <a:pPr algn="r" rtl="0" fontAlgn="b"/>
                      <a:r>
                        <a:rPr lang="en-US" sz="1400" u="none" strike="noStrike">
                          <a:effectLst/>
                        </a:rPr>
                        <a:t>9</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r" rtl="0" fontAlgn="b"/>
                      <a:r>
                        <a:rPr lang="en-US" sz="1400" u="none" strike="noStrike">
                          <a:effectLst/>
                        </a:rPr>
                        <a:t>0.36</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r" rtl="0" fontAlgn="b"/>
                      <a:r>
                        <a:rPr lang="en-US" sz="1400" u="none" strike="noStrike">
                          <a:effectLst/>
                        </a:rPr>
                        <a:t>-1.47</a:t>
                      </a:r>
                      <a:endParaRPr lang="en-US" sz="14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r" rtl="0" fontAlgn="b"/>
                      <a:r>
                        <a:rPr lang="en-US" sz="1400" u="none" strike="noStrike" dirty="0">
                          <a:effectLst/>
                        </a:rPr>
                        <a:t>0.38</a:t>
                      </a:r>
                      <a:endParaRPr lang="en-US" sz="14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2429024415"/>
                  </a:ext>
                </a:extLst>
              </a:tr>
              <a:tr h="254000">
                <a:tc>
                  <a:txBody>
                    <a:bodyPr/>
                    <a:lstStyle/>
                    <a:p>
                      <a:pPr algn="r" rtl="0"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03859070"/>
                  </a:ext>
                </a:extLst>
              </a:tr>
              <a:tr h="254000">
                <a:tc>
                  <a:txBody>
                    <a:bodyPr/>
                    <a:lstStyle/>
                    <a:p>
                      <a:pPr algn="r" rtl="0"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71775631"/>
                  </a:ext>
                </a:extLst>
              </a:tr>
              <a:tr h="254000">
                <a:tc>
                  <a:txBody>
                    <a:bodyPr/>
                    <a:lstStyle/>
                    <a:p>
                      <a:pPr algn="r" rtl="0"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5890123"/>
                  </a:ext>
                </a:extLst>
              </a:tr>
              <a:tr h="254000">
                <a:tc>
                  <a:txBody>
                    <a:bodyPr/>
                    <a:lstStyle/>
                    <a:p>
                      <a:pPr algn="r" rtl="0"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29700309"/>
                  </a:ext>
                </a:extLst>
              </a:tr>
              <a:tr h="254000">
                <a:tc>
                  <a:txBody>
                    <a:bodyPr/>
                    <a:lstStyle/>
                    <a:p>
                      <a:pPr algn="r" rtl="0"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32483801"/>
                  </a:ext>
                </a:extLst>
              </a:tr>
              <a:tr h="254000">
                <a:tc>
                  <a:txBody>
                    <a:bodyPr/>
                    <a:lstStyle/>
                    <a:p>
                      <a:pPr algn="r" rtl="0"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-2.94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214954"/>
                  </a:ext>
                </a:extLst>
              </a:tr>
              <a:tr h="254000">
                <a:tc>
                  <a:txBody>
                    <a:bodyPr/>
                    <a:lstStyle/>
                    <a:p>
                      <a:pPr algn="r" rtl="0"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6812498"/>
                  </a:ext>
                </a:extLst>
              </a:tr>
              <a:tr h="254000">
                <a:tc>
                  <a:txBody>
                    <a:bodyPr/>
                    <a:lstStyle/>
                    <a:p>
                      <a:pPr algn="r" rtl="0"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-3.45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dirty="0">
                          <a:effectLst/>
                        </a:rPr>
                        <a:t>0.00</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55477274"/>
                  </a:ext>
                </a:extLst>
              </a:tr>
            </a:tbl>
          </a:graphicData>
        </a:graphic>
      </p:graphicFrame>
      <p:pic>
        <p:nvPicPr>
          <p:cNvPr id="6" name="Picture 5">
            <a:extLst>
              <a:ext uri="{FF2B5EF4-FFF2-40B4-BE49-F238E27FC236}">
                <a16:creationId xmlns:a16="http://schemas.microsoft.com/office/drawing/2014/main" id="{003210B7-9D19-0118-F693-CCA8B8A17457}"/>
              </a:ext>
            </a:extLst>
          </p:cNvPr>
          <p:cNvPicPr>
            <a:picLocks noChangeAspect="1"/>
          </p:cNvPicPr>
          <p:nvPr/>
        </p:nvPicPr>
        <p:blipFill>
          <a:blip r:embed="rId7"/>
          <a:stretch>
            <a:fillRect/>
          </a:stretch>
        </p:blipFill>
        <p:spPr>
          <a:xfrm>
            <a:off x="539496" y="1197864"/>
            <a:ext cx="5219700" cy="5029200"/>
          </a:xfrm>
          <a:prstGeom prst="rect">
            <a:avLst/>
          </a:prstGeom>
        </p:spPr>
      </p:pic>
      <p:sp>
        <p:nvSpPr>
          <p:cNvPr id="8" name="Slide Number Placeholder 7">
            <a:extLst>
              <a:ext uri="{FF2B5EF4-FFF2-40B4-BE49-F238E27FC236}">
                <a16:creationId xmlns:a16="http://schemas.microsoft.com/office/drawing/2014/main" id="{6B94DAB7-ABA3-9710-FACA-F96F062164E8}"/>
              </a:ext>
            </a:extLst>
          </p:cNvPr>
          <p:cNvSpPr>
            <a:spLocks noGrp="1"/>
          </p:cNvSpPr>
          <p:nvPr>
            <p:ph type="sldNum" sz="quarter" idx="12"/>
          </p:nvPr>
        </p:nvSpPr>
        <p:spPr/>
        <p:txBody>
          <a:bodyPr/>
          <a:lstStyle/>
          <a:p>
            <a:fld id="{2386C454-E1BD-5A43-901A-CA4ACC7380B7}" type="slidenum">
              <a:rPr lang="en-US" smtClean="0"/>
              <a:t>39</a:t>
            </a:fld>
            <a:endParaRPr lang="en-US"/>
          </a:p>
        </p:txBody>
      </p:sp>
    </p:spTree>
    <p:extLst>
      <p:ext uri="{BB962C8B-B14F-4D97-AF65-F5344CB8AC3E}">
        <p14:creationId xmlns:p14="http://schemas.microsoft.com/office/powerpoint/2010/main" val="28018385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Characteristic diameters D</a:t>
            </a:r>
            <a:r>
              <a:rPr lang="en-US" sz="2800" b="1" baseline="-25000" dirty="0">
                <a:latin typeface="Arial" panose="020B0604020202020204" pitchFamily="34" charset="0"/>
                <a:cs typeface="Arial" panose="020B0604020202020204" pitchFamily="34" charset="0"/>
              </a:rPr>
              <a:t>i</a:t>
            </a:r>
          </a:p>
        </p:txBody>
      </p:sp>
      <p:cxnSp>
        <p:nvCxnSpPr>
          <p:cNvPr id="7" name="Straight Connector 6">
            <a:extLst>
              <a:ext uri="{FF2B5EF4-FFF2-40B4-BE49-F238E27FC236}">
                <a16:creationId xmlns:a16="http://schemas.microsoft.com/office/drawing/2014/main" id="{74F63053-C91E-F94F-81B8-57842F779670}"/>
              </a:ext>
            </a:extLst>
          </p:cNvPr>
          <p:cNvCxnSpPr>
            <a:cxnSpLocks/>
          </p:cNvCxnSpPr>
          <p:nvPr/>
        </p:nvCxnSpPr>
        <p:spPr>
          <a:xfrm>
            <a:off x="1354018" y="2156178"/>
            <a:ext cx="24616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C2EDFFB-2CD2-9542-BFD1-A3A6B6C72C45}"/>
              </a:ext>
            </a:extLst>
          </p:cNvPr>
          <p:cNvCxnSpPr/>
          <p:nvPr/>
        </p:nvCxnSpPr>
        <p:spPr>
          <a:xfrm>
            <a:off x="1354016" y="3383844"/>
            <a:ext cx="22245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E84FE4-870D-7240-B19A-6A8018587CC9}"/>
              </a:ext>
            </a:extLst>
          </p:cNvPr>
          <p:cNvCxnSpPr>
            <a:cxnSpLocks/>
          </p:cNvCxnSpPr>
          <p:nvPr/>
        </p:nvCxnSpPr>
        <p:spPr>
          <a:xfrm>
            <a:off x="3589867" y="3383844"/>
            <a:ext cx="0" cy="21663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75F130-E6A7-AF4B-9FAF-B9ECA7751A7D}"/>
              </a:ext>
            </a:extLst>
          </p:cNvPr>
          <p:cNvCxnSpPr>
            <a:cxnSpLocks/>
          </p:cNvCxnSpPr>
          <p:nvPr/>
        </p:nvCxnSpPr>
        <p:spPr>
          <a:xfrm>
            <a:off x="3810000" y="2156178"/>
            <a:ext cx="0" cy="33940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1">
            <a:extLst>
              <a:ext uri="{FF2B5EF4-FFF2-40B4-BE49-F238E27FC236}">
                <a16:creationId xmlns:a16="http://schemas.microsoft.com/office/drawing/2014/main" id="{92C08CE4-7656-324A-8C61-85D8F88E38E6}"/>
              </a:ext>
            </a:extLst>
          </p:cNvPr>
          <p:cNvSpPr txBox="1"/>
          <p:nvPr/>
        </p:nvSpPr>
        <p:spPr>
          <a:xfrm>
            <a:off x="3790413" y="5228603"/>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D</a:t>
            </a:r>
            <a:r>
              <a:rPr lang="en-US" sz="1600" baseline="-25000" dirty="0">
                <a:latin typeface="Arial" panose="020B0604020202020204" pitchFamily="34" charset="0"/>
                <a:cs typeface="Arial" panose="020B0604020202020204" pitchFamily="34" charset="0"/>
              </a:rPr>
              <a:t>b,11</a:t>
            </a:r>
            <a:endParaRPr lang="en-US" sz="1600" dirty="0">
              <a:latin typeface="Arial" panose="020B0604020202020204" pitchFamily="34" charset="0"/>
              <a:cs typeface="Arial" panose="020B0604020202020204" pitchFamily="34" charset="0"/>
            </a:endParaRPr>
          </a:p>
        </p:txBody>
      </p:sp>
      <p:sp>
        <p:nvSpPr>
          <p:cNvPr id="22" name="TextBox 1">
            <a:extLst>
              <a:ext uri="{FF2B5EF4-FFF2-40B4-BE49-F238E27FC236}">
                <a16:creationId xmlns:a16="http://schemas.microsoft.com/office/drawing/2014/main" id="{92C35867-6E9E-DB43-A3D3-C86E68BD3DAA}"/>
              </a:ext>
            </a:extLst>
          </p:cNvPr>
          <p:cNvSpPr txBox="1"/>
          <p:nvPr/>
        </p:nvSpPr>
        <p:spPr>
          <a:xfrm>
            <a:off x="2006668" y="3021575"/>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b,10</a:t>
            </a:r>
            <a:endParaRPr lang="en-US" sz="1600" dirty="0">
              <a:latin typeface="Arial" panose="020B0604020202020204" pitchFamily="34" charset="0"/>
              <a:cs typeface="Arial" panose="020B0604020202020204" pitchFamily="34" charset="0"/>
            </a:endParaRPr>
          </a:p>
        </p:txBody>
      </p:sp>
      <p:sp>
        <p:nvSpPr>
          <p:cNvPr id="24" name="TextBox 1">
            <a:extLst>
              <a:ext uri="{FF2B5EF4-FFF2-40B4-BE49-F238E27FC236}">
                <a16:creationId xmlns:a16="http://schemas.microsoft.com/office/drawing/2014/main" id="{514B7A0D-F66D-B94D-A51A-A6DC3AFF01B9}"/>
              </a:ext>
            </a:extLst>
          </p:cNvPr>
          <p:cNvSpPr txBox="1"/>
          <p:nvPr/>
        </p:nvSpPr>
        <p:spPr>
          <a:xfrm>
            <a:off x="2875988" y="1800578"/>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b,11</a:t>
            </a:r>
            <a:endParaRPr lang="en-US" sz="1600"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0D6F5278-F6E7-BB48-8546-EF6F796C4B92}"/>
              </a:ext>
            </a:extLst>
          </p:cNvPr>
          <p:cNvCxnSpPr/>
          <p:nvPr/>
        </p:nvCxnSpPr>
        <p:spPr>
          <a:xfrm>
            <a:off x="3982300" y="2156177"/>
            <a:ext cx="0" cy="1238482"/>
          </a:xfrm>
          <a:prstGeom prst="line">
            <a:avLst/>
          </a:prstGeom>
          <a:ln w="19050">
            <a:solidFill>
              <a:schemeClr val="tx1"/>
            </a:solidFill>
            <a:headEnd type="arrow"/>
            <a:tailEnd type="arrow" w="med" len="med"/>
          </a:ln>
        </p:spPr>
        <p:style>
          <a:lnRef idx="1">
            <a:schemeClr val="accent1"/>
          </a:lnRef>
          <a:fillRef idx="0">
            <a:schemeClr val="accent1"/>
          </a:fillRef>
          <a:effectRef idx="0">
            <a:schemeClr val="accent1"/>
          </a:effectRef>
          <a:fontRef idx="minor">
            <a:schemeClr val="tx1"/>
          </a:fontRef>
        </p:style>
      </p:cxnSp>
      <p:sp>
        <p:nvSpPr>
          <p:cNvPr id="26" name="TextBox 1">
            <a:extLst>
              <a:ext uri="{FF2B5EF4-FFF2-40B4-BE49-F238E27FC236}">
                <a16:creationId xmlns:a16="http://schemas.microsoft.com/office/drawing/2014/main" id="{A626198A-393B-CC42-9B6D-368C3226BCFF}"/>
              </a:ext>
            </a:extLst>
          </p:cNvPr>
          <p:cNvSpPr txBox="1"/>
          <p:nvPr/>
        </p:nvSpPr>
        <p:spPr>
          <a:xfrm>
            <a:off x="3939014" y="2655571"/>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10</a:t>
            </a:r>
            <a:r>
              <a:rPr lang="en-US" sz="1600" dirty="0">
                <a:latin typeface="Arial" panose="020B0604020202020204" pitchFamily="34" charset="0"/>
                <a:cs typeface="Arial" panose="020B0604020202020204" pitchFamily="34" charset="0"/>
              </a:rPr>
              <a:t> = F</a:t>
            </a:r>
            <a:r>
              <a:rPr lang="en-US" sz="1600" baseline="-25000" dirty="0">
                <a:latin typeface="Arial" panose="020B0604020202020204" pitchFamily="34" charset="0"/>
                <a:cs typeface="Arial" panose="020B0604020202020204" pitchFamily="34" charset="0"/>
              </a:rPr>
              <a:t>b,11</a:t>
            </a:r>
            <a:r>
              <a:rPr lang="en-US" sz="1600" dirty="0">
                <a:latin typeface="Arial" panose="020B0604020202020204" pitchFamily="34" charset="0"/>
                <a:cs typeface="Arial" panose="020B0604020202020204" pitchFamily="34" charset="0"/>
              </a:rPr>
              <a:t>- F</a:t>
            </a:r>
            <a:r>
              <a:rPr lang="en-US" sz="1600" baseline="-25000" dirty="0">
                <a:latin typeface="Arial" panose="020B0604020202020204" pitchFamily="34" charset="0"/>
                <a:cs typeface="Arial" panose="020B0604020202020204" pitchFamily="34" charset="0"/>
              </a:rPr>
              <a:t>b,10</a:t>
            </a:r>
          </a:p>
        </p:txBody>
      </p:sp>
      <p:cxnSp>
        <p:nvCxnSpPr>
          <p:cNvPr id="28" name="Straight Connector 27">
            <a:extLst>
              <a:ext uri="{FF2B5EF4-FFF2-40B4-BE49-F238E27FC236}">
                <a16:creationId xmlns:a16="http://schemas.microsoft.com/office/drawing/2014/main" id="{564D3775-974D-8E4B-82F1-AA3F2FA2BCA3}"/>
              </a:ext>
            </a:extLst>
          </p:cNvPr>
          <p:cNvCxnSpPr/>
          <p:nvPr/>
        </p:nvCxnSpPr>
        <p:spPr>
          <a:xfrm>
            <a:off x="3708838" y="5406402"/>
            <a:ext cx="0" cy="305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1">
            <a:extLst>
              <a:ext uri="{FF2B5EF4-FFF2-40B4-BE49-F238E27FC236}">
                <a16:creationId xmlns:a16="http://schemas.microsoft.com/office/drawing/2014/main" id="{92353B38-51FB-7C4D-B3E8-524B9B2425F3}"/>
              </a:ext>
            </a:extLst>
          </p:cNvPr>
          <p:cNvSpPr txBox="1"/>
          <p:nvPr/>
        </p:nvSpPr>
        <p:spPr>
          <a:xfrm>
            <a:off x="3578578" y="5690724"/>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D</a:t>
            </a:r>
            <a:r>
              <a:rPr lang="en-US" sz="1600" baseline="-25000" dirty="0">
                <a:latin typeface="Arial" panose="020B0604020202020204" pitchFamily="34" charset="0"/>
                <a:cs typeface="Arial" panose="020B0604020202020204" pitchFamily="34" charset="0"/>
              </a:rPr>
              <a:t>i=10</a:t>
            </a:r>
            <a:endParaRPr lang="en-US" sz="1600" dirty="0">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B059B092-8FF1-7046-8DB8-88E359550A38}"/>
              </a:ext>
            </a:extLst>
          </p:cNvPr>
          <p:cNvGraphicFramePr>
            <a:graphicFrameLocks noGrp="1"/>
          </p:cNvGraphicFramePr>
          <p:nvPr>
            <p:extLst>
              <p:ext uri="{D42A27DB-BD31-4B8C-83A1-F6EECF244321}">
                <p14:modId xmlns:p14="http://schemas.microsoft.com/office/powerpoint/2010/main" val="3682108745"/>
              </p:ext>
            </p:extLst>
          </p:nvPr>
        </p:nvGraphicFramePr>
        <p:xfrm>
          <a:off x="5443619" y="1542681"/>
          <a:ext cx="2527300" cy="3886200"/>
        </p:xfrm>
        <a:graphic>
          <a:graphicData uri="http://schemas.openxmlformats.org/drawingml/2006/table">
            <a:tbl>
              <a:tblPr>
                <a:tableStyleId>{5C22544A-7EE6-4342-B048-85BDC9FD1C3A}</a:tableStyleId>
              </a:tblPr>
              <a:tblGrid>
                <a:gridCol w="546100">
                  <a:extLst>
                    <a:ext uri="{9D8B030D-6E8A-4147-A177-3AD203B41FA5}">
                      <a16:colId xmlns:a16="http://schemas.microsoft.com/office/drawing/2014/main" val="3882173706"/>
                    </a:ext>
                  </a:extLst>
                </a:gridCol>
                <a:gridCol w="762000">
                  <a:extLst>
                    <a:ext uri="{9D8B030D-6E8A-4147-A177-3AD203B41FA5}">
                      <a16:colId xmlns:a16="http://schemas.microsoft.com/office/drawing/2014/main" val="2874591329"/>
                    </a:ext>
                  </a:extLst>
                </a:gridCol>
                <a:gridCol w="647700">
                  <a:extLst>
                    <a:ext uri="{9D8B030D-6E8A-4147-A177-3AD203B41FA5}">
                      <a16:colId xmlns:a16="http://schemas.microsoft.com/office/drawing/2014/main" val="2994023591"/>
                    </a:ext>
                  </a:extLst>
                </a:gridCol>
                <a:gridCol w="571500">
                  <a:extLst>
                    <a:ext uri="{9D8B030D-6E8A-4147-A177-3AD203B41FA5}">
                      <a16:colId xmlns:a16="http://schemas.microsoft.com/office/drawing/2014/main" val="2927242663"/>
                    </a:ext>
                  </a:extLst>
                </a:gridCol>
              </a:tblGrid>
              <a:tr h="266700">
                <a:tc>
                  <a:txBody>
                    <a:bodyPr/>
                    <a:lstStyle/>
                    <a:p>
                      <a:pPr algn="ctr" rtl="0" fontAlgn="ctr"/>
                      <a:r>
                        <a:rPr lang="en-US" sz="1400" u="none" strike="noStrike">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dirty="0" err="1">
                          <a:effectLst/>
                          <a:latin typeface="Symbol" pitchFamily="2" charset="2"/>
                        </a:rPr>
                        <a:t>Y</a:t>
                      </a:r>
                      <a:r>
                        <a:rPr lang="en-US" sz="1400" u="none" strike="noStrike" baseline="-25000" dirty="0" err="1">
                          <a:effectLst/>
                        </a:rPr>
                        <a:t>b,i</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F</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5671945"/>
                  </a:ext>
                </a:extLst>
              </a:tr>
              <a:tr h="317500">
                <a:tc>
                  <a:txBody>
                    <a:bodyPr/>
                    <a:lstStyle/>
                    <a:p>
                      <a:pPr algn="ctr" fontAlgn="b"/>
                      <a:r>
                        <a:rPr lang="en-US" sz="1800" u="none" strike="noStrike">
                          <a:effectLst/>
                        </a:rPr>
                        <a:t> </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84650483"/>
                  </a:ext>
                </a:extLst>
              </a:tr>
              <a:tr h="254000">
                <a:tc>
                  <a:txBody>
                    <a:bodyPr/>
                    <a:lstStyle/>
                    <a:p>
                      <a:pPr algn="r" rtl="0" fontAlgn="b"/>
                      <a:r>
                        <a:rPr lang="en-US" sz="1400" u="none" strike="noStrike">
                          <a:effectLst/>
                        </a:rPr>
                        <a:t>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1.31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2524553"/>
                  </a:ext>
                </a:extLst>
              </a:tr>
              <a:tr h="254000">
                <a:tc>
                  <a:txBody>
                    <a:bodyPr/>
                    <a:lstStyle/>
                    <a:p>
                      <a:pPr algn="r" rtl="0" fontAlgn="b"/>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0.86</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83238267"/>
                  </a:ext>
                </a:extLst>
              </a:tr>
              <a:tr h="254000">
                <a:tc>
                  <a:txBody>
                    <a:bodyPr/>
                    <a:lstStyle/>
                    <a:p>
                      <a:pPr algn="r" rtl="0"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-0.49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0.81</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7326525"/>
                  </a:ext>
                </a:extLst>
              </a:tr>
              <a:tr h="254000">
                <a:tc>
                  <a:txBody>
                    <a:bodyPr/>
                    <a:lstStyle/>
                    <a:p>
                      <a:pPr algn="r" rtl="0" fontAlgn="b"/>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48594680"/>
                  </a:ext>
                </a:extLst>
              </a:tr>
              <a:tr h="254000">
                <a:tc>
                  <a:txBody>
                    <a:bodyPr/>
                    <a:lstStyle/>
                    <a:p>
                      <a:pPr algn="r" rtl="0" fontAlgn="b"/>
                      <a:r>
                        <a:rPr lang="en-US" sz="1400" u="none" strike="noStrike">
                          <a:effectLst/>
                        </a:rPr>
                        <a:t>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09691951"/>
                  </a:ext>
                </a:extLst>
              </a:tr>
              <a:tr h="254000">
                <a:tc>
                  <a:txBody>
                    <a:bodyPr/>
                    <a:lstStyle/>
                    <a:p>
                      <a:pPr algn="r" rtl="0"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1153697"/>
                  </a:ext>
                </a:extLst>
              </a:tr>
              <a:tr h="254000">
                <a:tc>
                  <a:txBody>
                    <a:bodyPr/>
                    <a:lstStyle/>
                    <a:p>
                      <a:pPr algn="r" rtl="0"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04938818"/>
                  </a:ext>
                </a:extLst>
              </a:tr>
              <a:tr h="254000">
                <a:tc>
                  <a:txBody>
                    <a:bodyPr/>
                    <a:lstStyle/>
                    <a:p>
                      <a:pPr algn="r" rtl="0"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8308440"/>
                  </a:ext>
                </a:extLst>
              </a:tr>
              <a:tr h="254000">
                <a:tc>
                  <a:txBody>
                    <a:bodyPr/>
                    <a:lstStyle/>
                    <a:p>
                      <a:pPr algn="r" rtl="0"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57972022"/>
                  </a:ext>
                </a:extLst>
              </a:tr>
              <a:tr h="254000">
                <a:tc>
                  <a:txBody>
                    <a:bodyPr/>
                    <a:lstStyle/>
                    <a:p>
                      <a:pPr algn="r" rtl="0"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23601029"/>
                  </a:ext>
                </a:extLst>
              </a:tr>
              <a:tr h="254000">
                <a:tc>
                  <a:txBody>
                    <a:bodyPr/>
                    <a:lstStyle/>
                    <a:p>
                      <a:pPr algn="r" rtl="0"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-2.94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63564037"/>
                  </a:ext>
                </a:extLst>
              </a:tr>
              <a:tr h="254000">
                <a:tc>
                  <a:txBody>
                    <a:bodyPr/>
                    <a:lstStyle/>
                    <a:p>
                      <a:pPr algn="r" rtl="0"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15972753"/>
                  </a:ext>
                </a:extLst>
              </a:tr>
              <a:tr h="254000">
                <a:tc>
                  <a:txBody>
                    <a:bodyPr/>
                    <a:lstStyle/>
                    <a:p>
                      <a:pPr algn="r" rtl="0"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-3.45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dirty="0">
                          <a:effectLst/>
                        </a:rPr>
                        <a:t>0.00</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07212140"/>
                  </a:ext>
                </a:extLst>
              </a:tr>
            </a:tbl>
          </a:graphicData>
        </a:graphic>
      </p:graphicFrame>
      <p:pic>
        <p:nvPicPr>
          <p:cNvPr id="3" name="Picture 2">
            <a:extLst>
              <a:ext uri="{FF2B5EF4-FFF2-40B4-BE49-F238E27FC236}">
                <a16:creationId xmlns:a16="http://schemas.microsoft.com/office/drawing/2014/main" id="{28142C1D-9A22-E8B3-014E-301A2631266D}"/>
              </a:ext>
            </a:extLst>
          </p:cNvPr>
          <p:cNvPicPr>
            <a:picLocks noChangeAspect="1"/>
          </p:cNvPicPr>
          <p:nvPr/>
        </p:nvPicPr>
        <p:blipFill>
          <a:blip r:embed="rId2"/>
          <a:stretch>
            <a:fillRect/>
          </a:stretch>
        </p:blipFill>
        <p:spPr>
          <a:xfrm>
            <a:off x="539496" y="1197864"/>
            <a:ext cx="5219700" cy="5029200"/>
          </a:xfrm>
          <a:prstGeom prst="rect">
            <a:avLst/>
          </a:prstGeom>
        </p:spPr>
      </p:pic>
      <p:sp>
        <p:nvSpPr>
          <p:cNvPr id="6" name="Slide Number Placeholder 5">
            <a:extLst>
              <a:ext uri="{FF2B5EF4-FFF2-40B4-BE49-F238E27FC236}">
                <a16:creationId xmlns:a16="http://schemas.microsoft.com/office/drawing/2014/main" id="{00685464-7589-B409-AB85-777A05074025}"/>
              </a:ext>
            </a:extLst>
          </p:cNvPr>
          <p:cNvSpPr>
            <a:spLocks noGrp="1"/>
          </p:cNvSpPr>
          <p:nvPr>
            <p:ph type="sldNum" sz="quarter" idx="12"/>
          </p:nvPr>
        </p:nvSpPr>
        <p:spPr/>
        <p:txBody>
          <a:bodyPr/>
          <a:lstStyle/>
          <a:p>
            <a:fld id="{2386C454-E1BD-5A43-901A-CA4ACC7380B7}" type="slidenum">
              <a:rPr lang="en-US" smtClean="0"/>
              <a:t>40</a:t>
            </a:fld>
            <a:endParaRPr lang="en-US"/>
          </a:p>
        </p:txBody>
      </p:sp>
    </p:spTree>
    <p:extLst>
      <p:ext uri="{BB962C8B-B14F-4D97-AF65-F5344CB8AC3E}">
        <p14:creationId xmlns:p14="http://schemas.microsoft.com/office/powerpoint/2010/main" val="9005223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Characteristic diameters D</a:t>
            </a:r>
            <a:r>
              <a:rPr lang="en-US" sz="2800" b="1" baseline="-25000" dirty="0">
                <a:latin typeface="Arial" panose="020B0604020202020204" pitchFamily="34" charset="0"/>
                <a:cs typeface="Arial" panose="020B0604020202020204" pitchFamily="34" charset="0"/>
              </a:rPr>
              <a:t>i</a:t>
            </a:r>
          </a:p>
        </p:txBody>
      </p:sp>
      <p:cxnSp>
        <p:nvCxnSpPr>
          <p:cNvPr id="7" name="Straight Connector 6">
            <a:extLst>
              <a:ext uri="{FF2B5EF4-FFF2-40B4-BE49-F238E27FC236}">
                <a16:creationId xmlns:a16="http://schemas.microsoft.com/office/drawing/2014/main" id="{74F63053-C91E-F94F-81B8-57842F779670}"/>
              </a:ext>
            </a:extLst>
          </p:cNvPr>
          <p:cNvCxnSpPr>
            <a:cxnSpLocks/>
          </p:cNvCxnSpPr>
          <p:nvPr/>
        </p:nvCxnSpPr>
        <p:spPr>
          <a:xfrm>
            <a:off x="1354018" y="2156178"/>
            <a:ext cx="24616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C2EDFFB-2CD2-9542-BFD1-A3A6B6C72C45}"/>
              </a:ext>
            </a:extLst>
          </p:cNvPr>
          <p:cNvCxnSpPr/>
          <p:nvPr/>
        </p:nvCxnSpPr>
        <p:spPr>
          <a:xfrm>
            <a:off x="1354016" y="3383844"/>
            <a:ext cx="22245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E84FE4-870D-7240-B19A-6A8018587CC9}"/>
              </a:ext>
            </a:extLst>
          </p:cNvPr>
          <p:cNvCxnSpPr>
            <a:cxnSpLocks/>
          </p:cNvCxnSpPr>
          <p:nvPr/>
        </p:nvCxnSpPr>
        <p:spPr>
          <a:xfrm>
            <a:off x="3589867" y="3383844"/>
            <a:ext cx="0" cy="21663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75F130-E6A7-AF4B-9FAF-B9ECA7751A7D}"/>
              </a:ext>
            </a:extLst>
          </p:cNvPr>
          <p:cNvCxnSpPr>
            <a:cxnSpLocks/>
          </p:cNvCxnSpPr>
          <p:nvPr/>
        </p:nvCxnSpPr>
        <p:spPr>
          <a:xfrm>
            <a:off x="3810000" y="2156178"/>
            <a:ext cx="0" cy="33940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1">
            <a:extLst>
              <a:ext uri="{FF2B5EF4-FFF2-40B4-BE49-F238E27FC236}">
                <a16:creationId xmlns:a16="http://schemas.microsoft.com/office/drawing/2014/main" id="{92C08CE4-7656-324A-8C61-85D8F88E38E6}"/>
              </a:ext>
            </a:extLst>
          </p:cNvPr>
          <p:cNvSpPr txBox="1"/>
          <p:nvPr/>
        </p:nvSpPr>
        <p:spPr>
          <a:xfrm>
            <a:off x="3790413" y="5228603"/>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D</a:t>
            </a:r>
            <a:r>
              <a:rPr lang="en-US" sz="1600" baseline="-25000" dirty="0">
                <a:latin typeface="Arial" panose="020B0604020202020204" pitchFamily="34" charset="0"/>
                <a:cs typeface="Arial" panose="020B0604020202020204" pitchFamily="34" charset="0"/>
              </a:rPr>
              <a:t>b,11</a:t>
            </a:r>
            <a:endParaRPr lang="en-US" sz="1600" dirty="0">
              <a:latin typeface="Arial" panose="020B0604020202020204" pitchFamily="34" charset="0"/>
              <a:cs typeface="Arial" panose="020B0604020202020204" pitchFamily="34" charset="0"/>
            </a:endParaRPr>
          </a:p>
        </p:txBody>
      </p:sp>
      <p:sp>
        <p:nvSpPr>
          <p:cNvPr id="22" name="TextBox 1">
            <a:extLst>
              <a:ext uri="{FF2B5EF4-FFF2-40B4-BE49-F238E27FC236}">
                <a16:creationId xmlns:a16="http://schemas.microsoft.com/office/drawing/2014/main" id="{92C35867-6E9E-DB43-A3D3-C86E68BD3DAA}"/>
              </a:ext>
            </a:extLst>
          </p:cNvPr>
          <p:cNvSpPr txBox="1"/>
          <p:nvPr/>
        </p:nvSpPr>
        <p:spPr>
          <a:xfrm>
            <a:off x="2006668" y="3021575"/>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b,10</a:t>
            </a:r>
            <a:endParaRPr lang="en-US" sz="1600" dirty="0">
              <a:latin typeface="Arial" panose="020B0604020202020204" pitchFamily="34" charset="0"/>
              <a:cs typeface="Arial" panose="020B0604020202020204" pitchFamily="34" charset="0"/>
            </a:endParaRPr>
          </a:p>
        </p:txBody>
      </p:sp>
      <p:sp>
        <p:nvSpPr>
          <p:cNvPr id="24" name="TextBox 1">
            <a:extLst>
              <a:ext uri="{FF2B5EF4-FFF2-40B4-BE49-F238E27FC236}">
                <a16:creationId xmlns:a16="http://schemas.microsoft.com/office/drawing/2014/main" id="{514B7A0D-F66D-B94D-A51A-A6DC3AFF01B9}"/>
              </a:ext>
            </a:extLst>
          </p:cNvPr>
          <p:cNvSpPr txBox="1"/>
          <p:nvPr/>
        </p:nvSpPr>
        <p:spPr>
          <a:xfrm>
            <a:off x="2875988" y="1800578"/>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b,11</a:t>
            </a:r>
            <a:endParaRPr lang="en-US" sz="1600"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0D6F5278-F6E7-BB48-8546-EF6F796C4B92}"/>
              </a:ext>
            </a:extLst>
          </p:cNvPr>
          <p:cNvCxnSpPr/>
          <p:nvPr/>
        </p:nvCxnSpPr>
        <p:spPr>
          <a:xfrm>
            <a:off x="3982300" y="2156177"/>
            <a:ext cx="0" cy="1238482"/>
          </a:xfrm>
          <a:prstGeom prst="line">
            <a:avLst/>
          </a:prstGeom>
          <a:ln w="19050">
            <a:solidFill>
              <a:schemeClr val="tx1"/>
            </a:solidFill>
            <a:headEnd type="arrow"/>
            <a:tailEnd type="arrow" w="med" len="med"/>
          </a:ln>
        </p:spPr>
        <p:style>
          <a:lnRef idx="1">
            <a:schemeClr val="accent1"/>
          </a:lnRef>
          <a:fillRef idx="0">
            <a:schemeClr val="accent1"/>
          </a:fillRef>
          <a:effectRef idx="0">
            <a:schemeClr val="accent1"/>
          </a:effectRef>
          <a:fontRef idx="minor">
            <a:schemeClr val="tx1"/>
          </a:fontRef>
        </p:style>
      </p:cxnSp>
      <p:sp>
        <p:nvSpPr>
          <p:cNvPr id="26" name="TextBox 1">
            <a:extLst>
              <a:ext uri="{FF2B5EF4-FFF2-40B4-BE49-F238E27FC236}">
                <a16:creationId xmlns:a16="http://schemas.microsoft.com/office/drawing/2014/main" id="{A626198A-393B-CC42-9B6D-368C3226BCFF}"/>
              </a:ext>
            </a:extLst>
          </p:cNvPr>
          <p:cNvSpPr txBox="1"/>
          <p:nvPr/>
        </p:nvSpPr>
        <p:spPr>
          <a:xfrm>
            <a:off x="3939014" y="2655571"/>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10</a:t>
            </a:r>
            <a:r>
              <a:rPr lang="en-US" sz="1600" dirty="0">
                <a:latin typeface="Arial" panose="020B0604020202020204" pitchFamily="34" charset="0"/>
                <a:cs typeface="Arial" panose="020B0604020202020204" pitchFamily="34" charset="0"/>
              </a:rPr>
              <a:t> = F</a:t>
            </a:r>
            <a:r>
              <a:rPr lang="en-US" sz="1600" baseline="-25000" dirty="0">
                <a:latin typeface="Arial" panose="020B0604020202020204" pitchFamily="34" charset="0"/>
                <a:cs typeface="Arial" panose="020B0604020202020204" pitchFamily="34" charset="0"/>
              </a:rPr>
              <a:t>b,11</a:t>
            </a:r>
            <a:r>
              <a:rPr lang="en-US" sz="1600" dirty="0">
                <a:latin typeface="Arial" panose="020B0604020202020204" pitchFamily="34" charset="0"/>
                <a:cs typeface="Arial" panose="020B0604020202020204" pitchFamily="34" charset="0"/>
              </a:rPr>
              <a:t>- F</a:t>
            </a:r>
            <a:r>
              <a:rPr lang="en-US" sz="1600" baseline="-25000" dirty="0">
                <a:latin typeface="Arial" panose="020B0604020202020204" pitchFamily="34" charset="0"/>
                <a:cs typeface="Arial" panose="020B0604020202020204" pitchFamily="34" charset="0"/>
              </a:rPr>
              <a:t>b,10</a:t>
            </a:r>
          </a:p>
        </p:txBody>
      </p:sp>
      <p:cxnSp>
        <p:nvCxnSpPr>
          <p:cNvPr id="28" name="Straight Connector 27">
            <a:extLst>
              <a:ext uri="{FF2B5EF4-FFF2-40B4-BE49-F238E27FC236}">
                <a16:creationId xmlns:a16="http://schemas.microsoft.com/office/drawing/2014/main" id="{564D3775-974D-8E4B-82F1-AA3F2FA2BCA3}"/>
              </a:ext>
            </a:extLst>
          </p:cNvPr>
          <p:cNvCxnSpPr/>
          <p:nvPr/>
        </p:nvCxnSpPr>
        <p:spPr>
          <a:xfrm>
            <a:off x="3708838" y="5406402"/>
            <a:ext cx="0" cy="305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1">
            <a:extLst>
              <a:ext uri="{FF2B5EF4-FFF2-40B4-BE49-F238E27FC236}">
                <a16:creationId xmlns:a16="http://schemas.microsoft.com/office/drawing/2014/main" id="{92353B38-51FB-7C4D-B3E8-524B9B2425F3}"/>
              </a:ext>
            </a:extLst>
          </p:cNvPr>
          <p:cNvSpPr txBox="1"/>
          <p:nvPr/>
        </p:nvSpPr>
        <p:spPr>
          <a:xfrm>
            <a:off x="3578578" y="5690724"/>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D</a:t>
            </a:r>
            <a:r>
              <a:rPr lang="en-US" sz="1600" baseline="-25000" dirty="0">
                <a:latin typeface="Arial" panose="020B0604020202020204" pitchFamily="34" charset="0"/>
                <a:cs typeface="Arial" panose="020B0604020202020204" pitchFamily="34" charset="0"/>
              </a:rPr>
              <a:t>i=10</a:t>
            </a:r>
            <a:endParaRPr lang="en-US" sz="160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558C2E8E-1DE1-B24B-B909-2F066D3A0488}"/>
              </a:ext>
            </a:extLst>
          </p:cNvPr>
          <p:cNvSpPr txBox="1"/>
          <p:nvPr/>
        </p:nvSpPr>
        <p:spPr>
          <a:xfrm>
            <a:off x="7392814" y="736299"/>
            <a:ext cx="459598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i=10</a:t>
            </a:r>
            <a:r>
              <a:rPr lang="en-US" dirty="0">
                <a:latin typeface="Arial" panose="020B0604020202020204" pitchFamily="34" charset="0"/>
                <a:cs typeface="Arial" panose="020B0604020202020204" pitchFamily="34" charset="0"/>
              </a:rPr>
              <a:t> = characteristic size of sediment with grain size between D</a:t>
            </a:r>
            <a:r>
              <a:rPr lang="en-US" baseline="-25000" dirty="0">
                <a:latin typeface="Arial" panose="020B0604020202020204" pitchFamily="34" charset="0"/>
                <a:cs typeface="Arial" panose="020B0604020202020204" pitchFamily="34" charset="0"/>
              </a:rPr>
              <a:t>b,10</a:t>
            </a:r>
            <a:r>
              <a:rPr lang="en-US" dirty="0">
                <a:latin typeface="Arial" panose="020B0604020202020204" pitchFamily="34" charset="0"/>
                <a:cs typeface="Arial" panose="020B0604020202020204" pitchFamily="34" charset="0"/>
              </a:rPr>
              <a:t> and D</a:t>
            </a:r>
            <a:r>
              <a:rPr lang="en-US" baseline="-25000" dirty="0">
                <a:latin typeface="Arial" panose="020B0604020202020204" pitchFamily="34" charset="0"/>
                <a:cs typeface="Arial" panose="020B0604020202020204" pitchFamily="34" charset="0"/>
              </a:rPr>
              <a:t>b,11</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B0F4FD4-6CAD-CC43-93C8-9DAA94F5BC48}"/>
                  </a:ext>
                </a:extLst>
              </p:cNvPr>
              <p:cNvSpPr txBox="1"/>
              <p:nvPr/>
            </p:nvSpPr>
            <p:spPr>
              <a:xfrm>
                <a:off x="8291116" y="1530175"/>
                <a:ext cx="2049792"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r>
                            <a:rPr lang="en-US" b="0" i="1" smtClean="0">
                              <a:latin typeface="Cambria Math" panose="02040503050406030204" pitchFamily="18" charset="0"/>
                            </a:rPr>
                            <m:t>=10</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,10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,11</m:t>
                              </m:r>
                            </m:sub>
                          </m:sSub>
                        </m:e>
                      </m:rad>
                    </m:oMath>
                  </m:oMathPara>
                </a14:m>
                <a:endParaRPr lang="en-US" dirty="0"/>
              </a:p>
            </p:txBody>
          </p:sp>
        </mc:Choice>
        <mc:Fallback xmlns="">
          <p:sp>
            <p:nvSpPr>
              <p:cNvPr id="31" name="TextBox 30">
                <a:extLst>
                  <a:ext uri="{FF2B5EF4-FFF2-40B4-BE49-F238E27FC236}">
                    <a16:creationId xmlns:a16="http://schemas.microsoft.com/office/drawing/2014/main" id="{CB0F4FD4-6CAD-CC43-93C8-9DAA94F5BC48}"/>
                  </a:ext>
                </a:extLst>
              </p:cNvPr>
              <p:cNvSpPr txBox="1">
                <a:spLocks noRot="1" noChangeAspect="1" noMove="1" noResize="1" noEditPoints="1" noAdjustHandles="1" noChangeArrowheads="1" noChangeShapeType="1" noTextEdit="1"/>
              </p:cNvSpPr>
              <p:nvPr/>
            </p:nvSpPr>
            <p:spPr>
              <a:xfrm>
                <a:off x="8291116" y="1530175"/>
                <a:ext cx="2049792" cy="335413"/>
              </a:xfrm>
              <a:prstGeom prst="rect">
                <a:avLst/>
              </a:prstGeom>
              <a:blipFill>
                <a:blip r:embed="rId3"/>
                <a:stretch>
                  <a:fillRect l="-1840" r="-613"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749C07F-21E0-B343-A285-16CE023F2668}"/>
                  </a:ext>
                </a:extLst>
              </p:cNvPr>
              <p:cNvSpPr txBox="1"/>
              <p:nvPr/>
            </p:nvSpPr>
            <p:spPr>
              <a:xfrm>
                <a:off x="8291116" y="2013133"/>
                <a:ext cx="2199448" cy="520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𝑖</m:t>
                          </m:r>
                          <m:r>
                            <a:rPr lang="en-US" b="0" i="1" smtClean="0">
                              <a:latin typeface="Cambria Math" panose="02040503050406030204" pitchFamily="18" charset="0"/>
                            </a:rPr>
                            <m:t>=10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,11</m:t>
                              </m:r>
                            </m:sub>
                          </m:sSub>
                        </m:num>
                        <m:den>
                          <m:r>
                            <a:rPr lang="en-US" b="0" i="1" smtClean="0">
                              <a:latin typeface="Cambria Math" panose="02040503050406030204" pitchFamily="18" charset="0"/>
                            </a:rPr>
                            <m:t>2</m:t>
                          </m:r>
                        </m:den>
                      </m:f>
                    </m:oMath>
                  </m:oMathPara>
                </a14:m>
                <a:endParaRPr lang="en-US" dirty="0"/>
              </a:p>
            </p:txBody>
          </p:sp>
        </mc:Choice>
        <mc:Fallback xmlns="">
          <p:sp>
            <p:nvSpPr>
              <p:cNvPr id="32" name="TextBox 31">
                <a:extLst>
                  <a:ext uri="{FF2B5EF4-FFF2-40B4-BE49-F238E27FC236}">
                    <a16:creationId xmlns:a16="http://schemas.microsoft.com/office/drawing/2014/main" id="{2749C07F-21E0-B343-A285-16CE023F2668}"/>
                  </a:ext>
                </a:extLst>
              </p:cNvPr>
              <p:cNvSpPr txBox="1">
                <a:spLocks noRot="1" noChangeAspect="1" noMove="1" noResize="1" noEditPoints="1" noAdjustHandles="1" noChangeArrowheads="1" noChangeShapeType="1" noTextEdit="1"/>
              </p:cNvSpPr>
              <p:nvPr/>
            </p:nvSpPr>
            <p:spPr>
              <a:xfrm>
                <a:off x="8291116" y="2013133"/>
                <a:ext cx="2199448" cy="520912"/>
              </a:xfrm>
              <a:prstGeom prst="rect">
                <a:avLst/>
              </a:prstGeom>
              <a:blipFill>
                <a:blip r:embed="rId4"/>
                <a:stretch>
                  <a:fillRect l="-2857" t="-4762" b="-14286"/>
                </a:stretch>
              </a:blipFill>
            </p:spPr>
            <p:txBody>
              <a:bodyPr/>
              <a:lstStyle/>
              <a:p>
                <a:r>
                  <a:rPr lang="en-US">
                    <a:noFill/>
                  </a:rPr>
                  <a:t> </a:t>
                </a:r>
              </a:p>
            </p:txBody>
          </p:sp>
        </mc:Fallback>
      </mc:AlternateContent>
      <p:sp>
        <p:nvSpPr>
          <p:cNvPr id="33" name="TextBox 32">
            <a:extLst>
              <a:ext uri="{FF2B5EF4-FFF2-40B4-BE49-F238E27FC236}">
                <a16:creationId xmlns:a16="http://schemas.microsoft.com/office/drawing/2014/main" id="{263BD58A-7818-7D43-9832-830AF78D18D6}"/>
              </a:ext>
            </a:extLst>
          </p:cNvPr>
          <p:cNvSpPr txBox="1"/>
          <p:nvPr/>
        </p:nvSpPr>
        <p:spPr>
          <a:xfrm>
            <a:off x="10437208" y="1542681"/>
            <a:ext cx="204979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geometric mean</a:t>
            </a:r>
          </a:p>
        </p:txBody>
      </p:sp>
      <p:sp>
        <p:nvSpPr>
          <p:cNvPr id="34" name="TextBox 33">
            <a:extLst>
              <a:ext uri="{FF2B5EF4-FFF2-40B4-BE49-F238E27FC236}">
                <a16:creationId xmlns:a16="http://schemas.microsoft.com/office/drawing/2014/main" id="{7EA0A325-434A-A942-854C-D2819E31EC4C}"/>
              </a:ext>
            </a:extLst>
          </p:cNvPr>
          <p:cNvSpPr txBox="1"/>
          <p:nvPr/>
        </p:nvSpPr>
        <p:spPr>
          <a:xfrm>
            <a:off x="10494253" y="2050182"/>
            <a:ext cx="204979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arithmetic mean</a:t>
            </a:r>
          </a:p>
        </p:txBody>
      </p:sp>
      <p:graphicFrame>
        <p:nvGraphicFramePr>
          <p:cNvPr id="2" name="Table 1">
            <a:extLst>
              <a:ext uri="{FF2B5EF4-FFF2-40B4-BE49-F238E27FC236}">
                <a16:creationId xmlns:a16="http://schemas.microsoft.com/office/drawing/2014/main" id="{B059B092-8FF1-7046-8DB8-88E359550A38}"/>
              </a:ext>
            </a:extLst>
          </p:cNvPr>
          <p:cNvGraphicFramePr>
            <a:graphicFrameLocks noGrp="1"/>
          </p:cNvGraphicFramePr>
          <p:nvPr>
            <p:extLst>
              <p:ext uri="{D42A27DB-BD31-4B8C-83A1-F6EECF244321}">
                <p14:modId xmlns:p14="http://schemas.microsoft.com/office/powerpoint/2010/main" val="117334839"/>
              </p:ext>
            </p:extLst>
          </p:nvPr>
        </p:nvGraphicFramePr>
        <p:xfrm>
          <a:off x="5443619" y="1542681"/>
          <a:ext cx="2527300" cy="3886200"/>
        </p:xfrm>
        <a:graphic>
          <a:graphicData uri="http://schemas.openxmlformats.org/drawingml/2006/table">
            <a:tbl>
              <a:tblPr>
                <a:tableStyleId>{5C22544A-7EE6-4342-B048-85BDC9FD1C3A}</a:tableStyleId>
              </a:tblPr>
              <a:tblGrid>
                <a:gridCol w="546100">
                  <a:extLst>
                    <a:ext uri="{9D8B030D-6E8A-4147-A177-3AD203B41FA5}">
                      <a16:colId xmlns:a16="http://schemas.microsoft.com/office/drawing/2014/main" val="3882173706"/>
                    </a:ext>
                  </a:extLst>
                </a:gridCol>
                <a:gridCol w="762000">
                  <a:extLst>
                    <a:ext uri="{9D8B030D-6E8A-4147-A177-3AD203B41FA5}">
                      <a16:colId xmlns:a16="http://schemas.microsoft.com/office/drawing/2014/main" val="2874591329"/>
                    </a:ext>
                  </a:extLst>
                </a:gridCol>
                <a:gridCol w="647700">
                  <a:extLst>
                    <a:ext uri="{9D8B030D-6E8A-4147-A177-3AD203B41FA5}">
                      <a16:colId xmlns:a16="http://schemas.microsoft.com/office/drawing/2014/main" val="2994023591"/>
                    </a:ext>
                  </a:extLst>
                </a:gridCol>
                <a:gridCol w="571500">
                  <a:extLst>
                    <a:ext uri="{9D8B030D-6E8A-4147-A177-3AD203B41FA5}">
                      <a16:colId xmlns:a16="http://schemas.microsoft.com/office/drawing/2014/main" val="2927242663"/>
                    </a:ext>
                  </a:extLst>
                </a:gridCol>
              </a:tblGrid>
              <a:tr h="266700">
                <a:tc>
                  <a:txBody>
                    <a:bodyPr/>
                    <a:lstStyle/>
                    <a:p>
                      <a:pPr algn="ctr" rtl="0" fontAlgn="ctr"/>
                      <a:r>
                        <a:rPr lang="en-US" sz="1400" u="none" strike="noStrike">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dirty="0" err="1">
                          <a:effectLst/>
                          <a:latin typeface="Symbol" pitchFamily="2" charset="2"/>
                        </a:rPr>
                        <a:t>Y</a:t>
                      </a:r>
                      <a:r>
                        <a:rPr lang="en-US" sz="1400" u="none" strike="noStrike" baseline="-25000" dirty="0" err="1">
                          <a:effectLst/>
                        </a:rPr>
                        <a:t>b,i</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F</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5671945"/>
                  </a:ext>
                </a:extLst>
              </a:tr>
              <a:tr h="317500">
                <a:tc>
                  <a:txBody>
                    <a:bodyPr/>
                    <a:lstStyle/>
                    <a:p>
                      <a:pPr algn="ctr" fontAlgn="b"/>
                      <a:r>
                        <a:rPr lang="en-US" sz="1800" u="none" strike="noStrike">
                          <a:effectLst/>
                        </a:rPr>
                        <a:t> </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84650483"/>
                  </a:ext>
                </a:extLst>
              </a:tr>
              <a:tr h="254000">
                <a:tc>
                  <a:txBody>
                    <a:bodyPr/>
                    <a:lstStyle/>
                    <a:p>
                      <a:pPr algn="r" rtl="0" fontAlgn="b"/>
                      <a:r>
                        <a:rPr lang="en-US" sz="1400" u="none" strike="noStrike">
                          <a:effectLst/>
                        </a:rPr>
                        <a:t>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1.31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2524553"/>
                  </a:ext>
                </a:extLst>
              </a:tr>
              <a:tr h="254000">
                <a:tc>
                  <a:txBody>
                    <a:bodyPr/>
                    <a:lstStyle/>
                    <a:p>
                      <a:pPr algn="r" rtl="0" fontAlgn="b"/>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0.86</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83238267"/>
                  </a:ext>
                </a:extLst>
              </a:tr>
              <a:tr h="254000">
                <a:tc>
                  <a:txBody>
                    <a:bodyPr/>
                    <a:lstStyle/>
                    <a:p>
                      <a:pPr algn="r" rtl="0"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-0.49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0.81</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7326525"/>
                  </a:ext>
                </a:extLst>
              </a:tr>
              <a:tr h="254000">
                <a:tc>
                  <a:txBody>
                    <a:bodyPr/>
                    <a:lstStyle/>
                    <a:p>
                      <a:pPr algn="r" rtl="0" fontAlgn="b"/>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48594680"/>
                  </a:ext>
                </a:extLst>
              </a:tr>
              <a:tr h="254000">
                <a:tc>
                  <a:txBody>
                    <a:bodyPr/>
                    <a:lstStyle/>
                    <a:p>
                      <a:pPr algn="r" rtl="0" fontAlgn="b"/>
                      <a:r>
                        <a:rPr lang="en-US" sz="1400" u="none" strike="noStrike">
                          <a:effectLst/>
                        </a:rPr>
                        <a:t>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09691951"/>
                  </a:ext>
                </a:extLst>
              </a:tr>
              <a:tr h="254000">
                <a:tc>
                  <a:txBody>
                    <a:bodyPr/>
                    <a:lstStyle/>
                    <a:p>
                      <a:pPr algn="r" rtl="0"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1153697"/>
                  </a:ext>
                </a:extLst>
              </a:tr>
              <a:tr h="254000">
                <a:tc>
                  <a:txBody>
                    <a:bodyPr/>
                    <a:lstStyle/>
                    <a:p>
                      <a:pPr algn="r" rtl="0"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04938818"/>
                  </a:ext>
                </a:extLst>
              </a:tr>
              <a:tr h="254000">
                <a:tc>
                  <a:txBody>
                    <a:bodyPr/>
                    <a:lstStyle/>
                    <a:p>
                      <a:pPr algn="r" rtl="0"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8308440"/>
                  </a:ext>
                </a:extLst>
              </a:tr>
              <a:tr h="254000">
                <a:tc>
                  <a:txBody>
                    <a:bodyPr/>
                    <a:lstStyle/>
                    <a:p>
                      <a:pPr algn="r" rtl="0"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57972022"/>
                  </a:ext>
                </a:extLst>
              </a:tr>
              <a:tr h="254000">
                <a:tc>
                  <a:txBody>
                    <a:bodyPr/>
                    <a:lstStyle/>
                    <a:p>
                      <a:pPr algn="r" rtl="0"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23601029"/>
                  </a:ext>
                </a:extLst>
              </a:tr>
              <a:tr h="254000">
                <a:tc>
                  <a:txBody>
                    <a:bodyPr/>
                    <a:lstStyle/>
                    <a:p>
                      <a:pPr algn="r" rtl="0"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-2.94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63564037"/>
                  </a:ext>
                </a:extLst>
              </a:tr>
              <a:tr h="254000">
                <a:tc>
                  <a:txBody>
                    <a:bodyPr/>
                    <a:lstStyle/>
                    <a:p>
                      <a:pPr algn="r" rtl="0"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15972753"/>
                  </a:ext>
                </a:extLst>
              </a:tr>
              <a:tr h="254000">
                <a:tc>
                  <a:txBody>
                    <a:bodyPr/>
                    <a:lstStyle/>
                    <a:p>
                      <a:pPr algn="r" rtl="0"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-3.45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dirty="0">
                          <a:effectLst/>
                        </a:rPr>
                        <a:t>0.00</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07212140"/>
                  </a:ext>
                </a:extLst>
              </a:tr>
            </a:tbl>
          </a:graphicData>
        </a:graphic>
      </p:graphicFrame>
      <p:pic>
        <p:nvPicPr>
          <p:cNvPr id="3" name="Picture 2">
            <a:extLst>
              <a:ext uri="{FF2B5EF4-FFF2-40B4-BE49-F238E27FC236}">
                <a16:creationId xmlns:a16="http://schemas.microsoft.com/office/drawing/2014/main" id="{09392759-D4F9-7836-FE37-15CD37578E59}"/>
              </a:ext>
            </a:extLst>
          </p:cNvPr>
          <p:cNvPicPr>
            <a:picLocks noChangeAspect="1"/>
          </p:cNvPicPr>
          <p:nvPr/>
        </p:nvPicPr>
        <p:blipFill>
          <a:blip r:embed="rId5"/>
          <a:stretch>
            <a:fillRect/>
          </a:stretch>
        </p:blipFill>
        <p:spPr>
          <a:xfrm>
            <a:off x="539496" y="1197864"/>
            <a:ext cx="5219700" cy="5029200"/>
          </a:xfrm>
          <a:prstGeom prst="rect">
            <a:avLst/>
          </a:prstGeom>
        </p:spPr>
      </p:pic>
      <p:sp>
        <p:nvSpPr>
          <p:cNvPr id="6" name="Slide Number Placeholder 5">
            <a:extLst>
              <a:ext uri="{FF2B5EF4-FFF2-40B4-BE49-F238E27FC236}">
                <a16:creationId xmlns:a16="http://schemas.microsoft.com/office/drawing/2014/main" id="{52015A5E-AD5B-1838-AD7C-E6E05DD65424}"/>
              </a:ext>
            </a:extLst>
          </p:cNvPr>
          <p:cNvSpPr>
            <a:spLocks noGrp="1"/>
          </p:cNvSpPr>
          <p:nvPr>
            <p:ph type="sldNum" sz="quarter" idx="12"/>
          </p:nvPr>
        </p:nvSpPr>
        <p:spPr/>
        <p:txBody>
          <a:bodyPr/>
          <a:lstStyle/>
          <a:p>
            <a:fld id="{2386C454-E1BD-5A43-901A-CA4ACC7380B7}" type="slidenum">
              <a:rPr lang="en-US" smtClean="0"/>
              <a:t>41</a:t>
            </a:fld>
            <a:endParaRPr lang="en-US"/>
          </a:p>
        </p:txBody>
      </p:sp>
    </p:spTree>
    <p:extLst>
      <p:ext uri="{BB962C8B-B14F-4D97-AF65-F5344CB8AC3E}">
        <p14:creationId xmlns:p14="http://schemas.microsoft.com/office/powerpoint/2010/main" val="103049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Characteristic diameters D</a:t>
            </a:r>
            <a:r>
              <a:rPr lang="en-US" sz="2800" b="1" baseline="-25000" dirty="0">
                <a:latin typeface="Arial" panose="020B0604020202020204" pitchFamily="34" charset="0"/>
                <a:cs typeface="Arial" panose="020B0604020202020204" pitchFamily="34" charset="0"/>
              </a:rPr>
              <a:t>i</a:t>
            </a:r>
          </a:p>
        </p:txBody>
      </p:sp>
      <p:cxnSp>
        <p:nvCxnSpPr>
          <p:cNvPr id="7" name="Straight Connector 6">
            <a:extLst>
              <a:ext uri="{FF2B5EF4-FFF2-40B4-BE49-F238E27FC236}">
                <a16:creationId xmlns:a16="http://schemas.microsoft.com/office/drawing/2014/main" id="{74F63053-C91E-F94F-81B8-57842F779670}"/>
              </a:ext>
            </a:extLst>
          </p:cNvPr>
          <p:cNvCxnSpPr>
            <a:cxnSpLocks/>
          </p:cNvCxnSpPr>
          <p:nvPr/>
        </p:nvCxnSpPr>
        <p:spPr>
          <a:xfrm>
            <a:off x="1354018" y="2156178"/>
            <a:ext cx="24616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C2EDFFB-2CD2-9542-BFD1-A3A6B6C72C45}"/>
              </a:ext>
            </a:extLst>
          </p:cNvPr>
          <p:cNvCxnSpPr/>
          <p:nvPr/>
        </p:nvCxnSpPr>
        <p:spPr>
          <a:xfrm>
            <a:off x="1354016" y="3383844"/>
            <a:ext cx="22245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7E84FE4-870D-7240-B19A-6A8018587CC9}"/>
              </a:ext>
            </a:extLst>
          </p:cNvPr>
          <p:cNvCxnSpPr>
            <a:cxnSpLocks/>
          </p:cNvCxnSpPr>
          <p:nvPr/>
        </p:nvCxnSpPr>
        <p:spPr>
          <a:xfrm>
            <a:off x="3589867" y="3383844"/>
            <a:ext cx="0" cy="21663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75F130-E6A7-AF4B-9FAF-B9ECA7751A7D}"/>
              </a:ext>
            </a:extLst>
          </p:cNvPr>
          <p:cNvCxnSpPr>
            <a:cxnSpLocks/>
          </p:cNvCxnSpPr>
          <p:nvPr/>
        </p:nvCxnSpPr>
        <p:spPr>
          <a:xfrm>
            <a:off x="3810000" y="2156178"/>
            <a:ext cx="0" cy="33940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1">
            <a:extLst>
              <a:ext uri="{FF2B5EF4-FFF2-40B4-BE49-F238E27FC236}">
                <a16:creationId xmlns:a16="http://schemas.microsoft.com/office/drawing/2014/main" id="{92C08CE4-7656-324A-8C61-85D8F88E38E6}"/>
              </a:ext>
            </a:extLst>
          </p:cNvPr>
          <p:cNvSpPr txBox="1"/>
          <p:nvPr/>
        </p:nvSpPr>
        <p:spPr>
          <a:xfrm>
            <a:off x="3790413" y="5228603"/>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D</a:t>
            </a:r>
            <a:r>
              <a:rPr lang="en-US" sz="1600" baseline="-25000" dirty="0">
                <a:latin typeface="Arial" panose="020B0604020202020204" pitchFamily="34" charset="0"/>
                <a:cs typeface="Arial" panose="020B0604020202020204" pitchFamily="34" charset="0"/>
              </a:rPr>
              <a:t>b,11</a:t>
            </a:r>
            <a:endParaRPr lang="en-US" sz="1600" dirty="0">
              <a:latin typeface="Arial" panose="020B0604020202020204" pitchFamily="34" charset="0"/>
              <a:cs typeface="Arial" panose="020B0604020202020204" pitchFamily="34" charset="0"/>
            </a:endParaRPr>
          </a:p>
        </p:txBody>
      </p:sp>
      <p:sp>
        <p:nvSpPr>
          <p:cNvPr id="22" name="TextBox 1">
            <a:extLst>
              <a:ext uri="{FF2B5EF4-FFF2-40B4-BE49-F238E27FC236}">
                <a16:creationId xmlns:a16="http://schemas.microsoft.com/office/drawing/2014/main" id="{92C35867-6E9E-DB43-A3D3-C86E68BD3DAA}"/>
              </a:ext>
            </a:extLst>
          </p:cNvPr>
          <p:cNvSpPr txBox="1"/>
          <p:nvPr/>
        </p:nvSpPr>
        <p:spPr>
          <a:xfrm>
            <a:off x="2006668" y="3021575"/>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b,10</a:t>
            </a:r>
            <a:endParaRPr lang="en-US" sz="1600" dirty="0">
              <a:latin typeface="Arial" panose="020B0604020202020204" pitchFamily="34" charset="0"/>
              <a:cs typeface="Arial" panose="020B0604020202020204" pitchFamily="34" charset="0"/>
            </a:endParaRPr>
          </a:p>
        </p:txBody>
      </p:sp>
      <p:sp>
        <p:nvSpPr>
          <p:cNvPr id="24" name="TextBox 1">
            <a:extLst>
              <a:ext uri="{FF2B5EF4-FFF2-40B4-BE49-F238E27FC236}">
                <a16:creationId xmlns:a16="http://schemas.microsoft.com/office/drawing/2014/main" id="{514B7A0D-F66D-B94D-A51A-A6DC3AFF01B9}"/>
              </a:ext>
            </a:extLst>
          </p:cNvPr>
          <p:cNvSpPr txBox="1"/>
          <p:nvPr/>
        </p:nvSpPr>
        <p:spPr>
          <a:xfrm>
            <a:off x="2875988" y="1800578"/>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b,11</a:t>
            </a:r>
            <a:endParaRPr lang="en-US" sz="1600"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0D6F5278-F6E7-BB48-8546-EF6F796C4B92}"/>
              </a:ext>
            </a:extLst>
          </p:cNvPr>
          <p:cNvCxnSpPr/>
          <p:nvPr/>
        </p:nvCxnSpPr>
        <p:spPr>
          <a:xfrm>
            <a:off x="3982300" y="2156177"/>
            <a:ext cx="0" cy="1238482"/>
          </a:xfrm>
          <a:prstGeom prst="line">
            <a:avLst/>
          </a:prstGeom>
          <a:ln w="19050">
            <a:solidFill>
              <a:schemeClr val="tx1"/>
            </a:solidFill>
            <a:headEnd type="arrow"/>
            <a:tailEnd type="arrow" w="med" len="med"/>
          </a:ln>
        </p:spPr>
        <p:style>
          <a:lnRef idx="1">
            <a:schemeClr val="accent1"/>
          </a:lnRef>
          <a:fillRef idx="0">
            <a:schemeClr val="accent1"/>
          </a:fillRef>
          <a:effectRef idx="0">
            <a:schemeClr val="accent1"/>
          </a:effectRef>
          <a:fontRef idx="minor">
            <a:schemeClr val="tx1"/>
          </a:fontRef>
        </p:style>
      </p:cxnSp>
      <p:sp>
        <p:nvSpPr>
          <p:cNvPr id="26" name="TextBox 1">
            <a:extLst>
              <a:ext uri="{FF2B5EF4-FFF2-40B4-BE49-F238E27FC236}">
                <a16:creationId xmlns:a16="http://schemas.microsoft.com/office/drawing/2014/main" id="{A626198A-393B-CC42-9B6D-368C3226BCFF}"/>
              </a:ext>
            </a:extLst>
          </p:cNvPr>
          <p:cNvSpPr txBox="1"/>
          <p:nvPr/>
        </p:nvSpPr>
        <p:spPr>
          <a:xfrm>
            <a:off x="3939014" y="2655571"/>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f</a:t>
            </a:r>
            <a:r>
              <a:rPr lang="en-US" sz="1600" baseline="-25000" dirty="0">
                <a:latin typeface="Arial" panose="020B0604020202020204" pitchFamily="34" charset="0"/>
                <a:cs typeface="Arial" panose="020B0604020202020204" pitchFamily="34" charset="0"/>
              </a:rPr>
              <a:t>10</a:t>
            </a:r>
            <a:r>
              <a:rPr lang="en-US" sz="1600" dirty="0">
                <a:latin typeface="Arial" panose="020B0604020202020204" pitchFamily="34" charset="0"/>
                <a:cs typeface="Arial" panose="020B0604020202020204" pitchFamily="34" charset="0"/>
              </a:rPr>
              <a:t> = F</a:t>
            </a:r>
            <a:r>
              <a:rPr lang="en-US" sz="1600" baseline="-25000" dirty="0">
                <a:latin typeface="Arial" panose="020B0604020202020204" pitchFamily="34" charset="0"/>
                <a:cs typeface="Arial" panose="020B0604020202020204" pitchFamily="34" charset="0"/>
              </a:rPr>
              <a:t>b,11</a:t>
            </a:r>
            <a:r>
              <a:rPr lang="en-US" sz="1600" dirty="0">
                <a:latin typeface="Arial" panose="020B0604020202020204" pitchFamily="34" charset="0"/>
                <a:cs typeface="Arial" panose="020B0604020202020204" pitchFamily="34" charset="0"/>
              </a:rPr>
              <a:t>- F</a:t>
            </a:r>
            <a:r>
              <a:rPr lang="en-US" sz="1600" baseline="-25000" dirty="0">
                <a:latin typeface="Arial" panose="020B0604020202020204" pitchFamily="34" charset="0"/>
                <a:cs typeface="Arial" panose="020B0604020202020204" pitchFamily="34" charset="0"/>
              </a:rPr>
              <a:t>b,10</a:t>
            </a:r>
          </a:p>
        </p:txBody>
      </p:sp>
      <p:cxnSp>
        <p:nvCxnSpPr>
          <p:cNvPr id="28" name="Straight Connector 27">
            <a:extLst>
              <a:ext uri="{FF2B5EF4-FFF2-40B4-BE49-F238E27FC236}">
                <a16:creationId xmlns:a16="http://schemas.microsoft.com/office/drawing/2014/main" id="{564D3775-974D-8E4B-82F1-AA3F2FA2BCA3}"/>
              </a:ext>
            </a:extLst>
          </p:cNvPr>
          <p:cNvCxnSpPr/>
          <p:nvPr/>
        </p:nvCxnSpPr>
        <p:spPr>
          <a:xfrm>
            <a:off x="3708838" y="5406402"/>
            <a:ext cx="0" cy="305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TextBox 1">
            <a:extLst>
              <a:ext uri="{FF2B5EF4-FFF2-40B4-BE49-F238E27FC236}">
                <a16:creationId xmlns:a16="http://schemas.microsoft.com/office/drawing/2014/main" id="{92353B38-51FB-7C4D-B3E8-524B9B2425F3}"/>
              </a:ext>
            </a:extLst>
          </p:cNvPr>
          <p:cNvSpPr txBox="1"/>
          <p:nvPr/>
        </p:nvSpPr>
        <p:spPr>
          <a:xfrm>
            <a:off x="3578578" y="5690724"/>
            <a:ext cx="1738640" cy="355599"/>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600" dirty="0">
                <a:latin typeface="Arial" panose="020B0604020202020204" pitchFamily="34" charset="0"/>
                <a:cs typeface="Arial" panose="020B0604020202020204" pitchFamily="34" charset="0"/>
              </a:rPr>
              <a:t>D</a:t>
            </a:r>
            <a:r>
              <a:rPr lang="en-US" sz="1600" baseline="-25000" dirty="0">
                <a:latin typeface="Arial" panose="020B0604020202020204" pitchFamily="34" charset="0"/>
                <a:cs typeface="Arial" panose="020B0604020202020204" pitchFamily="34" charset="0"/>
              </a:rPr>
              <a:t>i=10</a:t>
            </a:r>
            <a:endParaRPr lang="en-US" sz="16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B0F4FD4-6CAD-CC43-93C8-9DAA94F5BC48}"/>
                  </a:ext>
                </a:extLst>
              </p:cNvPr>
              <p:cNvSpPr txBox="1"/>
              <p:nvPr/>
            </p:nvSpPr>
            <p:spPr>
              <a:xfrm>
                <a:off x="8291116" y="1530175"/>
                <a:ext cx="2049792"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r>
                            <a:rPr lang="en-US" b="0" i="1" smtClean="0">
                              <a:latin typeface="Cambria Math" panose="02040503050406030204" pitchFamily="18" charset="0"/>
                            </a:rPr>
                            <m:t>=10</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,10</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,11</m:t>
                              </m:r>
                            </m:sub>
                          </m:sSub>
                        </m:e>
                      </m:rad>
                    </m:oMath>
                  </m:oMathPara>
                </a14:m>
                <a:endParaRPr lang="en-US" dirty="0"/>
              </a:p>
            </p:txBody>
          </p:sp>
        </mc:Choice>
        <mc:Fallback xmlns="">
          <p:sp>
            <p:nvSpPr>
              <p:cNvPr id="31" name="TextBox 30">
                <a:extLst>
                  <a:ext uri="{FF2B5EF4-FFF2-40B4-BE49-F238E27FC236}">
                    <a16:creationId xmlns:a16="http://schemas.microsoft.com/office/drawing/2014/main" id="{CB0F4FD4-6CAD-CC43-93C8-9DAA94F5BC48}"/>
                  </a:ext>
                </a:extLst>
              </p:cNvPr>
              <p:cNvSpPr txBox="1">
                <a:spLocks noRot="1" noChangeAspect="1" noMove="1" noResize="1" noEditPoints="1" noAdjustHandles="1" noChangeArrowheads="1" noChangeShapeType="1" noTextEdit="1"/>
              </p:cNvSpPr>
              <p:nvPr/>
            </p:nvSpPr>
            <p:spPr>
              <a:xfrm>
                <a:off x="8291116" y="1530175"/>
                <a:ext cx="2049792" cy="335413"/>
              </a:xfrm>
              <a:prstGeom prst="rect">
                <a:avLst/>
              </a:prstGeom>
              <a:blipFill>
                <a:blip r:embed="rId3"/>
                <a:stretch>
                  <a:fillRect l="-1840" r="-613"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749C07F-21E0-B343-A285-16CE023F2668}"/>
                  </a:ext>
                </a:extLst>
              </p:cNvPr>
              <p:cNvSpPr txBox="1"/>
              <p:nvPr/>
            </p:nvSpPr>
            <p:spPr>
              <a:xfrm>
                <a:off x="8291116" y="2013133"/>
                <a:ext cx="2199448" cy="520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𝑖</m:t>
                          </m:r>
                          <m:r>
                            <a:rPr lang="en-US" b="0" i="1" smtClean="0">
                              <a:latin typeface="Cambria Math" panose="02040503050406030204" pitchFamily="18" charset="0"/>
                            </a:rPr>
                            <m:t>=10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,11</m:t>
                              </m:r>
                            </m:sub>
                          </m:sSub>
                        </m:num>
                        <m:den>
                          <m:r>
                            <a:rPr lang="en-US" b="0" i="1" smtClean="0">
                              <a:latin typeface="Cambria Math" panose="02040503050406030204" pitchFamily="18" charset="0"/>
                            </a:rPr>
                            <m:t>2</m:t>
                          </m:r>
                        </m:den>
                      </m:f>
                    </m:oMath>
                  </m:oMathPara>
                </a14:m>
                <a:endParaRPr lang="en-US" dirty="0"/>
              </a:p>
            </p:txBody>
          </p:sp>
        </mc:Choice>
        <mc:Fallback xmlns="">
          <p:sp>
            <p:nvSpPr>
              <p:cNvPr id="32" name="TextBox 31">
                <a:extLst>
                  <a:ext uri="{FF2B5EF4-FFF2-40B4-BE49-F238E27FC236}">
                    <a16:creationId xmlns:a16="http://schemas.microsoft.com/office/drawing/2014/main" id="{2749C07F-21E0-B343-A285-16CE023F2668}"/>
                  </a:ext>
                </a:extLst>
              </p:cNvPr>
              <p:cNvSpPr txBox="1">
                <a:spLocks noRot="1" noChangeAspect="1" noMove="1" noResize="1" noEditPoints="1" noAdjustHandles="1" noChangeArrowheads="1" noChangeShapeType="1" noTextEdit="1"/>
              </p:cNvSpPr>
              <p:nvPr/>
            </p:nvSpPr>
            <p:spPr>
              <a:xfrm>
                <a:off x="8291116" y="2013133"/>
                <a:ext cx="2199448" cy="520912"/>
              </a:xfrm>
              <a:prstGeom prst="rect">
                <a:avLst/>
              </a:prstGeom>
              <a:blipFill>
                <a:blip r:embed="rId4"/>
                <a:stretch>
                  <a:fillRect l="-2857" t="-4762" b="-14286"/>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6E8DC701-EE85-F242-8AA0-5F41E1FBE107}"/>
              </a:ext>
            </a:extLst>
          </p:cNvPr>
          <p:cNvSpPr txBox="1"/>
          <p:nvPr/>
        </p:nvSpPr>
        <p:spPr>
          <a:xfrm>
            <a:off x="8187266" y="4418018"/>
            <a:ext cx="4004734"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 volume fraction content of sediment with grain size between </a:t>
            </a:r>
            <a:r>
              <a:rPr lang="en-US" dirty="0" err="1">
                <a:latin typeface="Arial" panose="020B0604020202020204" pitchFamily="34" charset="0"/>
                <a:cs typeface="Arial" panose="020B0604020202020204" pitchFamily="34" charset="0"/>
              </a:rPr>
              <a:t>D</a:t>
            </a:r>
            <a:r>
              <a:rPr lang="en-US" baseline="-25000" dirty="0" err="1">
                <a:latin typeface="Arial" panose="020B0604020202020204" pitchFamily="34" charset="0"/>
                <a:cs typeface="Arial" panose="020B0604020202020204" pitchFamily="34" charset="0"/>
              </a:rPr>
              <a:t>b,i</a:t>
            </a:r>
            <a:r>
              <a:rPr lang="en-US" dirty="0">
                <a:latin typeface="Arial" panose="020B0604020202020204" pitchFamily="34" charset="0"/>
                <a:cs typeface="Arial" panose="020B0604020202020204" pitchFamily="34" charset="0"/>
              </a:rPr>
              <a:t> and D</a:t>
            </a:r>
            <a:r>
              <a:rPr lang="en-US" baseline="-25000" dirty="0">
                <a:latin typeface="Arial" panose="020B0604020202020204" pitchFamily="34" charset="0"/>
                <a:cs typeface="Arial" panose="020B0604020202020204" pitchFamily="34" charset="0"/>
              </a:rPr>
              <a:t>b,i+1 </a:t>
            </a:r>
            <a:r>
              <a:rPr lang="en-US" dirty="0">
                <a:latin typeface="Arial" panose="020B0604020202020204" pitchFamily="34" charset="0"/>
                <a:cs typeface="Arial" panose="020B0604020202020204" pitchFamily="34" charset="0"/>
              </a:rPr>
              <a:t>in the sediment sample</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188FE75-B672-3742-9990-15C730F4CF14}"/>
                  </a:ext>
                </a:extLst>
              </p:cNvPr>
              <p:cNvSpPr txBox="1"/>
              <p:nvPr/>
            </p:nvSpPr>
            <p:spPr>
              <a:xfrm>
                <a:off x="8291116" y="5425034"/>
                <a:ext cx="1677189" cy="2891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𝑖</m:t>
                          </m:r>
                        </m:sub>
                      </m:sSub>
                    </m:oMath>
                  </m:oMathPara>
                </a14:m>
                <a:endParaRPr lang="en-US" dirty="0"/>
              </a:p>
            </p:txBody>
          </p:sp>
        </mc:Choice>
        <mc:Fallback xmlns="">
          <p:sp>
            <p:nvSpPr>
              <p:cNvPr id="36" name="TextBox 35">
                <a:extLst>
                  <a:ext uri="{FF2B5EF4-FFF2-40B4-BE49-F238E27FC236}">
                    <a16:creationId xmlns:a16="http://schemas.microsoft.com/office/drawing/2014/main" id="{4188FE75-B672-3742-9990-15C730F4CF14}"/>
                  </a:ext>
                </a:extLst>
              </p:cNvPr>
              <p:cNvSpPr txBox="1">
                <a:spLocks noRot="1" noChangeAspect="1" noMove="1" noResize="1" noEditPoints="1" noAdjustHandles="1" noChangeArrowheads="1" noChangeShapeType="1" noTextEdit="1"/>
              </p:cNvSpPr>
              <p:nvPr/>
            </p:nvSpPr>
            <p:spPr>
              <a:xfrm>
                <a:off x="8291116" y="5425034"/>
                <a:ext cx="1677189" cy="289182"/>
              </a:xfrm>
              <a:prstGeom prst="rect">
                <a:avLst/>
              </a:prstGeom>
              <a:blipFill>
                <a:blip r:embed="rId5"/>
                <a:stretch>
                  <a:fillRect l="-4511" t="-4348" r="-752"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5BDABBD-4E17-6541-B74C-689EF1786638}"/>
                  </a:ext>
                </a:extLst>
              </p:cNvPr>
              <p:cNvSpPr txBox="1"/>
              <p:nvPr/>
            </p:nvSpPr>
            <p:spPr>
              <a:xfrm>
                <a:off x="8257735" y="3011170"/>
                <a:ext cx="1691040"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Sub>
                        </m:e>
                      </m:rad>
                    </m:oMath>
                  </m:oMathPara>
                </a14:m>
                <a:endParaRPr lang="en-US" dirty="0"/>
              </a:p>
            </p:txBody>
          </p:sp>
        </mc:Choice>
        <mc:Fallback xmlns="">
          <p:sp>
            <p:nvSpPr>
              <p:cNvPr id="37" name="TextBox 36">
                <a:extLst>
                  <a:ext uri="{FF2B5EF4-FFF2-40B4-BE49-F238E27FC236}">
                    <a16:creationId xmlns:a16="http://schemas.microsoft.com/office/drawing/2014/main" id="{F5BDABBD-4E17-6541-B74C-689EF1786638}"/>
                  </a:ext>
                </a:extLst>
              </p:cNvPr>
              <p:cNvSpPr txBox="1">
                <a:spLocks noRot="1" noChangeAspect="1" noMove="1" noResize="1" noEditPoints="1" noAdjustHandles="1" noChangeArrowheads="1" noChangeShapeType="1" noTextEdit="1"/>
              </p:cNvSpPr>
              <p:nvPr/>
            </p:nvSpPr>
            <p:spPr>
              <a:xfrm>
                <a:off x="8257735" y="3011170"/>
                <a:ext cx="1691040" cy="335413"/>
              </a:xfrm>
              <a:prstGeom prst="rect">
                <a:avLst/>
              </a:prstGeom>
              <a:blipFill>
                <a:blip r:embed="rId6"/>
                <a:stretch>
                  <a:fillRect l="-2985" r="-746" b="-7407"/>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D6EC7718-89AA-274E-9DAC-E9D5D6EA0F63}"/>
              </a:ext>
            </a:extLst>
          </p:cNvPr>
          <p:cNvSpPr txBox="1"/>
          <p:nvPr/>
        </p:nvSpPr>
        <p:spPr>
          <a:xfrm>
            <a:off x="8224310" y="2576038"/>
            <a:ext cx="1757890" cy="369332"/>
          </a:xfrm>
          <a:prstGeom prst="rect">
            <a:avLst/>
          </a:prstGeom>
          <a:noFill/>
        </p:spPr>
        <p:txBody>
          <a:bodyPr wrap="square" rtlCol="0">
            <a:spAutoFit/>
          </a:bodyPr>
          <a:lstStyle/>
          <a:p>
            <a:r>
              <a:rPr lang="en-US" dirty="0"/>
              <a:t>General form</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A609ABA-0EB8-A44C-AE56-A8A278681E99}"/>
                  </a:ext>
                </a:extLst>
              </p:cNvPr>
              <p:cNvSpPr txBox="1"/>
              <p:nvPr/>
            </p:nvSpPr>
            <p:spPr>
              <a:xfrm>
                <a:off x="8243996" y="3485781"/>
                <a:ext cx="1840697" cy="520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Sub>
                        </m:num>
                        <m:den>
                          <m:r>
                            <a:rPr lang="en-US" b="0" i="1" smtClean="0">
                              <a:latin typeface="Cambria Math" panose="02040503050406030204" pitchFamily="18" charset="0"/>
                            </a:rPr>
                            <m:t>2</m:t>
                          </m:r>
                        </m:den>
                      </m:f>
                    </m:oMath>
                  </m:oMathPara>
                </a14:m>
                <a:endParaRPr lang="en-US" dirty="0"/>
              </a:p>
            </p:txBody>
          </p:sp>
        </mc:Choice>
        <mc:Fallback xmlns="">
          <p:sp>
            <p:nvSpPr>
              <p:cNvPr id="39" name="TextBox 38">
                <a:extLst>
                  <a:ext uri="{FF2B5EF4-FFF2-40B4-BE49-F238E27FC236}">
                    <a16:creationId xmlns:a16="http://schemas.microsoft.com/office/drawing/2014/main" id="{8A609ABA-0EB8-A44C-AE56-A8A278681E99}"/>
                  </a:ext>
                </a:extLst>
              </p:cNvPr>
              <p:cNvSpPr txBox="1">
                <a:spLocks noRot="1" noChangeAspect="1" noMove="1" noResize="1" noEditPoints="1" noAdjustHandles="1" noChangeArrowheads="1" noChangeShapeType="1" noTextEdit="1"/>
              </p:cNvSpPr>
              <p:nvPr/>
            </p:nvSpPr>
            <p:spPr>
              <a:xfrm>
                <a:off x="8243996" y="3485781"/>
                <a:ext cx="1840697" cy="520912"/>
              </a:xfrm>
              <a:prstGeom prst="rect">
                <a:avLst/>
              </a:prstGeom>
              <a:blipFill>
                <a:blip r:embed="rId7"/>
                <a:stretch>
                  <a:fillRect l="-3425" t="-4762" r="-685"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10F7A26-51B9-6246-B10D-B35752BA9A45}"/>
                  </a:ext>
                </a:extLst>
              </p:cNvPr>
              <p:cNvSpPr txBox="1"/>
              <p:nvPr/>
            </p:nvSpPr>
            <p:spPr>
              <a:xfrm>
                <a:off x="10773481" y="3523314"/>
                <a:ext cx="904798" cy="2876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𝑖</m:t>
                              </m:r>
                            </m:sub>
                          </m:sSub>
                        </m:sup>
                      </m:sSup>
                    </m:oMath>
                  </m:oMathPara>
                </a14:m>
                <a:endParaRPr lang="en-US" dirty="0"/>
              </a:p>
            </p:txBody>
          </p:sp>
        </mc:Choice>
        <mc:Fallback xmlns="">
          <p:sp>
            <p:nvSpPr>
              <p:cNvPr id="40" name="TextBox 39">
                <a:extLst>
                  <a:ext uri="{FF2B5EF4-FFF2-40B4-BE49-F238E27FC236}">
                    <a16:creationId xmlns:a16="http://schemas.microsoft.com/office/drawing/2014/main" id="{010F7A26-51B9-6246-B10D-B35752BA9A45}"/>
                  </a:ext>
                </a:extLst>
              </p:cNvPr>
              <p:cNvSpPr txBox="1">
                <a:spLocks noRot="1" noChangeAspect="1" noMove="1" noResize="1" noEditPoints="1" noAdjustHandles="1" noChangeArrowheads="1" noChangeShapeType="1" noTextEdit="1"/>
              </p:cNvSpPr>
              <p:nvPr/>
            </p:nvSpPr>
            <p:spPr>
              <a:xfrm>
                <a:off x="10773481" y="3523314"/>
                <a:ext cx="904798" cy="287643"/>
              </a:xfrm>
              <a:prstGeom prst="rect">
                <a:avLst/>
              </a:prstGeom>
              <a:blipFill>
                <a:blip r:embed="rId8"/>
                <a:stretch>
                  <a:fillRect l="-5556" t="-8696" r="-1389"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DA61EF8-0A3F-B54C-9DA0-BAB8FD982CA8}"/>
                  </a:ext>
                </a:extLst>
              </p:cNvPr>
              <p:cNvSpPr txBox="1"/>
              <p:nvPr/>
            </p:nvSpPr>
            <p:spPr>
              <a:xfrm>
                <a:off x="8352196" y="5870785"/>
                <a:ext cx="992195"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=1</m:t>
                          </m:r>
                        </m:e>
                      </m:nary>
                    </m:oMath>
                  </m:oMathPara>
                </a14:m>
                <a:endParaRPr lang="en-US" dirty="0"/>
              </a:p>
            </p:txBody>
          </p:sp>
        </mc:Choice>
        <mc:Fallback xmlns="">
          <p:sp>
            <p:nvSpPr>
              <p:cNvPr id="41" name="TextBox 40">
                <a:extLst>
                  <a:ext uri="{FF2B5EF4-FFF2-40B4-BE49-F238E27FC236}">
                    <a16:creationId xmlns:a16="http://schemas.microsoft.com/office/drawing/2014/main" id="{BDA61EF8-0A3F-B54C-9DA0-BAB8FD982CA8}"/>
                  </a:ext>
                </a:extLst>
              </p:cNvPr>
              <p:cNvSpPr txBox="1">
                <a:spLocks noRot="1" noChangeAspect="1" noMove="1" noResize="1" noEditPoints="1" noAdjustHandles="1" noChangeArrowheads="1" noChangeShapeType="1" noTextEdit="1"/>
              </p:cNvSpPr>
              <p:nvPr/>
            </p:nvSpPr>
            <p:spPr>
              <a:xfrm>
                <a:off x="8352196" y="5870785"/>
                <a:ext cx="992195" cy="778931"/>
              </a:xfrm>
              <a:prstGeom prst="rect">
                <a:avLst/>
              </a:prstGeom>
              <a:blipFill>
                <a:blip r:embed="rId9"/>
                <a:stretch>
                  <a:fillRect l="-83544" t="-111290" r="-5063" b="-174194"/>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B059B092-8FF1-7046-8DB8-88E359550A38}"/>
              </a:ext>
            </a:extLst>
          </p:cNvPr>
          <p:cNvGraphicFramePr>
            <a:graphicFrameLocks noGrp="1"/>
          </p:cNvGraphicFramePr>
          <p:nvPr>
            <p:extLst>
              <p:ext uri="{D42A27DB-BD31-4B8C-83A1-F6EECF244321}">
                <p14:modId xmlns:p14="http://schemas.microsoft.com/office/powerpoint/2010/main" val="9819012"/>
              </p:ext>
            </p:extLst>
          </p:nvPr>
        </p:nvGraphicFramePr>
        <p:xfrm>
          <a:off x="5443619" y="1542681"/>
          <a:ext cx="2527300" cy="3886200"/>
        </p:xfrm>
        <a:graphic>
          <a:graphicData uri="http://schemas.openxmlformats.org/drawingml/2006/table">
            <a:tbl>
              <a:tblPr>
                <a:tableStyleId>{5C22544A-7EE6-4342-B048-85BDC9FD1C3A}</a:tableStyleId>
              </a:tblPr>
              <a:tblGrid>
                <a:gridCol w="546100">
                  <a:extLst>
                    <a:ext uri="{9D8B030D-6E8A-4147-A177-3AD203B41FA5}">
                      <a16:colId xmlns:a16="http://schemas.microsoft.com/office/drawing/2014/main" val="3882173706"/>
                    </a:ext>
                  </a:extLst>
                </a:gridCol>
                <a:gridCol w="762000">
                  <a:extLst>
                    <a:ext uri="{9D8B030D-6E8A-4147-A177-3AD203B41FA5}">
                      <a16:colId xmlns:a16="http://schemas.microsoft.com/office/drawing/2014/main" val="2874591329"/>
                    </a:ext>
                  </a:extLst>
                </a:gridCol>
                <a:gridCol w="647700">
                  <a:extLst>
                    <a:ext uri="{9D8B030D-6E8A-4147-A177-3AD203B41FA5}">
                      <a16:colId xmlns:a16="http://schemas.microsoft.com/office/drawing/2014/main" val="2994023591"/>
                    </a:ext>
                  </a:extLst>
                </a:gridCol>
                <a:gridCol w="571500">
                  <a:extLst>
                    <a:ext uri="{9D8B030D-6E8A-4147-A177-3AD203B41FA5}">
                      <a16:colId xmlns:a16="http://schemas.microsoft.com/office/drawing/2014/main" val="2927242663"/>
                    </a:ext>
                  </a:extLst>
                </a:gridCol>
              </a:tblGrid>
              <a:tr h="266700">
                <a:tc>
                  <a:txBody>
                    <a:bodyPr/>
                    <a:lstStyle/>
                    <a:p>
                      <a:pPr algn="ctr" rtl="0" fontAlgn="ctr"/>
                      <a:r>
                        <a:rPr lang="en-US" sz="1400" u="none" strike="noStrike">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dirty="0" err="1">
                          <a:effectLst/>
                          <a:latin typeface="Symbol" pitchFamily="2" charset="2"/>
                        </a:rPr>
                        <a:t>Y</a:t>
                      </a:r>
                      <a:r>
                        <a:rPr lang="en-US" sz="1400" u="none" strike="noStrike" baseline="-25000" dirty="0" err="1">
                          <a:effectLst/>
                        </a:rPr>
                        <a:t>b,i</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F</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65671945"/>
                  </a:ext>
                </a:extLst>
              </a:tr>
              <a:tr h="317500">
                <a:tc>
                  <a:txBody>
                    <a:bodyPr/>
                    <a:lstStyle/>
                    <a:p>
                      <a:pPr algn="ctr" fontAlgn="b"/>
                      <a:r>
                        <a:rPr lang="en-US" sz="1800" u="none" strike="noStrike">
                          <a:effectLst/>
                        </a:rPr>
                        <a:t> </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84650483"/>
                  </a:ext>
                </a:extLst>
              </a:tr>
              <a:tr h="254000">
                <a:tc>
                  <a:txBody>
                    <a:bodyPr/>
                    <a:lstStyle/>
                    <a:p>
                      <a:pPr algn="r" rtl="0" fontAlgn="b"/>
                      <a:r>
                        <a:rPr lang="en-US" sz="1400" u="none" strike="noStrike">
                          <a:effectLst/>
                        </a:rPr>
                        <a:t>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1.31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2524553"/>
                  </a:ext>
                </a:extLst>
              </a:tr>
              <a:tr h="254000">
                <a:tc>
                  <a:txBody>
                    <a:bodyPr/>
                    <a:lstStyle/>
                    <a:p>
                      <a:pPr algn="r" rtl="0" fontAlgn="b"/>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0.86</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83238267"/>
                  </a:ext>
                </a:extLst>
              </a:tr>
              <a:tr h="254000">
                <a:tc>
                  <a:txBody>
                    <a:bodyPr/>
                    <a:lstStyle/>
                    <a:p>
                      <a:pPr algn="r" rtl="0"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-0.49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0.81</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7326525"/>
                  </a:ext>
                </a:extLst>
              </a:tr>
              <a:tr h="254000">
                <a:tc>
                  <a:txBody>
                    <a:bodyPr/>
                    <a:lstStyle/>
                    <a:p>
                      <a:pPr algn="r" rtl="0" fontAlgn="b"/>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48594680"/>
                  </a:ext>
                </a:extLst>
              </a:tr>
              <a:tr h="254000">
                <a:tc>
                  <a:txBody>
                    <a:bodyPr/>
                    <a:lstStyle/>
                    <a:p>
                      <a:pPr algn="r" rtl="0" fontAlgn="b"/>
                      <a:r>
                        <a:rPr lang="en-US" sz="1400" u="none" strike="noStrike">
                          <a:effectLst/>
                        </a:rPr>
                        <a:t>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09691951"/>
                  </a:ext>
                </a:extLst>
              </a:tr>
              <a:tr h="254000">
                <a:tc>
                  <a:txBody>
                    <a:bodyPr/>
                    <a:lstStyle/>
                    <a:p>
                      <a:pPr algn="r" rtl="0"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1153697"/>
                  </a:ext>
                </a:extLst>
              </a:tr>
              <a:tr h="254000">
                <a:tc>
                  <a:txBody>
                    <a:bodyPr/>
                    <a:lstStyle/>
                    <a:p>
                      <a:pPr algn="r" rtl="0"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04938818"/>
                  </a:ext>
                </a:extLst>
              </a:tr>
              <a:tr h="254000">
                <a:tc>
                  <a:txBody>
                    <a:bodyPr/>
                    <a:lstStyle/>
                    <a:p>
                      <a:pPr algn="r" rtl="0"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58308440"/>
                  </a:ext>
                </a:extLst>
              </a:tr>
              <a:tr h="254000">
                <a:tc>
                  <a:txBody>
                    <a:bodyPr/>
                    <a:lstStyle/>
                    <a:p>
                      <a:pPr algn="r" rtl="0"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57972022"/>
                  </a:ext>
                </a:extLst>
              </a:tr>
              <a:tr h="254000">
                <a:tc>
                  <a:txBody>
                    <a:bodyPr/>
                    <a:lstStyle/>
                    <a:p>
                      <a:pPr algn="r" rtl="0"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23601029"/>
                  </a:ext>
                </a:extLst>
              </a:tr>
              <a:tr h="254000">
                <a:tc>
                  <a:txBody>
                    <a:bodyPr/>
                    <a:lstStyle/>
                    <a:p>
                      <a:pPr algn="r" rtl="0"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-2.94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63564037"/>
                  </a:ext>
                </a:extLst>
              </a:tr>
              <a:tr h="254000">
                <a:tc>
                  <a:txBody>
                    <a:bodyPr/>
                    <a:lstStyle/>
                    <a:p>
                      <a:pPr algn="r" rtl="0"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0.02</a:t>
                      </a:r>
                      <a:endParaRPr lang="en-US"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15972753"/>
                  </a:ext>
                </a:extLst>
              </a:tr>
              <a:tr h="254000">
                <a:tc>
                  <a:txBody>
                    <a:bodyPr/>
                    <a:lstStyle/>
                    <a:p>
                      <a:pPr algn="r" rtl="0"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-3.45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dirty="0">
                          <a:effectLst/>
                        </a:rPr>
                        <a:t>0.00</a:t>
                      </a:r>
                      <a:endParaRPr lang="en-US"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07212140"/>
                  </a:ext>
                </a:extLst>
              </a:tr>
            </a:tbl>
          </a:graphicData>
        </a:graphic>
      </p:graphicFrame>
      <p:pic>
        <p:nvPicPr>
          <p:cNvPr id="3" name="Picture 2">
            <a:extLst>
              <a:ext uri="{FF2B5EF4-FFF2-40B4-BE49-F238E27FC236}">
                <a16:creationId xmlns:a16="http://schemas.microsoft.com/office/drawing/2014/main" id="{E3107495-69E9-F3FB-E8AE-5C2069C6E367}"/>
              </a:ext>
            </a:extLst>
          </p:cNvPr>
          <p:cNvPicPr>
            <a:picLocks noChangeAspect="1"/>
          </p:cNvPicPr>
          <p:nvPr/>
        </p:nvPicPr>
        <p:blipFill>
          <a:blip r:embed="rId10"/>
          <a:stretch>
            <a:fillRect/>
          </a:stretch>
        </p:blipFill>
        <p:spPr>
          <a:xfrm>
            <a:off x="539496" y="1197864"/>
            <a:ext cx="5219700" cy="5029200"/>
          </a:xfrm>
          <a:prstGeom prst="rect">
            <a:avLst/>
          </a:prstGeom>
        </p:spPr>
      </p:pic>
      <p:sp>
        <p:nvSpPr>
          <p:cNvPr id="6" name="Slide Number Placeholder 5">
            <a:extLst>
              <a:ext uri="{FF2B5EF4-FFF2-40B4-BE49-F238E27FC236}">
                <a16:creationId xmlns:a16="http://schemas.microsoft.com/office/drawing/2014/main" id="{8CD423BA-EB1D-EDBD-A3EA-26343FE76F83}"/>
              </a:ext>
            </a:extLst>
          </p:cNvPr>
          <p:cNvSpPr>
            <a:spLocks noGrp="1"/>
          </p:cNvSpPr>
          <p:nvPr>
            <p:ph type="sldNum" sz="quarter" idx="12"/>
          </p:nvPr>
        </p:nvSpPr>
        <p:spPr/>
        <p:txBody>
          <a:bodyPr/>
          <a:lstStyle/>
          <a:p>
            <a:fld id="{2386C454-E1BD-5A43-901A-CA4ACC7380B7}" type="slidenum">
              <a:rPr lang="en-US" smtClean="0"/>
              <a:t>42</a:t>
            </a:fld>
            <a:endParaRPr lang="en-US"/>
          </a:p>
        </p:txBody>
      </p:sp>
      <p:sp>
        <p:nvSpPr>
          <p:cNvPr id="12" name="TextBox 11">
            <a:extLst>
              <a:ext uri="{FF2B5EF4-FFF2-40B4-BE49-F238E27FC236}">
                <a16:creationId xmlns:a16="http://schemas.microsoft.com/office/drawing/2014/main" id="{E57A5044-F944-24A9-BA23-AB8EC3693581}"/>
              </a:ext>
            </a:extLst>
          </p:cNvPr>
          <p:cNvSpPr txBox="1"/>
          <p:nvPr/>
        </p:nvSpPr>
        <p:spPr>
          <a:xfrm>
            <a:off x="10437208" y="1542681"/>
            <a:ext cx="204979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geometric mean</a:t>
            </a:r>
          </a:p>
        </p:txBody>
      </p:sp>
      <p:sp>
        <p:nvSpPr>
          <p:cNvPr id="15" name="TextBox 14">
            <a:extLst>
              <a:ext uri="{FF2B5EF4-FFF2-40B4-BE49-F238E27FC236}">
                <a16:creationId xmlns:a16="http://schemas.microsoft.com/office/drawing/2014/main" id="{27D0B57E-59AF-D0E8-4322-89AD11EE5560}"/>
              </a:ext>
            </a:extLst>
          </p:cNvPr>
          <p:cNvSpPr txBox="1"/>
          <p:nvPr/>
        </p:nvSpPr>
        <p:spPr>
          <a:xfrm>
            <a:off x="10494253" y="2050182"/>
            <a:ext cx="204979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arithmetic mean</a:t>
            </a:r>
          </a:p>
        </p:txBody>
      </p:sp>
      <p:sp>
        <p:nvSpPr>
          <p:cNvPr id="14" name="TextBox 13">
            <a:extLst>
              <a:ext uri="{FF2B5EF4-FFF2-40B4-BE49-F238E27FC236}">
                <a16:creationId xmlns:a16="http://schemas.microsoft.com/office/drawing/2014/main" id="{6EC54D51-BAB4-7BB1-F749-F4A0D9E059CB}"/>
              </a:ext>
            </a:extLst>
          </p:cNvPr>
          <p:cNvSpPr txBox="1"/>
          <p:nvPr/>
        </p:nvSpPr>
        <p:spPr>
          <a:xfrm>
            <a:off x="7392814" y="736299"/>
            <a:ext cx="4595985"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i=10</a:t>
            </a:r>
            <a:r>
              <a:rPr lang="en-US" dirty="0">
                <a:latin typeface="Arial" panose="020B0604020202020204" pitchFamily="34" charset="0"/>
                <a:cs typeface="Arial" panose="020B0604020202020204" pitchFamily="34" charset="0"/>
              </a:rPr>
              <a:t> = characteristic size of sediment with grain size between D</a:t>
            </a:r>
            <a:r>
              <a:rPr lang="en-US" baseline="-25000" dirty="0">
                <a:latin typeface="Arial" panose="020B0604020202020204" pitchFamily="34" charset="0"/>
                <a:cs typeface="Arial" panose="020B0604020202020204" pitchFamily="34" charset="0"/>
              </a:rPr>
              <a:t>b,10</a:t>
            </a:r>
            <a:r>
              <a:rPr lang="en-US" dirty="0">
                <a:latin typeface="Arial" panose="020B0604020202020204" pitchFamily="34" charset="0"/>
                <a:cs typeface="Arial" panose="020B0604020202020204" pitchFamily="34" charset="0"/>
              </a:rPr>
              <a:t> and D</a:t>
            </a:r>
            <a:r>
              <a:rPr lang="en-US" baseline="-25000" dirty="0">
                <a:latin typeface="Arial" panose="020B0604020202020204" pitchFamily="34" charset="0"/>
                <a:cs typeface="Arial" panose="020B0604020202020204" pitchFamily="34" charset="0"/>
              </a:rPr>
              <a:t>b,11</a:t>
            </a:r>
          </a:p>
        </p:txBody>
      </p:sp>
    </p:spTree>
    <p:extLst>
      <p:ext uri="{BB962C8B-B14F-4D97-AF65-F5344CB8AC3E}">
        <p14:creationId xmlns:p14="http://schemas.microsoft.com/office/powerpoint/2010/main" val="2776841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Geometric mean diameter D</a:t>
            </a:r>
            <a:r>
              <a:rPr lang="en-US" sz="2800" b="1" baseline="-25000" dirty="0">
                <a:latin typeface="Arial" panose="020B0604020202020204" pitchFamily="34" charset="0"/>
                <a:cs typeface="Arial" panose="020B0604020202020204" pitchFamily="34" charset="0"/>
              </a:rPr>
              <a:t>g</a:t>
            </a:r>
            <a:r>
              <a:rPr lang="en-US" sz="2800" b="1" dirty="0">
                <a:latin typeface="Arial" panose="020B0604020202020204" pitchFamily="34" charset="0"/>
                <a:cs typeface="Arial" panose="020B0604020202020204" pitchFamily="34" charset="0"/>
              </a:rPr>
              <a:t> and geometric standard deviation </a:t>
            </a:r>
            <a:r>
              <a:rPr lang="en-US" sz="2800" b="1" dirty="0">
                <a:latin typeface="Symbol" pitchFamily="2" charset="2"/>
                <a:cs typeface="Arial" panose="020B0604020202020204" pitchFamily="34" charset="0"/>
              </a:rPr>
              <a:t>s</a:t>
            </a:r>
            <a:r>
              <a:rPr lang="en-US" sz="2800" b="1" baseline="-25000" dirty="0">
                <a:latin typeface="Arial" panose="020B0604020202020204" pitchFamily="34" charset="0"/>
                <a:cs typeface="Arial" panose="020B0604020202020204" pitchFamily="34" charset="0"/>
              </a:rPr>
              <a:t>g</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718721D-882A-5941-9309-8579950ED0A6}"/>
                  </a:ext>
                </a:extLst>
              </p:cNvPr>
              <p:cNvSpPr txBox="1"/>
              <p:nvPr/>
            </p:nvSpPr>
            <p:spPr>
              <a:xfrm>
                <a:off x="3144600" y="541607"/>
                <a:ext cx="1265796"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𝜓</m:t>
                          </m:r>
                        </m:e>
                      </m:acc>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𝜓</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e>
                      </m:nary>
                    </m:oMath>
                  </m:oMathPara>
                </a14:m>
                <a:endParaRPr lang="en-US" dirty="0"/>
              </a:p>
            </p:txBody>
          </p:sp>
        </mc:Choice>
        <mc:Fallback xmlns="">
          <p:sp>
            <p:nvSpPr>
              <p:cNvPr id="2" name="TextBox 1">
                <a:extLst>
                  <a:ext uri="{FF2B5EF4-FFF2-40B4-BE49-F238E27FC236}">
                    <a16:creationId xmlns:a16="http://schemas.microsoft.com/office/drawing/2014/main" id="{7718721D-882A-5941-9309-8579950ED0A6}"/>
                  </a:ext>
                </a:extLst>
              </p:cNvPr>
              <p:cNvSpPr txBox="1">
                <a:spLocks noRot="1" noChangeAspect="1" noMove="1" noResize="1" noEditPoints="1" noAdjustHandles="1" noChangeArrowheads="1" noChangeShapeType="1" noTextEdit="1"/>
              </p:cNvSpPr>
              <p:nvPr/>
            </p:nvSpPr>
            <p:spPr>
              <a:xfrm>
                <a:off x="3144600" y="541607"/>
                <a:ext cx="1265796" cy="778931"/>
              </a:xfrm>
              <a:prstGeom prst="rect">
                <a:avLst/>
              </a:prstGeom>
              <a:blipFill>
                <a:blip r:embed="rId2"/>
                <a:stretch>
                  <a:fillRect l="-28713" t="-109524" r="-7921" b="-1698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BE2E59-C94A-4A44-8B10-4BA2A048E5B7}"/>
                  </a:ext>
                </a:extLst>
              </p:cNvPr>
              <p:cNvSpPr txBox="1"/>
              <p:nvPr/>
            </p:nvSpPr>
            <p:spPr>
              <a:xfrm>
                <a:off x="1300042" y="752722"/>
                <a:ext cx="907493" cy="3567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𝑔</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acc>
                            <m:accPr>
                              <m:chr m:val="̅"/>
                              <m:ctrlPr>
                                <a:rPr lang="en-US" b="0" i="1" smtClean="0">
                                  <a:latin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𝜓</m:t>
                              </m:r>
                            </m:e>
                          </m:acc>
                        </m:sup>
                      </m:sSup>
                    </m:oMath>
                  </m:oMathPara>
                </a14:m>
                <a:endParaRPr lang="en-US" dirty="0"/>
              </a:p>
            </p:txBody>
          </p:sp>
        </mc:Choice>
        <mc:Fallback xmlns="">
          <p:sp>
            <p:nvSpPr>
              <p:cNvPr id="3" name="TextBox 2">
                <a:extLst>
                  <a:ext uri="{FF2B5EF4-FFF2-40B4-BE49-F238E27FC236}">
                    <a16:creationId xmlns:a16="http://schemas.microsoft.com/office/drawing/2014/main" id="{78BE2E59-C94A-4A44-8B10-4BA2A048E5B7}"/>
                  </a:ext>
                </a:extLst>
              </p:cNvPr>
              <p:cNvSpPr txBox="1">
                <a:spLocks noRot="1" noChangeAspect="1" noMove="1" noResize="1" noEditPoints="1" noAdjustHandles="1" noChangeArrowheads="1" noChangeShapeType="1" noTextEdit="1"/>
              </p:cNvSpPr>
              <p:nvPr/>
            </p:nvSpPr>
            <p:spPr>
              <a:xfrm>
                <a:off x="1300042" y="752722"/>
                <a:ext cx="907493" cy="356701"/>
              </a:xfrm>
              <a:prstGeom prst="rect">
                <a:avLst/>
              </a:prstGeom>
              <a:blipFill>
                <a:blip r:embed="rId3"/>
                <a:stretch>
                  <a:fillRect l="-4167" r="-2778" b="-137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78C21B5-7DE2-DE47-9EBC-DC9AAF34AF28}"/>
                  </a:ext>
                </a:extLst>
              </p:cNvPr>
              <p:cNvSpPr txBox="1"/>
              <p:nvPr/>
            </p:nvSpPr>
            <p:spPr>
              <a:xfrm>
                <a:off x="7781606" y="595112"/>
                <a:ext cx="2257798" cy="563680"/>
              </a:xfrm>
              <a:prstGeom prst="rect">
                <a:avLst/>
              </a:prstGeom>
              <a:noFill/>
            </p:spPr>
            <p:txBody>
              <a:bodyPr wrap="none" lIns="0" tIns="0" rIns="0" bIns="0"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𝑁</m:t>
                            </m:r>
                          </m:sup>
                          <m:e>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𝜓</m:t>
                                        </m:r>
                                      </m:e>
                                    </m:acc>
                                  </m:e>
                                </m:d>
                              </m:e>
                              <m:sup>
                                <m:r>
                                  <a:rPr lang="en-US" i="1">
                                    <a:latin typeface="Cambria Math" panose="02040503050406030204" pitchFamily="18" charset="0"/>
                                    <a:ea typeface="Cambria Math" panose="02040503050406030204" pitchFamily="18" charset="0"/>
                                  </a:rPr>
                                  <m:t>2</m:t>
                                </m:r>
                              </m:sup>
                            </m:s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𝑓</m:t>
                                </m:r>
                              </m:e>
                              <m:sub>
                                <m:r>
                                  <a:rPr lang="en-US" i="1">
                                    <a:latin typeface="Cambria Math" panose="02040503050406030204" pitchFamily="18" charset="0"/>
                                    <a:ea typeface="Cambria Math" panose="02040503050406030204" pitchFamily="18" charset="0"/>
                                  </a:rPr>
                                  <m:t>𝑖</m:t>
                                </m:r>
                              </m:sub>
                            </m:sSub>
                          </m:e>
                        </m:nary>
                      </m:e>
                    </m:rad>
                  </m:oMath>
                </a14:m>
                <a:r>
                  <a:rPr lang="en-US" dirty="0"/>
                  <a:t> </a:t>
                </a:r>
              </a:p>
            </p:txBody>
          </p:sp>
        </mc:Choice>
        <mc:Fallback xmlns="">
          <p:sp>
            <p:nvSpPr>
              <p:cNvPr id="7" name="TextBox 6">
                <a:extLst>
                  <a:ext uri="{FF2B5EF4-FFF2-40B4-BE49-F238E27FC236}">
                    <a16:creationId xmlns:a16="http://schemas.microsoft.com/office/drawing/2014/main" id="{978C21B5-7DE2-DE47-9EBC-DC9AAF34AF28}"/>
                  </a:ext>
                </a:extLst>
              </p:cNvPr>
              <p:cNvSpPr txBox="1">
                <a:spLocks noRot="1" noChangeAspect="1" noMove="1" noResize="1" noEditPoints="1" noAdjustHandles="1" noChangeArrowheads="1" noChangeShapeType="1" noTextEdit="1"/>
              </p:cNvSpPr>
              <p:nvPr/>
            </p:nvSpPr>
            <p:spPr>
              <a:xfrm>
                <a:off x="7781606" y="595112"/>
                <a:ext cx="2257798" cy="563680"/>
              </a:xfrm>
              <a:prstGeom prst="rect">
                <a:avLst/>
              </a:prstGeom>
              <a:blipFill>
                <a:blip r:embed="rId4"/>
                <a:stretch>
                  <a:fillRect l="-2235" t="-53333" b="-9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9E5CF6E-5844-3947-9017-7F5A493EF612}"/>
                  </a:ext>
                </a:extLst>
              </p:cNvPr>
              <p:cNvSpPr txBox="1"/>
              <p:nvPr/>
            </p:nvSpPr>
            <p:spPr>
              <a:xfrm>
                <a:off x="6426983" y="809854"/>
                <a:ext cx="838435" cy="299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𝑔</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ea typeface="Cambria Math" panose="02040503050406030204" pitchFamily="18" charset="0"/>
                            </a:rPr>
                            <m:t>𝜎</m:t>
                          </m:r>
                        </m:sup>
                      </m:sSup>
                    </m:oMath>
                  </m:oMathPara>
                </a14:m>
                <a:endParaRPr lang="en-US" dirty="0"/>
              </a:p>
            </p:txBody>
          </p:sp>
        </mc:Choice>
        <mc:Fallback xmlns="">
          <p:sp>
            <p:nvSpPr>
              <p:cNvPr id="9" name="TextBox 8">
                <a:extLst>
                  <a:ext uri="{FF2B5EF4-FFF2-40B4-BE49-F238E27FC236}">
                    <a16:creationId xmlns:a16="http://schemas.microsoft.com/office/drawing/2014/main" id="{09E5CF6E-5844-3947-9017-7F5A493EF612}"/>
                  </a:ext>
                </a:extLst>
              </p:cNvPr>
              <p:cNvSpPr txBox="1">
                <a:spLocks noRot="1" noChangeAspect="1" noMove="1" noResize="1" noEditPoints="1" noAdjustHandles="1" noChangeArrowheads="1" noChangeShapeType="1" noTextEdit="1"/>
              </p:cNvSpPr>
              <p:nvPr/>
            </p:nvSpPr>
            <p:spPr>
              <a:xfrm>
                <a:off x="6426983" y="809854"/>
                <a:ext cx="838435" cy="299569"/>
              </a:xfrm>
              <a:prstGeom prst="rect">
                <a:avLst/>
              </a:prstGeom>
              <a:blipFill>
                <a:blip r:embed="rId5"/>
                <a:stretch>
                  <a:fillRect l="-1471" b="-200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10AF02F-7709-0444-8E5A-5530C3976BE7}"/>
              </a:ext>
            </a:extLst>
          </p:cNvPr>
          <p:cNvSpPr txBox="1"/>
          <p:nvPr/>
        </p:nvSpPr>
        <p:spPr>
          <a:xfrm>
            <a:off x="9990667" y="1465869"/>
            <a:ext cx="2099733" cy="954107"/>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sediment is well-sorted (uniform) when </a:t>
            </a:r>
            <a:r>
              <a:rPr lang="en-US" sz="2000" dirty="0">
                <a:latin typeface="Symbol" pitchFamily="2" charset="2"/>
              </a:rPr>
              <a:t>s</a:t>
            </a:r>
            <a:r>
              <a:rPr lang="en-US" baseline="-25000" dirty="0"/>
              <a:t>g</a:t>
            </a:r>
            <a:r>
              <a:rPr lang="en-US" dirty="0"/>
              <a:t> </a:t>
            </a:r>
            <a:r>
              <a:rPr lang="en-US" dirty="0">
                <a:latin typeface="Arial" panose="020B0604020202020204" pitchFamily="34" charset="0"/>
                <a:cs typeface="Arial" panose="020B0604020202020204" pitchFamily="34" charset="0"/>
              </a:rPr>
              <a:t>&lt; 1.6</a:t>
            </a:r>
          </a:p>
        </p:txBody>
      </p:sp>
      <p:sp>
        <p:nvSpPr>
          <p:cNvPr id="10" name="TextBox 9">
            <a:extLst>
              <a:ext uri="{FF2B5EF4-FFF2-40B4-BE49-F238E27FC236}">
                <a16:creationId xmlns:a16="http://schemas.microsoft.com/office/drawing/2014/main" id="{DCF5020F-DCBD-2241-92E6-454D24DBB943}"/>
              </a:ext>
            </a:extLst>
          </p:cNvPr>
          <p:cNvSpPr txBox="1"/>
          <p:nvPr/>
        </p:nvSpPr>
        <p:spPr>
          <a:xfrm>
            <a:off x="6096000" y="5746044"/>
            <a:ext cx="417688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For our sediment</a:t>
            </a:r>
          </a:p>
          <a:p>
            <a:r>
              <a:rPr lang="en-US" dirty="0">
                <a:latin typeface="Arial" panose="020B0604020202020204" pitchFamily="34" charset="0"/>
                <a:cs typeface="Arial" panose="020B0604020202020204" pitchFamily="34" charset="0"/>
              </a:rPr>
              <a:t>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0.42 mm and </a:t>
            </a:r>
            <a:r>
              <a:rPr lang="en-US" dirty="0">
                <a:latin typeface="Symbol" pitchFamily="2" charset="2"/>
              </a:rPr>
              <a:t>s</a:t>
            </a:r>
            <a:r>
              <a:rPr lang="en-US" baseline="-25000" dirty="0"/>
              <a:t>g</a:t>
            </a:r>
            <a:r>
              <a:rPr lang="en-US" dirty="0"/>
              <a:t> </a:t>
            </a:r>
            <a:r>
              <a:rPr lang="en-US" dirty="0">
                <a:latin typeface="Arial" panose="020B0604020202020204" pitchFamily="34" charset="0"/>
                <a:cs typeface="Arial" panose="020B0604020202020204" pitchFamily="34" charset="0"/>
              </a:rPr>
              <a:t>= 1.81 </a:t>
            </a:r>
          </a:p>
        </p:txBody>
      </p:sp>
      <p:graphicFrame>
        <p:nvGraphicFramePr>
          <p:cNvPr id="12" name="Table 11">
            <a:extLst>
              <a:ext uri="{FF2B5EF4-FFF2-40B4-BE49-F238E27FC236}">
                <a16:creationId xmlns:a16="http://schemas.microsoft.com/office/drawing/2014/main" id="{6CB4E353-3CC0-7B4A-AFDC-BA4A1430B247}"/>
              </a:ext>
            </a:extLst>
          </p:cNvPr>
          <p:cNvGraphicFramePr>
            <a:graphicFrameLocks noGrp="1"/>
          </p:cNvGraphicFramePr>
          <p:nvPr>
            <p:extLst>
              <p:ext uri="{D42A27DB-BD31-4B8C-83A1-F6EECF244321}">
                <p14:modId xmlns:p14="http://schemas.microsoft.com/office/powerpoint/2010/main" val="1118545771"/>
              </p:ext>
            </p:extLst>
          </p:nvPr>
        </p:nvGraphicFramePr>
        <p:xfrm>
          <a:off x="5545663" y="1642637"/>
          <a:ext cx="4343401" cy="3886200"/>
        </p:xfrm>
        <a:graphic>
          <a:graphicData uri="http://schemas.openxmlformats.org/drawingml/2006/table">
            <a:tbl>
              <a:tblPr>
                <a:tableStyleId>{5C22544A-7EE6-4342-B048-85BDC9FD1C3A}</a:tableStyleId>
              </a:tblPr>
              <a:tblGrid>
                <a:gridCol w="545303">
                  <a:extLst>
                    <a:ext uri="{9D8B030D-6E8A-4147-A177-3AD203B41FA5}">
                      <a16:colId xmlns:a16="http://schemas.microsoft.com/office/drawing/2014/main" val="1323681334"/>
                    </a:ext>
                  </a:extLst>
                </a:gridCol>
                <a:gridCol w="760888">
                  <a:extLst>
                    <a:ext uri="{9D8B030D-6E8A-4147-A177-3AD203B41FA5}">
                      <a16:colId xmlns:a16="http://schemas.microsoft.com/office/drawing/2014/main" val="73389322"/>
                    </a:ext>
                  </a:extLst>
                </a:gridCol>
                <a:gridCol w="646754">
                  <a:extLst>
                    <a:ext uri="{9D8B030D-6E8A-4147-A177-3AD203B41FA5}">
                      <a16:colId xmlns:a16="http://schemas.microsoft.com/office/drawing/2014/main" val="3579136634"/>
                    </a:ext>
                  </a:extLst>
                </a:gridCol>
                <a:gridCol w="570666">
                  <a:extLst>
                    <a:ext uri="{9D8B030D-6E8A-4147-A177-3AD203B41FA5}">
                      <a16:colId xmlns:a16="http://schemas.microsoft.com/office/drawing/2014/main" val="204141740"/>
                    </a:ext>
                  </a:extLst>
                </a:gridCol>
                <a:gridCol w="675288">
                  <a:extLst>
                    <a:ext uri="{9D8B030D-6E8A-4147-A177-3AD203B41FA5}">
                      <a16:colId xmlns:a16="http://schemas.microsoft.com/office/drawing/2014/main" val="1988981529"/>
                    </a:ext>
                  </a:extLst>
                </a:gridCol>
                <a:gridCol w="561155">
                  <a:extLst>
                    <a:ext uri="{9D8B030D-6E8A-4147-A177-3AD203B41FA5}">
                      <a16:colId xmlns:a16="http://schemas.microsoft.com/office/drawing/2014/main" val="3986218975"/>
                    </a:ext>
                  </a:extLst>
                </a:gridCol>
                <a:gridCol w="583347">
                  <a:extLst>
                    <a:ext uri="{9D8B030D-6E8A-4147-A177-3AD203B41FA5}">
                      <a16:colId xmlns:a16="http://schemas.microsoft.com/office/drawing/2014/main" val="3160569026"/>
                    </a:ext>
                  </a:extLst>
                </a:gridCol>
              </a:tblGrid>
              <a:tr h="266700">
                <a:tc>
                  <a:txBody>
                    <a:bodyPr/>
                    <a:lstStyle/>
                    <a:p>
                      <a:pPr algn="ctr" rtl="0" fontAlgn="ctr"/>
                      <a:r>
                        <a:rPr lang="en-US" sz="1400" u="none" strike="noStrike">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Y</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F</a:t>
                      </a:r>
                      <a:r>
                        <a:rPr lang="en-US" sz="1400" u="none" strike="noStrike" baseline="-25000">
                          <a:effectLst/>
                        </a:rPr>
                        <a:t>b,i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D</a:t>
                      </a:r>
                      <a:r>
                        <a:rPr lang="en-US" sz="1400" u="none" strike="noStrike" baseline="-25000">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Y</a:t>
                      </a:r>
                      <a:r>
                        <a:rPr lang="en-US" sz="1400" u="none" strike="noStrike" baseline="-25000">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rtl="0" fontAlgn="ctr"/>
                      <a:r>
                        <a:rPr lang="en-US" sz="1400" u="none" strike="noStrike">
                          <a:effectLst/>
                        </a:rPr>
                        <a:t>f</a:t>
                      </a:r>
                      <a:r>
                        <a:rPr lang="en-US" sz="1400" u="none" strike="noStrike" baseline="-25000">
                          <a:effectLst/>
                        </a:rPr>
                        <a:t>i</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64010363"/>
                  </a:ext>
                </a:extLst>
              </a:tr>
              <a:tr h="317500">
                <a:tc>
                  <a:txBody>
                    <a:bodyPr/>
                    <a:lstStyle/>
                    <a:p>
                      <a:pPr algn="ctr" fontAlgn="b"/>
                      <a:r>
                        <a:rPr lang="en-US" sz="1800" u="none" strike="noStrike">
                          <a:effectLst/>
                        </a:rPr>
                        <a:t> </a:t>
                      </a:r>
                      <a:endParaRPr lang="en-US"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rtl="0" fontAlgn="b"/>
                      <a:r>
                        <a:rPr lang="en-US" sz="1400" u="none" strike="noStrike">
                          <a:effectLst/>
                        </a:rPr>
                        <a:t>mm</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65146841"/>
                  </a:ext>
                </a:extLst>
              </a:tr>
              <a:tr h="254000">
                <a:tc>
                  <a:txBody>
                    <a:bodyPr/>
                    <a:lstStyle/>
                    <a:p>
                      <a:pPr algn="r" rtl="0" fontAlgn="b"/>
                      <a:r>
                        <a:rPr lang="en-US" sz="1400" u="none" strike="noStrike">
                          <a:effectLst/>
                        </a:rPr>
                        <a:t>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1.31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1.05</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dirty="0">
                          <a:effectLst/>
                        </a:rPr>
                        <a:t>0.07</a:t>
                      </a:r>
                      <a:endParaRPr lang="en-US"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dirty="0">
                          <a:effectLst/>
                        </a:rPr>
                        <a:t>0.14</a:t>
                      </a:r>
                      <a:endParaRPr lang="en-US"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33331271"/>
                  </a:ext>
                </a:extLst>
              </a:tr>
              <a:tr h="254000">
                <a:tc>
                  <a:txBody>
                    <a:bodyPr/>
                    <a:lstStyle/>
                    <a:p>
                      <a:pPr algn="r" rtl="0" fontAlgn="b"/>
                      <a:r>
                        <a:rPr lang="en-US" sz="1400" u="none" strike="noStrike">
                          <a:effectLst/>
                        </a:rPr>
                        <a:t>12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0.77</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-0.37</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36027939"/>
                  </a:ext>
                </a:extLst>
              </a:tr>
              <a:tr h="254000">
                <a:tc>
                  <a:txBody>
                    <a:bodyPr/>
                    <a:lstStyle/>
                    <a:p>
                      <a:pPr algn="r" rtl="0" fontAlgn="b"/>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0.71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-0.49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0.81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0.60</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-0.75</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0.29</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269122734"/>
                  </a:ext>
                </a:extLst>
              </a:tr>
              <a:tr h="254000">
                <a:tc>
                  <a:txBody>
                    <a:bodyPr/>
                    <a:lstStyle/>
                    <a:p>
                      <a:pPr algn="r" rtl="0" fontAlgn="b"/>
                      <a:r>
                        <a:rPr lang="en-US" sz="1400" u="none" strike="noStrike">
                          <a:effectLst/>
                        </a:rPr>
                        <a:t>10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0.52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0.42</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-1.24</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0.14</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76963230"/>
                  </a:ext>
                </a:extLst>
              </a:tr>
              <a:tr h="254000">
                <a:tc>
                  <a:txBody>
                    <a:bodyPr/>
                    <a:lstStyle/>
                    <a:p>
                      <a:pPr algn="r" rtl="0" fontAlgn="b"/>
                      <a:r>
                        <a:rPr lang="en-US" sz="1400" u="none" strike="noStrike">
                          <a:effectLst/>
                        </a:rPr>
                        <a:t>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0.33</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-1.61</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51173824"/>
                  </a:ext>
                </a:extLst>
              </a:tr>
              <a:tr h="254000">
                <a:tc>
                  <a:txBody>
                    <a:bodyPr/>
                    <a:lstStyle/>
                    <a:p>
                      <a:pPr algn="r" rtl="0" fontAlgn="b"/>
                      <a:r>
                        <a:rPr lang="en-US" sz="1400" u="none" strike="noStrike">
                          <a:effectLst/>
                        </a:rPr>
                        <a:t>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-1.74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0.32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0.27</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-1.87</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71544989"/>
                  </a:ext>
                </a:extLst>
              </a:tr>
              <a:tr h="254000">
                <a:tc>
                  <a:txBody>
                    <a:bodyPr/>
                    <a:lstStyle/>
                    <a:p>
                      <a:pPr algn="r" rtl="0" fontAlgn="b"/>
                      <a:r>
                        <a:rPr lang="en-US" sz="1400" u="none" strike="noStrike">
                          <a:effectLst/>
                        </a:rPr>
                        <a:t>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0.23</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-2.13</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3688778"/>
                  </a:ext>
                </a:extLst>
              </a:tr>
              <a:tr h="254000">
                <a:tc>
                  <a:txBody>
                    <a:bodyPr/>
                    <a:lstStyle/>
                    <a:p>
                      <a:pPr algn="r" rtl="0" fontAlgn="b"/>
                      <a:r>
                        <a:rPr lang="en-US" sz="1400" u="none" strike="noStrike">
                          <a:effectLst/>
                        </a:rPr>
                        <a:t>6</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0.21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-2.25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0.19</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-2.36</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42382022"/>
                  </a:ext>
                </a:extLst>
              </a:tr>
              <a:tr h="254000">
                <a:tc>
                  <a:txBody>
                    <a:bodyPr/>
                    <a:lstStyle/>
                    <a:p>
                      <a:pPr algn="r" rtl="0" fontAlgn="b"/>
                      <a:r>
                        <a:rPr lang="en-US" sz="1400" u="none" strike="noStrike">
                          <a:effectLst/>
                        </a:rPr>
                        <a:t>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-2.47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0.16</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-2.61</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0.06</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73426005"/>
                  </a:ext>
                </a:extLst>
              </a:tr>
              <a:tr h="254000">
                <a:tc>
                  <a:txBody>
                    <a:bodyPr/>
                    <a:lstStyle/>
                    <a:p>
                      <a:pPr algn="r" rtl="0" fontAlgn="b"/>
                      <a:r>
                        <a:rPr lang="en-US" sz="1400" u="none" strike="noStrike">
                          <a:effectLst/>
                        </a:rPr>
                        <a:t>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-2.74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0.07</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0.14</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-2.84</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0.03</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0493651"/>
                  </a:ext>
                </a:extLst>
              </a:tr>
              <a:tr h="254000">
                <a:tc>
                  <a:txBody>
                    <a:bodyPr/>
                    <a:lstStyle/>
                    <a:p>
                      <a:pPr algn="r" rtl="0" fontAlgn="b"/>
                      <a:r>
                        <a:rPr lang="en-US" sz="1400" u="none" strike="noStrike">
                          <a:effectLst/>
                        </a:rPr>
                        <a:t>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0.13</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-2.94</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0.12</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-3.06</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0.02</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78506009"/>
                  </a:ext>
                </a:extLst>
              </a:tr>
              <a:tr h="254000">
                <a:tc>
                  <a:txBody>
                    <a:bodyPr/>
                    <a:lstStyle/>
                    <a:p>
                      <a:pPr algn="r" rtl="0" fontAlgn="b"/>
                      <a:r>
                        <a:rPr lang="en-US" sz="1400" u="none" strike="noStrike">
                          <a:effectLst/>
                        </a:rPr>
                        <a:t>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0.11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-3.18</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0.02</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0.10</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-3.32</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0.02</a:t>
                      </a:r>
                      <a:endParaRPr lang="en-US" sz="14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91168090"/>
                  </a:ext>
                </a:extLst>
              </a:tr>
              <a:tr h="254000">
                <a:tc>
                  <a:txBody>
                    <a:bodyPr/>
                    <a:lstStyle/>
                    <a:p>
                      <a:pPr algn="r" rtl="0" fontAlgn="b"/>
                      <a:r>
                        <a:rPr lang="en-US" sz="1400" u="none" strike="noStrike">
                          <a:effectLst/>
                        </a:rPr>
                        <a:t>1</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0.09</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-3.45</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b"/>
                      <a:r>
                        <a:rPr lang="en-US" sz="1400" u="none" strike="noStrike">
                          <a:effectLst/>
                        </a:rPr>
                        <a:t>0.00</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r" rtl="0"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9525" marR="9525" marT="9525" marB="0" anchor="ctr"/>
                </a:tc>
                <a:tc>
                  <a:txBody>
                    <a:bodyPr/>
                    <a:lstStyle/>
                    <a:p>
                      <a:pPr algn="r" rtl="0" fontAlgn="ctr"/>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22961081"/>
                  </a:ext>
                </a:extLst>
              </a:tr>
            </a:tbl>
          </a:graphicData>
        </a:graphic>
      </p:graphicFrame>
      <p:pic>
        <p:nvPicPr>
          <p:cNvPr id="13" name="Picture 12">
            <a:extLst>
              <a:ext uri="{FF2B5EF4-FFF2-40B4-BE49-F238E27FC236}">
                <a16:creationId xmlns:a16="http://schemas.microsoft.com/office/drawing/2014/main" id="{B4D50942-177D-E138-5ECC-2EBD6693DD98}"/>
              </a:ext>
            </a:extLst>
          </p:cNvPr>
          <p:cNvPicPr>
            <a:picLocks noChangeAspect="1"/>
          </p:cNvPicPr>
          <p:nvPr/>
        </p:nvPicPr>
        <p:blipFill>
          <a:blip r:embed="rId6"/>
          <a:stretch>
            <a:fillRect/>
          </a:stretch>
        </p:blipFill>
        <p:spPr>
          <a:xfrm>
            <a:off x="365760" y="1197864"/>
            <a:ext cx="5219700" cy="5041900"/>
          </a:xfrm>
          <a:prstGeom prst="rect">
            <a:avLst/>
          </a:prstGeom>
        </p:spPr>
      </p:pic>
      <p:sp>
        <p:nvSpPr>
          <p:cNvPr id="6" name="Slide Number Placeholder 5">
            <a:extLst>
              <a:ext uri="{FF2B5EF4-FFF2-40B4-BE49-F238E27FC236}">
                <a16:creationId xmlns:a16="http://schemas.microsoft.com/office/drawing/2014/main" id="{661CBDB4-72F6-409B-904C-07233CD07117}"/>
              </a:ext>
            </a:extLst>
          </p:cNvPr>
          <p:cNvSpPr>
            <a:spLocks noGrp="1"/>
          </p:cNvSpPr>
          <p:nvPr>
            <p:ph type="sldNum" sz="quarter" idx="12"/>
          </p:nvPr>
        </p:nvSpPr>
        <p:spPr/>
        <p:txBody>
          <a:bodyPr/>
          <a:lstStyle/>
          <a:p>
            <a:fld id="{2386C454-E1BD-5A43-901A-CA4ACC7380B7}" type="slidenum">
              <a:rPr lang="en-US" smtClean="0"/>
              <a:t>43</a:t>
            </a:fld>
            <a:endParaRPr lang="en-US"/>
          </a:p>
        </p:txBody>
      </p:sp>
    </p:spTree>
    <p:extLst>
      <p:ext uri="{BB962C8B-B14F-4D97-AF65-F5344CB8AC3E}">
        <p14:creationId xmlns:p14="http://schemas.microsoft.com/office/powerpoint/2010/main" val="23690382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Unimodal and bimodal grain size distributions</a:t>
            </a:r>
            <a:endParaRPr lang="en-US" sz="2800" b="1"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0E9BC24-1394-3E43-9350-DF550159396E}"/>
                  </a:ext>
                </a:extLst>
              </p:cNvPr>
              <p:cNvSpPr txBox="1"/>
              <p:nvPr/>
            </p:nvSpPr>
            <p:spPr>
              <a:xfrm>
                <a:off x="362976" y="812800"/>
                <a:ext cx="11321024" cy="122475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Using measured data, we have described our sediment sample in terms of a discrete, empirical function.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When sediment samples are not available to determine the grain size distribution, a continuous function can be used. The Gaussian (normal) distribution with mean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𝜓</m:t>
                        </m:r>
                      </m:e>
                    </m:acc>
                  </m:oMath>
                </a14:m>
                <a:r>
                  <a:rPr lang="en-US" dirty="0">
                    <a:latin typeface="Arial" panose="020B0604020202020204" pitchFamily="34" charset="0"/>
                    <a:cs typeface="Arial" panose="020B0604020202020204" pitchFamily="34" charset="0"/>
                  </a:rPr>
                  <a:t> and standard deviation </a:t>
                </a:r>
                <a:r>
                  <a:rPr lang="en-US" sz="2000" dirty="0">
                    <a:latin typeface="Symbol" pitchFamily="2" charset="2"/>
                    <a:cs typeface="Arial" panose="020B0604020202020204" pitchFamily="34" charset="0"/>
                  </a:rPr>
                  <a:t>s</a:t>
                </a:r>
                <a:r>
                  <a:rPr lang="en-US" dirty="0">
                    <a:latin typeface="Arial" panose="020B0604020202020204" pitchFamily="34" charset="0"/>
                    <a:cs typeface="Arial" panose="020B0604020202020204" pitchFamily="34" charset="0"/>
                  </a:rPr>
                  <a:t> is commonly used. </a:t>
                </a:r>
              </a:p>
            </p:txBody>
          </p:sp>
        </mc:Choice>
        <mc:Fallback xmlns="">
          <p:sp>
            <p:nvSpPr>
              <p:cNvPr id="12" name="TextBox 11">
                <a:extLst>
                  <a:ext uri="{FF2B5EF4-FFF2-40B4-BE49-F238E27FC236}">
                    <a16:creationId xmlns:a16="http://schemas.microsoft.com/office/drawing/2014/main" id="{90E9BC24-1394-3E43-9350-DF550159396E}"/>
                  </a:ext>
                </a:extLst>
              </p:cNvPr>
              <p:cNvSpPr txBox="1">
                <a:spLocks noRot="1" noChangeAspect="1" noMove="1" noResize="1" noEditPoints="1" noAdjustHandles="1" noChangeArrowheads="1" noChangeShapeType="1" noTextEdit="1"/>
              </p:cNvSpPr>
              <p:nvPr/>
            </p:nvSpPr>
            <p:spPr>
              <a:xfrm>
                <a:off x="362976" y="812800"/>
                <a:ext cx="11321024" cy="1224759"/>
              </a:xfrm>
              <a:prstGeom prst="rect">
                <a:avLst/>
              </a:prstGeom>
              <a:blipFill>
                <a:blip r:embed="rId3"/>
                <a:stretch>
                  <a:fillRect l="-448" t="-2041" b="-816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84F4434C-78C4-16B2-1E60-C30B78815BE6}"/>
              </a:ext>
            </a:extLst>
          </p:cNvPr>
          <p:cNvSpPr>
            <a:spLocks noGrp="1"/>
          </p:cNvSpPr>
          <p:nvPr>
            <p:ph type="sldNum" sz="quarter" idx="12"/>
          </p:nvPr>
        </p:nvSpPr>
        <p:spPr/>
        <p:txBody>
          <a:bodyPr/>
          <a:lstStyle/>
          <a:p>
            <a:fld id="{2386C454-E1BD-5A43-901A-CA4ACC7380B7}" type="slidenum">
              <a:rPr lang="en-US" smtClean="0"/>
              <a:t>44</a:t>
            </a:fld>
            <a:endParaRPr lang="en-US"/>
          </a:p>
        </p:txBody>
      </p:sp>
    </p:spTree>
    <p:extLst>
      <p:ext uri="{BB962C8B-B14F-4D97-AF65-F5344CB8AC3E}">
        <p14:creationId xmlns:p14="http://schemas.microsoft.com/office/powerpoint/2010/main" val="591666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Unimodal and bimodal grain size distributions</a:t>
            </a:r>
            <a:endParaRPr lang="en-US" sz="2800" b="1"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0E9BC24-1394-3E43-9350-DF550159396E}"/>
                  </a:ext>
                </a:extLst>
              </p:cNvPr>
              <p:cNvSpPr txBox="1"/>
              <p:nvPr/>
            </p:nvSpPr>
            <p:spPr>
              <a:xfrm>
                <a:off x="362976" y="812800"/>
                <a:ext cx="11321024" cy="122475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Using measured data, we have described our sediment sample in terms of a discrete, empirical function.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When sediment samples are not available to determine the grain size distribution, a continuous function can be used. The Gaussian (normal) distribution with mean </a:t>
                </a:r>
                <a14:m>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i="1">
                            <a:latin typeface="Cambria Math" panose="02040503050406030204" pitchFamily="18" charset="0"/>
                            <a:ea typeface="Cambria Math" panose="02040503050406030204" pitchFamily="18" charset="0"/>
                            <a:cs typeface="Arial" panose="020B0604020202020204" pitchFamily="34" charset="0"/>
                          </a:rPr>
                          <m:t>𝜓</m:t>
                        </m:r>
                      </m:e>
                    </m:acc>
                  </m:oMath>
                </a14:m>
                <a:r>
                  <a:rPr lang="en-US" dirty="0">
                    <a:latin typeface="Arial" panose="020B0604020202020204" pitchFamily="34" charset="0"/>
                    <a:cs typeface="Arial" panose="020B0604020202020204" pitchFamily="34" charset="0"/>
                  </a:rPr>
                  <a:t> and standard deviation </a:t>
                </a:r>
                <a:r>
                  <a:rPr lang="en-US" sz="2000" dirty="0">
                    <a:latin typeface="Symbol" pitchFamily="2" charset="2"/>
                    <a:cs typeface="Arial" panose="020B0604020202020204" pitchFamily="34" charset="0"/>
                  </a:rPr>
                  <a:t>s</a:t>
                </a:r>
                <a:r>
                  <a:rPr lang="en-US" dirty="0">
                    <a:latin typeface="Arial" panose="020B0604020202020204" pitchFamily="34" charset="0"/>
                    <a:cs typeface="Arial" panose="020B0604020202020204" pitchFamily="34" charset="0"/>
                  </a:rPr>
                  <a:t> is commonly used. </a:t>
                </a:r>
              </a:p>
            </p:txBody>
          </p:sp>
        </mc:Choice>
        <mc:Fallback xmlns="">
          <p:sp>
            <p:nvSpPr>
              <p:cNvPr id="12" name="TextBox 11">
                <a:extLst>
                  <a:ext uri="{FF2B5EF4-FFF2-40B4-BE49-F238E27FC236}">
                    <a16:creationId xmlns:a16="http://schemas.microsoft.com/office/drawing/2014/main" id="{90E9BC24-1394-3E43-9350-DF550159396E}"/>
                  </a:ext>
                </a:extLst>
              </p:cNvPr>
              <p:cNvSpPr txBox="1">
                <a:spLocks noRot="1" noChangeAspect="1" noMove="1" noResize="1" noEditPoints="1" noAdjustHandles="1" noChangeArrowheads="1" noChangeShapeType="1" noTextEdit="1"/>
              </p:cNvSpPr>
              <p:nvPr/>
            </p:nvSpPr>
            <p:spPr>
              <a:xfrm>
                <a:off x="362976" y="812800"/>
                <a:ext cx="11321024" cy="1224759"/>
              </a:xfrm>
              <a:prstGeom prst="rect">
                <a:avLst/>
              </a:prstGeom>
              <a:blipFill>
                <a:blip r:embed="rId2"/>
                <a:stretch>
                  <a:fillRect l="-448" t="-2041" b="-816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5392EF9-78D5-E340-8A7E-F66EB13210EA}"/>
              </a:ext>
            </a:extLst>
          </p:cNvPr>
          <p:cNvSpPr txBox="1"/>
          <p:nvPr/>
        </p:nvSpPr>
        <p:spPr>
          <a:xfrm>
            <a:off x="1119188" y="2438823"/>
            <a:ext cx="3252787"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Gaussian approximation of our sediment sample</a:t>
            </a:r>
          </a:p>
        </p:txBody>
      </p:sp>
      <p:sp>
        <p:nvSpPr>
          <p:cNvPr id="7" name="TextBox 6">
            <a:extLst>
              <a:ext uri="{FF2B5EF4-FFF2-40B4-BE49-F238E27FC236}">
                <a16:creationId xmlns:a16="http://schemas.microsoft.com/office/drawing/2014/main" id="{4E6FBF77-4685-274F-8071-D6BA7BCC6BF3}"/>
              </a:ext>
            </a:extLst>
          </p:cNvPr>
          <p:cNvSpPr txBox="1"/>
          <p:nvPr/>
        </p:nvSpPr>
        <p:spPr>
          <a:xfrm>
            <a:off x="6562230" y="2477468"/>
            <a:ext cx="5266793"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 grain size distribution that can be described with a Gaussian distribution is unimodal, as it has a single mode or peak.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following approximations are valid for a Gaussian distribution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6A38E83-F813-FA4B-96B7-12E67A50DC28}"/>
                  </a:ext>
                </a:extLst>
              </p:cNvPr>
              <p:cNvSpPr txBox="1"/>
              <p:nvPr/>
            </p:nvSpPr>
            <p:spPr>
              <a:xfrm>
                <a:off x="6856507" y="4671703"/>
                <a:ext cx="1484124" cy="3397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𝑔</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84</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16</m:t>
                              </m:r>
                            </m:sub>
                          </m:sSub>
                        </m:e>
                      </m:rad>
                    </m:oMath>
                  </m:oMathPara>
                </a14:m>
                <a:endParaRPr lang="en-US" dirty="0"/>
              </a:p>
            </p:txBody>
          </p:sp>
        </mc:Choice>
        <mc:Fallback xmlns="">
          <p:sp>
            <p:nvSpPr>
              <p:cNvPr id="2" name="TextBox 1">
                <a:extLst>
                  <a:ext uri="{FF2B5EF4-FFF2-40B4-BE49-F238E27FC236}">
                    <a16:creationId xmlns:a16="http://schemas.microsoft.com/office/drawing/2014/main" id="{96A38E83-F813-FA4B-96B7-12E67A50DC28}"/>
                  </a:ext>
                </a:extLst>
              </p:cNvPr>
              <p:cNvSpPr txBox="1">
                <a:spLocks noRot="1" noChangeAspect="1" noMove="1" noResize="1" noEditPoints="1" noAdjustHandles="1" noChangeArrowheads="1" noChangeShapeType="1" noTextEdit="1"/>
              </p:cNvSpPr>
              <p:nvPr/>
            </p:nvSpPr>
            <p:spPr>
              <a:xfrm>
                <a:off x="6856507" y="4671703"/>
                <a:ext cx="1484124" cy="339708"/>
              </a:xfrm>
              <a:prstGeom prst="rect">
                <a:avLst/>
              </a:prstGeom>
              <a:blipFill>
                <a:blip r:embed="rId4"/>
                <a:stretch>
                  <a:fillRect l="-3419" r="-855"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3232602-0E7A-4F45-B3E7-58DB59A006BD}"/>
                  </a:ext>
                </a:extLst>
              </p:cNvPr>
              <p:cNvSpPr txBox="1"/>
              <p:nvPr/>
            </p:nvSpPr>
            <p:spPr>
              <a:xfrm>
                <a:off x="9542557" y="4362899"/>
                <a:ext cx="1139479"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𝑔</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84</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16</m:t>
                                  </m:r>
                                </m:sub>
                              </m:sSub>
                            </m:den>
                          </m:f>
                        </m:e>
                      </m:rad>
                    </m:oMath>
                  </m:oMathPara>
                </a14:m>
                <a:endParaRPr lang="en-US" dirty="0"/>
              </a:p>
            </p:txBody>
          </p:sp>
        </mc:Choice>
        <mc:Fallback xmlns="">
          <p:sp>
            <p:nvSpPr>
              <p:cNvPr id="3" name="TextBox 2">
                <a:extLst>
                  <a:ext uri="{FF2B5EF4-FFF2-40B4-BE49-F238E27FC236}">
                    <a16:creationId xmlns:a16="http://schemas.microsoft.com/office/drawing/2014/main" id="{53232602-0E7A-4F45-B3E7-58DB59A006BD}"/>
                  </a:ext>
                </a:extLst>
              </p:cNvPr>
              <p:cNvSpPr txBox="1">
                <a:spLocks noRot="1" noChangeAspect="1" noMove="1" noResize="1" noEditPoints="1" noAdjustHandles="1" noChangeArrowheads="1" noChangeShapeType="1" noTextEdit="1"/>
              </p:cNvSpPr>
              <p:nvPr/>
            </p:nvSpPr>
            <p:spPr>
              <a:xfrm>
                <a:off x="9542557" y="4362899"/>
                <a:ext cx="1139479" cy="818366"/>
              </a:xfrm>
              <a:prstGeom prst="rect">
                <a:avLst/>
              </a:prstGeom>
              <a:blipFill>
                <a:blip r:embed="rId5"/>
                <a:stretch>
                  <a:fillRect l="-111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1AC853E0-07CD-A2E8-F8C6-DD5988887585}"/>
              </a:ext>
            </a:extLst>
          </p:cNvPr>
          <p:cNvPicPr>
            <a:picLocks noChangeAspect="1"/>
          </p:cNvPicPr>
          <p:nvPr/>
        </p:nvPicPr>
        <p:blipFill>
          <a:blip r:embed="rId6"/>
          <a:stretch>
            <a:fillRect/>
          </a:stretch>
        </p:blipFill>
        <p:spPr>
          <a:xfrm>
            <a:off x="365760" y="2249424"/>
            <a:ext cx="6235700" cy="4318000"/>
          </a:xfrm>
          <a:prstGeom prst="rect">
            <a:avLst/>
          </a:prstGeom>
        </p:spPr>
      </p:pic>
      <p:sp>
        <p:nvSpPr>
          <p:cNvPr id="8" name="Slide Number Placeholder 7">
            <a:extLst>
              <a:ext uri="{FF2B5EF4-FFF2-40B4-BE49-F238E27FC236}">
                <a16:creationId xmlns:a16="http://schemas.microsoft.com/office/drawing/2014/main" id="{725340E4-41BB-23E2-1468-87CB7CEEED82}"/>
              </a:ext>
            </a:extLst>
          </p:cNvPr>
          <p:cNvSpPr>
            <a:spLocks noGrp="1"/>
          </p:cNvSpPr>
          <p:nvPr>
            <p:ph type="sldNum" sz="quarter" idx="12"/>
          </p:nvPr>
        </p:nvSpPr>
        <p:spPr/>
        <p:txBody>
          <a:bodyPr/>
          <a:lstStyle/>
          <a:p>
            <a:fld id="{2386C454-E1BD-5A43-901A-CA4ACC7380B7}" type="slidenum">
              <a:rPr lang="en-US" smtClean="0"/>
              <a:t>45</a:t>
            </a:fld>
            <a:endParaRPr lang="en-US"/>
          </a:p>
        </p:txBody>
      </p:sp>
    </p:spTree>
    <p:extLst>
      <p:ext uri="{BB962C8B-B14F-4D97-AF65-F5344CB8AC3E}">
        <p14:creationId xmlns:p14="http://schemas.microsoft.com/office/powerpoint/2010/main" val="3835755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Unimodal and bimodal grain size distributions</a:t>
            </a:r>
            <a:endParaRPr lang="en-US" sz="2800" b="1" baseline="-250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0E9BC24-1394-3E43-9350-DF550159396E}"/>
              </a:ext>
            </a:extLst>
          </p:cNvPr>
          <p:cNvSpPr txBox="1"/>
          <p:nvPr/>
        </p:nvSpPr>
        <p:spPr>
          <a:xfrm>
            <a:off x="362976" y="812800"/>
            <a:ext cx="1132102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sand bed river </a:t>
            </a:r>
            <a:r>
              <a:rPr lang="en-US" dirty="0">
                <a:latin typeface="Arial" panose="020B0604020202020204" pitchFamily="34" charset="0"/>
                <a:cs typeface="Arial" panose="020B0604020202020204" pitchFamily="34" charset="0"/>
              </a:rPr>
              <a:t>has a characteristic size of the bed surface sediment (</a:t>
            </a:r>
            <a:r>
              <a:rPr lang="en-US" dirty="0" err="1">
                <a:latin typeface="Arial" panose="020B0604020202020204" pitchFamily="34" charset="0"/>
                <a:cs typeface="Arial" panose="020B0604020202020204" pitchFamily="34" charset="0"/>
              </a:rPr>
              <a:t>D</a:t>
            </a:r>
            <a:r>
              <a:rPr lang="en-US" baseline="-25000" dirty="0" err="1">
                <a:latin typeface="Arial" panose="020B0604020202020204" pitchFamily="34" charset="0"/>
                <a:cs typeface="Arial" panose="020B0604020202020204" pitchFamily="34" charset="0"/>
              </a:rPr>
              <a:t>sg</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s50</a:t>
            </a:r>
            <a:r>
              <a:rPr lang="en-US" dirty="0">
                <a:latin typeface="Arial" panose="020B0604020202020204" pitchFamily="34" charset="0"/>
                <a:cs typeface="Arial" panose="020B0604020202020204" pitchFamily="34" charset="0"/>
              </a:rPr>
              <a:t>) that is in the sand range of sediment sizes. </a:t>
            </a:r>
          </a:p>
        </p:txBody>
      </p:sp>
      <p:sp>
        <p:nvSpPr>
          <p:cNvPr id="8" name="TextBox 7">
            <a:extLst>
              <a:ext uri="{FF2B5EF4-FFF2-40B4-BE49-F238E27FC236}">
                <a16:creationId xmlns:a16="http://schemas.microsoft.com/office/drawing/2014/main" id="{DE8184D3-5B40-6E46-9BDB-44C95314129E}"/>
              </a:ext>
            </a:extLst>
          </p:cNvPr>
          <p:cNvSpPr txBox="1"/>
          <p:nvPr/>
        </p:nvSpPr>
        <p:spPr>
          <a:xfrm>
            <a:off x="362975" y="1629348"/>
            <a:ext cx="11321023"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grain size distribution of many sand bed rivers are unimodal and can be reasonably approximated with a Gaussian distribution</a:t>
            </a:r>
          </a:p>
        </p:txBody>
      </p:sp>
      <p:sp>
        <p:nvSpPr>
          <p:cNvPr id="2" name="Slide Number Placeholder 1">
            <a:extLst>
              <a:ext uri="{FF2B5EF4-FFF2-40B4-BE49-F238E27FC236}">
                <a16:creationId xmlns:a16="http://schemas.microsoft.com/office/drawing/2014/main" id="{CE9687D3-988D-8301-4F3C-8C5840CBF50A}"/>
              </a:ext>
            </a:extLst>
          </p:cNvPr>
          <p:cNvSpPr>
            <a:spLocks noGrp="1"/>
          </p:cNvSpPr>
          <p:nvPr>
            <p:ph type="sldNum" sz="quarter" idx="12"/>
          </p:nvPr>
        </p:nvSpPr>
        <p:spPr/>
        <p:txBody>
          <a:bodyPr/>
          <a:lstStyle/>
          <a:p>
            <a:fld id="{2386C454-E1BD-5A43-901A-CA4ACC7380B7}" type="slidenum">
              <a:rPr lang="en-US" smtClean="0"/>
              <a:t>46</a:t>
            </a:fld>
            <a:endParaRPr lang="en-US"/>
          </a:p>
        </p:txBody>
      </p:sp>
    </p:spTree>
    <p:extLst>
      <p:ext uri="{BB962C8B-B14F-4D97-AF65-F5344CB8AC3E}">
        <p14:creationId xmlns:p14="http://schemas.microsoft.com/office/powerpoint/2010/main" val="3869637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Unimodal and bimodal grain size distributions</a:t>
            </a:r>
            <a:endParaRPr lang="en-US" sz="2800" b="1" baseline="-250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0E9BC24-1394-3E43-9350-DF550159396E}"/>
              </a:ext>
            </a:extLst>
          </p:cNvPr>
          <p:cNvSpPr txBox="1"/>
          <p:nvPr/>
        </p:nvSpPr>
        <p:spPr>
          <a:xfrm>
            <a:off x="362976" y="812800"/>
            <a:ext cx="11321024"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sand bed river </a:t>
            </a:r>
            <a:r>
              <a:rPr lang="en-US" dirty="0">
                <a:latin typeface="Arial" panose="020B0604020202020204" pitchFamily="34" charset="0"/>
                <a:cs typeface="Arial" panose="020B0604020202020204" pitchFamily="34" charset="0"/>
              </a:rPr>
              <a:t>has a characteristic size of the bed surface sediment (</a:t>
            </a:r>
            <a:r>
              <a:rPr lang="en-US" dirty="0" err="1">
                <a:latin typeface="Arial" panose="020B0604020202020204" pitchFamily="34" charset="0"/>
                <a:cs typeface="Arial" panose="020B0604020202020204" pitchFamily="34" charset="0"/>
              </a:rPr>
              <a:t>D</a:t>
            </a:r>
            <a:r>
              <a:rPr lang="en-US" baseline="-25000" dirty="0" err="1">
                <a:latin typeface="Arial" panose="020B0604020202020204" pitchFamily="34" charset="0"/>
                <a:cs typeface="Arial" panose="020B0604020202020204" pitchFamily="34" charset="0"/>
              </a:rPr>
              <a:t>sg</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s50</a:t>
            </a:r>
            <a:r>
              <a:rPr lang="en-US" dirty="0">
                <a:latin typeface="Arial" panose="020B0604020202020204" pitchFamily="34" charset="0"/>
                <a:cs typeface="Arial" panose="020B0604020202020204" pitchFamily="34" charset="0"/>
              </a:rPr>
              <a:t>) that is in the sand range of sediment sizes. </a:t>
            </a:r>
          </a:p>
        </p:txBody>
      </p:sp>
      <p:sp>
        <p:nvSpPr>
          <p:cNvPr id="8" name="TextBox 7">
            <a:extLst>
              <a:ext uri="{FF2B5EF4-FFF2-40B4-BE49-F238E27FC236}">
                <a16:creationId xmlns:a16="http://schemas.microsoft.com/office/drawing/2014/main" id="{DE8184D3-5B40-6E46-9BDB-44C95314129E}"/>
              </a:ext>
            </a:extLst>
          </p:cNvPr>
          <p:cNvSpPr txBox="1"/>
          <p:nvPr/>
        </p:nvSpPr>
        <p:spPr>
          <a:xfrm>
            <a:off x="362975" y="1629348"/>
            <a:ext cx="11321023"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grain size distribution of many sand bed rivers are unimodal and can be reasonably approximated with a Gaussian distribution</a:t>
            </a:r>
          </a:p>
        </p:txBody>
      </p:sp>
      <p:sp>
        <p:nvSpPr>
          <p:cNvPr id="6" name="TextBox 5">
            <a:extLst>
              <a:ext uri="{FF2B5EF4-FFF2-40B4-BE49-F238E27FC236}">
                <a16:creationId xmlns:a16="http://schemas.microsoft.com/office/drawing/2014/main" id="{145C02D4-AADD-654E-B6A0-1191577E1D30}"/>
              </a:ext>
            </a:extLst>
          </p:cNvPr>
          <p:cNvSpPr txBox="1"/>
          <p:nvPr/>
        </p:nvSpPr>
        <p:spPr>
          <a:xfrm>
            <a:off x="6095999" y="2530543"/>
            <a:ext cx="5587999"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gravel bed river </a:t>
            </a:r>
            <a:r>
              <a:rPr lang="en-US" dirty="0">
                <a:latin typeface="Arial" panose="020B0604020202020204" pitchFamily="34" charset="0"/>
                <a:cs typeface="Arial" panose="020B0604020202020204" pitchFamily="34" charset="0"/>
              </a:rPr>
              <a:t>has a characteristic size of the bed surface sediment (</a:t>
            </a:r>
            <a:r>
              <a:rPr lang="en-US" dirty="0" err="1">
                <a:latin typeface="Arial" panose="020B0604020202020204" pitchFamily="34" charset="0"/>
                <a:cs typeface="Arial" panose="020B0604020202020204" pitchFamily="34" charset="0"/>
              </a:rPr>
              <a:t>D</a:t>
            </a:r>
            <a:r>
              <a:rPr lang="en-US" baseline="-25000" dirty="0" err="1">
                <a:latin typeface="Arial" panose="020B0604020202020204" pitchFamily="34" charset="0"/>
                <a:cs typeface="Arial" panose="020B0604020202020204" pitchFamily="34" charset="0"/>
              </a:rPr>
              <a:t>sg</a:t>
            </a:r>
            <a:r>
              <a:rPr lang="en-US" dirty="0">
                <a:latin typeface="Arial" panose="020B0604020202020204" pitchFamily="34" charset="0"/>
                <a:cs typeface="Arial" panose="020B0604020202020204" pitchFamily="34" charset="0"/>
              </a:rPr>
              <a:t>, D</a:t>
            </a:r>
            <a:r>
              <a:rPr lang="en-US" baseline="-25000" dirty="0">
                <a:latin typeface="Arial" panose="020B0604020202020204" pitchFamily="34" charset="0"/>
                <a:cs typeface="Arial" panose="020B0604020202020204" pitchFamily="34" charset="0"/>
              </a:rPr>
              <a:t>s50</a:t>
            </a:r>
            <a:r>
              <a:rPr lang="en-US" dirty="0">
                <a:latin typeface="Arial" panose="020B0604020202020204" pitchFamily="34" charset="0"/>
                <a:cs typeface="Arial" panose="020B0604020202020204" pitchFamily="34" charset="0"/>
              </a:rPr>
              <a:t>) that is in the gravel range of sediment sizes. </a:t>
            </a:r>
          </a:p>
        </p:txBody>
      </p:sp>
      <p:sp>
        <p:nvSpPr>
          <p:cNvPr id="9" name="TextBox 8">
            <a:extLst>
              <a:ext uri="{FF2B5EF4-FFF2-40B4-BE49-F238E27FC236}">
                <a16:creationId xmlns:a16="http://schemas.microsoft.com/office/drawing/2014/main" id="{CA388953-0C66-194F-BE7C-D321D57CC503}"/>
              </a:ext>
            </a:extLst>
          </p:cNvPr>
          <p:cNvSpPr txBox="1"/>
          <p:nvPr/>
        </p:nvSpPr>
        <p:spPr>
          <a:xfrm>
            <a:off x="6072187" y="3761443"/>
            <a:ext cx="558800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grain size distribution of many gravel bed rivers is bimodal (multimodal), with a sand mode, a gravel mode and a plateau showing a paucity of sediment in the pea-gravel range (2 mm – 8 mm).</a:t>
            </a:r>
          </a:p>
        </p:txBody>
      </p:sp>
      <p:sp>
        <p:nvSpPr>
          <p:cNvPr id="2" name="TextBox 1">
            <a:extLst>
              <a:ext uri="{FF2B5EF4-FFF2-40B4-BE49-F238E27FC236}">
                <a16:creationId xmlns:a16="http://schemas.microsoft.com/office/drawing/2014/main" id="{02FA16E8-92EB-7445-A063-7D6410C32581}"/>
              </a:ext>
            </a:extLst>
          </p:cNvPr>
          <p:cNvSpPr txBox="1"/>
          <p:nvPr/>
        </p:nvSpPr>
        <p:spPr>
          <a:xfrm>
            <a:off x="1614488" y="4803806"/>
            <a:ext cx="97155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sand mode</a:t>
            </a:r>
          </a:p>
        </p:txBody>
      </p:sp>
      <p:sp>
        <p:nvSpPr>
          <p:cNvPr id="10" name="TextBox 9">
            <a:extLst>
              <a:ext uri="{FF2B5EF4-FFF2-40B4-BE49-F238E27FC236}">
                <a16:creationId xmlns:a16="http://schemas.microsoft.com/office/drawing/2014/main" id="{D25D28AC-DA9F-4440-9463-CE19BC6C2049}"/>
              </a:ext>
            </a:extLst>
          </p:cNvPr>
          <p:cNvSpPr txBox="1"/>
          <p:nvPr/>
        </p:nvSpPr>
        <p:spPr>
          <a:xfrm>
            <a:off x="3453658" y="4645635"/>
            <a:ext cx="148981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gravel mode</a:t>
            </a:r>
          </a:p>
        </p:txBody>
      </p:sp>
      <p:sp>
        <p:nvSpPr>
          <p:cNvPr id="11" name="TextBox 10">
            <a:extLst>
              <a:ext uri="{FF2B5EF4-FFF2-40B4-BE49-F238E27FC236}">
                <a16:creationId xmlns:a16="http://schemas.microsoft.com/office/drawing/2014/main" id="{CEFB6450-6656-C54E-9217-8584467B4493}"/>
              </a:ext>
            </a:extLst>
          </p:cNvPr>
          <p:cNvSpPr txBox="1"/>
          <p:nvPr/>
        </p:nvSpPr>
        <p:spPr>
          <a:xfrm>
            <a:off x="2482108" y="4264257"/>
            <a:ext cx="97155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plateau</a:t>
            </a:r>
          </a:p>
        </p:txBody>
      </p:sp>
      <p:pic>
        <p:nvPicPr>
          <p:cNvPr id="13" name="Picture 12">
            <a:extLst>
              <a:ext uri="{FF2B5EF4-FFF2-40B4-BE49-F238E27FC236}">
                <a16:creationId xmlns:a16="http://schemas.microsoft.com/office/drawing/2014/main" id="{9A1097A8-B9C8-1682-64E0-A5FFBAB8D595}"/>
              </a:ext>
            </a:extLst>
          </p:cNvPr>
          <p:cNvPicPr>
            <a:picLocks noChangeAspect="1"/>
          </p:cNvPicPr>
          <p:nvPr/>
        </p:nvPicPr>
        <p:blipFill>
          <a:blip r:embed="rId2"/>
          <a:stretch>
            <a:fillRect/>
          </a:stretch>
        </p:blipFill>
        <p:spPr>
          <a:xfrm>
            <a:off x="530352" y="2441448"/>
            <a:ext cx="5397500" cy="4064000"/>
          </a:xfrm>
          <a:prstGeom prst="rect">
            <a:avLst/>
          </a:prstGeom>
        </p:spPr>
      </p:pic>
      <p:sp>
        <p:nvSpPr>
          <p:cNvPr id="3" name="Slide Number Placeholder 2">
            <a:extLst>
              <a:ext uri="{FF2B5EF4-FFF2-40B4-BE49-F238E27FC236}">
                <a16:creationId xmlns:a16="http://schemas.microsoft.com/office/drawing/2014/main" id="{F6070B74-8A3C-77C3-FCE2-A4DC16A06458}"/>
              </a:ext>
            </a:extLst>
          </p:cNvPr>
          <p:cNvSpPr>
            <a:spLocks noGrp="1"/>
          </p:cNvSpPr>
          <p:nvPr>
            <p:ph type="sldNum" sz="quarter" idx="12"/>
          </p:nvPr>
        </p:nvSpPr>
        <p:spPr/>
        <p:txBody>
          <a:bodyPr/>
          <a:lstStyle/>
          <a:p>
            <a:fld id="{2386C454-E1BD-5A43-901A-CA4ACC7380B7}" type="slidenum">
              <a:rPr lang="en-US" smtClean="0"/>
              <a:t>47</a:t>
            </a:fld>
            <a:endParaRPr lang="en-US"/>
          </a:p>
        </p:txBody>
      </p:sp>
    </p:spTree>
    <p:extLst>
      <p:ext uri="{BB962C8B-B14F-4D97-AF65-F5344CB8AC3E}">
        <p14:creationId xmlns:p14="http://schemas.microsoft.com/office/powerpoint/2010/main" val="3717475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a:t>
            </a:r>
            <a:endParaRPr lang="en-US" sz="2800" b="1" baseline="-25000" dirty="0">
              <a:latin typeface="Arial" panose="020B0604020202020204" pitchFamily="34" charset="0"/>
              <a:cs typeface="Arial" panose="020B0604020202020204" pitchFamily="34" charset="0"/>
            </a:endParaRPr>
          </a:p>
        </p:txBody>
      </p:sp>
      <p:sp>
        <p:nvSpPr>
          <p:cNvPr id="14" name="Oval 13">
            <a:extLst>
              <a:ext uri="{FF2B5EF4-FFF2-40B4-BE49-F238E27FC236}">
                <a16:creationId xmlns:a16="http://schemas.microsoft.com/office/drawing/2014/main" id="{5E1D3430-6DF7-F840-AA20-2F35AF7A199C}"/>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78428B7-87D4-BA49-8FAF-DFAE608C5371}"/>
              </a:ext>
            </a:extLst>
          </p:cNvPr>
          <p:cNvSpPr txBox="1"/>
          <p:nvPr/>
        </p:nvSpPr>
        <p:spPr>
          <a:xfrm>
            <a:off x="545306" y="707009"/>
            <a:ext cx="11101388" cy="70788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consider a spherical particle with diameter D, density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and fall velocity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with R being the submerged specific gravity of the sediment and </a:t>
            </a:r>
            <a:r>
              <a:rPr lang="en-US" sz="2000" dirty="0">
                <a:latin typeface="Symbol" pitchFamily="2" charset="2"/>
                <a:cs typeface="Arial" panose="020B0604020202020204" pitchFamily="34" charset="0"/>
              </a:rPr>
              <a:t>r</a:t>
            </a:r>
            <a:r>
              <a:rPr lang="en-US" dirty="0">
                <a:latin typeface="Arial" panose="020B0604020202020204" pitchFamily="34" charset="0"/>
                <a:cs typeface="Arial" panose="020B0604020202020204" pitchFamily="34" charset="0"/>
              </a:rPr>
              <a:t> the water density </a:t>
            </a:r>
          </a:p>
        </p:txBody>
      </p:sp>
      <p:sp>
        <p:nvSpPr>
          <p:cNvPr id="2" name="Slide Number Placeholder 1">
            <a:extLst>
              <a:ext uri="{FF2B5EF4-FFF2-40B4-BE49-F238E27FC236}">
                <a16:creationId xmlns:a16="http://schemas.microsoft.com/office/drawing/2014/main" id="{8B3C99C9-72AA-EBC7-AD1B-DDCDC1AE4331}"/>
              </a:ext>
            </a:extLst>
          </p:cNvPr>
          <p:cNvSpPr>
            <a:spLocks noGrp="1"/>
          </p:cNvSpPr>
          <p:nvPr>
            <p:ph type="sldNum" sz="quarter" idx="12"/>
          </p:nvPr>
        </p:nvSpPr>
        <p:spPr/>
        <p:txBody>
          <a:bodyPr/>
          <a:lstStyle/>
          <a:p>
            <a:fld id="{2386C454-E1BD-5A43-901A-CA4ACC7380B7}" type="slidenum">
              <a:rPr lang="en-US" smtClean="0"/>
              <a:t>48</a:t>
            </a:fld>
            <a:endParaRPr lang="en-US"/>
          </a:p>
        </p:txBody>
      </p:sp>
    </p:spTree>
    <p:extLst>
      <p:ext uri="{BB962C8B-B14F-4D97-AF65-F5344CB8AC3E}">
        <p14:creationId xmlns:p14="http://schemas.microsoft.com/office/powerpoint/2010/main" val="24288007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054304FD-AC04-9C48-B956-F769D079B067}"/>
              </a:ext>
            </a:extLst>
          </p:cNvPr>
          <p:cNvSpPr txBox="1"/>
          <p:nvPr/>
        </p:nvSpPr>
        <p:spPr>
          <a:xfrm>
            <a:off x="545306" y="707009"/>
            <a:ext cx="11101388" cy="70788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consider a spherical particle with diameter D, density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and fall velocity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with R being the submerged specific gravity of the sediment and </a:t>
            </a:r>
            <a:r>
              <a:rPr lang="en-US" sz="2000" dirty="0">
                <a:latin typeface="Symbol" pitchFamily="2" charset="2"/>
                <a:cs typeface="Arial" panose="020B0604020202020204" pitchFamily="34" charset="0"/>
              </a:rPr>
              <a:t>r</a:t>
            </a:r>
            <a:r>
              <a:rPr lang="en-US" dirty="0">
                <a:latin typeface="Arial" panose="020B0604020202020204" pitchFamily="34" charset="0"/>
                <a:cs typeface="Arial" panose="020B0604020202020204" pitchFamily="34" charset="0"/>
              </a:rPr>
              <a:t> the water density </a:t>
            </a:r>
          </a:p>
        </p:txBody>
      </p:sp>
      <p:sp>
        <p:nvSpPr>
          <p:cNvPr id="15" name="TextBox 14">
            <a:extLst>
              <a:ext uri="{FF2B5EF4-FFF2-40B4-BE49-F238E27FC236}">
                <a16:creationId xmlns:a16="http://schemas.microsoft.com/office/drawing/2014/main" id="{74E48602-20D1-3540-A0D9-EE0E09AD24D2}"/>
              </a:ext>
            </a:extLst>
          </p:cNvPr>
          <p:cNvSpPr txBox="1"/>
          <p:nvPr/>
        </p:nvSpPr>
        <p:spPr>
          <a:xfrm>
            <a:off x="2857500" y="1479836"/>
            <a:ext cx="8815381"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downstream impelling force of gravity</a:t>
            </a:r>
          </a:p>
        </p:txBody>
      </p:sp>
      <p:sp>
        <p:nvSpPr>
          <p:cNvPr id="16" name="TextBox 15">
            <a:extLst>
              <a:ext uri="{FF2B5EF4-FFF2-40B4-BE49-F238E27FC236}">
                <a16:creationId xmlns:a16="http://schemas.microsoft.com/office/drawing/2014/main" id="{31799C4D-A850-1C48-B02A-3716FCCFB4DB}"/>
              </a:ext>
            </a:extLst>
          </p:cNvPr>
          <p:cNvSpPr txBox="1"/>
          <p:nvPr/>
        </p:nvSpPr>
        <p:spPr>
          <a:xfrm>
            <a:off x="2857500" y="1879092"/>
            <a:ext cx="88153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 resistive drag force</a:t>
            </a:r>
          </a:p>
        </p:txBody>
      </p:sp>
      <p:sp>
        <p:nvSpPr>
          <p:cNvPr id="17" name="TextBox 16">
            <a:extLst>
              <a:ext uri="{FF2B5EF4-FFF2-40B4-BE49-F238E27FC236}">
                <a16:creationId xmlns:a16="http://schemas.microsoft.com/office/drawing/2014/main" id="{D187DFAC-ECD9-1B4A-B880-BCD91EC82C1A}"/>
              </a:ext>
            </a:extLst>
          </p:cNvPr>
          <p:cNvSpPr txBox="1"/>
          <p:nvPr/>
        </p:nvSpPr>
        <p:spPr>
          <a:xfrm>
            <a:off x="9302558" y="4131670"/>
            <a:ext cx="2483032"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want to find a relation to express fall velocity as a function of sediment and fluid properties</a:t>
            </a:r>
          </a:p>
        </p:txBody>
      </p:sp>
      <p:sp>
        <p:nvSpPr>
          <p:cNvPr id="2" name="Slide Number Placeholder 1">
            <a:extLst>
              <a:ext uri="{FF2B5EF4-FFF2-40B4-BE49-F238E27FC236}">
                <a16:creationId xmlns:a16="http://schemas.microsoft.com/office/drawing/2014/main" id="{B8BF013B-7909-19CC-1611-AA901D36E583}"/>
              </a:ext>
            </a:extLst>
          </p:cNvPr>
          <p:cNvSpPr>
            <a:spLocks noGrp="1"/>
          </p:cNvSpPr>
          <p:nvPr>
            <p:ph type="sldNum" sz="quarter" idx="12"/>
          </p:nvPr>
        </p:nvSpPr>
        <p:spPr/>
        <p:txBody>
          <a:bodyPr/>
          <a:lstStyle/>
          <a:p>
            <a:fld id="{2386C454-E1BD-5A43-901A-CA4ACC7380B7}" type="slidenum">
              <a:rPr lang="en-US" smtClean="0"/>
              <a:t>49</a:t>
            </a:fld>
            <a:endParaRPr lang="en-US"/>
          </a:p>
        </p:txBody>
      </p:sp>
    </p:spTree>
    <p:extLst>
      <p:ext uri="{BB962C8B-B14F-4D97-AF65-F5344CB8AC3E}">
        <p14:creationId xmlns:p14="http://schemas.microsoft.com/office/powerpoint/2010/main" val="3267896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086CBB8-BAB1-2146-93B8-6E663CA09DA8}"/>
              </a:ext>
            </a:extLst>
          </p:cNvPr>
          <p:cNvSpPr txBox="1"/>
          <p:nvPr/>
        </p:nvSpPr>
        <p:spPr>
          <a:xfrm>
            <a:off x="545306" y="707009"/>
            <a:ext cx="11101388" cy="70788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consider a spherical particle with diameter D, density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and fall velocity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with R being the submerged specific gravity of the sediment and </a:t>
            </a:r>
            <a:r>
              <a:rPr lang="en-US" sz="2000" dirty="0">
                <a:latin typeface="Symbol" pitchFamily="2" charset="2"/>
                <a:cs typeface="Arial" panose="020B0604020202020204" pitchFamily="34" charset="0"/>
              </a:rPr>
              <a:t>r</a:t>
            </a:r>
            <a:r>
              <a:rPr lang="en-US" dirty="0">
                <a:latin typeface="Arial" panose="020B0604020202020204" pitchFamily="34" charset="0"/>
                <a:cs typeface="Arial" panose="020B0604020202020204" pitchFamily="34" charset="0"/>
              </a:rPr>
              <a:t> the water density </a:t>
            </a: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91ED6EC-4BA7-2445-9E03-7BE4D6B2E1C9}"/>
              </a:ext>
            </a:extLst>
          </p:cNvPr>
          <p:cNvSpPr txBox="1"/>
          <p:nvPr/>
        </p:nvSpPr>
        <p:spPr>
          <a:xfrm>
            <a:off x="2857500" y="1879092"/>
            <a:ext cx="88153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 resistive drag force</a:t>
            </a:r>
          </a:p>
        </p:txBody>
      </p:sp>
      <p:sp>
        <p:nvSpPr>
          <p:cNvPr id="12" name="TextBox 11">
            <a:extLst>
              <a:ext uri="{FF2B5EF4-FFF2-40B4-BE49-F238E27FC236}">
                <a16:creationId xmlns:a16="http://schemas.microsoft.com/office/drawing/2014/main" id="{CE93C2B2-E2D5-6A4B-A26B-9C50BE8E6FE7}"/>
              </a:ext>
            </a:extLst>
          </p:cNvPr>
          <p:cNvSpPr txBox="1"/>
          <p:nvPr/>
        </p:nvSpPr>
        <p:spPr>
          <a:xfrm>
            <a:off x="2857500" y="1479836"/>
            <a:ext cx="8815381"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downstream impelling force of gravity</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AAEFEB-2E2D-174C-8629-5EFF7BCF65D6}"/>
                  </a:ext>
                </a:extLst>
              </p:cNvPr>
              <p:cNvSpPr txBox="1"/>
              <p:nvPr/>
            </p:nvSpPr>
            <p:spPr>
              <a:xfrm>
                <a:off x="2971800" y="2417606"/>
                <a:ext cx="1909817"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𝑅𝑔</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oMath>
                  </m:oMathPara>
                </a14:m>
                <a:endParaRPr lang="en-US" dirty="0"/>
              </a:p>
            </p:txBody>
          </p:sp>
        </mc:Choice>
        <mc:Fallback xmlns="">
          <p:sp>
            <p:nvSpPr>
              <p:cNvPr id="2" name="TextBox 1">
                <a:extLst>
                  <a:ext uri="{FF2B5EF4-FFF2-40B4-BE49-F238E27FC236}">
                    <a16:creationId xmlns:a16="http://schemas.microsoft.com/office/drawing/2014/main" id="{A1AAEFEB-2E2D-174C-8629-5EFF7BCF65D6}"/>
                  </a:ext>
                </a:extLst>
              </p:cNvPr>
              <p:cNvSpPr txBox="1">
                <a:spLocks noRot="1" noChangeAspect="1" noMove="1" noResize="1" noEditPoints="1" noAdjustHandles="1" noChangeArrowheads="1" noChangeShapeType="1" noTextEdit="1"/>
              </p:cNvSpPr>
              <p:nvPr/>
            </p:nvSpPr>
            <p:spPr>
              <a:xfrm>
                <a:off x="2971800" y="2417606"/>
                <a:ext cx="1909817" cy="67704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18C6AB-37ED-CA48-AEFA-E5B2F89F1392}"/>
                  </a:ext>
                </a:extLst>
              </p:cNvPr>
              <p:cNvSpPr txBox="1"/>
              <p:nvPr/>
            </p:nvSpPr>
            <p:spPr>
              <a:xfrm>
                <a:off x="2952820" y="3251885"/>
                <a:ext cx="2109937"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𝜌</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 name="TextBox 8">
                <a:extLst>
                  <a:ext uri="{FF2B5EF4-FFF2-40B4-BE49-F238E27FC236}">
                    <a16:creationId xmlns:a16="http://schemas.microsoft.com/office/drawing/2014/main" id="{8E18C6AB-37ED-CA48-AEFA-E5B2F89F1392}"/>
                  </a:ext>
                </a:extLst>
              </p:cNvPr>
              <p:cNvSpPr txBox="1">
                <a:spLocks noRot="1" noChangeAspect="1" noMove="1" noResize="1" noEditPoints="1" noAdjustHandles="1" noChangeArrowheads="1" noChangeShapeType="1" noTextEdit="1"/>
              </p:cNvSpPr>
              <p:nvPr/>
            </p:nvSpPr>
            <p:spPr>
              <a:xfrm>
                <a:off x="2952820" y="3251885"/>
                <a:ext cx="2109937" cy="579133"/>
              </a:xfrm>
              <a:prstGeom prst="rect">
                <a:avLst/>
              </a:prstGeom>
              <a:blipFill>
                <a:blip r:embed="rId3"/>
                <a:stretch>
                  <a:fillRect l="-1198" b="-12766"/>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930086C-8B8D-444E-9EA4-EC309AED3D1B}"/>
              </a:ext>
            </a:extLst>
          </p:cNvPr>
          <p:cNvSpPr txBox="1"/>
          <p:nvPr/>
        </p:nvSpPr>
        <p:spPr>
          <a:xfrm>
            <a:off x="571500" y="4494523"/>
            <a:ext cx="6072177"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is the drag coefficient, </a:t>
            </a:r>
          </a:p>
        </p:txBody>
      </p:sp>
      <p:sp>
        <p:nvSpPr>
          <p:cNvPr id="15" name="Slide Number Placeholder 14">
            <a:extLst>
              <a:ext uri="{FF2B5EF4-FFF2-40B4-BE49-F238E27FC236}">
                <a16:creationId xmlns:a16="http://schemas.microsoft.com/office/drawing/2014/main" id="{A0027D1A-F24B-2AB9-47B9-62413EDFC345}"/>
              </a:ext>
            </a:extLst>
          </p:cNvPr>
          <p:cNvSpPr>
            <a:spLocks noGrp="1"/>
          </p:cNvSpPr>
          <p:nvPr>
            <p:ph type="sldNum" sz="quarter" idx="12"/>
          </p:nvPr>
        </p:nvSpPr>
        <p:spPr/>
        <p:txBody>
          <a:bodyPr/>
          <a:lstStyle/>
          <a:p>
            <a:fld id="{2386C454-E1BD-5A43-901A-CA4ACC7380B7}" type="slidenum">
              <a:rPr lang="en-US" smtClean="0"/>
              <a:t>50</a:t>
            </a:fld>
            <a:endParaRPr lang="en-US"/>
          </a:p>
        </p:txBody>
      </p:sp>
    </p:spTree>
    <p:extLst>
      <p:ext uri="{BB962C8B-B14F-4D97-AF65-F5344CB8AC3E}">
        <p14:creationId xmlns:p14="http://schemas.microsoft.com/office/powerpoint/2010/main" val="40987906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086CBB8-BAB1-2146-93B8-6E663CA09DA8}"/>
              </a:ext>
            </a:extLst>
          </p:cNvPr>
          <p:cNvSpPr txBox="1"/>
          <p:nvPr/>
        </p:nvSpPr>
        <p:spPr>
          <a:xfrm>
            <a:off x="545306" y="707009"/>
            <a:ext cx="11101388" cy="70788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consider a spherical particle with diameter D, density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and fall velocity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with R being the submerged specific gravity of the sediment and </a:t>
            </a:r>
            <a:r>
              <a:rPr lang="en-US" sz="2000" dirty="0">
                <a:latin typeface="Symbol" pitchFamily="2" charset="2"/>
                <a:cs typeface="Arial" panose="020B0604020202020204" pitchFamily="34" charset="0"/>
              </a:rPr>
              <a:t>r</a:t>
            </a:r>
            <a:r>
              <a:rPr lang="en-US" dirty="0">
                <a:latin typeface="Arial" panose="020B0604020202020204" pitchFamily="34" charset="0"/>
                <a:cs typeface="Arial" panose="020B0604020202020204" pitchFamily="34" charset="0"/>
              </a:rPr>
              <a:t> the water density </a:t>
            </a: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91ED6EC-4BA7-2445-9E03-7BE4D6B2E1C9}"/>
              </a:ext>
            </a:extLst>
          </p:cNvPr>
          <p:cNvSpPr txBox="1"/>
          <p:nvPr/>
        </p:nvSpPr>
        <p:spPr>
          <a:xfrm>
            <a:off x="2857500" y="1879092"/>
            <a:ext cx="88153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 resistive drag force</a:t>
            </a:r>
          </a:p>
        </p:txBody>
      </p:sp>
      <p:sp>
        <p:nvSpPr>
          <p:cNvPr id="12" name="TextBox 11">
            <a:extLst>
              <a:ext uri="{FF2B5EF4-FFF2-40B4-BE49-F238E27FC236}">
                <a16:creationId xmlns:a16="http://schemas.microsoft.com/office/drawing/2014/main" id="{CE93C2B2-E2D5-6A4B-A26B-9C50BE8E6FE7}"/>
              </a:ext>
            </a:extLst>
          </p:cNvPr>
          <p:cNvSpPr txBox="1"/>
          <p:nvPr/>
        </p:nvSpPr>
        <p:spPr>
          <a:xfrm>
            <a:off x="2857500" y="1479836"/>
            <a:ext cx="8815381"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downstream impelling force of gravity</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AAEFEB-2E2D-174C-8629-5EFF7BCF65D6}"/>
                  </a:ext>
                </a:extLst>
              </p:cNvPr>
              <p:cNvSpPr txBox="1"/>
              <p:nvPr/>
            </p:nvSpPr>
            <p:spPr>
              <a:xfrm>
                <a:off x="2971800" y="2417606"/>
                <a:ext cx="1909818"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𝑅𝑔</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oMath>
                  </m:oMathPara>
                </a14:m>
                <a:endParaRPr lang="en-US" dirty="0"/>
              </a:p>
            </p:txBody>
          </p:sp>
        </mc:Choice>
        <mc:Fallback xmlns="">
          <p:sp>
            <p:nvSpPr>
              <p:cNvPr id="2" name="TextBox 1">
                <a:extLst>
                  <a:ext uri="{FF2B5EF4-FFF2-40B4-BE49-F238E27FC236}">
                    <a16:creationId xmlns:a16="http://schemas.microsoft.com/office/drawing/2014/main" id="{A1AAEFEB-2E2D-174C-8629-5EFF7BCF65D6}"/>
                  </a:ext>
                </a:extLst>
              </p:cNvPr>
              <p:cNvSpPr txBox="1">
                <a:spLocks noRot="1" noChangeAspect="1" noMove="1" noResize="1" noEditPoints="1" noAdjustHandles="1" noChangeArrowheads="1" noChangeShapeType="1" noTextEdit="1"/>
              </p:cNvSpPr>
              <p:nvPr/>
            </p:nvSpPr>
            <p:spPr>
              <a:xfrm>
                <a:off x="2971800" y="2417606"/>
                <a:ext cx="1909818" cy="67704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18C6AB-37ED-CA48-AEFA-E5B2F89F1392}"/>
                  </a:ext>
                </a:extLst>
              </p:cNvPr>
              <p:cNvSpPr txBox="1"/>
              <p:nvPr/>
            </p:nvSpPr>
            <p:spPr>
              <a:xfrm>
                <a:off x="2952820" y="3251885"/>
                <a:ext cx="2109937"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𝜌</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 name="TextBox 8">
                <a:extLst>
                  <a:ext uri="{FF2B5EF4-FFF2-40B4-BE49-F238E27FC236}">
                    <a16:creationId xmlns:a16="http://schemas.microsoft.com/office/drawing/2014/main" id="{8E18C6AB-37ED-CA48-AEFA-E5B2F89F1392}"/>
                  </a:ext>
                </a:extLst>
              </p:cNvPr>
              <p:cNvSpPr txBox="1">
                <a:spLocks noRot="1" noChangeAspect="1" noMove="1" noResize="1" noEditPoints="1" noAdjustHandles="1" noChangeArrowheads="1" noChangeShapeType="1" noTextEdit="1"/>
              </p:cNvSpPr>
              <p:nvPr/>
            </p:nvSpPr>
            <p:spPr>
              <a:xfrm>
                <a:off x="2952820" y="3251885"/>
                <a:ext cx="2109937" cy="579133"/>
              </a:xfrm>
              <a:prstGeom prst="rect">
                <a:avLst/>
              </a:prstGeom>
              <a:blipFill>
                <a:blip r:embed="rId3"/>
                <a:stretch>
                  <a:fillRect l="-1198" b="-12766"/>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6930086C-8B8D-444E-9EA4-EC309AED3D1B}"/>
              </a:ext>
            </a:extLst>
          </p:cNvPr>
          <p:cNvSpPr txBox="1"/>
          <p:nvPr/>
        </p:nvSpPr>
        <p:spPr>
          <a:xfrm>
            <a:off x="571500" y="4494523"/>
            <a:ext cx="6072177" cy="646331"/>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is the drag coefficient, and it is a function of the Reynolds number </a:t>
            </a:r>
          </a:p>
        </p:txBody>
      </p:sp>
      <p:pic>
        <p:nvPicPr>
          <p:cNvPr id="15" name="Picture 8">
            <a:extLst>
              <a:ext uri="{FF2B5EF4-FFF2-40B4-BE49-F238E27FC236}">
                <a16:creationId xmlns:a16="http://schemas.microsoft.com/office/drawing/2014/main" id="{9A12D508-74BA-A64C-BA4D-BB9DBB4B90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862636" y="1507218"/>
            <a:ext cx="6324600" cy="388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a:extLst>
              <a:ext uri="{FF2B5EF4-FFF2-40B4-BE49-F238E27FC236}">
                <a16:creationId xmlns:a16="http://schemas.microsoft.com/office/drawing/2014/main" id="{D40DCE77-995B-EC47-B41A-65D8B638907A}"/>
              </a:ext>
            </a:extLst>
          </p:cNvPr>
          <p:cNvSpPr txBox="1"/>
          <p:nvPr/>
        </p:nvSpPr>
        <p:spPr>
          <a:xfrm>
            <a:off x="8796452" y="2308273"/>
            <a:ext cx="328876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from the e-book (chapter 6)</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FC2F2F9-F15B-CC4F-BB6C-576AD3298159}"/>
                  </a:ext>
                </a:extLst>
              </p:cNvPr>
              <p:cNvSpPr txBox="1"/>
              <p:nvPr/>
            </p:nvSpPr>
            <p:spPr>
              <a:xfrm>
                <a:off x="659947" y="5259931"/>
                <a:ext cx="1021818" cy="5246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m:t>
                      </m:r>
                      <m:r>
                        <a:rPr lang="en-US" b="0" i="1" smtClean="0">
                          <a:latin typeface="Cambria Math" panose="02040503050406030204" pitchFamily="18" charset="0"/>
                        </a:rPr>
                        <m:t>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𝑓</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17" name="TextBox 16">
                <a:extLst>
                  <a:ext uri="{FF2B5EF4-FFF2-40B4-BE49-F238E27FC236}">
                    <a16:creationId xmlns:a16="http://schemas.microsoft.com/office/drawing/2014/main" id="{CFC2F2F9-F15B-CC4F-BB6C-576AD3298159}"/>
                  </a:ext>
                </a:extLst>
              </p:cNvPr>
              <p:cNvSpPr txBox="1">
                <a:spLocks noRot="1" noChangeAspect="1" noMove="1" noResize="1" noEditPoints="1" noAdjustHandles="1" noChangeArrowheads="1" noChangeShapeType="1" noTextEdit="1"/>
              </p:cNvSpPr>
              <p:nvPr/>
            </p:nvSpPr>
            <p:spPr>
              <a:xfrm>
                <a:off x="659947" y="5259931"/>
                <a:ext cx="1021818" cy="524631"/>
              </a:xfrm>
              <a:prstGeom prst="rect">
                <a:avLst/>
              </a:prstGeom>
              <a:blipFill>
                <a:blip r:embed="rId5"/>
                <a:stretch>
                  <a:fillRect l="-3659" t="-2381" r="-3659" b="-9524"/>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ECFC317E-6D00-F247-A9DA-F638189CE3BE}"/>
              </a:ext>
            </a:extLst>
          </p:cNvPr>
          <p:cNvSpPr txBox="1"/>
          <p:nvPr/>
        </p:nvSpPr>
        <p:spPr>
          <a:xfrm>
            <a:off x="1984029" y="5260991"/>
            <a:ext cx="10101189"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with </a:t>
            </a:r>
            <a:r>
              <a:rPr lang="en-US" dirty="0">
                <a:latin typeface="Symbol" pitchFamily="2" charset="2"/>
                <a:cs typeface="Arial" panose="020B0604020202020204" pitchFamily="34" charset="0"/>
              </a:rPr>
              <a:t>n</a:t>
            </a:r>
            <a:r>
              <a:rPr lang="en-US" dirty="0">
                <a:latin typeface="Arial" panose="020B0604020202020204" pitchFamily="34" charset="0"/>
                <a:cs typeface="Arial" panose="020B0604020202020204" pitchFamily="34" charset="0"/>
              </a:rPr>
              <a:t> being the kinematic viscosity of water and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the velocity of the fluid relative to the sphere. </a:t>
            </a:r>
          </a:p>
          <a:p>
            <a:r>
              <a:rPr lang="en-US" dirty="0">
                <a:latin typeface="Arial" panose="020B0604020202020204" pitchFamily="34" charset="0"/>
                <a:cs typeface="Arial" panose="020B0604020202020204" pitchFamily="34" charset="0"/>
              </a:rPr>
              <a:t>In the case of a particle in still water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and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7034623" y="5718422"/>
                <a:ext cx="1761828" cy="5177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𝑅</m:t>
                      </m:r>
                      <m:r>
                        <a:rPr lang="en-US" b="0" i="1" smtClean="0">
                          <a:latin typeface="Cambria Math" panose="02040503050406030204" pitchFamily="18" charset="0"/>
                        </a:rPr>
                        <m:t>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7034623" y="5718422"/>
                <a:ext cx="1761828" cy="517706"/>
              </a:xfrm>
              <a:prstGeom prst="rect">
                <a:avLst/>
              </a:prstGeom>
              <a:blipFill>
                <a:blip r:embed="rId6"/>
                <a:stretch>
                  <a:fillRect l="-2143" t="-2381" r="-2143" b="-7143"/>
                </a:stretch>
              </a:blipFill>
            </p:spPr>
            <p:txBody>
              <a:bodyPr/>
              <a:lstStyle/>
              <a:p>
                <a:r>
                  <a:rPr lang="en-US">
                    <a:noFill/>
                  </a:rPr>
                  <a:t> </a:t>
                </a:r>
              </a:p>
            </p:txBody>
          </p:sp>
        </mc:Fallback>
      </mc:AlternateContent>
      <p:sp>
        <p:nvSpPr>
          <p:cNvPr id="20" name="Slide Number Placeholder 19">
            <a:extLst>
              <a:ext uri="{FF2B5EF4-FFF2-40B4-BE49-F238E27FC236}">
                <a16:creationId xmlns:a16="http://schemas.microsoft.com/office/drawing/2014/main" id="{5EDEF86B-A199-C2FE-45FD-E6745CBCECBB}"/>
              </a:ext>
            </a:extLst>
          </p:cNvPr>
          <p:cNvSpPr>
            <a:spLocks noGrp="1"/>
          </p:cNvSpPr>
          <p:nvPr>
            <p:ph type="sldNum" sz="quarter" idx="12"/>
          </p:nvPr>
        </p:nvSpPr>
        <p:spPr/>
        <p:txBody>
          <a:bodyPr/>
          <a:lstStyle/>
          <a:p>
            <a:fld id="{2386C454-E1BD-5A43-901A-CA4ACC7380B7}" type="slidenum">
              <a:rPr lang="en-US" smtClean="0"/>
              <a:t>51</a:t>
            </a:fld>
            <a:endParaRPr lang="en-US"/>
          </a:p>
        </p:txBody>
      </p:sp>
    </p:spTree>
    <p:extLst>
      <p:ext uri="{BB962C8B-B14F-4D97-AF65-F5344CB8AC3E}">
        <p14:creationId xmlns:p14="http://schemas.microsoft.com/office/powerpoint/2010/main" val="98871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91ED6EC-4BA7-2445-9E03-7BE4D6B2E1C9}"/>
              </a:ext>
            </a:extLst>
          </p:cNvPr>
          <p:cNvSpPr txBox="1"/>
          <p:nvPr/>
        </p:nvSpPr>
        <p:spPr>
          <a:xfrm>
            <a:off x="2857500" y="1879092"/>
            <a:ext cx="88153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 resistive drag force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AAEFEB-2E2D-174C-8629-5EFF7BCF65D6}"/>
                  </a:ext>
                </a:extLst>
              </p:cNvPr>
              <p:cNvSpPr txBox="1"/>
              <p:nvPr/>
            </p:nvSpPr>
            <p:spPr>
              <a:xfrm>
                <a:off x="2971800" y="2417606"/>
                <a:ext cx="1909818"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𝑅𝑔</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oMath>
                  </m:oMathPara>
                </a14:m>
                <a:endParaRPr lang="en-US" dirty="0"/>
              </a:p>
            </p:txBody>
          </p:sp>
        </mc:Choice>
        <mc:Fallback xmlns="">
          <p:sp>
            <p:nvSpPr>
              <p:cNvPr id="2" name="TextBox 1">
                <a:extLst>
                  <a:ext uri="{FF2B5EF4-FFF2-40B4-BE49-F238E27FC236}">
                    <a16:creationId xmlns:a16="http://schemas.microsoft.com/office/drawing/2014/main" id="{A1AAEFEB-2E2D-174C-8629-5EFF7BCF65D6}"/>
                  </a:ext>
                </a:extLst>
              </p:cNvPr>
              <p:cNvSpPr txBox="1">
                <a:spLocks noRot="1" noChangeAspect="1" noMove="1" noResize="1" noEditPoints="1" noAdjustHandles="1" noChangeArrowheads="1" noChangeShapeType="1" noTextEdit="1"/>
              </p:cNvSpPr>
              <p:nvPr/>
            </p:nvSpPr>
            <p:spPr>
              <a:xfrm>
                <a:off x="2971800" y="2417606"/>
                <a:ext cx="1909818" cy="67704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18C6AB-37ED-CA48-AEFA-E5B2F89F1392}"/>
                  </a:ext>
                </a:extLst>
              </p:cNvPr>
              <p:cNvSpPr txBox="1"/>
              <p:nvPr/>
            </p:nvSpPr>
            <p:spPr>
              <a:xfrm>
                <a:off x="2952820" y="3251885"/>
                <a:ext cx="2109937"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𝜌</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 name="TextBox 8">
                <a:extLst>
                  <a:ext uri="{FF2B5EF4-FFF2-40B4-BE49-F238E27FC236}">
                    <a16:creationId xmlns:a16="http://schemas.microsoft.com/office/drawing/2014/main" id="{8E18C6AB-37ED-CA48-AEFA-E5B2F89F1392}"/>
                  </a:ext>
                </a:extLst>
              </p:cNvPr>
              <p:cNvSpPr txBox="1">
                <a:spLocks noRot="1" noChangeAspect="1" noMove="1" noResize="1" noEditPoints="1" noAdjustHandles="1" noChangeArrowheads="1" noChangeShapeType="1" noTextEdit="1"/>
              </p:cNvSpPr>
              <p:nvPr/>
            </p:nvSpPr>
            <p:spPr>
              <a:xfrm>
                <a:off x="2952820" y="3251885"/>
                <a:ext cx="2109937" cy="579133"/>
              </a:xfrm>
              <a:prstGeom prst="rect">
                <a:avLst/>
              </a:prstGeom>
              <a:blipFill>
                <a:blip r:embed="rId3"/>
                <a:stretch>
                  <a:fillRect l="-1198"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6122194" y="3351574"/>
                <a:ext cx="139557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𝑅𝑒</m:t>
                              </m:r>
                            </m:e>
                            <m:sub>
                              <m:r>
                                <a:rPr lang="en-US" i="1">
                                  <a:latin typeface="Cambria Math" panose="02040503050406030204" pitchFamily="18" charset="0"/>
                                </a:rPr>
                                <m:t>𝑣𝑝</m:t>
                              </m:r>
                            </m:sub>
                          </m:sSub>
                        </m:e>
                      </m:d>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6122194" y="3351574"/>
                <a:ext cx="1395575" cy="318164"/>
              </a:xfrm>
              <a:prstGeom prst="rect">
                <a:avLst/>
              </a:prstGeom>
              <a:blipFill>
                <a:blip r:embed="rId4"/>
                <a:stretch>
                  <a:fillRect l="-901"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0F5622-8BA8-7E4E-8A82-BDC9AC82A85A}"/>
                  </a:ext>
                </a:extLst>
              </p:cNvPr>
              <p:cNvSpPr txBox="1"/>
              <p:nvPr/>
            </p:nvSpPr>
            <p:spPr>
              <a:xfrm>
                <a:off x="8358266" y="3178670"/>
                <a:ext cx="1194108" cy="5177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20" name="TextBox 19">
                <a:extLst>
                  <a:ext uri="{FF2B5EF4-FFF2-40B4-BE49-F238E27FC236}">
                    <a16:creationId xmlns:a16="http://schemas.microsoft.com/office/drawing/2014/main" id="{860F5622-8BA8-7E4E-8A82-BDC9AC82A85A}"/>
                  </a:ext>
                </a:extLst>
              </p:cNvPr>
              <p:cNvSpPr txBox="1">
                <a:spLocks noRot="1" noChangeAspect="1" noMove="1" noResize="1" noEditPoints="1" noAdjustHandles="1" noChangeArrowheads="1" noChangeShapeType="1" noTextEdit="1"/>
              </p:cNvSpPr>
              <p:nvPr/>
            </p:nvSpPr>
            <p:spPr>
              <a:xfrm>
                <a:off x="8358266" y="3178670"/>
                <a:ext cx="1194108" cy="517706"/>
              </a:xfrm>
              <a:prstGeom prst="rect">
                <a:avLst/>
              </a:prstGeom>
              <a:blipFill>
                <a:blip r:embed="rId5"/>
                <a:stretch>
                  <a:fillRect l="-4211" t="-2439" r="-3158" b="-12195"/>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472F7F57-2FD0-774E-9026-860A0A11D94B}"/>
              </a:ext>
            </a:extLst>
          </p:cNvPr>
          <p:cNvSpPr txBox="1"/>
          <p:nvPr/>
        </p:nvSpPr>
        <p:spPr>
          <a:xfrm>
            <a:off x="545306" y="4434369"/>
            <a:ext cx="1110138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Condition for equilibrium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F</a:t>
            </a:r>
            <a:r>
              <a:rPr lang="en-US" baseline="-25000" dirty="0">
                <a:latin typeface="Arial" panose="020B0604020202020204" pitchFamily="34" charset="0"/>
                <a:cs typeface="Arial" panose="020B0604020202020204" pitchFamily="34" charset="0"/>
              </a:rPr>
              <a:t>D</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E1CC6A1-CFAE-B444-A196-A261B6AEF221}"/>
                  </a:ext>
                </a:extLst>
              </p:cNvPr>
              <p:cNvSpPr txBox="1"/>
              <p:nvPr/>
            </p:nvSpPr>
            <p:spPr>
              <a:xfrm>
                <a:off x="621757" y="4963345"/>
                <a:ext cx="3198761"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𝑅𝑔</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r>
                        <a:rPr lang="en-US" i="1">
                          <a:latin typeface="Cambria Math" panose="02040503050406030204" pitchFamily="18" charset="0"/>
                          <a:ea typeface="Cambria Math" panose="02040503050406030204" pitchFamily="18" charset="0"/>
                        </a:rPr>
                        <m:t>𝜌</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up>
                          <m:r>
                            <a:rPr lang="en-US" i="1">
                              <a:latin typeface="Cambria Math" panose="02040503050406030204" pitchFamily="18" charset="0"/>
                              <a:ea typeface="Cambria Math" panose="02040503050406030204" pitchFamily="18" charset="0"/>
                            </a:rPr>
                            <m:t>2</m:t>
                          </m:r>
                        </m:sup>
                      </m:sSubSup>
                      <m:r>
                        <a:rPr lang="en-US" i="1">
                          <a:latin typeface="Cambria Math" panose="02040503050406030204" pitchFamily="18" charset="0"/>
                          <a:ea typeface="Cambria Math" panose="02040503050406030204" pitchFamily="18" charset="0"/>
                        </a:rPr>
                        <m:t>𝜋</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𝐷</m:t>
                                  </m:r>
                                </m:num>
                                <m:den>
                                  <m:r>
                                    <a:rPr lang="en-US" i="1">
                                      <a:latin typeface="Cambria Math" panose="02040503050406030204" pitchFamily="18" charset="0"/>
                                      <a:ea typeface="Cambria Math" panose="02040503050406030204" pitchFamily="18" charset="0"/>
                                    </a:rPr>
                                    <m:t>2</m:t>
                                  </m:r>
                                </m:den>
                              </m:f>
                            </m:e>
                          </m:d>
                        </m:e>
                        <m:sup>
                          <m:r>
                            <a:rPr lang="en-US" i="1">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22" name="TextBox 21">
                <a:extLst>
                  <a:ext uri="{FF2B5EF4-FFF2-40B4-BE49-F238E27FC236}">
                    <a16:creationId xmlns:a16="http://schemas.microsoft.com/office/drawing/2014/main" id="{3E1CC6A1-CFAE-B444-A196-A261B6AEF221}"/>
                  </a:ext>
                </a:extLst>
              </p:cNvPr>
              <p:cNvSpPr txBox="1">
                <a:spLocks noRot="1" noChangeAspect="1" noMove="1" noResize="1" noEditPoints="1" noAdjustHandles="1" noChangeArrowheads="1" noChangeShapeType="1" noTextEdit="1"/>
              </p:cNvSpPr>
              <p:nvPr/>
            </p:nvSpPr>
            <p:spPr>
              <a:xfrm>
                <a:off x="621757" y="4963345"/>
                <a:ext cx="3198761" cy="677045"/>
              </a:xfrm>
              <a:prstGeom prst="rect">
                <a:avLst/>
              </a:prstGeom>
              <a:blipFill>
                <a:blip r:embed="rId6"/>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732EC10B-066A-D149-A445-87A3AB6AD21E}"/>
              </a:ext>
            </a:extLst>
          </p:cNvPr>
          <p:cNvSpPr txBox="1"/>
          <p:nvPr/>
        </p:nvSpPr>
        <p:spPr>
          <a:xfrm>
            <a:off x="545306" y="707009"/>
            <a:ext cx="11101388" cy="70788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consider a spherical particle with diameter D, density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and fall velocity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with R being the submerged specific gravity of the sediment and </a:t>
            </a:r>
            <a:r>
              <a:rPr lang="en-US" sz="2000" dirty="0">
                <a:latin typeface="Symbol" pitchFamily="2" charset="2"/>
                <a:cs typeface="Arial" panose="020B0604020202020204" pitchFamily="34" charset="0"/>
              </a:rPr>
              <a:t>r</a:t>
            </a:r>
            <a:r>
              <a:rPr lang="en-US" dirty="0">
                <a:latin typeface="Arial" panose="020B0604020202020204" pitchFamily="34" charset="0"/>
                <a:cs typeface="Arial" panose="020B0604020202020204" pitchFamily="34" charset="0"/>
              </a:rPr>
              <a:t> the water density </a:t>
            </a:r>
          </a:p>
        </p:txBody>
      </p:sp>
      <p:sp>
        <p:nvSpPr>
          <p:cNvPr id="24" name="TextBox 23">
            <a:extLst>
              <a:ext uri="{FF2B5EF4-FFF2-40B4-BE49-F238E27FC236}">
                <a16:creationId xmlns:a16="http://schemas.microsoft.com/office/drawing/2014/main" id="{0CEA958C-EB3C-3E49-9EEC-0C19B601B57F}"/>
              </a:ext>
            </a:extLst>
          </p:cNvPr>
          <p:cNvSpPr txBox="1"/>
          <p:nvPr/>
        </p:nvSpPr>
        <p:spPr>
          <a:xfrm>
            <a:off x="2857500" y="1479836"/>
            <a:ext cx="8815381"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downstream impelling force of gravity</a:t>
            </a:r>
          </a:p>
        </p:txBody>
      </p:sp>
      <p:sp>
        <p:nvSpPr>
          <p:cNvPr id="3" name="Slide Number Placeholder 2">
            <a:extLst>
              <a:ext uri="{FF2B5EF4-FFF2-40B4-BE49-F238E27FC236}">
                <a16:creationId xmlns:a16="http://schemas.microsoft.com/office/drawing/2014/main" id="{CFAF1A50-9243-3434-22D1-567119DB2DDF}"/>
              </a:ext>
            </a:extLst>
          </p:cNvPr>
          <p:cNvSpPr>
            <a:spLocks noGrp="1"/>
          </p:cNvSpPr>
          <p:nvPr>
            <p:ph type="sldNum" sz="quarter" idx="12"/>
          </p:nvPr>
        </p:nvSpPr>
        <p:spPr/>
        <p:txBody>
          <a:bodyPr/>
          <a:lstStyle/>
          <a:p>
            <a:fld id="{2386C454-E1BD-5A43-901A-CA4ACC7380B7}" type="slidenum">
              <a:rPr lang="en-US" smtClean="0"/>
              <a:t>52</a:t>
            </a:fld>
            <a:endParaRPr lang="en-US"/>
          </a:p>
        </p:txBody>
      </p:sp>
    </p:spTree>
    <p:extLst>
      <p:ext uri="{BB962C8B-B14F-4D97-AF65-F5344CB8AC3E}">
        <p14:creationId xmlns:p14="http://schemas.microsoft.com/office/powerpoint/2010/main" val="22901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91ED6EC-4BA7-2445-9E03-7BE4D6B2E1C9}"/>
              </a:ext>
            </a:extLst>
          </p:cNvPr>
          <p:cNvSpPr txBox="1"/>
          <p:nvPr/>
        </p:nvSpPr>
        <p:spPr>
          <a:xfrm>
            <a:off x="2857500" y="1879092"/>
            <a:ext cx="88153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 resistive drag force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AAEFEB-2E2D-174C-8629-5EFF7BCF65D6}"/>
                  </a:ext>
                </a:extLst>
              </p:cNvPr>
              <p:cNvSpPr txBox="1"/>
              <p:nvPr/>
            </p:nvSpPr>
            <p:spPr>
              <a:xfrm>
                <a:off x="2971800" y="2417606"/>
                <a:ext cx="1918346"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𝑔</m:t>
                      </m:r>
                    </m:oMath>
                  </m:oMathPara>
                </a14:m>
                <a:endParaRPr lang="en-US" dirty="0"/>
              </a:p>
            </p:txBody>
          </p:sp>
        </mc:Choice>
        <mc:Fallback xmlns="">
          <p:sp>
            <p:nvSpPr>
              <p:cNvPr id="2" name="TextBox 1">
                <a:extLst>
                  <a:ext uri="{FF2B5EF4-FFF2-40B4-BE49-F238E27FC236}">
                    <a16:creationId xmlns:a16="http://schemas.microsoft.com/office/drawing/2014/main" id="{A1AAEFEB-2E2D-174C-8629-5EFF7BCF65D6}"/>
                  </a:ext>
                </a:extLst>
              </p:cNvPr>
              <p:cNvSpPr txBox="1">
                <a:spLocks noRot="1" noChangeAspect="1" noMove="1" noResize="1" noEditPoints="1" noAdjustHandles="1" noChangeArrowheads="1" noChangeShapeType="1" noTextEdit="1"/>
              </p:cNvSpPr>
              <p:nvPr/>
            </p:nvSpPr>
            <p:spPr>
              <a:xfrm>
                <a:off x="2971800" y="2417606"/>
                <a:ext cx="1918346" cy="579133"/>
              </a:xfrm>
              <a:prstGeom prst="rect">
                <a:avLst/>
              </a:prstGeom>
              <a:blipFill>
                <a:blip r:embed="rId2"/>
                <a:stretch>
                  <a:fillRect l="-2649" r="-2649" b="-10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18C6AB-37ED-CA48-AEFA-E5B2F89F1392}"/>
                  </a:ext>
                </a:extLst>
              </p:cNvPr>
              <p:cNvSpPr txBox="1"/>
              <p:nvPr/>
            </p:nvSpPr>
            <p:spPr>
              <a:xfrm>
                <a:off x="2952820" y="3251885"/>
                <a:ext cx="2109937"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𝜌</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 name="TextBox 8">
                <a:extLst>
                  <a:ext uri="{FF2B5EF4-FFF2-40B4-BE49-F238E27FC236}">
                    <a16:creationId xmlns:a16="http://schemas.microsoft.com/office/drawing/2014/main" id="{8E18C6AB-37ED-CA48-AEFA-E5B2F89F1392}"/>
                  </a:ext>
                </a:extLst>
              </p:cNvPr>
              <p:cNvSpPr txBox="1">
                <a:spLocks noRot="1" noChangeAspect="1" noMove="1" noResize="1" noEditPoints="1" noAdjustHandles="1" noChangeArrowheads="1" noChangeShapeType="1" noTextEdit="1"/>
              </p:cNvSpPr>
              <p:nvPr/>
            </p:nvSpPr>
            <p:spPr>
              <a:xfrm>
                <a:off x="2952820" y="3251885"/>
                <a:ext cx="2109937" cy="579133"/>
              </a:xfrm>
              <a:prstGeom prst="rect">
                <a:avLst/>
              </a:prstGeom>
              <a:blipFill>
                <a:blip r:embed="rId3"/>
                <a:stretch>
                  <a:fillRect l="-1198"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6122194" y="3351574"/>
                <a:ext cx="139557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𝑅𝑒</m:t>
                              </m:r>
                            </m:e>
                            <m:sub>
                              <m:r>
                                <a:rPr lang="en-US" i="1">
                                  <a:latin typeface="Cambria Math" panose="02040503050406030204" pitchFamily="18" charset="0"/>
                                </a:rPr>
                                <m:t>𝑣𝑝</m:t>
                              </m:r>
                            </m:sub>
                          </m:sSub>
                        </m:e>
                      </m:d>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6122194" y="3351574"/>
                <a:ext cx="1395575" cy="318164"/>
              </a:xfrm>
              <a:prstGeom prst="rect">
                <a:avLst/>
              </a:prstGeom>
              <a:blipFill>
                <a:blip r:embed="rId4"/>
                <a:stretch>
                  <a:fillRect l="-901"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0F5622-8BA8-7E4E-8A82-BDC9AC82A85A}"/>
                  </a:ext>
                </a:extLst>
              </p:cNvPr>
              <p:cNvSpPr txBox="1"/>
              <p:nvPr/>
            </p:nvSpPr>
            <p:spPr>
              <a:xfrm>
                <a:off x="8358266" y="3178670"/>
                <a:ext cx="1194108" cy="5177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20" name="TextBox 19">
                <a:extLst>
                  <a:ext uri="{FF2B5EF4-FFF2-40B4-BE49-F238E27FC236}">
                    <a16:creationId xmlns:a16="http://schemas.microsoft.com/office/drawing/2014/main" id="{860F5622-8BA8-7E4E-8A82-BDC9AC82A85A}"/>
                  </a:ext>
                </a:extLst>
              </p:cNvPr>
              <p:cNvSpPr txBox="1">
                <a:spLocks noRot="1" noChangeAspect="1" noMove="1" noResize="1" noEditPoints="1" noAdjustHandles="1" noChangeArrowheads="1" noChangeShapeType="1" noTextEdit="1"/>
              </p:cNvSpPr>
              <p:nvPr/>
            </p:nvSpPr>
            <p:spPr>
              <a:xfrm>
                <a:off x="8358266" y="3178670"/>
                <a:ext cx="1194108" cy="517706"/>
              </a:xfrm>
              <a:prstGeom prst="rect">
                <a:avLst/>
              </a:prstGeom>
              <a:blipFill>
                <a:blip r:embed="rId5"/>
                <a:stretch>
                  <a:fillRect l="-4211" t="-2439" r="-3158" b="-12195"/>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472F7F57-2FD0-774E-9026-860A0A11D94B}"/>
              </a:ext>
            </a:extLst>
          </p:cNvPr>
          <p:cNvSpPr txBox="1"/>
          <p:nvPr/>
        </p:nvSpPr>
        <p:spPr>
          <a:xfrm>
            <a:off x="545306" y="4434369"/>
            <a:ext cx="1110138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Condition for equilibrium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F</a:t>
            </a:r>
            <a:r>
              <a:rPr lang="en-US" baseline="-25000" dirty="0">
                <a:latin typeface="Arial" panose="020B0604020202020204" pitchFamily="34" charset="0"/>
                <a:cs typeface="Arial" panose="020B0604020202020204" pitchFamily="34" charset="0"/>
              </a:rPr>
              <a:t>D</a:t>
            </a:r>
          </a:p>
        </p:txBody>
      </p:sp>
      <p:sp>
        <p:nvSpPr>
          <p:cNvPr id="18" name="TextBox 17">
            <a:extLst>
              <a:ext uri="{FF2B5EF4-FFF2-40B4-BE49-F238E27FC236}">
                <a16:creationId xmlns:a16="http://schemas.microsoft.com/office/drawing/2014/main" id="{08D2186A-11B0-0745-96F1-FB727A531F89}"/>
              </a:ext>
            </a:extLst>
          </p:cNvPr>
          <p:cNvSpPr txBox="1"/>
          <p:nvPr/>
        </p:nvSpPr>
        <p:spPr>
          <a:xfrm>
            <a:off x="3824384" y="5124940"/>
            <a:ext cx="1733255"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simplifies into</a:t>
            </a:r>
          </a:p>
        </p:txBody>
      </p:sp>
      <p:sp>
        <p:nvSpPr>
          <p:cNvPr id="32" name="TextBox 31">
            <a:extLst>
              <a:ext uri="{FF2B5EF4-FFF2-40B4-BE49-F238E27FC236}">
                <a16:creationId xmlns:a16="http://schemas.microsoft.com/office/drawing/2014/main" id="{39650BDE-1D6B-D049-A893-007BECAB46D0}"/>
              </a:ext>
            </a:extLst>
          </p:cNvPr>
          <p:cNvSpPr txBox="1"/>
          <p:nvPr/>
        </p:nvSpPr>
        <p:spPr>
          <a:xfrm>
            <a:off x="545306" y="707009"/>
            <a:ext cx="11101388" cy="70788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consider a spherical particle with diameter D, density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and fall velocity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with R being the submerged specific gravity of the sediment and </a:t>
            </a:r>
            <a:r>
              <a:rPr lang="en-US" sz="2000" dirty="0">
                <a:latin typeface="Symbol" pitchFamily="2" charset="2"/>
                <a:cs typeface="Arial" panose="020B0604020202020204" pitchFamily="34" charset="0"/>
              </a:rPr>
              <a:t>r</a:t>
            </a:r>
            <a:r>
              <a:rPr lang="en-US" dirty="0">
                <a:latin typeface="Arial" panose="020B0604020202020204" pitchFamily="34" charset="0"/>
                <a:cs typeface="Arial" panose="020B0604020202020204" pitchFamily="34" charset="0"/>
              </a:rPr>
              <a:t> the water density </a:t>
            </a:r>
          </a:p>
        </p:txBody>
      </p:sp>
      <p:sp>
        <p:nvSpPr>
          <p:cNvPr id="33" name="TextBox 32">
            <a:extLst>
              <a:ext uri="{FF2B5EF4-FFF2-40B4-BE49-F238E27FC236}">
                <a16:creationId xmlns:a16="http://schemas.microsoft.com/office/drawing/2014/main" id="{BD23A148-4139-7B49-9FD1-4B6DF34DCE22}"/>
              </a:ext>
            </a:extLst>
          </p:cNvPr>
          <p:cNvSpPr txBox="1"/>
          <p:nvPr/>
        </p:nvSpPr>
        <p:spPr>
          <a:xfrm>
            <a:off x="2857500" y="1479836"/>
            <a:ext cx="8815381"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downstream impelling force of gravity</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D497D54-1D57-F7BC-4659-C646ECA0BC09}"/>
                  </a:ext>
                </a:extLst>
              </p:cNvPr>
              <p:cNvSpPr txBox="1"/>
              <p:nvPr/>
            </p:nvSpPr>
            <p:spPr>
              <a:xfrm>
                <a:off x="621757" y="4963345"/>
                <a:ext cx="3198761"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𝑅𝑔</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r>
                        <a:rPr lang="en-US" i="1">
                          <a:latin typeface="Cambria Math" panose="02040503050406030204" pitchFamily="18" charset="0"/>
                          <a:ea typeface="Cambria Math" panose="02040503050406030204" pitchFamily="18" charset="0"/>
                        </a:rPr>
                        <m:t>𝜌</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up>
                          <m:r>
                            <a:rPr lang="en-US" i="1">
                              <a:latin typeface="Cambria Math" panose="02040503050406030204" pitchFamily="18" charset="0"/>
                              <a:ea typeface="Cambria Math" panose="02040503050406030204" pitchFamily="18" charset="0"/>
                            </a:rPr>
                            <m:t>2</m:t>
                          </m:r>
                        </m:sup>
                      </m:sSubSup>
                      <m:r>
                        <a:rPr lang="en-US" i="1">
                          <a:latin typeface="Cambria Math" panose="02040503050406030204" pitchFamily="18" charset="0"/>
                          <a:ea typeface="Cambria Math" panose="02040503050406030204" pitchFamily="18" charset="0"/>
                        </a:rPr>
                        <m:t>𝜋</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𝐷</m:t>
                                  </m:r>
                                </m:num>
                                <m:den>
                                  <m:r>
                                    <a:rPr lang="en-US" i="1">
                                      <a:latin typeface="Cambria Math" panose="02040503050406030204" pitchFamily="18" charset="0"/>
                                      <a:ea typeface="Cambria Math" panose="02040503050406030204" pitchFamily="18" charset="0"/>
                                    </a:rPr>
                                    <m:t>2</m:t>
                                  </m:r>
                                </m:den>
                              </m:f>
                            </m:e>
                          </m:d>
                        </m:e>
                        <m:sup>
                          <m:r>
                            <a:rPr lang="en-US" i="1">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23" name="TextBox 22">
                <a:extLst>
                  <a:ext uri="{FF2B5EF4-FFF2-40B4-BE49-F238E27FC236}">
                    <a16:creationId xmlns:a16="http://schemas.microsoft.com/office/drawing/2014/main" id="{5D497D54-1D57-F7BC-4659-C646ECA0BC09}"/>
                  </a:ext>
                </a:extLst>
              </p:cNvPr>
              <p:cNvSpPr txBox="1">
                <a:spLocks noRot="1" noChangeAspect="1" noMove="1" noResize="1" noEditPoints="1" noAdjustHandles="1" noChangeArrowheads="1" noChangeShapeType="1" noTextEdit="1"/>
              </p:cNvSpPr>
              <p:nvPr/>
            </p:nvSpPr>
            <p:spPr>
              <a:xfrm>
                <a:off x="621757" y="4963345"/>
                <a:ext cx="3198761" cy="67704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AE3E9B4-7829-3EB4-EC04-82A01A79A7C5}"/>
                  </a:ext>
                </a:extLst>
              </p:cNvPr>
              <p:cNvSpPr txBox="1"/>
              <p:nvPr/>
            </p:nvSpPr>
            <p:spPr>
              <a:xfrm>
                <a:off x="5741043" y="4960251"/>
                <a:ext cx="1453668" cy="519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up>
                          <m:r>
                            <a:rPr lang="en-US" i="1">
                              <a:latin typeface="Cambria Math" panose="02040503050406030204" pitchFamily="18" charset="0"/>
                              <a:ea typeface="Cambria Math" panose="02040503050406030204" pitchFamily="18" charset="0"/>
                            </a:rPr>
                            <m:t>2</m:t>
                          </m:r>
                        </m:sup>
                      </m:sSubSup>
                    </m:oMath>
                  </m:oMathPara>
                </a14:m>
                <a:endParaRPr lang="en-US" dirty="0"/>
              </a:p>
            </p:txBody>
          </p:sp>
        </mc:Choice>
        <mc:Fallback xmlns="">
          <p:sp>
            <p:nvSpPr>
              <p:cNvPr id="24" name="TextBox 23">
                <a:extLst>
                  <a:ext uri="{FF2B5EF4-FFF2-40B4-BE49-F238E27FC236}">
                    <a16:creationId xmlns:a16="http://schemas.microsoft.com/office/drawing/2014/main" id="{4AE3E9B4-7829-3EB4-EC04-82A01A79A7C5}"/>
                  </a:ext>
                </a:extLst>
              </p:cNvPr>
              <p:cNvSpPr txBox="1">
                <a:spLocks noRot="1" noChangeAspect="1" noMove="1" noResize="1" noEditPoints="1" noAdjustHandles="1" noChangeArrowheads="1" noChangeShapeType="1" noTextEdit="1"/>
              </p:cNvSpPr>
              <p:nvPr/>
            </p:nvSpPr>
            <p:spPr>
              <a:xfrm>
                <a:off x="5741043" y="4960251"/>
                <a:ext cx="1453668" cy="519373"/>
              </a:xfrm>
              <a:prstGeom prst="rect">
                <a:avLst/>
              </a:prstGeom>
              <a:blipFill>
                <a:blip r:embed="rId7"/>
                <a:stretch>
                  <a:fillRect l="-3478" t="-2381" r="-870" b="-1190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56A5E490-A1A2-99D2-A542-FE3893F554CB}"/>
              </a:ext>
            </a:extLst>
          </p:cNvPr>
          <p:cNvSpPr>
            <a:spLocks noGrp="1"/>
          </p:cNvSpPr>
          <p:nvPr>
            <p:ph type="sldNum" sz="quarter" idx="12"/>
          </p:nvPr>
        </p:nvSpPr>
        <p:spPr/>
        <p:txBody>
          <a:bodyPr/>
          <a:lstStyle/>
          <a:p>
            <a:fld id="{2386C454-E1BD-5A43-901A-CA4ACC7380B7}" type="slidenum">
              <a:rPr lang="en-US" smtClean="0"/>
              <a:t>53</a:t>
            </a:fld>
            <a:endParaRPr lang="en-US"/>
          </a:p>
        </p:txBody>
      </p:sp>
    </p:spTree>
    <p:extLst>
      <p:ext uri="{BB962C8B-B14F-4D97-AF65-F5344CB8AC3E}">
        <p14:creationId xmlns:p14="http://schemas.microsoft.com/office/powerpoint/2010/main" val="13329866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A91ED6EC-4BA7-2445-9E03-7BE4D6B2E1C9}"/>
              </a:ext>
            </a:extLst>
          </p:cNvPr>
          <p:cNvSpPr txBox="1"/>
          <p:nvPr/>
        </p:nvSpPr>
        <p:spPr>
          <a:xfrm>
            <a:off x="2857500" y="1879092"/>
            <a:ext cx="88153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 resistive drag force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AAEFEB-2E2D-174C-8629-5EFF7BCF65D6}"/>
                  </a:ext>
                </a:extLst>
              </p:cNvPr>
              <p:cNvSpPr txBox="1"/>
              <p:nvPr/>
            </p:nvSpPr>
            <p:spPr>
              <a:xfrm>
                <a:off x="2971800" y="2417606"/>
                <a:ext cx="1918346"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𝑔</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𝑔</m:t>
                      </m:r>
                    </m:oMath>
                  </m:oMathPara>
                </a14:m>
                <a:endParaRPr lang="en-US" dirty="0"/>
              </a:p>
            </p:txBody>
          </p:sp>
        </mc:Choice>
        <mc:Fallback xmlns="">
          <p:sp>
            <p:nvSpPr>
              <p:cNvPr id="2" name="TextBox 1">
                <a:extLst>
                  <a:ext uri="{FF2B5EF4-FFF2-40B4-BE49-F238E27FC236}">
                    <a16:creationId xmlns:a16="http://schemas.microsoft.com/office/drawing/2014/main" id="{A1AAEFEB-2E2D-174C-8629-5EFF7BCF65D6}"/>
                  </a:ext>
                </a:extLst>
              </p:cNvPr>
              <p:cNvSpPr txBox="1">
                <a:spLocks noRot="1" noChangeAspect="1" noMove="1" noResize="1" noEditPoints="1" noAdjustHandles="1" noChangeArrowheads="1" noChangeShapeType="1" noTextEdit="1"/>
              </p:cNvSpPr>
              <p:nvPr/>
            </p:nvSpPr>
            <p:spPr>
              <a:xfrm>
                <a:off x="2971800" y="2417606"/>
                <a:ext cx="1918346" cy="579133"/>
              </a:xfrm>
              <a:prstGeom prst="rect">
                <a:avLst/>
              </a:prstGeom>
              <a:blipFill>
                <a:blip r:embed="rId2"/>
                <a:stretch>
                  <a:fillRect l="-2649" r="-2649" b="-106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18C6AB-37ED-CA48-AEFA-E5B2F89F1392}"/>
                  </a:ext>
                </a:extLst>
              </p:cNvPr>
              <p:cNvSpPr txBox="1"/>
              <p:nvPr/>
            </p:nvSpPr>
            <p:spPr>
              <a:xfrm>
                <a:off x="2952820" y="3251885"/>
                <a:ext cx="2109937"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𝐷</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ea typeface="Cambria Math" panose="02040503050406030204" pitchFamily="18" charset="0"/>
                        </a:rPr>
                        <m:t>𝜌</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 name="TextBox 8">
                <a:extLst>
                  <a:ext uri="{FF2B5EF4-FFF2-40B4-BE49-F238E27FC236}">
                    <a16:creationId xmlns:a16="http://schemas.microsoft.com/office/drawing/2014/main" id="{8E18C6AB-37ED-CA48-AEFA-E5B2F89F1392}"/>
                  </a:ext>
                </a:extLst>
              </p:cNvPr>
              <p:cNvSpPr txBox="1">
                <a:spLocks noRot="1" noChangeAspect="1" noMove="1" noResize="1" noEditPoints="1" noAdjustHandles="1" noChangeArrowheads="1" noChangeShapeType="1" noTextEdit="1"/>
              </p:cNvSpPr>
              <p:nvPr/>
            </p:nvSpPr>
            <p:spPr>
              <a:xfrm>
                <a:off x="2952820" y="3251885"/>
                <a:ext cx="2109937" cy="579133"/>
              </a:xfrm>
              <a:prstGeom prst="rect">
                <a:avLst/>
              </a:prstGeom>
              <a:blipFill>
                <a:blip r:embed="rId3"/>
                <a:stretch>
                  <a:fillRect l="-1198" b="-127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6122194" y="3351574"/>
                <a:ext cx="139557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𝑅𝑒</m:t>
                              </m:r>
                            </m:e>
                            <m:sub>
                              <m:r>
                                <a:rPr lang="en-US" i="1">
                                  <a:latin typeface="Cambria Math" panose="02040503050406030204" pitchFamily="18" charset="0"/>
                                </a:rPr>
                                <m:t>𝑣𝑝</m:t>
                              </m:r>
                            </m:sub>
                          </m:sSub>
                        </m:e>
                      </m:d>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6122194" y="3351574"/>
                <a:ext cx="1395575" cy="318164"/>
              </a:xfrm>
              <a:prstGeom prst="rect">
                <a:avLst/>
              </a:prstGeom>
              <a:blipFill>
                <a:blip r:embed="rId4"/>
                <a:stretch>
                  <a:fillRect l="-901"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0F5622-8BA8-7E4E-8A82-BDC9AC82A85A}"/>
                  </a:ext>
                </a:extLst>
              </p:cNvPr>
              <p:cNvSpPr txBox="1"/>
              <p:nvPr/>
            </p:nvSpPr>
            <p:spPr>
              <a:xfrm>
                <a:off x="8358266" y="3178670"/>
                <a:ext cx="1194108" cy="5177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20" name="TextBox 19">
                <a:extLst>
                  <a:ext uri="{FF2B5EF4-FFF2-40B4-BE49-F238E27FC236}">
                    <a16:creationId xmlns:a16="http://schemas.microsoft.com/office/drawing/2014/main" id="{860F5622-8BA8-7E4E-8A82-BDC9AC82A85A}"/>
                  </a:ext>
                </a:extLst>
              </p:cNvPr>
              <p:cNvSpPr txBox="1">
                <a:spLocks noRot="1" noChangeAspect="1" noMove="1" noResize="1" noEditPoints="1" noAdjustHandles="1" noChangeArrowheads="1" noChangeShapeType="1" noTextEdit="1"/>
              </p:cNvSpPr>
              <p:nvPr/>
            </p:nvSpPr>
            <p:spPr>
              <a:xfrm>
                <a:off x="8358266" y="3178670"/>
                <a:ext cx="1194108" cy="517706"/>
              </a:xfrm>
              <a:prstGeom prst="rect">
                <a:avLst/>
              </a:prstGeom>
              <a:blipFill>
                <a:blip r:embed="rId5"/>
                <a:stretch>
                  <a:fillRect l="-4211" t="-2439" r="-3158" b="-12195"/>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472F7F57-2FD0-774E-9026-860A0A11D94B}"/>
              </a:ext>
            </a:extLst>
          </p:cNvPr>
          <p:cNvSpPr txBox="1"/>
          <p:nvPr/>
        </p:nvSpPr>
        <p:spPr>
          <a:xfrm>
            <a:off x="545306" y="4434369"/>
            <a:ext cx="11101388"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Condition for equilibrium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F</a:t>
            </a:r>
            <a:r>
              <a:rPr lang="en-US" baseline="-25000" dirty="0">
                <a:latin typeface="Arial" panose="020B0604020202020204" pitchFamily="34" charset="0"/>
                <a:cs typeface="Arial" panose="020B0604020202020204" pitchFamily="34" charset="0"/>
              </a:rPr>
              <a:t>D</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E1CC6A1-CFAE-B444-A196-A261B6AEF221}"/>
                  </a:ext>
                </a:extLst>
              </p:cNvPr>
              <p:cNvSpPr txBox="1"/>
              <p:nvPr/>
            </p:nvSpPr>
            <p:spPr>
              <a:xfrm>
                <a:off x="621757" y="4963345"/>
                <a:ext cx="3170612" cy="5791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𝜌</m:t>
                      </m:r>
                      <m:r>
                        <a:rPr lang="en-US" b="0" i="1" smtClean="0">
                          <a:latin typeface="Cambria Math" panose="02040503050406030204" pitchFamily="18" charset="0"/>
                          <a:ea typeface="Cambria Math" panose="02040503050406030204" pitchFamily="18" charset="0"/>
                        </a:rPr>
                        <m:t>𝑅</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2</m:t>
                                  </m:r>
                                </m:den>
                              </m:f>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r>
                        <a:rPr lang="en-US" i="1">
                          <a:latin typeface="Cambria Math" panose="02040503050406030204" pitchFamily="18" charset="0"/>
                          <a:ea typeface="Cambria Math" panose="02040503050406030204" pitchFamily="18" charset="0"/>
                        </a:rPr>
                        <m:t>𝜌</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up>
                          <m:r>
                            <a:rPr lang="en-US" i="1">
                              <a:latin typeface="Cambria Math" panose="02040503050406030204" pitchFamily="18" charset="0"/>
                              <a:ea typeface="Cambria Math" panose="02040503050406030204" pitchFamily="18" charset="0"/>
                            </a:rPr>
                            <m:t>2</m:t>
                          </m:r>
                        </m:sup>
                      </m:sSubSup>
                      <m:r>
                        <a:rPr lang="en-US" i="1">
                          <a:latin typeface="Cambria Math" panose="02040503050406030204" pitchFamily="18" charset="0"/>
                          <a:ea typeface="Cambria Math" panose="02040503050406030204" pitchFamily="18" charset="0"/>
                        </a:rPr>
                        <m:t>𝜋</m:t>
                      </m:r>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𝐷</m:t>
                                  </m:r>
                                </m:num>
                                <m:den>
                                  <m:r>
                                    <a:rPr lang="en-US" i="1">
                                      <a:latin typeface="Cambria Math" panose="02040503050406030204" pitchFamily="18" charset="0"/>
                                      <a:ea typeface="Cambria Math" panose="02040503050406030204" pitchFamily="18" charset="0"/>
                                    </a:rPr>
                                    <m:t>2</m:t>
                                  </m:r>
                                </m:den>
                              </m:f>
                            </m:e>
                          </m:d>
                        </m:e>
                        <m:sup>
                          <m:r>
                            <a:rPr lang="en-US" i="1">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22" name="TextBox 21">
                <a:extLst>
                  <a:ext uri="{FF2B5EF4-FFF2-40B4-BE49-F238E27FC236}">
                    <a16:creationId xmlns:a16="http://schemas.microsoft.com/office/drawing/2014/main" id="{3E1CC6A1-CFAE-B444-A196-A261B6AEF221}"/>
                  </a:ext>
                </a:extLst>
              </p:cNvPr>
              <p:cNvSpPr txBox="1">
                <a:spLocks noRot="1" noChangeAspect="1" noMove="1" noResize="1" noEditPoints="1" noAdjustHandles="1" noChangeArrowheads="1" noChangeShapeType="1" noTextEdit="1"/>
              </p:cNvSpPr>
              <p:nvPr/>
            </p:nvSpPr>
            <p:spPr>
              <a:xfrm>
                <a:off x="621757" y="4963345"/>
                <a:ext cx="3170612" cy="579133"/>
              </a:xfrm>
              <a:prstGeom prst="rect">
                <a:avLst/>
              </a:prstGeom>
              <a:blipFill>
                <a:blip r:embed="rId6"/>
                <a:stretch>
                  <a:fillRect l="-1594" r="-398" b="-12766"/>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08D2186A-11B0-0745-96F1-FB727A531F89}"/>
              </a:ext>
            </a:extLst>
          </p:cNvPr>
          <p:cNvSpPr txBox="1"/>
          <p:nvPr/>
        </p:nvSpPr>
        <p:spPr>
          <a:xfrm>
            <a:off x="3824384" y="5124940"/>
            <a:ext cx="1733255"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simplifies into</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80AB671-84F6-B249-9CA5-FA10369F7D6A}"/>
                  </a:ext>
                </a:extLst>
              </p:cNvPr>
              <p:cNvSpPr txBox="1"/>
              <p:nvPr/>
            </p:nvSpPr>
            <p:spPr>
              <a:xfrm>
                <a:off x="5741043" y="4960251"/>
                <a:ext cx="1453668" cy="5193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num>
                        <m:den>
                          <m:r>
                            <a:rPr lang="en-US" b="0" i="1" smtClean="0">
                              <a:latin typeface="Cambria Math" panose="02040503050406030204" pitchFamily="18" charset="0"/>
                              <a:ea typeface="Cambria Math" panose="02040503050406030204" pitchFamily="18" charset="0"/>
                            </a:rPr>
                            <m:t>3</m:t>
                          </m:r>
                        </m:den>
                      </m:f>
                      <m:r>
                        <a:rPr lang="en-US" b="0" i="1" smtClean="0">
                          <a:latin typeface="Cambria Math" panose="02040503050406030204" pitchFamily="18" charset="0"/>
                          <a:ea typeface="Cambria Math" panose="02040503050406030204" pitchFamily="18" charset="0"/>
                        </a:rPr>
                        <m:t>𝑅</m:t>
                      </m:r>
                      <m:r>
                        <a:rPr lang="en-US" i="1">
                          <a:latin typeface="Cambria Math" panose="02040503050406030204" pitchFamily="18" charset="0"/>
                          <a:ea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up>
                          <m:r>
                            <a:rPr lang="en-US" i="1">
                              <a:latin typeface="Cambria Math" panose="02040503050406030204" pitchFamily="18" charset="0"/>
                              <a:ea typeface="Cambria Math" panose="02040503050406030204" pitchFamily="18" charset="0"/>
                            </a:rPr>
                            <m:t>2</m:t>
                          </m:r>
                        </m:sup>
                      </m:sSubSup>
                    </m:oMath>
                  </m:oMathPara>
                </a14:m>
                <a:endParaRPr lang="en-US" dirty="0"/>
              </a:p>
            </p:txBody>
          </p:sp>
        </mc:Choice>
        <mc:Fallback xmlns="">
          <p:sp>
            <p:nvSpPr>
              <p:cNvPr id="31" name="TextBox 30">
                <a:extLst>
                  <a:ext uri="{FF2B5EF4-FFF2-40B4-BE49-F238E27FC236}">
                    <a16:creationId xmlns:a16="http://schemas.microsoft.com/office/drawing/2014/main" id="{180AB671-84F6-B249-9CA5-FA10369F7D6A}"/>
                  </a:ext>
                </a:extLst>
              </p:cNvPr>
              <p:cNvSpPr txBox="1">
                <a:spLocks noRot="1" noChangeAspect="1" noMove="1" noResize="1" noEditPoints="1" noAdjustHandles="1" noChangeArrowheads="1" noChangeShapeType="1" noTextEdit="1"/>
              </p:cNvSpPr>
              <p:nvPr/>
            </p:nvSpPr>
            <p:spPr>
              <a:xfrm>
                <a:off x="5741043" y="4960251"/>
                <a:ext cx="1453668" cy="519373"/>
              </a:xfrm>
              <a:prstGeom prst="rect">
                <a:avLst/>
              </a:prstGeom>
              <a:blipFill>
                <a:blip r:embed="rId7"/>
                <a:stretch>
                  <a:fillRect l="-3478" t="-2381" r="-870" b="-11905"/>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77C80D9A-8A40-CE4E-8819-EB6E7C80ADE1}"/>
              </a:ext>
            </a:extLst>
          </p:cNvPr>
          <p:cNvSpPr txBox="1"/>
          <p:nvPr/>
        </p:nvSpPr>
        <p:spPr>
          <a:xfrm>
            <a:off x="545306" y="5933699"/>
            <a:ext cx="274320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rearranging the terms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A5F3474-51C6-A146-B8C5-0FEC7BA8CD68}"/>
                  </a:ext>
                </a:extLst>
              </p:cNvPr>
              <p:cNvSpPr txBox="1"/>
              <p:nvPr/>
            </p:nvSpPr>
            <p:spPr>
              <a:xfrm>
                <a:off x="3156404" y="5800221"/>
                <a:ext cx="2401235" cy="7015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Sub>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𝑅𝑔𝐷</m:t>
                              </m:r>
                            </m:e>
                          </m:rad>
                        </m:den>
                      </m:f>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den>
                              </m:f>
                            </m:e>
                          </m:d>
                        </m:e>
                        <m:sup>
                          <m:r>
                            <a:rPr lang="en-US" b="0" i="1" smtClean="0">
                              <a:latin typeface="Cambria Math" panose="02040503050406030204" pitchFamily="18" charset="0"/>
                              <a:ea typeface="Cambria Math" panose="02040503050406030204" pitchFamily="18" charset="0"/>
                            </a:rPr>
                            <m:t>1/2</m:t>
                          </m:r>
                        </m:sup>
                      </m:sSup>
                    </m:oMath>
                  </m:oMathPara>
                </a14:m>
                <a:endParaRPr lang="en-US" dirty="0"/>
              </a:p>
            </p:txBody>
          </p:sp>
        </mc:Choice>
        <mc:Fallback xmlns="">
          <p:sp>
            <p:nvSpPr>
              <p:cNvPr id="24" name="TextBox 23">
                <a:extLst>
                  <a:ext uri="{FF2B5EF4-FFF2-40B4-BE49-F238E27FC236}">
                    <a16:creationId xmlns:a16="http://schemas.microsoft.com/office/drawing/2014/main" id="{6A5F3474-51C6-A146-B8C5-0FEC7BA8CD68}"/>
                  </a:ext>
                </a:extLst>
              </p:cNvPr>
              <p:cNvSpPr txBox="1">
                <a:spLocks noRot="1" noChangeAspect="1" noMove="1" noResize="1" noEditPoints="1" noAdjustHandles="1" noChangeArrowheads="1" noChangeShapeType="1" noTextEdit="1"/>
              </p:cNvSpPr>
              <p:nvPr/>
            </p:nvSpPr>
            <p:spPr>
              <a:xfrm>
                <a:off x="3156404" y="5800221"/>
                <a:ext cx="2401235" cy="701539"/>
              </a:xfrm>
              <a:prstGeom prst="rect">
                <a:avLst/>
              </a:prstGeom>
              <a:blipFill>
                <a:blip r:embed="rId8"/>
                <a:stretch>
                  <a:fillRect l="-1579" t="-1754" r="-526" b="-8772"/>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E8B872DD-FE0B-D644-B9A1-5D8BA3D02D0B}"/>
              </a:ext>
            </a:extLst>
          </p:cNvPr>
          <p:cNvSpPr txBox="1"/>
          <p:nvPr/>
        </p:nvSpPr>
        <p:spPr>
          <a:xfrm>
            <a:off x="545306" y="707009"/>
            <a:ext cx="11101388" cy="70788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Let’s consider a spherical particle with diameter D, density </a:t>
            </a:r>
            <a:r>
              <a:rPr lang="en-US" sz="2000" dirty="0" err="1">
                <a:latin typeface="Symbol" pitchFamily="2" charset="2"/>
                <a:cs typeface="Arial" panose="020B0604020202020204" pitchFamily="34" charset="0"/>
              </a:rPr>
              <a:t>r</a:t>
            </a:r>
            <a:r>
              <a:rPr lang="en-US"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and fall velocity v</a:t>
            </a:r>
            <a:r>
              <a:rPr lang="en-US" baseline="-25000" dirty="0">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with R being the submerged specific gravity of the sediment and </a:t>
            </a:r>
            <a:r>
              <a:rPr lang="en-US" sz="2000" dirty="0">
                <a:latin typeface="Symbol" pitchFamily="2" charset="2"/>
                <a:cs typeface="Arial" panose="020B0604020202020204" pitchFamily="34" charset="0"/>
              </a:rPr>
              <a:t>r</a:t>
            </a:r>
            <a:r>
              <a:rPr lang="en-US" dirty="0">
                <a:latin typeface="Arial" panose="020B0604020202020204" pitchFamily="34" charset="0"/>
                <a:cs typeface="Arial" panose="020B0604020202020204" pitchFamily="34" charset="0"/>
              </a:rPr>
              <a:t> the water density </a:t>
            </a:r>
          </a:p>
        </p:txBody>
      </p:sp>
      <p:sp>
        <p:nvSpPr>
          <p:cNvPr id="26" name="TextBox 25">
            <a:extLst>
              <a:ext uri="{FF2B5EF4-FFF2-40B4-BE49-F238E27FC236}">
                <a16:creationId xmlns:a16="http://schemas.microsoft.com/office/drawing/2014/main" id="{3824A63F-C562-9440-9CDE-EB1C40736A42}"/>
              </a:ext>
            </a:extLst>
          </p:cNvPr>
          <p:cNvSpPr txBox="1"/>
          <p:nvPr/>
        </p:nvSpPr>
        <p:spPr>
          <a:xfrm>
            <a:off x="2857500" y="1479836"/>
            <a:ext cx="8815381" cy="369332"/>
          </a:xfrm>
          <a:prstGeom prst="rect">
            <a:avLst/>
          </a:prstGeom>
          <a:noFill/>
        </p:spPr>
        <p:txBody>
          <a:bodyPr wrap="square" rtlCol="0">
            <a:spAutoFit/>
          </a:bodyPr>
          <a:lstStyle/>
          <a:p>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 downstream impelling force of gravity</a:t>
            </a:r>
          </a:p>
        </p:txBody>
      </p:sp>
      <p:sp>
        <p:nvSpPr>
          <p:cNvPr id="14" name="Freeform 13">
            <a:extLst>
              <a:ext uri="{FF2B5EF4-FFF2-40B4-BE49-F238E27FC236}">
                <a16:creationId xmlns:a16="http://schemas.microsoft.com/office/drawing/2014/main" id="{DD41ACAE-5CB9-894A-8B15-ED9561EE0663}"/>
              </a:ext>
            </a:extLst>
          </p:cNvPr>
          <p:cNvSpPr/>
          <p:nvPr/>
        </p:nvSpPr>
        <p:spPr>
          <a:xfrm>
            <a:off x="5602147" y="3946968"/>
            <a:ext cx="2762484" cy="2204024"/>
          </a:xfrm>
          <a:custGeom>
            <a:avLst/>
            <a:gdLst>
              <a:gd name="connsiteX0" fmla="*/ 0 w 2762484"/>
              <a:gd name="connsiteY0" fmla="*/ 2326511 h 2326511"/>
              <a:gd name="connsiteX1" fmla="*/ 2685326 w 2762484"/>
              <a:gd name="connsiteY1" fmla="*/ 1805651 h 2326511"/>
              <a:gd name="connsiteX2" fmla="*/ 1770926 w 2762484"/>
              <a:gd name="connsiteY2" fmla="*/ 0 h 2326511"/>
            </a:gdLst>
            <a:ahLst/>
            <a:cxnLst>
              <a:cxn ang="0">
                <a:pos x="connsiteX0" y="connsiteY0"/>
              </a:cxn>
              <a:cxn ang="0">
                <a:pos x="connsiteX1" y="connsiteY1"/>
              </a:cxn>
              <a:cxn ang="0">
                <a:pos x="connsiteX2" y="connsiteY2"/>
              </a:cxn>
            </a:cxnLst>
            <a:rect l="l" t="t" r="r" b="b"/>
            <a:pathLst>
              <a:path w="2762484" h="2326511">
                <a:moveTo>
                  <a:pt x="0" y="2326511"/>
                </a:moveTo>
                <a:cubicBezTo>
                  <a:pt x="1195086" y="2259957"/>
                  <a:pt x="2390172" y="2193403"/>
                  <a:pt x="2685326" y="1805651"/>
                </a:cubicBezTo>
                <a:cubicBezTo>
                  <a:pt x="2980480" y="1417899"/>
                  <a:pt x="2375703" y="708949"/>
                  <a:pt x="1770926" y="0"/>
                </a:cubicBezTo>
              </a:path>
            </a:pathLst>
          </a:custGeom>
          <a:noFill/>
          <a:ln w="25400">
            <a:solidFill>
              <a:srgbClr val="FF0000"/>
            </a:solidFill>
            <a:headEnd type="none"/>
            <a:tailEnd type="non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9B22C86-C05C-7246-BA37-4E37474616E5}"/>
              </a:ext>
            </a:extLst>
          </p:cNvPr>
          <p:cNvSpPr txBox="1"/>
          <p:nvPr/>
        </p:nvSpPr>
        <p:spPr>
          <a:xfrm>
            <a:off x="9302558" y="4131670"/>
            <a:ext cx="2483032"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want to find a relation to express fall velocity as a function of sediment and fluid properties</a:t>
            </a:r>
          </a:p>
        </p:txBody>
      </p:sp>
      <p:sp>
        <p:nvSpPr>
          <p:cNvPr id="3" name="Slide Number Placeholder 2">
            <a:extLst>
              <a:ext uri="{FF2B5EF4-FFF2-40B4-BE49-F238E27FC236}">
                <a16:creationId xmlns:a16="http://schemas.microsoft.com/office/drawing/2014/main" id="{517F6CA6-575E-B10C-6611-DDEAB6665F33}"/>
              </a:ext>
            </a:extLst>
          </p:cNvPr>
          <p:cNvSpPr>
            <a:spLocks noGrp="1"/>
          </p:cNvSpPr>
          <p:nvPr>
            <p:ph type="sldNum" sz="quarter" idx="12"/>
          </p:nvPr>
        </p:nvSpPr>
        <p:spPr/>
        <p:txBody>
          <a:bodyPr/>
          <a:lstStyle/>
          <a:p>
            <a:fld id="{2386C454-E1BD-5A43-901A-CA4ACC7380B7}" type="slidenum">
              <a:rPr lang="en-US" smtClean="0"/>
              <a:t>54</a:t>
            </a:fld>
            <a:endParaRPr lang="en-US"/>
          </a:p>
        </p:txBody>
      </p:sp>
    </p:spTree>
    <p:extLst>
      <p:ext uri="{BB962C8B-B14F-4D97-AF65-F5344CB8AC3E}">
        <p14:creationId xmlns:p14="http://schemas.microsoft.com/office/powerpoint/2010/main" val="22633460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5587814" y="1281012"/>
                <a:ext cx="139557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𝑅𝑒</m:t>
                              </m:r>
                            </m:e>
                            <m:sub>
                              <m:r>
                                <a:rPr lang="en-US" i="1">
                                  <a:latin typeface="Cambria Math" panose="02040503050406030204" pitchFamily="18" charset="0"/>
                                </a:rPr>
                                <m:t>𝑣𝑝</m:t>
                              </m:r>
                            </m:sub>
                          </m:sSub>
                        </m:e>
                      </m:d>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5587814" y="1281012"/>
                <a:ext cx="1395575" cy="318164"/>
              </a:xfrm>
              <a:prstGeom prst="rect">
                <a:avLst/>
              </a:prstGeom>
              <a:blipFill>
                <a:blip r:embed="rId2"/>
                <a:stretch>
                  <a:fillRect l="-2703"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0734396-AF89-DDBD-C6A5-3ED3DBEDCC5D}"/>
                  </a:ext>
                </a:extLst>
              </p:cNvPr>
              <p:cNvSpPr txBox="1"/>
              <p:nvPr/>
            </p:nvSpPr>
            <p:spPr>
              <a:xfrm>
                <a:off x="2508222" y="1089325"/>
                <a:ext cx="2401235" cy="7015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Sub>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𝑅𝑔𝐷</m:t>
                              </m:r>
                            </m:e>
                          </m:rad>
                        </m:den>
                      </m:f>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den>
                              </m:f>
                            </m:e>
                          </m:d>
                        </m:e>
                        <m:sup>
                          <m:r>
                            <a:rPr lang="en-US" b="0" i="1" smtClean="0">
                              <a:latin typeface="Cambria Math" panose="02040503050406030204" pitchFamily="18" charset="0"/>
                              <a:ea typeface="Cambria Math" panose="02040503050406030204" pitchFamily="18" charset="0"/>
                            </a:rPr>
                            <m:t>1/2</m:t>
                          </m:r>
                        </m:sup>
                      </m:sSup>
                    </m:oMath>
                  </m:oMathPara>
                </a14:m>
                <a:endParaRPr lang="en-US" dirty="0"/>
              </a:p>
            </p:txBody>
          </p:sp>
        </mc:Choice>
        <mc:Fallback xmlns="">
          <p:sp>
            <p:nvSpPr>
              <p:cNvPr id="2" name="TextBox 1">
                <a:extLst>
                  <a:ext uri="{FF2B5EF4-FFF2-40B4-BE49-F238E27FC236}">
                    <a16:creationId xmlns:a16="http://schemas.microsoft.com/office/drawing/2014/main" id="{B0734396-AF89-DDBD-C6A5-3ED3DBEDCC5D}"/>
                  </a:ext>
                </a:extLst>
              </p:cNvPr>
              <p:cNvSpPr txBox="1">
                <a:spLocks noRot="1" noChangeAspect="1" noMove="1" noResize="1" noEditPoints="1" noAdjustHandles="1" noChangeArrowheads="1" noChangeShapeType="1" noTextEdit="1"/>
              </p:cNvSpPr>
              <p:nvPr/>
            </p:nvSpPr>
            <p:spPr>
              <a:xfrm>
                <a:off x="2508222" y="1089325"/>
                <a:ext cx="2401235" cy="701539"/>
              </a:xfrm>
              <a:prstGeom prst="rect">
                <a:avLst/>
              </a:prstGeom>
              <a:blipFill>
                <a:blip r:embed="rId3"/>
                <a:stretch>
                  <a:fillRect l="-1579" t="-1754" r="-526" b="-87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D0BF9B-8AEF-2E6C-A7C6-20E3CB40CE49}"/>
                  </a:ext>
                </a:extLst>
              </p:cNvPr>
              <p:cNvSpPr txBox="1"/>
              <p:nvPr/>
            </p:nvSpPr>
            <p:spPr>
              <a:xfrm>
                <a:off x="2732970" y="2367534"/>
                <a:ext cx="2955040" cy="710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Sub>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den>
                      </m:f>
                      <m:f>
                        <m:fPr>
                          <m:ctrlPr>
                            <a:rPr lang="en-US" i="1" smtClean="0">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r>
                            <a:rPr lang="en-US" b="0" i="1" smtClean="0">
                              <a:latin typeface="Cambria Math" panose="02040503050406030204" pitchFamily="18" charset="0"/>
                              <a:ea typeface="Cambria Math" panose="02040503050406030204" pitchFamily="18" charset="0"/>
                            </a:rPr>
                            <m:t>𝐷</m:t>
                          </m:r>
                        </m:num>
                        <m:den>
                          <m:r>
                            <a:rPr lang="en-US" i="1" smtClean="0">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3" name="TextBox 2">
                <a:extLst>
                  <a:ext uri="{FF2B5EF4-FFF2-40B4-BE49-F238E27FC236}">
                    <a16:creationId xmlns:a16="http://schemas.microsoft.com/office/drawing/2014/main" id="{6DD0BF9B-8AEF-2E6C-A7C6-20E3CB40CE49}"/>
                  </a:ext>
                </a:extLst>
              </p:cNvPr>
              <p:cNvSpPr txBox="1">
                <a:spLocks noRot="1" noChangeAspect="1" noMove="1" noResize="1" noEditPoints="1" noAdjustHandles="1" noChangeArrowheads="1" noChangeShapeType="1" noTextEdit="1"/>
              </p:cNvSpPr>
              <p:nvPr/>
            </p:nvSpPr>
            <p:spPr>
              <a:xfrm>
                <a:off x="2732970" y="2367534"/>
                <a:ext cx="2955040" cy="710644"/>
              </a:xfrm>
              <a:prstGeom prst="rect">
                <a:avLst/>
              </a:prstGeom>
              <a:blipFill>
                <a:blip r:embed="rId4"/>
                <a:stretch>
                  <a:fillRect l="-1288" r="-1288" b="-10526"/>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D669B4A1-BFF8-2761-1CE0-27170FE99C08}"/>
              </a:ext>
            </a:extLst>
          </p:cNvPr>
          <p:cNvSpPr>
            <a:spLocks noGrp="1"/>
          </p:cNvSpPr>
          <p:nvPr>
            <p:ph type="sldNum" sz="quarter" idx="12"/>
          </p:nvPr>
        </p:nvSpPr>
        <p:spPr/>
        <p:txBody>
          <a:bodyPr/>
          <a:lstStyle/>
          <a:p>
            <a:fld id="{2386C454-E1BD-5A43-901A-CA4ACC7380B7}" type="slidenum">
              <a:rPr lang="en-US" smtClean="0"/>
              <a:t>55</a:t>
            </a:fld>
            <a:endParaRPr lang="en-US"/>
          </a:p>
        </p:txBody>
      </p:sp>
    </p:spTree>
    <p:extLst>
      <p:ext uri="{BB962C8B-B14F-4D97-AF65-F5344CB8AC3E}">
        <p14:creationId xmlns:p14="http://schemas.microsoft.com/office/powerpoint/2010/main" val="10673121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5587814" y="1281012"/>
                <a:ext cx="139557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𝑅𝑒</m:t>
                              </m:r>
                            </m:e>
                            <m:sub>
                              <m:r>
                                <a:rPr lang="en-US" i="1">
                                  <a:latin typeface="Cambria Math" panose="02040503050406030204" pitchFamily="18" charset="0"/>
                                </a:rPr>
                                <m:t>𝑣𝑝</m:t>
                              </m:r>
                            </m:sub>
                          </m:sSub>
                        </m:e>
                      </m:d>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5587814" y="1281012"/>
                <a:ext cx="1395575" cy="318164"/>
              </a:xfrm>
              <a:prstGeom prst="rect">
                <a:avLst/>
              </a:prstGeom>
              <a:blipFill>
                <a:blip r:embed="rId2"/>
                <a:stretch>
                  <a:fillRect l="-2703"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0F5622-8BA8-7E4E-8A82-BDC9AC82A85A}"/>
                  </a:ext>
                </a:extLst>
              </p:cNvPr>
              <p:cNvSpPr txBox="1"/>
              <p:nvPr/>
            </p:nvSpPr>
            <p:spPr>
              <a:xfrm>
                <a:off x="2687705" y="2367534"/>
                <a:ext cx="3927357" cy="710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Sub>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den>
                      </m:f>
                      <m:f>
                        <m:fPr>
                          <m:ctrlPr>
                            <a:rPr lang="en-US" i="1" smtClean="0">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r>
                            <a:rPr lang="en-US" b="0" i="1" smtClean="0">
                              <a:latin typeface="Cambria Math" panose="02040503050406030204" pitchFamily="18" charset="0"/>
                              <a:ea typeface="Cambria Math" panose="02040503050406030204" pitchFamily="18" charset="0"/>
                            </a:rPr>
                            <m:t>𝐷</m:t>
                          </m:r>
                        </m:num>
                        <m:den>
                          <m:r>
                            <a:rPr lang="en-US" i="1" smtClean="0">
                              <a:latin typeface="Cambria Math" panose="02040503050406030204" pitchFamily="18" charset="0"/>
                              <a:ea typeface="Cambria Math" panose="02040503050406030204" pitchFamily="18" charset="0"/>
                            </a:rPr>
                            <m:t>𝜈</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𝑅𝑒</m:t>
                          </m:r>
                        </m:e>
                        <m:sub>
                          <m:r>
                            <a:rPr lang="en-US" b="0" i="1" smtClean="0">
                              <a:latin typeface="Cambria Math" panose="02040503050406030204" pitchFamily="18" charset="0"/>
                              <a:ea typeface="Cambria Math" panose="02040503050406030204" pitchFamily="18" charset="0"/>
                            </a:rPr>
                            <m:t>𝑝</m:t>
                          </m:r>
                        </m:sub>
                      </m:sSub>
                    </m:oMath>
                  </m:oMathPara>
                </a14:m>
                <a:endParaRPr lang="en-US" dirty="0"/>
              </a:p>
            </p:txBody>
          </p:sp>
        </mc:Choice>
        <mc:Fallback xmlns="">
          <p:sp>
            <p:nvSpPr>
              <p:cNvPr id="20" name="TextBox 19">
                <a:extLst>
                  <a:ext uri="{FF2B5EF4-FFF2-40B4-BE49-F238E27FC236}">
                    <a16:creationId xmlns:a16="http://schemas.microsoft.com/office/drawing/2014/main" id="{860F5622-8BA8-7E4E-8A82-BDC9AC82A85A}"/>
                  </a:ext>
                </a:extLst>
              </p:cNvPr>
              <p:cNvSpPr txBox="1">
                <a:spLocks noRot="1" noChangeAspect="1" noMove="1" noResize="1" noEditPoints="1" noAdjustHandles="1" noChangeArrowheads="1" noChangeShapeType="1" noTextEdit="1"/>
              </p:cNvSpPr>
              <p:nvPr/>
            </p:nvSpPr>
            <p:spPr>
              <a:xfrm>
                <a:off x="2687705" y="2367534"/>
                <a:ext cx="3927357" cy="71064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A5F3474-51C6-A146-B8C5-0FEC7BA8CD68}"/>
                  </a:ext>
                </a:extLst>
              </p:cNvPr>
              <p:cNvSpPr txBox="1"/>
              <p:nvPr/>
            </p:nvSpPr>
            <p:spPr>
              <a:xfrm>
                <a:off x="2508222" y="1089325"/>
                <a:ext cx="2401235" cy="7015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Sub>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𝑅𝑔𝐷</m:t>
                              </m:r>
                            </m:e>
                          </m:rad>
                        </m:den>
                      </m:f>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den>
                              </m:f>
                            </m:e>
                          </m:d>
                        </m:e>
                        <m:sup>
                          <m:r>
                            <a:rPr lang="en-US" b="0" i="1" smtClean="0">
                              <a:latin typeface="Cambria Math" panose="02040503050406030204" pitchFamily="18" charset="0"/>
                              <a:ea typeface="Cambria Math" panose="02040503050406030204" pitchFamily="18" charset="0"/>
                            </a:rPr>
                            <m:t>1/2</m:t>
                          </m:r>
                        </m:sup>
                      </m:sSup>
                    </m:oMath>
                  </m:oMathPara>
                </a14:m>
                <a:endParaRPr lang="en-US" dirty="0"/>
              </a:p>
            </p:txBody>
          </p:sp>
        </mc:Choice>
        <mc:Fallback xmlns="">
          <p:sp>
            <p:nvSpPr>
              <p:cNvPr id="24" name="TextBox 23">
                <a:extLst>
                  <a:ext uri="{FF2B5EF4-FFF2-40B4-BE49-F238E27FC236}">
                    <a16:creationId xmlns:a16="http://schemas.microsoft.com/office/drawing/2014/main" id="{6A5F3474-51C6-A146-B8C5-0FEC7BA8CD68}"/>
                  </a:ext>
                </a:extLst>
              </p:cNvPr>
              <p:cNvSpPr txBox="1">
                <a:spLocks noRot="1" noChangeAspect="1" noMove="1" noResize="1" noEditPoints="1" noAdjustHandles="1" noChangeArrowheads="1" noChangeShapeType="1" noTextEdit="1"/>
              </p:cNvSpPr>
              <p:nvPr/>
            </p:nvSpPr>
            <p:spPr>
              <a:xfrm>
                <a:off x="2508222" y="1089325"/>
                <a:ext cx="2401235" cy="701539"/>
              </a:xfrm>
              <a:prstGeom prst="rect">
                <a:avLst/>
              </a:prstGeom>
              <a:blipFill>
                <a:blip r:embed="rId4"/>
                <a:stretch>
                  <a:fillRect l="-1579" t="-1754" r="-526" b="-8772"/>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5563F10-4C26-9846-B08D-B54A6790F320}"/>
              </a:ext>
            </a:extLst>
          </p:cNvPr>
          <p:cNvSpPr txBox="1"/>
          <p:nvPr/>
        </p:nvSpPr>
        <p:spPr>
          <a:xfrm>
            <a:off x="7924896" y="1819840"/>
            <a:ext cx="411460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a:t>
            </a:r>
            <a:r>
              <a:rPr lang="en-US" baseline="-25000"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 particle Reynolds number</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E0D4C2E0-D952-BB4B-8123-EB3A06A0B6E6}"/>
                  </a:ext>
                </a:extLst>
              </p:cNvPr>
              <p:cNvSpPr/>
              <p:nvPr/>
            </p:nvSpPr>
            <p:spPr>
              <a:xfrm>
                <a:off x="8610600" y="2305196"/>
                <a:ext cx="1704954"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𝑅𝑒</m:t>
                          </m:r>
                        </m:e>
                        <m:sub>
                          <m:r>
                            <a:rPr lang="en-US" b="0" i="1" smtClean="0">
                              <a:latin typeface="Cambria Math" panose="02040503050406030204" pitchFamily="18" charset="0"/>
                              <a:ea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r>
                            <a:rPr lang="en-US" i="1">
                              <a:latin typeface="Cambria Math" panose="02040503050406030204" pitchFamily="18" charset="0"/>
                              <a:ea typeface="Cambria Math" panose="02040503050406030204" pitchFamily="18" charset="0"/>
                            </a:rPr>
                            <m:t>𝐷</m:t>
                          </m:r>
                        </m:num>
                        <m:den>
                          <m:r>
                            <a:rPr lang="en-US" i="1">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2" name="Rectangle 1">
                <a:extLst>
                  <a:ext uri="{FF2B5EF4-FFF2-40B4-BE49-F238E27FC236}">
                    <a16:creationId xmlns:a16="http://schemas.microsoft.com/office/drawing/2014/main" id="{E0D4C2E0-D952-BB4B-8123-EB3A06A0B6E6}"/>
                  </a:ext>
                </a:extLst>
              </p:cNvPr>
              <p:cNvSpPr>
                <a:spLocks noRot="1" noChangeAspect="1" noMove="1" noResize="1" noEditPoints="1" noAdjustHandles="1" noChangeArrowheads="1" noChangeShapeType="1" noTextEdit="1"/>
              </p:cNvSpPr>
              <p:nvPr/>
            </p:nvSpPr>
            <p:spPr>
              <a:xfrm>
                <a:off x="8610600" y="2305196"/>
                <a:ext cx="1704954" cy="685829"/>
              </a:xfrm>
              <a:prstGeom prst="rect">
                <a:avLst/>
              </a:prstGeom>
              <a:blipFill>
                <a:blip r:embed="rId5"/>
                <a:stretch>
                  <a:fillRect/>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E698C57F-71B6-C030-1F9C-25C07201EAF2}"/>
              </a:ext>
            </a:extLst>
          </p:cNvPr>
          <p:cNvSpPr>
            <a:spLocks noGrp="1"/>
          </p:cNvSpPr>
          <p:nvPr>
            <p:ph type="sldNum" sz="quarter" idx="12"/>
          </p:nvPr>
        </p:nvSpPr>
        <p:spPr/>
        <p:txBody>
          <a:bodyPr/>
          <a:lstStyle/>
          <a:p>
            <a:fld id="{2386C454-E1BD-5A43-901A-CA4ACC7380B7}" type="slidenum">
              <a:rPr lang="en-US" smtClean="0"/>
              <a:t>56</a:t>
            </a:fld>
            <a:endParaRPr lang="en-US"/>
          </a:p>
        </p:txBody>
      </p:sp>
    </p:spTree>
    <p:extLst>
      <p:ext uri="{BB962C8B-B14F-4D97-AF65-F5344CB8AC3E}">
        <p14:creationId xmlns:p14="http://schemas.microsoft.com/office/powerpoint/2010/main" val="32305495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5587814" y="1281012"/>
                <a:ext cx="139557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𝑅𝑒</m:t>
                              </m:r>
                            </m:e>
                            <m:sub>
                              <m:r>
                                <a:rPr lang="en-US" i="1">
                                  <a:latin typeface="Cambria Math" panose="02040503050406030204" pitchFamily="18" charset="0"/>
                                </a:rPr>
                                <m:t>𝑣𝑝</m:t>
                              </m:r>
                            </m:sub>
                          </m:sSub>
                        </m:e>
                      </m:d>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5587814" y="1281012"/>
                <a:ext cx="1395575" cy="318164"/>
              </a:xfrm>
              <a:prstGeom prst="rect">
                <a:avLst/>
              </a:prstGeom>
              <a:blipFill>
                <a:blip r:embed="rId2"/>
                <a:stretch>
                  <a:fillRect l="-2703"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0F5622-8BA8-7E4E-8A82-BDC9AC82A85A}"/>
                  </a:ext>
                </a:extLst>
              </p:cNvPr>
              <p:cNvSpPr txBox="1"/>
              <p:nvPr/>
            </p:nvSpPr>
            <p:spPr>
              <a:xfrm>
                <a:off x="2732970" y="2367534"/>
                <a:ext cx="3927357" cy="710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Sub>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den>
                      </m:f>
                      <m:f>
                        <m:fPr>
                          <m:ctrlPr>
                            <a:rPr lang="en-US" i="1" smtClean="0">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r>
                            <a:rPr lang="en-US" b="0" i="1" smtClean="0">
                              <a:latin typeface="Cambria Math" panose="02040503050406030204" pitchFamily="18" charset="0"/>
                              <a:ea typeface="Cambria Math" panose="02040503050406030204" pitchFamily="18" charset="0"/>
                            </a:rPr>
                            <m:t>𝐷</m:t>
                          </m:r>
                        </m:num>
                        <m:den>
                          <m:r>
                            <a:rPr lang="en-US" i="1" smtClean="0">
                              <a:latin typeface="Cambria Math" panose="02040503050406030204" pitchFamily="18" charset="0"/>
                              <a:ea typeface="Cambria Math" panose="02040503050406030204" pitchFamily="18" charset="0"/>
                            </a:rPr>
                            <m:t>𝜈</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𝑅𝑒</m:t>
                          </m:r>
                        </m:e>
                        <m:sub>
                          <m:r>
                            <a:rPr lang="en-US" b="0" i="1" smtClean="0">
                              <a:latin typeface="Cambria Math" panose="02040503050406030204" pitchFamily="18" charset="0"/>
                              <a:ea typeface="Cambria Math" panose="02040503050406030204" pitchFamily="18" charset="0"/>
                            </a:rPr>
                            <m:t>𝑝</m:t>
                          </m:r>
                        </m:sub>
                      </m:sSub>
                    </m:oMath>
                  </m:oMathPara>
                </a14:m>
                <a:endParaRPr lang="en-US" dirty="0"/>
              </a:p>
            </p:txBody>
          </p:sp>
        </mc:Choice>
        <mc:Fallback xmlns="">
          <p:sp>
            <p:nvSpPr>
              <p:cNvPr id="20" name="TextBox 19">
                <a:extLst>
                  <a:ext uri="{FF2B5EF4-FFF2-40B4-BE49-F238E27FC236}">
                    <a16:creationId xmlns:a16="http://schemas.microsoft.com/office/drawing/2014/main" id="{860F5622-8BA8-7E4E-8A82-BDC9AC82A85A}"/>
                  </a:ext>
                </a:extLst>
              </p:cNvPr>
              <p:cNvSpPr txBox="1">
                <a:spLocks noRot="1" noChangeAspect="1" noMove="1" noResize="1" noEditPoints="1" noAdjustHandles="1" noChangeArrowheads="1" noChangeShapeType="1" noTextEdit="1"/>
              </p:cNvSpPr>
              <p:nvPr/>
            </p:nvSpPr>
            <p:spPr>
              <a:xfrm>
                <a:off x="2732970" y="2367534"/>
                <a:ext cx="3927357" cy="710644"/>
              </a:xfrm>
              <a:prstGeom prst="rect">
                <a:avLst/>
              </a:prstGeom>
              <a:blipFill>
                <a:blip r:embed="rId3"/>
                <a:stretch>
                  <a:fillRect l="-323"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A5F3474-51C6-A146-B8C5-0FEC7BA8CD68}"/>
                  </a:ext>
                </a:extLst>
              </p:cNvPr>
              <p:cNvSpPr txBox="1"/>
              <p:nvPr/>
            </p:nvSpPr>
            <p:spPr>
              <a:xfrm>
                <a:off x="2508222" y="1089325"/>
                <a:ext cx="2401235" cy="7015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Sub>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𝑅𝑔𝐷</m:t>
                              </m:r>
                            </m:e>
                          </m:rad>
                        </m:den>
                      </m:f>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den>
                              </m:f>
                            </m:e>
                          </m:d>
                        </m:e>
                        <m:sup>
                          <m:r>
                            <a:rPr lang="en-US" b="0" i="1" smtClean="0">
                              <a:latin typeface="Cambria Math" panose="02040503050406030204" pitchFamily="18" charset="0"/>
                              <a:ea typeface="Cambria Math" panose="02040503050406030204" pitchFamily="18" charset="0"/>
                            </a:rPr>
                            <m:t>1/2</m:t>
                          </m:r>
                        </m:sup>
                      </m:sSup>
                    </m:oMath>
                  </m:oMathPara>
                </a14:m>
                <a:endParaRPr lang="en-US" dirty="0"/>
              </a:p>
            </p:txBody>
          </p:sp>
        </mc:Choice>
        <mc:Fallback xmlns="">
          <p:sp>
            <p:nvSpPr>
              <p:cNvPr id="24" name="TextBox 23">
                <a:extLst>
                  <a:ext uri="{FF2B5EF4-FFF2-40B4-BE49-F238E27FC236}">
                    <a16:creationId xmlns:a16="http://schemas.microsoft.com/office/drawing/2014/main" id="{6A5F3474-51C6-A146-B8C5-0FEC7BA8CD68}"/>
                  </a:ext>
                </a:extLst>
              </p:cNvPr>
              <p:cNvSpPr txBox="1">
                <a:spLocks noRot="1" noChangeAspect="1" noMove="1" noResize="1" noEditPoints="1" noAdjustHandles="1" noChangeArrowheads="1" noChangeShapeType="1" noTextEdit="1"/>
              </p:cNvSpPr>
              <p:nvPr/>
            </p:nvSpPr>
            <p:spPr>
              <a:xfrm>
                <a:off x="2508222" y="1089325"/>
                <a:ext cx="2401235" cy="701539"/>
              </a:xfrm>
              <a:prstGeom prst="rect">
                <a:avLst/>
              </a:prstGeom>
              <a:blipFill>
                <a:blip r:embed="rId4"/>
                <a:stretch>
                  <a:fillRect l="-1579" t="-1754" r="-526" b="-8772"/>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5563F10-4C26-9846-B08D-B54A6790F320}"/>
              </a:ext>
            </a:extLst>
          </p:cNvPr>
          <p:cNvSpPr txBox="1"/>
          <p:nvPr/>
        </p:nvSpPr>
        <p:spPr>
          <a:xfrm>
            <a:off x="7924896" y="1819840"/>
            <a:ext cx="411460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a:t>
            </a:r>
            <a:r>
              <a:rPr lang="en-US" baseline="-25000"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 particle Reynolds number</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E0D4C2E0-D952-BB4B-8123-EB3A06A0B6E6}"/>
                  </a:ext>
                </a:extLst>
              </p:cNvPr>
              <p:cNvSpPr/>
              <p:nvPr/>
            </p:nvSpPr>
            <p:spPr>
              <a:xfrm>
                <a:off x="8610600" y="2305196"/>
                <a:ext cx="1704954"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𝑅𝑒</m:t>
                          </m:r>
                        </m:e>
                        <m:sub>
                          <m:r>
                            <a:rPr lang="en-US" b="0" i="1" smtClean="0">
                              <a:latin typeface="Cambria Math" panose="02040503050406030204" pitchFamily="18" charset="0"/>
                              <a:ea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r>
                            <a:rPr lang="en-US" i="1">
                              <a:latin typeface="Cambria Math" panose="02040503050406030204" pitchFamily="18" charset="0"/>
                              <a:ea typeface="Cambria Math" panose="02040503050406030204" pitchFamily="18" charset="0"/>
                            </a:rPr>
                            <m:t>𝐷</m:t>
                          </m:r>
                        </m:num>
                        <m:den>
                          <m:r>
                            <a:rPr lang="en-US" i="1">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2" name="Rectangle 1">
                <a:extLst>
                  <a:ext uri="{FF2B5EF4-FFF2-40B4-BE49-F238E27FC236}">
                    <a16:creationId xmlns:a16="http://schemas.microsoft.com/office/drawing/2014/main" id="{E0D4C2E0-D952-BB4B-8123-EB3A06A0B6E6}"/>
                  </a:ext>
                </a:extLst>
              </p:cNvPr>
              <p:cNvSpPr>
                <a:spLocks noRot="1" noChangeAspect="1" noMove="1" noResize="1" noEditPoints="1" noAdjustHandles="1" noChangeArrowheads="1" noChangeShapeType="1" noTextEdit="1"/>
              </p:cNvSpPr>
              <p:nvPr/>
            </p:nvSpPr>
            <p:spPr>
              <a:xfrm>
                <a:off x="8610600" y="2305196"/>
                <a:ext cx="1704954" cy="685829"/>
              </a:xfrm>
              <a:prstGeom prst="rect">
                <a:avLst/>
              </a:prstGeom>
              <a:blipFill>
                <a:blip r:embed="rId5"/>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C5CA9EB-D460-4447-99B8-97F654262B76}"/>
              </a:ext>
            </a:extLst>
          </p:cNvPr>
          <p:cNvSpPr txBox="1"/>
          <p:nvPr/>
        </p:nvSpPr>
        <p:spPr>
          <a:xfrm>
            <a:off x="2639345" y="3400750"/>
            <a:ext cx="59712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found a relation between the particle fall velocity and the properties of the particle and of the fluid</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7EDDE95-AD4D-3444-B329-AE2419CA49EB}"/>
                  </a:ext>
                </a:extLst>
              </p:cNvPr>
              <p:cNvSpPr txBox="1"/>
              <p:nvPr/>
            </p:nvSpPr>
            <p:spPr>
              <a:xfrm>
                <a:off x="8629964" y="3281102"/>
                <a:ext cx="3371179" cy="7129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d>
                                    <m:dPr>
                                      <m:ctrlPr>
                                        <a:rPr lang="en-US" i="1" smtClean="0">
                                          <a:latin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𝑓</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den>
                              </m:f>
                            </m:e>
                          </m:d>
                        </m:e>
                        <m:sup>
                          <m:r>
                            <a:rPr lang="en-US" b="0" i="1" smtClean="0">
                              <a:latin typeface="Cambria Math" panose="02040503050406030204" pitchFamily="18" charset="0"/>
                              <a:ea typeface="Cambria Math" panose="02040503050406030204" pitchFamily="18" charset="0"/>
                            </a:rPr>
                            <m:t>1/2</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oMath>
                  </m:oMathPara>
                </a14:m>
                <a:endParaRPr lang="en-US" dirty="0"/>
              </a:p>
            </p:txBody>
          </p:sp>
        </mc:Choice>
        <mc:Fallback xmlns="">
          <p:sp>
            <p:nvSpPr>
              <p:cNvPr id="15" name="TextBox 14">
                <a:extLst>
                  <a:ext uri="{FF2B5EF4-FFF2-40B4-BE49-F238E27FC236}">
                    <a16:creationId xmlns:a16="http://schemas.microsoft.com/office/drawing/2014/main" id="{47EDDE95-AD4D-3444-B329-AE2419CA49EB}"/>
                  </a:ext>
                </a:extLst>
              </p:cNvPr>
              <p:cNvSpPr txBox="1">
                <a:spLocks noRot="1" noChangeAspect="1" noMove="1" noResize="1" noEditPoints="1" noAdjustHandles="1" noChangeArrowheads="1" noChangeShapeType="1" noTextEdit="1"/>
              </p:cNvSpPr>
              <p:nvPr/>
            </p:nvSpPr>
            <p:spPr>
              <a:xfrm>
                <a:off x="8629964" y="3281102"/>
                <a:ext cx="3371179" cy="712952"/>
              </a:xfrm>
              <a:prstGeom prst="rect">
                <a:avLst/>
              </a:prstGeom>
              <a:blipFill>
                <a:blip r:embed="rId6"/>
                <a:stretch>
                  <a:fillRect l="-1124" b="-8772"/>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C3DEF30D-302F-A342-81C4-1E7BA4FB62CD}"/>
              </a:ext>
            </a:extLst>
          </p:cNvPr>
          <p:cNvSpPr txBox="1"/>
          <p:nvPr/>
        </p:nvSpPr>
        <p:spPr>
          <a:xfrm>
            <a:off x="289711" y="4311813"/>
            <a:ext cx="11686795"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Relation by Dietrich (1982) without correction for particle shape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5D47FA6-A078-F441-9E91-E25036395DA5}"/>
                  </a:ext>
                </a:extLst>
              </p:cNvPr>
              <p:cNvSpPr txBox="1"/>
              <p:nvPr/>
            </p:nvSpPr>
            <p:spPr>
              <a:xfrm>
                <a:off x="297843" y="5238002"/>
                <a:ext cx="7566110" cy="4170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𝑒𝑥𝑝</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𝑙𝑛</m:t>
                          </m:r>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3</m:t>
                              </m:r>
                            </m:sub>
                          </m:sSub>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𝑙𝑛</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4</m:t>
                              </m:r>
                            </m:sub>
                          </m:sSub>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𝑙𝑛</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5</m:t>
                              </m:r>
                            </m:sub>
                          </m:sSub>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𝑙𝑛</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e>
                              </m:d>
                            </m:e>
                            <m:sup>
                              <m:r>
                                <a:rPr lang="en-US" b="0" i="1" smtClean="0">
                                  <a:latin typeface="Cambria Math" panose="02040503050406030204" pitchFamily="18" charset="0"/>
                                  <a:ea typeface="Cambria Math" panose="02040503050406030204" pitchFamily="18" charset="0"/>
                                </a:rPr>
                                <m:t>4</m:t>
                              </m:r>
                            </m:sup>
                          </m:sSup>
                        </m:e>
                      </m:d>
                    </m:oMath>
                  </m:oMathPara>
                </a14:m>
                <a:endParaRPr lang="en-US" dirty="0"/>
              </a:p>
            </p:txBody>
          </p:sp>
        </mc:Choice>
        <mc:Fallback xmlns="">
          <p:sp>
            <p:nvSpPr>
              <p:cNvPr id="17" name="TextBox 16">
                <a:extLst>
                  <a:ext uri="{FF2B5EF4-FFF2-40B4-BE49-F238E27FC236}">
                    <a16:creationId xmlns:a16="http://schemas.microsoft.com/office/drawing/2014/main" id="{45D47FA6-A078-F441-9E91-E25036395DA5}"/>
                  </a:ext>
                </a:extLst>
              </p:cNvPr>
              <p:cNvSpPr txBox="1">
                <a:spLocks noRot="1" noChangeAspect="1" noMove="1" noResize="1" noEditPoints="1" noAdjustHandles="1" noChangeArrowheads="1" noChangeShapeType="1" noTextEdit="1"/>
              </p:cNvSpPr>
              <p:nvPr/>
            </p:nvSpPr>
            <p:spPr>
              <a:xfrm>
                <a:off x="297843" y="5238002"/>
                <a:ext cx="7566110" cy="417037"/>
              </a:xfrm>
              <a:prstGeom prst="rect">
                <a:avLst/>
              </a:prstGeom>
              <a:blipFill>
                <a:blip r:embed="rId7"/>
                <a:stretch>
                  <a:fillRect l="-168" b="-8824"/>
                </a:stretch>
              </a:blipFill>
            </p:spPr>
            <p:txBody>
              <a:bodyPr/>
              <a:lstStyle/>
              <a:p>
                <a:r>
                  <a:rPr lang="en-US">
                    <a:noFill/>
                  </a:rPr>
                  <a:t> </a:t>
                </a:r>
              </a:p>
            </p:txBody>
          </p:sp>
        </mc:Fallback>
      </mc:AlternateContent>
      <p:graphicFrame>
        <p:nvGraphicFramePr>
          <p:cNvPr id="3" name="Table 8">
            <a:extLst>
              <a:ext uri="{FF2B5EF4-FFF2-40B4-BE49-F238E27FC236}">
                <a16:creationId xmlns:a16="http://schemas.microsoft.com/office/drawing/2014/main" id="{6B3AC1D9-C4E3-FB44-ABB2-FB5ED64BAB5C}"/>
              </a:ext>
            </a:extLst>
          </p:cNvPr>
          <p:cNvGraphicFramePr>
            <a:graphicFrameLocks noGrp="1"/>
          </p:cNvGraphicFramePr>
          <p:nvPr>
            <p:extLst>
              <p:ext uri="{D42A27DB-BD31-4B8C-83A1-F6EECF244321}">
                <p14:modId xmlns:p14="http://schemas.microsoft.com/office/powerpoint/2010/main" val="2155667979"/>
              </p:ext>
            </p:extLst>
          </p:nvPr>
        </p:nvGraphicFramePr>
        <p:xfrm>
          <a:off x="8827303" y="4584874"/>
          <a:ext cx="2177028" cy="1854200"/>
        </p:xfrm>
        <a:graphic>
          <a:graphicData uri="http://schemas.openxmlformats.org/drawingml/2006/table">
            <a:tbl>
              <a:tblPr firstRow="1" bandRow="1">
                <a:tableStyleId>{BC89EF96-8CEA-46FF-86C4-4CE0E7609802}</a:tableStyleId>
              </a:tblPr>
              <a:tblGrid>
                <a:gridCol w="626683">
                  <a:extLst>
                    <a:ext uri="{9D8B030D-6E8A-4147-A177-3AD203B41FA5}">
                      <a16:colId xmlns:a16="http://schemas.microsoft.com/office/drawing/2014/main" val="3372186782"/>
                    </a:ext>
                  </a:extLst>
                </a:gridCol>
                <a:gridCol w="1550345">
                  <a:extLst>
                    <a:ext uri="{9D8B030D-6E8A-4147-A177-3AD203B41FA5}">
                      <a16:colId xmlns:a16="http://schemas.microsoft.com/office/drawing/2014/main" val="3246267837"/>
                    </a:ext>
                  </a:extLst>
                </a:gridCol>
              </a:tblGrid>
              <a:tr h="370840">
                <a:tc>
                  <a:txBody>
                    <a:bodyPr/>
                    <a:lstStyle/>
                    <a:p>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1</a:t>
                      </a:r>
                    </a:p>
                  </a:txBody>
                  <a:tcPr/>
                </a:tc>
                <a:tc>
                  <a:txBody>
                    <a:bodyPr/>
                    <a:lstStyle/>
                    <a:p>
                      <a:r>
                        <a:rPr lang="en-US" b="0" dirty="0">
                          <a:latin typeface="Arial" panose="020B0604020202020204" pitchFamily="34" charset="0"/>
                          <a:cs typeface="Arial" panose="020B0604020202020204" pitchFamily="34" charset="0"/>
                        </a:rPr>
                        <a:t>2.891394</a:t>
                      </a:r>
                    </a:p>
                  </a:txBody>
                  <a:tcPr/>
                </a:tc>
                <a:extLst>
                  <a:ext uri="{0D108BD9-81ED-4DB2-BD59-A6C34878D82A}">
                    <a16:rowId xmlns:a16="http://schemas.microsoft.com/office/drawing/2014/main" val="16492101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2</a:t>
                      </a:r>
                    </a:p>
                  </a:txBody>
                  <a:tcPr/>
                </a:tc>
                <a:tc>
                  <a:txBody>
                    <a:bodyPr/>
                    <a:lstStyle/>
                    <a:p>
                      <a:r>
                        <a:rPr lang="en-US" b="0" dirty="0">
                          <a:latin typeface="Arial" panose="020B0604020202020204" pitchFamily="34" charset="0"/>
                          <a:cs typeface="Arial" panose="020B0604020202020204" pitchFamily="34" charset="0"/>
                        </a:rPr>
                        <a:t>0.95296</a:t>
                      </a:r>
                    </a:p>
                  </a:txBody>
                  <a:tcPr/>
                </a:tc>
                <a:extLst>
                  <a:ext uri="{0D108BD9-81ED-4DB2-BD59-A6C34878D82A}">
                    <a16:rowId xmlns:a16="http://schemas.microsoft.com/office/drawing/2014/main" val="1648811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3</a:t>
                      </a:r>
                    </a:p>
                  </a:txBody>
                  <a:tcPr/>
                </a:tc>
                <a:tc>
                  <a:txBody>
                    <a:bodyPr/>
                    <a:lstStyle/>
                    <a:p>
                      <a:r>
                        <a:rPr lang="en-US" b="0" dirty="0">
                          <a:latin typeface="Arial" panose="020B0604020202020204" pitchFamily="34" charset="0"/>
                          <a:cs typeface="Arial" panose="020B0604020202020204" pitchFamily="34" charset="0"/>
                        </a:rPr>
                        <a:t>0.056835</a:t>
                      </a:r>
                    </a:p>
                  </a:txBody>
                  <a:tcPr/>
                </a:tc>
                <a:extLst>
                  <a:ext uri="{0D108BD9-81ED-4DB2-BD59-A6C34878D82A}">
                    <a16:rowId xmlns:a16="http://schemas.microsoft.com/office/drawing/2014/main" val="8584667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4</a:t>
                      </a:r>
                    </a:p>
                  </a:txBody>
                  <a:tcPr/>
                </a:tc>
                <a:tc>
                  <a:txBody>
                    <a:bodyPr/>
                    <a:lstStyle/>
                    <a:p>
                      <a:r>
                        <a:rPr lang="en-US" b="0" dirty="0">
                          <a:latin typeface="Arial" panose="020B0604020202020204" pitchFamily="34" charset="0"/>
                          <a:cs typeface="Arial" panose="020B0604020202020204" pitchFamily="34" charset="0"/>
                        </a:rPr>
                        <a:t>0.002892</a:t>
                      </a:r>
                    </a:p>
                  </a:txBody>
                  <a:tcPr/>
                </a:tc>
                <a:extLst>
                  <a:ext uri="{0D108BD9-81ED-4DB2-BD59-A6C34878D82A}">
                    <a16:rowId xmlns:a16="http://schemas.microsoft.com/office/drawing/2014/main" val="35081541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5</a:t>
                      </a:r>
                    </a:p>
                  </a:txBody>
                  <a:tcPr/>
                </a:tc>
                <a:tc>
                  <a:txBody>
                    <a:bodyPr/>
                    <a:lstStyle/>
                    <a:p>
                      <a:r>
                        <a:rPr lang="en-US" b="0" dirty="0">
                          <a:latin typeface="Arial" panose="020B0604020202020204" pitchFamily="34" charset="0"/>
                          <a:cs typeface="Arial" panose="020B0604020202020204" pitchFamily="34" charset="0"/>
                        </a:rPr>
                        <a:t>0.000245</a:t>
                      </a:r>
                    </a:p>
                  </a:txBody>
                  <a:tcPr/>
                </a:tc>
                <a:extLst>
                  <a:ext uri="{0D108BD9-81ED-4DB2-BD59-A6C34878D82A}">
                    <a16:rowId xmlns:a16="http://schemas.microsoft.com/office/drawing/2014/main" val="2386585992"/>
                  </a:ext>
                </a:extLst>
              </a:tr>
            </a:tbl>
          </a:graphicData>
        </a:graphic>
      </p:graphicFrame>
      <p:sp>
        <p:nvSpPr>
          <p:cNvPr id="9" name="Slide Number Placeholder 8">
            <a:extLst>
              <a:ext uri="{FF2B5EF4-FFF2-40B4-BE49-F238E27FC236}">
                <a16:creationId xmlns:a16="http://schemas.microsoft.com/office/drawing/2014/main" id="{38592C7B-3FAC-3930-4F56-6707D9FC46FD}"/>
              </a:ext>
            </a:extLst>
          </p:cNvPr>
          <p:cNvSpPr>
            <a:spLocks noGrp="1"/>
          </p:cNvSpPr>
          <p:nvPr>
            <p:ph type="sldNum" sz="quarter" idx="12"/>
          </p:nvPr>
        </p:nvSpPr>
        <p:spPr/>
        <p:txBody>
          <a:bodyPr/>
          <a:lstStyle/>
          <a:p>
            <a:fld id="{2386C454-E1BD-5A43-901A-CA4ACC7380B7}" type="slidenum">
              <a:rPr lang="en-US" smtClean="0"/>
              <a:t>57</a:t>
            </a:fld>
            <a:endParaRPr lang="en-US"/>
          </a:p>
        </p:txBody>
      </p:sp>
    </p:spTree>
    <p:extLst>
      <p:ext uri="{BB962C8B-B14F-4D97-AF65-F5344CB8AC3E}">
        <p14:creationId xmlns:p14="http://schemas.microsoft.com/office/powerpoint/2010/main" val="31468170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362976" y="136525"/>
            <a:ext cx="1149035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fall velocity in still water (Dietrich, 1982) </a:t>
            </a:r>
            <a:endParaRPr lang="en-US" sz="2800" b="1" baseline="-250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77A1714A-CAE3-C747-8CB6-4BF6DB8EED1A}"/>
              </a:ext>
            </a:extLst>
          </p:cNvPr>
          <p:cNvSpPr>
            <a:spLocks noChangeAspect="1"/>
          </p:cNvSpPr>
          <p:nvPr/>
        </p:nvSpPr>
        <p:spPr>
          <a:xfrm>
            <a:off x="1014414" y="2561240"/>
            <a:ext cx="648000" cy="648000"/>
          </a:xfrm>
          <a:prstGeom prst="ellipse">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C8023CA4-2EF9-7042-BB4A-9E55875F9C4A}"/>
              </a:ext>
            </a:extLst>
          </p:cNvPr>
          <p:cNvCxnSpPr>
            <a:stCxn id="13" idx="0"/>
          </p:cNvCxnSpPr>
          <p:nvPr/>
        </p:nvCxnSpPr>
        <p:spPr>
          <a:xfrm flipV="1">
            <a:off x="1338414" y="1657350"/>
            <a:ext cx="0" cy="903890"/>
          </a:xfrm>
          <a:prstGeom prst="straightConnector1">
            <a:avLst/>
          </a:prstGeom>
          <a:ln w="190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AC4502-701C-A548-92FB-3A640FB4676A}"/>
              </a:ext>
            </a:extLst>
          </p:cNvPr>
          <p:cNvCxnSpPr/>
          <p:nvPr/>
        </p:nvCxnSpPr>
        <p:spPr>
          <a:xfrm flipV="1">
            <a:off x="1338414" y="3209240"/>
            <a:ext cx="0" cy="903890"/>
          </a:xfrm>
          <a:prstGeom prst="straightConnector1">
            <a:avLst/>
          </a:prstGeom>
          <a:ln w="190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A2DAD0F-8FD8-9541-A1C3-B432495EBD24}"/>
              </a:ext>
            </a:extLst>
          </p:cNvPr>
          <p:cNvSpPr txBox="1"/>
          <p:nvPr/>
        </p:nvSpPr>
        <p:spPr>
          <a:xfrm>
            <a:off x="1462389" y="1905086"/>
            <a:ext cx="623586"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F</a:t>
            </a:r>
            <a:r>
              <a:rPr lang="en-US" sz="2000" baseline="-25000" dirty="0">
                <a:latin typeface="Arial" panose="020B0604020202020204" pitchFamily="34" charset="0"/>
                <a:cs typeface="Arial" panose="020B0604020202020204" pitchFamily="34" charset="0"/>
              </a:rPr>
              <a:t>D</a:t>
            </a:r>
          </a:p>
        </p:txBody>
      </p:sp>
      <p:sp>
        <p:nvSpPr>
          <p:cNvPr id="10" name="TextBox 9">
            <a:extLst>
              <a:ext uri="{FF2B5EF4-FFF2-40B4-BE49-F238E27FC236}">
                <a16:creationId xmlns:a16="http://schemas.microsoft.com/office/drawing/2014/main" id="{D16A0F5C-8A05-6043-9A5B-F1C7E2CEA23D}"/>
              </a:ext>
            </a:extLst>
          </p:cNvPr>
          <p:cNvSpPr txBox="1"/>
          <p:nvPr/>
        </p:nvSpPr>
        <p:spPr>
          <a:xfrm>
            <a:off x="1507783" y="3437523"/>
            <a:ext cx="623586"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F</a:t>
            </a:r>
            <a:r>
              <a:rPr lang="en-US" sz="2000" baseline="-25000" dirty="0" err="1">
                <a:latin typeface="Arial" panose="020B0604020202020204" pitchFamily="34" charset="0"/>
                <a:cs typeface="Arial" panose="020B0604020202020204" pitchFamily="34" charset="0"/>
              </a:rPr>
              <a:t>g</a:t>
            </a:r>
            <a:endParaRPr lang="en-US" sz="2000" baseline="-25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8FE4B35-64CF-5149-B1D1-D7874FD1676E}"/>
                  </a:ext>
                </a:extLst>
              </p:cNvPr>
              <p:cNvSpPr txBox="1"/>
              <p:nvPr/>
            </p:nvSpPr>
            <p:spPr>
              <a:xfrm>
                <a:off x="5587814" y="1281012"/>
                <a:ext cx="1395575" cy="3181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𝐷</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𝑅𝑒</m:t>
                              </m:r>
                            </m:e>
                            <m:sub>
                              <m:r>
                                <a:rPr lang="en-US" i="1">
                                  <a:latin typeface="Cambria Math" panose="02040503050406030204" pitchFamily="18" charset="0"/>
                                </a:rPr>
                                <m:t>𝑣𝑝</m:t>
                              </m:r>
                            </m:sub>
                          </m:sSub>
                        </m:e>
                      </m:d>
                    </m:oMath>
                  </m:oMathPara>
                </a14:m>
                <a:endParaRPr lang="en-US" dirty="0"/>
              </a:p>
            </p:txBody>
          </p:sp>
        </mc:Choice>
        <mc:Fallback xmlns="">
          <p:sp>
            <p:nvSpPr>
              <p:cNvPr id="19" name="TextBox 18">
                <a:extLst>
                  <a:ext uri="{FF2B5EF4-FFF2-40B4-BE49-F238E27FC236}">
                    <a16:creationId xmlns:a16="http://schemas.microsoft.com/office/drawing/2014/main" id="{E8FE4B35-64CF-5149-B1D1-D7874FD1676E}"/>
                  </a:ext>
                </a:extLst>
              </p:cNvPr>
              <p:cNvSpPr txBox="1">
                <a:spLocks noRot="1" noChangeAspect="1" noMove="1" noResize="1" noEditPoints="1" noAdjustHandles="1" noChangeArrowheads="1" noChangeShapeType="1" noTextEdit="1"/>
              </p:cNvSpPr>
              <p:nvPr/>
            </p:nvSpPr>
            <p:spPr>
              <a:xfrm>
                <a:off x="5587814" y="1281012"/>
                <a:ext cx="1395575" cy="318164"/>
              </a:xfrm>
              <a:prstGeom prst="rect">
                <a:avLst/>
              </a:prstGeom>
              <a:blipFill>
                <a:blip r:embed="rId2"/>
                <a:stretch>
                  <a:fillRect l="-2703" b="-2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60F5622-8BA8-7E4E-8A82-BDC9AC82A85A}"/>
                  </a:ext>
                </a:extLst>
              </p:cNvPr>
              <p:cNvSpPr txBox="1"/>
              <p:nvPr/>
            </p:nvSpPr>
            <p:spPr>
              <a:xfrm>
                <a:off x="2732970" y="2367534"/>
                <a:ext cx="3927357" cy="710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𝑅𝑒</m:t>
                          </m:r>
                        </m:e>
                        <m:sub>
                          <m:r>
                            <a:rPr lang="en-US" b="0" i="1" smtClean="0">
                              <a:latin typeface="Cambria Math" panose="02040503050406030204" pitchFamily="18" charset="0"/>
                            </a:rPr>
                            <m:t>𝑣𝑝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𝑠</m:t>
                              </m:r>
                            </m:sub>
                          </m:sSub>
                          <m:r>
                            <a:rPr lang="en-US" b="0" i="1" smtClean="0">
                              <a:latin typeface="Cambria Math" panose="02040503050406030204" pitchFamily="18" charset="0"/>
                            </a:rPr>
                            <m:t>𝐷</m:t>
                          </m:r>
                        </m:num>
                        <m:den>
                          <m:r>
                            <a:rPr lang="en-US" b="0" i="1" smtClean="0">
                              <a:latin typeface="Cambria Math" panose="02040503050406030204" pitchFamily="18" charset="0"/>
                              <a:ea typeface="Cambria Math" panose="02040503050406030204" pitchFamily="18" charset="0"/>
                            </a:rPr>
                            <m:t>𝜈</m:t>
                          </m:r>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i="1">
                                  <a:latin typeface="Cambria Math" panose="02040503050406030204" pitchFamily="18" charset="0"/>
                                  <a:ea typeface="Cambria Math" panose="02040503050406030204" pitchFamily="18" charset="0"/>
                                </a:rPr>
                                <m:t>𝑠</m:t>
                              </m:r>
                            </m:sub>
                          </m:sSub>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den>
                      </m:f>
                      <m:f>
                        <m:fPr>
                          <m:ctrlPr>
                            <a:rPr lang="en-US" i="1" smtClean="0">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r>
                            <a:rPr lang="en-US" b="0" i="1" smtClean="0">
                              <a:latin typeface="Cambria Math" panose="02040503050406030204" pitchFamily="18" charset="0"/>
                              <a:ea typeface="Cambria Math" panose="02040503050406030204" pitchFamily="18" charset="0"/>
                            </a:rPr>
                            <m:t>𝐷</m:t>
                          </m:r>
                        </m:num>
                        <m:den>
                          <m:r>
                            <a:rPr lang="en-US" i="1" smtClean="0">
                              <a:latin typeface="Cambria Math" panose="02040503050406030204" pitchFamily="18" charset="0"/>
                              <a:ea typeface="Cambria Math" panose="02040503050406030204" pitchFamily="18" charset="0"/>
                            </a:rPr>
                            <m:t>𝜈</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𝑅𝑒</m:t>
                          </m:r>
                        </m:e>
                        <m:sub>
                          <m:r>
                            <a:rPr lang="en-US" b="0" i="1" smtClean="0">
                              <a:latin typeface="Cambria Math" panose="02040503050406030204" pitchFamily="18" charset="0"/>
                              <a:ea typeface="Cambria Math" panose="02040503050406030204" pitchFamily="18" charset="0"/>
                            </a:rPr>
                            <m:t>𝑝</m:t>
                          </m:r>
                        </m:sub>
                      </m:sSub>
                    </m:oMath>
                  </m:oMathPara>
                </a14:m>
                <a:endParaRPr lang="en-US" dirty="0"/>
              </a:p>
            </p:txBody>
          </p:sp>
        </mc:Choice>
        <mc:Fallback xmlns="">
          <p:sp>
            <p:nvSpPr>
              <p:cNvPr id="20" name="TextBox 19">
                <a:extLst>
                  <a:ext uri="{FF2B5EF4-FFF2-40B4-BE49-F238E27FC236}">
                    <a16:creationId xmlns:a16="http://schemas.microsoft.com/office/drawing/2014/main" id="{860F5622-8BA8-7E4E-8A82-BDC9AC82A85A}"/>
                  </a:ext>
                </a:extLst>
              </p:cNvPr>
              <p:cNvSpPr txBox="1">
                <a:spLocks noRot="1" noChangeAspect="1" noMove="1" noResize="1" noEditPoints="1" noAdjustHandles="1" noChangeArrowheads="1" noChangeShapeType="1" noTextEdit="1"/>
              </p:cNvSpPr>
              <p:nvPr/>
            </p:nvSpPr>
            <p:spPr>
              <a:xfrm>
                <a:off x="2732970" y="2367534"/>
                <a:ext cx="3927357" cy="710644"/>
              </a:xfrm>
              <a:prstGeom prst="rect">
                <a:avLst/>
              </a:prstGeom>
              <a:blipFill>
                <a:blip r:embed="rId3"/>
                <a:stretch>
                  <a:fillRect l="-323"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A5F3474-51C6-A146-B8C5-0FEC7BA8CD68}"/>
                  </a:ext>
                </a:extLst>
              </p:cNvPr>
              <p:cNvSpPr txBox="1"/>
              <p:nvPr/>
            </p:nvSpPr>
            <p:spPr>
              <a:xfrm>
                <a:off x="2508222" y="1089325"/>
                <a:ext cx="2401235" cy="7015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𝑠</m:t>
                              </m:r>
                            </m:sub>
                          </m:sSub>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𝑅𝑔𝐷</m:t>
                              </m:r>
                            </m:e>
                          </m:rad>
                        </m:den>
                      </m:f>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den>
                              </m:f>
                            </m:e>
                          </m:d>
                        </m:e>
                        <m:sup>
                          <m:r>
                            <a:rPr lang="en-US" b="0" i="1" smtClean="0">
                              <a:latin typeface="Cambria Math" panose="02040503050406030204" pitchFamily="18" charset="0"/>
                              <a:ea typeface="Cambria Math" panose="02040503050406030204" pitchFamily="18" charset="0"/>
                            </a:rPr>
                            <m:t>1/2</m:t>
                          </m:r>
                        </m:sup>
                      </m:sSup>
                    </m:oMath>
                  </m:oMathPara>
                </a14:m>
                <a:endParaRPr lang="en-US" dirty="0"/>
              </a:p>
            </p:txBody>
          </p:sp>
        </mc:Choice>
        <mc:Fallback xmlns="">
          <p:sp>
            <p:nvSpPr>
              <p:cNvPr id="24" name="TextBox 23">
                <a:extLst>
                  <a:ext uri="{FF2B5EF4-FFF2-40B4-BE49-F238E27FC236}">
                    <a16:creationId xmlns:a16="http://schemas.microsoft.com/office/drawing/2014/main" id="{6A5F3474-51C6-A146-B8C5-0FEC7BA8CD68}"/>
                  </a:ext>
                </a:extLst>
              </p:cNvPr>
              <p:cNvSpPr txBox="1">
                <a:spLocks noRot="1" noChangeAspect="1" noMove="1" noResize="1" noEditPoints="1" noAdjustHandles="1" noChangeArrowheads="1" noChangeShapeType="1" noTextEdit="1"/>
              </p:cNvSpPr>
              <p:nvPr/>
            </p:nvSpPr>
            <p:spPr>
              <a:xfrm>
                <a:off x="2508222" y="1089325"/>
                <a:ext cx="2401235" cy="701539"/>
              </a:xfrm>
              <a:prstGeom prst="rect">
                <a:avLst/>
              </a:prstGeom>
              <a:blipFill>
                <a:blip r:embed="rId4"/>
                <a:stretch>
                  <a:fillRect l="-1579" t="-1754" r="-526" b="-8772"/>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5563F10-4C26-9846-B08D-B54A6790F320}"/>
              </a:ext>
            </a:extLst>
          </p:cNvPr>
          <p:cNvSpPr txBox="1"/>
          <p:nvPr/>
        </p:nvSpPr>
        <p:spPr>
          <a:xfrm>
            <a:off x="7924896" y="1819840"/>
            <a:ext cx="411460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a:t>
            </a:r>
            <a:r>
              <a:rPr lang="en-US" baseline="-25000"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 particle Reynolds number</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E0D4C2E0-D952-BB4B-8123-EB3A06A0B6E6}"/>
                  </a:ext>
                </a:extLst>
              </p:cNvPr>
              <p:cNvSpPr/>
              <p:nvPr/>
            </p:nvSpPr>
            <p:spPr>
              <a:xfrm>
                <a:off x="8610600" y="2305196"/>
                <a:ext cx="1704954" cy="6858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𝑅𝑒</m:t>
                          </m:r>
                        </m:e>
                        <m:sub>
                          <m:r>
                            <a:rPr lang="en-US" b="0" i="1" smtClean="0">
                              <a:latin typeface="Cambria Math" panose="02040503050406030204" pitchFamily="18" charset="0"/>
                              <a:ea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𝑅𝑔𝐷</m:t>
                              </m:r>
                            </m:e>
                          </m:rad>
                          <m:r>
                            <a:rPr lang="en-US" i="1">
                              <a:latin typeface="Cambria Math" panose="02040503050406030204" pitchFamily="18" charset="0"/>
                              <a:ea typeface="Cambria Math" panose="02040503050406030204" pitchFamily="18" charset="0"/>
                            </a:rPr>
                            <m:t>𝐷</m:t>
                          </m:r>
                        </m:num>
                        <m:den>
                          <m:r>
                            <a:rPr lang="en-US" i="1">
                              <a:latin typeface="Cambria Math" panose="02040503050406030204" pitchFamily="18" charset="0"/>
                              <a:ea typeface="Cambria Math" panose="02040503050406030204" pitchFamily="18" charset="0"/>
                            </a:rPr>
                            <m:t>𝜈</m:t>
                          </m:r>
                        </m:den>
                      </m:f>
                    </m:oMath>
                  </m:oMathPara>
                </a14:m>
                <a:endParaRPr lang="en-US" dirty="0"/>
              </a:p>
            </p:txBody>
          </p:sp>
        </mc:Choice>
        <mc:Fallback xmlns="">
          <p:sp>
            <p:nvSpPr>
              <p:cNvPr id="2" name="Rectangle 1">
                <a:extLst>
                  <a:ext uri="{FF2B5EF4-FFF2-40B4-BE49-F238E27FC236}">
                    <a16:creationId xmlns:a16="http://schemas.microsoft.com/office/drawing/2014/main" id="{E0D4C2E0-D952-BB4B-8123-EB3A06A0B6E6}"/>
                  </a:ext>
                </a:extLst>
              </p:cNvPr>
              <p:cNvSpPr>
                <a:spLocks noRot="1" noChangeAspect="1" noMove="1" noResize="1" noEditPoints="1" noAdjustHandles="1" noChangeArrowheads="1" noChangeShapeType="1" noTextEdit="1"/>
              </p:cNvSpPr>
              <p:nvPr/>
            </p:nvSpPr>
            <p:spPr>
              <a:xfrm>
                <a:off x="8610600" y="2305196"/>
                <a:ext cx="1704954" cy="685829"/>
              </a:xfrm>
              <a:prstGeom prst="rect">
                <a:avLst/>
              </a:prstGeom>
              <a:blipFill>
                <a:blip r:embed="rId5"/>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C5CA9EB-D460-4447-99B8-97F654262B76}"/>
              </a:ext>
            </a:extLst>
          </p:cNvPr>
          <p:cNvSpPr txBox="1"/>
          <p:nvPr/>
        </p:nvSpPr>
        <p:spPr>
          <a:xfrm>
            <a:off x="2639345" y="3400750"/>
            <a:ext cx="5971256"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found a relation between the particle fall velocity and the properties of the particle and of the fluid</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7EDDE95-AD4D-3444-B329-AE2419CA49EB}"/>
                  </a:ext>
                </a:extLst>
              </p:cNvPr>
              <p:cNvSpPr txBox="1"/>
              <p:nvPr/>
            </p:nvSpPr>
            <p:spPr>
              <a:xfrm>
                <a:off x="8629964" y="3281102"/>
                <a:ext cx="3371179" cy="7129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𝐷</m:t>
                                      </m:r>
                                    </m:sub>
                                  </m:sSub>
                                  <m:d>
                                    <m:dPr>
                                      <m:ctrlPr>
                                        <a:rPr lang="en-US" i="1" smtClean="0">
                                          <a:latin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𝑓</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den>
                              </m:f>
                            </m:e>
                          </m:d>
                        </m:e>
                        <m:sup>
                          <m:r>
                            <a:rPr lang="en-US" b="0" i="1" smtClean="0">
                              <a:latin typeface="Cambria Math" panose="02040503050406030204" pitchFamily="18" charset="0"/>
                              <a:ea typeface="Cambria Math" panose="02040503050406030204" pitchFamily="18" charset="0"/>
                            </a:rPr>
                            <m:t>1/2</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oMath>
                  </m:oMathPara>
                </a14:m>
                <a:endParaRPr lang="en-US" dirty="0"/>
              </a:p>
            </p:txBody>
          </p:sp>
        </mc:Choice>
        <mc:Fallback xmlns="">
          <p:sp>
            <p:nvSpPr>
              <p:cNvPr id="15" name="TextBox 14">
                <a:extLst>
                  <a:ext uri="{FF2B5EF4-FFF2-40B4-BE49-F238E27FC236}">
                    <a16:creationId xmlns:a16="http://schemas.microsoft.com/office/drawing/2014/main" id="{47EDDE95-AD4D-3444-B329-AE2419CA49EB}"/>
                  </a:ext>
                </a:extLst>
              </p:cNvPr>
              <p:cNvSpPr txBox="1">
                <a:spLocks noRot="1" noChangeAspect="1" noMove="1" noResize="1" noEditPoints="1" noAdjustHandles="1" noChangeArrowheads="1" noChangeShapeType="1" noTextEdit="1"/>
              </p:cNvSpPr>
              <p:nvPr/>
            </p:nvSpPr>
            <p:spPr>
              <a:xfrm>
                <a:off x="8629964" y="3281102"/>
                <a:ext cx="3371179" cy="712952"/>
              </a:xfrm>
              <a:prstGeom prst="rect">
                <a:avLst/>
              </a:prstGeom>
              <a:blipFill>
                <a:blip r:embed="rId6"/>
                <a:stretch>
                  <a:fillRect l="-1124" b="-8772"/>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C3DEF30D-302F-A342-81C4-1E7BA4FB62CD}"/>
              </a:ext>
            </a:extLst>
          </p:cNvPr>
          <p:cNvSpPr txBox="1"/>
          <p:nvPr/>
        </p:nvSpPr>
        <p:spPr>
          <a:xfrm>
            <a:off x="289711" y="4311813"/>
            <a:ext cx="11686795"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Relation by Dietrich (1982) without correction for particle shape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5D47FA6-A078-F441-9E91-E25036395DA5}"/>
                  </a:ext>
                </a:extLst>
              </p:cNvPr>
              <p:cNvSpPr txBox="1"/>
              <p:nvPr/>
            </p:nvSpPr>
            <p:spPr>
              <a:xfrm>
                <a:off x="297843" y="5238002"/>
                <a:ext cx="7566110" cy="4170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𝑓</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𝑒𝑥𝑝</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𝑙𝑛</m:t>
                          </m:r>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3</m:t>
                              </m:r>
                            </m:sub>
                          </m:sSub>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𝑙𝑛</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4</m:t>
                              </m:r>
                            </m:sub>
                          </m:sSub>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𝑙𝑛</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5</m:t>
                              </m:r>
                            </m:sub>
                          </m:sSub>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𝑙𝑛</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𝑅𝑒</m:t>
                                          </m:r>
                                        </m:e>
                                        <m:sub>
                                          <m:r>
                                            <a:rPr lang="en-US" i="1">
                                              <a:latin typeface="Cambria Math" panose="02040503050406030204" pitchFamily="18" charset="0"/>
                                              <a:ea typeface="Cambria Math" panose="02040503050406030204" pitchFamily="18" charset="0"/>
                                            </a:rPr>
                                            <m:t>𝑝</m:t>
                                          </m:r>
                                        </m:sub>
                                      </m:sSub>
                                    </m:e>
                                  </m:d>
                                </m:e>
                              </m:d>
                            </m:e>
                            <m:sup>
                              <m:r>
                                <a:rPr lang="en-US" b="0" i="1" smtClean="0">
                                  <a:latin typeface="Cambria Math" panose="02040503050406030204" pitchFamily="18" charset="0"/>
                                  <a:ea typeface="Cambria Math" panose="02040503050406030204" pitchFamily="18" charset="0"/>
                                </a:rPr>
                                <m:t>4</m:t>
                              </m:r>
                            </m:sup>
                          </m:sSup>
                        </m:e>
                      </m:d>
                    </m:oMath>
                  </m:oMathPara>
                </a14:m>
                <a:endParaRPr lang="en-US" dirty="0"/>
              </a:p>
            </p:txBody>
          </p:sp>
        </mc:Choice>
        <mc:Fallback xmlns="">
          <p:sp>
            <p:nvSpPr>
              <p:cNvPr id="17" name="TextBox 16">
                <a:extLst>
                  <a:ext uri="{FF2B5EF4-FFF2-40B4-BE49-F238E27FC236}">
                    <a16:creationId xmlns:a16="http://schemas.microsoft.com/office/drawing/2014/main" id="{45D47FA6-A078-F441-9E91-E25036395DA5}"/>
                  </a:ext>
                </a:extLst>
              </p:cNvPr>
              <p:cNvSpPr txBox="1">
                <a:spLocks noRot="1" noChangeAspect="1" noMove="1" noResize="1" noEditPoints="1" noAdjustHandles="1" noChangeArrowheads="1" noChangeShapeType="1" noTextEdit="1"/>
              </p:cNvSpPr>
              <p:nvPr/>
            </p:nvSpPr>
            <p:spPr>
              <a:xfrm>
                <a:off x="297843" y="5238002"/>
                <a:ext cx="7566110" cy="417037"/>
              </a:xfrm>
              <a:prstGeom prst="rect">
                <a:avLst/>
              </a:prstGeom>
              <a:blipFill>
                <a:blip r:embed="rId7"/>
                <a:stretch>
                  <a:fillRect l="-168" b="-8824"/>
                </a:stretch>
              </a:blipFill>
            </p:spPr>
            <p:txBody>
              <a:bodyPr/>
              <a:lstStyle/>
              <a:p>
                <a:r>
                  <a:rPr lang="en-US">
                    <a:noFill/>
                  </a:rPr>
                  <a:t> </a:t>
                </a:r>
              </a:p>
            </p:txBody>
          </p:sp>
        </mc:Fallback>
      </mc:AlternateContent>
      <p:graphicFrame>
        <p:nvGraphicFramePr>
          <p:cNvPr id="3" name="Table 8">
            <a:extLst>
              <a:ext uri="{FF2B5EF4-FFF2-40B4-BE49-F238E27FC236}">
                <a16:creationId xmlns:a16="http://schemas.microsoft.com/office/drawing/2014/main" id="{6B3AC1D9-C4E3-FB44-ABB2-FB5ED64BAB5C}"/>
              </a:ext>
            </a:extLst>
          </p:cNvPr>
          <p:cNvGraphicFramePr>
            <a:graphicFrameLocks noGrp="1"/>
          </p:cNvGraphicFramePr>
          <p:nvPr/>
        </p:nvGraphicFramePr>
        <p:xfrm>
          <a:off x="8827303" y="4584874"/>
          <a:ext cx="2177028" cy="1854200"/>
        </p:xfrm>
        <a:graphic>
          <a:graphicData uri="http://schemas.openxmlformats.org/drawingml/2006/table">
            <a:tbl>
              <a:tblPr firstRow="1" bandRow="1">
                <a:tableStyleId>{BC89EF96-8CEA-46FF-86C4-4CE0E7609802}</a:tableStyleId>
              </a:tblPr>
              <a:tblGrid>
                <a:gridCol w="626683">
                  <a:extLst>
                    <a:ext uri="{9D8B030D-6E8A-4147-A177-3AD203B41FA5}">
                      <a16:colId xmlns:a16="http://schemas.microsoft.com/office/drawing/2014/main" val="3372186782"/>
                    </a:ext>
                  </a:extLst>
                </a:gridCol>
                <a:gridCol w="1550345">
                  <a:extLst>
                    <a:ext uri="{9D8B030D-6E8A-4147-A177-3AD203B41FA5}">
                      <a16:colId xmlns:a16="http://schemas.microsoft.com/office/drawing/2014/main" val="3246267837"/>
                    </a:ext>
                  </a:extLst>
                </a:gridCol>
              </a:tblGrid>
              <a:tr h="370840">
                <a:tc>
                  <a:txBody>
                    <a:bodyPr/>
                    <a:lstStyle/>
                    <a:p>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1</a:t>
                      </a:r>
                    </a:p>
                  </a:txBody>
                  <a:tcPr/>
                </a:tc>
                <a:tc>
                  <a:txBody>
                    <a:bodyPr/>
                    <a:lstStyle/>
                    <a:p>
                      <a:r>
                        <a:rPr lang="en-US" b="0" dirty="0">
                          <a:latin typeface="Arial" panose="020B0604020202020204" pitchFamily="34" charset="0"/>
                          <a:cs typeface="Arial" panose="020B0604020202020204" pitchFamily="34" charset="0"/>
                        </a:rPr>
                        <a:t>2.891394</a:t>
                      </a:r>
                    </a:p>
                  </a:txBody>
                  <a:tcPr/>
                </a:tc>
                <a:extLst>
                  <a:ext uri="{0D108BD9-81ED-4DB2-BD59-A6C34878D82A}">
                    <a16:rowId xmlns:a16="http://schemas.microsoft.com/office/drawing/2014/main" val="16492101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2</a:t>
                      </a:r>
                    </a:p>
                  </a:txBody>
                  <a:tcPr/>
                </a:tc>
                <a:tc>
                  <a:txBody>
                    <a:bodyPr/>
                    <a:lstStyle/>
                    <a:p>
                      <a:r>
                        <a:rPr lang="en-US" b="0" dirty="0">
                          <a:latin typeface="Arial" panose="020B0604020202020204" pitchFamily="34" charset="0"/>
                          <a:cs typeface="Arial" panose="020B0604020202020204" pitchFamily="34" charset="0"/>
                        </a:rPr>
                        <a:t>0.95296</a:t>
                      </a:r>
                    </a:p>
                  </a:txBody>
                  <a:tcPr/>
                </a:tc>
                <a:extLst>
                  <a:ext uri="{0D108BD9-81ED-4DB2-BD59-A6C34878D82A}">
                    <a16:rowId xmlns:a16="http://schemas.microsoft.com/office/drawing/2014/main" val="1648811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3</a:t>
                      </a:r>
                    </a:p>
                  </a:txBody>
                  <a:tcPr/>
                </a:tc>
                <a:tc>
                  <a:txBody>
                    <a:bodyPr/>
                    <a:lstStyle/>
                    <a:p>
                      <a:r>
                        <a:rPr lang="en-US" b="0" dirty="0">
                          <a:latin typeface="Arial" panose="020B0604020202020204" pitchFamily="34" charset="0"/>
                          <a:cs typeface="Arial" panose="020B0604020202020204" pitchFamily="34" charset="0"/>
                        </a:rPr>
                        <a:t>0.056835</a:t>
                      </a:r>
                    </a:p>
                  </a:txBody>
                  <a:tcPr/>
                </a:tc>
                <a:extLst>
                  <a:ext uri="{0D108BD9-81ED-4DB2-BD59-A6C34878D82A}">
                    <a16:rowId xmlns:a16="http://schemas.microsoft.com/office/drawing/2014/main" val="8584667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4</a:t>
                      </a:r>
                    </a:p>
                  </a:txBody>
                  <a:tcPr/>
                </a:tc>
                <a:tc>
                  <a:txBody>
                    <a:bodyPr/>
                    <a:lstStyle/>
                    <a:p>
                      <a:r>
                        <a:rPr lang="en-US" b="0" dirty="0">
                          <a:latin typeface="Arial" panose="020B0604020202020204" pitchFamily="34" charset="0"/>
                          <a:cs typeface="Arial" panose="020B0604020202020204" pitchFamily="34" charset="0"/>
                        </a:rPr>
                        <a:t>0.002892</a:t>
                      </a:r>
                    </a:p>
                  </a:txBody>
                  <a:tcPr/>
                </a:tc>
                <a:extLst>
                  <a:ext uri="{0D108BD9-81ED-4DB2-BD59-A6C34878D82A}">
                    <a16:rowId xmlns:a16="http://schemas.microsoft.com/office/drawing/2014/main" val="35081541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Arial" panose="020B0604020202020204" pitchFamily="34" charset="0"/>
                          <a:cs typeface="Arial" panose="020B0604020202020204" pitchFamily="34" charset="0"/>
                        </a:rPr>
                        <a:t>b</a:t>
                      </a:r>
                      <a:r>
                        <a:rPr lang="en-US" b="0" baseline="-25000" dirty="0">
                          <a:latin typeface="Arial" panose="020B0604020202020204" pitchFamily="34" charset="0"/>
                          <a:cs typeface="Arial" panose="020B0604020202020204" pitchFamily="34" charset="0"/>
                        </a:rPr>
                        <a:t>5</a:t>
                      </a:r>
                    </a:p>
                  </a:txBody>
                  <a:tcPr/>
                </a:tc>
                <a:tc>
                  <a:txBody>
                    <a:bodyPr/>
                    <a:lstStyle/>
                    <a:p>
                      <a:r>
                        <a:rPr lang="en-US" b="0" dirty="0">
                          <a:latin typeface="Arial" panose="020B0604020202020204" pitchFamily="34" charset="0"/>
                          <a:cs typeface="Arial" panose="020B0604020202020204" pitchFamily="34" charset="0"/>
                        </a:rPr>
                        <a:t>0.000245</a:t>
                      </a:r>
                    </a:p>
                  </a:txBody>
                  <a:tcPr/>
                </a:tc>
                <a:extLst>
                  <a:ext uri="{0D108BD9-81ED-4DB2-BD59-A6C34878D82A}">
                    <a16:rowId xmlns:a16="http://schemas.microsoft.com/office/drawing/2014/main" val="2386585992"/>
                  </a:ext>
                </a:extLst>
              </a:tr>
            </a:tbl>
          </a:graphicData>
        </a:graphic>
      </p:graphicFrame>
      <p:sp>
        <p:nvSpPr>
          <p:cNvPr id="9" name="TextBox 8">
            <a:extLst>
              <a:ext uri="{FF2B5EF4-FFF2-40B4-BE49-F238E27FC236}">
                <a16:creationId xmlns:a16="http://schemas.microsoft.com/office/drawing/2014/main" id="{C11E1E88-75A4-2247-AFF4-A09EC845CE8D}"/>
              </a:ext>
            </a:extLst>
          </p:cNvPr>
          <p:cNvSpPr txBox="1"/>
          <p:nvPr/>
        </p:nvSpPr>
        <p:spPr>
          <a:xfrm>
            <a:off x="297843" y="6155473"/>
            <a:ext cx="6362484" cy="369332"/>
          </a:xfrm>
          <a:prstGeom prst="rect">
            <a:avLst/>
          </a:prstGeom>
          <a:noFill/>
        </p:spPr>
        <p:txBody>
          <a:bodyPr wrap="square" rtlCol="0">
            <a:spAutoFit/>
          </a:bodyPr>
          <a:lstStyle/>
          <a:p>
            <a:r>
              <a:rPr lang="en-US" b="1" dirty="0"/>
              <a:t>Another excel file, the fall velocity calculator. </a:t>
            </a:r>
          </a:p>
        </p:txBody>
      </p:sp>
      <p:sp>
        <p:nvSpPr>
          <p:cNvPr id="11" name="Slide Number Placeholder 10">
            <a:extLst>
              <a:ext uri="{FF2B5EF4-FFF2-40B4-BE49-F238E27FC236}">
                <a16:creationId xmlns:a16="http://schemas.microsoft.com/office/drawing/2014/main" id="{88C60498-FC24-2DE6-2396-2E8FE99B1D32}"/>
              </a:ext>
            </a:extLst>
          </p:cNvPr>
          <p:cNvSpPr>
            <a:spLocks noGrp="1"/>
          </p:cNvSpPr>
          <p:nvPr>
            <p:ph type="sldNum" sz="quarter" idx="12"/>
          </p:nvPr>
        </p:nvSpPr>
        <p:spPr/>
        <p:txBody>
          <a:bodyPr/>
          <a:lstStyle/>
          <a:p>
            <a:fld id="{2386C454-E1BD-5A43-901A-CA4ACC7380B7}" type="slidenum">
              <a:rPr lang="en-US" smtClean="0"/>
              <a:t>58</a:t>
            </a:fld>
            <a:endParaRPr lang="en-US"/>
          </a:p>
        </p:txBody>
      </p:sp>
    </p:spTree>
    <p:extLst>
      <p:ext uri="{BB962C8B-B14F-4D97-AF65-F5344CB8AC3E}">
        <p14:creationId xmlns:p14="http://schemas.microsoft.com/office/powerpoint/2010/main" val="2505670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354016" y="136525"/>
            <a:ext cx="9566030"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References</a:t>
            </a:r>
          </a:p>
        </p:txBody>
      </p:sp>
      <p:sp>
        <p:nvSpPr>
          <p:cNvPr id="2" name="TextBox 1">
            <a:extLst>
              <a:ext uri="{FF2B5EF4-FFF2-40B4-BE49-F238E27FC236}">
                <a16:creationId xmlns:a16="http://schemas.microsoft.com/office/drawing/2014/main" id="{D618C510-F30E-A141-844B-0DE9FD89EC10}"/>
              </a:ext>
            </a:extLst>
          </p:cNvPr>
          <p:cNvSpPr txBox="1"/>
          <p:nvPr/>
        </p:nvSpPr>
        <p:spPr>
          <a:xfrm>
            <a:off x="211015" y="984738"/>
            <a:ext cx="11980985" cy="2276521"/>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Einstein, H.A., Anderson, A..G., &amp; Johnson, J.W. (1940) Distinction between bed-load and suspended load in natural streams. Transactions, A/</a:t>
            </a:r>
            <a:r>
              <a:rPr lang="en-US" dirty="0" err="1">
                <a:latin typeface="Arial" panose="020B0604020202020204" pitchFamily="34" charset="0"/>
                <a:cs typeface="Arial" panose="020B0604020202020204" pitchFamily="34" charset="0"/>
              </a:rPr>
              <a:t>merican</a:t>
            </a:r>
            <a:r>
              <a:rPr lang="en-US" dirty="0">
                <a:latin typeface="Arial" panose="020B0604020202020204" pitchFamily="34" charset="0"/>
                <a:cs typeface="Arial" panose="020B0604020202020204" pitchFamily="34" charset="0"/>
              </a:rPr>
              <a:t> Geophysical Union 21 (2), 628-633</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Dietrich, W. E. (1982). Settling velocity of natural particles. Water Resources Research 18 (6), 1615-1626.</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Church, M. (2006). Bed Material Transport and the Morphology of Alluvial River Channels. Annual Review of Earth and Planetary Science 34, 325-354.</a:t>
            </a:r>
          </a:p>
        </p:txBody>
      </p:sp>
      <p:sp>
        <p:nvSpPr>
          <p:cNvPr id="3" name="Slide Number Placeholder 2">
            <a:extLst>
              <a:ext uri="{FF2B5EF4-FFF2-40B4-BE49-F238E27FC236}">
                <a16:creationId xmlns:a16="http://schemas.microsoft.com/office/drawing/2014/main" id="{AA80E07A-9B34-1176-0F30-6480F24F5265}"/>
              </a:ext>
            </a:extLst>
          </p:cNvPr>
          <p:cNvSpPr>
            <a:spLocks noGrp="1"/>
          </p:cNvSpPr>
          <p:nvPr>
            <p:ph type="sldNum" sz="quarter" idx="12"/>
          </p:nvPr>
        </p:nvSpPr>
        <p:spPr/>
        <p:txBody>
          <a:bodyPr/>
          <a:lstStyle/>
          <a:p>
            <a:fld id="{2386C454-E1BD-5A43-901A-CA4ACC7380B7}" type="slidenum">
              <a:rPr lang="en-US" smtClean="0"/>
              <a:t>59</a:t>
            </a:fld>
            <a:endParaRPr lang="en-US"/>
          </a:p>
        </p:txBody>
      </p:sp>
    </p:spTree>
    <p:extLst>
      <p:ext uri="{BB962C8B-B14F-4D97-AF65-F5344CB8AC3E}">
        <p14:creationId xmlns:p14="http://schemas.microsoft.com/office/powerpoint/2010/main" val="3257342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2604</TotalTime>
  <Words>5096</Words>
  <Application>Microsoft Office PowerPoint</Application>
  <PresentationFormat>Widescreen</PresentationFormat>
  <Paragraphs>1469</Paragraphs>
  <Slides>59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Aptos</vt:lpstr>
      <vt:lpstr>Arial</vt:lpstr>
      <vt:lpstr>Calibri</vt:lpstr>
      <vt:lpstr>Calibri Light</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VIPARELLI, ENRICA</dc:creator>
  <cp:lastModifiedBy>Viparelli, Enrica</cp:lastModifiedBy>
  <cp:revision>370</cp:revision>
  <dcterms:created xsi:type="dcterms:W3CDTF">2021-02-08T21:22:29Z</dcterms:created>
  <dcterms:modified xsi:type="dcterms:W3CDTF">2026-07-23T06:32:22Z</dcterms:modified>
</cp:coreProperties>
</file>